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3.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17" r:id="rId3"/>
    <p:sldMasterId id="2147483752" r:id="rId4"/>
  </p:sldMasterIdLst>
  <p:sldIdLst>
    <p:sldId id="256" r:id="rId5"/>
    <p:sldId id="257" r:id="rId6"/>
    <p:sldId id="258" r:id="rId7"/>
    <p:sldId id="260" r:id="rId8"/>
    <p:sldId id="266" r:id="rId9"/>
    <p:sldId id="268" r:id="rId10"/>
    <p:sldId id="259" r:id="rId11"/>
    <p:sldId id="261" r:id="rId12"/>
    <p:sldId id="287" r:id="rId13"/>
    <p:sldId id="354" r:id="rId14"/>
    <p:sldId id="355" r:id="rId15"/>
    <p:sldId id="267" r:id="rId16"/>
    <p:sldId id="286" r:id="rId17"/>
    <p:sldId id="269" r:id="rId18"/>
    <p:sldId id="279" r:id="rId19"/>
    <p:sldId id="280" r:id="rId20"/>
    <p:sldId id="288" r:id="rId21"/>
    <p:sldId id="278" r:id="rId22"/>
    <p:sldId id="282" r:id="rId23"/>
    <p:sldId id="283" r:id="rId24"/>
    <p:sldId id="284" r:id="rId25"/>
    <p:sldId id="271" r:id="rId26"/>
    <p:sldId id="27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León Barrera" userId="43512263486_tp_box_2" providerId="OAuth2" clId="{CE2DED1C-98E3-404D-AA29-8769E08C8A92}"/>
    <pc:docChg chg="modSld">
      <pc:chgData name="Alejandra León Barrera" userId="43512263486_tp_box_2" providerId="OAuth2" clId="{CE2DED1C-98E3-404D-AA29-8769E08C8A92}" dt="2026-07-22T19:48:51.683" v="5" actId="20577"/>
      <pc:docMkLst>
        <pc:docMk/>
      </pc:docMkLst>
      <pc:sldChg chg="modSp mod">
        <pc:chgData name="Alejandra León Barrera" userId="43512263486_tp_box_2" providerId="OAuth2" clId="{CE2DED1C-98E3-404D-AA29-8769E08C8A92}" dt="2026-07-22T19:48:51.683" v="5" actId="20577"/>
        <pc:sldMkLst>
          <pc:docMk/>
          <pc:sldMk cId="3958544234" sldId="257"/>
        </pc:sldMkLst>
        <pc:spChg chg="mod">
          <ac:chgData name="Alejandra León Barrera" userId="43512263486_tp_box_2" providerId="OAuth2" clId="{CE2DED1C-98E3-404D-AA29-8769E08C8A92}" dt="2026-07-22T19:48:51.683" v="5" actId="20577"/>
          <ac:spMkLst>
            <pc:docMk/>
            <pc:sldMk cId="3958544234" sldId="257"/>
            <ac:spMk id="6" creationId="{38ECF1E3-960C-9F44-1035-D5044E592609}"/>
          </ac:spMkLst>
        </pc:spChg>
        <pc:spChg chg="mod">
          <ac:chgData name="Alejandra León Barrera" userId="43512263486_tp_box_2" providerId="OAuth2" clId="{CE2DED1C-98E3-404D-AA29-8769E08C8A92}" dt="2026-07-22T19:48:45.635" v="1" actId="20577"/>
          <ac:spMkLst>
            <pc:docMk/>
            <pc:sldMk cId="3958544234" sldId="257"/>
            <ac:spMk id="8" creationId="{B897CB17-50A9-E1EA-BB72-02ED775A4D77}"/>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98035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49322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26393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5939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03104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130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59556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414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55858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40953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989398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7282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859351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55465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859429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2903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41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57195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97475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611786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319098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338093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77065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34012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993099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54723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69263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624311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61522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359244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86433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575011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2372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88551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767DC-3D3E-C508-5A6B-E93829CC840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3FFC2399-9930-6015-C9A8-322E27ADF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9786303E-6E28-71E5-36F4-FD554CE325CC}"/>
              </a:ext>
            </a:extLst>
          </p:cNvPr>
          <p:cNvSpPr>
            <a:spLocks noGrp="1"/>
          </p:cNvSpPr>
          <p:nvPr>
            <p:ph type="dt" sz="half" idx="10"/>
          </p:nvPr>
        </p:nvSpPr>
        <p:spPr/>
        <p:txBody>
          <a:bodyPr/>
          <a:lstStyle/>
          <a:p>
            <a:fld id="{60247FA2-D1AC-4B8C-81BD-BEF1680E26DC}" type="datetimeFigureOut">
              <a:rPr lang="es-419" smtClean="0"/>
              <a:t>22/7/2026</a:t>
            </a:fld>
            <a:endParaRPr lang="es-419"/>
          </a:p>
        </p:txBody>
      </p:sp>
      <p:sp>
        <p:nvSpPr>
          <p:cNvPr id="5" name="Marcador de pie de página 4">
            <a:extLst>
              <a:ext uri="{FF2B5EF4-FFF2-40B4-BE49-F238E27FC236}">
                <a16:creationId xmlns:a16="http://schemas.microsoft.com/office/drawing/2014/main" id="{159F5E8A-40E2-1A64-50DC-4EE295743E0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1839D78-BD28-8CAB-1FB7-499D47E385F4}"/>
              </a:ext>
            </a:extLst>
          </p:cNvPr>
          <p:cNvSpPr>
            <a:spLocks noGrp="1"/>
          </p:cNvSpPr>
          <p:nvPr>
            <p:ph type="sldNum" sz="quarter" idx="12"/>
          </p:nvPr>
        </p:nvSpPr>
        <p:spPr/>
        <p:txBody>
          <a:bodyPr/>
          <a:lstStyle/>
          <a:p>
            <a:fld id="{6F526200-1E0C-4E7B-BC1E-B2DA62431D77}" type="slidenum">
              <a:rPr lang="es-419" smtClean="0"/>
              <a:t>‹Nº›</a:t>
            </a:fld>
            <a:endParaRPr lang="es-419"/>
          </a:p>
        </p:txBody>
      </p:sp>
    </p:spTree>
    <p:extLst>
      <p:ext uri="{BB962C8B-B14F-4D97-AF65-F5344CB8AC3E}">
        <p14:creationId xmlns:p14="http://schemas.microsoft.com/office/powerpoint/2010/main" val="2262331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0605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942750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35406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654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356556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087639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7225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9381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699930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21442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3999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1922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528073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043836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480814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089586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69920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06053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0302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767DC-3D3E-C508-5A6B-E93829CC840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3FFC2399-9930-6015-C9A8-322E27ADFB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9786303E-6E28-71E5-36F4-FD554CE325CC}"/>
              </a:ext>
            </a:extLst>
          </p:cNvPr>
          <p:cNvSpPr>
            <a:spLocks noGrp="1"/>
          </p:cNvSpPr>
          <p:nvPr>
            <p:ph type="dt" sz="half" idx="10"/>
          </p:nvPr>
        </p:nvSpPr>
        <p:spPr/>
        <p:txBody>
          <a:bodyPr/>
          <a:lstStyle/>
          <a:p>
            <a:fld id="{60247FA2-D1AC-4B8C-81BD-BEF1680E26DC}" type="datetimeFigureOut">
              <a:rPr lang="es-419" smtClean="0"/>
              <a:t>22/7/2026</a:t>
            </a:fld>
            <a:endParaRPr lang="es-419"/>
          </a:p>
        </p:txBody>
      </p:sp>
      <p:sp>
        <p:nvSpPr>
          <p:cNvPr id="5" name="Marcador de pie de página 4">
            <a:extLst>
              <a:ext uri="{FF2B5EF4-FFF2-40B4-BE49-F238E27FC236}">
                <a16:creationId xmlns:a16="http://schemas.microsoft.com/office/drawing/2014/main" id="{159F5E8A-40E2-1A64-50DC-4EE295743E0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1839D78-BD28-8CAB-1FB7-499D47E385F4}"/>
              </a:ext>
            </a:extLst>
          </p:cNvPr>
          <p:cNvSpPr>
            <a:spLocks noGrp="1"/>
          </p:cNvSpPr>
          <p:nvPr>
            <p:ph type="sldNum" sz="quarter" idx="12"/>
          </p:nvPr>
        </p:nvSpPr>
        <p:spPr/>
        <p:txBody>
          <a:bodyPr/>
          <a:lstStyle/>
          <a:p>
            <a:fld id="{6F526200-1E0C-4E7B-BC1E-B2DA62431D77}" type="slidenum">
              <a:rPr lang="es-419" smtClean="0"/>
              <a:t>‹Nº›</a:t>
            </a:fld>
            <a:endParaRPr lang="es-419"/>
          </a:p>
        </p:txBody>
      </p:sp>
    </p:spTree>
    <p:extLst>
      <p:ext uri="{BB962C8B-B14F-4D97-AF65-F5344CB8AC3E}">
        <p14:creationId xmlns:p14="http://schemas.microsoft.com/office/powerpoint/2010/main" val="8735953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598057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462574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722959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630452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798712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502701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832124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144982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7558564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948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631988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452463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5014938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2352784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9270858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464583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326960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97156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4419390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927808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395554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5268251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7115810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894361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4345266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0750653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9551409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0856541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07133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823804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7047855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728866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98675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3109963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79274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1984284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959945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1209486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2382813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187923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2909477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53404061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485917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536129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95703052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234541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4581257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1246040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3767488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8575626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2210264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3072430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3482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theme" Target="../theme/theme2.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image" Target="../media/image1.svg"/><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theme" Target="../theme/theme3.xml"/><Relationship Id="rId8"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4.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154985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7334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81891613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87656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xels.com/es-es/foto/foto-de-personas-conversando-3184285/" TargetMode="External"/><Relationship Id="rId2" Type="http://schemas.openxmlformats.org/officeDocument/2006/relationships/image" Target="../media/image7.jpg"/><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A87AA55F-A663-7470-1FA4-9966124AECF7}"/>
              </a:ext>
            </a:extLst>
          </p:cNvPr>
          <p:cNvSpPr>
            <a:spLocks noGrp="1"/>
          </p:cNvSpPr>
          <p:nvPr>
            <p:ph type="body" sz="quarter" idx="10"/>
          </p:nvPr>
        </p:nvSpPr>
        <p:spPr/>
        <p:txBody>
          <a:bodyPr>
            <a:normAutofit/>
          </a:bodyPr>
          <a:lstStyle/>
          <a:p>
            <a:r>
              <a:rPr lang="es-419" dirty="0"/>
              <a:t>Definir la estructura de los periodos académicos</a:t>
            </a:r>
          </a:p>
        </p:txBody>
      </p:sp>
      <p:sp>
        <p:nvSpPr>
          <p:cNvPr id="5" name="Marcador de texto 4">
            <a:extLst>
              <a:ext uri="{FF2B5EF4-FFF2-40B4-BE49-F238E27FC236}">
                <a16:creationId xmlns:a16="http://schemas.microsoft.com/office/drawing/2014/main" id="{9EC7EF07-2EFA-BC39-92B6-AD0E2F0AAA3C}"/>
              </a:ext>
            </a:extLst>
          </p:cNvPr>
          <p:cNvSpPr>
            <a:spLocks noGrp="1"/>
          </p:cNvSpPr>
          <p:nvPr>
            <p:ph type="body" sz="quarter" idx="11"/>
          </p:nvPr>
        </p:nvSpPr>
        <p:spPr/>
        <p:txBody>
          <a:bodyPr>
            <a:normAutofit/>
          </a:bodyPr>
          <a:lstStyle/>
          <a:p>
            <a:r>
              <a:rPr lang="es-419" dirty="0"/>
              <a:t>Instructivo</a:t>
            </a:r>
          </a:p>
        </p:txBody>
      </p:sp>
      <p:sp>
        <p:nvSpPr>
          <p:cNvPr id="22" name="Text Placeholder 3">
            <a:extLst>
              <a:ext uri="{FF2B5EF4-FFF2-40B4-BE49-F238E27FC236}">
                <a16:creationId xmlns:a16="http://schemas.microsoft.com/office/drawing/2014/main" id="{99A313EF-DDC9-1005-CB3C-36E301503B9D}"/>
              </a:ext>
            </a:extLst>
          </p:cNvPr>
          <p:cNvSpPr>
            <a:spLocks noGrp="1"/>
          </p:cNvSpPr>
          <p:nvPr>
            <p:ph type="body" sz="quarter" idx="12"/>
          </p:nvPr>
        </p:nvSpPr>
        <p:spPr>
          <a:xfrm>
            <a:off x="556902" y="5609784"/>
            <a:ext cx="3032274" cy="194925"/>
          </a:xfrm>
        </p:spPr>
        <p:txBody>
          <a:bodyPr/>
          <a:lstStyle/>
          <a:p>
            <a:r>
              <a:rPr lang="en-US" dirty="0"/>
              <a:t>USSIPAN-Perú</a:t>
            </a:r>
          </a:p>
        </p:txBody>
      </p:sp>
      <p:sp>
        <p:nvSpPr>
          <p:cNvPr id="23" name="Text Placeholder 4">
            <a:extLst>
              <a:ext uri="{FF2B5EF4-FFF2-40B4-BE49-F238E27FC236}">
                <a16:creationId xmlns:a16="http://schemas.microsoft.com/office/drawing/2014/main" id="{AFD81755-6309-937C-4F9B-D466A3067B45}"/>
              </a:ext>
            </a:extLst>
          </p:cNvPr>
          <p:cNvSpPr>
            <a:spLocks noGrp="1"/>
          </p:cNvSpPr>
          <p:nvPr>
            <p:ph type="body" sz="quarter" idx="13"/>
          </p:nvPr>
        </p:nvSpPr>
        <p:spPr/>
        <p:txBody>
          <a:bodyPr/>
          <a:lstStyle/>
          <a:p>
            <a:r>
              <a:rPr lang="en-US" dirty="0"/>
              <a:t>Junio, 2026</a:t>
            </a:r>
          </a:p>
        </p:txBody>
      </p:sp>
      <p:pic>
        <p:nvPicPr>
          <p:cNvPr id="3" name="Marcador de posición de imagen 2">
            <a:extLst>
              <a:ext uri="{FF2B5EF4-FFF2-40B4-BE49-F238E27FC236}">
                <a16:creationId xmlns:a16="http://schemas.microsoft.com/office/drawing/2014/main" id="{531F03B0-663B-6947-6992-9DD0058FD20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878" r="17878"/>
          <a:stretch>
            <a:fillRect/>
          </a:stretch>
        </p:blipFill>
        <p:spPr>
          <a:noFill/>
        </p:spPr>
      </p:pic>
    </p:spTree>
    <p:extLst>
      <p:ext uri="{BB962C8B-B14F-4D97-AF65-F5344CB8AC3E}">
        <p14:creationId xmlns:p14="http://schemas.microsoft.com/office/powerpoint/2010/main" val="2074149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897CB17-50A9-E1EA-BB72-02ED775A4D77}"/>
              </a:ext>
            </a:extLst>
          </p:cNvPr>
          <p:cNvSpPr>
            <a:spLocks noGrp="1"/>
          </p:cNvSpPr>
          <p:nvPr>
            <p:ph type="body" sz="quarter" idx="18"/>
          </p:nvPr>
        </p:nvSpPr>
        <p:spPr>
          <a:xfrm>
            <a:off x="4571321" y="1113643"/>
            <a:ext cx="7234915" cy="324961"/>
          </a:xfrm>
        </p:spPr>
        <p:txBody>
          <a:bodyPr/>
          <a:lstStyle/>
          <a:p>
            <a:r>
              <a:rPr lang="es-419" dirty="0"/>
              <a:t>Overview: Características generales de la capacidad operativa</a:t>
            </a:r>
          </a:p>
        </p:txBody>
      </p:sp>
      <p:sp>
        <p:nvSpPr>
          <p:cNvPr id="9" name="Marcador de texto 8">
            <a:extLst>
              <a:ext uri="{FF2B5EF4-FFF2-40B4-BE49-F238E27FC236}">
                <a16:creationId xmlns:a16="http://schemas.microsoft.com/office/drawing/2014/main" id="{364149FD-8541-BB66-31C7-5C8D540962A6}"/>
              </a:ext>
            </a:extLst>
          </p:cNvPr>
          <p:cNvSpPr>
            <a:spLocks noGrp="1"/>
          </p:cNvSpPr>
          <p:nvPr>
            <p:ph type="body" sz="quarter" idx="19"/>
          </p:nvPr>
        </p:nvSpPr>
        <p:spPr>
          <a:xfrm>
            <a:off x="4571321" y="2362388"/>
            <a:ext cx="7234915" cy="322139"/>
          </a:xfrm>
        </p:spPr>
        <p:txBody>
          <a:bodyPr/>
          <a:lstStyle/>
          <a:p>
            <a:r>
              <a:rPr lang="es-ES_tradnl" dirty="0">
                <a:cs typeface="Arial"/>
              </a:rPr>
              <a:t>Definiciones</a:t>
            </a:r>
            <a:endParaRPr lang="es-ES_tradnl" dirty="0">
              <a:latin typeface="Arial"/>
              <a:cs typeface="Arial"/>
            </a:endParaRPr>
          </a:p>
        </p:txBody>
      </p:sp>
      <p:sp>
        <p:nvSpPr>
          <p:cNvPr id="10" name="Marcador de texto 9">
            <a:extLst>
              <a:ext uri="{FF2B5EF4-FFF2-40B4-BE49-F238E27FC236}">
                <a16:creationId xmlns:a16="http://schemas.microsoft.com/office/drawing/2014/main" id="{367C3D73-E477-8A70-ACF6-A8466042E71F}"/>
              </a:ext>
            </a:extLst>
          </p:cNvPr>
          <p:cNvSpPr>
            <a:spLocks noGrp="1"/>
          </p:cNvSpPr>
          <p:nvPr>
            <p:ph type="body" sz="quarter" idx="20"/>
          </p:nvPr>
        </p:nvSpPr>
        <p:spPr>
          <a:xfrm>
            <a:off x="4571322" y="3045674"/>
            <a:ext cx="7234915" cy="324961"/>
          </a:xfrm>
        </p:spPr>
        <p:txBody>
          <a:bodyPr/>
          <a:lstStyle/>
          <a:p>
            <a:r>
              <a:rPr lang="es-ES_tradnl" dirty="0">
                <a:cs typeface="Arial"/>
              </a:rPr>
              <a:t>Configuraciones</a:t>
            </a:r>
          </a:p>
        </p:txBody>
      </p:sp>
      <p:sp>
        <p:nvSpPr>
          <p:cNvPr id="12" name="Marcador de texto 11">
            <a:extLst>
              <a:ext uri="{FF2B5EF4-FFF2-40B4-BE49-F238E27FC236}">
                <a16:creationId xmlns:a16="http://schemas.microsoft.com/office/drawing/2014/main" id="{D286A64F-1AC2-0842-49F6-CEE06ABF1090}"/>
              </a:ext>
            </a:extLst>
          </p:cNvPr>
          <p:cNvSpPr>
            <a:spLocks noGrp="1"/>
          </p:cNvSpPr>
          <p:nvPr>
            <p:ph type="body" sz="quarter" idx="21"/>
          </p:nvPr>
        </p:nvSpPr>
        <p:spPr>
          <a:xfrm>
            <a:off x="4604425" y="3623805"/>
            <a:ext cx="7234915" cy="324961"/>
          </a:xfrm>
        </p:spPr>
        <p:txBody>
          <a:bodyPr/>
          <a:lstStyle/>
          <a:p>
            <a:r>
              <a:rPr lang="es-ES_tradnl" dirty="0">
                <a:cs typeface="Arial"/>
              </a:rPr>
              <a:t>Resumen</a:t>
            </a:r>
          </a:p>
        </p:txBody>
      </p:sp>
      <p:sp>
        <p:nvSpPr>
          <p:cNvPr id="7" name="Marcador de texto 6">
            <a:extLst>
              <a:ext uri="{FF2B5EF4-FFF2-40B4-BE49-F238E27FC236}">
                <a16:creationId xmlns:a16="http://schemas.microsoft.com/office/drawing/2014/main" id="{6412E2B5-4BE1-B49E-58AB-9C60B6BBF141}"/>
              </a:ext>
            </a:extLst>
          </p:cNvPr>
          <p:cNvSpPr>
            <a:spLocks noGrp="1"/>
          </p:cNvSpPr>
          <p:nvPr>
            <p:ph type="body" sz="quarter" idx="10"/>
          </p:nvPr>
        </p:nvSpPr>
        <p:spPr/>
        <p:txBody>
          <a:bodyPr/>
          <a:lstStyle/>
          <a:p>
            <a:r>
              <a:rPr lang="es-419" dirty="0"/>
              <a:t>Tabla de contenidos</a:t>
            </a:r>
          </a:p>
        </p:txBody>
      </p:sp>
      <p:sp>
        <p:nvSpPr>
          <p:cNvPr id="6" name="Marcador de texto 7">
            <a:extLst>
              <a:ext uri="{FF2B5EF4-FFF2-40B4-BE49-F238E27FC236}">
                <a16:creationId xmlns:a16="http://schemas.microsoft.com/office/drawing/2014/main" id="{38ECF1E3-960C-9F44-1035-D5044E592609}"/>
              </a:ext>
            </a:extLst>
          </p:cNvPr>
          <p:cNvSpPr txBox="1">
            <a:spLocks/>
          </p:cNvSpPr>
          <p:nvPr/>
        </p:nvSpPr>
        <p:spPr>
          <a:xfrm>
            <a:off x="4571321" y="1694373"/>
            <a:ext cx="7234915" cy="324961"/>
          </a:xfrm>
          <a:prstGeom prst="rect">
            <a:avLst/>
          </a:prstGeom>
        </p:spPr>
        <p:txBody>
          <a:bodyPr vert="horz" lIns="0" tIns="0" rIns="0" bIns="0" rtlCol="0">
            <a:spAutoFit/>
          </a:bodyPr>
          <a:lstStyle>
            <a:lvl1pPr marL="231775" indent="-231775" algn="l" defTabSz="914400" rtl="0" eaLnBrk="1" latinLnBrk="0" hangingPunct="1">
              <a:lnSpc>
                <a:spcPct val="110000"/>
              </a:lnSpc>
              <a:spcBef>
                <a:spcPts val="0"/>
              </a:spcBef>
              <a:spcAft>
                <a:spcPts val="600"/>
              </a:spcAft>
              <a:buFont typeface="Arial" panose="020B0604020202020204" pitchFamily="34" charset="0"/>
              <a:buChar char="•"/>
              <a:tabLst/>
              <a:defRPr sz="20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Overview</a:t>
            </a:r>
            <a:r>
              <a:rPr lang="es-419"/>
              <a:t>: Características </a:t>
            </a:r>
            <a:r>
              <a:rPr lang="es-419" dirty="0"/>
              <a:t>generales del procedimiento</a:t>
            </a:r>
          </a:p>
        </p:txBody>
      </p:sp>
    </p:spTree>
    <p:extLst>
      <p:ext uri="{BB962C8B-B14F-4D97-AF65-F5344CB8AC3E}">
        <p14:creationId xmlns:p14="http://schemas.microsoft.com/office/powerpoint/2010/main" val="3958544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texto 9">
            <a:extLst>
              <a:ext uri="{FF2B5EF4-FFF2-40B4-BE49-F238E27FC236}">
                <a16:creationId xmlns:a16="http://schemas.microsoft.com/office/drawing/2014/main" id="{EC23B209-15D9-D0E9-52DA-CB94020FD7E0}"/>
              </a:ext>
            </a:extLst>
          </p:cNvPr>
          <p:cNvSpPr>
            <a:spLocks noGrp="1"/>
          </p:cNvSpPr>
          <p:nvPr>
            <p:ph type="body" sz="quarter" idx="10"/>
          </p:nvPr>
        </p:nvSpPr>
        <p:spPr/>
        <p:txBody>
          <a:bodyPr/>
          <a:lstStyle/>
          <a:p>
            <a:r>
              <a:rPr lang="es-419" dirty="0"/>
              <a:t>Capacidad Operativa Gestionar los periodos académicos</a:t>
            </a:r>
          </a:p>
        </p:txBody>
      </p:sp>
      <p:sp>
        <p:nvSpPr>
          <p:cNvPr id="11" name="Marcador de texto 10">
            <a:extLst>
              <a:ext uri="{FF2B5EF4-FFF2-40B4-BE49-F238E27FC236}">
                <a16:creationId xmlns:a16="http://schemas.microsoft.com/office/drawing/2014/main" id="{1A6F69FF-CB9F-4F67-BE3D-8C02B4EEB7A7}"/>
              </a:ext>
            </a:extLst>
          </p:cNvPr>
          <p:cNvSpPr>
            <a:spLocks noGrp="1"/>
          </p:cNvSpPr>
          <p:nvPr>
            <p:ph type="body" sz="quarter" idx="11"/>
          </p:nvPr>
        </p:nvSpPr>
        <p:spPr/>
        <p:txBody>
          <a:bodyPr/>
          <a:lstStyle/>
          <a:p>
            <a:r>
              <a:rPr lang="es-419" dirty="0"/>
              <a:t>Procedimiento: Definir la estructura de los periodos</a:t>
            </a:r>
          </a:p>
        </p:txBody>
      </p:sp>
    </p:spTree>
    <p:extLst>
      <p:ext uri="{BB962C8B-B14F-4D97-AF65-F5344CB8AC3E}">
        <p14:creationId xmlns:p14="http://schemas.microsoft.com/office/powerpoint/2010/main" val="2599343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8E1C91-D53E-9F97-C485-84628578389D}"/>
              </a:ext>
            </a:extLst>
          </p:cNvPr>
          <p:cNvSpPr>
            <a:spLocks noGrp="1"/>
          </p:cNvSpPr>
          <p:nvPr>
            <p:ph type="body" sz="quarter" idx="10"/>
          </p:nvPr>
        </p:nvSpPr>
        <p:spPr/>
        <p:txBody>
          <a:bodyPr/>
          <a:lstStyle/>
          <a:p>
            <a:r>
              <a:rPr lang="en-US" dirty="0"/>
              <a:t>Overview: </a:t>
            </a:r>
            <a:r>
              <a:rPr lang="en-US" b="0" dirty="0"/>
              <a:t>Mapa de </a:t>
            </a:r>
            <a:r>
              <a:rPr lang="en-US" b="0" dirty="0" err="1"/>
              <a:t>capacidades</a:t>
            </a:r>
            <a:endParaRPr lang="es-419" dirty="0"/>
          </a:p>
        </p:txBody>
      </p:sp>
      <p:pic>
        <p:nvPicPr>
          <p:cNvPr id="1026" name="Picture 2">
            <a:extLst>
              <a:ext uri="{FF2B5EF4-FFF2-40B4-BE49-F238E27FC236}">
                <a16:creationId xmlns:a16="http://schemas.microsoft.com/office/drawing/2014/main" id="{3A5E5532-A998-508F-D976-B5AB9A86C5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5525"/>
            <a:ext cx="12192000" cy="48053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F23ED54-6855-DED8-2180-23A1863DD678}"/>
              </a:ext>
            </a:extLst>
          </p:cNvPr>
          <p:cNvSpPr/>
          <p:nvPr/>
        </p:nvSpPr>
        <p:spPr>
          <a:xfrm>
            <a:off x="868680" y="2468880"/>
            <a:ext cx="2121408" cy="429768"/>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5133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31C0327-E277-8995-30AD-95DC98DE725F}"/>
              </a:ext>
            </a:extLst>
          </p:cNvPr>
          <p:cNvSpPr>
            <a:spLocks noGrp="1"/>
          </p:cNvSpPr>
          <p:nvPr>
            <p:ph type="body" sz="quarter" idx="10"/>
          </p:nvPr>
        </p:nvSpPr>
        <p:spPr/>
        <p:txBody>
          <a:bodyPr/>
          <a:lstStyle/>
          <a:p>
            <a:r>
              <a:rPr lang="es-419" dirty="0" err="1"/>
              <a:t>Overview</a:t>
            </a:r>
            <a:r>
              <a:rPr lang="es-419" dirty="0"/>
              <a:t>: Proceso Gestionar los periodos académicos</a:t>
            </a:r>
          </a:p>
        </p:txBody>
      </p:sp>
      <p:sp>
        <p:nvSpPr>
          <p:cNvPr id="3" name="Marcador de texto 2">
            <a:extLst>
              <a:ext uri="{FF2B5EF4-FFF2-40B4-BE49-F238E27FC236}">
                <a16:creationId xmlns:a16="http://schemas.microsoft.com/office/drawing/2014/main" id="{E68A9006-C922-5FC9-18EF-DBB6C047A466}"/>
              </a:ext>
            </a:extLst>
          </p:cNvPr>
          <p:cNvSpPr>
            <a:spLocks noGrp="1"/>
          </p:cNvSpPr>
          <p:nvPr>
            <p:ph type="body" sz="quarter" idx="11"/>
          </p:nvPr>
        </p:nvSpPr>
        <p:spPr>
          <a:xfrm>
            <a:off x="522287" y="1056958"/>
            <a:ext cx="11122188" cy="597151"/>
          </a:xfrm>
        </p:spPr>
        <p:txBody>
          <a:bodyPr/>
          <a:lstStyle/>
          <a:p>
            <a:pPr marL="0" indent="0">
              <a:buNone/>
            </a:pPr>
            <a:r>
              <a:rPr lang="es-419" dirty="0"/>
              <a:t>A continuación, se presenta el diagrama del proceso “Gestionar los periodos académicos”, con sus responsables, las entradas y salidas correspondientes.</a:t>
            </a:r>
            <a:endParaRPr lang="es-CO" dirty="0"/>
          </a:p>
        </p:txBody>
      </p:sp>
      <p:pic>
        <p:nvPicPr>
          <p:cNvPr id="5" name="Imagen 4" descr="Diagrama&#10;&#10;Descripción generada automáticamente">
            <a:extLst>
              <a:ext uri="{FF2B5EF4-FFF2-40B4-BE49-F238E27FC236}">
                <a16:creationId xmlns:a16="http://schemas.microsoft.com/office/drawing/2014/main" id="{79E419D3-DB0E-88BC-8F3F-4723B34F7AD1}"/>
              </a:ext>
            </a:extLst>
          </p:cNvPr>
          <p:cNvPicPr>
            <a:picLocks noChangeAspect="1"/>
          </p:cNvPicPr>
          <p:nvPr/>
        </p:nvPicPr>
        <p:blipFill rotWithShape="1">
          <a:blip r:embed="rId2">
            <a:extLst>
              <a:ext uri="{28A0092B-C50C-407E-A947-70E740481C1C}">
                <a14:useLocalDpi xmlns:a14="http://schemas.microsoft.com/office/drawing/2010/main" val="0"/>
              </a:ext>
            </a:extLst>
          </a:blip>
          <a:srcRect l="4340" t="3029" r="4340"/>
          <a:stretch/>
        </p:blipFill>
        <p:spPr bwMode="auto">
          <a:xfrm>
            <a:off x="534905" y="2411066"/>
            <a:ext cx="11122189" cy="23072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90565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72F0CF3E-E12E-1606-BD0D-9F2206037047}"/>
              </a:ext>
            </a:extLst>
          </p:cNvPr>
          <p:cNvSpPr>
            <a:spLocks noGrp="1"/>
          </p:cNvSpPr>
          <p:nvPr>
            <p:ph type="body" sz="quarter" idx="10"/>
          </p:nvPr>
        </p:nvSpPr>
        <p:spPr/>
        <p:txBody>
          <a:bodyPr/>
          <a:lstStyle/>
          <a:p>
            <a:pPr algn="l"/>
            <a:r>
              <a:rPr lang="es-419" dirty="0"/>
              <a:t>Procedimiento: Definir la estructura de los periodos académicos</a:t>
            </a:r>
          </a:p>
        </p:txBody>
      </p:sp>
    </p:spTree>
    <p:extLst>
      <p:ext uri="{BB962C8B-B14F-4D97-AF65-F5344CB8AC3E}">
        <p14:creationId xmlns:p14="http://schemas.microsoft.com/office/powerpoint/2010/main" val="283593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7FBCA831-F882-A63D-CD40-063A45AA1480}"/>
              </a:ext>
            </a:extLst>
          </p:cNvPr>
          <p:cNvSpPr>
            <a:spLocks noGrp="1"/>
          </p:cNvSpPr>
          <p:nvPr>
            <p:ph type="body" sz="quarter" idx="10"/>
          </p:nvPr>
        </p:nvSpPr>
        <p:spPr>
          <a:xfrm>
            <a:off x="695849" y="361822"/>
            <a:ext cx="10948854" cy="889282"/>
          </a:xfrm>
        </p:spPr>
        <p:txBody>
          <a:bodyPr/>
          <a:lstStyle/>
          <a:p>
            <a:r>
              <a:rPr lang="en-US" dirty="0"/>
              <a:t>Overview: </a:t>
            </a:r>
            <a:r>
              <a:rPr lang="en-US" b="0" dirty="0" err="1"/>
              <a:t>Características</a:t>
            </a:r>
            <a:r>
              <a:rPr lang="en-US" b="0" dirty="0"/>
              <a:t> Generales de </a:t>
            </a:r>
            <a:r>
              <a:rPr lang="en-US" b="0" dirty="0" err="1"/>
              <a:t>Definir</a:t>
            </a:r>
            <a:r>
              <a:rPr lang="en-US" b="0" dirty="0"/>
              <a:t> la </a:t>
            </a:r>
            <a:r>
              <a:rPr lang="en-US" b="0" dirty="0" err="1"/>
              <a:t>estructura</a:t>
            </a:r>
            <a:r>
              <a:rPr lang="en-US" b="0" dirty="0"/>
              <a:t> de </a:t>
            </a:r>
            <a:r>
              <a:rPr lang="en-US" b="0" dirty="0" err="1"/>
              <a:t>los</a:t>
            </a:r>
            <a:r>
              <a:rPr lang="en-US" b="0" dirty="0"/>
              <a:t> </a:t>
            </a:r>
            <a:r>
              <a:rPr lang="en-US" b="0" dirty="0" err="1"/>
              <a:t>periodos</a:t>
            </a:r>
            <a:r>
              <a:rPr lang="en-US" b="0" dirty="0"/>
              <a:t> </a:t>
            </a:r>
            <a:r>
              <a:rPr lang="en-US" b="0" dirty="0" err="1"/>
              <a:t>académicos</a:t>
            </a:r>
            <a:endParaRPr lang="es-419" dirty="0"/>
          </a:p>
        </p:txBody>
      </p:sp>
      <p:sp>
        <p:nvSpPr>
          <p:cNvPr id="5" name="Marcador de texto 4">
            <a:extLst>
              <a:ext uri="{FF2B5EF4-FFF2-40B4-BE49-F238E27FC236}">
                <a16:creationId xmlns:a16="http://schemas.microsoft.com/office/drawing/2014/main" id="{A67B98E7-5920-57ED-5835-95E33A7C511A}"/>
              </a:ext>
            </a:extLst>
          </p:cNvPr>
          <p:cNvSpPr>
            <a:spLocks noGrp="1"/>
          </p:cNvSpPr>
          <p:nvPr>
            <p:ph type="body" sz="quarter" idx="11"/>
          </p:nvPr>
        </p:nvSpPr>
        <p:spPr>
          <a:xfrm>
            <a:off x="695849" y="1653161"/>
            <a:ext cx="10559980" cy="2046779"/>
          </a:xfrm>
        </p:spPr>
        <p:txBody>
          <a:bodyPr/>
          <a:lstStyle/>
          <a:p>
            <a:r>
              <a:rPr lang="es-CO" dirty="0"/>
              <a:t>Tiene como propósito crear y mantener los periodos académicos que necesita la institución para poder administrar sus procesos académicos y administrativos.</a:t>
            </a:r>
          </a:p>
          <a:p>
            <a:pPr marL="0" indent="0">
              <a:buNone/>
            </a:pPr>
            <a:endParaRPr lang="es-CO" dirty="0"/>
          </a:p>
          <a:p>
            <a:r>
              <a:rPr lang="es-CO" dirty="0"/>
              <a:t>Dependiendo de las reglas establecidas por la institución, se tendrán diversas codificaciones de periodo para satisfacer los modelos educativos vigentes</a:t>
            </a:r>
          </a:p>
          <a:p>
            <a:pPr marL="0" indent="0">
              <a:buNone/>
            </a:pPr>
            <a:endParaRPr lang="es-419" dirty="0"/>
          </a:p>
        </p:txBody>
      </p:sp>
    </p:spTree>
    <p:extLst>
      <p:ext uri="{BB962C8B-B14F-4D97-AF65-F5344CB8AC3E}">
        <p14:creationId xmlns:p14="http://schemas.microsoft.com/office/powerpoint/2010/main" val="3813638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62E0F-FB7D-24BA-03CC-F7B22E18810A}"/>
            </a:ext>
          </a:extLst>
        </p:cNvPr>
        <p:cNvGrpSpPr/>
        <p:nvPr/>
      </p:nvGrpSpPr>
      <p:grpSpPr>
        <a:xfrm>
          <a:off x="0" y="0"/>
          <a:ext cx="0" cy="0"/>
          <a:chOff x="0" y="0"/>
          <a:chExt cx="0" cy="0"/>
        </a:xfrm>
      </p:grpSpPr>
      <p:sp>
        <p:nvSpPr>
          <p:cNvPr id="4" name="Marcador de texto 3">
            <a:extLst>
              <a:ext uri="{FF2B5EF4-FFF2-40B4-BE49-F238E27FC236}">
                <a16:creationId xmlns:a16="http://schemas.microsoft.com/office/drawing/2014/main" id="{BFFCBC83-B4FB-A52A-CC79-F20AE1317A61}"/>
              </a:ext>
            </a:extLst>
          </p:cNvPr>
          <p:cNvSpPr>
            <a:spLocks noGrp="1"/>
          </p:cNvSpPr>
          <p:nvPr>
            <p:ph type="body" sz="quarter" idx="10"/>
          </p:nvPr>
        </p:nvSpPr>
        <p:spPr>
          <a:xfrm>
            <a:off x="914399" y="3094453"/>
            <a:ext cx="10363202" cy="669094"/>
          </a:xfrm>
        </p:spPr>
        <p:txBody>
          <a:bodyPr/>
          <a:lstStyle/>
          <a:p>
            <a:pPr algn="l"/>
            <a:r>
              <a:rPr lang="es-419" dirty="0"/>
              <a:t>Definiciones</a:t>
            </a:r>
          </a:p>
        </p:txBody>
      </p:sp>
    </p:spTree>
    <p:extLst>
      <p:ext uri="{BB962C8B-B14F-4D97-AF65-F5344CB8AC3E}">
        <p14:creationId xmlns:p14="http://schemas.microsoft.com/office/powerpoint/2010/main" val="3479084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DCF70E6-8CB7-A513-3ABC-5F2AFFAF27AB}"/>
              </a:ext>
            </a:extLst>
          </p:cNvPr>
          <p:cNvSpPr>
            <a:spLocks noGrp="1"/>
          </p:cNvSpPr>
          <p:nvPr>
            <p:ph type="body" sz="quarter" idx="10"/>
          </p:nvPr>
        </p:nvSpPr>
        <p:spPr>
          <a:xfrm>
            <a:off x="412787" y="74559"/>
            <a:ext cx="11122188" cy="1409425"/>
          </a:xfrm>
        </p:spPr>
        <p:txBody>
          <a:bodyPr/>
          <a:lstStyle/>
          <a:p>
            <a:r>
              <a:rPr lang="es-419" dirty="0"/>
              <a:t>Definiciones: Procedimiento Diseñar y crear los programas académicos</a:t>
            </a:r>
          </a:p>
          <a:p>
            <a:endParaRPr lang="es-CO" dirty="0"/>
          </a:p>
        </p:txBody>
      </p:sp>
      <p:graphicFrame>
        <p:nvGraphicFramePr>
          <p:cNvPr id="6" name="Tabla 6">
            <a:extLst>
              <a:ext uri="{FF2B5EF4-FFF2-40B4-BE49-F238E27FC236}">
                <a16:creationId xmlns:a16="http://schemas.microsoft.com/office/drawing/2014/main" id="{C0E5E4D0-6C0B-7B86-A04E-A985621B0B5C}"/>
              </a:ext>
            </a:extLst>
          </p:cNvPr>
          <p:cNvGraphicFramePr>
            <a:graphicFrameLocks noGrp="1"/>
          </p:cNvGraphicFramePr>
          <p:nvPr>
            <p:extLst>
              <p:ext uri="{D42A27DB-BD31-4B8C-83A1-F6EECF244321}">
                <p14:modId xmlns:p14="http://schemas.microsoft.com/office/powerpoint/2010/main" val="2461368390"/>
              </p:ext>
            </p:extLst>
          </p:nvPr>
        </p:nvGraphicFramePr>
        <p:xfrm>
          <a:off x="813617" y="1638918"/>
          <a:ext cx="10320528" cy="2866177"/>
        </p:xfrm>
        <a:graphic>
          <a:graphicData uri="http://schemas.openxmlformats.org/drawingml/2006/table">
            <a:tbl>
              <a:tblPr firstRow="1" bandRow="1">
                <a:tableStyleId>{5C22544A-7EE6-4342-B048-85BDC9FD1C3A}</a:tableStyleId>
              </a:tblPr>
              <a:tblGrid>
                <a:gridCol w="1951515">
                  <a:extLst>
                    <a:ext uri="{9D8B030D-6E8A-4147-A177-3AD203B41FA5}">
                      <a16:colId xmlns:a16="http://schemas.microsoft.com/office/drawing/2014/main" val="2298581278"/>
                    </a:ext>
                  </a:extLst>
                </a:gridCol>
                <a:gridCol w="8369013">
                  <a:extLst>
                    <a:ext uri="{9D8B030D-6E8A-4147-A177-3AD203B41FA5}">
                      <a16:colId xmlns:a16="http://schemas.microsoft.com/office/drawing/2014/main" val="1504358611"/>
                    </a:ext>
                  </a:extLst>
                </a:gridCol>
              </a:tblGrid>
              <a:tr h="485222">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537228">
                <a:tc>
                  <a:txBody>
                    <a:bodyPr/>
                    <a:lstStyle/>
                    <a:p>
                      <a:r>
                        <a:rPr lang="es-CO" sz="1600" b="1" noProof="0" dirty="0"/>
                        <a:t>Periodo académico</a:t>
                      </a:r>
                    </a:p>
                  </a:txBody>
                  <a:tcPr marL="36830" marR="36830" marT="36830" marB="3683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noProof="0" dirty="0">
                          <a:effectLst/>
                          <a:latin typeface="Helvetica Neue" panose="02000503000000020004" pitchFamily="2" charset="0"/>
                        </a:rPr>
                        <a:t>Corresponde a un lapso durante el cual la institución realiza diferentes actividades académicas, como admisión, inscripción de cursos (matrícula), ingreso de calificaciones, ingreso de asistencia, procesos de graduación y procesos financieros.</a:t>
                      </a:r>
                    </a:p>
                  </a:txBody>
                  <a:tcPr marL="36830" marR="36830" marT="36830" marB="36830" anchor="ctr"/>
                </a:tc>
                <a:extLst>
                  <a:ext uri="{0D108BD9-81ED-4DB2-BD59-A6C34878D82A}">
                    <a16:rowId xmlns:a16="http://schemas.microsoft.com/office/drawing/2014/main" val="1674607535"/>
                  </a:ext>
                </a:extLst>
              </a:tr>
              <a:tr h="467293">
                <a:tc>
                  <a:txBody>
                    <a:bodyPr/>
                    <a:lstStyle/>
                    <a:p>
                      <a:r>
                        <a:rPr lang="es-CO" sz="1600" b="1" dirty="0"/>
                        <a:t>Parte de periodo</a:t>
                      </a:r>
                      <a:endParaRPr lang="es-CO" sz="1600" b="1" noProof="0" dirty="0"/>
                    </a:p>
                  </a:txBody>
                  <a:tcPr marL="36830" marR="36830" marT="36830" marB="36830" anchor="ctr"/>
                </a:tc>
                <a:tc>
                  <a:txBody>
                    <a:bodyPr/>
                    <a:lstStyle/>
                    <a:p>
                      <a:r>
                        <a:rPr lang="es-CO" sz="1600" noProof="0" dirty="0">
                          <a:effectLst/>
                          <a:latin typeface="Helvetica Neue" panose="02000503000000020004" pitchFamily="2" charset="0"/>
                        </a:rPr>
                        <a:t>Permite definir rangos de fechas específicos para grupos de cursos dentro del mismo periodo. Cada parte de periodo va a tener sus propias fecha de inicio de clase y fin de clases, adición y retiro de cursos, ingreso de calificaciones</a:t>
                      </a:r>
                    </a:p>
                  </a:txBody>
                  <a:tcPr marL="36830" marR="36830" marT="36830" marB="36830" anchor="ctr"/>
                </a:tc>
                <a:extLst>
                  <a:ext uri="{0D108BD9-81ED-4DB2-BD59-A6C34878D82A}">
                    <a16:rowId xmlns:a16="http://schemas.microsoft.com/office/drawing/2014/main" val="2579196519"/>
                  </a:ext>
                </a:extLst>
              </a:tr>
              <a:tr h="770595">
                <a:tc>
                  <a:txBody>
                    <a:bodyPr/>
                    <a:lstStyle/>
                    <a:p>
                      <a:r>
                        <a:rPr lang="es-CO" sz="1600" b="1" dirty="0"/>
                        <a:t>Tipo de periodo</a:t>
                      </a:r>
                      <a:endParaRPr lang="es-CO" sz="1600" b="1" noProof="0" dirty="0"/>
                    </a:p>
                  </a:txBody>
                  <a:tcPr marL="36830" marR="36830" marT="36830" marB="36830" anchor="ctr"/>
                </a:tc>
                <a:tc>
                  <a:txBody>
                    <a:bodyPr/>
                    <a:lstStyle/>
                    <a:p>
                      <a:pPr lvl="0" algn="just">
                        <a:defRPr/>
                      </a:pPr>
                      <a:r>
                        <a:rPr lang="es-CO" sz="1600" noProof="0" dirty="0">
                          <a:effectLst/>
                          <a:latin typeface="Helvetica Neue" panose="02000503000000020004" pitchFamily="2" charset="0"/>
                        </a:rPr>
                        <a:t>Clasificación que se le puede dar a un periodo académico: Semestral, anual, trimestral, especial</a:t>
                      </a:r>
                      <a:endParaRPr lang="es-CO" sz="2000" dirty="0">
                        <a:solidFill>
                          <a:srgbClr val="414042"/>
                        </a:solidFill>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bl>
          </a:graphicData>
        </a:graphic>
      </p:graphicFrame>
    </p:spTree>
    <p:extLst>
      <p:ext uri="{BB962C8B-B14F-4D97-AF65-F5344CB8AC3E}">
        <p14:creationId xmlns:p14="http://schemas.microsoft.com/office/powerpoint/2010/main" val="2954243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6A68-0CC9-8A5B-C914-23AB162C0015}"/>
            </a:ext>
          </a:extLst>
        </p:cNvPr>
        <p:cNvGrpSpPr/>
        <p:nvPr/>
      </p:nvGrpSpPr>
      <p:grpSpPr>
        <a:xfrm>
          <a:off x="0" y="0"/>
          <a:ext cx="0" cy="0"/>
          <a:chOff x="0" y="0"/>
          <a:chExt cx="0" cy="0"/>
        </a:xfrm>
      </p:grpSpPr>
      <p:sp>
        <p:nvSpPr>
          <p:cNvPr id="4" name="Marcador de texto 3">
            <a:extLst>
              <a:ext uri="{FF2B5EF4-FFF2-40B4-BE49-F238E27FC236}">
                <a16:creationId xmlns:a16="http://schemas.microsoft.com/office/drawing/2014/main" id="{1304B343-B053-0852-5862-5EA448F133C5}"/>
              </a:ext>
            </a:extLst>
          </p:cNvPr>
          <p:cNvSpPr>
            <a:spLocks noGrp="1"/>
          </p:cNvSpPr>
          <p:nvPr>
            <p:ph type="body" sz="quarter" idx="10"/>
          </p:nvPr>
        </p:nvSpPr>
        <p:spPr>
          <a:xfrm>
            <a:off x="914399" y="3094453"/>
            <a:ext cx="10363202" cy="1333891"/>
          </a:xfrm>
        </p:spPr>
        <p:txBody>
          <a:bodyPr/>
          <a:lstStyle/>
          <a:p>
            <a:pPr algn="l"/>
            <a:r>
              <a:rPr lang="es-419" dirty="0"/>
              <a:t>Procedimiento Definir la estructura de los periodos académicos</a:t>
            </a:r>
          </a:p>
        </p:txBody>
      </p:sp>
    </p:spTree>
    <p:extLst>
      <p:ext uri="{BB962C8B-B14F-4D97-AF65-F5344CB8AC3E}">
        <p14:creationId xmlns:p14="http://schemas.microsoft.com/office/powerpoint/2010/main" val="116969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61264-ACEA-E38D-9CE9-2FC5C9E5FA4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2F7E72C-1095-8602-9B9A-C5DB48EEDB18}"/>
              </a:ext>
            </a:extLst>
          </p:cNvPr>
          <p:cNvSpPr>
            <a:spLocks noGrp="1"/>
          </p:cNvSpPr>
          <p:nvPr>
            <p:ph type="body" sz="quarter" idx="10"/>
          </p:nvPr>
        </p:nvSpPr>
        <p:spPr>
          <a:xfrm>
            <a:off x="522515" y="361822"/>
            <a:ext cx="11122188" cy="889282"/>
          </a:xfrm>
        </p:spPr>
        <p:txBody>
          <a:bodyPr/>
          <a:lstStyle/>
          <a:p>
            <a:r>
              <a:rPr lang="es-419" dirty="0" err="1"/>
              <a:t>Overview</a:t>
            </a:r>
            <a:r>
              <a:rPr lang="es-419" dirty="0"/>
              <a:t>: Procedimiento Definir la estructura de los periodos académicos</a:t>
            </a:r>
          </a:p>
        </p:txBody>
      </p:sp>
      <p:sp>
        <p:nvSpPr>
          <p:cNvPr id="4" name="Marcador de texto 4">
            <a:extLst>
              <a:ext uri="{FF2B5EF4-FFF2-40B4-BE49-F238E27FC236}">
                <a16:creationId xmlns:a16="http://schemas.microsoft.com/office/drawing/2014/main" id="{3739B69E-0F09-5358-BA17-7E5EF4359758}"/>
              </a:ext>
            </a:extLst>
          </p:cNvPr>
          <p:cNvSpPr>
            <a:spLocks noGrp="1"/>
          </p:cNvSpPr>
          <p:nvPr>
            <p:ph type="body" sz="quarter" idx="11"/>
          </p:nvPr>
        </p:nvSpPr>
        <p:spPr>
          <a:xfrm>
            <a:off x="452691" y="1423034"/>
            <a:ext cx="11122188" cy="2369944"/>
          </a:xfrm>
        </p:spPr>
        <p:txBody>
          <a:bodyPr/>
          <a:lstStyle/>
          <a:p>
            <a:r>
              <a:rPr lang="es-419" dirty="0"/>
              <a:t>Se define la codificación de los periodos académicos para cumplir con los requerimientos Institucionales. Se debe definir las reglas de codificación: </a:t>
            </a:r>
            <a:r>
              <a:rPr lang="es-419" dirty="0" err="1"/>
              <a:t>Ejm</a:t>
            </a:r>
            <a:r>
              <a:rPr lang="es-419" dirty="0"/>
              <a:t>:</a:t>
            </a:r>
            <a:endParaRPr lang="es-CO" dirty="0"/>
          </a:p>
          <a:p>
            <a:pPr lvl="1"/>
            <a:r>
              <a:rPr lang="es-419" b="1" dirty="0"/>
              <a:t>4 caracteres</a:t>
            </a:r>
            <a:r>
              <a:rPr lang="es-419" dirty="0"/>
              <a:t>: indicarán el año</a:t>
            </a:r>
            <a:endParaRPr lang="es-CO" dirty="0"/>
          </a:p>
          <a:p>
            <a:pPr lvl="1"/>
            <a:r>
              <a:rPr lang="es-419" b="1" dirty="0"/>
              <a:t>1 carácter: </a:t>
            </a:r>
            <a:r>
              <a:rPr lang="es-419" dirty="0"/>
              <a:t> identificará el nivel académico.</a:t>
            </a:r>
            <a:endParaRPr lang="es-CO" dirty="0"/>
          </a:p>
          <a:p>
            <a:pPr lvl="1"/>
            <a:r>
              <a:rPr lang="es-419" b="1" dirty="0"/>
              <a:t>1 carácter: </a:t>
            </a:r>
            <a:r>
              <a:rPr lang="es-419" dirty="0"/>
              <a:t> identificará la secuencia del periodo</a:t>
            </a:r>
            <a:endParaRPr lang="es-CO" dirty="0"/>
          </a:p>
          <a:p>
            <a:pPr lvl="1"/>
            <a:endParaRPr lang="es-CO" dirty="0"/>
          </a:p>
          <a:p>
            <a:pPr marL="0" indent="0">
              <a:buNone/>
            </a:pPr>
            <a:endParaRPr lang="es-419" dirty="0"/>
          </a:p>
        </p:txBody>
      </p:sp>
      <p:pic>
        <p:nvPicPr>
          <p:cNvPr id="11" name="Imagen 10" descr="Diagrama&#10;&#10;Descripción generada automáticamente">
            <a:extLst>
              <a:ext uri="{FF2B5EF4-FFF2-40B4-BE49-F238E27FC236}">
                <a16:creationId xmlns:a16="http://schemas.microsoft.com/office/drawing/2014/main" id="{0115F335-2284-EAF1-0DFF-25CCF50EF56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241" r="4438"/>
          <a:stretch/>
        </p:blipFill>
        <p:spPr bwMode="auto">
          <a:xfrm>
            <a:off x="1005028" y="3792978"/>
            <a:ext cx="10181943" cy="172605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0439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C2D0E-F71D-CBB0-E741-149017E0C443}"/>
            </a:ext>
          </a:extLst>
        </p:cNvPr>
        <p:cNvGrpSpPr/>
        <p:nvPr/>
      </p:nvGrpSpPr>
      <p:grpSpPr>
        <a:xfrm>
          <a:off x="0" y="0"/>
          <a:ext cx="0" cy="0"/>
          <a:chOff x="0" y="0"/>
          <a:chExt cx="0" cy="0"/>
        </a:xfrm>
      </p:grpSpPr>
      <p:sp>
        <p:nvSpPr>
          <p:cNvPr id="4" name="Marcador de texto 3">
            <a:extLst>
              <a:ext uri="{FF2B5EF4-FFF2-40B4-BE49-F238E27FC236}">
                <a16:creationId xmlns:a16="http://schemas.microsoft.com/office/drawing/2014/main" id="{22542FA6-F909-28A8-7844-2A8FF670C27B}"/>
              </a:ext>
            </a:extLst>
          </p:cNvPr>
          <p:cNvSpPr>
            <a:spLocks noGrp="1"/>
          </p:cNvSpPr>
          <p:nvPr>
            <p:ph type="body" sz="quarter" idx="10"/>
          </p:nvPr>
        </p:nvSpPr>
        <p:spPr>
          <a:xfrm>
            <a:off x="914399" y="2238843"/>
            <a:ext cx="10363202" cy="669094"/>
          </a:xfrm>
        </p:spPr>
        <p:txBody>
          <a:bodyPr/>
          <a:lstStyle/>
          <a:p>
            <a:pPr algn="l"/>
            <a:r>
              <a:rPr lang="es-419" dirty="0"/>
              <a:t>Configuraciones</a:t>
            </a:r>
          </a:p>
        </p:txBody>
      </p:sp>
      <p:sp>
        <p:nvSpPr>
          <p:cNvPr id="5" name="Marcador de texto 4">
            <a:extLst>
              <a:ext uri="{FF2B5EF4-FFF2-40B4-BE49-F238E27FC236}">
                <a16:creationId xmlns:a16="http://schemas.microsoft.com/office/drawing/2014/main" id="{C3C884F3-7D20-A0AF-837F-B7E534F82B2E}"/>
              </a:ext>
            </a:extLst>
          </p:cNvPr>
          <p:cNvSpPr>
            <a:spLocks noGrp="1"/>
          </p:cNvSpPr>
          <p:nvPr>
            <p:ph type="body" sz="quarter" idx="11"/>
          </p:nvPr>
        </p:nvSpPr>
        <p:spPr>
          <a:xfrm>
            <a:off x="914399" y="3750468"/>
            <a:ext cx="10363202" cy="796180"/>
          </a:xfrm>
        </p:spPr>
        <p:txBody>
          <a:bodyPr/>
          <a:lstStyle/>
          <a:p>
            <a:pPr algn="l"/>
            <a:r>
              <a:rPr lang="es-419" dirty="0"/>
              <a:t>Se indican las páginas que se deben configurar para poder definir la estructura de los periodos académicos.</a:t>
            </a:r>
          </a:p>
        </p:txBody>
      </p:sp>
    </p:spTree>
    <p:extLst>
      <p:ext uri="{BB962C8B-B14F-4D97-AF65-F5344CB8AC3E}">
        <p14:creationId xmlns:p14="http://schemas.microsoft.com/office/powerpoint/2010/main" val="2530687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72A52783-EEBF-9DFF-33F6-0C86F47EC1EA}"/>
              </a:ext>
            </a:extLst>
          </p:cNvPr>
          <p:cNvPicPr>
            <a:picLocks noChangeAspect="1"/>
          </p:cNvPicPr>
          <p:nvPr/>
        </p:nvPicPr>
        <p:blipFill>
          <a:blip r:embed="rId2"/>
          <a:srcRect t="6165"/>
          <a:stretch>
            <a:fillRect/>
          </a:stretch>
        </p:blipFill>
        <p:spPr>
          <a:xfrm>
            <a:off x="452628" y="1234440"/>
            <a:ext cx="11286744" cy="4928076"/>
          </a:xfrm>
          <a:prstGeom prst="rect">
            <a:avLst/>
          </a:prstGeom>
        </p:spPr>
      </p:pic>
      <p:sp>
        <p:nvSpPr>
          <p:cNvPr id="5" name="Marcador de texto 4">
            <a:extLst>
              <a:ext uri="{FF2B5EF4-FFF2-40B4-BE49-F238E27FC236}">
                <a16:creationId xmlns:a16="http://schemas.microsoft.com/office/drawing/2014/main" id="{3A206324-E307-9002-B542-F91432DD5834}"/>
              </a:ext>
            </a:extLst>
          </p:cNvPr>
          <p:cNvSpPr>
            <a:spLocks noGrp="1"/>
          </p:cNvSpPr>
          <p:nvPr>
            <p:ph type="body" sz="quarter" idx="10"/>
          </p:nvPr>
        </p:nvSpPr>
        <p:spPr/>
        <p:txBody>
          <a:bodyPr/>
          <a:lstStyle/>
          <a:p>
            <a:r>
              <a:rPr lang="es-419" dirty="0"/>
              <a:t>Tema: Configurar partes de periodo - STVPTRM</a:t>
            </a:r>
          </a:p>
        </p:txBody>
      </p:sp>
      <p:sp>
        <p:nvSpPr>
          <p:cNvPr id="3" name="Rectángulo 2">
            <a:extLst>
              <a:ext uri="{FF2B5EF4-FFF2-40B4-BE49-F238E27FC236}">
                <a16:creationId xmlns:a16="http://schemas.microsoft.com/office/drawing/2014/main" id="{0898D19F-9BC4-A90E-B8E1-8F6E0C8A4E28}"/>
              </a:ext>
            </a:extLst>
          </p:cNvPr>
          <p:cNvSpPr/>
          <p:nvPr/>
        </p:nvSpPr>
        <p:spPr>
          <a:xfrm>
            <a:off x="1254153" y="1888271"/>
            <a:ext cx="8718637" cy="2024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4" name="Rectángulo redondeado 5">
            <a:extLst>
              <a:ext uri="{FF2B5EF4-FFF2-40B4-BE49-F238E27FC236}">
                <a16:creationId xmlns:a16="http://schemas.microsoft.com/office/drawing/2014/main" id="{255B3491-D8F1-B022-717C-38F093D9F236}"/>
              </a:ext>
            </a:extLst>
          </p:cNvPr>
          <p:cNvSpPr/>
          <p:nvPr/>
        </p:nvSpPr>
        <p:spPr>
          <a:xfrm>
            <a:off x="278892" y="2409207"/>
            <a:ext cx="2356847"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Institución debe ingresar el código de la parte de período. Máximo:  3 caracteres.</a:t>
            </a:r>
          </a:p>
        </p:txBody>
      </p:sp>
      <p:sp>
        <p:nvSpPr>
          <p:cNvPr id="6" name="Rectángulo 5">
            <a:extLst>
              <a:ext uri="{FF2B5EF4-FFF2-40B4-BE49-F238E27FC236}">
                <a16:creationId xmlns:a16="http://schemas.microsoft.com/office/drawing/2014/main" id="{56AA7BA4-486A-6E17-5086-86C8824AEBDF}"/>
              </a:ext>
            </a:extLst>
          </p:cNvPr>
          <p:cNvSpPr/>
          <p:nvPr/>
        </p:nvSpPr>
        <p:spPr>
          <a:xfrm>
            <a:off x="452628" y="1882491"/>
            <a:ext cx="707831" cy="20772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7" name="Rectángulo redondeado 8">
            <a:extLst>
              <a:ext uri="{FF2B5EF4-FFF2-40B4-BE49-F238E27FC236}">
                <a16:creationId xmlns:a16="http://schemas.microsoft.com/office/drawing/2014/main" id="{3067DAF6-92C2-E8EE-DA3D-CA092B38B58E}"/>
              </a:ext>
            </a:extLst>
          </p:cNvPr>
          <p:cNvSpPr/>
          <p:nvPr/>
        </p:nvSpPr>
        <p:spPr>
          <a:xfrm>
            <a:off x="3328161" y="2516518"/>
            <a:ext cx="3362292"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debe incorporar la Descripción del código correspondiente.</a:t>
            </a:r>
          </a:p>
          <a:p>
            <a:pPr algn="ctr"/>
            <a:r>
              <a:rPr lang="es-ES_tradnl" sz="1100" dirty="0"/>
              <a:t>Máximo: 30 caracteres</a:t>
            </a:r>
          </a:p>
        </p:txBody>
      </p:sp>
      <p:sp>
        <p:nvSpPr>
          <p:cNvPr id="8" name="Rectángulo 7">
            <a:extLst>
              <a:ext uri="{FF2B5EF4-FFF2-40B4-BE49-F238E27FC236}">
                <a16:creationId xmlns:a16="http://schemas.microsoft.com/office/drawing/2014/main" id="{B863CF64-5ED1-33D8-3497-530BFD475C0B}"/>
              </a:ext>
            </a:extLst>
          </p:cNvPr>
          <p:cNvSpPr/>
          <p:nvPr/>
        </p:nvSpPr>
        <p:spPr>
          <a:xfrm>
            <a:off x="10908791" y="1550305"/>
            <a:ext cx="255077" cy="2024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8">
            <a:extLst>
              <a:ext uri="{FF2B5EF4-FFF2-40B4-BE49-F238E27FC236}">
                <a16:creationId xmlns:a16="http://schemas.microsoft.com/office/drawing/2014/main" id="{40162889-BE97-B172-DDAD-77C58B88D170}"/>
              </a:ext>
            </a:extLst>
          </p:cNvPr>
          <p:cNvSpPr/>
          <p:nvPr/>
        </p:nvSpPr>
        <p:spPr>
          <a:xfrm>
            <a:off x="8363409" y="1078733"/>
            <a:ext cx="2130467" cy="6171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ingresar un nuevo código, debe hacer clic en esta opción</a:t>
            </a:r>
          </a:p>
        </p:txBody>
      </p:sp>
      <p:sp>
        <p:nvSpPr>
          <p:cNvPr id="10" name="Rectángulo redondeado 9">
            <a:extLst>
              <a:ext uri="{FF2B5EF4-FFF2-40B4-BE49-F238E27FC236}">
                <a16:creationId xmlns:a16="http://schemas.microsoft.com/office/drawing/2014/main" id="{78E0ED06-C88A-AAF7-A18E-7DDF69E0ADCD}"/>
              </a:ext>
            </a:extLst>
          </p:cNvPr>
          <p:cNvSpPr/>
          <p:nvPr/>
        </p:nvSpPr>
        <p:spPr>
          <a:xfrm>
            <a:off x="10481569" y="1407649"/>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9">
            <a:extLst>
              <a:ext uri="{FF2B5EF4-FFF2-40B4-BE49-F238E27FC236}">
                <a16:creationId xmlns:a16="http://schemas.microsoft.com/office/drawing/2014/main" id="{D0392027-C6E0-8D7E-321D-BEFE3AAF9FF3}"/>
              </a:ext>
            </a:extLst>
          </p:cNvPr>
          <p:cNvSpPr/>
          <p:nvPr/>
        </p:nvSpPr>
        <p:spPr>
          <a:xfrm>
            <a:off x="657955" y="2075795"/>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2" name="Rectángulo redondeado 9">
            <a:extLst>
              <a:ext uri="{FF2B5EF4-FFF2-40B4-BE49-F238E27FC236}">
                <a16:creationId xmlns:a16="http://schemas.microsoft.com/office/drawing/2014/main" id="{33EB15C4-048D-C4B2-56BF-1479B7606C72}"/>
              </a:ext>
            </a:extLst>
          </p:cNvPr>
          <p:cNvSpPr/>
          <p:nvPr/>
        </p:nvSpPr>
        <p:spPr>
          <a:xfrm>
            <a:off x="3373805" y="2075795"/>
            <a:ext cx="379780"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1" name="Rectángulo 20">
            <a:extLst>
              <a:ext uri="{FF2B5EF4-FFF2-40B4-BE49-F238E27FC236}">
                <a16:creationId xmlns:a16="http://schemas.microsoft.com/office/drawing/2014/main" id="{363EE284-BB8C-AD96-4390-4B873C35811A}"/>
              </a:ext>
            </a:extLst>
          </p:cNvPr>
          <p:cNvSpPr/>
          <p:nvPr/>
        </p:nvSpPr>
        <p:spPr>
          <a:xfrm>
            <a:off x="11191930" y="5947323"/>
            <a:ext cx="547442" cy="26996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9">
            <a:extLst>
              <a:ext uri="{FF2B5EF4-FFF2-40B4-BE49-F238E27FC236}">
                <a16:creationId xmlns:a16="http://schemas.microsoft.com/office/drawing/2014/main" id="{FA425BB1-96B9-64D9-4DB9-C633A3F0128E}"/>
              </a:ext>
            </a:extLst>
          </p:cNvPr>
          <p:cNvSpPr/>
          <p:nvPr/>
        </p:nvSpPr>
        <p:spPr>
          <a:xfrm>
            <a:off x="9287464" y="4923401"/>
            <a:ext cx="2625644" cy="9322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debe presionar “Guardar” para que la información quede registrada en el sistema</a:t>
            </a:r>
          </a:p>
        </p:txBody>
      </p:sp>
      <p:sp>
        <p:nvSpPr>
          <p:cNvPr id="23" name="Rectángulo redondeado 10">
            <a:extLst>
              <a:ext uri="{FF2B5EF4-FFF2-40B4-BE49-F238E27FC236}">
                <a16:creationId xmlns:a16="http://schemas.microsoft.com/office/drawing/2014/main" id="{92CFBD73-EDC0-8E17-A352-FFD54412E282}"/>
              </a:ext>
            </a:extLst>
          </p:cNvPr>
          <p:cNvSpPr/>
          <p:nvPr/>
        </p:nvSpPr>
        <p:spPr>
          <a:xfrm>
            <a:off x="10851388" y="5984046"/>
            <a:ext cx="340542" cy="3334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6" name="Rectángulo redondeado 8">
            <a:extLst>
              <a:ext uri="{FF2B5EF4-FFF2-40B4-BE49-F238E27FC236}">
                <a16:creationId xmlns:a16="http://schemas.microsoft.com/office/drawing/2014/main" id="{5F86DDA2-CCAD-58B6-27F6-CD3D2E1AC803}"/>
              </a:ext>
            </a:extLst>
          </p:cNvPr>
          <p:cNvSpPr/>
          <p:nvPr/>
        </p:nvSpPr>
        <p:spPr>
          <a:xfrm>
            <a:off x="806543" y="4382823"/>
            <a:ext cx="3362292" cy="7331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Debe existir la parte de periodo 1, la institución puede darle la descripción que requiera, por ejemplo: “Periodo Completo”</a:t>
            </a:r>
          </a:p>
        </p:txBody>
      </p:sp>
    </p:spTree>
    <p:extLst>
      <p:ext uri="{BB962C8B-B14F-4D97-AF65-F5344CB8AC3E}">
        <p14:creationId xmlns:p14="http://schemas.microsoft.com/office/powerpoint/2010/main" val="113310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21" grpId="0" animBg="1"/>
      <p:bldP spid="22" grpId="0" animBg="1"/>
      <p:bldP spid="23"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E46EB4B4-87CF-E14C-0E12-A1F09D710CB9}"/>
              </a:ext>
            </a:extLst>
          </p:cNvPr>
          <p:cNvPicPr>
            <a:picLocks noChangeAspect="1"/>
          </p:cNvPicPr>
          <p:nvPr/>
        </p:nvPicPr>
        <p:blipFill>
          <a:blip r:embed="rId2"/>
          <a:stretch>
            <a:fillRect/>
          </a:stretch>
        </p:blipFill>
        <p:spPr>
          <a:xfrm>
            <a:off x="114282" y="976460"/>
            <a:ext cx="11709635" cy="5115326"/>
          </a:xfrm>
          <a:prstGeom prst="rect">
            <a:avLst/>
          </a:prstGeom>
        </p:spPr>
      </p:pic>
      <p:sp>
        <p:nvSpPr>
          <p:cNvPr id="4" name="Marcador de texto 4">
            <a:extLst>
              <a:ext uri="{FF2B5EF4-FFF2-40B4-BE49-F238E27FC236}">
                <a16:creationId xmlns:a16="http://schemas.microsoft.com/office/drawing/2014/main" id="{FA75649F-1641-F0F9-3A6E-E74DFFBA347B}"/>
              </a:ext>
            </a:extLst>
          </p:cNvPr>
          <p:cNvSpPr txBox="1">
            <a:spLocks/>
          </p:cNvSpPr>
          <p:nvPr/>
        </p:nvSpPr>
        <p:spPr>
          <a:xfrm>
            <a:off x="534906" y="349630"/>
            <a:ext cx="11122188" cy="44608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3200" b="1" kern="1200">
                <a:solidFill>
                  <a:schemeClr val="accent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Tema: Configurar los años - STVACYR</a:t>
            </a:r>
          </a:p>
        </p:txBody>
      </p:sp>
      <p:sp>
        <p:nvSpPr>
          <p:cNvPr id="6" name="Rectángulo redondeado 9">
            <a:extLst>
              <a:ext uri="{FF2B5EF4-FFF2-40B4-BE49-F238E27FC236}">
                <a16:creationId xmlns:a16="http://schemas.microsoft.com/office/drawing/2014/main" id="{6AC0E7FB-6BE8-02E5-1A3B-B9210D26C7A3}"/>
              </a:ext>
            </a:extLst>
          </p:cNvPr>
          <p:cNvSpPr/>
          <p:nvPr/>
        </p:nvSpPr>
        <p:spPr>
          <a:xfrm>
            <a:off x="10597337" y="1349415"/>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9">
            <a:extLst>
              <a:ext uri="{FF2B5EF4-FFF2-40B4-BE49-F238E27FC236}">
                <a16:creationId xmlns:a16="http://schemas.microsoft.com/office/drawing/2014/main" id="{D4DB6114-4B1E-C785-E13B-A7755726A3F1}"/>
              </a:ext>
            </a:extLst>
          </p:cNvPr>
          <p:cNvSpPr/>
          <p:nvPr/>
        </p:nvSpPr>
        <p:spPr>
          <a:xfrm>
            <a:off x="548587" y="1646595"/>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9">
            <a:extLst>
              <a:ext uri="{FF2B5EF4-FFF2-40B4-BE49-F238E27FC236}">
                <a16:creationId xmlns:a16="http://schemas.microsoft.com/office/drawing/2014/main" id="{4982B601-B2DE-E015-70A1-CFF0C6B8B1E0}"/>
              </a:ext>
            </a:extLst>
          </p:cNvPr>
          <p:cNvSpPr/>
          <p:nvPr/>
        </p:nvSpPr>
        <p:spPr>
          <a:xfrm>
            <a:off x="2910788" y="1622720"/>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9" name="Rectángulo redondeado 9">
            <a:extLst>
              <a:ext uri="{FF2B5EF4-FFF2-40B4-BE49-F238E27FC236}">
                <a16:creationId xmlns:a16="http://schemas.microsoft.com/office/drawing/2014/main" id="{CDBC2A04-8FEB-F3CC-D9A2-99B2DE236F04}"/>
              </a:ext>
            </a:extLst>
          </p:cNvPr>
          <p:cNvSpPr/>
          <p:nvPr/>
        </p:nvSpPr>
        <p:spPr>
          <a:xfrm>
            <a:off x="6917061" y="1659674"/>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0" name="Rectángulo redondeado 9">
            <a:extLst>
              <a:ext uri="{FF2B5EF4-FFF2-40B4-BE49-F238E27FC236}">
                <a16:creationId xmlns:a16="http://schemas.microsoft.com/office/drawing/2014/main" id="{BD633833-89E9-2293-0B8E-F6DF599F72C0}"/>
              </a:ext>
            </a:extLst>
          </p:cNvPr>
          <p:cNvSpPr/>
          <p:nvPr/>
        </p:nvSpPr>
        <p:spPr>
          <a:xfrm>
            <a:off x="8478937" y="1652182"/>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1" name="Rectángulo redondeado 9">
            <a:extLst>
              <a:ext uri="{FF2B5EF4-FFF2-40B4-BE49-F238E27FC236}">
                <a16:creationId xmlns:a16="http://schemas.microsoft.com/office/drawing/2014/main" id="{2B2C6971-AD32-69AC-164F-0DEE5702C178}"/>
              </a:ext>
            </a:extLst>
          </p:cNvPr>
          <p:cNvSpPr/>
          <p:nvPr/>
        </p:nvSpPr>
        <p:spPr>
          <a:xfrm>
            <a:off x="10860116" y="5845035"/>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11">
            <a:extLst>
              <a:ext uri="{FF2B5EF4-FFF2-40B4-BE49-F238E27FC236}">
                <a16:creationId xmlns:a16="http://schemas.microsoft.com/office/drawing/2014/main" id="{01815BFC-C42B-DBF4-06A2-1A74392E3076}"/>
              </a:ext>
            </a:extLst>
          </p:cNvPr>
          <p:cNvSpPr/>
          <p:nvPr/>
        </p:nvSpPr>
        <p:spPr>
          <a:xfrm>
            <a:off x="10878211" y="1249366"/>
            <a:ext cx="323835"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5">
            <a:extLst>
              <a:ext uri="{FF2B5EF4-FFF2-40B4-BE49-F238E27FC236}">
                <a16:creationId xmlns:a16="http://schemas.microsoft.com/office/drawing/2014/main" id="{27495175-AAA4-CF08-1B5E-709CD59E06B5}"/>
              </a:ext>
            </a:extLst>
          </p:cNvPr>
          <p:cNvSpPr/>
          <p:nvPr/>
        </p:nvSpPr>
        <p:spPr>
          <a:xfrm>
            <a:off x="8688076" y="1149318"/>
            <a:ext cx="1909261" cy="5103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ingresar un nuevo código, debe hacer clic en esta opción</a:t>
            </a:r>
          </a:p>
        </p:txBody>
      </p:sp>
      <p:sp>
        <p:nvSpPr>
          <p:cNvPr id="14" name="Rectángulo redondeado 5">
            <a:extLst>
              <a:ext uri="{FF2B5EF4-FFF2-40B4-BE49-F238E27FC236}">
                <a16:creationId xmlns:a16="http://schemas.microsoft.com/office/drawing/2014/main" id="{81A8CB75-3F94-5C7E-257E-CAD36CFA2011}"/>
              </a:ext>
            </a:extLst>
          </p:cNvPr>
          <p:cNvSpPr/>
          <p:nvPr/>
        </p:nvSpPr>
        <p:spPr>
          <a:xfrm>
            <a:off x="2487168" y="4507992"/>
            <a:ext cx="6794043" cy="19131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la creación y validación del año académico se debe seguir el siguiente proceso:</a:t>
            </a:r>
          </a:p>
          <a:p>
            <a:r>
              <a:rPr lang="es-ES_tradnl" sz="1200" dirty="0"/>
              <a:t>1.- Debe presionar ‘</a:t>
            </a:r>
            <a:r>
              <a:rPr lang="es-ES_tradnl" sz="1200" b="1" dirty="0"/>
              <a:t>+</a:t>
            </a:r>
            <a:r>
              <a:rPr lang="es-ES_tradnl" sz="1200" dirty="0"/>
              <a:t>’ la para la creación del nuevo registro </a:t>
            </a:r>
          </a:p>
          <a:p>
            <a:r>
              <a:rPr lang="es-ES_tradnl" sz="1200" dirty="0"/>
              <a:t>2.- Ingrese el año: </a:t>
            </a:r>
            <a:r>
              <a:rPr lang="es-ES" sz="1200" dirty="0"/>
              <a:t>Código alfanumérico de 4 caracteres que representa el tipo de período.</a:t>
            </a:r>
            <a:endParaRPr lang="es-ES_tradnl" sz="1200" dirty="0"/>
          </a:p>
          <a:p>
            <a:r>
              <a:rPr lang="es-ES_tradnl" sz="1200" dirty="0"/>
              <a:t>3.- Ingrese la descripción del año creado.</a:t>
            </a:r>
          </a:p>
          <a:p>
            <a:r>
              <a:rPr lang="es-ES_tradnl" sz="1200" dirty="0"/>
              <a:t>4.- Activar </a:t>
            </a:r>
            <a:r>
              <a:rPr lang="es-ES_tradnl" sz="1200" dirty="0" err="1"/>
              <a:t>checkbox</a:t>
            </a:r>
            <a:r>
              <a:rPr lang="es-ES_tradnl" sz="1200" dirty="0"/>
              <a:t> de “Requerido por el sistema” solo para los años ‘0000’ y ‘9999’.</a:t>
            </a:r>
          </a:p>
          <a:p>
            <a:r>
              <a:rPr lang="es-ES_tradnl" sz="1200" dirty="0"/>
              <a:t>5.- Ingresar las fechas de inicio y fin del año creado. Campo opcional.</a:t>
            </a:r>
          </a:p>
          <a:p>
            <a:r>
              <a:rPr lang="es-ES_tradnl" sz="1200" dirty="0"/>
              <a:t>6.- Finalmente se deben guardar todos los registros creados.</a:t>
            </a:r>
          </a:p>
        </p:txBody>
      </p:sp>
      <p:sp>
        <p:nvSpPr>
          <p:cNvPr id="15" name="Rectángulo 14">
            <a:extLst>
              <a:ext uri="{FF2B5EF4-FFF2-40B4-BE49-F238E27FC236}">
                <a16:creationId xmlns:a16="http://schemas.microsoft.com/office/drawing/2014/main" id="{1883DC39-244C-CA53-1848-2316262A73AA}"/>
              </a:ext>
            </a:extLst>
          </p:cNvPr>
          <p:cNvSpPr/>
          <p:nvPr/>
        </p:nvSpPr>
        <p:spPr>
          <a:xfrm>
            <a:off x="11273051" y="5818408"/>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5">
            <a:extLst>
              <a:ext uri="{FF2B5EF4-FFF2-40B4-BE49-F238E27FC236}">
                <a16:creationId xmlns:a16="http://schemas.microsoft.com/office/drawing/2014/main" id="{CD0B536E-2186-085F-85F6-EA33E474135B}"/>
              </a:ext>
            </a:extLst>
          </p:cNvPr>
          <p:cNvSpPr/>
          <p:nvPr/>
        </p:nvSpPr>
        <p:spPr>
          <a:xfrm>
            <a:off x="10276605" y="5472080"/>
            <a:ext cx="1527045" cy="2731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finalizar guardar</a:t>
            </a:r>
          </a:p>
        </p:txBody>
      </p:sp>
    </p:spTree>
    <p:extLst>
      <p:ext uri="{BB962C8B-B14F-4D97-AF65-F5344CB8AC3E}">
        <p14:creationId xmlns:p14="http://schemas.microsoft.com/office/powerpoint/2010/main" val="401465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9D7E-0A5F-47B7-4E12-2DE412F4070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4294C7C-8C79-FCA2-6B19-7769B230AABF}"/>
              </a:ext>
            </a:extLst>
          </p:cNvPr>
          <p:cNvPicPr>
            <a:picLocks noChangeAspect="1"/>
          </p:cNvPicPr>
          <p:nvPr/>
        </p:nvPicPr>
        <p:blipFill>
          <a:blip r:embed="rId2"/>
          <a:srcRect t="5532"/>
          <a:stretch>
            <a:fillRect/>
          </a:stretch>
        </p:blipFill>
        <p:spPr>
          <a:xfrm>
            <a:off x="670233" y="1078992"/>
            <a:ext cx="10986861" cy="4837814"/>
          </a:xfrm>
          <a:prstGeom prst="rect">
            <a:avLst/>
          </a:prstGeom>
        </p:spPr>
      </p:pic>
      <p:sp>
        <p:nvSpPr>
          <p:cNvPr id="4" name="Marcador de texto 4">
            <a:extLst>
              <a:ext uri="{FF2B5EF4-FFF2-40B4-BE49-F238E27FC236}">
                <a16:creationId xmlns:a16="http://schemas.microsoft.com/office/drawing/2014/main" id="{6C10CB57-CA80-02A9-9DD4-40E3DBDDEC27}"/>
              </a:ext>
            </a:extLst>
          </p:cNvPr>
          <p:cNvSpPr txBox="1">
            <a:spLocks/>
          </p:cNvSpPr>
          <p:nvPr/>
        </p:nvSpPr>
        <p:spPr>
          <a:xfrm>
            <a:off x="534906" y="349630"/>
            <a:ext cx="11122188" cy="44608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3200" b="1" kern="1200">
                <a:solidFill>
                  <a:schemeClr val="accent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Tema: Configurar los tipos de periodo - STVTRMT</a:t>
            </a:r>
          </a:p>
        </p:txBody>
      </p:sp>
      <p:sp>
        <p:nvSpPr>
          <p:cNvPr id="6" name="Rectángulo redondeado 9">
            <a:extLst>
              <a:ext uri="{FF2B5EF4-FFF2-40B4-BE49-F238E27FC236}">
                <a16:creationId xmlns:a16="http://schemas.microsoft.com/office/drawing/2014/main" id="{DBC01677-5468-BE54-A3A5-2F7C4CC00E16}"/>
              </a:ext>
            </a:extLst>
          </p:cNvPr>
          <p:cNvSpPr/>
          <p:nvPr/>
        </p:nvSpPr>
        <p:spPr>
          <a:xfrm>
            <a:off x="10514140" y="1360559"/>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9">
            <a:extLst>
              <a:ext uri="{FF2B5EF4-FFF2-40B4-BE49-F238E27FC236}">
                <a16:creationId xmlns:a16="http://schemas.microsoft.com/office/drawing/2014/main" id="{E5B54F94-182F-C146-E497-3A5E3CC58012}"/>
              </a:ext>
            </a:extLst>
          </p:cNvPr>
          <p:cNvSpPr/>
          <p:nvPr/>
        </p:nvSpPr>
        <p:spPr>
          <a:xfrm>
            <a:off x="10836095" y="5686681"/>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11">
            <a:extLst>
              <a:ext uri="{FF2B5EF4-FFF2-40B4-BE49-F238E27FC236}">
                <a16:creationId xmlns:a16="http://schemas.microsoft.com/office/drawing/2014/main" id="{32EEFE61-7844-C5DF-C61A-EB1F06A153F8}"/>
              </a:ext>
            </a:extLst>
          </p:cNvPr>
          <p:cNvSpPr/>
          <p:nvPr/>
        </p:nvSpPr>
        <p:spPr>
          <a:xfrm>
            <a:off x="10836095" y="1374240"/>
            <a:ext cx="255000"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5">
            <a:extLst>
              <a:ext uri="{FF2B5EF4-FFF2-40B4-BE49-F238E27FC236}">
                <a16:creationId xmlns:a16="http://schemas.microsoft.com/office/drawing/2014/main" id="{4159A45B-A985-96CC-E7B7-5F99ABA2A08B}"/>
              </a:ext>
            </a:extLst>
          </p:cNvPr>
          <p:cNvSpPr/>
          <p:nvPr/>
        </p:nvSpPr>
        <p:spPr>
          <a:xfrm>
            <a:off x="8496928" y="1260511"/>
            <a:ext cx="1951418" cy="55740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ingresar un nuevo código, debe hacer clic en esta opción</a:t>
            </a:r>
          </a:p>
        </p:txBody>
      </p:sp>
      <p:sp>
        <p:nvSpPr>
          <p:cNvPr id="15" name="Rectángulo 14">
            <a:extLst>
              <a:ext uri="{FF2B5EF4-FFF2-40B4-BE49-F238E27FC236}">
                <a16:creationId xmlns:a16="http://schemas.microsoft.com/office/drawing/2014/main" id="{2D622C29-200E-153C-0FED-8A47A27A8382}"/>
              </a:ext>
            </a:extLst>
          </p:cNvPr>
          <p:cNvSpPr/>
          <p:nvPr/>
        </p:nvSpPr>
        <p:spPr>
          <a:xfrm>
            <a:off x="11174360" y="5700174"/>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5">
            <a:extLst>
              <a:ext uri="{FF2B5EF4-FFF2-40B4-BE49-F238E27FC236}">
                <a16:creationId xmlns:a16="http://schemas.microsoft.com/office/drawing/2014/main" id="{26D3703F-10C8-85EA-0326-5158341FCBC7}"/>
              </a:ext>
            </a:extLst>
          </p:cNvPr>
          <p:cNvSpPr/>
          <p:nvPr/>
        </p:nvSpPr>
        <p:spPr>
          <a:xfrm>
            <a:off x="10195843" y="5245377"/>
            <a:ext cx="1527045" cy="2731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finalizar guardar</a:t>
            </a:r>
          </a:p>
        </p:txBody>
      </p:sp>
      <p:sp>
        <p:nvSpPr>
          <p:cNvPr id="20" name="Rectángulo redondeado 9">
            <a:extLst>
              <a:ext uri="{FF2B5EF4-FFF2-40B4-BE49-F238E27FC236}">
                <a16:creationId xmlns:a16="http://schemas.microsoft.com/office/drawing/2014/main" id="{12A49D95-9A78-EE99-EF5F-A171F1758E7E}"/>
              </a:ext>
            </a:extLst>
          </p:cNvPr>
          <p:cNvSpPr/>
          <p:nvPr/>
        </p:nvSpPr>
        <p:spPr>
          <a:xfrm>
            <a:off x="1051507" y="1704250"/>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1" name="Rectángulo redondeado 9">
            <a:extLst>
              <a:ext uri="{FF2B5EF4-FFF2-40B4-BE49-F238E27FC236}">
                <a16:creationId xmlns:a16="http://schemas.microsoft.com/office/drawing/2014/main" id="{2EB8E736-A944-6CFA-9468-16CF1E11FA02}"/>
              </a:ext>
            </a:extLst>
          </p:cNvPr>
          <p:cNvSpPr/>
          <p:nvPr/>
        </p:nvSpPr>
        <p:spPr>
          <a:xfrm>
            <a:off x="4501122" y="1704250"/>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2" name="Rectángulo redondeado 5">
            <a:extLst>
              <a:ext uri="{FF2B5EF4-FFF2-40B4-BE49-F238E27FC236}">
                <a16:creationId xmlns:a16="http://schemas.microsoft.com/office/drawing/2014/main" id="{6F0E73C8-F533-45AA-2F22-FFB5B0F28608}"/>
              </a:ext>
            </a:extLst>
          </p:cNvPr>
          <p:cNvSpPr/>
          <p:nvPr/>
        </p:nvSpPr>
        <p:spPr>
          <a:xfrm>
            <a:off x="1801368" y="3429000"/>
            <a:ext cx="7324962" cy="216848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la creación </a:t>
            </a:r>
            <a:r>
              <a:rPr lang="es-ES" sz="1400" dirty="0"/>
              <a:t>de los tipos de período; ejemplo trimestral, semestral, verano</a:t>
            </a:r>
            <a:r>
              <a:rPr lang="es-ES_tradnl" sz="1400" dirty="0"/>
              <a:t> se debe seguir el siguiente proceso:</a:t>
            </a:r>
          </a:p>
          <a:p>
            <a:r>
              <a:rPr lang="es-ES_tradnl" sz="1400" dirty="0"/>
              <a:t>1.- Debe presionar ‘</a:t>
            </a:r>
            <a:r>
              <a:rPr lang="es-ES_tradnl" sz="1400" b="1" dirty="0"/>
              <a:t>+</a:t>
            </a:r>
            <a:r>
              <a:rPr lang="es-ES_tradnl" sz="1400" dirty="0"/>
              <a:t>’ la para la creación del nuevo registro.</a:t>
            </a:r>
          </a:p>
          <a:p>
            <a:r>
              <a:rPr lang="es-ES_tradnl" sz="1400" dirty="0"/>
              <a:t>2.- Ingrese </a:t>
            </a:r>
            <a:r>
              <a:rPr lang="es-ES" sz="1400" dirty="0"/>
              <a:t>Tipo de período</a:t>
            </a:r>
            <a:r>
              <a:rPr lang="es-ES_tradnl" sz="1400" dirty="0"/>
              <a:t>. </a:t>
            </a:r>
            <a:r>
              <a:rPr lang="es-ES" sz="1400" dirty="0"/>
              <a:t>Código alfanumérico de 1 caracteres que representa el tipo de período.</a:t>
            </a:r>
            <a:endParaRPr lang="es-ES_tradnl" sz="1400" dirty="0"/>
          </a:p>
          <a:p>
            <a:r>
              <a:rPr lang="es-ES_tradnl" sz="1400" dirty="0"/>
              <a:t>3.- Ingrese la descripción, </a:t>
            </a:r>
            <a:r>
              <a:rPr lang="es-CL" sz="1400" dirty="0"/>
              <a:t>Campo alfanumérico de hasta 30 caracteres que representa el nombre del tipo de período anteriormente</a:t>
            </a:r>
            <a:r>
              <a:rPr lang="es-ES_tradnl" sz="1400" dirty="0"/>
              <a:t>.</a:t>
            </a:r>
          </a:p>
          <a:p>
            <a:r>
              <a:rPr lang="es-ES_tradnl" sz="1400" dirty="0"/>
              <a:t>4.- Finalmente se deben guardar todos los registros creados.</a:t>
            </a:r>
          </a:p>
        </p:txBody>
      </p:sp>
    </p:spTree>
    <p:extLst>
      <p:ext uri="{BB962C8B-B14F-4D97-AF65-F5344CB8AC3E}">
        <p14:creationId xmlns:p14="http://schemas.microsoft.com/office/powerpoint/2010/main" val="124754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09D3C-6820-455D-73D8-08510C51AA29}"/>
            </a:ext>
          </a:extLst>
        </p:cNvPr>
        <p:cNvGrpSpPr/>
        <p:nvPr/>
      </p:nvGrpSpPr>
      <p:grpSpPr>
        <a:xfrm>
          <a:off x="0" y="0"/>
          <a:ext cx="0" cy="0"/>
          <a:chOff x="0" y="0"/>
          <a:chExt cx="0" cy="0"/>
        </a:xfrm>
      </p:grpSpPr>
      <p:sp>
        <p:nvSpPr>
          <p:cNvPr id="8" name="Marcador de texto 3">
            <a:extLst>
              <a:ext uri="{FF2B5EF4-FFF2-40B4-BE49-F238E27FC236}">
                <a16:creationId xmlns:a16="http://schemas.microsoft.com/office/drawing/2014/main" id="{6C32E982-7D76-38F1-0421-B13604535A46}"/>
              </a:ext>
            </a:extLst>
          </p:cNvPr>
          <p:cNvSpPr>
            <a:spLocks noGrp="1"/>
          </p:cNvSpPr>
          <p:nvPr>
            <p:ph type="body" sz="quarter" idx="10"/>
          </p:nvPr>
        </p:nvSpPr>
        <p:spPr>
          <a:xfrm>
            <a:off x="914400" y="2761456"/>
            <a:ext cx="10363200" cy="1335088"/>
          </a:xfrm>
        </p:spPr>
        <p:txBody>
          <a:bodyPr/>
          <a:lstStyle/>
          <a:p>
            <a:pPr algn="l"/>
            <a:r>
              <a:rPr lang="en-US" dirty="0" err="1"/>
              <a:t>Definir</a:t>
            </a:r>
            <a:r>
              <a:rPr lang="en-US" dirty="0"/>
              <a:t> la </a:t>
            </a:r>
            <a:r>
              <a:rPr lang="en-US" dirty="0" err="1"/>
              <a:t>Estructura</a:t>
            </a:r>
            <a:r>
              <a:rPr lang="en-US" dirty="0"/>
              <a:t> de </a:t>
            </a:r>
            <a:r>
              <a:rPr lang="en-US" dirty="0" err="1"/>
              <a:t>los</a:t>
            </a:r>
            <a:r>
              <a:rPr lang="en-US" dirty="0"/>
              <a:t> </a:t>
            </a:r>
            <a:r>
              <a:rPr lang="en-US" dirty="0" err="1"/>
              <a:t>Períodos</a:t>
            </a:r>
            <a:r>
              <a:rPr lang="en-US" dirty="0"/>
              <a:t> </a:t>
            </a:r>
            <a:r>
              <a:rPr lang="en-US" dirty="0" err="1"/>
              <a:t>Académicos</a:t>
            </a:r>
            <a:endParaRPr lang="es-419" dirty="0"/>
          </a:p>
        </p:txBody>
      </p:sp>
    </p:spTree>
    <p:extLst>
      <p:ext uri="{BB962C8B-B14F-4D97-AF65-F5344CB8AC3E}">
        <p14:creationId xmlns:p14="http://schemas.microsoft.com/office/powerpoint/2010/main" val="2085477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9AA9-44C6-6F00-387C-AD382D245DB1}"/>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75D19EAF-98F3-68E3-C8A9-80AC828170E4}"/>
              </a:ext>
            </a:extLst>
          </p:cNvPr>
          <p:cNvPicPr>
            <a:picLocks noChangeAspect="1"/>
          </p:cNvPicPr>
          <p:nvPr/>
        </p:nvPicPr>
        <p:blipFill>
          <a:blip r:embed="rId2"/>
          <a:srcRect t="5217"/>
          <a:stretch>
            <a:fillRect/>
          </a:stretch>
        </p:blipFill>
        <p:spPr>
          <a:xfrm>
            <a:off x="831976" y="1408176"/>
            <a:ext cx="11122188" cy="4983856"/>
          </a:xfrm>
          <a:prstGeom prst="rect">
            <a:avLst/>
          </a:prstGeom>
        </p:spPr>
      </p:pic>
      <p:sp>
        <p:nvSpPr>
          <p:cNvPr id="5" name="Marcador de texto 4">
            <a:extLst>
              <a:ext uri="{FF2B5EF4-FFF2-40B4-BE49-F238E27FC236}">
                <a16:creationId xmlns:a16="http://schemas.microsoft.com/office/drawing/2014/main" id="{523FA107-9350-A020-D02E-10E8CF9B2BAB}"/>
              </a:ext>
            </a:extLst>
          </p:cNvPr>
          <p:cNvSpPr>
            <a:spLocks noGrp="1"/>
          </p:cNvSpPr>
          <p:nvPr>
            <p:ph type="body" sz="quarter" idx="10"/>
          </p:nvPr>
        </p:nvSpPr>
        <p:spPr/>
        <p:txBody>
          <a:bodyPr/>
          <a:lstStyle/>
          <a:p>
            <a:r>
              <a:rPr lang="es-419" dirty="0"/>
              <a:t>Tema: Configurar los periodos académicos – STVTERM  1/4</a:t>
            </a:r>
          </a:p>
        </p:txBody>
      </p:sp>
      <p:sp>
        <p:nvSpPr>
          <p:cNvPr id="3" name="Rectángulo redondeado 9">
            <a:extLst>
              <a:ext uri="{FF2B5EF4-FFF2-40B4-BE49-F238E27FC236}">
                <a16:creationId xmlns:a16="http://schemas.microsoft.com/office/drawing/2014/main" id="{FADDE6E3-BDAC-DCA9-1765-237DFC15DF0B}"/>
              </a:ext>
            </a:extLst>
          </p:cNvPr>
          <p:cNvSpPr/>
          <p:nvPr/>
        </p:nvSpPr>
        <p:spPr>
          <a:xfrm>
            <a:off x="10766173" y="1721674"/>
            <a:ext cx="273095"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4" name="Rectángulo redondeado 9">
            <a:extLst>
              <a:ext uri="{FF2B5EF4-FFF2-40B4-BE49-F238E27FC236}">
                <a16:creationId xmlns:a16="http://schemas.microsoft.com/office/drawing/2014/main" id="{36ED2760-5BD4-6AB2-DCD6-2D40F54BC336}"/>
              </a:ext>
            </a:extLst>
          </p:cNvPr>
          <p:cNvSpPr/>
          <p:nvPr/>
        </p:nvSpPr>
        <p:spPr>
          <a:xfrm>
            <a:off x="1180890" y="2200641"/>
            <a:ext cx="238336" cy="20881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9">
            <a:extLst>
              <a:ext uri="{FF2B5EF4-FFF2-40B4-BE49-F238E27FC236}">
                <a16:creationId xmlns:a16="http://schemas.microsoft.com/office/drawing/2014/main" id="{654788AA-493C-48C0-DE6C-BCE41B6117EE}"/>
              </a:ext>
            </a:extLst>
          </p:cNvPr>
          <p:cNvSpPr/>
          <p:nvPr/>
        </p:nvSpPr>
        <p:spPr>
          <a:xfrm>
            <a:off x="2231127" y="2200638"/>
            <a:ext cx="238336" cy="20881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7" name="Rectángulo redondeado 9">
            <a:extLst>
              <a:ext uri="{FF2B5EF4-FFF2-40B4-BE49-F238E27FC236}">
                <a16:creationId xmlns:a16="http://schemas.microsoft.com/office/drawing/2014/main" id="{38A24135-F43D-F2DA-9DDB-CE0500629C2B}"/>
              </a:ext>
            </a:extLst>
          </p:cNvPr>
          <p:cNvSpPr/>
          <p:nvPr/>
        </p:nvSpPr>
        <p:spPr>
          <a:xfrm>
            <a:off x="3287490" y="2545828"/>
            <a:ext cx="442995" cy="20881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8" name="Rectángulo 7">
            <a:extLst>
              <a:ext uri="{FF2B5EF4-FFF2-40B4-BE49-F238E27FC236}">
                <a16:creationId xmlns:a16="http://schemas.microsoft.com/office/drawing/2014/main" id="{01ED64C6-4285-07E0-2F8F-17D3A3DF544D}"/>
              </a:ext>
            </a:extLst>
          </p:cNvPr>
          <p:cNvSpPr/>
          <p:nvPr/>
        </p:nvSpPr>
        <p:spPr>
          <a:xfrm>
            <a:off x="11086928" y="1752347"/>
            <a:ext cx="273096" cy="18229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BFA34B14-BC6F-65B3-FD37-8C5A4C057A15}"/>
              </a:ext>
            </a:extLst>
          </p:cNvPr>
          <p:cNvSpPr/>
          <p:nvPr/>
        </p:nvSpPr>
        <p:spPr>
          <a:xfrm>
            <a:off x="9452333" y="1721674"/>
            <a:ext cx="1266180" cy="3175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Seleccionar “Insertar”</a:t>
            </a:r>
          </a:p>
        </p:txBody>
      </p:sp>
      <p:sp>
        <p:nvSpPr>
          <p:cNvPr id="10" name="Rectángulo redondeado 9">
            <a:extLst>
              <a:ext uri="{FF2B5EF4-FFF2-40B4-BE49-F238E27FC236}">
                <a16:creationId xmlns:a16="http://schemas.microsoft.com/office/drawing/2014/main" id="{E3514803-3D3E-DA55-1A60-8447A38F2ED5}"/>
              </a:ext>
            </a:extLst>
          </p:cNvPr>
          <p:cNvSpPr/>
          <p:nvPr/>
        </p:nvSpPr>
        <p:spPr>
          <a:xfrm>
            <a:off x="5360414" y="2199943"/>
            <a:ext cx="238336" cy="20881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1" name="Rectángulo: esquinas redondeadas 10">
            <a:extLst>
              <a:ext uri="{FF2B5EF4-FFF2-40B4-BE49-F238E27FC236}">
                <a16:creationId xmlns:a16="http://schemas.microsoft.com/office/drawing/2014/main" id="{642346B8-42DD-9639-29BD-D1D0D0436A4F}"/>
              </a:ext>
            </a:extLst>
          </p:cNvPr>
          <p:cNvSpPr/>
          <p:nvPr/>
        </p:nvSpPr>
        <p:spPr>
          <a:xfrm>
            <a:off x="1852585" y="4645420"/>
            <a:ext cx="9080971" cy="163770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Para la creación y definición de los períodos académicos, </a:t>
            </a:r>
            <a:r>
              <a:rPr lang="es-ES_tradnl" sz="1100" dirty="0"/>
              <a:t>se debe seguir el siguiente proceso:</a:t>
            </a:r>
            <a:br>
              <a:rPr lang="es-ES" sz="1100" dirty="0"/>
            </a:br>
            <a:r>
              <a:rPr lang="es-ES" sz="1100" dirty="0"/>
              <a:t>1. </a:t>
            </a:r>
            <a:r>
              <a:rPr lang="es-ES_tradnl" sz="1100" dirty="0"/>
              <a:t>Debe presionar ‘</a:t>
            </a:r>
            <a:r>
              <a:rPr lang="es-ES_tradnl" sz="1100" b="1" dirty="0"/>
              <a:t>+</a:t>
            </a:r>
            <a:r>
              <a:rPr lang="es-ES_tradnl" sz="1100" dirty="0"/>
              <a:t>’ la para la creación del nuevo registro.</a:t>
            </a:r>
          </a:p>
          <a:p>
            <a:r>
              <a:rPr lang="es-ES" sz="1100" dirty="0"/>
              <a:t>2. Período: Código alfanumérico de 6 caracteres que representa el código del período.  (Requerido)</a:t>
            </a:r>
          </a:p>
          <a:p>
            <a:r>
              <a:rPr lang="es-CL" sz="1100" dirty="0"/>
              <a:t>3. Descripción del período: Campo alfanumérico de hasta 30 caracteres que representa el nombre del período creado. </a:t>
            </a:r>
            <a:r>
              <a:rPr lang="es-ES" sz="1100" dirty="0"/>
              <a:t>(Requerido)</a:t>
            </a:r>
          </a:p>
          <a:p>
            <a:r>
              <a:rPr lang="es-CL" sz="1100" dirty="0"/>
              <a:t>4. Fecha de inicio y fin del período: Campo tipo fecha que corresponde al inicio del periodo académico creado. </a:t>
            </a:r>
            <a:r>
              <a:rPr lang="es-ES" sz="1100" dirty="0"/>
              <a:t>(Requerido)</a:t>
            </a:r>
          </a:p>
          <a:p>
            <a:r>
              <a:rPr lang="es-ES" sz="1100" dirty="0"/>
              <a:t>5. Año académico: Año correspondiente al código del o los periodos correspondientes.</a:t>
            </a:r>
            <a:r>
              <a:rPr lang="es-CL" sz="1100" dirty="0"/>
              <a:t> (Requerido)</a:t>
            </a:r>
            <a:endParaRPr lang="es-ES" sz="1100" dirty="0"/>
          </a:p>
        </p:txBody>
      </p:sp>
      <p:sp>
        <p:nvSpPr>
          <p:cNvPr id="2" name="Right Brace 1">
            <a:extLst>
              <a:ext uri="{FF2B5EF4-FFF2-40B4-BE49-F238E27FC236}">
                <a16:creationId xmlns:a16="http://schemas.microsoft.com/office/drawing/2014/main" id="{A185CC3C-5C1E-DE76-B69C-879ABEE036F3}"/>
              </a:ext>
            </a:extLst>
          </p:cNvPr>
          <p:cNvSpPr/>
          <p:nvPr/>
        </p:nvSpPr>
        <p:spPr>
          <a:xfrm rot="5400000">
            <a:off x="3404579" y="1519921"/>
            <a:ext cx="208818" cy="177768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L"/>
          </a:p>
        </p:txBody>
      </p:sp>
    </p:spTree>
    <p:extLst>
      <p:ext uri="{BB962C8B-B14F-4D97-AF65-F5344CB8AC3E}">
        <p14:creationId xmlns:p14="http://schemas.microsoft.com/office/powerpoint/2010/main" val="367672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5583-5A52-FCC9-ED0E-D50A21108D33}"/>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E854AD41-2622-53DA-62DA-61FB5A24DA23}"/>
              </a:ext>
            </a:extLst>
          </p:cNvPr>
          <p:cNvPicPr>
            <a:picLocks noChangeAspect="1"/>
          </p:cNvPicPr>
          <p:nvPr/>
        </p:nvPicPr>
        <p:blipFill>
          <a:blip r:embed="rId2"/>
          <a:srcRect t="5330"/>
          <a:stretch>
            <a:fillRect/>
          </a:stretch>
        </p:blipFill>
        <p:spPr>
          <a:xfrm>
            <a:off x="731392" y="1307591"/>
            <a:ext cx="11122188" cy="4977911"/>
          </a:xfrm>
          <a:prstGeom prst="rect">
            <a:avLst/>
          </a:prstGeom>
        </p:spPr>
      </p:pic>
      <p:sp>
        <p:nvSpPr>
          <p:cNvPr id="5" name="Marcador de texto 4">
            <a:extLst>
              <a:ext uri="{FF2B5EF4-FFF2-40B4-BE49-F238E27FC236}">
                <a16:creationId xmlns:a16="http://schemas.microsoft.com/office/drawing/2014/main" id="{C8160816-85E7-4FA7-1600-35C7EC1364EC}"/>
              </a:ext>
            </a:extLst>
          </p:cNvPr>
          <p:cNvSpPr>
            <a:spLocks noGrp="1"/>
          </p:cNvSpPr>
          <p:nvPr>
            <p:ph type="body" sz="quarter" idx="10"/>
          </p:nvPr>
        </p:nvSpPr>
        <p:spPr/>
        <p:txBody>
          <a:bodyPr/>
          <a:lstStyle/>
          <a:p>
            <a:r>
              <a:rPr lang="es-419" dirty="0"/>
              <a:t>Tema: Configurar los periodos académicos 2/4</a:t>
            </a:r>
          </a:p>
        </p:txBody>
      </p:sp>
      <p:sp>
        <p:nvSpPr>
          <p:cNvPr id="13" name="Rectángulo: esquinas redondeadas 12">
            <a:extLst>
              <a:ext uri="{FF2B5EF4-FFF2-40B4-BE49-F238E27FC236}">
                <a16:creationId xmlns:a16="http://schemas.microsoft.com/office/drawing/2014/main" id="{356541F0-6EC2-BC86-D8EC-D1FA6130A154}"/>
              </a:ext>
            </a:extLst>
          </p:cNvPr>
          <p:cNvSpPr/>
          <p:nvPr/>
        </p:nvSpPr>
        <p:spPr>
          <a:xfrm>
            <a:off x="850388" y="4781551"/>
            <a:ext cx="10287003" cy="15039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Página destinada a la creación y definición de los períodos académicos</a:t>
            </a:r>
            <a:br>
              <a:rPr lang="es-ES" sz="1100" dirty="0"/>
            </a:br>
            <a:br>
              <a:rPr lang="es-ES" sz="1100" dirty="0"/>
            </a:br>
            <a:r>
              <a:rPr lang="es-ES" sz="1100" dirty="0"/>
              <a:t>6.  Tipo de período: Depende de STVTRMT, corresponde al tipo de período que se asignará a este código de período. (Opcional)</a:t>
            </a:r>
          </a:p>
          <a:p>
            <a:r>
              <a:rPr lang="es-CL" sz="1100" dirty="0"/>
              <a:t>7.  Fecha de inicio de alojamiento: Campo tipo fecha que corresponde al inicio del periodo de alojamiento, se debe configurar así no te tenga el servicio de alojamiento.    (Requerido). Se ingresan las mimas fechas del período.</a:t>
            </a:r>
          </a:p>
          <a:p>
            <a:r>
              <a:rPr lang="es-CL" sz="1100" dirty="0"/>
              <a:t>8.  Fecha de fin de alojamiento: Campo tipo fecha que corresponde al fin del periodo de alojamiento, se debe configurar así no te tenga el servicio de alojamiento.    (Requerido). Se ingresan las mimas fechas del período.</a:t>
            </a:r>
          </a:p>
          <a:p>
            <a:br>
              <a:rPr lang="es-CL" sz="1100" dirty="0"/>
            </a:br>
            <a:endParaRPr lang="es-CL" sz="1100" dirty="0"/>
          </a:p>
        </p:txBody>
      </p:sp>
      <p:sp>
        <p:nvSpPr>
          <p:cNvPr id="14" name="Rectángulo redondeado 9">
            <a:extLst>
              <a:ext uri="{FF2B5EF4-FFF2-40B4-BE49-F238E27FC236}">
                <a16:creationId xmlns:a16="http://schemas.microsoft.com/office/drawing/2014/main" id="{FE12A3AA-035B-E573-57B3-471FECFA6A95}"/>
              </a:ext>
            </a:extLst>
          </p:cNvPr>
          <p:cNvSpPr/>
          <p:nvPr/>
        </p:nvSpPr>
        <p:spPr>
          <a:xfrm>
            <a:off x="4630266" y="2131445"/>
            <a:ext cx="196595" cy="20636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5" name="Rectángulo redondeado 9">
            <a:extLst>
              <a:ext uri="{FF2B5EF4-FFF2-40B4-BE49-F238E27FC236}">
                <a16:creationId xmlns:a16="http://schemas.microsoft.com/office/drawing/2014/main" id="{1D847C05-CBBB-1C36-BA81-071A11906E19}"/>
              </a:ext>
            </a:extLst>
          </p:cNvPr>
          <p:cNvSpPr/>
          <p:nvPr/>
        </p:nvSpPr>
        <p:spPr>
          <a:xfrm>
            <a:off x="6292486" y="2131444"/>
            <a:ext cx="196595" cy="20636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6" name="Rectángulo redondeado 9">
            <a:extLst>
              <a:ext uri="{FF2B5EF4-FFF2-40B4-BE49-F238E27FC236}">
                <a16:creationId xmlns:a16="http://schemas.microsoft.com/office/drawing/2014/main" id="{6854D807-227F-D57F-6073-237F503D3A1B}"/>
              </a:ext>
            </a:extLst>
          </p:cNvPr>
          <p:cNvSpPr/>
          <p:nvPr/>
        </p:nvSpPr>
        <p:spPr>
          <a:xfrm>
            <a:off x="7337781" y="2131444"/>
            <a:ext cx="171329" cy="20636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132701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5C62C-2B3D-54BA-F2A4-6FDDA89CD3C3}"/>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5FD4D16-0633-F52E-0EA3-D54B0A716CAD}"/>
              </a:ext>
            </a:extLst>
          </p:cNvPr>
          <p:cNvPicPr>
            <a:picLocks noChangeAspect="1"/>
          </p:cNvPicPr>
          <p:nvPr/>
        </p:nvPicPr>
        <p:blipFill>
          <a:blip r:embed="rId2"/>
          <a:srcRect t="5572"/>
          <a:stretch>
            <a:fillRect/>
          </a:stretch>
        </p:blipFill>
        <p:spPr>
          <a:xfrm>
            <a:off x="732322" y="1271015"/>
            <a:ext cx="11122188" cy="4965193"/>
          </a:xfrm>
          <a:prstGeom prst="rect">
            <a:avLst/>
          </a:prstGeom>
        </p:spPr>
      </p:pic>
      <p:sp>
        <p:nvSpPr>
          <p:cNvPr id="5" name="Marcador de texto 4">
            <a:extLst>
              <a:ext uri="{FF2B5EF4-FFF2-40B4-BE49-F238E27FC236}">
                <a16:creationId xmlns:a16="http://schemas.microsoft.com/office/drawing/2014/main" id="{1B490FBE-5307-5D21-B93A-BEDFEB27C7BB}"/>
              </a:ext>
            </a:extLst>
          </p:cNvPr>
          <p:cNvSpPr>
            <a:spLocks noGrp="1"/>
          </p:cNvSpPr>
          <p:nvPr>
            <p:ph type="body" sz="quarter" idx="10"/>
          </p:nvPr>
        </p:nvSpPr>
        <p:spPr/>
        <p:txBody>
          <a:bodyPr/>
          <a:lstStyle/>
          <a:p>
            <a:r>
              <a:rPr lang="es-419" dirty="0"/>
              <a:t>Tema: Configurar los periodos académicos 3/4</a:t>
            </a:r>
          </a:p>
        </p:txBody>
      </p:sp>
      <p:sp>
        <p:nvSpPr>
          <p:cNvPr id="3" name="Rectángulo: esquinas redondeadas 2">
            <a:extLst>
              <a:ext uri="{FF2B5EF4-FFF2-40B4-BE49-F238E27FC236}">
                <a16:creationId xmlns:a16="http://schemas.microsoft.com/office/drawing/2014/main" id="{DEE93278-0B0F-EE85-CECE-654BDD853A5E}"/>
              </a:ext>
            </a:extLst>
          </p:cNvPr>
          <p:cNvSpPr/>
          <p:nvPr/>
        </p:nvSpPr>
        <p:spPr>
          <a:xfrm>
            <a:off x="850388" y="5156580"/>
            <a:ext cx="10886057" cy="112892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9. Año de proceso de ayuda financiera: Año que corresponde al período de ayuda financiera, se debe configurar así no se utilice el módulo de ayuda financiera. (Requerido).</a:t>
            </a:r>
          </a:p>
          <a:p>
            <a:r>
              <a:rPr lang="es-CL" sz="1100" dirty="0"/>
              <a:t>10. Verano: </a:t>
            </a:r>
            <a:r>
              <a:rPr lang="es-ES" sz="1100" dirty="0"/>
              <a:t>Se utiliza para indicar que es un período de vacaciones. (Opcional)</a:t>
            </a:r>
          </a:p>
          <a:p>
            <a:r>
              <a:rPr lang="es-CL" sz="1100" dirty="0"/>
              <a:t>11. Período: Corresponde al número del período para el módulo de ayuda financiera (Opcional)</a:t>
            </a:r>
          </a:p>
          <a:p>
            <a:r>
              <a:rPr lang="es-CL" sz="1100" dirty="0"/>
              <a:t>12. Período de inicio: Corresponde al  período de inicio de ayuda financiera (Opcional)</a:t>
            </a:r>
            <a:br>
              <a:rPr lang="es-CL" sz="1100" dirty="0"/>
            </a:br>
            <a:endParaRPr lang="es-CL" sz="1100" dirty="0"/>
          </a:p>
        </p:txBody>
      </p:sp>
      <p:sp>
        <p:nvSpPr>
          <p:cNvPr id="4" name="Rectángulo redondeado 9">
            <a:extLst>
              <a:ext uri="{FF2B5EF4-FFF2-40B4-BE49-F238E27FC236}">
                <a16:creationId xmlns:a16="http://schemas.microsoft.com/office/drawing/2014/main" id="{C836BA0B-A5E8-2E4C-9BE9-9BD2B5BEF139}"/>
              </a:ext>
            </a:extLst>
          </p:cNvPr>
          <p:cNvSpPr/>
          <p:nvPr/>
        </p:nvSpPr>
        <p:spPr>
          <a:xfrm>
            <a:off x="8009788" y="2113723"/>
            <a:ext cx="200646"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6" name="Rectángulo redondeado 9">
            <a:extLst>
              <a:ext uri="{FF2B5EF4-FFF2-40B4-BE49-F238E27FC236}">
                <a16:creationId xmlns:a16="http://schemas.microsoft.com/office/drawing/2014/main" id="{D0253A86-1B66-CDE2-1C58-2F6509EBACA1}"/>
              </a:ext>
            </a:extLst>
          </p:cNvPr>
          <p:cNvSpPr/>
          <p:nvPr/>
        </p:nvSpPr>
        <p:spPr>
          <a:xfrm>
            <a:off x="8765996" y="2113723"/>
            <a:ext cx="396411"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7" name="Rectángulo redondeado 9">
            <a:extLst>
              <a:ext uri="{FF2B5EF4-FFF2-40B4-BE49-F238E27FC236}">
                <a16:creationId xmlns:a16="http://schemas.microsoft.com/office/drawing/2014/main" id="{9E55C8C3-D87F-60FF-73F2-81770492E9B6}"/>
              </a:ext>
            </a:extLst>
          </p:cNvPr>
          <p:cNvSpPr/>
          <p:nvPr/>
        </p:nvSpPr>
        <p:spPr>
          <a:xfrm>
            <a:off x="9611868" y="2113723"/>
            <a:ext cx="396410"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11</a:t>
            </a:r>
          </a:p>
        </p:txBody>
      </p:sp>
      <p:sp>
        <p:nvSpPr>
          <p:cNvPr id="8" name="Rectángulo redondeado 9">
            <a:extLst>
              <a:ext uri="{FF2B5EF4-FFF2-40B4-BE49-F238E27FC236}">
                <a16:creationId xmlns:a16="http://schemas.microsoft.com/office/drawing/2014/main" id="{A1A1FB5B-7470-1D82-B995-4FFBAA1002AE}"/>
              </a:ext>
            </a:extLst>
          </p:cNvPr>
          <p:cNvSpPr/>
          <p:nvPr/>
        </p:nvSpPr>
        <p:spPr>
          <a:xfrm>
            <a:off x="10510790" y="2113723"/>
            <a:ext cx="396410"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12</a:t>
            </a:r>
          </a:p>
        </p:txBody>
      </p:sp>
    </p:spTree>
    <p:extLst>
      <p:ext uri="{BB962C8B-B14F-4D97-AF65-F5344CB8AC3E}">
        <p14:creationId xmlns:p14="http://schemas.microsoft.com/office/powerpoint/2010/main" val="29464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9464-26EF-3BDC-DFB8-9FA1060585AE}"/>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E0CD5309-783F-359D-38F1-36E34167463F}"/>
              </a:ext>
            </a:extLst>
          </p:cNvPr>
          <p:cNvPicPr>
            <a:picLocks noChangeAspect="1"/>
          </p:cNvPicPr>
          <p:nvPr/>
        </p:nvPicPr>
        <p:blipFill>
          <a:blip r:embed="rId2"/>
          <a:srcRect t="6441"/>
          <a:stretch>
            <a:fillRect/>
          </a:stretch>
        </p:blipFill>
        <p:spPr>
          <a:xfrm>
            <a:off x="386435" y="1325879"/>
            <a:ext cx="11122188" cy="4919473"/>
          </a:xfrm>
          <a:prstGeom prst="rect">
            <a:avLst/>
          </a:prstGeom>
        </p:spPr>
      </p:pic>
      <p:sp>
        <p:nvSpPr>
          <p:cNvPr id="5" name="Marcador de texto 4">
            <a:extLst>
              <a:ext uri="{FF2B5EF4-FFF2-40B4-BE49-F238E27FC236}">
                <a16:creationId xmlns:a16="http://schemas.microsoft.com/office/drawing/2014/main" id="{0A2DC733-6266-1C0B-0F73-0AD179E48141}"/>
              </a:ext>
            </a:extLst>
          </p:cNvPr>
          <p:cNvSpPr>
            <a:spLocks noGrp="1"/>
          </p:cNvSpPr>
          <p:nvPr>
            <p:ph type="body" sz="quarter" idx="10"/>
          </p:nvPr>
        </p:nvSpPr>
        <p:spPr/>
        <p:txBody>
          <a:bodyPr/>
          <a:lstStyle/>
          <a:p>
            <a:r>
              <a:rPr lang="es-419" dirty="0"/>
              <a:t>Tema: Configurar los periodos académicos 4/4</a:t>
            </a:r>
          </a:p>
        </p:txBody>
      </p:sp>
      <p:sp>
        <p:nvSpPr>
          <p:cNvPr id="10" name="Rectángulo: esquinas redondeadas 9">
            <a:extLst>
              <a:ext uri="{FF2B5EF4-FFF2-40B4-BE49-F238E27FC236}">
                <a16:creationId xmlns:a16="http://schemas.microsoft.com/office/drawing/2014/main" id="{A6EDD13C-AFC0-DB56-7776-B1C2558AC397}"/>
              </a:ext>
            </a:extLst>
          </p:cNvPr>
          <p:cNvSpPr/>
          <p:nvPr/>
        </p:nvSpPr>
        <p:spPr>
          <a:xfrm>
            <a:off x="683377" y="5053158"/>
            <a:ext cx="7762959" cy="104551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 sz="1100" dirty="0"/>
              <a:t>13. Período de fin: </a:t>
            </a:r>
            <a:r>
              <a:rPr lang="es-CL" sz="1100" dirty="0"/>
              <a:t>Corresponde al  período de fin de ayuda financiera (Opcional) </a:t>
            </a:r>
          </a:p>
          <a:p>
            <a:r>
              <a:rPr lang="es-CL" sz="1100" dirty="0"/>
              <a:t>Requerido por el sistema: </a:t>
            </a:r>
            <a:r>
              <a:rPr lang="es-ES" sz="1100" dirty="0"/>
              <a:t>Requerido para los períodos 000000 y 999999 inicio y fin de los tiempos.</a:t>
            </a:r>
          </a:p>
          <a:p>
            <a:r>
              <a:rPr lang="es-ES" sz="1100" dirty="0"/>
              <a:t>Al finalizar el ingreso de los registros, debe guardar todo su progreso.</a:t>
            </a:r>
            <a:endParaRPr lang="es-CL" sz="1100" dirty="0"/>
          </a:p>
        </p:txBody>
      </p:sp>
      <p:sp>
        <p:nvSpPr>
          <p:cNvPr id="11" name="Rectángulo redondeado 9">
            <a:extLst>
              <a:ext uri="{FF2B5EF4-FFF2-40B4-BE49-F238E27FC236}">
                <a16:creationId xmlns:a16="http://schemas.microsoft.com/office/drawing/2014/main" id="{0D6B0970-2045-9E53-AB2D-90D4AE5B0F24}"/>
              </a:ext>
            </a:extLst>
          </p:cNvPr>
          <p:cNvSpPr/>
          <p:nvPr/>
        </p:nvSpPr>
        <p:spPr>
          <a:xfrm>
            <a:off x="9634970" y="2226156"/>
            <a:ext cx="396410"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13</a:t>
            </a:r>
          </a:p>
        </p:txBody>
      </p:sp>
      <p:sp>
        <p:nvSpPr>
          <p:cNvPr id="12" name="Rectángulo redondeado 9">
            <a:extLst>
              <a:ext uri="{FF2B5EF4-FFF2-40B4-BE49-F238E27FC236}">
                <a16:creationId xmlns:a16="http://schemas.microsoft.com/office/drawing/2014/main" id="{7C5B405C-3491-3732-4F9A-C98D1A679BC2}"/>
              </a:ext>
            </a:extLst>
          </p:cNvPr>
          <p:cNvSpPr/>
          <p:nvPr/>
        </p:nvSpPr>
        <p:spPr>
          <a:xfrm>
            <a:off x="11112213" y="2226156"/>
            <a:ext cx="396410"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14</a:t>
            </a:r>
          </a:p>
        </p:txBody>
      </p:sp>
      <p:sp>
        <p:nvSpPr>
          <p:cNvPr id="13" name="Rectángulo redondeado 9">
            <a:extLst>
              <a:ext uri="{FF2B5EF4-FFF2-40B4-BE49-F238E27FC236}">
                <a16:creationId xmlns:a16="http://schemas.microsoft.com/office/drawing/2014/main" id="{36D02C7F-2D3C-4C83-436F-956212B7E283}"/>
              </a:ext>
            </a:extLst>
          </p:cNvPr>
          <p:cNvSpPr/>
          <p:nvPr/>
        </p:nvSpPr>
        <p:spPr>
          <a:xfrm>
            <a:off x="8999991" y="6148667"/>
            <a:ext cx="396410" cy="24364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15</a:t>
            </a:r>
          </a:p>
        </p:txBody>
      </p:sp>
      <p:sp>
        <p:nvSpPr>
          <p:cNvPr id="14" name="Rectángulo 13">
            <a:extLst>
              <a:ext uri="{FF2B5EF4-FFF2-40B4-BE49-F238E27FC236}">
                <a16:creationId xmlns:a16="http://schemas.microsoft.com/office/drawing/2014/main" id="{5FD80AC8-5D49-E9C7-2DA4-98804AE47481}"/>
              </a:ext>
            </a:extLst>
          </p:cNvPr>
          <p:cNvSpPr/>
          <p:nvPr/>
        </p:nvSpPr>
        <p:spPr>
          <a:xfrm>
            <a:off x="11023999" y="6018604"/>
            <a:ext cx="60352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redondeado 5">
            <a:extLst>
              <a:ext uri="{FF2B5EF4-FFF2-40B4-BE49-F238E27FC236}">
                <a16:creationId xmlns:a16="http://schemas.microsoft.com/office/drawing/2014/main" id="{DE093500-1881-A4C7-6DF1-4EAC49E9FD1C}"/>
              </a:ext>
            </a:extLst>
          </p:cNvPr>
          <p:cNvSpPr/>
          <p:nvPr/>
        </p:nvSpPr>
        <p:spPr>
          <a:xfrm>
            <a:off x="9396401" y="6018604"/>
            <a:ext cx="1527045" cy="3737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finalizar guardar los ingresos</a:t>
            </a:r>
          </a:p>
        </p:txBody>
      </p:sp>
    </p:spTree>
    <p:extLst>
      <p:ext uri="{BB962C8B-B14F-4D97-AF65-F5344CB8AC3E}">
        <p14:creationId xmlns:p14="http://schemas.microsoft.com/office/powerpoint/2010/main" val="134560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E85B1C64-3CB4-F91B-623A-F3908DE24E37}"/>
              </a:ext>
            </a:extLst>
          </p:cNvPr>
          <p:cNvSpPr>
            <a:spLocks noGrp="1"/>
          </p:cNvSpPr>
          <p:nvPr>
            <p:ph type="body" sz="quarter" idx="10"/>
          </p:nvPr>
        </p:nvSpPr>
        <p:spPr>
          <a:xfrm>
            <a:off x="914399" y="2238843"/>
            <a:ext cx="10363202" cy="669094"/>
          </a:xfrm>
        </p:spPr>
        <p:txBody>
          <a:bodyPr/>
          <a:lstStyle/>
          <a:p>
            <a:r>
              <a:rPr lang="es-419" dirty="0"/>
              <a:t>Resumen</a:t>
            </a:r>
          </a:p>
        </p:txBody>
      </p:sp>
      <p:sp>
        <p:nvSpPr>
          <p:cNvPr id="5" name="Marcador de texto 4">
            <a:extLst>
              <a:ext uri="{FF2B5EF4-FFF2-40B4-BE49-F238E27FC236}">
                <a16:creationId xmlns:a16="http://schemas.microsoft.com/office/drawing/2014/main" id="{F3253A40-4C1B-950E-34C1-36BCD0A67883}"/>
              </a:ext>
            </a:extLst>
          </p:cNvPr>
          <p:cNvSpPr>
            <a:spLocks noGrp="1"/>
          </p:cNvSpPr>
          <p:nvPr>
            <p:ph type="body" sz="quarter" idx="11"/>
          </p:nvPr>
        </p:nvSpPr>
        <p:spPr/>
        <p:txBody>
          <a:bodyPr/>
          <a:lstStyle/>
          <a:p>
            <a:r>
              <a:rPr lang="es-419" dirty="0"/>
              <a:t>Definir la estructura de los periodos académicos</a:t>
            </a:r>
          </a:p>
        </p:txBody>
      </p:sp>
    </p:spTree>
    <p:extLst>
      <p:ext uri="{BB962C8B-B14F-4D97-AF65-F5344CB8AC3E}">
        <p14:creationId xmlns:p14="http://schemas.microsoft.com/office/powerpoint/2010/main" val="1295437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E19F6902-A436-6590-65FB-46E769F24EA7}"/>
              </a:ext>
            </a:extLst>
          </p:cNvPr>
          <p:cNvSpPr>
            <a:spLocks noGrp="1"/>
          </p:cNvSpPr>
          <p:nvPr>
            <p:ph type="body" sz="quarter" idx="10"/>
          </p:nvPr>
        </p:nvSpPr>
        <p:spPr/>
        <p:txBody>
          <a:bodyPr/>
          <a:lstStyle/>
          <a:p>
            <a:r>
              <a:rPr lang="es-419" dirty="0"/>
              <a:t>Resumen: Procedimiento</a:t>
            </a:r>
          </a:p>
        </p:txBody>
      </p:sp>
      <p:sp>
        <p:nvSpPr>
          <p:cNvPr id="5" name="Marcador de texto 4">
            <a:extLst>
              <a:ext uri="{FF2B5EF4-FFF2-40B4-BE49-F238E27FC236}">
                <a16:creationId xmlns:a16="http://schemas.microsoft.com/office/drawing/2014/main" id="{1EF29630-D328-FC50-2D02-FD5D75221461}"/>
              </a:ext>
            </a:extLst>
          </p:cNvPr>
          <p:cNvSpPr>
            <a:spLocks noGrp="1"/>
          </p:cNvSpPr>
          <p:nvPr>
            <p:ph type="body" sz="quarter" idx="11"/>
          </p:nvPr>
        </p:nvSpPr>
        <p:spPr>
          <a:xfrm>
            <a:off x="522287" y="1056958"/>
            <a:ext cx="11122188" cy="4051365"/>
          </a:xfrm>
        </p:spPr>
        <p:txBody>
          <a:bodyPr/>
          <a:lstStyle/>
          <a:p>
            <a:pPr marL="0" indent="0">
              <a:buNone/>
            </a:pPr>
            <a:r>
              <a:rPr lang="es-419" sz="2000" dirty="0"/>
              <a:t>Definir la estructura de los períodos académicos:</a:t>
            </a:r>
          </a:p>
          <a:p>
            <a:pPr marL="342900" indent="-342900" algn="just">
              <a:buClr>
                <a:srgbClr val="0CB4B4"/>
              </a:buClr>
              <a:buFont typeface="Wingdings" panose="05000000000000000000" pitchFamily="2" charset="2"/>
              <a:buChar char="q"/>
            </a:pPr>
            <a:r>
              <a:rPr lang="es-CO" dirty="0">
                <a:latin typeface="Helvetica Neue" panose="02000503000000020004" pitchFamily="2" charset="0"/>
              </a:rPr>
              <a:t>Los períodos constituyen unidades de tiempo durante las cuales la institución ejecuta diversas actividades académicas, tales como los procesos de admisión, la inscripción de cursos (matrícula), el registro de calificaciones, el registro de asistencia, así como los procesos de graduación y los procesos financieros. Estos períodos permiten activar o desactivar dichas actividades según corresponda.</a:t>
            </a:r>
          </a:p>
          <a:p>
            <a:pPr marL="342900" indent="-342900" algn="just">
              <a:buClr>
                <a:srgbClr val="0CB4B4"/>
              </a:buClr>
              <a:buFont typeface="Wingdings" panose="05000000000000000000" pitchFamily="2" charset="2"/>
              <a:buChar char="q"/>
            </a:pPr>
            <a:r>
              <a:rPr lang="es-CL" dirty="0">
                <a:latin typeface="Helvetica Neue" panose="02000503000000020004" pitchFamily="2" charset="0"/>
              </a:rPr>
              <a:t>La creación de los periodos académicos se realiza a través de la tabla de validación STVTERM.</a:t>
            </a:r>
            <a:endParaRPr lang="es-419" dirty="0">
              <a:latin typeface="Helvetica Neue" panose="02000503000000020004" pitchFamily="2" charset="0"/>
            </a:endParaRPr>
          </a:p>
          <a:p>
            <a:pPr marL="342900" indent="-342900" algn="just">
              <a:buClr>
                <a:srgbClr val="0CB4B4"/>
              </a:buClr>
              <a:buFont typeface="Wingdings" panose="05000000000000000000" pitchFamily="2" charset="2"/>
              <a:buChar char="q"/>
            </a:pPr>
            <a:r>
              <a:rPr lang="es-CL" dirty="0">
                <a:latin typeface="Helvetica Neue" panose="02000503000000020004" pitchFamily="2" charset="0"/>
              </a:rPr>
              <a:t>Los periodos están asociados a Años Académicos (lectivos) y tipos de periodo que deben ser codificados previamente a través de las tablas de validación STVACYR y STVTRMT, respectivamente</a:t>
            </a:r>
            <a:r>
              <a:rPr lang="es-419" dirty="0">
                <a:latin typeface="Helvetica Neue" panose="02000503000000020004" pitchFamily="2" charset="0"/>
              </a:rPr>
              <a:t>.</a:t>
            </a:r>
          </a:p>
          <a:p>
            <a:pPr marL="342900" indent="-342900" algn="just">
              <a:buClr>
                <a:srgbClr val="0CB4B4"/>
              </a:buClr>
              <a:buFont typeface="Wingdings" panose="05000000000000000000" pitchFamily="2" charset="2"/>
              <a:buChar char="q"/>
            </a:pPr>
            <a:r>
              <a:rPr lang="es-CL" dirty="0">
                <a:latin typeface="Helvetica Neue" panose="02000503000000020004" pitchFamily="2" charset="0"/>
              </a:rPr>
              <a:t>Al crear los códigos de periodo, también se designan sus propiedades básicas como fecha de inicio y fin, año de ayuda financiera y fechas de inicio y fin de alojamiento</a:t>
            </a:r>
            <a:r>
              <a:rPr lang="es-419" dirty="0">
                <a:latin typeface="Helvetica Neue" panose="02000503000000020004" pitchFamily="2" charset="0"/>
              </a:rPr>
              <a:t>.</a:t>
            </a:r>
          </a:p>
          <a:p>
            <a:pPr marL="342900" indent="-342900" algn="just">
              <a:buClr>
                <a:srgbClr val="0CB4B4"/>
              </a:buClr>
              <a:buFont typeface="Wingdings" panose="05000000000000000000" pitchFamily="2" charset="2"/>
              <a:buChar char="q"/>
            </a:pPr>
            <a:r>
              <a:rPr lang="es-CL" dirty="0">
                <a:latin typeface="Helvetica Neue" panose="02000503000000020004" pitchFamily="2" charset="0"/>
              </a:rPr>
              <a:t>Aun cuando en la institución no maneje el alojamiento a estudiantes ni ayudas financieras, estos elementos deben asignarse al periodo</a:t>
            </a:r>
            <a:r>
              <a:rPr lang="es-419" dirty="0">
                <a:latin typeface="Helvetica Neue" panose="02000503000000020004" pitchFamily="2" charset="0"/>
              </a:rPr>
              <a:t>.</a:t>
            </a:r>
          </a:p>
        </p:txBody>
      </p:sp>
    </p:spTree>
    <p:extLst>
      <p:ext uri="{BB962C8B-B14F-4D97-AF65-F5344CB8AC3E}">
        <p14:creationId xmlns:p14="http://schemas.microsoft.com/office/powerpoint/2010/main" val="518301041"/>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D25AB14E-5FB9-4D56-95F9-7C8720217562}"/>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  Read-Only" id="{F4D757E7-3114-4C8F-9950-97785E4EE6CC}" vid="{7FF827A8-C46A-4566-99A6-5F934CCE2EB3}"/>
    </a:ext>
  </a:extLst>
</a:theme>
</file>

<file path=ppt/theme/theme3.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Ellucian-PPT-Template-2025-V5</Template>
  <TotalTime>2527</TotalTime>
  <Words>1323</Words>
  <Application>Microsoft Office PowerPoint</Application>
  <PresentationFormat>Panorámica</PresentationFormat>
  <Paragraphs>126</Paragraphs>
  <Slides>23</Slides>
  <Notes>0</Notes>
  <HiddenSlides>0</HiddenSlides>
  <MMClips>0</MMClips>
  <ScaleCrop>false</ScaleCrop>
  <HeadingPairs>
    <vt:vector size="6" baseType="variant">
      <vt:variant>
        <vt:lpstr>Fuentes usadas</vt:lpstr>
      </vt:variant>
      <vt:variant>
        <vt:i4>6</vt:i4>
      </vt:variant>
      <vt:variant>
        <vt:lpstr>Tema</vt:lpstr>
      </vt:variant>
      <vt:variant>
        <vt:i4>4</vt:i4>
      </vt:variant>
      <vt:variant>
        <vt:lpstr>Títulos de diapositiva</vt:lpstr>
      </vt:variant>
      <vt:variant>
        <vt:i4>23</vt:i4>
      </vt:variant>
    </vt:vector>
  </HeadingPairs>
  <TitlesOfParts>
    <vt:vector size="33" baseType="lpstr">
      <vt:lpstr>Aptos</vt:lpstr>
      <vt:lpstr>Aptos Display</vt:lpstr>
      <vt:lpstr>Arial</vt:lpstr>
      <vt:lpstr>Courier New</vt:lpstr>
      <vt:lpstr>Helvetica Neue</vt:lpstr>
      <vt:lpstr>Wingdings</vt:lpstr>
      <vt:lpstr>Ellucian Main Layouts</vt:lpstr>
      <vt:lpstr>Ellucian Blank Layouts</vt:lpstr>
      <vt:lpstr>1_Ellucian Main Layouts</vt:lpstr>
      <vt:lpstr>1_Ellucian Blank Layouts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León Barrera, Alejandra</cp:lastModifiedBy>
  <cp:revision>12</cp:revision>
  <dcterms:created xsi:type="dcterms:W3CDTF">2025-12-05T19:34:14Z</dcterms:created>
  <dcterms:modified xsi:type="dcterms:W3CDTF">2026-07-22T19:48:53Z</dcterms:modified>
</cp:coreProperties>
</file>
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8" r:id="rId2"/>
    <p:sldMasterId id="2147483778" r:id="rId3"/>
  </p:sldMasterIdLst>
  <p:notesMasterIdLst>
    <p:notesMasterId r:id="rId29"/>
  </p:notesMasterIdLst>
  <p:sldIdLst>
    <p:sldId id="1559" r:id="rId4"/>
    <p:sldId id="423" r:id="rId5"/>
    <p:sldId id="476" r:id="rId6"/>
    <p:sldId id="523" r:id="rId7"/>
    <p:sldId id="350" r:id="rId8"/>
    <p:sldId id="421" r:id="rId9"/>
    <p:sldId id="352" r:id="rId10"/>
    <p:sldId id="1562" r:id="rId11"/>
    <p:sldId id="513" r:id="rId12"/>
    <p:sldId id="1563" r:id="rId13"/>
    <p:sldId id="588" r:id="rId14"/>
    <p:sldId id="565" r:id="rId15"/>
    <p:sldId id="589" r:id="rId16"/>
    <p:sldId id="590" r:id="rId17"/>
    <p:sldId id="591" r:id="rId18"/>
    <p:sldId id="592" r:id="rId19"/>
    <p:sldId id="593" r:id="rId20"/>
    <p:sldId id="1561" r:id="rId21"/>
    <p:sldId id="1564" r:id="rId22"/>
    <p:sldId id="594" r:id="rId23"/>
    <p:sldId id="596" r:id="rId24"/>
    <p:sldId id="599" r:id="rId25"/>
    <p:sldId id="600" r:id="rId26"/>
    <p:sldId id="345" r:id="rId27"/>
    <p:sldId id="156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A7B"/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45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15-07-2026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52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8621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2569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4823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89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3704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2178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591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89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96003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70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545632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724066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7672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0973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422029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0793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266142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638853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85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090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84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19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114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30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4781436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9710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7774899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137544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79189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83231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078324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8327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576284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648602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9C6D019-C231-91AE-9F67-C2D068FAAAED}"/>
              </a:ext>
            </a:extLst>
          </p:cNvPr>
          <p:cNvSpPr/>
          <p:nvPr userDrawn="1"/>
        </p:nvSpPr>
        <p:spPr>
          <a:xfrm>
            <a:off x="9250326" y="6538911"/>
            <a:ext cx="2253972" cy="182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2374B610-9D61-D90F-3CD8-F7395DFCB1DB}"/>
              </a:ext>
            </a:extLst>
          </p:cNvPr>
          <p:cNvSpPr txBox="1"/>
          <p:nvPr userDrawn="1"/>
        </p:nvSpPr>
        <p:spPr>
          <a:xfrm>
            <a:off x="9047838" y="6560942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18690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FA05EE-524D-9460-BD9E-946018C50BE4}"/>
              </a:ext>
            </a:extLst>
          </p:cNvPr>
          <p:cNvSpPr/>
          <p:nvPr userDrawn="1"/>
        </p:nvSpPr>
        <p:spPr>
          <a:xfrm>
            <a:off x="9197163" y="6549656"/>
            <a:ext cx="2385234" cy="171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27EC42A-D149-AFB0-C844-AEB7EAFC49B0}"/>
              </a:ext>
            </a:extLst>
          </p:cNvPr>
          <p:cNvSpPr txBox="1"/>
          <p:nvPr userDrawn="1"/>
        </p:nvSpPr>
        <p:spPr>
          <a:xfrm>
            <a:off x="9060306" y="6572846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7072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F00F1-D933-8AA0-E7A4-0F5CD1B344D1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400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B49D1D-E006-95E3-C9AD-E07A51FD9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1098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627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pic>
        <p:nvPicPr>
          <p:cNvPr id="5" name="Picture 4" descr="ellucian_purpl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582147724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511107822"/>
      </p:ext>
    </p:extLst>
  </p:cSld>
  <p:clrMapOvr>
    <a:masterClrMapping/>
  </p:clrMapOvr>
  <p:transition spd="slow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848" y="991929"/>
            <a:ext cx="11266501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2849" y="1316874"/>
            <a:ext cx="5298956" cy="351367"/>
          </a:xfrm>
        </p:spPr>
        <p:txBody>
          <a:bodyPr>
            <a:normAutofit/>
          </a:bodyPr>
          <a:lstStyle>
            <a:lvl1pPr>
              <a:buNone/>
              <a:defRPr sz="2133" spc="133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/>
              <a:t>SECTION # [optional]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848" y="3112608"/>
            <a:ext cx="7108205" cy="2462723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bg1">
                    <a:lumMod val="8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20" name="Footer Placeholder 4"/>
          <p:cNvSpPr txBox="1">
            <a:spLocks/>
          </p:cNvSpPr>
          <p:nvPr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1" name="Picture 20" descr="ellucian_whit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‹#›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3954258774"/>
      </p:ext>
    </p:extLst>
  </p:cSld>
  <p:clrMapOvr>
    <a:masterClrMapping/>
  </p:clrMapOvr>
  <p:transition spd="slow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1600200"/>
            <a:ext cx="11267392" cy="4343400"/>
          </a:xfrm>
        </p:spPr>
        <p:txBody>
          <a:bodyPr>
            <a:noAutofit/>
          </a:bodyPr>
          <a:lstStyle>
            <a:lvl1pPr marL="0" indent="0" algn="l" defTabSz="609585" rtl="0" eaLnBrk="1" latinLnBrk="0" hangingPunct="1">
              <a:spcBef>
                <a:spcPts val="1200"/>
              </a:spcBef>
              <a:buFontTx/>
              <a:buNone/>
              <a:defRPr lang="en-US" sz="2133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380990" indent="-380990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lang="en-US" sz="2133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3667" indent="-380990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  <a:defRPr lang="en-US" sz="1867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916493" indent="-380990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916493" indent="-380990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  <a:defRPr lang="en-US" sz="16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marL="457189" lvl="0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Haga clic para modificar los estilos de texto del patrón</a:t>
            </a:r>
          </a:p>
          <a:p>
            <a:pPr marL="457189" lvl="1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Segundo nivel</a:t>
            </a:r>
          </a:p>
          <a:p>
            <a:pPr marL="457189" lvl="2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Tercer nivel</a:t>
            </a:r>
          </a:p>
          <a:p>
            <a:pPr marL="457189" lvl="3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Cuarto nivel</a:t>
            </a:r>
          </a:p>
          <a:p>
            <a:pPr marL="457189" lvl="4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60658"/>
      </p:ext>
    </p:extLst>
  </p:cSld>
  <p:clrMapOvr>
    <a:masterClrMapping/>
  </p:clrMapOvr>
  <p:transition spd="slow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Stock-646457628.jpg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177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3779"/>
            <a:ext cx="12192000" cy="6858000"/>
          </a:xfrm>
          <a:prstGeom prst="rect">
            <a:avLst/>
          </a:prstGeom>
          <a:solidFill>
            <a:schemeClr val="accent4">
              <a:alpha val="6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Right Triangle 21"/>
          <p:cNvSpPr/>
          <p:nvPr/>
        </p:nvSpPr>
        <p:spPr>
          <a:xfrm flipH="1">
            <a:off x="7632095" y="-7814"/>
            <a:ext cx="4559904" cy="6865815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>
              <a:alpha val="6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5" name="Right Triangle 14"/>
          <p:cNvSpPr/>
          <p:nvPr/>
        </p:nvSpPr>
        <p:spPr>
          <a:xfrm flipH="1" flipV="1">
            <a:off x="8273143" y="-8162"/>
            <a:ext cx="3918856" cy="3905907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10" y="3625511"/>
            <a:ext cx="5695167" cy="1161143"/>
          </a:xfrm>
        </p:spPr>
        <p:txBody>
          <a:bodyPr>
            <a:normAutofit/>
          </a:bodyPr>
          <a:lstStyle>
            <a:lvl1pPr>
              <a:defRPr sz="5333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pic>
        <p:nvPicPr>
          <p:cNvPr id="13" name="Picture 12" descr="ellucian_white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866875"/>
            <a:ext cx="2164695" cy="443247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97" y="4911366"/>
            <a:ext cx="7640512" cy="1589695"/>
          </a:xfrm>
        </p:spPr>
        <p:txBody>
          <a:bodyPr anchor="t" anchorCtr="0">
            <a:normAutofit/>
          </a:bodyPr>
          <a:lstStyle>
            <a:lvl1pPr>
              <a:spcBef>
                <a:spcPts val="0"/>
              </a:spcBef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Title title title, </a:t>
            </a:r>
            <a:r>
              <a:rPr lang="en-US" dirty="0" err="1"/>
              <a:t>Ellucian</a:t>
            </a:r>
            <a:br>
              <a:rPr lang="en-US" dirty="0"/>
            </a:b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053544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410743370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2453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9458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919345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61522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72303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09444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481750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140142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578096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2739257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994330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276439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86384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559170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467212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537993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511111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9394943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3443465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766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9729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45449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320743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322143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63986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6690498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262722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697972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731548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877572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364596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705939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3208583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69773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2627077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4521212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8230612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435955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40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2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224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9" r:id="rId37"/>
    <p:sldLayoutId id="2147483750" r:id="rId38"/>
    <p:sldLayoutId id="2147483751" r:id="rId39"/>
    <p:sldLayoutId id="2147483752" r:id="rId40"/>
    <p:sldLayoutId id="2147483753" r:id="rId41"/>
    <p:sldLayoutId id="2147483754" r:id="rId42"/>
    <p:sldLayoutId id="2147483755" r:id="rId4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71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5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  <p:sldLayoutId id="2147483796" r:id="rId18"/>
    <p:sldLayoutId id="214748379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DC2834-C0BC-1E9E-35AB-295707DC0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552" y="3285963"/>
            <a:ext cx="5427132" cy="884025"/>
          </a:xfrm>
        </p:spPr>
        <p:txBody>
          <a:bodyPr/>
          <a:lstStyle/>
          <a:p>
            <a:r>
              <a:rPr lang="es-ES" sz="1600" dirty="0"/>
              <a:t>Instructivo</a:t>
            </a:r>
            <a:endParaRPr lang="es-419" sz="1600" dirty="0"/>
          </a:p>
          <a:p>
            <a:endParaRPr lang="es-419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64F96709-410B-0915-4195-6E4BDF25CC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518" y="5350556"/>
            <a:ext cx="5427132" cy="475002"/>
          </a:xfrm>
        </p:spPr>
        <p:txBody>
          <a:bodyPr/>
          <a:lstStyle/>
          <a:p>
            <a:r>
              <a:rPr lang="es-CL" sz="1200" dirty="0"/>
              <a:t>Consultor</a:t>
            </a:r>
          </a:p>
          <a:p>
            <a:r>
              <a:rPr lang="es-CL" sz="1200" dirty="0"/>
              <a:t>Cargo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6DA71FA-37DD-30F0-5182-663EBEE7A9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518" y="6387024"/>
            <a:ext cx="3032274" cy="398058"/>
          </a:xfrm>
        </p:spPr>
        <p:txBody>
          <a:bodyPr/>
          <a:lstStyle/>
          <a:p>
            <a:r>
              <a:rPr lang="es-CL" dirty="0"/>
              <a:t>Mes, Año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4F7B45E6-A22E-4AC7-1472-85D0784AA9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32534" y="2074304"/>
            <a:ext cx="5651500" cy="116681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br>
              <a:rPr lang="es-419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s-CL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Gestionar Textos</a:t>
            </a:r>
            <a:endParaRPr lang="es-ES_tradn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54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899234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2800" b="1" noProof="0" dirty="0">
                          <a:solidFill>
                            <a:schemeClr val="bg1"/>
                          </a:solidFill>
                        </a:rPr>
                        <a:t>Gestionar Textos</a:t>
                      </a:r>
                      <a:endParaRPr lang="es-419" sz="28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382194" y="2619375"/>
            <a:ext cx="1713931" cy="64683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400" dirty="0"/>
              <a:t>Personalizar textos en páginas administrativas del sistema académico.</a:t>
            </a:r>
          </a:p>
          <a:p>
            <a:pPr marL="0" indent="0" algn="just">
              <a:buClr>
                <a:srgbClr val="0CB4B4"/>
              </a:buClr>
              <a:buNone/>
            </a:pPr>
            <a:r>
              <a:rPr lang="es-MX" sz="2400" dirty="0"/>
              <a:t> </a:t>
            </a:r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400" dirty="0"/>
              <a:t>Modificar el texto que se despliega en una página administrativa del sistema académico, por ejemplo, la etiqueta de un campo.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Procesos Complementarios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8859" y="66303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MX" b="0" dirty="0">
                <a:solidFill>
                  <a:schemeClr val="accent1"/>
                </a:solidFill>
              </a:rPr>
              <a:t>Gestionar Personalizar Textos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9977B-E688-C01A-A4E4-10B9F6F6F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1" y="2484933"/>
            <a:ext cx="10477497" cy="188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Gestionar Procesos Complementarios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ABF5B5-C15E-E227-5131-B3FCF4BBF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313" y="1371599"/>
            <a:ext cx="5061857" cy="506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/>
              <a:t>Configuraciones mínimas necesarias...</a:t>
            </a:r>
            <a:endParaRPr lang="es-ES_tradnl" dirty="0"/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257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6125417-2BFE-9587-0D7F-38EC177AB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47" y="1530036"/>
            <a:ext cx="10087784" cy="479894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3"/>
            <a:ext cx="11058846" cy="622622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SCACRSE Identificar texto a modificar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3368528" y="2646066"/>
            <a:ext cx="2365741" cy="54594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 identifica el texto a modificar y las pantallas donde se encuentra el texto.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1286316" y="2817111"/>
            <a:ext cx="493776" cy="20386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B71FC285-FD75-61B3-3246-3725987B1D12}"/>
              </a:ext>
            </a:extLst>
          </p:cNvPr>
          <p:cNvSpPr/>
          <p:nvPr/>
        </p:nvSpPr>
        <p:spPr>
          <a:xfrm>
            <a:off x="2623361" y="2780155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2298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61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914DA97-AB7F-EA82-4D04-5D1B2A8B9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46903"/>
            <a:ext cx="11381753" cy="540797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GMAPROJ Creación de Proyectos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711C5B95-0895-1AE6-F0AC-FFB2F845379E}"/>
              </a:ext>
            </a:extLst>
          </p:cNvPr>
          <p:cNvSpPr/>
          <p:nvPr/>
        </p:nvSpPr>
        <p:spPr>
          <a:xfrm>
            <a:off x="4664808" y="1917594"/>
            <a:ext cx="2127330" cy="32952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Ingresar una descripción al proyecto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5122A535-8FC4-917D-A68F-E70F2D72205F}"/>
              </a:ext>
            </a:extLst>
          </p:cNvPr>
          <p:cNvSpPr/>
          <p:nvPr/>
        </p:nvSpPr>
        <p:spPr>
          <a:xfrm>
            <a:off x="4167431" y="1917594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4948388" y="1617099"/>
            <a:ext cx="2127330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crea un código de proyecto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797278" y="1672420"/>
            <a:ext cx="3583951" cy="24517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B71FC285-FD75-61B3-3246-3725987B1D12}"/>
              </a:ext>
            </a:extLst>
          </p:cNvPr>
          <p:cNvSpPr/>
          <p:nvPr/>
        </p:nvSpPr>
        <p:spPr>
          <a:xfrm>
            <a:off x="4484598" y="1601233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A6B4511-602A-8DC2-7DAF-45317E32ABE4}"/>
              </a:ext>
            </a:extLst>
          </p:cNvPr>
          <p:cNvSpPr/>
          <p:nvPr/>
        </p:nvSpPr>
        <p:spPr>
          <a:xfrm>
            <a:off x="797278" y="1921613"/>
            <a:ext cx="3243504" cy="24517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3110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145D0B2-22C2-9C0D-938C-D3903BA36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70" y="1404871"/>
            <a:ext cx="10371888" cy="490986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8F91493-96B2-E8CE-0742-C4100274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GMAPROJ Creación de Proyectos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2944576" y="3574646"/>
            <a:ext cx="3587078" cy="48194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En este parámetro se indica el o los módulos de Banner en donde se realizarán los cambios de texto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1109870" y="2793027"/>
            <a:ext cx="4320302" cy="42269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B71FC285-FD75-61B3-3246-3725987B1D12}"/>
              </a:ext>
            </a:extLst>
          </p:cNvPr>
          <p:cNvSpPr/>
          <p:nvPr/>
        </p:nvSpPr>
        <p:spPr>
          <a:xfrm>
            <a:off x="5570020" y="2846161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B4C72A68-BC7E-1445-0564-271CDF9BE576}"/>
              </a:ext>
            </a:extLst>
          </p:cNvPr>
          <p:cNvSpPr/>
          <p:nvPr/>
        </p:nvSpPr>
        <p:spPr>
          <a:xfrm>
            <a:off x="9233532" y="5909845"/>
            <a:ext cx="1742423" cy="2385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guardan los cambios</a:t>
            </a:r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847D41FA-0D24-B131-491D-2B8987CA1265}"/>
              </a:ext>
            </a:extLst>
          </p:cNvPr>
          <p:cNvSpPr/>
          <p:nvPr/>
        </p:nvSpPr>
        <p:spPr>
          <a:xfrm>
            <a:off x="8792372" y="5890223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87AF703-0D49-390D-1F79-A1B4EB4ECB3D}"/>
              </a:ext>
            </a:extLst>
          </p:cNvPr>
          <p:cNvSpPr/>
          <p:nvPr/>
        </p:nvSpPr>
        <p:spPr>
          <a:xfrm>
            <a:off x="11012369" y="6014834"/>
            <a:ext cx="550128" cy="2999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53702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7AF650D-77E6-E69B-F08D-3CEAFCB82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056963"/>
            <a:ext cx="11130951" cy="526919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GMAUPLD Validación de código de función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4AA4734A-A567-8FD2-B99A-12752F15509D}"/>
              </a:ext>
            </a:extLst>
          </p:cNvPr>
          <p:cNvSpPr/>
          <p:nvPr/>
        </p:nvSpPr>
        <p:spPr>
          <a:xfrm>
            <a:off x="3645569" y="1854699"/>
            <a:ext cx="1622295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el idioma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C41C5-1845-7C8A-0D2B-B626CFD806CE}"/>
              </a:ext>
            </a:extLst>
          </p:cNvPr>
          <p:cNvSpPr/>
          <p:nvPr/>
        </p:nvSpPr>
        <p:spPr>
          <a:xfrm>
            <a:off x="883487" y="1831922"/>
            <a:ext cx="2142773" cy="2743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B71FC285-FD75-61B3-3246-3725987B1D12}"/>
              </a:ext>
            </a:extLst>
          </p:cNvPr>
          <p:cNvSpPr/>
          <p:nvPr/>
        </p:nvSpPr>
        <p:spPr>
          <a:xfrm>
            <a:off x="3121151" y="1831922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B4C72A68-BC7E-1445-0564-271CDF9BE576}"/>
              </a:ext>
            </a:extLst>
          </p:cNvPr>
          <p:cNvSpPr/>
          <p:nvPr/>
        </p:nvSpPr>
        <p:spPr>
          <a:xfrm>
            <a:off x="8958468" y="5800117"/>
            <a:ext cx="1742423" cy="2385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guardan los cambios</a:t>
            </a:r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847D41FA-0D24-B131-491D-2B8987CA1265}"/>
              </a:ext>
            </a:extLst>
          </p:cNvPr>
          <p:cNvSpPr/>
          <p:nvPr/>
        </p:nvSpPr>
        <p:spPr>
          <a:xfrm>
            <a:off x="8517308" y="5780495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87AF703-0D49-390D-1F79-A1B4EB4ECB3D}"/>
              </a:ext>
            </a:extLst>
          </p:cNvPr>
          <p:cNvSpPr/>
          <p:nvPr/>
        </p:nvSpPr>
        <p:spPr>
          <a:xfrm>
            <a:off x="11203393" y="6022248"/>
            <a:ext cx="550128" cy="2999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CE63922-8E87-8F9A-FF93-1EF8553442C4}"/>
              </a:ext>
            </a:extLst>
          </p:cNvPr>
          <p:cNvSpPr/>
          <p:nvPr/>
        </p:nvSpPr>
        <p:spPr>
          <a:xfrm>
            <a:off x="793617" y="2298559"/>
            <a:ext cx="2327534" cy="27432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8EBCF4-B409-80B2-708F-0B311FEDEFB7}"/>
              </a:ext>
            </a:extLst>
          </p:cNvPr>
          <p:cNvSpPr/>
          <p:nvPr/>
        </p:nvSpPr>
        <p:spPr>
          <a:xfrm>
            <a:off x="3891926" y="2275254"/>
            <a:ext cx="1255776" cy="3209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397E7604-8C2D-80C9-32DE-C73C0FF44D97}"/>
              </a:ext>
            </a:extLst>
          </p:cNvPr>
          <p:cNvSpPr/>
          <p:nvPr/>
        </p:nvSpPr>
        <p:spPr>
          <a:xfrm>
            <a:off x="3169369" y="2296834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104009DB-EBC4-DC22-7759-E4FE327B1334}"/>
              </a:ext>
            </a:extLst>
          </p:cNvPr>
          <p:cNvSpPr/>
          <p:nvPr/>
        </p:nvSpPr>
        <p:spPr>
          <a:xfrm>
            <a:off x="5267864" y="2294742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81B580B1-FD31-079E-3D13-07CC7211A0CD}"/>
              </a:ext>
            </a:extLst>
          </p:cNvPr>
          <p:cNvSpPr/>
          <p:nvPr/>
        </p:nvSpPr>
        <p:spPr>
          <a:xfrm>
            <a:off x="3121151" y="2738968"/>
            <a:ext cx="1694689" cy="44915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el proyecto creado anteriormente</a:t>
            </a:r>
          </a:p>
        </p:txBody>
      </p:sp>
      <p:sp>
        <p:nvSpPr>
          <p:cNvPr id="20" name="Rectángulo redondeado 5">
            <a:extLst>
              <a:ext uri="{FF2B5EF4-FFF2-40B4-BE49-F238E27FC236}">
                <a16:creationId xmlns:a16="http://schemas.microsoft.com/office/drawing/2014/main" id="{DBF2BB31-45CC-1DE0-1398-4083E2E1E7DB}"/>
              </a:ext>
            </a:extLst>
          </p:cNvPr>
          <p:cNvSpPr/>
          <p:nvPr/>
        </p:nvSpPr>
        <p:spPr>
          <a:xfrm>
            <a:off x="5918477" y="2186284"/>
            <a:ext cx="1905051" cy="44915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Finalmente hacer clic en recuperar archivos</a:t>
            </a:r>
          </a:p>
        </p:txBody>
      </p:sp>
    </p:spTree>
    <p:extLst>
      <p:ext uri="{BB962C8B-B14F-4D97-AF65-F5344CB8AC3E}">
        <p14:creationId xmlns:p14="http://schemas.microsoft.com/office/powerpoint/2010/main" val="78654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F3DEC41-CC34-D402-8481-7E7F740D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68" y="1190444"/>
            <a:ext cx="10840844" cy="511456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GMAUPLD Validación de código de función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B71FC285-FD75-61B3-3246-3725987B1D12}"/>
              </a:ext>
            </a:extLst>
          </p:cNvPr>
          <p:cNvSpPr/>
          <p:nvPr/>
        </p:nvSpPr>
        <p:spPr>
          <a:xfrm>
            <a:off x="3402002" y="2851084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B4C72A68-BC7E-1445-0564-271CDF9BE576}"/>
              </a:ext>
            </a:extLst>
          </p:cNvPr>
          <p:cNvSpPr/>
          <p:nvPr/>
        </p:nvSpPr>
        <p:spPr>
          <a:xfrm>
            <a:off x="9172193" y="6052935"/>
            <a:ext cx="1742423" cy="2385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Guardar los resultados.</a:t>
            </a:r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847D41FA-0D24-B131-491D-2B8987CA1265}"/>
              </a:ext>
            </a:extLst>
          </p:cNvPr>
          <p:cNvSpPr/>
          <p:nvPr/>
        </p:nvSpPr>
        <p:spPr>
          <a:xfrm>
            <a:off x="8731033" y="6033313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5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87AF703-0D49-390D-1F79-A1B4EB4ECB3D}"/>
              </a:ext>
            </a:extLst>
          </p:cNvPr>
          <p:cNvSpPr/>
          <p:nvPr/>
        </p:nvSpPr>
        <p:spPr>
          <a:xfrm>
            <a:off x="11202354" y="6005109"/>
            <a:ext cx="550128" cy="2999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8EBCF4-B409-80B2-708F-0B311FEDEFB7}"/>
              </a:ext>
            </a:extLst>
          </p:cNvPr>
          <p:cNvSpPr/>
          <p:nvPr/>
        </p:nvSpPr>
        <p:spPr>
          <a:xfrm>
            <a:off x="1710100" y="2968390"/>
            <a:ext cx="808813" cy="3209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81B580B1-FD31-079E-3D13-07CC7211A0CD}"/>
              </a:ext>
            </a:extLst>
          </p:cNvPr>
          <p:cNvSpPr/>
          <p:nvPr/>
        </p:nvSpPr>
        <p:spPr>
          <a:xfrm>
            <a:off x="3800336" y="2857734"/>
            <a:ext cx="2145852" cy="32093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todas las páginas.</a:t>
            </a:r>
          </a:p>
        </p:txBody>
      </p:sp>
    </p:spTree>
    <p:extLst>
      <p:ext uri="{BB962C8B-B14F-4D97-AF65-F5344CB8AC3E}">
        <p14:creationId xmlns:p14="http://schemas.microsoft.com/office/powerpoint/2010/main" val="4261603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43ED114-8C9C-2FA9-BC95-42DFB4D9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50780"/>
            <a:ext cx="10844041" cy="514411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GMAUPLD Validación de código de función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B4C72A68-BC7E-1445-0564-271CDF9BE576}"/>
              </a:ext>
            </a:extLst>
          </p:cNvPr>
          <p:cNvSpPr/>
          <p:nvPr/>
        </p:nvSpPr>
        <p:spPr>
          <a:xfrm>
            <a:off x="8425983" y="5276783"/>
            <a:ext cx="2065783" cy="34613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cargar archivos</a:t>
            </a:r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847D41FA-0D24-B131-491D-2B8987CA1265}"/>
              </a:ext>
            </a:extLst>
          </p:cNvPr>
          <p:cNvSpPr/>
          <p:nvPr/>
        </p:nvSpPr>
        <p:spPr>
          <a:xfrm>
            <a:off x="7914898" y="5276783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6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87AF703-0D49-390D-1F79-A1B4EB4ECB3D}"/>
              </a:ext>
            </a:extLst>
          </p:cNvPr>
          <p:cNvSpPr/>
          <p:nvPr/>
        </p:nvSpPr>
        <p:spPr>
          <a:xfrm>
            <a:off x="6883879" y="5762445"/>
            <a:ext cx="776378" cy="22125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8560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81EA716-D21F-6BC7-D9EC-5508FE865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0" y="954156"/>
            <a:ext cx="11313383" cy="53664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GMATRAN Validación de código de función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B4C72A68-BC7E-1445-0564-271CDF9BE576}"/>
              </a:ext>
            </a:extLst>
          </p:cNvPr>
          <p:cNvSpPr/>
          <p:nvPr/>
        </p:nvSpPr>
        <p:spPr>
          <a:xfrm>
            <a:off x="670893" y="2452697"/>
            <a:ext cx="2065783" cy="34613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el proyecto y el idioma de origen.</a:t>
            </a:r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847D41FA-0D24-B131-491D-2B8987CA1265}"/>
              </a:ext>
            </a:extLst>
          </p:cNvPr>
          <p:cNvSpPr/>
          <p:nvPr/>
        </p:nvSpPr>
        <p:spPr>
          <a:xfrm>
            <a:off x="775463" y="2034372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87AF703-0D49-390D-1F79-A1B4EB4ECB3D}"/>
              </a:ext>
            </a:extLst>
          </p:cNvPr>
          <p:cNvSpPr/>
          <p:nvPr/>
        </p:nvSpPr>
        <p:spPr>
          <a:xfrm>
            <a:off x="609601" y="1471460"/>
            <a:ext cx="2297501" cy="4791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4159FC8-9CD6-D8E3-2528-05FCD9B7276C}"/>
              </a:ext>
            </a:extLst>
          </p:cNvPr>
          <p:cNvSpPr/>
          <p:nvPr/>
        </p:nvSpPr>
        <p:spPr>
          <a:xfrm>
            <a:off x="5729790" y="1638556"/>
            <a:ext cx="2883916" cy="30803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1FE78FDF-E6EC-355A-9C28-8F7754A4773B}"/>
              </a:ext>
            </a:extLst>
          </p:cNvPr>
          <p:cNvSpPr/>
          <p:nvPr/>
        </p:nvSpPr>
        <p:spPr>
          <a:xfrm>
            <a:off x="6176631" y="2471939"/>
            <a:ext cx="2304170" cy="2215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el idioma de destino.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39316854-54E9-F35D-0BF3-C3960150117E}"/>
              </a:ext>
            </a:extLst>
          </p:cNvPr>
          <p:cNvSpPr/>
          <p:nvPr/>
        </p:nvSpPr>
        <p:spPr>
          <a:xfrm>
            <a:off x="6811327" y="2090616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D9357E0C-9B98-3CDC-22DF-6C99C4445A01}"/>
              </a:ext>
            </a:extLst>
          </p:cNvPr>
          <p:cNvSpPr/>
          <p:nvPr/>
        </p:nvSpPr>
        <p:spPr>
          <a:xfrm>
            <a:off x="10386533" y="2034371"/>
            <a:ext cx="1272709" cy="2777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“Ir”.</a:t>
            </a:r>
          </a:p>
        </p:txBody>
      </p:sp>
      <p:sp>
        <p:nvSpPr>
          <p:cNvPr id="14" name="Rectángulo redondeado 8">
            <a:extLst>
              <a:ext uri="{FF2B5EF4-FFF2-40B4-BE49-F238E27FC236}">
                <a16:creationId xmlns:a16="http://schemas.microsoft.com/office/drawing/2014/main" id="{CA5689FC-E192-2B8C-7416-3193CE3C107E}"/>
              </a:ext>
            </a:extLst>
          </p:cNvPr>
          <p:cNvSpPr/>
          <p:nvPr/>
        </p:nvSpPr>
        <p:spPr>
          <a:xfrm>
            <a:off x="10849444" y="1572172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CD7CA1-9254-7232-1269-736E096D7563}"/>
              </a:ext>
            </a:extLst>
          </p:cNvPr>
          <p:cNvSpPr/>
          <p:nvPr/>
        </p:nvSpPr>
        <p:spPr>
          <a:xfrm>
            <a:off x="11291977" y="1537708"/>
            <a:ext cx="534838" cy="2777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1961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221DFEFA-C310-D4D3-F7B4-6BC8E5CA1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303445"/>
            <a:ext cx="10603029" cy="500048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GMATRAN Validación de código de función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ACDD554E-400C-D6FF-3EEA-E49B582A3EAE}"/>
              </a:ext>
            </a:extLst>
          </p:cNvPr>
          <p:cNvSpPr/>
          <p:nvPr/>
        </p:nvSpPr>
        <p:spPr>
          <a:xfrm>
            <a:off x="959233" y="5076901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8F6E4D-072D-D366-D88A-A51C89248401}"/>
              </a:ext>
            </a:extLst>
          </p:cNvPr>
          <p:cNvSpPr/>
          <p:nvPr/>
        </p:nvSpPr>
        <p:spPr>
          <a:xfrm>
            <a:off x="778725" y="4459041"/>
            <a:ext cx="1067355" cy="34613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DBE637F-18CE-3BA4-C8CD-260A3C16C413}"/>
              </a:ext>
            </a:extLst>
          </p:cNvPr>
          <p:cNvSpPr/>
          <p:nvPr/>
        </p:nvSpPr>
        <p:spPr>
          <a:xfrm>
            <a:off x="2046725" y="4592410"/>
            <a:ext cx="1067355" cy="2115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77DC4E72-B4DE-A10B-F07B-4288BF85AA30}"/>
              </a:ext>
            </a:extLst>
          </p:cNvPr>
          <p:cNvSpPr/>
          <p:nvPr/>
        </p:nvSpPr>
        <p:spPr>
          <a:xfrm>
            <a:off x="10145275" y="4799130"/>
            <a:ext cx="360421" cy="27777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AC750696-484E-2653-1349-DB0C80964418}"/>
              </a:ext>
            </a:extLst>
          </p:cNvPr>
          <p:cNvSpPr/>
          <p:nvPr/>
        </p:nvSpPr>
        <p:spPr>
          <a:xfrm>
            <a:off x="860485" y="5381484"/>
            <a:ext cx="3080580" cy="34613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 ingresan los datos que se van a modificar.</a:t>
            </a:r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558A7C95-3454-C5A3-1463-752FB98F0752}"/>
              </a:ext>
            </a:extLst>
          </p:cNvPr>
          <p:cNvSpPr/>
          <p:nvPr/>
        </p:nvSpPr>
        <p:spPr>
          <a:xfrm>
            <a:off x="10028254" y="4379359"/>
            <a:ext cx="1272709" cy="2777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“Ir”.</a:t>
            </a:r>
          </a:p>
        </p:txBody>
      </p:sp>
    </p:spTree>
    <p:extLst>
      <p:ext uri="{BB962C8B-B14F-4D97-AF65-F5344CB8AC3E}">
        <p14:creationId xmlns:p14="http://schemas.microsoft.com/office/powerpoint/2010/main" val="2656232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3CCCA-923A-D629-993F-9E69DE88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333A5AE-AB65-7DD7-17F1-744E23152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7" y="928049"/>
            <a:ext cx="10525401" cy="500189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3EF8A5-DAC4-B488-CBB9-3542F6D4A50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BA62281F-818E-FCF2-B500-8BE139DB3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B953E95-F0AC-DEF1-29AF-36E1A60C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GMATRAN Validación de código de función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EE76743-31C8-9CE9-3811-7139496E4D52}"/>
              </a:ext>
            </a:extLst>
          </p:cNvPr>
          <p:cNvSpPr/>
          <p:nvPr/>
        </p:nvSpPr>
        <p:spPr>
          <a:xfrm>
            <a:off x="778725" y="4459041"/>
            <a:ext cx="1067355" cy="107911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86F26F-F24D-1DD0-1F04-C00DF2C3B7B2}"/>
              </a:ext>
            </a:extLst>
          </p:cNvPr>
          <p:cNvSpPr/>
          <p:nvPr/>
        </p:nvSpPr>
        <p:spPr>
          <a:xfrm>
            <a:off x="4225521" y="4693375"/>
            <a:ext cx="1067355" cy="62616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89670E72-DFC5-02F5-DFE5-88890E135731}"/>
              </a:ext>
            </a:extLst>
          </p:cNvPr>
          <p:cNvSpPr/>
          <p:nvPr/>
        </p:nvSpPr>
        <p:spPr>
          <a:xfrm>
            <a:off x="5818491" y="4805071"/>
            <a:ext cx="2536165" cy="38705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Traducción a Textos seleccionados</a:t>
            </a:r>
          </a:p>
        </p:txBody>
      </p:sp>
    </p:spTree>
    <p:extLst>
      <p:ext uri="{BB962C8B-B14F-4D97-AF65-F5344CB8AC3E}">
        <p14:creationId xmlns:p14="http://schemas.microsoft.com/office/powerpoint/2010/main" val="1820800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Eliminación del Caché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12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D8839-C98E-8A13-453D-7635A5DED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EB81A06-B7C4-29C6-3D38-D7316C730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50829"/>
            <a:ext cx="10689304" cy="506892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253716-3D31-26A1-4518-14FF6DA476B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E79C7DB5-3181-6F99-2C8E-42A9E0192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9EB51BD-B8D9-CAAD-C283-59F18FAA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GMAPROJ Eliminación de caché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CD041554-F01B-2BD6-9CBF-7D1C751CF5EE}"/>
              </a:ext>
            </a:extLst>
          </p:cNvPr>
          <p:cNvSpPr/>
          <p:nvPr/>
        </p:nvSpPr>
        <p:spPr>
          <a:xfrm>
            <a:off x="3359849" y="2476759"/>
            <a:ext cx="270082" cy="2425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500C06A-B90B-9649-BE6E-59924381C814}"/>
              </a:ext>
            </a:extLst>
          </p:cNvPr>
          <p:cNvSpPr/>
          <p:nvPr/>
        </p:nvSpPr>
        <p:spPr>
          <a:xfrm>
            <a:off x="2693960" y="2476759"/>
            <a:ext cx="585879" cy="24252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D3E03C66-DAA7-30F9-1B60-C6B4E4E013E9}"/>
              </a:ext>
            </a:extLst>
          </p:cNvPr>
          <p:cNvSpPr/>
          <p:nvPr/>
        </p:nvSpPr>
        <p:spPr>
          <a:xfrm>
            <a:off x="3629931" y="1694545"/>
            <a:ext cx="4027176" cy="53074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Dentro de GMAPROJ y una vez cargado el proyecto debe seguir las siguientes instrucciones para el borrado de caché. </a:t>
            </a: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CCA418CC-D8BA-6A64-A659-DAAA6E8AF6D2}"/>
              </a:ext>
            </a:extLst>
          </p:cNvPr>
          <p:cNvSpPr/>
          <p:nvPr/>
        </p:nvSpPr>
        <p:spPr>
          <a:xfrm>
            <a:off x="3964065" y="2394994"/>
            <a:ext cx="1298553" cy="37834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Seleccionar la pestaña “Caché”</a:t>
            </a:r>
          </a:p>
        </p:txBody>
      </p:sp>
    </p:spTree>
    <p:extLst>
      <p:ext uri="{BB962C8B-B14F-4D97-AF65-F5344CB8AC3E}">
        <p14:creationId xmlns:p14="http://schemas.microsoft.com/office/powerpoint/2010/main" val="3687991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8D46E-0569-FC91-D696-90817058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AD392FE-F9BA-AAC8-0B38-02DA25565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52" y="1535502"/>
            <a:ext cx="10105019" cy="477269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05F993-C47C-E110-4565-8ACADF10410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30FF7774-73C3-E17F-8759-A51D2DCC5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59261F-E5E9-EC28-94A7-556A70DA9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200" b="0" dirty="0">
                <a:solidFill>
                  <a:schemeClr val="accent1"/>
                </a:solidFill>
              </a:rPr>
              <a:t>GMAPROJ Eliminación de caché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0A8ACEDA-4257-7505-35A2-D05B8428185F}"/>
              </a:ext>
            </a:extLst>
          </p:cNvPr>
          <p:cNvSpPr/>
          <p:nvPr/>
        </p:nvSpPr>
        <p:spPr>
          <a:xfrm>
            <a:off x="1343539" y="3031574"/>
            <a:ext cx="270082" cy="2425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4D40124-81AC-83C5-8B67-414FD3A72430}"/>
              </a:ext>
            </a:extLst>
          </p:cNvPr>
          <p:cNvSpPr/>
          <p:nvPr/>
        </p:nvSpPr>
        <p:spPr>
          <a:xfrm>
            <a:off x="931652" y="3583905"/>
            <a:ext cx="983412" cy="24252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E5ADBA10-17E6-6675-A9B4-2C4FC072EE56}"/>
              </a:ext>
            </a:extLst>
          </p:cNvPr>
          <p:cNvSpPr/>
          <p:nvPr/>
        </p:nvSpPr>
        <p:spPr>
          <a:xfrm>
            <a:off x="2973788" y="2314649"/>
            <a:ext cx="2600049" cy="37834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Según sea la necesidad puede seleccionar una o todas las páginas.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92E5C43-4BC2-05DB-E8EB-C4E1880217CE}"/>
              </a:ext>
            </a:extLst>
          </p:cNvPr>
          <p:cNvCxnSpPr>
            <a:cxnSpLocks/>
          </p:cNvCxnSpPr>
          <p:nvPr/>
        </p:nvCxnSpPr>
        <p:spPr>
          <a:xfrm flipH="1">
            <a:off x="1743378" y="2421410"/>
            <a:ext cx="1230410" cy="745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86ABE70-95F2-2D0E-6695-F0910C122E56}"/>
              </a:ext>
            </a:extLst>
          </p:cNvPr>
          <p:cNvCxnSpPr>
            <a:cxnSpLocks/>
          </p:cNvCxnSpPr>
          <p:nvPr/>
        </p:nvCxnSpPr>
        <p:spPr>
          <a:xfrm flipH="1">
            <a:off x="1613621" y="2472096"/>
            <a:ext cx="1360167" cy="98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redondeado 8">
            <a:extLst>
              <a:ext uri="{FF2B5EF4-FFF2-40B4-BE49-F238E27FC236}">
                <a16:creationId xmlns:a16="http://schemas.microsoft.com/office/drawing/2014/main" id="{4075F913-8A2C-49D8-8970-3E53AF038251}"/>
              </a:ext>
            </a:extLst>
          </p:cNvPr>
          <p:cNvSpPr/>
          <p:nvPr/>
        </p:nvSpPr>
        <p:spPr>
          <a:xfrm>
            <a:off x="1288317" y="3893714"/>
            <a:ext cx="270082" cy="2425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3</a:t>
            </a:r>
          </a:p>
        </p:txBody>
      </p:sp>
      <p:sp>
        <p:nvSpPr>
          <p:cNvPr id="26" name="Rectángulo redondeado 5">
            <a:extLst>
              <a:ext uri="{FF2B5EF4-FFF2-40B4-BE49-F238E27FC236}">
                <a16:creationId xmlns:a16="http://schemas.microsoft.com/office/drawing/2014/main" id="{9646D708-792B-16C0-5B2F-179868996760}"/>
              </a:ext>
            </a:extLst>
          </p:cNvPr>
          <p:cNvSpPr/>
          <p:nvPr/>
        </p:nvSpPr>
        <p:spPr>
          <a:xfrm>
            <a:off x="1042260" y="4296457"/>
            <a:ext cx="2502887" cy="29619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Presionar obtener estatus del caché.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D8BF0F2B-A910-2FC1-EC75-A65DC0F2E802}"/>
              </a:ext>
            </a:extLst>
          </p:cNvPr>
          <p:cNvSpPr/>
          <p:nvPr/>
        </p:nvSpPr>
        <p:spPr>
          <a:xfrm>
            <a:off x="5573837" y="3935289"/>
            <a:ext cx="3798848" cy="60182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Si al procesar el estatus del cache el campo “Poner en caché” se completa con un Si, entonces ya es posible ejecutar la eliminación.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E900102-EC43-8020-DDBD-784F3F4CA986}"/>
              </a:ext>
            </a:extLst>
          </p:cNvPr>
          <p:cNvSpPr/>
          <p:nvPr/>
        </p:nvSpPr>
        <p:spPr>
          <a:xfrm>
            <a:off x="5943599" y="3103345"/>
            <a:ext cx="785005" cy="48055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5">
            <a:extLst>
              <a:ext uri="{FF2B5EF4-FFF2-40B4-BE49-F238E27FC236}">
                <a16:creationId xmlns:a16="http://schemas.microsoft.com/office/drawing/2014/main" id="{50F1C53E-28CE-2FE9-F800-ACE0F7AE1800}"/>
              </a:ext>
            </a:extLst>
          </p:cNvPr>
          <p:cNvSpPr/>
          <p:nvPr/>
        </p:nvSpPr>
        <p:spPr>
          <a:xfrm>
            <a:off x="3108194" y="3646444"/>
            <a:ext cx="2136179" cy="37993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Presionar eliminar del caché.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23D0A2F-15D7-0B56-ED68-7AC8B5CFC5F1}"/>
              </a:ext>
            </a:extLst>
          </p:cNvPr>
          <p:cNvSpPr/>
          <p:nvPr/>
        </p:nvSpPr>
        <p:spPr>
          <a:xfrm>
            <a:off x="1923690" y="3596223"/>
            <a:ext cx="855040" cy="24252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Rectángulo redondeado 8">
            <a:extLst>
              <a:ext uri="{FF2B5EF4-FFF2-40B4-BE49-F238E27FC236}">
                <a16:creationId xmlns:a16="http://schemas.microsoft.com/office/drawing/2014/main" id="{0593AE21-9C11-1FEA-3A5E-B657EEAD8528}"/>
              </a:ext>
            </a:extLst>
          </p:cNvPr>
          <p:cNvSpPr/>
          <p:nvPr/>
        </p:nvSpPr>
        <p:spPr>
          <a:xfrm>
            <a:off x="3410106" y="3378389"/>
            <a:ext cx="270082" cy="2425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15247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07F3C-0211-9D34-91B3-13143ABE0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9FD7A37-D1CD-D223-E532-9A95FB3C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48" y="1319841"/>
            <a:ext cx="10463864" cy="495023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F7E325-99CE-5F1D-62BD-97E82DC29DE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5EFB58E-B81F-A655-DB73-F93C0FD19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4D8ED5-6A6F-833D-5062-7FC76521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GMAPROJ Eliminación de caché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26" name="Rectángulo redondeado 5">
            <a:extLst>
              <a:ext uri="{FF2B5EF4-FFF2-40B4-BE49-F238E27FC236}">
                <a16:creationId xmlns:a16="http://schemas.microsoft.com/office/drawing/2014/main" id="{BFEE9078-F1E8-352C-5963-94D2921C21C5}"/>
              </a:ext>
            </a:extLst>
          </p:cNvPr>
          <p:cNvSpPr/>
          <p:nvPr/>
        </p:nvSpPr>
        <p:spPr>
          <a:xfrm>
            <a:off x="4064891" y="4742485"/>
            <a:ext cx="4021586" cy="601821"/>
          </a:xfrm>
          <a:prstGeom prst="roundRect">
            <a:avLst/>
          </a:prstGeom>
          <a:solidFill>
            <a:schemeClr val="accent1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Después de eliminar el caché, debe esperar a que el tiempo de ejecución termine, al finalizar el proceso de borrado podrá guardar los cambios realizados.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6E1499-EF31-D98C-859F-28FF004E70E9}"/>
              </a:ext>
            </a:extLst>
          </p:cNvPr>
          <p:cNvSpPr/>
          <p:nvPr/>
        </p:nvSpPr>
        <p:spPr>
          <a:xfrm>
            <a:off x="10890913" y="6008648"/>
            <a:ext cx="585786" cy="21545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24F1C148-A82A-95DC-B702-A0BE26A19EFE}"/>
              </a:ext>
            </a:extLst>
          </p:cNvPr>
          <p:cNvSpPr/>
          <p:nvPr/>
        </p:nvSpPr>
        <p:spPr>
          <a:xfrm>
            <a:off x="10257144" y="5722751"/>
            <a:ext cx="270082" cy="2425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/>
              <a:t>5</a:t>
            </a: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941C514A-9E77-2679-992F-4C69C2DEA966}"/>
              </a:ext>
            </a:extLst>
          </p:cNvPr>
          <p:cNvSpPr/>
          <p:nvPr/>
        </p:nvSpPr>
        <p:spPr>
          <a:xfrm>
            <a:off x="8723968" y="5686021"/>
            <a:ext cx="1417802" cy="31598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sz="1100" dirty="0"/>
              <a:t>Presionar Guardar.</a:t>
            </a:r>
          </a:p>
        </p:txBody>
      </p:sp>
    </p:spTree>
    <p:extLst>
      <p:ext uri="{BB962C8B-B14F-4D97-AF65-F5344CB8AC3E}">
        <p14:creationId xmlns:p14="http://schemas.microsoft.com/office/powerpoint/2010/main" val="3280161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3E6F-046F-8AB2-2379-322D9A483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12C915-9EFC-C949-1C7F-0A847027660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AAC07F6C-B488-EE49-D86C-AA8729D11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C42FABE-0157-231E-677D-E7309439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70" y="372717"/>
            <a:ext cx="10271883" cy="626165"/>
          </a:xfrm>
        </p:spPr>
        <p:txBody>
          <a:bodyPr/>
          <a:lstStyle/>
          <a:p>
            <a:r>
              <a:rPr lang="es-ES_tradnl" sz="3000" dirty="0">
                <a:solidFill>
                  <a:schemeClr val="accent1"/>
                </a:solidFill>
              </a:rPr>
              <a:t>IMPORTANTE: </a:t>
            </a:r>
            <a:r>
              <a:rPr lang="es-ES_tradnl" sz="3000" b="0" dirty="0">
                <a:solidFill>
                  <a:schemeClr val="accent1"/>
                </a:solidFill>
              </a:rPr>
              <a:t>Reinicio de servidores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26" name="Rectángulo redondeado 5">
            <a:extLst>
              <a:ext uri="{FF2B5EF4-FFF2-40B4-BE49-F238E27FC236}">
                <a16:creationId xmlns:a16="http://schemas.microsoft.com/office/drawing/2014/main" id="{4FDEBCA6-5B15-BCFE-110C-1C4269A377A6}"/>
              </a:ext>
            </a:extLst>
          </p:cNvPr>
          <p:cNvSpPr/>
          <p:nvPr/>
        </p:nvSpPr>
        <p:spPr>
          <a:xfrm>
            <a:off x="1688414" y="2720124"/>
            <a:ext cx="9183277" cy="1417750"/>
          </a:xfrm>
          <a:prstGeom prst="roundRect">
            <a:avLst/>
          </a:prstGeom>
          <a:solidFill>
            <a:schemeClr val="accent1">
              <a:alpha val="89804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800" dirty="0"/>
              <a:t>De ser necesario para validar los cambios, se debe reiniciar el servidor de </a:t>
            </a:r>
            <a:r>
              <a:rPr lang="es-MX" sz="2800" dirty="0" err="1"/>
              <a:t>Admin</a:t>
            </a:r>
            <a:r>
              <a:rPr lang="es-MX" sz="2800" dirty="0"/>
              <a:t> Pages.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546585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sz="1200" dirty="0"/>
              <a:t>Gestionar y Personalizar textos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403344"/>
            <a:ext cx="7092820" cy="846621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19297" y="1596389"/>
            <a:ext cx="9720118" cy="2920747"/>
          </a:xfrm>
        </p:spPr>
        <p:txBody>
          <a:bodyPr/>
          <a:lstStyle/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Se debe crear un proyecto en GMAPROJ.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Se debe realizar la carga de los recursos en GMAUPLD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000" dirty="0"/>
              <a:t>Se debe realizar la traducción o cambio de textos en GMATRAN.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MX" sz="2000" dirty="0"/>
              <a:t>Para validar los cambios, se debe reiniciar el servidor de </a:t>
            </a:r>
            <a:r>
              <a:rPr lang="es-MX" sz="2000" dirty="0" err="1"/>
              <a:t>Admin</a:t>
            </a:r>
            <a:r>
              <a:rPr lang="es-MX" sz="2000" dirty="0"/>
              <a:t> Pages.</a:t>
            </a:r>
            <a:endParaRPr lang="es-419" sz="2000" dirty="0"/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MX" sz="2000" dirty="0"/>
          </a:p>
          <a:p>
            <a:pPr algn="just">
              <a:buClr>
                <a:srgbClr val="0CB4B4"/>
              </a:buClr>
            </a:pPr>
            <a:endParaRPr lang="es-419" sz="20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</a:t>
            </a:r>
          </a:p>
          <a:p>
            <a:r>
              <a:rPr lang="en-US" dirty="0" err="1"/>
              <a:t>Correo</a:t>
            </a:r>
            <a:endParaRPr lang="en-US" dirty="0"/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02817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76737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05 4.1.6.1. Instructivo - Actualizar estado del estudiante</Template>
  <TotalTime>9628</TotalTime>
  <Words>600</Words>
  <Application>Microsoft Office PowerPoint</Application>
  <PresentationFormat>Widescreen</PresentationFormat>
  <Paragraphs>141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1_Ellucian Blank Layouts</vt:lpstr>
      <vt:lpstr> Gestionar Textos</vt:lpstr>
      <vt:lpstr>PowerPoint Presentation</vt:lpstr>
      <vt:lpstr>Overview</vt:lpstr>
      <vt:lpstr>Overview: Mapa de capacidades</vt:lpstr>
      <vt:lpstr>Overview: Proceso Gestionar Procesos Complementarios</vt:lpstr>
      <vt:lpstr>PowerPoint Presentation</vt:lpstr>
      <vt:lpstr>PowerPoint Presentation</vt:lpstr>
      <vt:lpstr>CONFIGURACIONES</vt:lpstr>
      <vt:lpstr>Configuración: SCACRSE Identificar texto a modificar</vt:lpstr>
      <vt:lpstr>CONFIGURACIONES</vt:lpstr>
      <vt:lpstr>Configuración: GMAPROJ Creación de Proyectos</vt:lpstr>
      <vt:lpstr>Configuración: GMAPROJ Creación de Proyectos</vt:lpstr>
      <vt:lpstr>Configuración: GMAUPLD Validación de código de función</vt:lpstr>
      <vt:lpstr>Configuración: GMAUPLD Validación de código de función</vt:lpstr>
      <vt:lpstr>Configuración: GMAUPLD Validación de código de función</vt:lpstr>
      <vt:lpstr>Configuración: GMATRAN Validación de código de función</vt:lpstr>
      <vt:lpstr>Configuración: GMATRAN Validación de código de función</vt:lpstr>
      <vt:lpstr>Configuración: GMATRAN Validación de código de función</vt:lpstr>
      <vt:lpstr>CONFIGURACIONES</vt:lpstr>
      <vt:lpstr>Configuración: GMAPROJ Eliminación de caché</vt:lpstr>
      <vt:lpstr>Configuración: GMAPROJ Eliminación de caché</vt:lpstr>
      <vt:lpstr>Configuración: GMAPROJ Eliminación de caché</vt:lpstr>
      <vt:lpstr>IMPORTANTE: Reinicio de servidores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283</cp:revision>
  <dcterms:created xsi:type="dcterms:W3CDTF">2023-07-17T20:07:38Z</dcterms:created>
  <dcterms:modified xsi:type="dcterms:W3CDTF">2026-07-15T17:44:35Z</dcterms:modified>
</cp:coreProperties>
</file>
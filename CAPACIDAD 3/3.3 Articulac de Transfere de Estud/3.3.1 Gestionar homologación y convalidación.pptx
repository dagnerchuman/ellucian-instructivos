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50" r:id="rId2"/>
  </p:sldMasterIdLst>
  <p:notesMasterIdLst>
    <p:notesMasterId r:id="rId65"/>
  </p:notesMasterIdLst>
  <p:sldIdLst>
    <p:sldId id="257" r:id="rId3"/>
    <p:sldId id="423" r:id="rId4"/>
    <p:sldId id="476" r:id="rId5"/>
    <p:sldId id="348" r:id="rId6"/>
    <p:sldId id="349" r:id="rId7"/>
    <p:sldId id="350" r:id="rId8"/>
    <p:sldId id="352" r:id="rId9"/>
    <p:sldId id="421" r:id="rId10"/>
    <p:sldId id="478" r:id="rId11"/>
    <p:sldId id="469" r:id="rId12"/>
    <p:sldId id="599" r:id="rId13"/>
    <p:sldId id="355" r:id="rId14"/>
    <p:sldId id="607" r:id="rId15"/>
    <p:sldId id="646" r:id="rId16"/>
    <p:sldId id="608" r:id="rId17"/>
    <p:sldId id="600" r:id="rId18"/>
    <p:sldId id="598" r:id="rId19"/>
    <p:sldId id="601" r:id="rId20"/>
    <p:sldId id="602" r:id="rId21"/>
    <p:sldId id="603" r:id="rId22"/>
    <p:sldId id="604" r:id="rId23"/>
    <p:sldId id="605" r:id="rId24"/>
    <p:sldId id="606" r:id="rId25"/>
    <p:sldId id="609" r:id="rId26"/>
    <p:sldId id="610" r:id="rId27"/>
    <p:sldId id="611" r:id="rId28"/>
    <p:sldId id="613" r:id="rId29"/>
    <p:sldId id="628" r:id="rId30"/>
    <p:sldId id="612" r:id="rId31"/>
    <p:sldId id="614" r:id="rId32"/>
    <p:sldId id="543" r:id="rId33"/>
    <p:sldId id="615" r:id="rId34"/>
    <p:sldId id="565" r:id="rId35"/>
    <p:sldId id="616" r:id="rId36"/>
    <p:sldId id="617" r:id="rId37"/>
    <p:sldId id="618" r:id="rId38"/>
    <p:sldId id="619" r:id="rId39"/>
    <p:sldId id="620" r:id="rId40"/>
    <p:sldId id="621" r:id="rId41"/>
    <p:sldId id="622" r:id="rId42"/>
    <p:sldId id="623" r:id="rId43"/>
    <p:sldId id="624" r:id="rId44"/>
    <p:sldId id="625" r:id="rId45"/>
    <p:sldId id="626" r:id="rId46"/>
    <p:sldId id="629" r:id="rId47"/>
    <p:sldId id="630" r:id="rId48"/>
    <p:sldId id="631" r:id="rId49"/>
    <p:sldId id="632" r:id="rId50"/>
    <p:sldId id="633" r:id="rId51"/>
    <p:sldId id="634" r:id="rId52"/>
    <p:sldId id="635" r:id="rId53"/>
    <p:sldId id="636" r:id="rId54"/>
    <p:sldId id="637" r:id="rId55"/>
    <p:sldId id="638" r:id="rId56"/>
    <p:sldId id="639" r:id="rId57"/>
    <p:sldId id="640" r:id="rId58"/>
    <p:sldId id="641" r:id="rId59"/>
    <p:sldId id="642" r:id="rId60"/>
    <p:sldId id="643" r:id="rId61"/>
    <p:sldId id="644" r:id="rId62"/>
    <p:sldId id="1221" r:id="rId63"/>
    <p:sldId id="647"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B06FD8-FBF7-48A6-EC94-7EAC12BBF7D7}" name="Mardones, Francisco" initials="MF" userId="S::Francisco.Mardones@ellucian.com::216dec8c-35d0-45c5-a341-2c26a65575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00B0"/>
    <a:srgbClr val="0CA8B4"/>
    <a:srgbClr val="33CCCC"/>
    <a:srgbClr val="0CB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337F35-CDD6-42CC-A1B3-45C9EC6988E0}" v="3" dt="2026-02-23T21:28:48.342"/>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137" autoAdjust="0"/>
    <p:restoredTop sz="94660"/>
  </p:normalViewPr>
  <p:slideViewPr>
    <p:cSldViewPr snapToGrid="0">
      <p:cViewPr varScale="1">
        <p:scale>
          <a:sx n="111" d="100"/>
          <a:sy n="111" d="100"/>
        </p:scale>
        <p:origin x="816" y="96"/>
      </p:cViewPr>
      <p:guideLst/>
    </p:cSldViewPr>
  </p:slideViewPr>
  <p:notesTextViewPr>
    <p:cViewPr>
      <p:scale>
        <a:sx n="1" d="1"/>
        <a:sy n="1" d="1"/>
      </p:scale>
      <p:origin x="0" y="0"/>
    </p:cViewPr>
  </p:notesText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theme" Target="theme/theme1.xml"/><Relationship Id="rId7" Type="http://schemas.openxmlformats.org/officeDocument/2006/relationships/slide" Target="slides/slide5.xml"/><Relationship Id="rId71"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microsoft.com/office/2018/10/relationships/authors" Target="author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yn Ramos" userId="6874308616_tp_box_2" providerId="OAuth2" clId="{AA4A63E5-79D2-4C53-B33A-940CFE8034BF}"/>
    <pc:docChg chg="custSel addSld modSld">
      <pc:chgData name="Karyn Ramos" userId="6874308616_tp_box_2" providerId="OAuth2" clId="{AA4A63E5-79D2-4C53-B33A-940CFE8034BF}" dt="2026-02-23T21:29:32.911" v="186" actId="20577"/>
      <pc:docMkLst>
        <pc:docMk/>
      </pc:docMkLst>
      <pc:sldChg chg="modSp mod">
        <pc:chgData name="Karyn Ramos" userId="6874308616_tp_box_2" providerId="OAuth2" clId="{AA4A63E5-79D2-4C53-B33A-940CFE8034BF}" dt="2026-02-23T21:29:32.911" v="186" actId="20577"/>
        <pc:sldMkLst>
          <pc:docMk/>
          <pc:sldMk cId="2289771023" sldId="608"/>
        </pc:sldMkLst>
        <pc:spChg chg="mod">
          <ac:chgData name="Karyn Ramos" userId="6874308616_tp_box_2" providerId="OAuth2" clId="{AA4A63E5-79D2-4C53-B33A-940CFE8034BF}" dt="2026-02-23T21:29:25.651" v="184" actId="11"/>
          <ac:spMkLst>
            <pc:docMk/>
            <pc:sldMk cId="2289771023" sldId="608"/>
            <ac:spMk id="6" creationId="{87F36912-9D41-3A86-BF3D-86C758D08447}"/>
          </ac:spMkLst>
        </pc:spChg>
        <pc:spChg chg="mod">
          <ac:chgData name="Karyn Ramos" userId="6874308616_tp_box_2" providerId="OAuth2" clId="{AA4A63E5-79D2-4C53-B33A-940CFE8034BF}" dt="2026-02-23T21:29:28.510" v="185" actId="20577"/>
          <ac:spMkLst>
            <pc:docMk/>
            <pc:sldMk cId="2289771023" sldId="608"/>
            <ac:spMk id="9" creationId="{B776AB39-B197-126A-B127-053EF6913542}"/>
          </ac:spMkLst>
        </pc:spChg>
        <pc:spChg chg="mod">
          <ac:chgData name="Karyn Ramos" userId="6874308616_tp_box_2" providerId="OAuth2" clId="{AA4A63E5-79D2-4C53-B33A-940CFE8034BF}" dt="2026-02-23T21:29:32.911" v="186" actId="20577"/>
          <ac:spMkLst>
            <pc:docMk/>
            <pc:sldMk cId="2289771023" sldId="608"/>
            <ac:spMk id="11" creationId="{CD3F8C3A-E343-502B-9017-EA4184166014}"/>
          </ac:spMkLst>
        </pc:spChg>
      </pc:sldChg>
      <pc:sldChg chg="addSp delSp modSp add mod">
        <pc:chgData name="Karyn Ramos" userId="6874308616_tp_box_2" providerId="OAuth2" clId="{AA4A63E5-79D2-4C53-B33A-940CFE8034BF}" dt="2026-02-23T21:29:07.597" v="182" actId="14100"/>
        <pc:sldMkLst>
          <pc:docMk/>
          <pc:sldMk cId="4185774806" sldId="646"/>
        </pc:sldMkLst>
        <pc:spChg chg="del">
          <ac:chgData name="Karyn Ramos" userId="6874308616_tp_box_2" providerId="OAuth2" clId="{AA4A63E5-79D2-4C53-B33A-940CFE8034BF}" dt="2026-02-23T21:27:18.212" v="10" actId="478"/>
          <ac:spMkLst>
            <pc:docMk/>
            <pc:sldMk cId="4185774806" sldId="646"/>
            <ac:spMk id="6" creationId="{EC610577-1E0C-7963-9BE9-EF32FB9D620B}"/>
          </ac:spMkLst>
        </pc:spChg>
        <pc:spChg chg="del">
          <ac:chgData name="Karyn Ramos" userId="6874308616_tp_box_2" providerId="OAuth2" clId="{AA4A63E5-79D2-4C53-B33A-940CFE8034BF}" dt="2026-02-23T21:27:04.273" v="8" actId="478"/>
          <ac:spMkLst>
            <pc:docMk/>
            <pc:sldMk cId="4185774806" sldId="646"/>
            <ac:spMk id="8" creationId="{29B7433F-3ABE-A834-6D0F-D55FCA03CADB}"/>
          </ac:spMkLst>
        </pc:spChg>
        <pc:spChg chg="mod">
          <ac:chgData name="Karyn Ramos" userId="6874308616_tp_box_2" providerId="OAuth2" clId="{AA4A63E5-79D2-4C53-B33A-940CFE8034BF}" dt="2026-02-23T21:27:31.903" v="32" actId="1076"/>
          <ac:spMkLst>
            <pc:docMk/>
            <pc:sldMk cId="4185774806" sldId="646"/>
            <ac:spMk id="9" creationId="{8BABF648-5BCA-7E6C-2B18-E4CEAE0D98E8}"/>
          </ac:spMkLst>
        </pc:spChg>
        <pc:spChg chg="del">
          <ac:chgData name="Karyn Ramos" userId="6874308616_tp_box_2" providerId="OAuth2" clId="{AA4A63E5-79D2-4C53-B33A-940CFE8034BF}" dt="2026-02-23T21:27:36.050" v="34" actId="478"/>
          <ac:spMkLst>
            <pc:docMk/>
            <pc:sldMk cId="4185774806" sldId="646"/>
            <ac:spMk id="10" creationId="{DB5F3230-7396-03A8-332C-A2D7A52D7CF5}"/>
          </ac:spMkLst>
        </pc:spChg>
        <pc:spChg chg="del">
          <ac:chgData name="Karyn Ramos" userId="6874308616_tp_box_2" providerId="OAuth2" clId="{AA4A63E5-79D2-4C53-B33A-940CFE8034BF}" dt="2026-02-23T21:27:36.050" v="34" actId="478"/>
          <ac:spMkLst>
            <pc:docMk/>
            <pc:sldMk cId="4185774806" sldId="646"/>
            <ac:spMk id="11" creationId="{8E398A4D-5284-D4EE-5933-51EE1A0ACA39}"/>
          </ac:spMkLst>
        </pc:spChg>
        <pc:spChg chg="add mod">
          <ac:chgData name="Karyn Ramos" userId="6874308616_tp_box_2" providerId="OAuth2" clId="{AA4A63E5-79D2-4C53-B33A-940CFE8034BF}" dt="2026-02-23T21:29:07.597" v="182" actId="14100"/>
          <ac:spMkLst>
            <pc:docMk/>
            <pc:sldMk cId="4185774806" sldId="646"/>
            <ac:spMk id="12" creationId="{33C03D31-5A55-57CB-00C3-D32B31ED2201}"/>
          </ac:spMkLst>
        </pc:spChg>
        <pc:spChg chg="del">
          <ac:chgData name="Karyn Ramos" userId="6874308616_tp_box_2" providerId="OAuth2" clId="{AA4A63E5-79D2-4C53-B33A-940CFE8034BF}" dt="2026-02-23T21:27:06.844" v="9" actId="478"/>
          <ac:spMkLst>
            <pc:docMk/>
            <pc:sldMk cId="4185774806" sldId="646"/>
            <ac:spMk id="13" creationId="{EC232CF7-94BE-0A2E-A071-E992ADDA56FD}"/>
          </ac:spMkLst>
        </pc:spChg>
        <pc:spChg chg="del">
          <ac:chgData name="Karyn Ramos" userId="6874308616_tp_box_2" providerId="OAuth2" clId="{AA4A63E5-79D2-4C53-B33A-940CFE8034BF}" dt="2026-02-23T21:27:34.336" v="33" actId="478"/>
          <ac:spMkLst>
            <pc:docMk/>
            <pc:sldMk cId="4185774806" sldId="646"/>
            <ac:spMk id="14" creationId="{30DC339C-171E-D977-29A9-ED1078B3349B}"/>
          </ac:spMkLst>
        </pc:spChg>
        <pc:spChg chg="add mod">
          <ac:chgData name="Karyn Ramos" userId="6874308616_tp_box_2" providerId="OAuth2" clId="{AA4A63E5-79D2-4C53-B33A-940CFE8034BF}" dt="2026-02-23T21:28:46.466" v="176" actId="1036"/>
          <ac:spMkLst>
            <pc:docMk/>
            <pc:sldMk cId="4185774806" sldId="646"/>
            <ac:spMk id="15" creationId="{93460D60-232A-DC64-8AEE-4748FD24CF11}"/>
          </ac:spMkLst>
        </pc:spChg>
        <pc:spChg chg="add mod">
          <ac:chgData name="Karyn Ramos" userId="6874308616_tp_box_2" providerId="OAuth2" clId="{AA4A63E5-79D2-4C53-B33A-940CFE8034BF}" dt="2026-02-23T21:28:46.466" v="176" actId="1036"/>
          <ac:spMkLst>
            <pc:docMk/>
            <pc:sldMk cId="4185774806" sldId="646"/>
            <ac:spMk id="16" creationId="{780E6CA7-E837-43EC-F659-5CD6A29032D0}"/>
          </ac:spMkLst>
        </pc:spChg>
        <pc:spChg chg="add mod">
          <ac:chgData name="Karyn Ramos" userId="6874308616_tp_box_2" providerId="OAuth2" clId="{AA4A63E5-79D2-4C53-B33A-940CFE8034BF}" dt="2026-02-23T21:28:58.139" v="179" actId="14100"/>
          <ac:spMkLst>
            <pc:docMk/>
            <pc:sldMk cId="4185774806" sldId="646"/>
            <ac:spMk id="17" creationId="{BB15F2A2-7C83-B9C0-54D1-3758910E7450}"/>
          </ac:spMkLst>
        </pc:spChg>
        <pc:spChg chg="add mod">
          <ac:chgData name="Karyn Ramos" userId="6874308616_tp_box_2" providerId="OAuth2" clId="{AA4A63E5-79D2-4C53-B33A-940CFE8034BF}" dt="2026-02-23T21:29:03.447" v="181" actId="20577"/>
          <ac:spMkLst>
            <pc:docMk/>
            <pc:sldMk cId="4185774806" sldId="646"/>
            <ac:spMk id="18" creationId="{A81001EB-696A-6913-8A82-6F2D650F63F8}"/>
          </ac:spMkLst>
        </pc:spChg>
        <pc:picChg chg="del">
          <ac:chgData name="Karyn Ramos" userId="6874308616_tp_box_2" providerId="OAuth2" clId="{AA4A63E5-79D2-4C53-B33A-940CFE8034BF}" dt="2026-02-23T21:27:00.873" v="7" actId="478"/>
          <ac:picMkLst>
            <pc:docMk/>
            <pc:sldMk cId="4185774806" sldId="646"/>
            <ac:picMk id="5" creationId="{73BC2C06-5104-82D0-29EA-97037F75CDCD}"/>
          </ac:picMkLst>
        </pc:picChg>
        <pc:picChg chg="add mod ord">
          <ac:chgData name="Karyn Ramos" userId="6874308616_tp_box_2" providerId="OAuth2" clId="{AA4A63E5-79D2-4C53-B33A-940CFE8034BF}" dt="2026-02-23T21:26:57.028" v="6" actId="167"/>
          <ac:picMkLst>
            <pc:docMk/>
            <pc:sldMk cId="4185774806" sldId="646"/>
            <ac:picMk id="7" creationId="{CF6D7727-D041-FF32-EF0E-5849F445CEB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22212-D69D-41E4-A547-75F507D8A64A}" type="datetimeFigureOut">
              <a:rPr lang="es-CL" smtClean="0"/>
              <a:t>17-03-2026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82945-6648-41CA-B880-4B10E0E03327}" type="slidenum">
              <a:rPr lang="es-CL" smtClean="0"/>
              <a:t>‹#›</a:t>
            </a:fld>
            <a:endParaRPr lang="es-CL"/>
          </a:p>
        </p:txBody>
      </p:sp>
    </p:spTree>
    <p:extLst>
      <p:ext uri="{BB962C8B-B14F-4D97-AF65-F5344CB8AC3E}">
        <p14:creationId xmlns:p14="http://schemas.microsoft.com/office/powerpoint/2010/main" val="12590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dirty="0"/>
          </a:p>
        </p:txBody>
      </p:sp>
      <p:sp>
        <p:nvSpPr>
          <p:cNvPr id="4" name="Marcador de número de diapositiva 3"/>
          <p:cNvSpPr>
            <a:spLocks noGrp="1"/>
          </p:cNvSpPr>
          <p:nvPr>
            <p:ph type="sldNum" sz="quarter" idx="5"/>
          </p:nvPr>
        </p:nvSpPr>
        <p:spPr/>
        <p:txBody>
          <a:bodyPr/>
          <a:lstStyle/>
          <a:p>
            <a:fld id="{BC2B7043-8BBF-43F6-8395-E81293822626}" type="slidenum">
              <a:rPr lang="es-419" smtClean="0"/>
              <a:t>61</a:t>
            </a:fld>
            <a:endParaRPr lang="es-419"/>
          </a:p>
        </p:txBody>
      </p:sp>
    </p:spTree>
    <p:extLst>
      <p:ext uri="{BB962C8B-B14F-4D97-AF65-F5344CB8AC3E}">
        <p14:creationId xmlns:p14="http://schemas.microsoft.com/office/powerpoint/2010/main" val="18010937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02082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775514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041614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330264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097355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681801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752292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0236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2932038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739423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6686135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2734486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706239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20415638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7790835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6351246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7632591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8390953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0143844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5727126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6899123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2890457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6915640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0009294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1582020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40813554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4750028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4461802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5843081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4962447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3886099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2449394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5361190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8488C-B055-D09C-D997-3A7FCA29454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4F822AF2-2615-432F-038F-912A880B9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726FCCEB-ACCA-75CB-F0DF-3F3BC5FBE983}"/>
              </a:ext>
            </a:extLst>
          </p:cNvPr>
          <p:cNvSpPr>
            <a:spLocks noGrp="1"/>
          </p:cNvSpPr>
          <p:nvPr>
            <p:ph type="dt" sz="half" idx="10"/>
          </p:nvPr>
        </p:nvSpPr>
        <p:spPr/>
        <p:txBody>
          <a:bodyPr/>
          <a:lstStyle/>
          <a:p>
            <a:fld id="{C9BA6134-9B25-412B-8FBF-B14BEDBA912D}" type="datetimeFigureOut">
              <a:rPr lang="es-CL" smtClean="0"/>
              <a:t>17-03-2026</a:t>
            </a:fld>
            <a:endParaRPr lang="es-CL"/>
          </a:p>
        </p:txBody>
      </p:sp>
      <p:sp>
        <p:nvSpPr>
          <p:cNvPr id="5" name="Marcador de pie de página 4">
            <a:extLst>
              <a:ext uri="{FF2B5EF4-FFF2-40B4-BE49-F238E27FC236}">
                <a16:creationId xmlns:a16="http://schemas.microsoft.com/office/drawing/2014/main" id="{6B0BEB1F-BCFD-D511-2592-8A4609C73A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6FC865D-B77C-F26A-FE70-2498C9B6F62F}"/>
              </a:ext>
            </a:extLst>
          </p:cNvPr>
          <p:cNvSpPr>
            <a:spLocks noGrp="1"/>
          </p:cNvSpPr>
          <p:nvPr>
            <p:ph type="sldNum" sz="quarter" idx="12"/>
          </p:nvPr>
        </p:nvSpPr>
        <p:spPr/>
        <p:txBody>
          <a:bodyPr/>
          <a:lstStyle/>
          <a:p>
            <a:fld id="{BAD56BAB-9B7B-4C09-8A45-659D39241E09}" type="slidenum">
              <a:rPr lang="es-CL" smtClean="0"/>
              <a:t>‹#›</a:t>
            </a:fld>
            <a:endParaRPr lang="es-CL"/>
          </a:p>
        </p:txBody>
      </p:sp>
    </p:spTree>
    <p:extLst>
      <p:ext uri="{BB962C8B-B14F-4D97-AF65-F5344CB8AC3E}">
        <p14:creationId xmlns:p14="http://schemas.microsoft.com/office/powerpoint/2010/main" val="320046961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3041548649"/>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a:t>
            </a:fld>
            <a:endParaRPr lang="es-CL"/>
          </a:p>
        </p:txBody>
      </p:sp>
    </p:spTree>
    <p:extLst>
      <p:ext uri="{BB962C8B-B14F-4D97-AF65-F5344CB8AC3E}">
        <p14:creationId xmlns:p14="http://schemas.microsoft.com/office/powerpoint/2010/main" val="3671706913"/>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a:t>
            </a:fld>
            <a:endParaRPr lang="es-CL"/>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1134917721"/>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915501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11855533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699243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3525740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16674933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21626321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86837700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74253172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56147425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09663950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31642439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4439827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87222077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61003925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49126940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78001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96659424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26770384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3617350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pn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18" Type="http://schemas.openxmlformats.org/officeDocument/2006/relationships/slideLayout" Target="../slideLayouts/slideLayout5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slideLayout" Target="../slideLayouts/slideLayout54.xml"/><Relationship Id="rId2" Type="http://schemas.openxmlformats.org/officeDocument/2006/relationships/slideLayout" Target="../slideLayouts/slideLayout39.xml"/><Relationship Id="rId16" Type="http://schemas.openxmlformats.org/officeDocument/2006/relationships/slideLayout" Target="../slideLayouts/slideLayout53.xml"/><Relationship Id="rId20" Type="http://schemas.openxmlformats.org/officeDocument/2006/relationships/theme" Target="../theme/theme2.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slideLayout" Target="../slideLayouts/slideLayout52.xml"/><Relationship Id="rId10" Type="http://schemas.openxmlformats.org/officeDocument/2006/relationships/slideLayout" Target="../slideLayouts/slideLayout47.xml"/><Relationship Id="rId19" Type="http://schemas.openxmlformats.org/officeDocument/2006/relationships/slideLayout" Target="../slideLayouts/slideLayout56.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31236636"/>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6" r:id="rId35"/>
    <p:sldLayoutId id="2147483747" r:id="rId36"/>
    <p:sldLayoutId id="2147483748" r:id="rId37"/>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8919688"/>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 id="2147483768" r:id="rId18"/>
    <p:sldLayoutId id="2147483769"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7.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7.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7.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7.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7.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7.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7.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7.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7.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5.png"/><Relationship Id="rId1" Type="http://schemas.openxmlformats.org/officeDocument/2006/relationships/slideLayout" Target="../slideLayouts/slideLayout37.xml"/><Relationship Id="rId4" Type="http://schemas.openxmlformats.org/officeDocument/2006/relationships/image" Target="../media/image36.png"/></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7.png"/><Relationship Id="rId1" Type="http://schemas.openxmlformats.org/officeDocument/2006/relationships/slideLayout" Target="../slideLayouts/slideLayout37.xml"/></Relationships>
</file>

<file path=ppt/slides/_rels/slide4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7.xml"/></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37.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7.xml"/></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7.xml"/></Relationships>
</file>

<file path=ppt/slides/_rels/slide4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7.xml"/></Relationships>
</file>

<file path=ppt/slides/_rels/slide4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7.xml"/></Relationships>
</file>

<file path=ppt/slides/_rels/slide4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7.xml"/></Relationships>
</file>

<file path=ppt/slides/_rels/slide4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7.xml"/></Relationships>
</file>

<file path=ppt/slides/_rels/slide5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7.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7.xml"/></Relationships>
</file>

<file path=ppt/slides/_rels/slide5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7.xml"/></Relationships>
</file>

<file path=ppt/slides/_rels/slide5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7.xml"/></Relationships>
</file>

<file path=ppt/slides/_rels/slide5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7.xml"/></Relationships>
</file>

<file path=ppt/slides/_rels/slide5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7.xml"/></Relationships>
</file>

<file path=ppt/slides/_rels/slide5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7.xml"/></Relationships>
</file>

<file path=ppt/slides/_rels/slide5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7.xml"/></Relationships>
</file>

<file path=ppt/slides/_rels/slide6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62.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png"/><Relationship Id="rId1" Type="http://schemas.openxmlformats.org/officeDocument/2006/relationships/slideLayout" Target="../slideLayouts/slideLayout15.xml"/><Relationship Id="rId5" Type="http://schemas.openxmlformats.org/officeDocument/2006/relationships/image" Target="../media/image56.svg"/><Relationship Id="rId4"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D381F98-39A1-4ACC-B642-A72023AF9BC1}"/>
              </a:ext>
            </a:extLst>
          </p:cNvPr>
          <p:cNvSpPr>
            <a:spLocks noGrp="1"/>
          </p:cNvSpPr>
          <p:nvPr>
            <p:ph type="body" sz="quarter" idx="10"/>
          </p:nvPr>
        </p:nvSpPr>
        <p:spPr>
          <a:xfrm>
            <a:off x="556902" y="2249757"/>
            <a:ext cx="5427132" cy="1832105"/>
          </a:xfrm>
        </p:spPr>
        <p:txBody>
          <a:bodyPr/>
          <a:lstStyle/>
          <a:p>
            <a:r>
              <a:rPr lang="es-419" sz="4400" dirty="0"/>
              <a:t>Gestionar homologación y convalidación</a:t>
            </a:r>
            <a:endParaRPr lang="es-CL" dirty="0">
              <a:latin typeface="+mj-lt"/>
            </a:endParaRPr>
          </a:p>
        </p:txBody>
      </p:sp>
      <p:sp>
        <p:nvSpPr>
          <p:cNvPr id="4" name="Marcador de texto 3">
            <a:extLst>
              <a:ext uri="{FF2B5EF4-FFF2-40B4-BE49-F238E27FC236}">
                <a16:creationId xmlns:a16="http://schemas.microsoft.com/office/drawing/2014/main" id="{A1EF17AF-28D3-D529-32AF-17D3B44889E9}"/>
              </a:ext>
            </a:extLst>
          </p:cNvPr>
          <p:cNvSpPr>
            <a:spLocks noGrp="1"/>
          </p:cNvSpPr>
          <p:nvPr>
            <p:ph type="body" sz="quarter" idx="11"/>
          </p:nvPr>
        </p:nvSpPr>
        <p:spPr>
          <a:xfrm>
            <a:off x="556902" y="4116116"/>
            <a:ext cx="5427132" cy="292452"/>
          </a:xfrm>
        </p:spPr>
        <p:txBody>
          <a:bodyPr/>
          <a:lstStyle/>
          <a:p>
            <a:r>
              <a:rPr lang="es-ES" sz="1800" dirty="0"/>
              <a:t>Instructivo</a:t>
            </a:r>
            <a:endParaRPr lang="es-CL" dirty="0"/>
          </a:p>
        </p:txBody>
      </p:sp>
      <p:sp>
        <p:nvSpPr>
          <p:cNvPr id="5" name="Marcador de texto 4">
            <a:extLst>
              <a:ext uri="{FF2B5EF4-FFF2-40B4-BE49-F238E27FC236}">
                <a16:creationId xmlns:a16="http://schemas.microsoft.com/office/drawing/2014/main" id="{2FA6B18F-EA2A-7CBC-3E93-C1F7F4E03498}"/>
              </a:ext>
            </a:extLst>
          </p:cNvPr>
          <p:cNvSpPr>
            <a:spLocks noGrp="1"/>
          </p:cNvSpPr>
          <p:nvPr>
            <p:ph type="body" sz="quarter" idx="12"/>
          </p:nvPr>
        </p:nvSpPr>
        <p:spPr>
          <a:xfrm>
            <a:off x="556902" y="5609784"/>
            <a:ext cx="3032274" cy="398058"/>
          </a:xfrm>
        </p:spPr>
        <p:txBody>
          <a:bodyPr/>
          <a:lstStyle/>
          <a:p>
            <a:r>
              <a:rPr lang="es-419" dirty="0"/>
              <a:t>Consultor</a:t>
            </a:r>
          </a:p>
          <a:p>
            <a:r>
              <a:rPr lang="es-419" dirty="0"/>
              <a:t>Cargo</a:t>
            </a:r>
          </a:p>
        </p:txBody>
      </p:sp>
      <p:sp>
        <p:nvSpPr>
          <p:cNvPr id="6" name="Marcador de texto 5">
            <a:extLst>
              <a:ext uri="{FF2B5EF4-FFF2-40B4-BE49-F238E27FC236}">
                <a16:creationId xmlns:a16="http://schemas.microsoft.com/office/drawing/2014/main" id="{02B8D634-B6EC-EA97-64CD-E7384A7ED8CA}"/>
              </a:ext>
            </a:extLst>
          </p:cNvPr>
          <p:cNvSpPr>
            <a:spLocks noGrp="1"/>
          </p:cNvSpPr>
          <p:nvPr>
            <p:ph type="body" sz="quarter" idx="13"/>
          </p:nvPr>
        </p:nvSpPr>
        <p:spPr/>
        <p:txBody>
          <a:bodyPr/>
          <a:lstStyle/>
          <a:p>
            <a:r>
              <a:rPr lang="es-419" dirty="0"/>
              <a:t>Mes, Año</a:t>
            </a:r>
          </a:p>
        </p:txBody>
      </p:sp>
      <p:pic>
        <p:nvPicPr>
          <p:cNvPr id="8" name="Marcador de posición de imagen 7" descr="Un grupo de folletos sobre una mesa de madera&#10;&#10;El contenido generado por IA puede ser incorrecto.">
            <a:extLst>
              <a:ext uri="{FF2B5EF4-FFF2-40B4-BE49-F238E27FC236}">
                <a16:creationId xmlns:a16="http://schemas.microsoft.com/office/drawing/2014/main" id="{73B7D4A3-AAFA-653D-DBA8-99AD780EE2A8}"/>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17881" r="17881"/>
          <a:stretch>
            <a:fillRect/>
          </a:stretch>
        </p:blipFill>
        <p:spPr/>
      </p:pic>
    </p:spTree>
    <p:extLst>
      <p:ext uri="{BB962C8B-B14F-4D97-AF65-F5344CB8AC3E}">
        <p14:creationId xmlns:p14="http://schemas.microsoft.com/office/powerpoint/2010/main" val="3353114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homologación y convalidación</a:t>
            </a:r>
          </a:p>
        </p:txBody>
      </p:sp>
      <p:graphicFrame>
        <p:nvGraphicFramePr>
          <p:cNvPr id="4" name="Table 2">
            <a:extLst>
              <a:ext uri="{FF2B5EF4-FFF2-40B4-BE49-F238E27FC236}">
                <a16:creationId xmlns:a16="http://schemas.microsoft.com/office/drawing/2014/main" id="{86028BF8-A141-2E97-2FAA-0A37BCE60D2D}"/>
              </a:ext>
            </a:extLst>
          </p:cNvPr>
          <p:cNvGraphicFramePr>
            <a:graphicFrameLocks noGrp="1"/>
          </p:cNvGraphicFramePr>
          <p:nvPr>
            <p:extLst>
              <p:ext uri="{D42A27DB-BD31-4B8C-83A1-F6EECF244321}">
                <p14:modId xmlns:p14="http://schemas.microsoft.com/office/powerpoint/2010/main" val="3653974146"/>
              </p:ext>
            </p:extLst>
          </p:nvPr>
        </p:nvGraphicFramePr>
        <p:xfrm>
          <a:off x="786088" y="1651015"/>
          <a:ext cx="9058128" cy="3256796"/>
        </p:xfrm>
        <a:graphic>
          <a:graphicData uri="http://schemas.openxmlformats.org/drawingml/2006/table">
            <a:tbl>
              <a:tblPr>
                <a:tableStyleId>{5C22544A-7EE6-4342-B048-85BDC9FD1C3A}</a:tableStyleId>
              </a:tblPr>
              <a:tblGrid>
                <a:gridCol w="930128">
                  <a:extLst>
                    <a:ext uri="{9D8B030D-6E8A-4147-A177-3AD203B41FA5}">
                      <a16:colId xmlns:a16="http://schemas.microsoft.com/office/drawing/2014/main" val="1835725686"/>
                    </a:ext>
                  </a:extLst>
                </a:gridCol>
                <a:gridCol w="8128000">
                  <a:extLst>
                    <a:ext uri="{9D8B030D-6E8A-4147-A177-3AD203B41FA5}">
                      <a16:colId xmlns:a16="http://schemas.microsoft.com/office/drawing/2014/main" val="52046442"/>
                    </a:ext>
                  </a:extLst>
                </a:gridCol>
              </a:tblGrid>
              <a:tr h="814199">
                <a:tc>
                  <a:txBody>
                    <a:bodyPr/>
                    <a:lstStyle/>
                    <a:p>
                      <a:r>
                        <a:rPr lang="en-US" sz="2800" b="1" dirty="0">
                          <a:solidFill>
                            <a:schemeClr val="bg1"/>
                          </a:solidFill>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2800" b="1" dirty="0">
                          <a:solidFill>
                            <a:schemeClr val="bg1"/>
                          </a:solidFill>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n-US" sz="2800" b="1" dirty="0">
                          <a:solidFill>
                            <a:schemeClr val="bg1"/>
                          </a:solidFill>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dirty="0">
                          <a:solidFill>
                            <a:schemeClr val="bg1"/>
                          </a:solidFill>
                        </a:rPr>
                        <a:t>Gestionar homologación y convalidación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814199">
                <a:tc>
                  <a:txBody>
                    <a:bodyPr/>
                    <a:lstStyle/>
                    <a:p>
                      <a:r>
                        <a:rPr lang="en-US" sz="2800" b="1" dirty="0">
                          <a:solidFill>
                            <a:schemeClr val="bg1"/>
                          </a:solidFill>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Resumen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homologación y convalidación</a:t>
            </a:r>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sz="3200" b="1" dirty="0">
                <a:solidFill>
                  <a:schemeClr val="bg1"/>
                </a:solidFill>
              </a:rPr>
              <a:t>Overview</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2650576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419" sz="1200" dirty="0"/>
              <a:t>Gestionar homologación y convalidación</a:t>
            </a:r>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a:lstStyle/>
          <a:p>
            <a:r>
              <a:rPr lang="es-ES_tradnl" dirty="0">
                <a:solidFill>
                  <a:schemeClr val="tx2"/>
                </a:solidFill>
              </a:rPr>
              <a:t>Overview: Mapa de Capacidades</a:t>
            </a:r>
            <a:endParaRPr lang="en-US" dirty="0">
              <a:solidFill>
                <a:schemeClr val="tx2"/>
              </a:solidFill>
            </a:endParaRPr>
          </a:p>
        </p:txBody>
      </p:sp>
      <p:pic>
        <p:nvPicPr>
          <p:cNvPr id="2" name="Picture 2">
            <a:extLst>
              <a:ext uri="{FF2B5EF4-FFF2-40B4-BE49-F238E27FC236}">
                <a16:creationId xmlns:a16="http://schemas.microsoft.com/office/drawing/2014/main" id="{C924EDD9-BB34-838E-0641-D8319504714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50" t="3607" r="2974"/>
          <a:stretch>
            <a:fillRect/>
          </a:stretch>
        </p:blipFill>
        <p:spPr bwMode="auto">
          <a:xfrm>
            <a:off x="609601" y="1289303"/>
            <a:ext cx="11225781" cy="457850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73636E31-15E0-EFE1-E7DD-992860995E99}"/>
              </a:ext>
            </a:extLst>
          </p:cNvPr>
          <p:cNvSpPr/>
          <p:nvPr/>
        </p:nvSpPr>
        <p:spPr>
          <a:xfrm>
            <a:off x="922020" y="2956764"/>
            <a:ext cx="2269236" cy="62179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733128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9D552BA8-E40D-BE5E-B33E-255C974B1B45}"/>
              </a:ext>
            </a:extLst>
          </p:cNvPr>
          <p:cNvSpPr>
            <a:spLocks noGrp="1"/>
          </p:cNvSpPr>
          <p:nvPr>
            <p:ph type="body" sz="quarter" idx="18"/>
          </p:nvPr>
        </p:nvSpPr>
        <p:spPr>
          <a:xfrm>
            <a:off x="1104900" y="2177143"/>
            <a:ext cx="9698935" cy="1946284"/>
          </a:xfrm>
        </p:spPr>
        <p:txBody>
          <a:bodyPr anchor="ctr"/>
          <a:lstStyle/>
          <a:p>
            <a:pPr marL="285750" lvl="0" indent="-285750" algn="just">
              <a:buClr>
                <a:srgbClr val="0CB4B4"/>
              </a:buClr>
              <a:buFont typeface="Wingdings" panose="05000000000000000000" pitchFamily="2" charset="2"/>
              <a:buChar char="q"/>
            </a:pPr>
            <a:r>
              <a:rPr lang="es-419" sz="2400" dirty="0">
                <a:solidFill>
                  <a:srgbClr val="7030A0"/>
                </a:solidFill>
              </a:rPr>
              <a:t>Tiene como propósito administrar el proceso de inscripción y retiro de las asignaturas que los estudiantes cursarían para un periodo académico, utilizando los modelos de inscripción y sus características como lo fuera la inscripción básica, estructurada o proyectada, así como la gestión de turnos, inscripción por bloques, listas de esperas, sobrepasos, entre otros.</a:t>
            </a:r>
            <a:endParaRPr lang="es-CO" sz="2400" dirty="0"/>
          </a:p>
        </p:txBody>
      </p:sp>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p:txBody>
          <a:bodyPr/>
          <a:lstStyle/>
          <a:p>
            <a:r>
              <a:rPr lang="es-ES_tradnl" dirty="0">
                <a:solidFill>
                  <a:schemeClr val="tx2"/>
                </a:solidFill>
              </a:rPr>
              <a:t>Overview: </a:t>
            </a:r>
            <a:r>
              <a:rPr lang="es-CO" dirty="0">
                <a:solidFill>
                  <a:schemeClr val="tx2"/>
                </a:solidFill>
              </a:rPr>
              <a:t>Capacidad Admisión del Estudiante</a:t>
            </a:r>
            <a:endParaRPr lang="es-CL" dirty="0">
              <a:solidFill>
                <a:schemeClr val="tx2"/>
              </a:solidFill>
            </a:endParaRPr>
          </a:p>
        </p:txBody>
      </p:sp>
    </p:spTree>
    <p:extLst>
      <p:ext uri="{BB962C8B-B14F-4D97-AF65-F5344CB8AC3E}">
        <p14:creationId xmlns:p14="http://schemas.microsoft.com/office/powerpoint/2010/main" val="1504878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1027871" y="2191108"/>
            <a:ext cx="10136257" cy="4070543"/>
          </a:xfrm>
        </p:spPr>
        <p:txBody>
          <a:bodyPr vert="horz" lIns="91440" tIns="45720" rIns="91440" bIns="45720" rtlCol="0" anchor="t">
            <a:noAutofit/>
          </a:bodyPr>
          <a:lstStyle/>
          <a:p>
            <a:pPr marL="285750" indent="-285750">
              <a:buClr>
                <a:srgbClr val="0CB4B4"/>
              </a:buClr>
              <a:buFont typeface="Wingdings" panose="05000000000000000000" pitchFamily="2" charset="2"/>
              <a:buChar char="q"/>
            </a:pPr>
            <a:r>
              <a:rPr lang="es-ES" sz="2800" b="1" dirty="0">
                <a:solidFill>
                  <a:srgbClr val="7030A0"/>
                </a:solidFill>
              </a:rPr>
              <a:t>Avance Académico</a:t>
            </a:r>
          </a:p>
        </p:txBody>
      </p:sp>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p:txBody>
          <a:bodyPr/>
          <a:lstStyle/>
          <a:p>
            <a:r>
              <a:rPr lang="es-ES_tradnl" dirty="0">
                <a:solidFill>
                  <a:schemeClr val="tx2"/>
                </a:solidFill>
              </a:rPr>
              <a:t>Overview: </a:t>
            </a:r>
            <a:r>
              <a:rPr lang="es-CO" dirty="0">
                <a:solidFill>
                  <a:schemeClr val="tx2"/>
                </a:solidFill>
              </a:rPr>
              <a:t>Capacidad Admisión del Estudiante</a:t>
            </a:r>
            <a:endParaRPr lang="es-CL" dirty="0">
              <a:solidFill>
                <a:schemeClr val="tx2"/>
              </a:solidFill>
            </a:endParaRPr>
          </a:p>
        </p:txBody>
      </p:sp>
    </p:spTree>
    <p:extLst>
      <p:ext uri="{BB962C8B-B14F-4D97-AF65-F5344CB8AC3E}">
        <p14:creationId xmlns:p14="http://schemas.microsoft.com/office/powerpoint/2010/main" val="167875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homologación y convalidación</a:t>
            </a:r>
          </a:p>
        </p:txBody>
      </p:sp>
      <p:sp>
        <p:nvSpPr>
          <p:cNvPr id="9" name="CuadroTexto 8">
            <a:extLst>
              <a:ext uri="{FF2B5EF4-FFF2-40B4-BE49-F238E27FC236}">
                <a16:creationId xmlns:a16="http://schemas.microsoft.com/office/drawing/2014/main" id="{CDA0D89D-33DC-4151-D805-A43C6E21B822}"/>
              </a:ext>
            </a:extLst>
          </p:cNvPr>
          <p:cNvSpPr txBox="1"/>
          <p:nvPr/>
        </p:nvSpPr>
        <p:spPr>
          <a:xfrm>
            <a:off x="8921175" y="2785533"/>
            <a:ext cx="2111475" cy="584775"/>
          </a:xfrm>
          <a:prstGeom prst="rect">
            <a:avLst/>
          </a:prstGeom>
          <a:noFill/>
        </p:spPr>
        <p:txBody>
          <a:bodyPr wrap="none" rtlCol="0">
            <a:spAutoFit/>
          </a:bodyPr>
          <a:lstStyle/>
          <a:p>
            <a:r>
              <a:rPr lang="es-ES_tradnl" sz="3200" b="1" dirty="0"/>
              <a:t>Todo LAC</a:t>
            </a:r>
          </a:p>
        </p:txBody>
      </p:sp>
      <p:sp>
        <p:nvSpPr>
          <p:cNvPr id="7" name="Título 3">
            <a:extLst>
              <a:ext uri="{FF2B5EF4-FFF2-40B4-BE49-F238E27FC236}">
                <a16:creationId xmlns:a16="http://schemas.microsoft.com/office/drawing/2014/main" id="{41A78240-C607-71D5-FFEE-AC493BD21BE1}"/>
              </a:ext>
            </a:extLst>
          </p:cNvPr>
          <p:cNvSpPr txBox="1">
            <a:spLocks/>
          </p:cNvSpPr>
          <p:nvPr/>
        </p:nvSpPr>
        <p:spPr>
          <a:xfrm>
            <a:off x="1104900" y="276729"/>
            <a:ext cx="10477497" cy="104674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tx2"/>
                </a:solidFill>
              </a:rPr>
              <a:t>Overview: </a:t>
            </a:r>
            <a:r>
              <a:rPr lang="es-CO" dirty="0">
                <a:solidFill>
                  <a:schemeClr val="tx2"/>
                </a:solidFill>
              </a:rPr>
              <a:t>Capacidad Admisión del Estudiante</a:t>
            </a:r>
            <a:r>
              <a:rPr lang="es-419" dirty="0">
                <a:solidFill>
                  <a:schemeClr val="tx2"/>
                </a:solidFill>
              </a:rPr>
              <a:t>– Avance Académico</a:t>
            </a:r>
            <a:endParaRPr lang="es-CL" dirty="0">
              <a:solidFill>
                <a:schemeClr val="tx2"/>
              </a:solidFill>
            </a:endParaRPr>
          </a:p>
        </p:txBody>
      </p:sp>
      <p:pic>
        <p:nvPicPr>
          <p:cNvPr id="2" name="Picture 1">
            <a:extLst>
              <a:ext uri="{FF2B5EF4-FFF2-40B4-BE49-F238E27FC236}">
                <a16:creationId xmlns:a16="http://schemas.microsoft.com/office/drawing/2014/main" id="{AFC9F69B-4102-9906-86ED-BC7FD799D1E5}"/>
              </a:ext>
            </a:extLst>
          </p:cNvPr>
          <p:cNvPicPr>
            <a:picLocks noChangeAspect="1"/>
          </p:cNvPicPr>
          <p:nvPr/>
        </p:nvPicPr>
        <p:blipFill>
          <a:blip r:embed="rId2"/>
          <a:stretch>
            <a:fillRect/>
          </a:stretch>
        </p:blipFill>
        <p:spPr>
          <a:xfrm>
            <a:off x="2245575" y="1584355"/>
            <a:ext cx="5111496" cy="5111496"/>
          </a:xfrm>
          <a:prstGeom prst="rect">
            <a:avLst/>
          </a:prstGeom>
        </p:spPr>
      </p:pic>
    </p:spTree>
    <p:extLst>
      <p:ext uri="{BB962C8B-B14F-4D97-AF65-F5344CB8AC3E}">
        <p14:creationId xmlns:p14="http://schemas.microsoft.com/office/powerpoint/2010/main" val="1448098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Gestionar homologación y convalidación</a:t>
            </a:r>
          </a:p>
        </p:txBody>
      </p:sp>
      <p:sp>
        <p:nvSpPr>
          <p:cNvPr id="6" name="Título 3">
            <a:extLst>
              <a:ext uri="{FF2B5EF4-FFF2-40B4-BE49-F238E27FC236}">
                <a16:creationId xmlns:a16="http://schemas.microsoft.com/office/drawing/2014/main" id="{CCA54959-6279-D1AE-349E-8840E0B3CBEC}"/>
              </a:ext>
            </a:extLst>
          </p:cNvPr>
          <p:cNvSpPr txBox="1">
            <a:spLocks/>
          </p:cNvSpPr>
          <p:nvPr/>
        </p:nvSpPr>
        <p:spPr>
          <a:xfrm>
            <a:off x="1104900" y="45212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tx2"/>
                </a:solidFill>
              </a:rPr>
              <a:t>Overview: </a:t>
            </a:r>
            <a:r>
              <a:rPr lang="es-CO" dirty="0">
                <a:solidFill>
                  <a:schemeClr val="tx2"/>
                </a:solidFill>
              </a:rPr>
              <a:t>Capacidad Admisión del Estudiante</a:t>
            </a:r>
            <a:r>
              <a:rPr lang="es-419" dirty="0">
                <a:solidFill>
                  <a:schemeClr val="tx2"/>
                </a:solidFill>
              </a:rPr>
              <a:t>– Avance Académico – Gestionar homologación y convalidación</a:t>
            </a:r>
          </a:p>
          <a:p>
            <a:endParaRPr lang="es-419" sz="3200" dirty="0"/>
          </a:p>
        </p:txBody>
      </p:sp>
      <p:pic>
        <p:nvPicPr>
          <p:cNvPr id="2" name="Picture 7" descr="A diagram of a diagram&#10;&#10;Description automatically generated with medium confidence">
            <a:extLst>
              <a:ext uri="{FF2B5EF4-FFF2-40B4-BE49-F238E27FC236}">
                <a16:creationId xmlns:a16="http://schemas.microsoft.com/office/drawing/2014/main" id="{DC5B78B9-83A2-A97A-0AF6-685E097C6B8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28602" y="2306341"/>
            <a:ext cx="8862847" cy="3768422"/>
          </a:xfrm>
          <a:prstGeom prst="rect">
            <a:avLst/>
          </a:prstGeom>
        </p:spPr>
      </p:pic>
    </p:spTree>
    <p:extLst>
      <p:ext uri="{BB962C8B-B14F-4D97-AF65-F5344CB8AC3E}">
        <p14:creationId xmlns:p14="http://schemas.microsoft.com/office/powerpoint/2010/main" val="675546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1027871" y="2159000"/>
            <a:ext cx="10136257" cy="4102652"/>
          </a:xfrm>
        </p:spPr>
        <p:txBody>
          <a:bodyPr vert="horz" lIns="91440" tIns="45720" rIns="91440" bIns="45720" rtlCol="0" anchor="t">
            <a:noAutofit/>
          </a:bodyPr>
          <a:lstStyle/>
          <a:p>
            <a:pPr marL="285750" indent="-285750" algn="just">
              <a:buClr>
                <a:srgbClr val="0CB4B4"/>
              </a:buClr>
              <a:buFont typeface="Wingdings" panose="05000000000000000000" pitchFamily="2" charset="2"/>
              <a:buChar char="q"/>
            </a:pPr>
            <a:r>
              <a:rPr lang="es-419" sz="2000" dirty="0">
                <a:solidFill>
                  <a:srgbClr val="7030A0"/>
                </a:solidFill>
              </a:rPr>
              <a:t>El proceso busca reconocer los conocimientos académicos previos que posea el estudiante y que hayan sido desarrollados en otras instituciones, pudiendo provenir una o varias instituciones, así como de uno o varios periodos. </a:t>
            </a:r>
          </a:p>
          <a:p>
            <a:pPr marL="285750" indent="-285750" algn="just">
              <a:buClr>
                <a:srgbClr val="0CB4B4"/>
              </a:buClr>
              <a:buFont typeface="Wingdings" panose="05000000000000000000" pitchFamily="2" charset="2"/>
              <a:buChar char="q"/>
            </a:pPr>
            <a:r>
              <a:rPr lang="es-419" sz="2000" dirty="0">
                <a:solidFill>
                  <a:srgbClr val="7030A0"/>
                </a:solidFill>
              </a:rPr>
              <a:t>Este proceso permite dar cumplimiento a uno o varios requerimientos académicos del plan de estudios, tradicionalmente relacionados a las asignaturas de la institución.</a:t>
            </a:r>
          </a:p>
          <a:p>
            <a:pPr marL="285750" indent="-285750" algn="just">
              <a:buClr>
                <a:srgbClr val="0CB4B4"/>
              </a:buClr>
              <a:buFont typeface="Wingdings" panose="05000000000000000000" pitchFamily="2" charset="2"/>
              <a:buChar char="q"/>
            </a:pPr>
            <a:r>
              <a:rPr lang="es-CL" sz="2000" dirty="0">
                <a:solidFill>
                  <a:srgbClr val="7030A0"/>
                </a:solidFill>
              </a:rPr>
              <a:t>S</a:t>
            </a:r>
            <a:r>
              <a:rPr lang="es-419" sz="2000" dirty="0">
                <a:solidFill>
                  <a:srgbClr val="7030A0"/>
                </a:solidFill>
              </a:rPr>
              <a:t>e definirá como Homologaciones, aquellos reconocimientos de conocimientos académicos previos que hayan sido desarrollados en la propia institución, pudiendo provenir desde planes de estudios previos u otros programas de estudios (cuando correspondan a asignaturas con códigos y nombre diferentes que son equivalentes)</a:t>
            </a:r>
          </a:p>
        </p:txBody>
      </p:sp>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Gestionar homologación y convalidación</a:t>
            </a:r>
          </a:p>
        </p:txBody>
      </p:sp>
      <p:sp>
        <p:nvSpPr>
          <p:cNvPr id="7" name="Título 3">
            <a:extLst>
              <a:ext uri="{FF2B5EF4-FFF2-40B4-BE49-F238E27FC236}">
                <a16:creationId xmlns:a16="http://schemas.microsoft.com/office/drawing/2014/main" id="{A689903E-A1E9-3FDB-E3F5-70E6191E6227}"/>
              </a:ext>
            </a:extLst>
          </p:cNvPr>
          <p:cNvSpPr txBox="1">
            <a:spLocks/>
          </p:cNvSpPr>
          <p:nvPr/>
        </p:nvSpPr>
        <p:spPr>
          <a:xfrm>
            <a:off x="1104900" y="45212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err="1">
                <a:solidFill>
                  <a:schemeClr val="tx2"/>
                </a:solidFill>
              </a:rPr>
              <a:t>Overview</a:t>
            </a:r>
            <a:r>
              <a:rPr lang="es-ES_tradnl" dirty="0">
                <a:solidFill>
                  <a:schemeClr val="tx2"/>
                </a:solidFill>
              </a:rPr>
              <a:t>: </a:t>
            </a:r>
            <a:r>
              <a:rPr lang="es-CO" dirty="0">
                <a:solidFill>
                  <a:schemeClr val="tx2"/>
                </a:solidFill>
              </a:rPr>
              <a:t>Capacidad Admisión del Estudiante</a:t>
            </a:r>
            <a:r>
              <a:rPr lang="es-419" dirty="0">
                <a:solidFill>
                  <a:schemeClr val="tx2"/>
                </a:solidFill>
              </a:rPr>
              <a:t>– Avance Académico – Gestionar homologación y convalidación</a:t>
            </a:r>
          </a:p>
          <a:p>
            <a:endParaRPr lang="es-419" sz="3200" dirty="0"/>
          </a:p>
        </p:txBody>
      </p:sp>
    </p:spTree>
    <p:extLst>
      <p:ext uri="{BB962C8B-B14F-4D97-AF65-F5344CB8AC3E}">
        <p14:creationId xmlns:p14="http://schemas.microsoft.com/office/powerpoint/2010/main" val="3559927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homologación y convalidación</a:t>
            </a:r>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dirty="0"/>
              <a:t>CONFIGURACIONES</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690636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97930327-A841-BD98-F5D4-90C466DE27A5}"/>
              </a:ext>
            </a:extLst>
          </p:cNvPr>
          <p:cNvSpPr>
            <a:spLocks noGrp="1"/>
          </p:cNvSpPr>
          <p:nvPr>
            <p:ph type="body" sz="quarter" idx="10"/>
          </p:nvPr>
        </p:nvSpPr>
        <p:spPr>
          <a:xfrm>
            <a:off x="914399" y="2238843"/>
            <a:ext cx="10363202" cy="669094"/>
          </a:xfrm>
        </p:spPr>
        <p:txBody>
          <a:bodyPr/>
          <a:lstStyle/>
          <a:p>
            <a:r>
              <a:rPr lang="es-419" dirty="0"/>
              <a:t>Definir Instituciones de Procedencia</a:t>
            </a:r>
          </a:p>
        </p:txBody>
      </p:sp>
      <p:sp>
        <p:nvSpPr>
          <p:cNvPr id="6" name="Marcador de texto 5">
            <a:extLst>
              <a:ext uri="{FF2B5EF4-FFF2-40B4-BE49-F238E27FC236}">
                <a16:creationId xmlns:a16="http://schemas.microsoft.com/office/drawing/2014/main" id="{0721CE13-EB46-9453-01D9-6B9EB51E2F73}"/>
              </a:ext>
            </a:extLst>
          </p:cNvPr>
          <p:cNvSpPr>
            <a:spLocks noGrp="1"/>
          </p:cNvSpPr>
          <p:nvPr>
            <p:ph type="body" sz="quarter" idx="11"/>
          </p:nvPr>
        </p:nvSpPr>
        <p:spPr>
          <a:xfrm>
            <a:off x="914399" y="3750468"/>
            <a:ext cx="10363202" cy="389915"/>
          </a:xfrm>
        </p:spPr>
        <p:txBody>
          <a:bodyPr/>
          <a:lstStyle/>
          <a:p>
            <a:r>
              <a:rPr lang="es-419" dirty="0"/>
              <a:t>Gestionar homologación y convalidación</a:t>
            </a:r>
          </a:p>
        </p:txBody>
      </p:sp>
    </p:spTree>
    <p:extLst>
      <p:ext uri="{BB962C8B-B14F-4D97-AF65-F5344CB8AC3E}">
        <p14:creationId xmlns:p14="http://schemas.microsoft.com/office/powerpoint/2010/main" val="2259071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ABB263D8-395D-7FAD-CDF4-3A3D516845EE}"/>
              </a:ext>
            </a:extLst>
          </p:cNvPr>
          <p:cNvPicPr>
            <a:picLocks noChangeAspect="1"/>
          </p:cNvPicPr>
          <p:nvPr/>
        </p:nvPicPr>
        <p:blipFill>
          <a:blip r:embed="rId2"/>
          <a:stretch>
            <a:fillRect/>
          </a:stretch>
        </p:blipFill>
        <p:spPr>
          <a:xfrm>
            <a:off x="810247" y="1336689"/>
            <a:ext cx="10772153" cy="4911247"/>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tx2"/>
                </a:solidFill>
              </a:rPr>
              <a:t>Premisa: </a:t>
            </a:r>
            <a:r>
              <a:rPr lang="es-419" dirty="0">
                <a:solidFill>
                  <a:schemeClr val="tx2"/>
                </a:solidFill>
              </a:rPr>
              <a:t>Validación de código de institución fuente/origen (</a:t>
            </a:r>
            <a:r>
              <a:rPr lang="es-ES_tradnl" dirty="0">
                <a:solidFill>
                  <a:schemeClr val="tx2"/>
                </a:solidFill>
              </a:rPr>
              <a:t>STVSBGI)</a:t>
            </a:r>
            <a:br>
              <a:rPr lang="es-CL" b="1" dirty="0">
                <a:effectLst/>
              </a:rPr>
            </a:br>
            <a:endParaRPr lang="es-CL" dirty="0"/>
          </a:p>
        </p:txBody>
      </p:sp>
      <p:sp>
        <p:nvSpPr>
          <p:cNvPr id="12" name="Rectángulo redondeado 5">
            <a:extLst>
              <a:ext uri="{FF2B5EF4-FFF2-40B4-BE49-F238E27FC236}">
                <a16:creationId xmlns:a16="http://schemas.microsoft.com/office/drawing/2014/main" id="{D5E806EA-793C-6056-8003-0CDE8AA0F2BC}"/>
              </a:ext>
            </a:extLst>
          </p:cNvPr>
          <p:cNvSpPr/>
          <p:nvPr/>
        </p:nvSpPr>
        <p:spPr>
          <a:xfrm>
            <a:off x="2847862" y="4787659"/>
            <a:ext cx="6244390" cy="100150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Se requiere que las distintas instituciones de origen de las cuales pudiéramos reconocer conocimientos previos del estudiante se encuentren contempladas en la nómina de STVSBGI, misma que fuera cargada en el Macroproceso Gestionar la Admisión.</a:t>
            </a:r>
          </a:p>
        </p:txBody>
      </p:sp>
    </p:spTree>
    <p:extLst>
      <p:ext uri="{BB962C8B-B14F-4D97-AF65-F5344CB8AC3E}">
        <p14:creationId xmlns:p14="http://schemas.microsoft.com/office/powerpoint/2010/main" val="3328105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DF830-BD6D-D76A-E659-A14017DAA30D}"/>
            </a:ext>
          </a:extLst>
        </p:cNvPr>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FF60F487-AF10-DC3D-B681-D6DFE6D6BBDC}"/>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EC504824-8D05-D1CF-9CCC-81D39BF61ED9}"/>
              </a:ext>
            </a:extLst>
          </p:cNvPr>
          <p:cNvSpPr>
            <a:spLocks noGrp="1"/>
          </p:cNvSpPr>
          <p:nvPr>
            <p:ph type="title"/>
          </p:nvPr>
        </p:nvSpPr>
        <p:spPr>
          <a:xfrm>
            <a:off x="810247" y="327992"/>
            <a:ext cx="10271883" cy="626165"/>
          </a:xfrm>
        </p:spPr>
        <p:txBody>
          <a:bodyPr/>
          <a:lstStyle/>
          <a:p>
            <a:r>
              <a:rPr lang="es-ES_tradnl" dirty="0">
                <a:solidFill>
                  <a:schemeClr val="tx2"/>
                </a:solidFill>
              </a:rPr>
              <a:t>Configuración: </a:t>
            </a:r>
            <a:r>
              <a:rPr lang="es-419" dirty="0">
                <a:solidFill>
                  <a:schemeClr val="tx2"/>
                </a:solidFill>
              </a:rPr>
              <a:t>Institución de articulación de transferencia</a:t>
            </a:r>
            <a:br>
              <a:rPr lang="es-419" dirty="0"/>
            </a:br>
            <a:r>
              <a:rPr lang="es-419" dirty="0">
                <a:solidFill>
                  <a:schemeClr val="tx2"/>
                </a:solidFill>
              </a:rPr>
              <a:t>(</a:t>
            </a:r>
            <a:r>
              <a:rPr lang="es-ES_tradnl" dirty="0">
                <a:solidFill>
                  <a:schemeClr val="tx2"/>
                </a:solidFill>
              </a:rPr>
              <a:t>SOABGTA)</a:t>
            </a:r>
            <a:br>
              <a:rPr lang="es-CL" b="1" dirty="0">
                <a:effectLst/>
              </a:rPr>
            </a:br>
            <a:endParaRPr lang="es-CL" dirty="0"/>
          </a:p>
        </p:txBody>
      </p:sp>
      <p:pic>
        <p:nvPicPr>
          <p:cNvPr id="5" name="Imagen 4">
            <a:extLst>
              <a:ext uri="{FF2B5EF4-FFF2-40B4-BE49-F238E27FC236}">
                <a16:creationId xmlns:a16="http://schemas.microsoft.com/office/drawing/2014/main" id="{DD93D415-AE26-7BD3-ADDB-269543078467}"/>
              </a:ext>
            </a:extLst>
          </p:cNvPr>
          <p:cNvPicPr>
            <a:picLocks noChangeAspect="1"/>
          </p:cNvPicPr>
          <p:nvPr/>
        </p:nvPicPr>
        <p:blipFill>
          <a:blip r:embed="rId2"/>
          <a:stretch>
            <a:fillRect/>
          </a:stretch>
        </p:blipFill>
        <p:spPr>
          <a:xfrm>
            <a:off x="810247" y="1352006"/>
            <a:ext cx="10772153" cy="854576"/>
          </a:xfrm>
          <a:prstGeom prst="rect">
            <a:avLst/>
          </a:prstGeom>
        </p:spPr>
      </p:pic>
      <p:sp>
        <p:nvSpPr>
          <p:cNvPr id="6" name="Rectángulo redondeado 5">
            <a:extLst>
              <a:ext uri="{FF2B5EF4-FFF2-40B4-BE49-F238E27FC236}">
                <a16:creationId xmlns:a16="http://schemas.microsoft.com/office/drawing/2014/main" id="{D0684B54-A126-5806-7A7A-699EB709659B}"/>
              </a:ext>
            </a:extLst>
          </p:cNvPr>
          <p:cNvSpPr/>
          <p:nvPr/>
        </p:nvSpPr>
        <p:spPr>
          <a:xfrm>
            <a:off x="2265971" y="3020290"/>
            <a:ext cx="7108939" cy="169949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Desde la página SOASBGA se configuran, de las instituciones definidas anteriormente, a cuáles se les  puede dar convalidaciones a los estudiantes que procedan de ellas. Para ello, siga los siguientes pasos:</a:t>
            </a:r>
          </a:p>
          <a:p>
            <a:pPr marL="228600" indent="-228600">
              <a:buFont typeface="+mj-lt"/>
              <a:buAutoNum type="arabicPeriod"/>
            </a:pPr>
            <a:r>
              <a:rPr lang="es-ES_tradnl" sz="1200" dirty="0"/>
              <a:t>Ingrese o seleccione el Código correspondiente a la Institución que se definirá válida para convalidaciones.</a:t>
            </a:r>
          </a:p>
          <a:p>
            <a:pPr marL="228600" indent="-228600">
              <a:buFont typeface="+mj-lt"/>
              <a:buAutoNum type="arabicPeriod"/>
            </a:pPr>
            <a:r>
              <a:rPr lang="es-ES_tradnl" sz="1200" dirty="0"/>
              <a:t>Ingrese el período a partir del cual se podrán otorgar convalidaciones para los estudiantes que procedan de la institución.</a:t>
            </a:r>
          </a:p>
          <a:p>
            <a:pPr marL="228600" indent="-228600">
              <a:buFont typeface="+mj-lt"/>
              <a:buAutoNum type="arabicPeriod" startAt="3"/>
            </a:pPr>
            <a:r>
              <a:rPr lang="es-ES_tradnl" sz="1200" dirty="0"/>
              <a:t>Presione el botón ‘Ir’.</a:t>
            </a:r>
          </a:p>
        </p:txBody>
      </p:sp>
      <p:sp>
        <p:nvSpPr>
          <p:cNvPr id="8" name="Rectángulo 7">
            <a:extLst>
              <a:ext uri="{FF2B5EF4-FFF2-40B4-BE49-F238E27FC236}">
                <a16:creationId xmlns:a16="http://schemas.microsoft.com/office/drawing/2014/main" id="{0C7B3412-2D31-267A-10A8-5D0AF0A91750}"/>
              </a:ext>
            </a:extLst>
          </p:cNvPr>
          <p:cNvSpPr/>
          <p:nvPr/>
        </p:nvSpPr>
        <p:spPr>
          <a:xfrm>
            <a:off x="1145761" y="1637756"/>
            <a:ext cx="2151622" cy="20503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863316F4-C15E-10CB-6C8D-B8956607CA85}"/>
              </a:ext>
            </a:extLst>
          </p:cNvPr>
          <p:cNvSpPr/>
          <p:nvPr/>
        </p:nvSpPr>
        <p:spPr>
          <a:xfrm>
            <a:off x="3216658" y="1863872"/>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
        <p:nvSpPr>
          <p:cNvPr id="10" name="Rectángulo 9">
            <a:extLst>
              <a:ext uri="{FF2B5EF4-FFF2-40B4-BE49-F238E27FC236}">
                <a16:creationId xmlns:a16="http://schemas.microsoft.com/office/drawing/2014/main" id="{595E5FBD-482E-6C4A-E24D-D3DF8C1D5783}"/>
              </a:ext>
            </a:extLst>
          </p:cNvPr>
          <p:cNvSpPr/>
          <p:nvPr/>
        </p:nvSpPr>
        <p:spPr>
          <a:xfrm>
            <a:off x="11224738" y="1666585"/>
            <a:ext cx="339194" cy="17620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B63F917E-DC04-40D6-403C-1E0BF5712EB8}"/>
              </a:ext>
            </a:extLst>
          </p:cNvPr>
          <p:cNvSpPr/>
          <p:nvPr/>
        </p:nvSpPr>
        <p:spPr>
          <a:xfrm>
            <a:off x="11024092" y="1842794"/>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3" name="Rectángulo 12">
            <a:extLst>
              <a:ext uri="{FF2B5EF4-FFF2-40B4-BE49-F238E27FC236}">
                <a16:creationId xmlns:a16="http://schemas.microsoft.com/office/drawing/2014/main" id="{5D30F039-2640-3151-098A-2C9B70F39877}"/>
              </a:ext>
            </a:extLst>
          </p:cNvPr>
          <p:cNvSpPr/>
          <p:nvPr/>
        </p:nvSpPr>
        <p:spPr>
          <a:xfrm>
            <a:off x="6096000" y="1633314"/>
            <a:ext cx="1597891" cy="20503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FA443E0B-7479-7B30-28B5-44F2985F1AC7}"/>
              </a:ext>
            </a:extLst>
          </p:cNvPr>
          <p:cNvSpPr/>
          <p:nvPr/>
        </p:nvSpPr>
        <p:spPr>
          <a:xfrm>
            <a:off x="7693891" y="1462581"/>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Tree>
    <p:extLst>
      <p:ext uri="{BB962C8B-B14F-4D97-AF65-F5344CB8AC3E}">
        <p14:creationId xmlns:p14="http://schemas.microsoft.com/office/powerpoint/2010/main" val="1855629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9152A-11D7-99A8-43C0-C03FBFC8DF22}"/>
            </a:ext>
          </a:extLst>
        </p:cNvPr>
        <p:cNvGrpSpPr/>
        <p:nvPr/>
      </p:nvGrpSpPr>
      <p:grpSpPr>
        <a:xfrm>
          <a:off x="0" y="0"/>
          <a:ext cx="0" cy="0"/>
          <a:chOff x="0" y="0"/>
          <a:chExt cx="0" cy="0"/>
        </a:xfrm>
      </p:grpSpPr>
      <p:pic>
        <p:nvPicPr>
          <p:cNvPr id="7" name="Imagen 6" descr="Interfaz de usuario gráfica, Aplicación, Teams&#10;&#10;El contenido generado por IA puede ser incorrecto.">
            <a:extLst>
              <a:ext uri="{FF2B5EF4-FFF2-40B4-BE49-F238E27FC236}">
                <a16:creationId xmlns:a16="http://schemas.microsoft.com/office/drawing/2014/main" id="{CF6D7727-D041-FF32-EF0E-5849F445CEBE}"/>
              </a:ext>
            </a:extLst>
          </p:cNvPr>
          <p:cNvPicPr>
            <a:picLocks noChangeAspect="1"/>
          </p:cNvPicPr>
          <p:nvPr/>
        </p:nvPicPr>
        <p:blipFill>
          <a:blip r:embed="rId2"/>
          <a:stretch>
            <a:fillRect/>
          </a:stretch>
        </p:blipFill>
        <p:spPr>
          <a:xfrm>
            <a:off x="810247" y="1324854"/>
            <a:ext cx="10753685" cy="4880390"/>
          </a:xfrm>
          <a:prstGeom prst="rect">
            <a:avLst/>
          </a:prstGeom>
        </p:spPr>
      </p:pic>
      <p:sp>
        <p:nvSpPr>
          <p:cNvPr id="3" name="Marcador de texto vertical 2">
            <a:extLst>
              <a:ext uri="{FF2B5EF4-FFF2-40B4-BE49-F238E27FC236}">
                <a16:creationId xmlns:a16="http://schemas.microsoft.com/office/drawing/2014/main" id="{F72F18DC-EB79-BEF8-2091-9AC5243ACF44}"/>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E4E3589B-7932-9323-1C08-8EF553402E41}"/>
              </a:ext>
            </a:extLst>
          </p:cNvPr>
          <p:cNvSpPr>
            <a:spLocks noGrp="1"/>
          </p:cNvSpPr>
          <p:nvPr>
            <p:ph type="title"/>
          </p:nvPr>
        </p:nvSpPr>
        <p:spPr>
          <a:xfrm>
            <a:off x="810247" y="327992"/>
            <a:ext cx="10271883" cy="626165"/>
          </a:xfrm>
        </p:spPr>
        <p:txBody>
          <a:bodyPr/>
          <a:lstStyle/>
          <a:p>
            <a:r>
              <a:rPr lang="es-ES_tradnl" dirty="0">
                <a:solidFill>
                  <a:schemeClr val="tx2"/>
                </a:solidFill>
              </a:rPr>
              <a:t>Configuración: </a:t>
            </a:r>
            <a:r>
              <a:rPr lang="es-419" dirty="0">
                <a:solidFill>
                  <a:schemeClr val="tx2"/>
                </a:solidFill>
              </a:rPr>
              <a:t>Institución de articulación de transferencia</a:t>
            </a:r>
            <a:br>
              <a:rPr lang="es-419" dirty="0"/>
            </a:br>
            <a:r>
              <a:rPr lang="es-419" dirty="0">
                <a:solidFill>
                  <a:schemeClr val="tx2"/>
                </a:solidFill>
              </a:rPr>
              <a:t>(</a:t>
            </a:r>
            <a:r>
              <a:rPr lang="es-ES_tradnl" dirty="0">
                <a:solidFill>
                  <a:schemeClr val="tx2"/>
                </a:solidFill>
              </a:rPr>
              <a:t>SOABGTA)</a:t>
            </a:r>
            <a:br>
              <a:rPr lang="es-CL" b="1" dirty="0">
                <a:effectLst/>
              </a:rPr>
            </a:br>
            <a:endParaRPr lang="es-CL" dirty="0"/>
          </a:p>
        </p:txBody>
      </p:sp>
      <p:sp>
        <p:nvSpPr>
          <p:cNvPr id="9" name="Rectángulo redondeado 15">
            <a:extLst>
              <a:ext uri="{FF2B5EF4-FFF2-40B4-BE49-F238E27FC236}">
                <a16:creationId xmlns:a16="http://schemas.microsoft.com/office/drawing/2014/main" id="{8BABF648-5BCA-7E6C-2B18-E4CEAE0D98E8}"/>
              </a:ext>
            </a:extLst>
          </p:cNvPr>
          <p:cNvSpPr/>
          <p:nvPr/>
        </p:nvSpPr>
        <p:spPr>
          <a:xfrm>
            <a:off x="8280364" y="2612131"/>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endParaRPr lang="es-419" sz="1100" noProof="0" dirty="0"/>
          </a:p>
        </p:txBody>
      </p:sp>
      <p:sp>
        <p:nvSpPr>
          <p:cNvPr id="12" name="Rectángulo redondeado 5">
            <a:extLst>
              <a:ext uri="{FF2B5EF4-FFF2-40B4-BE49-F238E27FC236}">
                <a16:creationId xmlns:a16="http://schemas.microsoft.com/office/drawing/2014/main" id="{33C03D31-5A55-57CB-00C3-D32B31ED2201}"/>
              </a:ext>
            </a:extLst>
          </p:cNvPr>
          <p:cNvSpPr/>
          <p:nvPr/>
        </p:nvSpPr>
        <p:spPr>
          <a:xfrm>
            <a:off x="2427420" y="4718649"/>
            <a:ext cx="7108939" cy="114630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En el bloque Información General:</a:t>
            </a:r>
          </a:p>
          <a:p>
            <a:pPr marL="228600" indent="-228600">
              <a:buFont typeface="+mj-lt"/>
              <a:buAutoNum type="arabicPeriod" startAt="4"/>
            </a:pPr>
            <a:r>
              <a:rPr lang="es-ES_tradnl" sz="1200" dirty="0"/>
              <a:t>Agregue un espacio en el campo “Reportado por” con el fin de que exista un dato en este bloque.</a:t>
            </a:r>
          </a:p>
          <a:p>
            <a:pPr marL="228600" indent="-228600">
              <a:buFont typeface="+mj-lt"/>
              <a:buAutoNum type="arabicPeriod" startAt="5"/>
            </a:pPr>
            <a:r>
              <a:rPr lang="es-ES_tradnl" sz="1200" dirty="0"/>
              <a:t>Guarde la información.</a:t>
            </a:r>
          </a:p>
          <a:p>
            <a:pPr marL="228600" indent="-228600">
              <a:buFont typeface="+mj-lt"/>
              <a:buAutoNum type="arabicPeriod" startAt="5"/>
            </a:pPr>
            <a:r>
              <a:rPr lang="es-ES_tradnl" sz="1200" dirty="0"/>
              <a:t>Pase al siguiente bloque.</a:t>
            </a:r>
          </a:p>
        </p:txBody>
      </p:sp>
      <p:sp>
        <p:nvSpPr>
          <p:cNvPr id="15" name="Rectángulo 14">
            <a:extLst>
              <a:ext uri="{FF2B5EF4-FFF2-40B4-BE49-F238E27FC236}">
                <a16:creationId xmlns:a16="http://schemas.microsoft.com/office/drawing/2014/main" id="{93460D60-232A-DC64-8AEE-4748FD24CF11}"/>
              </a:ext>
            </a:extLst>
          </p:cNvPr>
          <p:cNvSpPr/>
          <p:nvPr/>
        </p:nvSpPr>
        <p:spPr>
          <a:xfrm>
            <a:off x="11064878" y="5925334"/>
            <a:ext cx="523874" cy="16081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6" name="Rectángulo redondeado 15">
            <a:extLst>
              <a:ext uri="{FF2B5EF4-FFF2-40B4-BE49-F238E27FC236}">
                <a16:creationId xmlns:a16="http://schemas.microsoft.com/office/drawing/2014/main" id="{780E6CA7-E837-43EC-F659-5CD6A29032D0}"/>
              </a:ext>
            </a:extLst>
          </p:cNvPr>
          <p:cNvSpPr/>
          <p:nvPr/>
        </p:nvSpPr>
        <p:spPr>
          <a:xfrm>
            <a:off x="11037170" y="5716966"/>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5</a:t>
            </a:r>
            <a:endParaRPr lang="es-419" sz="1100" noProof="0" dirty="0"/>
          </a:p>
        </p:txBody>
      </p:sp>
      <p:sp>
        <p:nvSpPr>
          <p:cNvPr id="17" name="Rectángulo 16">
            <a:extLst>
              <a:ext uri="{FF2B5EF4-FFF2-40B4-BE49-F238E27FC236}">
                <a16:creationId xmlns:a16="http://schemas.microsoft.com/office/drawing/2014/main" id="{BB15F2A2-7C83-B9C0-54D1-3758910E7450}"/>
              </a:ext>
            </a:extLst>
          </p:cNvPr>
          <p:cNvSpPr/>
          <p:nvPr/>
        </p:nvSpPr>
        <p:spPr>
          <a:xfrm>
            <a:off x="1078950" y="5925334"/>
            <a:ext cx="275397" cy="16081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redondeado 15">
            <a:extLst>
              <a:ext uri="{FF2B5EF4-FFF2-40B4-BE49-F238E27FC236}">
                <a16:creationId xmlns:a16="http://schemas.microsoft.com/office/drawing/2014/main" id="{A81001EB-696A-6913-8A82-6F2D650F63F8}"/>
              </a:ext>
            </a:extLst>
          </p:cNvPr>
          <p:cNvSpPr/>
          <p:nvPr/>
        </p:nvSpPr>
        <p:spPr>
          <a:xfrm>
            <a:off x="1360055" y="5797373"/>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6</a:t>
            </a:r>
            <a:endParaRPr lang="es-419" sz="1100" noProof="0" dirty="0"/>
          </a:p>
        </p:txBody>
      </p:sp>
    </p:spTree>
    <p:extLst>
      <p:ext uri="{BB962C8B-B14F-4D97-AF65-F5344CB8AC3E}">
        <p14:creationId xmlns:p14="http://schemas.microsoft.com/office/powerpoint/2010/main" val="4185774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22A66-D50D-B05B-843A-6341A1C333B3}"/>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5D1D54DF-E028-D2C2-834E-2F8C009A741C}"/>
              </a:ext>
            </a:extLst>
          </p:cNvPr>
          <p:cNvPicPr>
            <a:picLocks noChangeAspect="1"/>
          </p:cNvPicPr>
          <p:nvPr/>
        </p:nvPicPr>
        <p:blipFill>
          <a:blip r:embed="rId2"/>
          <a:stretch>
            <a:fillRect/>
          </a:stretch>
        </p:blipFill>
        <p:spPr>
          <a:xfrm>
            <a:off x="798945" y="1352006"/>
            <a:ext cx="10807059" cy="4910249"/>
          </a:xfrm>
          <a:prstGeom prst="rect">
            <a:avLst/>
          </a:prstGeom>
        </p:spPr>
      </p:pic>
      <p:sp>
        <p:nvSpPr>
          <p:cNvPr id="3" name="Marcador de texto vertical 2">
            <a:extLst>
              <a:ext uri="{FF2B5EF4-FFF2-40B4-BE49-F238E27FC236}">
                <a16:creationId xmlns:a16="http://schemas.microsoft.com/office/drawing/2014/main" id="{0F094B20-76C4-4906-E9D9-AB9117AF7018}"/>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48CE4DDD-EC19-896F-F8A4-A42608FD563D}"/>
              </a:ext>
            </a:extLst>
          </p:cNvPr>
          <p:cNvSpPr>
            <a:spLocks noGrp="1"/>
          </p:cNvSpPr>
          <p:nvPr>
            <p:ph type="title"/>
          </p:nvPr>
        </p:nvSpPr>
        <p:spPr>
          <a:xfrm>
            <a:off x="810247" y="327992"/>
            <a:ext cx="10271883" cy="626165"/>
          </a:xfrm>
        </p:spPr>
        <p:txBody>
          <a:bodyPr/>
          <a:lstStyle/>
          <a:p>
            <a:r>
              <a:rPr lang="es-ES_tradnl" dirty="0">
                <a:solidFill>
                  <a:schemeClr val="tx2"/>
                </a:solidFill>
              </a:rPr>
              <a:t>Configuración: </a:t>
            </a:r>
            <a:r>
              <a:rPr lang="es-419" dirty="0">
                <a:solidFill>
                  <a:schemeClr val="tx2"/>
                </a:solidFill>
              </a:rPr>
              <a:t>Institución de articulación de transferencia</a:t>
            </a:r>
            <a:br>
              <a:rPr lang="es-419" dirty="0"/>
            </a:br>
            <a:r>
              <a:rPr lang="es-419" dirty="0">
                <a:solidFill>
                  <a:schemeClr val="tx2"/>
                </a:solidFill>
              </a:rPr>
              <a:t>(</a:t>
            </a:r>
            <a:r>
              <a:rPr lang="es-ES_tradnl" dirty="0">
                <a:solidFill>
                  <a:schemeClr val="tx2"/>
                </a:solidFill>
              </a:rPr>
              <a:t>SOABGTA)</a:t>
            </a:r>
            <a:br>
              <a:rPr lang="es-CL" b="1" dirty="0">
                <a:effectLst/>
              </a:rPr>
            </a:br>
            <a:endParaRPr lang="es-CL" dirty="0"/>
          </a:p>
        </p:txBody>
      </p:sp>
      <p:sp>
        <p:nvSpPr>
          <p:cNvPr id="6" name="Rectángulo redondeado 5">
            <a:extLst>
              <a:ext uri="{FF2B5EF4-FFF2-40B4-BE49-F238E27FC236}">
                <a16:creationId xmlns:a16="http://schemas.microsoft.com/office/drawing/2014/main" id="{87F36912-9D41-3A86-BF3D-86C758D08447}"/>
              </a:ext>
            </a:extLst>
          </p:cNvPr>
          <p:cNvSpPr/>
          <p:nvPr/>
        </p:nvSpPr>
        <p:spPr>
          <a:xfrm>
            <a:off x="2427420" y="4165461"/>
            <a:ext cx="7108939" cy="169949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En el bloque Niveles de Transferencia:</a:t>
            </a:r>
          </a:p>
          <a:p>
            <a:pPr marL="228600" indent="-228600">
              <a:buFont typeface="+mj-lt"/>
              <a:buAutoNum type="arabicPeriod" startAt="7"/>
            </a:pPr>
            <a:r>
              <a:rPr lang="es-ES_tradnl" sz="1200" dirty="0"/>
              <a:t>Ingrese o seleccione el Código correspondiente al nivel para el cual se podrán otorgar convalidaciones para los estudiantes y programas procedentes de la institución.</a:t>
            </a:r>
          </a:p>
          <a:p>
            <a:pPr algn="ctr"/>
            <a:r>
              <a:rPr lang="es-ES_tradnl" sz="1100" dirty="0"/>
              <a:t>Use el botón </a:t>
            </a:r>
            <a:r>
              <a:rPr lang="es-ES_tradnl" sz="1100" b="1" dirty="0"/>
              <a:t>+</a:t>
            </a:r>
            <a:r>
              <a:rPr lang="es-ES_tradnl" sz="1100" dirty="0"/>
              <a:t> para ingresar más de un nivel en el bloque.</a:t>
            </a:r>
            <a:endParaRPr lang="es-ES_tradnl" sz="1200" dirty="0"/>
          </a:p>
          <a:p>
            <a:pPr marL="228600" indent="-228600">
              <a:buFont typeface="+mj-lt"/>
              <a:buAutoNum type="arabicPeriod" startAt="8"/>
            </a:pPr>
            <a:r>
              <a:rPr lang="es-ES_tradnl" sz="1200" dirty="0"/>
              <a:t>Guarde la información.</a:t>
            </a:r>
          </a:p>
        </p:txBody>
      </p:sp>
      <p:sp>
        <p:nvSpPr>
          <p:cNvPr id="8" name="Rectángulo 7">
            <a:extLst>
              <a:ext uri="{FF2B5EF4-FFF2-40B4-BE49-F238E27FC236}">
                <a16:creationId xmlns:a16="http://schemas.microsoft.com/office/drawing/2014/main" id="{3BF5BCEF-ED83-2951-C80F-41E08539B0F5}"/>
              </a:ext>
            </a:extLst>
          </p:cNvPr>
          <p:cNvSpPr/>
          <p:nvPr/>
        </p:nvSpPr>
        <p:spPr>
          <a:xfrm>
            <a:off x="798945" y="3428999"/>
            <a:ext cx="2138219" cy="24707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B776AB39-B197-126A-B127-053EF6913542}"/>
              </a:ext>
            </a:extLst>
          </p:cNvPr>
          <p:cNvSpPr/>
          <p:nvPr/>
        </p:nvSpPr>
        <p:spPr>
          <a:xfrm>
            <a:off x="2856439" y="3726722"/>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7</a:t>
            </a:r>
            <a:endParaRPr lang="es-419" sz="1100" noProof="0" dirty="0"/>
          </a:p>
        </p:txBody>
      </p:sp>
      <p:sp>
        <p:nvSpPr>
          <p:cNvPr id="10" name="Rectángulo 9">
            <a:extLst>
              <a:ext uri="{FF2B5EF4-FFF2-40B4-BE49-F238E27FC236}">
                <a16:creationId xmlns:a16="http://schemas.microsoft.com/office/drawing/2014/main" id="{11F10826-5544-072A-A6B5-6F80D5D33A94}"/>
              </a:ext>
            </a:extLst>
          </p:cNvPr>
          <p:cNvSpPr/>
          <p:nvPr/>
        </p:nvSpPr>
        <p:spPr>
          <a:xfrm>
            <a:off x="11109838" y="5992912"/>
            <a:ext cx="523874" cy="16081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CD3F8C3A-E343-502B-9017-EA4184166014}"/>
              </a:ext>
            </a:extLst>
          </p:cNvPr>
          <p:cNvSpPr/>
          <p:nvPr/>
        </p:nvSpPr>
        <p:spPr>
          <a:xfrm>
            <a:off x="11082130" y="5784544"/>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8</a:t>
            </a:r>
            <a:endParaRPr lang="es-419" sz="1100" noProof="0" dirty="0"/>
          </a:p>
        </p:txBody>
      </p:sp>
      <p:sp>
        <p:nvSpPr>
          <p:cNvPr id="12" name="Rectángulo 11">
            <a:extLst>
              <a:ext uri="{FF2B5EF4-FFF2-40B4-BE49-F238E27FC236}">
                <a16:creationId xmlns:a16="http://schemas.microsoft.com/office/drawing/2014/main" id="{390B8D5A-B9DF-7ED7-FE03-73042E5B48C3}"/>
              </a:ext>
            </a:extLst>
          </p:cNvPr>
          <p:cNvSpPr/>
          <p:nvPr/>
        </p:nvSpPr>
        <p:spPr>
          <a:xfrm>
            <a:off x="10834255" y="3040928"/>
            <a:ext cx="246366" cy="16081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2289771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C1B0A-D4BA-F0BA-D8C9-91071B21805C}"/>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AAE2A35E-9329-206F-1CC2-0A9570E4FA6E}"/>
              </a:ext>
            </a:extLst>
          </p:cNvPr>
          <p:cNvSpPr>
            <a:spLocks noGrp="1"/>
          </p:cNvSpPr>
          <p:nvPr>
            <p:ph type="body" sz="quarter" idx="10"/>
          </p:nvPr>
        </p:nvSpPr>
        <p:spPr>
          <a:xfrm>
            <a:off x="914399" y="2238843"/>
            <a:ext cx="10363202" cy="1333891"/>
          </a:xfrm>
        </p:spPr>
        <p:txBody>
          <a:bodyPr/>
          <a:lstStyle/>
          <a:p>
            <a:r>
              <a:rPr lang="es-419" dirty="0"/>
              <a:t>Códigos de calificaciones de las Instituciones de procedencia</a:t>
            </a:r>
          </a:p>
        </p:txBody>
      </p:sp>
      <p:sp>
        <p:nvSpPr>
          <p:cNvPr id="6" name="Marcador de texto 5">
            <a:extLst>
              <a:ext uri="{FF2B5EF4-FFF2-40B4-BE49-F238E27FC236}">
                <a16:creationId xmlns:a16="http://schemas.microsoft.com/office/drawing/2014/main" id="{C322BACC-366C-1449-ED15-D8F1BB9F68E2}"/>
              </a:ext>
            </a:extLst>
          </p:cNvPr>
          <p:cNvSpPr>
            <a:spLocks noGrp="1"/>
          </p:cNvSpPr>
          <p:nvPr>
            <p:ph type="body" sz="quarter" idx="11"/>
          </p:nvPr>
        </p:nvSpPr>
        <p:spPr>
          <a:xfrm>
            <a:off x="914399" y="3750468"/>
            <a:ext cx="10363202" cy="389915"/>
          </a:xfrm>
        </p:spPr>
        <p:txBody>
          <a:bodyPr/>
          <a:lstStyle/>
          <a:p>
            <a:r>
              <a:rPr lang="es-419" dirty="0"/>
              <a:t>Gestionar homologación y convalidación</a:t>
            </a:r>
          </a:p>
        </p:txBody>
      </p:sp>
    </p:spTree>
    <p:extLst>
      <p:ext uri="{BB962C8B-B14F-4D97-AF65-F5344CB8AC3E}">
        <p14:creationId xmlns:p14="http://schemas.microsoft.com/office/powerpoint/2010/main" val="14003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387E1-7CA1-9AF2-4C6D-305A89A371B4}"/>
            </a:ext>
          </a:extLst>
        </p:cNvPr>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2C78F86-C2C6-D0B5-ECE6-B6E7079CA17C}"/>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80EB48FE-DD16-2875-337A-DEA572A37753}"/>
              </a:ext>
            </a:extLst>
          </p:cNvPr>
          <p:cNvSpPr>
            <a:spLocks noGrp="1"/>
          </p:cNvSpPr>
          <p:nvPr>
            <p:ph type="title"/>
          </p:nvPr>
        </p:nvSpPr>
        <p:spPr>
          <a:xfrm>
            <a:off x="810247" y="327992"/>
            <a:ext cx="10271883" cy="626165"/>
          </a:xfrm>
        </p:spPr>
        <p:txBody>
          <a:bodyPr/>
          <a:lstStyle/>
          <a:p>
            <a:r>
              <a:rPr lang="es-ES_tradnl" dirty="0">
                <a:solidFill>
                  <a:schemeClr val="tx2"/>
                </a:solidFill>
              </a:rPr>
              <a:t>Configuración: </a:t>
            </a:r>
            <a:r>
              <a:rPr lang="es-419" dirty="0">
                <a:solidFill>
                  <a:schemeClr val="tx2"/>
                </a:solidFill>
              </a:rPr>
              <a:t>Mantenimiento de calificación de transferencia (SHATGRD)</a:t>
            </a:r>
            <a:br>
              <a:rPr lang="es-CL" b="1" dirty="0">
                <a:effectLst/>
              </a:rPr>
            </a:br>
            <a:endParaRPr lang="es-CL" dirty="0"/>
          </a:p>
        </p:txBody>
      </p:sp>
      <p:sp>
        <p:nvSpPr>
          <p:cNvPr id="12" name="Rectángulo redondeado 5">
            <a:extLst>
              <a:ext uri="{FF2B5EF4-FFF2-40B4-BE49-F238E27FC236}">
                <a16:creationId xmlns:a16="http://schemas.microsoft.com/office/drawing/2014/main" id="{76DA7C66-CD35-4838-825A-50CCB041A27F}"/>
              </a:ext>
            </a:extLst>
          </p:cNvPr>
          <p:cNvSpPr/>
          <p:nvPr/>
        </p:nvSpPr>
        <p:spPr>
          <a:xfrm>
            <a:off x="2265971" y="3020291"/>
            <a:ext cx="7108939" cy="137621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Desde la página SHATGRD se configuran los códigos de calificaciones que pueden haber obtenido los estudiantes en las diferentes instituciones de procedencia. Para ello, siga los siguientes pasos:</a:t>
            </a:r>
          </a:p>
          <a:p>
            <a:pPr marL="228600" indent="-228600">
              <a:buFont typeface="+mj-lt"/>
              <a:buAutoNum type="arabicPeriod"/>
            </a:pPr>
            <a:r>
              <a:rPr lang="es-ES_tradnl" sz="1200" dirty="0"/>
              <a:t>Ingrese o seleccione el Código correspondiente a la Institución para la cual se configurarán las calificaciones.</a:t>
            </a:r>
          </a:p>
          <a:p>
            <a:pPr marL="228600" indent="-228600">
              <a:buFont typeface="+mj-lt"/>
              <a:buAutoNum type="arabicPeriod"/>
            </a:pPr>
            <a:r>
              <a:rPr lang="es-ES_tradnl" sz="1200" dirty="0"/>
              <a:t>Presione el botón ‘Ir’.</a:t>
            </a:r>
          </a:p>
        </p:txBody>
      </p:sp>
      <p:pic>
        <p:nvPicPr>
          <p:cNvPr id="5" name="Imagen 4">
            <a:extLst>
              <a:ext uri="{FF2B5EF4-FFF2-40B4-BE49-F238E27FC236}">
                <a16:creationId xmlns:a16="http://schemas.microsoft.com/office/drawing/2014/main" id="{0AF3D9B4-DB5E-7EEE-2123-2D4B8FB7F62B}"/>
              </a:ext>
            </a:extLst>
          </p:cNvPr>
          <p:cNvPicPr>
            <a:picLocks noChangeAspect="1"/>
          </p:cNvPicPr>
          <p:nvPr/>
        </p:nvPicPr>
        <p:blipFill>
          <a:blip r:embed="rId2"/>
          <a:stretch>
            <a:fillRect/>
          </a:stretch>
        </p:blipFill>
        <p:spPr>
          <a:xfrm>
            <a:off x="810247" y="1336689"/>
            <a:ext cx="10938408" cy="861157"/>
          </a:xfrm>
          <a:prstGeom prst="rect">
            <a:avLst/>
          </a:prstGeom>
        </p:spPr>
      </p:pic>
      <p:sp>
        <p:nvSpPr>
          <p:cNvPr id="6" name="Rectángulo 5">
            <a:extLst>
              <a:ext uri="{FF2B5EF4-FFF2-40B4-BE49-F238E27FC236}">
                <a16:creationId xmlns:a16="http://schemas.microsoft.com/office/drawing/2014/main" id="{E6228A7A-920A-9593-F669-E2E7815FA3E0}"/>
              </a:ext>
            </a:extLst>
          </p:cNvPr>
          <p:cNvSpPr/>
          <p:nvPr/>
        </p:nvSpPr>
        <p:spPr>
          <a:xfrm>
            <a:off x="1179179" y="1628284"/>
            <a:ext cx="3374348" cy="20503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redondeado 15">
            <a:extLst>
              <a:ext uri="{FF2B5EF4-FFF2-40B4-BE49-F238E27FC236}">
                <a16:creationId xmlns:a16="http://schemas.microsoft.com/office/drawing/2014/main" id="{EA10086E-40FB-3BF4-C073-037C647490E5}"/>
              </a:ext>
            </a:extLst>
          </p:cNvPr>
          <p:cNvSpPr/>
          <p:nvPr/>
        </p:nvSpPr>
        <p:spPr>
          <a:xfrm>
            <a:off x="4592724" y="1505771"/>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
        <p:nvSpPr>
          <p:cNvPr id="9" name="Rectángulo 8">
            <a:extLst>
              <a:ext uri="{FF2B5EF4-FFF2-40B4-BE49-F238E27FC236}">
                <a16:creationId xmlns:a16="http://schemas.microsoft.com/office/drawing/2014/main" id="{1D4958A9-794F-82D8-C64A-6D01341914C5}"/>
              </a:ext>
            </a:extLst>
          </p:cNvPr>
          <p:cNvSpPr/>
          <p:nvPr/>
        </p:nvSpPr>
        <p:spPr>
          <a:xfrm>
            <a:off x="11381753" y="1666585"/>
            <a:ext cx="339194" cy="17620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1EF9379B-B8D3-0563-1AB9-77E3346C2B0F}"/>
              </a:ext>
            </a:extLst>
          </p:cNvPr>
          <p:cNvSpPr/>
          <p:nvPr/>
        </p:nvSpPr>
        <p:spPr>
          <a:xfrm>
            <a:off x="11181107" y="1842794"/>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Tree>
    <p:extLst>
      <p:ext uri="{BB962C8B-B14F-4D97-AF65-F5344CB8AC3E}">
        <p14:creationId xmlns:p14="http://schemas.microsoft.com/office/powerpoint/2010/main" val="10634315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7FEA5-18E3-37D0-FAA3-CBE1F3E50AD4}"/>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45BB8407-EC95-F7AB-C5BE-3E17474E6F7E}"/>
              </a:ext>
            </a:extLst>
          </p:cNvPr>
          <p:cNvPicPr>
            <a:picLocks noChangeAspect="1"/>
          </p:cNvPicPr>
          <p:nvPr/>
        </p:nvPicPr>
        <p:blipFill>
          <a:blip r:embed="rId2"/>
          <a:stretch>
            <a:fillRect/>
          </a:stretch>
        </p:blipFill>
        <p:spPr>
          <a:xfrm>
            <a:off x="810247" y="1302314"/>
            <a:ext cx="10938408" cy="4984446"/>
          </a:xfrm>
          <a:prstGeom prst="rect">
            <a:avLst/>
          </a:prstGeom>
        </p:spPr>
      </p:pic>
      <p:sp>
        <p:nvSpPr>
          <p:cNvPr id="3" name="Marcador de texto vertical 2">
            <a:extLst>
              <a:ext uri="{FF2B5EF4-FFF2-40B4-BE49-F238E27FC236}">
                <a16:creationId xmlns:a16="http://schemas.microsoft.com/office/drawing/2014/main" id="{E7A0B50A-201E-5F59-1EB4-777E44A9A08D}"/>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4959BE59-33E5-A903-1DA9-19F52C9C4BF5}"/>
              </a:ext>
            </a:extLst>
          </p:cNvPr>
          <p:cNvSpPr>
            <a:spLocks noGrp="1"/>
          </p:cNvSpPr>
          <p:nvPr>
            <p:ph type="title"/>
          </p:nvPr>
        </p:nvSpPr>
        <p:spPr>
          <a:xfrm>
            <a:off x="810247" y="327992"/>
            <a:ext cx="10271883" cy="626165"/>
          </a:xfrm>
        </p:spPr>
        <p:txBody>
          <a:bodyPr/>
          <a:lstStyle/>
          <a:p>
            <a:r>
              <a:rPr lang="es-ES_tradnl" dirty="0">
                <a:solidFill>
                  <a:schemeClr val="tx2"/>
                </a:solidFill>
              </a:rPr>
              <a:t>Configuración: </a:t>
            </a:r>
            <a:r>
              <a:rPr lang="es-419" dirty="0">
                <a:solidFill>
                  <a:schemeClr val="tx2"/>
                </a:solidFill>
              </a:rPr>
              <a:t>Mantenimiento de calificación de transferencia (SHATGRD)</a:t>
            </a:r>
            <a:br>
              <a:rPr lang="es-CL" b="1" dirty="0">
                <a:effectLst/>
              </a:rPr>
            </a:br>
            <a:endParaRPr lang="es-CL" dirty="0"/>
          </a:p>
        </p:txBody>
      </p:sp>
      <p:sp>
        <p:nvSpPr>
          <p:cNvPr id="12" name="Rectángulo redondeado 5">
            <a:extLst>
              <a:ext uri="{FF2B5EF4-FFF2-40B4-BE49-F238E27FC236}">
                <a16:creationId xmlns:a16="http://schemas.microsoft.com/office/drawing/2014/main" id="{E0795CEC-9224-0223-C12F-5545DDE30C71}"/>
              </a:ext>
            </a:extLst>
          </p:cNvPr>
          <p:cNvSpPr/>
          <p:nvPr/>
        </p:nvSpPr>
        <p:spPr>
          <a:xfrm>
            <a:off x="2265971" y="3429000"/>
            <a:ext cx="7108939" cy="186343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3"/>
            </a:pPr>
            <a:r>
              <a:rPr lang="es-ES_tradnl" sz="1200" dirty="0"/>
              <a:t>Ingrese el código de la calificación que puede obtener el estudiante en las asignatura que se le van a convalidar.</a:t>
            </a:r>
          </a:p>
          <a:p>
            <a:pPr marL="228600" indent="-228600">
              <a:buFont typeface="+mj-lt"/>
              <a:buAutoNum type="arabicPeriod" startAt="3"/>
            </a:pPr>
            <a:r>
              <a:rPr lang="es-ES_tradnl" sz="1200" dirty="0"/>
              <a:t>Ingrese o seleccione el período a partir del cual la calificación será tomada para la convalidación.</a:t>
            </a:r>
          </a:p>
          <a:p>
            <a:pPr marL="228600" indent="-228600">
              <a:buFont typeface="+mj-lt"/>
              <a:buAutoNum type="arabicPeriod" startAt="3"/>
            </a:pPr>
            <a:r>
              <a:rPr lang="es-ES_tradnl" sz="1200" dirty="0"/>
              <a:t>Ingrese el nivel para el cual esta calificación puede ser convalidada. </a:t>
            </a:r>
          </a:p>
          <a:p>
            <a:pPr marL="228600" indent="-228600">
              <a:buFont typeface="+mj-lt"/>
              <a:buAutoNum type="arabicPeriod" startAt="3"/>
            </a:pPr>
            <a:r>
              <a:rPr lang="es-CO" sz="1200" dirty="0"/>
              <a:t>Ingrese una descripción </a:t>
            </a:r>
            <a:r>
              <a:rPr lang="es-CO" sz="1200" b="1" dirty="0"/>
              <a:t>abreviada</a:t>
            </a:r>
            <a:r>
              <a:rPr lang="es-CO" sz="1200" dirty="0"/>
              <a:t> del código de calificación (hasta 7 caracteres)</a:t>
            </a:r>
            <a:r>
              <a:rPr lang="es-ES_tradnl" sz="1200" dirty="0"/>
              <a:t>.</a:t>
            </a:r>
          </a:p>
          <a:p>
            <a:pPr marL="228600" indent="-228600">
              <a:buFont typeface="+mj-lt"/>
              <a:buAutoNum type="arabicPeriod" startAt="3"/>
            </a:pPr>
            <a:r>
              <a:rPr lang="es-CO" sz="1200" dirty="0"/>
              <a:t>Ingrese el </a:t>
            </a:r>
            <a:r>
              <a:rPr lang="es-CO" sz="1200" b="1" dirty="0"/>
              <a:t>estatus</a:t>
            </a:r>
            <a:r>
              <a:rPr lang="es-CO" sz="1200" dirty="0"/>
              <a:t> del código de calificación. Los valores son I (Inactivo) o A (Activo). </a:t>
            </a:r>
          </a:p>
          <a:p>
            <a:pPr marL="228600" indent="-228600">
              <a:buFont typeface="+mj-lt"/>
              <a:buAutoNum type="arabicPeriod" startAt="3"/>
            </a:pPr>
            <a:r>
              <a:rPr lang="es-CO" sz="1200" dirty="0"/>
              <a:t>Ingrese los puntos de calidad correspondientes a la calificación. Estos puntos son los que se tomarían en cuenta para el cálculo del promedio del estudiante, si aplica</a:t>
            </a:r>
            <a:r>
              <a:rPr lang="es-ES_tradnl" sz="1200" dirty="0"/>
              <a:t>.</a:t>
            </a:r>
          </a:p>
        </p:txBody>
      </p:sp>
      <p:sp>
        <p:nvSpPr>
          <p:cNvPr id="6" name="Rectángulo 5">
            <a:extLst>
              <a:ext uri="{FF2B5EF4-FFF2-40B4-BE49-F238E27FC236}">
                <a16:creationId xmlns:a16="http://schemas.microsoft.com/office/drawing/2014/main" id="{9A183673-6F5F-EE74-6950-1286285C0BBE}"/>
              </a:ext>
            </a:extLst>
          </p:cNvPr>
          <p:cNvSpPr/>
          <p:nvPr/>
        </p:nvSpPr>
        <p:spPr>
          <a:xfrm>
            <a:off x="810247" y="1985137"/>
            <a:ext cx="870771" cy="36442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redondeado 15">
            <a:extLst>
              <a:ext uri="{FF2B5EF4-FFF2-40B4-BE49-F238E27FC236}">
                <a16:creationId xmlns:a16="http://schemas.microsoft.com/office/drawing/2014/main" id="{13E48932-F709-7D19-BE95-567CD23BBACD}"/>
              </a:ext>
            </a:extLst>
          </p:cNvPr>
          <p:cNvSpPr/>
          <p:nvPr/>
        </p:nvSpPr>
        <p:spPr>
          <a:xfrm>
            <a:off x="729522" y="2404981"/>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0" name="Rectángulo redondeado 15">
            <a:extLst>
              <a:ext uri="{FF2B5EF4-FFF2-40B4-BE49-F238E27FC236}">
                <a16:creationId xmlns:a16="http://schemas.microsoft.com/office/drawing/2014/main" id="{DF058C26-6C98-1A01-F1A4-0C30D5F99C73}"/>
              </a:ext>
            </a:extLst>
          </p:cNvPr>
          <p:cNvSpPr/>
          <p:nvPr/>
        </p:nvSpPr>
        <p:spPr>
          <a:xfrm>
            <a:off x="2323942" y="2405792"/>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
        <p:nvSpPr>
          <p:cNvPr id="11" name="Rectángulo 10">
            <a:extLst>
              <a:ext uri="{FF2B5EF4-FFF2-40B4-BE49-F238E27FC236}">
                <a16:creationId xmlns:a16="http://schemas.microsoft.com/office/drawing/2014/main" id="{6D17EE0B-B409-3C7B-F79D-964C56198269}"/>
              </a:ext>
            </a:extLst>
          </p:cNvPr>
          <p:cNvSpPr/>
          <p:nvPr/>
        </p:nvSpPr>
        <p:spPr>
          <a:xfrm>
            <a:off x="1681018" y="1985137"/>
            <a:ext cx="751357" cy="36442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3" name="Rectángulo redondeado 15">
            <a:extLst>
              <a:ext uri="{FF2B5EF4-FFF2-40B4-BE49-F238E27FC236}">
                <a16:creationId xmlns:a16="http://schemas.microsoft.com/office/drawing/2014/main" id="{99129CD8-5AA0-74E3-6652-7D123BD41B23}"/>
              </a:ext>
            </a:extLst>
          </p:cNvPr>
          <p:cNvSpPr/>
          <p:nvPr/>
        </p:nvSpPr>
        <p:spPr>
          <a:xfrm>
            <a:off x="2913851" y="2393028"/>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
        <p:nvSpPr>
          <p:cNvPr id="14" name="Rectángulo 13">
            <a:extLst>
              <a:ext uri="{FF2B5EF4-FFF2-40B4-BE49-F238E27FC236}">
                <a16:creationId xmlns:a16="http://schemas.microsoft.com/office/drawing/2014/main" id="{AFA60AAE-F26A-8C1A-908F-F2B938551E42}"/>
              </a:ext>
            </a:extLst>
          </p:cNvPr>
          <p:cNvSpPr/>
          <p:nvPr/>
        </p:nvSpPr>
        <p:spPr>
          <a:xfrm>
            <a:off x="2432375" y="1986754"/>
            <a:ext cx="681613" cy="3592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 name="Rectángulo redondeado 15">
            <a:extLst>
              <a:ext uri="{FF2B5EF4-FFF2-40B4-BE49-F238E27FC236}">
                <a16:creationId xmlns:a16="http://schemas.microsoft.com/office/drawing/2014/main" id="{18BA6318-74B0-462D-16FC-1A272441393F}"/>
              </a:ext>
            </a:extLst>
          </p:cNvPr>
          <p:cNvSpPr/>
          <p:nvPr/>
        </p:nvSpPr>
        <p:spPr>
          <a:xfrm>
            <a:off x="3595464" y="2397050"/>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sp>
        <p:nvSpPr>
          <p:cNvPr id="5" name="Rectángulo 4">
            <a:extLst>
              <a:ext uri="{FF2B5EF4-FFF2-40B4-BE49-F238E27FC236}">
                <a16:creationId xmlns:a16="http://schemas.microsoft.com/office/drawing/2014/main" id="{C40C2849-F315-6FB4-A73A-E408BAB6747C}"/>
              </a:ext>
            </a:extLst>
          </p:cNvPr>
          <p:cNvSpPr/>
          <p:nvPr/>
        </p:nvSpPr>
        <p:spPr>
          <a:xfrm>
            <a:off x="3113989" y="1981540"/>
            <a:ext cx="642924" cy="36442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8">
            <a:extLst>
              <a:ext uri="{FF2B5EF4-FFF2-40B4-BE49-F238E27FC236}">
                <a16:creationId xmlns:a16="http://schemas.microsoft.com/office/drawing/2014/main" id="{79323A12-C84F-0903-D19E-C7267CB34BFE}"/>
              </a:ext>
            </a:extLst>
          </p:cNvPr>
          <p:cNvSpPr/>
          <p:nvPr/>
        </p:nvSpPr>
        <p:spPr>
          <a:xfrm>
            <a:off x="3858247" y="1972209"/>
            <a:ext cx="670125" cy="36442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E60EB455-FE09-909C-C426-53651FA0741D}"/>
              </a:ext>
            </a:extLst>
          </p:cNvPr>
          <p:cNvSpPr/>
          <p:nvPr/>
        </p:nvSpPr>
        <p:spPr>
          <a:xfrm>
            <a:off x="4353505" y="2393027"/>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7</a:t>
            </a:r>
            <a:endParaRPr lang="es-419" sz="1100" noProof="0" dirty="0"/>
          </a:p>
        </p:txBody>
      </p:sp>
      <p:sp>
        <p:nvSpPr>
          <p:cNvPr id="16" name="Rectángulo redondeado 15">
            <a:extLst>
              <a:ext uri="{FF2B5EF4-FFF2-40B4-BE49-F238E27FC236}">
                <a16:creationId xmlns:a16="http://schemas.microsoft.com/office/drawing/2014/main" id="{406F960E-6880-FEEB-2726-DDA016116B42}"/>
              </a:ext>
            </a:extLst>
          </p:cNvPr>
          <p:cNvSpPr/>
          <p:nvPr/>
        </p:nvSpPr>
        <p:spPr>
          <a:xfrm>
            <a:off x="5213703" y="2392053"/>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8</a:t>
            </a:r>
          </a:p>
        </p:txBody>
      </p:sp>
      <p:sp>
        <p:nvSpPr>
          <p:cNvPr id="17" name="Rectángulo 16">
            <a:extLst>
              <a:ext uri="{FF2B5EF4-FFF2-40B4-BE49-F238E27FC236}">
                <a16:creationId xmlns:a16="http://schemas.microsoft.com/office/drawing/2014/main" id="{019A4BC8-0B7D-CEF4-1ADC-CE1FECA353CC}"/>
              </a:ext>
            </a:extLst>
          </p:cNvPr>
          <p:cNvSpPr/>
          <p:nvPr/>
        </p:nvSpPr>
        <p:spPr>
          <a:xfrm>
            <a:off x="4565316" y="1975329"/>
            <a:ext cx="846780" cy="36442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24166342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11B36-6967-6E06-CC86-13888A1EFFD5}"/>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9D80E95F-B493-64FA-8ECB-C8E0252116B5}"/>
              </a:ext>
            </a:extLst>
          </p:cNvPr>
          <p:cNvPicPr>
            <a:picLocks noChangeAspect="1"/>
          </p:cNvPicPr>
          <p:nvPr/>
        </p:nvPicPr>
        <p:blipFill>
          <a:blip r:embed="rId2"/>
          <a:stretch>
            <a:fillRect/>
          </a:stretch>
        </p:blipFill>
        <p:spPr>
          <a:xfrm>
            <a:off x="810247" y="1302314"/>
            <a:ext cx="10938408" cy="4984446"/>
          </a:xfrm>
          <a:prstGeom prst="rect">
            <a:avLst/>
          </a:prstGeom>
        </p:spPr>
      </p:pic>
      <p:sp>
        <p:nvSpPr>
          <p:cNvPr id="3" name="Marcador de texto vertical 2">
            <a:extLst>
              <a:ext uri="{FF2B5EF4-FFF2-40B4-BE49-F238E27FC236}">
                <a16:creationId xmlns:a16="http://schemas.microsoft.com/office/drawing/2014/main" id="{27F5273F-CA0D-BDE4-5059-7F3BE87173A4}"/>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6BDAAF83-7566-04B8-EC2A-11FF604A3000}"/>
              </a:ext>
            </a:extLst>
          </p:cNvPr>
          <p:cNvSpPr>
            <a:spLocks noGrp="1"/>
          </p:cNvSpPr>
          <p:nvPr>
            <p:ph type="title"/>
          </p:nvPr>
        </p:nvSpPr>
        <p:spPr>
          <a:xfrm>
            <a:off x="810247" y="327992"/>
            <a:ext cx="10271883" cy="626165"/>
          </a:xfrm>
        </p:spPr>
        <p:txBody>
          <a:bodyPr/>
          <a:lstStyle/>
          <a:p>
            <a:r>
              <a:rPr lang="es-ES_tradnl" dirty="0">
                <a:solidFill>
                  <a:schemeClr val="tx2"/>
                </a:solidFill>
              </a:rPr>
              <a:t>Configuración: </a:t>
            </a:r>
            <a:r>
              <a:rPr lang="es-419" dirty="0">
                <a:solidFill>
                  <a:schemeClr val="tx2"/>
                </a:solidFill>
              </a:rPr>
              <a:t>Mantenimiento de calificación de transferencia (SHATGRD)</a:t>
            </a:r>
            <a:br>
              <a:rPr lang="es-CL" b="1" dirty="0">
                <a:effectLst/>
              </a:rPr>
            </a:br>
            <a:endParaRPr lang="es-CL" dirty="0"/>
          </a:p>
        </p:txBody>
      </p:sp>
      <p:sp>
        <p:nvSpPr>
          <p:cNvPr id="12" name="Rectángulo redondeado 5">
            <a:extLst>
              <a:ext uri="{FF2B5EF4-FFF2-40B4-BE49-F238E27FC236}">
                <a16:creationId xmlns:a16="http://schemas.microsoft.com/office/drawing/2014/main" id="{9EAEA217-B2A0-A396-70E1-5A5A3F44C593}"/>
              </a:ext>
            </a:extLst>
          </p:cNvPr>
          <p:cNvSpPr/>
          <p:nvPr/>
        </p:nvSpPr>
        <p:spPr>
          <a:xfrm>
            <a:off x="1477818" y="3020292"/>
            <a:ext cx="8654473" cy="242916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9"/>
            </a:pPr>
            <a:r>
              <a:rPr lang="es-CO" sz="1200" dirty="0"/>
              <a:t>Active las casillas que se indican a continuación, según corresponda:</a:t>
            </a:r>
            <a:endParaRPr lang="es-ES_tradnl" sz="1200" dirty="0"/>
          </a:p>
          <a:p>
            <a:pPr marL="800100" lvl="1" indent="-342900" algn="just">
              <a:buFont typeface="Arial" panose="020B0604020202020204" pitchFamily="34" charset="0"/>
              <a:buChar char="•"/>
            </a:pPr>
            <a:r>
              <a:rPr lang="es-CO" sz="1100" b="1" dirty="0"/>
              <a:t>Contar en intentadas</a:t>
            </a:r>
            <a:r>
              <a:rPr lang="es-CO" sz="1100" dirty="0"/>
              <a:t>: un curso que se califique con el código de calificación se debe contar como intentado o cursado por el alumno.</a:t>
            </a:r>
          </a:p>
          <a:p>
            <a:pPr marL="800100" lvl="1" indent="-342900" algn="just">
              <a:buFont typeface="Arial" panose="020B0604020202020204" pitchFamily="34" charset="0"/>
              <a:buChar char="•"/>
            </a:pPr>
            <a:r>
              <a:rPr lang="es-ES_tradnl" sz="1100" b="1" dirty="0"/>
              <a:t>Contar en aprobadas</a:t>
            </a:r>
            <a:r>
              <a:rPr lang="es-ES_tradnl" sz="1100" dirty="0"/>
              <a:t>: </a:t>
            </a:r>
            <a:r>
              <a:rPr lang="es-CO" sz="1100" dirty="0"/>
              <a:t>un curso al que se califique con el código de calificación se debe contar como aprobado para el alumno.</a:t>
            </a:r>
            <a:endParaRPr lang="es-ES_tradnl" sz="1100" dirty="0"/>
          </a:p>
          <a:p>
            <a:pPr marL="800100" lvl="1" indent="-342900" algn="just">
              <a:buFont typeface="Arial" panose="020B0604020202020204" pitchFamily="34" charset="0"/>
              <a:buChar char="•"/>
            </a:pPr>
            <a:r>
              <a:rPr lang="es-CO" sz="1100" b="1" dirty="0"/>
              <a:t>Contar en ganadas</a:t>
            </a:r>
            <a:r>
              <a:rPr lang="es-CO" sz="1100" dirty="0"/>
              <a:t>: un curso al que se califique con el código de calificación se debe contar como completado en la historia académica del alumno. </a:t>
            </a:r>
          </a:p>
          <a:p>
            <a:pPr marL="800100" lvl="1" indent="-342900" algn="just">
              <a:buFont typeface="Arial" panose="020B0604020202020204" pitchFamily="34" charset="0"/>
              <a:buChar char="•"/>
            </a:pPr>
            <a:r>
              <a:rPr lang="es-CO" sz="1100" b="1" dirty="0"/>
              <a:t>Contar en PGA</a:t>
            </a:r>
            <a:r>
              <a:rPr lang="es-CO" sz="1100" dirty="0"/>
              <a:t>: un curso al que se califique con el código de calificación se debe incluir en el cálculo del promedio del alumno. Para el cálculo del promedio se toman los puntos de calidad del código de calificación.</a:t>
            </a:r>
          </a:p>
          <a:p>
            <a:pPr marL="228600" indent="-228600">
              <a:buFont typeface="+mj-lt"/>
              <a:buAutoNum type="arabicPeriod" startAt="9"/>
            </a:pPr>
            <a:r>
              <a:rPr lang="es-ES_tradnl" sz="1200" dirty="0"/>
              <a:t>Ingrese el  valor numérico de la calificación. </a:t>
            </a:r>
          </a:p>
          <a:p>
            <a:pPr marL="228600" indent="-228600">
              <a:buFont typeface="+mj-lt"/>
              <a:buAutoNum type="arabicPeriod" startAt="9"/>
            </a:pPr>
            <a:r>
              <a:rPr lang="es-CO" sz="1200" dirty="0"/>
              <a:t>Ingrese la calificación que le será equivalente dentro de la UAI</a:t>
            </a:r>
            <a:r>
              <a:rPr lang="es-ES_tradnl" sz="1200" dirty="0"/>
              <a:t>.</a:t>
            </a:r>
          </a:p>
          <a:p>
            <a:pPr marL="228600" indent="-228600">
              <a:buFont typeface="+mj-lt"/>
              <a:buAutoNum type="arabicPeriod" startAt="9"/>
            </a:pPr>
            <a:r>
              <a:rPr lang="es-ES_tradnl" sz="1200" dirty="0"/>
              <a:t>Ingrese el Modo de calificación que corresponda.</a:t>
            </a:r>
          </a:p>
        </p:txBody>
      </p:sp>
      <p:sp>
        <p:nvSpPr>
          <p:cNvPr id="6" name="Rectángulo 5">
            <a:extLst>
              <a:ext uri="{FF2B5EF4-FFF2-40B4-BE49-F238E27FC236}">
                <a16:creationId xmlns:a16="http://schemas.microsoft.com/office/drawing/2014/main" id="{312C4EE3-7586-3E4F-790B-BA787F08F006}"/>
              </a:ext>
            </a:extLst>
          </p:cNvPr>
          <p:cNvSpPr/>
          <p:nvPr/>
        </p:nvSpPr>
        <p:spPr>
          <a:xfrm>
            <a:off x="9095265" y="1975224"/>
            <a:ext cx="888588" cy="36442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redondeado 15">
            <a:extLst>
              <a:ext uri="{FF2B5EF4-FFF2-40B4-BE49-F238E27FC236}">
                <a16:creationId xmlns:a16="http://schemas.microsoft.com/office/drawing/2014/main" id="{236992AF-CF9B-6FDB-EE96-DFEE4F4FFDB5}"/>
              </a:ext>
            </a:extLst>
          </p:cNvPr>
          <p:cNvSpPr/>
          <p:nvPr/>
        </p:nvSpPr>
        <p:spPr>
          <a:xfrm>
            <a:off x="9374910" y="2376814"/>
            <a:ext cx="355262"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10</a:t>
            </a:r>
            <a:endParaRPr lang="es-419" sz="1100" noProof="0" dirty="0"/>
          </a:p>
        </p:txBody>
      </p:sp>
      <p:sp>
        <p:nvSpPr>
          <p:cNvPr id="11" name="Rectángulo 10">
            <a:extLst>
              <a:ext uri="{FF2B5EF4-FFF2-40B4-BE49-F238E27FC236}">
                <a16:creationId xmlns:a16="http://schemas.microsoft.com/office/drawing/2014/main" id="{228F478F-795B-E119-5933-903A1751DE64}"/>
              </a:ext>
            </a:extLst>
          </p:cNvPr>
          <p:cNvSpPr/>
          <p:nvPr/>
        </p:nvSpPr>
        <p:spPr>
          <a:xfrm>
            <a:off x="9983853" y="1975224"/>
            <a:ext cx="846780" cy="35781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3" name="Rectángulo redondeado 15">
            <a:extLst>
              <a:ext uri="{FF2B5EF4-FFF2-40B4-BE49-F238E27FC236}">
                <a16:creationId xmlns:a16="http://schemas.microsoft.com/office/drawing/2014/main" id="{510FB44C-9DFF-FF8B-EA09-B5C3BEC2B6CF}"/>
              </a:ext>
            </a:extLst>
          </p:cNvPr>
          <p:cNvSpPr/>
          <p:nvPr/>
        </p:nvSpPr>
        <p:spPr>
          <a:xfrm>
            <a:off x="5221613" y="1813011"/>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9</a:t>
            </a:r>
          </a:p>
        </p:txBody>
      </p:sp>
      <p:sp>
        <p:nvSpPr>
          <p:cNvPr id="14" name="Rectángulo 13">
            <a:extLst>
              <a:ext uri="{FF2B5EF4-FFF2-40B4-BE49-F238E27FC236}">
                <a16:creationId xmlns:a16="http://schemas.microsoft.com/office/drawing/2014/main" id="{BFE2D162-B686-1008-4FBE-04AB5E2391DB}"/>
              </a:ext>
            </a:extLst>
          </p:cNvPr>
          <p:cNvSpPr/>
          <p:nvPr/>
        </p:nvSpPr>
        <p:spPr>
          <a:xfrm>
            <a:off x="5424958" y="1973826"/>
            <a:ext cx="3663623" cy="3592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0141EE19-A8B7-476B-4ED5-D92FA670AE08}"/>
              </a:ext>
            </a:extLst>
          </p:cNvPr>
          <p:cNvSpPr/>
          <p:nvPr/>
        </p:nvSpPr>
        <p:spPr>
          <a:xfrm>
            <a:off x="10309807" y="2358341"/>
            <a:ext cx="355262"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11</a:t>
            </a:r>
            <a:endParaRPr lang="es-419" sz="1100" noProof="0" dirty="0"/>
          </a:p>
        </p:txBody>
      </p:sp>
      <p:sp>
        <p:nvSpPr>
          <p:cNvPr id="15" name="Rectángulo 14">
            <a:extLst>
              <a:ext uri="{FF2B5EF4-FFF2-40B4-BE49-F238E27FC236}">
                <a16:creationId xmlns:a16="http://schemas.microsoft.com/office/drawing/2014/main" id="{76406FD9-0190-4050-70C7-09B0106D5045}"/>
              </a:ext>
            </a:extLst>
          </p:cNvPr>
          <p:cNvSpPr/>
          <p:nvPr/>
        </p:nvSpPr>
        <p:spPr>
          <a:xfrm>
            <a:off x="10846175" y="1975224"/>
            <a:ext cx="846780" cy="35781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6" name="Rectángulo redondeado 15">
            <a:extLst>
              <a:ext uri="{FF2B5EF4-FFF2-40B4-BE49-F238E27FC236}">
                <a16:creationId xmlns:a16="http://schemas.microsoft.com/office/drawing/2014/main" id="{444F9722-DFB1-303C-01A2-CC2F4BBFFA03}"/>
              </a:ext>
            </a:extLst>
          </p:cNvPr>
          <p:cNvSpPr/>
          <p:nvPr/>
        </p:nvSpPr>
        <p:spPr>
          <a:xfrm>
            <a:off x="11172129" y="2367577"/>
            <a:ext cx="355262"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12</a:t>
            </a:r>
            <a:endParaRPr lang="es-419" sz="1100" noProof="0" dirty="0"/>
          </a:p>
        </p:txBody>
      </p:sp>
    </p:spTree>
    <p:extLst>
      <p:ext uri="{BB962C8B-B14F-4D97-AF65-F5344CB8AC3E}">
        <p14:creationId xmlns:p14="http://schemas.microsoft.com/office/powerpoint/2010/main" val="30418856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A0E89-0C77-29B4-89C9-D800105B057A}"/>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061BEB3D-A2EF-1439-F665-D3334AE6072B}"/>
              </a:ext>
            </a:extLst>
          </p:cNvPr>
          <p:cNvPicPr>
            <a:picLocks noChangeAspect="1"/>
          </p:cNvPicPr>
          <p:nvPr/>
        </p:nvPicPr>
        <p:blipFill>
          <a:blip r:embed="rId2"/>
          <a:stretch>
            <a:fillRect/>
          </a:stretch>
        </p:blipFill>
        <p:spPr>
          <a:xfrm>
            <a:off x="810247" y="1302314"/>
            <a:ext cx="10938408" cy="4984446"/>
          </a:xfrm>
          <a:prstGeom prst="rect">
            <a:avLst/>
          </a:prstGeom>
        </p:spPr>
      </p:pic>
      <p:sp>
        <p:nvSpPr>
          <p:cNvPr id="3" name="Marcador de texto vertical 2">
            <a:extLst>
              <a:ext uri="{FF2B5EF4-FFF2-40B4-BE49-F238E27FC236}">
                <a16:creationId xmlns:a16="http://schemas.microsoft.com/office/drawing/2014/main" id="{61909EBE-D028-685A-9A6C-569FE1BFE9C8}"/>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D04BC474-3D92-8462-0E73-CD959E94592B}"/>
              </a:ext>
            </a:extLst>
          </p:cNvPr>
          <p:cNvSpPr>
            <a:spLocks noGrp="1"/>
          </p:cNvSpPr>
          <p:nvPr>
            <p:ph type="title"/>
          </p:nvPr>
        </p:nvSpPr>
        <p:spPr>
          <a:xfrm>
            <a:off x="810247" y="327992"/>
            <a:ext cx="10271883" cy="626165"/>
          </a:xfrm>
        </p:spPr>
        <p:txBody>
          <a:bodyPr/>
          <a:lstStyle/>
          <a:p>
            <a:r>
              <a:rPr lang="es-ES_tradnl" dirty="0">
                <a:solidFill>
                  <a:schemeClr val="tx2"/>
                </a:solidFill>
              </a:rPr>
              <a:t>Configuración: </a:t>
            </a:r>
            <a:r>
              <a:rPr lang="es-419" dirty="0">
                <a:solidFill>
                  <a:schemeClr val="tx2"/>
                </a:solidFill>
              </a:rPr>
              <a:t>Mantenimiento de calificación de transferencia (SHATGRD)</a:t>
            </a:r>
            <a:br>
              <a:rPr lang="es-CL" b="1" dirty="0">
                <a:effectLst/>
              </a:rPr>
            </a:br>
            <a:endParaRPr lang="es-CL" dirty="0"/>
          </a:p>
        </p:txBody>
      </p:sp>
      <p:sp>
        <p:nvSpPr>
          <p:cNvPr id="12" name="Rectángulo redondeado 5">
            <a:extLst>
              <a:ext uri="{FF2B5EF4-FFF2-40B4-BE49-F238E27FC236}">
                <a16:creationId xmlns:a16="http://schemas.microsoft.com/office/drawing/2014/main" id="{228DC65A-1DAB-0873-5941-B65ED4D42B85}"/>
              </a:ext>
            </a:extLst>
          </p:cNvPr>
          <p:cNvSpPr/>
          <p:nvPr/>
        </p:nvSpPr>
        <p:spPr>
          <a:xfrm>
            <a:off x="1477818" y="3020292"/>
            <a:ext cx="8654473" cy="100824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13"/>
            </a:pPr>
            <a:r>
              <a:rPr lang="es-ES_tradnl" sz="1200" dirty="0"/>
              <a:t>Guarde la Información.</a:t>
            </a:r>
          </a:p>
          <a:p>
            <a:pPr marL="228600" indent="-228600">
              <a:buFont typeface="+mj-lt"/>
              <a:buAutoNum type="arabicPeriod" startAt="13"/>
            </a:pPr>
            <a:r>
              <a:rPr lang="es-ES_tradnl" sz="1200" dirty="0"/>
              <a:t>Inserte el nuevo registro y repita la operación hasta haber registrado todas las calificaciones válidas de la institución de procedencia y su equivalente con la institución.</a:t>
            </a:r>
          </a:p>
        </p:txBody>
      </p:sp>
      <p:sp>
        <p:nvSpPr>
          <p:cNvPr id="15" name="Rectángulo 14">
            <a:extLst>
              <a:ext uri="{FF2B5EF4-FFF2-40B4-BE49-F238E27FC236}">
                <a16:creationId xmlns:a16="http://schemas.microsoft.com/office/drawing/2014/main" id="{198AE37B-92C1-A96C-E02E-C034A64E8EAB}"/>
              </a:ext>
            </a:extLst>
          </p:cNvPr>
          <p:cNvSpPr/>
          <p:nvPr/>
        </p:nvSpPr>
        <p:spPr>
          <a:xfrm>
            <a:off x="11268363" y="6012872"/>
            <a:ext cx="489528" cy="17779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6" name="Rectángulo redondeado 15">
            <a:extLst>
              <a:ext uri="{FF2B5EF4-FFF2-40B4-BE49-F238E27FC236}">
                <a16:creationId xmlns:a16="http://schemas.microsoft.com/office/drawing/2014/main" id="{CB655EA4-542B-24E7-F38A-84A3678277A5}"/>
              </a:ext>
            </a:extLst>
          </p:cNvPr>
          <p:cNvSpPr/>
          <p:nvPr/>
        </p:nvSpPr>
        <p:spPr>
          <a:xfrm>
            <a:off x="10890086" y="5852057"/>
            <a:ext cx="355262"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13</a:t>
            </a:r>
            <a:endParaRPr lang="es-419" sz="1100" noProof="0" dirty="0"/>
          </a:p>
        </p:txBody>
      </p:sp>
      <p:sp>
        <p:nvSpPr>
          <p:cNvPr id="2" name="Rectángulo 1">
            <a:extLst>
              <a:ext uri="{FF2B5EF4-FFF2-40B4-BE49-F238E27FC236}">
                <a16:creationId xmlns:a16="http://schemas.microsoft.com/office/drawing/2014/main" id="{14BBC034-759E-B2A8-051A-443C1D1663F8}"/>
              </a:ext>
            </a:extLst>
          </p:cNvPr>
          <p:cNvSpPr/>
          <p:nvPr/>
        </p:nvSpPr>
        <p:spPr>
          <a:xfrm>
            <a:off x="10982036" y="1814945"/>
            <a:ext cx="198582" cy="16081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5" name="Rectángulo redondeado 15">
            <a:extLst>
              <a:ext uri="{FF2B5EF4-FFF2-40B4-BE49-F238E27FC236}">
                <a16:creationId xmlns:a16="http://schemas.microsoft.com/office/drawing/2014/main" id="{95B4F4AA-9F6E-A718-C696-DA45F29FCC67}"/>
              </a:ext>
            </a:extLst>
          </p:cNvPr>
          <p:cNvSpPr/>
          <p:nvPr/>
        </p:nvSpPr>
        <p:spPr>
          <a:xfrm>
            <a:off x="10617538" y="1654130"/>
            <a:ext cx="355262"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14</a:t>
            </a:r>
            <a:endParaRPr lang="es-419" sz="1100" noProof="0" dirty="0"/>
          </a:p>
        </p:txBody>
      </p:sp>
    </p:spTree>
    <p:extLst>
      <p:ext uri="{BB962C8B-B14F-4D97-AF65-F5344CB8AC3E}">
        <p14:creationId xmlns:p14="http://schemas.microsoft.com/office/powerpoint/2010/main" val="10929820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50D04-9CF1-8350-187F-6F2A2D8949DF}"/>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E0452749-2FB5-48CF-1E9B-D6B78227AEE4}"/>
              </a:ext>
            </a:extLst>
          </p:cNvPr>
          <p:cNvSpPr>
            <a:spLocks noGrp="1"/>
          </p:cNvSpPr>
          <p:nvPr>
            <p:ph type="body" sz="quarter" idx="10"/>
          </p:nvPr>
        </p:nvSpPr>
        <p:spPr>
          <a:xfrm>
            <a:off x="914399" y="2238843"/>
            <a:ext cx="10363202" cy="1333891"/>
          </a:xfrm>
        </p:spPr>
        <p:txBody>
          <a:bodyPr/>
          <a:lstStyle/>
          <a:p>
            <a:r>
              <a:rPr lang="es-419" dirty="0"/>
              <a:t>Catálogo de Institución de  procedencia</a:t>
            </a:r>
          </a:p>
        </p:txBody>
      </p:sp>
      <p:sp>
        <p:nvSpPr>
          <p:cNvPr id="6" name="Marcador de texto 5">
            <a:extLst>
              <a:ext uri="{FF2B5EF4-FFF2-40B4-BE49-F238E27FC236}">
                <a16:creationId xmlns:a16="http://schemas.microsoft.com/office/drawing/2014/main" id="{9AF95AD1-F003-7796-A3A7-24A5869B1566}"/>
              </a:ext>
            </a:extLst>
          </p:cNvPr>
          <p:cNvSpPr>
            <a:spLocks noGrp="1"/>
          </p:cNvSpPr>
          <p:nvPr>
            <p:ph type="body" sz="quarter" idx="11"/>
          </p:nvPr>
        </p:nvSpPr>
        <p:spPr>
          <a:xfrm>
            <a:off x="914399" y="3750468"/>
            <a:ext cx="10363202" cy="389915"/>
          </a:xfrm>
        </p:spPr>
        <p:txBody>
          <a:bodyPr/>
          <a:lstStyle/>
          <a:p>
            <a:r>
              <a:rPr lang="es-419" dirty="0"/>
              <a:t>Gestionar homologación y convalidación</a:t>
            </a:r>
          </a:p>
        </p:txBody>
      </p:sp>
    </p:spTree>
    <p:extLst>
      <p:ext uri="{BB962C8B-B14F-4D97-AF65-F5344CB8AC3E}">
        <p14:creationId xmlns:p14="http://schemas.microsoft.com/office/powerpoint/2010/main" val="22768611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7A723-789F-729C-7BD4-B4A966AE08D0}"/>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9E4058E5-41E2-84BE-B883-F1F9DB7D2692}"/>
              </a:ext>
            </a:extLst>
          </p:cNvPr>
          <p:cNvPicPr>
            <a:picLocks noChangeAspect="1"/>
          </p:cNvPicPr>
          <p:nvPr/>
        </p:nvPicPr>
        <p:blipFill>
          <a:blip r:embed="rId2"/>
          <a:stretch>
            <a:fillRect/>
          </a:stretch>
        </p:blipFill>
        <p:spPr>
          <a:xfrm>
            <a:off x="810247" y="1336689"/>
            <a:ext cx="10938408" cy="1153214"/>
          </a:xfrm>
          <a:prstGeom prst="rect">
            <a:avLst/>
          </a:prstGeom>
        </p:spPr>
      </p:pic>
      <p:sp>
        <p:nvSpPr>
          <p:cNvPr id="3" name="Marcador de texto vertical 2">
            <a:extLst>
              <a:ext uri="{FF2B5EF4-FFF2-40B4-BE49-F238E27FC236}">
                <a16:creationId xmlns:a16="http://schemas.microsoft.com/office/drawing/2014/main" id="{3455BF2C-FC38-9E1B-DFD4-43698B13B2DE}"/>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6EED6D81-4043-D501-633D-82F72F2121C5}"/>
              </a:ext>
            </a:extLst>
          </p:cNvPr>
          <p:cNvSpPr>
            <a:spLocks noGrp="1"/>
          </p:cNvSpPr>
          <p:nvPr>
            <p:ph type="title"/>
          </p:nvPr>
        </p:nvSpPr>
        <p:spPr>
          <a:xfrm>
            <a:off x="810247" y="327992"/>
            <a:ext cx="10271883" cy="626165"/>
          </a:xfrm>
        </p:spPr>
        <p:txBody>
          <a:bodyPr/>
          <a:lstStyle/>
          <a:p>
            <a:r>
              <a:rPr lang="es-ES_tradnl" dirty="0">
                <a:solidFill>
                  <a:schemeClr val="tx2"/>
                </a:solidFill>
              </a:rPr>
              <a:t>Configuración: </a:t>
            </a:r>
            <a:r>
              <a:rPr lang="es-419" dirty="0">
                <a:solidFill>
                  <a:schemeClr val="tx2"/>
                </a:solidFill>
              </a:rPr>
              <a:t>Captura de Catálogo de Institución de Transferencia (SHATATC)</a:t>
            </a:r>
            <a:endParaRPr lang="es-CL" dirty="0"/>
          </a:p>
        </p:txBody>
      </p:sp>
      <p:sp>
        <p:nvSpPr>
          <p:cNvPr id="12" name="Rectángulo redondeado 5">
            <a:extLst>
              <a:ext uri="{FF2B5EF4-FFF2-40B4-BE49-F238E27FC236}">
                <a16:creationId xmlns:a16="http://schemas.microsoft.com/office/drawing/2014/main" id="{31B22951-1EA0-696C-7F2D-310D1B65C987}"/>
              </a:ext>
            </a:extLst>
          </p:cNvPr>
          <p:cNvSpPr/>
          <p:nvPr/>
        </p:nvSpPr>
        <p:spPr>
          <a:xfrm>
            <a:off x="2265971" y="3020290"/>
            <a:ext cx="7108939" cy="169949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Desde la página SHATATC se configuran el catálogo de cursos que pueden ser convalidados para las diferentes instituciones de procedencia. Para ello, siga los siguientes pasos:</a:t>
            </a:r>
          </a:p>
          <a:p>
            <a:pPr marL="228600" indent="-228600">
              <a:buFont typeface="+mj-lt"/>
              <a:buAutoNum type="arabicPeriod"/>
            </a:pPr>
            <a:r>
              <a:rPr lang="es-ES_tradnl" sz="1200" dirty="0"/>
              <a:t>Ingrese o seleccione el Código correspondiente a la Institución para la cual se configurarán las asignaturas.</a:t>
            </a:r>
          </a:p>
          <a:p>
            <a:pPr marL="228600" indent="-228600">
              <a:buFont typeface="+mj-lt"/>
              <a:buAutoNum type="arabicPeriod"/>
            </a:pPr>
            <a:r>
              <a:rPr lang="es-ES_tradnl" sz="1200" dirty="0"/>
              <a:t>Ingrese, si es necesario, el programa para el cual se definiría el catálogo de asignaturas que se pueden convalidar si el estudiante procede de la institución ingresada en el paso 1.</a:t>
            </a:r>
          </a:p>
          <a:p>
            <a:pPr algn="ctr"/>
            <a:r>
              <a:rPr lang="es-ES_tradnl" sz="1100" dirty="0"/>
              <a:t>Si lo desea, este paso puede obviarlo y el catálogo se definirá para la Institución, independientemente </a:t>
            </a:r>
          </a:p>
          <a:p>
            <a:pPr algn="ctr"/>
            <a:r>
              <a:rPr lang="es-ES_tradnl" sz="1100" dirty="0"/>
              <a:t>del Programa al que se daría convalidación.</a:t>
            </a:r>
            <a:endParaRPr lang="es-ES_tradnl" sz="1200" dirty="0"/>
          </a:p>
          <a:p>
            <a:pPr marL="228600" indent="-228600">
              <a:buFont typeface="+mj-lt"/>
              <a:buAutoNum type="arabicPeriod" startAt="3"/>
            </a:pPr>
            <a:r>
              <a:rPr lang="es-ES_tradnl" sz="1200" dirty="0"/>
              <a:t>Presione el botón ‘Ir’.</a:t>
            </a:r>
          </a:p>
        </p:txBody>
      </p:sp>
      <p:sp>
        <p:nvSpPr>
          <p:cNvPr id="6" name="Rectángulo 5">
            <a:extLst>
              <a:ext uri="{FF2B5EF4-FFF2-40B4-BE49-F238E27FC236}">
                <a16:creationId xmlns:a16="http://schemas.microsoft.com/office/drawing/2014/main" id="{9DF7C09B-247F-4A05-7EAD-59540CF798D0}"/>
              </a:ext>
            </a:extLst>
          </p:cNvPr>
          <p:cNvSpPr/>
          <p:nvPr/>
        </p:nvSpPr>
        <p:spPr>
          <a:xfrm>
            <a:off x="1145760" y="1637756"/>
            <a:ext cx="2715039" cy="17620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redondeado 15">
            <a:extLst>
              <a:ext uri="{FF2B5EF4-FFF2-40B4-BE49-F238E27FC236}">
                <a16:creationId xmlns:a16="http://schemas.microsoft.com/office/drawing/2014/main" id="{E38DDE8B-14BF-0579-0816-CBD29F67340A}"/>
              </a:ext>
            </a:extLst>
          </p:cNvPr>
          <p:cNvSpPr/>
          <p:nvPr/>
        </p:nvSpPr>
        <p:spPr>
          <a:xfrm>
            <a:off x="3980720" y="1597050"/>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
        <p:nvSpPr>
          <p:cNvPr id="9" name="Rectángulo 8">
            <a:extLst>
              <a:ext uri="{FF2B5EF4-FFF2-40B4-BE49-F238E27FC236}">
                <a16:creationId xmlns:a16="http://schemas.microsoft.com/office/drawing/2014/main" id="{8E9DFAFC-D87C-8AB5-1BA6-0C6E74796F55}"/>
              </a:ext>
            </a:extLst>
          </p:cNvPr>
          <p:cNvSpPr/>
          <p:nvPr/>
        </p:nvSpPr>
        <p:spPr>
          <a:xfrm>
            <a:off x="11381753" y="1666585"/>
            <a:ext cx="339194" cy="17620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C708A271-F620-7A3C-1EDB-254AA40E666D}"/>
              </a:ext>
            </a:extLst>
          </p:cNvPr>
          <p:cNvSpPr/>
          <p:nvPr/>
        </p:nvSpPr>
        <p:spPr>
          <a:xfrm>
            <a:off x="11181107" y="1842794"/>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1" name="Rectángulo 10">
            <a:extLst>
              <a:ext uri="{FF2B5EF4-FFF2-40B4-BE49-F238E27FC236}">
                <a16:creationId xmlns:a16="http://schemas.microsoft.com/office/drawing/2014/main" id="{C26B837D-F789-F2AB-BADB-BD60117F9A67}"/>
              </a:ext>
            </a:extLst>
          </p:cNvPr>
          <p:cNvSpPr/>
          <p:nvPr/>
        </p:nvSpPr>
        <p:spPr>
          <a:xfrm>
            <a:off x="6179127" y="1633314"/>
            <a:ext cx="1670058" cy="17620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3" name="Rectángulo redondeado 15">
            <a:extLst>
              <a:ext uri="{FF2B5EF4-FFF2-40B4-BE49-F238E27FC236}">
                <a16:creationId xmlns:a16="http://schemas.microsoft.com/office/drawing/2014/main" id="{7BD40639-D965-3F6E-0623-C66ADBF9662E}"/>
              </a:ext>
            </a:extLst>
          </p:cNvPr>
          <p:cNvSpPr/>
          <p:nvPr/>
        </p:nvSpPr>
        <p:spPr>
          <a:xfrm>
            <a:off x="7768460" y="1432320"/>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Tree>
    <p:extLst>
      <p:ext uri="{BB962C8B-B14F-4D97-AF65-F5344CB8AC3E}">
        <p14:creationId xmlns:p14="http://schemas.microsoft.com/office/powerpoint/2010/main" val="4709477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22EB0-9085-72A3-8FCD-FDB03E2306B9}"/>
            </a:ext>
          </a:extLst>
        </p:cNvPr>
        <p:cNvGrpSpPr/>
        <p:nvPr/>
      </p:nvGrpSpPr>
      <p:grpSpPr>
        <a:xfrm>
          <a:off x="0" y="0"/>
          <a:ext cx="0" cy="0"/>
          <a:chOff x="0" y="0"/>
          <a:chExt cx="0" cy="0"/>
        </a:xfrm>
      </p:grpSpPr>
      <p:pic>
        <p:nvPicPr>
          <p:cNvPr id="19" name="Imagen 18">
            <a:extLst>
              <a:ext uri="{FF2B5EF4-FFF2-40B4-BE49-F238E27FC236}">
                <a16:creationId xmlns:a16="http://schemas.microsoft.com/office/drawing/2014/main" id="{F4D224FE-7BD2-6116-BD79-AE8EF68EF6DE}"/>
              </a:ext>
            </a:extLst>
          </p:cNvPr>
          <p:cNvPicPr>
            <a:picLocks noChangeAspect="1"/>
          </p:cNvPicPr>
          <p:nvPr/>
        </p:nvPicPr>
        <p:blipFill>
          <a:blip r:embed="rId2"/>
          <a:stretch>
            <a:fillRect/>
          </a:stretch>
        </p:blipFill>
        <p:spPr>
          <a:xfrm>
            <a:off x="810246" y="1302314"/>
            <a:ext cx="10938408" cy="4976149"/>
          </a:xfrm>
          <a:prstGeom prst="rect">
            <a:avLst/>
          </a:prstGeom>
        </p:spPr>
      </p:pic>
      <p:sp>
        <p:nvSpPr>
          <p:cNvPr id="3" name="Marcador de texto vertical 2">
            <a:extLst>
              <a:ext uri="{FF2B5EF4-FFF2-40B4-BE49-F238E27FC236}">
                <a16:creationId xmlns:a16="http://schemas.microsoft.com/office/drawing/2014/main" id="{2E4C20CE-11EE-8E03-5ACC-2926F877409F}"/>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049F199B-2910-DEAC-6A01-EA1C34862980}"/>
              </a:ext>
            </a:extLst>
          </p:cNvPr>
          <p:cNvSpPr>
            <a:spLocks noGrp="1"/>
          </p:cNvSpPr>
          <p:nvPr>
            <p:ph type="title"/>
          </p:nvPr>
        </p:nvSpPr>
        <p:spPr>
          <a:xfrm>
            <a:off x="810247" y="327992"/>
            <a:ext cx="10271883" cy="626165"/>
          </a:xfrm>
        </p:spPr>
        <p:txBody>
          <a:bodyPr/>
          <a:lstStyle/>
          <a:p>
            <a:r>
              <a:rPr lang="es-ES_tradnl" dirty="0">
                <a:solidFill>
                  <a:schemeClr val="tx2"/>
                </a:solidFill>
              </a:rPr>
              <a:t>Configuración: </a:t>
            </a:r>
            <a:r>
              <a:rPr lang="es-419" dirty="0">
                <a:solidFill>
                  <a:schemeClr val="tx2"/>
                </a:solidFill>
              </a:rPr>
              <a:t>Captura de Catálogo de Institución de Transferencia (SHATATC)</a:t>
            </a:r>
            <a:endParaRPr lang="es-CL" dirty="0"/>
          </a:p>
        </p:txBody>
      </p:sp>
      <p:sp>
        <p:nvSpPr>
          <p:cNvPr id="12" name="Rectángulo redondeado 5">
            <a:extLst>
              <a:ext uri="{FF2B5EF4-FFF2-40B4-BE49-F238E27FC236}">
                <a16:creationId xmlns:a16="http://schemas.microsoft.com/office/drawing/2014/main" id="{34C0EC03-285A-DA11-D4A2-D4AE38A66790}"/>
              </a:ext>
            </a:extLst>
          </p:cNvPr>
          <p:cNvSpPr/>
          <p:nvPr/>
        </p:nvSpPr>
        <p:spPr>
          <a:xfrm>
            <a:off x="1681018" y="3336218"/>
            <a:ext cx="8146473" cy="212668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4"/>
            </a:pPr>
            <a:r>
              <a:rPr lang="es-ES_tradnl" sz="1200" dirty="0"/>
              <a:t>Ingrese o seleccione el período a partir del cual la asignatura será tomada para la convalidación (debe ser igual o mayor al período definido para la institución en la página SOABGTA.</a:t>
            </a:r>
          </a:p>
          <a:p>
            <a:pPr marL="228600" indent="-228600">
              <a:buFont typeface="+mj-lt"/>
              <a:buAutoNum type="arabicPeriod" startAt="4"/>
            </a:pPr>
            <a:r>
              <a:rPr lang="es-ES_tradnl" sz="1200" dirty="0"/>
              <a:t>Ingrese el nivel para el cual esta asignatura puede ser convalidada. La lista dependerá de los niveles definidos en SOABGTA.</a:t>
            </a:r>
          </a:p>
          <a:p>
            <a:pPr marL="228600" indent="-228600">
              <a:buFont typeface="+mj-lt"/>
              <a:buAutoNum type="arabicPeriod" startAt="4"/>
            </a:pPr>
            <a:r>
              <a:rPr lang="es-CO" sz="1200" dirty="0"/>
              <a:t>Ingrese el código de la asignatura de procedencia (puede ser igual al de la UAI o uno que corresponda ala institución) en los campos Materia y Curso</a:t>
            </a:r>
            <a:r>
              <a:rPr lang="es-ES_tradnl" sz="1200" dirty="0"/>
              <a:t>.</a:t>
            </a:r>
          </a:p>
          <a:p>
            <a:pPr marL="228600" indent="-228600">
              <a:buFont typeface="+mj-lt"/>
              <a:buAutoNum type="arabicPeriod" startAt="4"/>
            </a:pPr>
            <a:r>
              <a:rPr lang="es-CO" sz="1200" dirty="0"/>
              <a:t>Ingrese el </a:t>
            </a:r>
            <a:r>
              <a:rPr lang="es-CO" sz="1200" b="1" dirty="0"/>
              <a:t>estatus</a:t>
            </a:r>
            <a:r>
              <a:rPr lang="es-CO" sz="1200" dirty="0"/>
              <a:t> de la asignatura. Solo los cursos activos pueden ser convalidados. </a:t>
            </a:r>
          </a:p>
          <a:p>
            <a:pPr marL="228600" indent="-228600">
              <a:buFont typeface="+mj-lt"/>
              <a:buAutoNum type="arabicPeriod" startAt="4"/>
            </a:pPr>
            <a:r>
              <a:rPr lang="es-CO" sz="1200" dirty="0"/>
              <a:t>Ingrese el nombre de la asignatura de procedencia (máximo 30 caracteres)</a:t>
            </a:r>
            <a:r>
              <a:rPr lang="es-ES_tradnl" sz="1200" dirty="0"/>
              <a:t>.</a:t>
            </a:r>
          </a:p>
          <a:p>
            <a:pPr marL="228600" indent="-228600">
              <a:buFont typeface="+mj-lt"/>
              <a:buAutoNum type="arabicPeriod" startAt="4"/>
            </a:pPr>
            <a:r>
              <a:rPr lang="es-ES_tradnl" sz="1200" dirty="0"/>
              <a:t>Guarde la información.</a:t>
            </a:r>
          </a:p>
          <a:p>
            <a:pPr algn="ctr"/>
            <a:r>
              <a:rPr lang="es-ES_tradnl" sz="1100" dirty="0"/>
              <a:t>Para ingresar más registros, presione el botón +.</a:t>
            </a:r>
          </a:p>
        </p:txBody>
      </p:sp>
      <p:sp>
        <p:nvSpPr>
          <p:cNvPr id="6" name="Rectángulo 5">
            <a:extLst>
              <a:ext uri="{FF2B5EF4-FFF2-40B4-BE49-F238E27FC236}">
                <a16:creationId xmlns:a16="http://schemas.microsoft.com/office/drawing/2014/main" id="{1CD22A19-6602-84C1-08AD-C7DC74BB5546}"/>
              </a:ext>
            </a:extLst>
          </p:cNvPr>
          <p:cNvSpPr/>
          <p:nvPr/>
        </p:nvSpPr>
        <p:spPr>
          <a:xfrm>
            <a:off x="2842247" y="1985137"/>
            <a:ext cx="870771" cy="36442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D6565C4E-677B-A26C-FFBA-F2DD679F63D0}"/>
              </a:ext>
            </a:extLst>
          </p:cNvPr>
          <p:cNvSpPr/>
          <p:nvPr/>
        </p:nvSpPr>
        <p:spPr>
          <a:xfrm>
            <a:off x="2842247" y="2405100"/>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
        <p:nvSpPr>
          <p:cNvPr id="11" name="Rectángulo 10">
            <a:extLst>
              <a:ext uri="{FF2B5EF4-FFF2-40B4-BE49-F238E27FC236}">
                <a16:creationId xmlns:a16="http://schemas.microsoft.com/office/drawing/2014/main" id="{F0EA6B49-184F-CD28-8888-94FE126C1FA8}"/>
              </a:ext>
            </a:extLst>
          </p:cNvPr>
          <p:cNvSpPr/>
          <p:nvPr/>
        </p:nvSpPr>
        <p:spPr>
          <a:xfrm>
            <a:off x="4141712" y="1972209"/>
            <a:ext cx="751357" cy="36442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3" name="Rectángulo redondeado 15">
            <a:extLst>
              <a:ext uri="{FF2B5EF4-FFF2-40B4-BE49-F238E27FC236}">
                <a16:creationId xmlns:a16="http://schemas.microsoft.com/office/drawing/2014/main" id="{C3D7C8F4-34E4-772F-F5EA-B5DD9939C506}"/>
              </a:ext>
            </a:extLst>
          </p:cNvPr>
          <p:cNvSpPr/>
          <p:nvPr/>
        </p:nvSpPr>
        <p:spPr>
          <a:xfrm>
            <a:off x="4226484" y="2392172"/>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
        <p:nvSpPr>
          <p:cNvPr id="14" name="Rectángulo 13">
            <a:extLst>
              <a:ext uri="{FF2B5EF4-FFF2-40B4-BE49-F238E27FC236}">
                <a16:creationId xmlns:a16="http://schemas.microsoft.com/office/drawing/2014/main" id="{4681D9D4-D1AD-10A8-8C0B-B5AA72E22DA1}"/>
              </a:ext>
            </a:extLst>
          </p:cNvPr>
          <p:cNvSpPr/>
          <p:nvPr/>
        </p:nvSpPr>
        <p:spPr>
          <a:xfrm>
            <a:off x="4954972" y="1972209"/>
            <a:ext cx="1759864" cy="3592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 name="Rectángulo redondeado 15">
            <a:extLst>
              <a:ext uri="{FF2B5EF4-FFF2-40B4-BE49-F238E27FC236}">
                <a16:creationId xmlns:a16="http://schemas.microsoft.com/office/drawing/2014/main" id="{E2E4D99A-2E7F-0978-44C1-EE263F16315C}"/>
              </a:ext>
            </a:extLst>
          </p:cNvPr>
          <p:cNvSpPr/>
          <p:nvPr/>
        </p:nvSpPr>
        <p:spPr>
          <a:xfrm>
            <a:off x="5673455" y="2386958"/>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sp>
        <p:nvSpPr>
          <p:cNvPr id="5" name="Rectángulo 4">
            <a:extLst>
              <a:ext uri="{FF2B5EF4-FFF2-40B4-BE49-F238E27FC236}">
                <a16:creationId xmlns:a16="http://schemas.microsoft.com/office/drawing/2014/main" id="{C267835F-5D76-3818-F810-CDA2B7D894F6}"/>
              </a:ext>
            </a:extLst>
          </p:cNvPr>
          <p:cNvSpPr/>
          <p:nvPr/>
        </p:nvSpPr>
        <p:spPr>
          <a:xfrm>
            <a:off x="7190820" y="1966995"/>
            <a:ext cx="642924" cy="36442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8">
            <a:extLst>
              <a:ext uri="{FF2B5EF4-FFF2-40B4-BE49-F238E27FC236}">
                <a16:creationId xmlns:a16="http://schemas.microsoft.com/office/drawing/2014/main" id="{D52685C8-0CBD-F6BB-5A29-A8AB81A174AA}"/>
              </a:ext>
            </a:extLst>
          </p:cNvPr>
          <p:cNvSpPr/>
          <p:nvPr/>
        </p:nvSpPr>
        <p:spPr>
          <a:xfrm>
            <a:off x="8051802" y="1966995"/>
            <a:ext cx="3329952" cy="36442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0E0C4ED1-0B65-6F33-FA4F-42D6507D6924}"/>
              </a:ext>
            </a:extLst>
          </p:cNvPr>
          <p:cNvSpPr/>
          <p:nvPr/>
        </p:nvSpPr>
        <p:spPr>
          <a:xfrm>
            <a:off x="7431557" y="2386957"/>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7</a:t>
            </a:r>
            <a:endParaRPr lang="es-419" sz="1100" noProof="0" dirty="0"/>
          </a:p>
        </p:txBody>
      </p:sp>
      <p:sp>
        <p:nvSpPr>
          <p:cNvPr id="16" name="Rectángulo redondeado 15">
            <a:extLst>
              <a:ext uri="{FF2B5EF4-FFF2-40B4-BE49-F238E27FC236}">
                <a16:creationId xmlns:a16="http://schemas.microsoft.com/office/drawing/2014/main" id="{507E71DC-0464-7306-0706-E0E625C01BF3}"/>
              </a:ext>
            </a:extLst>
          </p:cNvPr>
          <p:cNvSpPr/>
          <p:nvPr/>
        </p:nvSpPr>
        <p:spPr>
          <a:xfrm>
            <a:off x="9349753" y="2362564"/>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8</a:t>
            </a:r>
          </a:p>
        </p:txBody>
      </p:sp>
      <p:sp>
        <p:nvSpPr>
          <p:cNvPr id="20" name="Rectángulo 19">
            <a:extLst>
              <a:ext uri="{FF2B5EF4-FFF2-40B4-BE49-F238E27FC236}">
                <a16:creationId xmlns:a16="http://schemas.microsoft.com/office/drawing/2014/main" id="{1FED33D0-245D-4297-75EF-266AFB7896B9}"/>
              </a:ext>
            </a:extLst>
          </p:cNvPr>
          <p:cNvSpPr/>
          <p:nvPr/>
        </p:nvSpPr>
        <p:spPr>
          <a:xfrm>
            <a:off x="11268363" y="6012872"/>
            <a:ext cx="489528" cy="17779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1" name="Rectángulo redondeado 15">
            <a:extLst>
              <a:ext uri="{FF2B5EF4-FFF2-40B4-BE49-F238E27FC236}">
                <a16:creationId xmlns:a16="http://schemas.microsoft.com/office/drawing/2014/main" id="{794DDF6E-0AC6-F708-2E3B-3908795D2078}"/>
              </a:ext>
            </a:extLst>
          </p:cNvPr>
          <p:cNvSpPr/>
          <p:nvPr/>
        </p:nvSpPr>
        <p:spPr>
          <a:xfrm>
            <a:off x="10890086" y="5852057"/>
            <a:ext cx="355262"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9</a:t>
            </a:r>
            <a:endParaRPr lang="es-419" sz="1100" noProof="0" dirty="0"/>
          </a:p>
        </p:txBody>
      </p:sp>
      <p:sp>
        <p:nvSpPr>
          <p:cNvPr id="22" name="Rectángulo 21">
            <a:extLst>
              <a:ext uri="{FF2B5EF4-FFF2-40B4-BE49-F238E27FC236}">
                <a16:creationId xmlns:a16="http://schemas.microsoft.com/office/drawing/2014/main" id="{C9D45FD3-9FCC-63AA-62BD-878E24EB3638}"/>
              </a:ext>
            </a:extLst>
          </p:cNvPr>
          <p:cNvSpPr/>
          <p:nvPr/>
        </p:nvSpPr>
        <p:spPr>
          <a:xfrm>
            <a:off x="10991272" y="1787237"/>
            <a:ext cx="198582" cy="16081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38821149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6674B-0EBD-3AA4-5FF8-6D2522B30083}"/>
            </a:ext>
          </a:extLst>
        </p:cNvPr>
        <p:cNvGrpSpPr/>
        <p:nvPr/>
      </p:nvGrpSpPr>
      <p:grpSpPr>
        <a:xfrm>
          <a:off x="0" y="0"/>
          <a:ext cx="0" cy="0"/>
          <a:chOff x="0" y="0"/>
          <a:chExt cx="0" cy="0"/>
        </a:xfrm>
      </p:grpSpPr>
      <p:pic>
        <p:nvPicPr>
          <p:cNvPr id="19" name="Imagen 18">
            <a:extLst>
              <a:ext uri="{FF2B5EF4-FFF2-40B4-BE49-F238E27FC236}">
                <a16:creationId xmlns:a16="http://schemas.microsoft.com/office/drawing/2014/main" id="{849DF803-F2CD-FBDA-2020-18281920ABAC}"/>
              </a:ext>
            </a:extLst>
          </p:cNvPr>
          <p:cNvPicPr>
            <a:picLocks noChangeAspect="1"/>
          </p:cNvPicPr>
          <p:nvPr/>
        </p:nvPicPr>
        <p:blipFill>
          <a:blip r:embed="rId2"/>
          <a:stretch>
            <a:fillRect/>
          </a:stretch>
        </p:blipFill>
        <p:spPr>
          <a:xfrm>
            <a:off x="810246" y="1302314"/>
            <a:ext cx="10938408" cy="4976149"/>
          </a:xfrm>
          <a:prstGeom prst="rect">
            <a:avLst/>
          </a:prstGeom>
        </p:spPr>
      </p:pic>
      <p:sp>
        <p:nvSpPr>
          <p:cNvPr id="3" name="Marcador de texto vertical 2">
            <a:extLst>
              <a:ext uri="{FF2B5EF4-FFF2-40B4-BE49-F238E27FC236}">
                <a16:creationId xmlns:a16="http://schemas.microsoft.com/office/drawing/2014/main" id="{BB7C3F1B-68EB-297A-5689-A2FEB4064D79}"/>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C6EE2A51-DEED-7131-3F59-9793A91287CB}"/>
              </a:ext>
            </a:extLst>
          </p:cNvPr>
          <p:cNvSpPr>
            <a:spLocks noGrp="1"/>
          </p:cNvSpPr>
          <p:nvPr>
            <p:ph type="title"/>
          </p:nvPr>
        </p:nvSpPr>
        <p:spPr>
          <a:xfrm>
            <a:off x="810247" y="327992"/>
            <a:ext cx="10271883" cy="626165"/>
          </a:xfrm>
        </p:spPr>
        <p:txBody>
          <a:bodyPr/>
          <a:lstStyle/>
          <a:p>
            <a:r>
              <a:rPr lang="es-ES_tradnl" dirty="0">
                <a:solidFill>
                  <a:schemeClr val="tx2"/>
                </a:solidFill>
              </a:rPr>
              <a:t>Configuración: </a:t>
            </a:r>
            <a:r>
              <a:rPr lang="es-419" dirty="0">
                <a:solidFill>
                  <a:schemeClr val="tx2"/>
                </a:solidFill>
              </a:rPr>
              <a:t>Captura de Catálogo de Institución de Transferencia (SHATATC)</a:t>
            </a:r>
            <a:endParaRPr lang="es-CL" dirty="0"/>
          </a:p>
        </p:txBody>
      </p:sp>
      <p:sp>
        <p:nvSpPr>
          <p:cNvPr id="12" name="Rectángulo redondeado 5">
            <a:extLst>
              <a:ext uri="{FF2B5EF4-FFF2-40B4-BE49-F238E27FC236}">
                <a16:creationId xmlns:a16="http://schemas.microsoft.com/office/drawing/2014/main" id="{83DDFD7A-BE05-2527-8FA4-3E342E2354DE}"/>
              </a:ext>
            </a:extLst>
          </p:cNvPr>
          <p:cNvSpPr/>
          <p:nvPr/>
        </p:nvSpPr>
        <p:spPr>
          <a:xfrm>
            <a:off x="1680942" y="4913745"/>
            <a:ext cx="8146473" cy="109912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10"/>
            </a:pPr>
            <a:r>
              <a:rPr lang="es-419" sz="1200" dirty="0"/>
              <a:t>Si lo desea, puede asignar atributos a las asignaturas dadas por convalidación. Por ejemplo electivas. </a:t>
            </a:r>
            <a:endParaRPr lang="es-ES_tradnl" sz="1200" dirty="0"/>
          </a:p>
          <a:p>
            <a:pPr marL="228600" indent="-228600">
              <a:buFont typeface="+mj-lt"/>
              <a:buAutoNum type="arabicPeriod" startAt="11"/>
            </a:pPr>
            <a:r>
              <a:rPr lang="es-419" sz="1200" dirty="0"/>
              <a:t>Si lo desea, puede agregar comentarios a cada asignatura.</a:t>
            </a:r>
          </a:p>
          <a:p>
            <a:pPr marL="228600" indent="-228600">
              <a:buFont typeface="+mj-lt"/>
              <a:buAutoNum type="arabicPeriod" startAt="11"/>
            </a:pPr>
            <a:r>
              <a:rPr lang="es-419" sz="1200" dirty="0"/>
              <a:t>Guarde la información. </a:t>
            </a:r>
            <a:endParaRPr lang="es-ES_tradnl" sz="1200" dirty="0"/>
          </a:p>
        </p:txBody>
      </p:sp>
      <p:sp>
        <p:nvSpPr>
          <p:cNvPr id="6" name="Rectángulo 5">
            <a:extLst>
              <a:ext uri="{FF2B5EF4-FFF2-40B4-BE49-F238E27FC236}">
                <a16:creationId xmlns:a16="http://schemas.microsoft.com/office/drawing/2014/main" id="{C3AE1E0A-875D-0EFF-C451-4BD812EA7BE9}"/>
              </a:ext>
            </a:extLst>
          </p:cNvPr>
          <p:cNvSpPr/>
          <p:nvPr/>
        </p:nvSpPr>
        <p:spPr>
          <a:xfrm>
            <a:off x="810246" y="3111302"/>
            <a:ext cx="10938408" cy="58077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0" name="Rectángulo 19">
            <a:extLst>
              <a:ext uri="{FF2B5EF4-FFF2-40B4-BE49-F238E27FC236}">
                <a16:creationId xmlns:a16="http://schemas.microsoft.com/office/drawing/2014/main" id="{4290D5B9-2A8D-7D6E-AE54-8D5CABEC944A}"/>
              </a:ext>
            </a:extLst>
          </p:cNvPr>
          <p:cNvSpPr/>
          <p:nvPr/>
        </p:nvSpPr>
        <p:spPr>
          <a:xfrm>
            <a:off x="11268363" y="6012872"/>
            <a:ext cx="489528" cy="17779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1" name="Rectángulo redondeado 15">
            <a:extLst>
              <a:ext uri="{FF2B5EF4-FFF2-40B4-BE49-F238E27FC236}">
                <a16:creationId xmlns:a16="http://schemas.microsoft.com/office/drawing/2014/main" id="{D79E5006-EA8A-23C2-67F2-8A528FD12723}"/>
              </a:ext>
            </a:extLst>
          </p:cNvPr>
          <p:cNvSpPr/>
          <p:nvPr/>
        </p:nvSpPr>
        <p:spPr>
          <a:xfrm>
            <a:off x="10890086" y="5852057"/>
            <a:ext cx="355262"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12</a:t>
            </a:r>
            <a:endParaRPr lang="es-419" sz="1100" noProof="0" dirty="0"/>
          </a:p>
        </p:txBody>
      </p:sp>
      <p:sp>
        <p:nvSpPr>
          <p:cNvPr id="7" name="Rectángulo redondeado 15">
            <a:extLst>
              <a:ext uri="{FF2B5EF4-FFF2-40B4-BE49-F238E27FC236}">
                <a16:creationId xmlns:a16="http://schemas.microsoft.com/office/drawing/2014/main" id="{4A78BB57-1B11-65EA-5737-0FA78F46B512}"/>
              </a:ext>
            </a:extLst>
          </p:cNvPr>
          <p:cNvSpPr/>
          <p:nvPr/>
        </p:nvSpPr>
        <p:spPr>
          <a:xfrm>
            <a:off x="706659" y="2875288"/>
            <a:ext cx="355262"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10</a:t>
            </a:r>
            <a:endParaRPr lang="es-419" sz="1100" noProof="0" dirty="0"/>
          </a:p>
        </p:txBody>
      </p:sp>
      <p:sp>
        <p:nvSpPr>
          <p:cNvPr id="8" name="Rectángulo 7">
            <a:extLst>
              <a:ext uri="{FF2B5EF4-FFF2-40B4-BE49-F238E27FC236}">
                <a16:creationId xmlns:a16="http://schemas.microsoft.com/office/drawing/2014/main" id="{BB7DA7DF-6736-91BA-AFF6-CE2A11502251}"/>
              </a:ext>
            </a:extLst>
          </p:cNvPr>
          <p:cNvSpPr/>
          <p:nvPr/>
        </p:nvSpPr>
        <p:spPr>
          <a:xfrm>
            <a:off x="810246" y="3722140"/>
            <a:ext cx="10938408" cy="58077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7" name="Rectángulo redondeado 15">
            <a:extLst>
              <a:ext uri="{FF2B5EF4-FFF2-40B4-BE49-F238E27FC236}">
                <a16:creationId xmlns:a16="http://schemas.microsoft.com/office/drawing/2014/main" id="{E973FB73-70F3-818D-5B58-CCAB3070A243}"/>
              </a:ext>
            </a:extLst>
          </p:cNvPr>
          <p:cNvSpPr/>
          <p:nvPr/>
        </p:nvSpPr>
        <p:spPr>
          <a:xfrm>
            <a:off x="632615" y="4367109"/>
            <a:ext cx="355262"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11</a:t>
            </a:r>
            <a:endParaRPr lang="es-419" sz="1100" noProof="0" dirty="0"/>
          </a:p>
        </p:txBody>
      </p:sp>
    </p:spTree>
    <p:extLst>
      <p:ext uri="{BB962C8B-B14F-4D97-AF65-F5344CB8AC3E}">
        <p14:creationId xmlns:p14="http://schemas.microsoft.com/office/powerpoint/2010/main" val="26226899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55F50-E6FF-BF3B-E72F-760224F3D80A}"/>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BF7E3586-738E-6D44-313F-C4DEAF5A59D4}"/>
              </a:ext>
            </a:extLst>
          </p:cNvPr>
          <p:cNvSpPr>
            <a:spLocks noGrp="1"/>
          </p:cNvSpPr>
          <p:nvPr>
            <p:ph type="body" sz="quarter" idx="10"/>
          </p:nvPr>
        </p:nvSpPr>
        <p:spPr>
          <a:xfrm>
            <a:off x="914399" y="2238843"/>
            <a:ext cx="10363202" cy="1333891"/>
          </a:xfrm>
        </p:spPr>
        <p:txBody>
          <a:bodyPr/>
          <a:lstStyle/>
          <a:p>
            <a:r>
              <a:rPr lang="es-419" dirty="0"/>
              <a:t>Articulación de curso para convalidación</a:t>
            </a:r>
          </a:p>
        </p:txBody>
      </p:sp>
      <p:sp>
        <p:nvSpPr>
          <p:cNvPr id="6" name="Marcador de texto 5">
            <a:extLst>
              <a:ext uri="{FF2B5EF4-FFF2-40B4-BE49-F238E27FC236}">
                <a16:creationId xmlns:a16="http://schemas.microsoft.com/office/drawing/2014/main" id="{B0E5BC53-0283-97ED-8622-DE79479ACDDF}"/>
              </a:ext>
            </a:extLst>
          </p:cNvPr>
          <p:cNvSpPr>
            <a:spLocks noGrp="1"/>
          </p:cNvSpPr>
          <p:nvPr>
            <p:ph type="body" sz="quarter" idx="11"/>
          </p:nvPr>
        </p:nvSpPr>
        <p:spPr>
          <a:xfrm>
            <a:off x="914399" y="3750468"/>
            <a:ext cx="10363202" cy="389915"/>
          </a:xfrm>
        </p:spPr>
        <p:txBody>
          <a:bodyPr/>
          <a:lstStyle/>
          <a:p>
            <a:r>
              <a:rPr lang="es-419" dirty="0"/>
              <a:t>Gestionar homologación y convalidación</a:t>
            </a:r>
          </a:p>
        </p:txBody>
      </p:sp>
    </p:spTree>
    <p:extLst>
      <p:ext uri="{BB962C8B-B14F-4D97-AF65-F5344CB8AC3E}">
        <p14:creationId xmlns:p14="http://schemas.microsoft.com/office/powerpoint/2010/main" val="41890330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5EE40-3390-98C3-EF05-D92BE846DF6A}"/>
            </a:ext>
          </a:extLst>
        </p:cNvPr>
        <p:cNvGrpSpPr/>
        <p:nvPr/>
      </p:nvGrpSpPr>
      <p:grpSpPr>
        <a:xfrm>
          <a:off x="0" y="0"/>
          <a:ext cx="0" cy="0"/>
          <a:chOff x="0" y="0"/>
          <a:chExt cx="0" cy="0"/>
        </a:xfrm>
      </p:grpSpPr>
      <p:pic>
        <p:nvPicPr>
          <p:cNvPr id="15" name="Imagen 14">
            <a:extLst>
              <a:ext uri="{FF2B5EF4-FFF2-40B4-BE49-F238E27FC236}">
                <a16:creationId xmlns:a16="http://schemas.microsoft.com/office/drawing/2014/main" id="{DE6D1ED2-D793-ACE1-9662-9004444548DA}"/>
              </a:ext>
            </a:extLst>
          </p:cNvPr>
          <p:cNvPicPr>
            <a:picLocks noChangeAspect="1"/>
          </p:cNvPicPr>
          <p:nvPr/>
        </p:nvPicPr>
        <p:blipFill>
          <a:blip r:embed="rId2"/>
          <a:stretch>
            <a:fillRect/>
          </a:stretch>
        </p:blipFill>
        <p:spPr>
          <a:xfrm>
            <a:off x="810247" y="1361925"/>
            <a:ext cx="10938408" cy="1151411"/>
          </a:xfrm>
          <a:prstGeom prst="rect">
            <a:avLst/>
          </a:prstGeom>
        </p:spPr>
      </p:pic>
      <p:sp>
        <p:nvSpPr>
          <p:cNvPr id="3" name="Marcador de texto vertical 2">
            <a:extLst>
              <a:ext uri="{FF2B5EF4-FFF2-40B4-BE49-F238E27FC236}">
                <a16:creationId xmlns:a16="http://schemas.microsoft.com/office/drawing/2014/main" id="{F4DAD7D6-C1D8-7584-A392-D390E69F2667}"/>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625456AB-E1C1-D756-7CB0-2A4E6A012298}"/>
              </a:ext>
            </a:extLst>
          </p:cNvPr>
          <p:cNvSpPr>
            <a:spLocks noGrp="1"/>
          </p:cNvSpPr>
          <p:nvPr>
            <p:ph type="title"/>
          </p:nvPr>
        </p:nvSpPr>
        <p:spPr>
          <a:xfrm>
            <a:off x="810247" y="327992"/>
            <a:ext cx="10271883" cy="626165"/>
          </a:xfrm>
        </p:spPr>
        <p:txBody>
          <a:bodyPr/>
          <a:lstStyle/>
          <a:p>
            <a:r>
              <a:rPr lang="es-ES_tradnl" dirty="0">
                <a:solidFill>
                  <a:schemeClr val="tx2"/>
                </a:solidFill>
              </a:rPr>
              <a:t>Configuración: </a:t>
            </a:r>
            <a:r>
              <a:rPr lang="es-419" dirty="0">
                <a:solidFill>
                  <a:schemeClr val="tx2"/>
                </a:solidFill>
              </a:rPr>
              <a:t>Articulación de curso de transferencia  (SHATATR)</a:t>
            </a:r>
            <a:endParaRPr lang="es-CL" dirty="0"/>
          </a:p>
        </p:txBody>
      </p:sp>
      <p:sp>
        <p:nvSpPr>
          <p:cNvPr id="12" name="Rectángulo redondeado 5">
            <a:extLst>
              <a:ext uri="{FF2B5EF4-FFF2-40B4-BE49-F238E27FC236}">
                <a16:creationId xmlns:a16="http://schemas.microsoft.com/office/drawing/2014/main" id="{CF70706F-807A-F2BD-24FA-3855E10C51F5}"/>
              </a:ext>
            </a:extLst>
          </p:cNvPr>
          <p:cNvSpPr/>
          <p:nvPr/>
        </p:nvSpPr>
        <p:spPr>
          <a:xfrm>
            <a:off x="1985819" y="3429000"/>
            <a:ext cx="7906326" cy="206707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Desde la página SHATATR se define la articulación entre las asignaturas definidas en la página SHATATC y las de la UAI que serán convalidadas por ellas. Para ello, siga los siguientes pasos:</a:t>
            </a:r>
          </a:p>
          <a:p>
            <a:endParaRPr lang="es-ES_tradnl" sz="1200" dirty="0"/>
          </a:p>
          <a:p>
            <a:pPr marL="228600" indent="-228600">
              <a:buFont typeface="+mj-lt"/>
              <a:buAutoNum type="arabicPeriod"/>
            </a:pPr>
            <a:r>
              <a:rPr lang="es-ES_tradnl" sz="1200" dirty="0"/>
              <a:t>Ingrese o seleccione el Código correspondiente a la Institución para la cual se configurarán las equivalencias.</a:t>
            </a:r>
          </a:p>
          <a:p>
            <a:pPr marL="228600" indent="-228600">
              <a:buFont typeface="+mj-lt"/>
              <a:buAutoNum type="arabicPeriod"/>
            </a:pPr>
            <a:r>
              <a:rPr lang="es-ES_tradnl" sz="1200" dirty="0"/>
              <a:t>Ingrese, si es necesario, el programa para el cual se definiría la equivalencia entre sus asignaturas y las de UAI.</a:t>
            </a:r>
          </a:p>
          <a:p>
            <a:pPr algn="ctr"/>
            <a:r>
              <a:rPr lang="es-ES_tradnl" sz="1100" dirty="0"/>
              <a:t>Si lo desea, este paso puede obviarlo y el catálogo se definirá para la Institución, independientemente </a:t>
            </a:r>
          </a:p>
          <a:p>
            <a:pPr algn="ctr"/>
            <a:r>
              <a:rPr lang="es-ES_tradnl" sz="1100" dirty="0"/>
              <a:t>del Programa al que se daría convalidación.</a:t>
            </a:r>
            <a:endParaRPr lang="es-ES_tradnl" sz="1200" dirty="0"/>
          </a:p>
          <a:p>
            <a:pPr marL="228600" indent="-228600">
              <a:buFont typeface="+mj-lt"/>
              <a:buAutoNum type="arabicPeriod" startAt="3"/>
            </a:pPr>
            <a:r>
              <a:rPr lang="es-ES_tradnl" sz="1200" dirty="0"/>
              <a:t>Presione el botón ‘Ir’.</a:t>
            </a:r>
          </a:p>
        </p:txBody>
      </p:sp>
      <p:sp>
        <p:nvSpPr>
          <p:cNvPr id="6" name="Rectángulo 5">
            <a:extLst>
              <a:ext uri="{FF2B5EF4-FFF2-40B4-BE49-F238E27FC236}">
                <a16:creationId xmlns:a16="http://schemas.microsoft.com/office/drawing/2014/main" id="{B64D0860-9EF2-6207-65CF-3D3406198C73}"/>
              </a:ext>
            </a:extLst>
          </p:cNvPr>
          <p:cNvSpPr/>
          <p:nvPr/>
        </p:nvSpPr>
        <p:spPr>
          <a:xfrm>
            <a:off x="1145760" y="1637756"/>
            <a:ext cx="2179331" cy="20503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redondeado 15">
            <a:extLst>
              <a:ext uri="{FF2B5EF4-FFF2-40B4-BE49-F238E27FC236}">
                <a16:creationId xmlns:a16="http://schemas.microsoft.com/office/drawing/2014/main" id="{1289EDA4-6E8E-16CB-3544-30EB99A82D70}"/>
              </a:ext>
            </a:extLst>
          </p:cNvPr>
          <p:cNvSpPr/>
          <p:nvPr/>
        </p:nvSpPr>
        <p:spPr>
          <a:xfrm>
            <a:off x="3364288" y="1579460"/>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
        <p:nvSpPr>
          <p:cNvPr id="9" name="Rectángulo 8">
            <a:extLst>
              <a:ext uri="{FF2B5EF4-FFF2-40B4-BE49-F238E27FC236}">
                <a16:creationId xmlns:a16="http://schemas.microsoft.com/office/drawing/2014/main" id="{3CF2FEF1-28ED-A5D2-10D0-EBE3BBC9B107}"/>
              </a:ext>
            </a:extLst>
          </p:cNvPr>
          <p:cNvSpPr/>
          <p:nvPr/>
        </p:nvSpPr>
        <p:spPr>
          <a:xfrm>
            <a:off x="11381753" y="1666585"/>
            <a:ext cx="339194" cy="17620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F1D93817-732C-E2EC-C740-D391791C0AE1}"/>
              </a:ext>
            </a:extLst>
          </p:cNvPr>
          <p:cNvSpPr/>
          <p:nvPr/>
        </p:nvSpPr>
        <p:spPr>
          <a:xfrm>
            <a:off x="11181107" y="1842794"/>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1" name="Rectángulo 10">
            <a:extLst>
              <a:ext uri="{FF2B5EF4-FFF2-40B4-BE49-F238E27FC236}">
                <a16:creationId xmlns:a16="http://schemas.microsoft.com/office/drawing/2014/main" id="{CE7A609C-06E0-FECF-217A-21BE612804F8}"/>
              </a:ext>
            </a:extLst>
          </p:cNvPr>
          <p:cNvSpPr/>
          <p:nvPr/>
        </p:nvSpPr>
        <p:spPr>
          <a:xfrm>
            <a:off x="6160655" y="1633314"/>
            <a:ext cx="1688530" cy="20503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3" name="Rectángulo redondeado 15">
            <a:extLst>
              <a:ext uri="{FF2B5EF4-FFF2-40B4-BE49-F238E27FC236}">
                <a16:creationId xmlns:a16="http://schemas.microsoft.com/office/drawing/2014/main" id="{AD5C397B-9862-D5A1-B92A-73EBB11E61B9}"/>
              </a:ext>
            </a:extLst>
          </p:cNvPr>
          <p:cNvSpPr/>
          <p:nvPr/>
        </p:nvSpPr>
        <p:spPr>
          <a:xfrm>
            <a:off x="7888382" y="1542034"/>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Tree>
    <p:extLst>
      <p:ext uri="{BB962C8B-B14F-4D97-AF65-F5344CB8AC3E}">
        <p14:creationId xmlns:p14="http://schemas.microsoft.com/office/powerpoint/2010/main" val="16060116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A2EC0-ED0E-059C-2112-51792BE7311C}"/>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8BE4BF68-E6F6-6844-1084-A2C0DD7658BB}"/>
              </a:ext>
            </a:extLst>
          </p:cNvPr>
          <p:cNvPicPr>
            <a:picLocks noChangeAspect="1"/>
          </p:cNvPicPr>
          <p:nvPr/>
        </p:nvPicPr>
        <p:blipFill>
          <a:blip r:embed="rId2"/>
          <a:stretch>
            <a:fillRect/>
          </a:stretch>
        </p:blipFill>
        <p:spPr>
          <a:xfrm>
            <a:off x="810247" y="1324268"/>
            <a:ext cx="10938407" cy="4964748"/>
          </a:xfrm>
          <a:prstGeom prst="rect">
            <a:avLst/>
          </a:prstGeom>
        </p:spPr>
      </p:pic>
      <p:sp>
        <p:nvSpPr>
          <p:cNvPr id="3" name="Marcador de texto vertical 2">
            <a:extLst>
              <a:ext uri="{FF2B5EF4-FFF2-40B4-BE49-F238E27FC236}">
                <a16:creationId xmlns:a16="http://schemas.microsoft.com/office/drawing/2014/main" id="{20502B60-1DFB-F6FD-C007-68BBFFD25F1D}"/>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D3728FB5-CA09-862D-DE62-3893ABFC297E}"/>
              </a:ext>
            </a:extLst>
          </p:cNvPr>
          <p:cNvSpPr>
            <a:spLocks noGrp="1"/>
          </p:cNvSpPr>
          <p:nvPr>
            <p:ph type="title"/>
          </p:nvPr>
        </p:nvSpPr>
        <p:spPr>
          <a:xfrm>
            <a:off x="810247" y="327992"/>
            <a:ext cx="10271883" cy="626165"/>
          </a:xfrm>
        </p:spPr>
        <p:txBody>
          <a:bodyPr/>
          <a:lstStyle/>
          <a:p>
            <a:r>
              <a:rPr lang="es-ES_tradnl" dirty="0">
                <a:solidFill>
                  <a:schemeClr val="tx2"/>
                </a:solidFill>
              </a:rPr>
              <a:t>Configuración: </a:t>
            </a:r>
            <a:r>
              <a:rPr lang="es-419" dirty="0">
                <a:solidFill>
                  <a:schemeClr val="tx2"/>
                </a:solidFill>
              </a:rPr>
              <a:t>Articulación de curso de transferencia  (SHATATR)</a:t>
            </a:r>
            <a:endParaRPr lang="es-CL" dirty="0"/>
          </a:p>
        </p:txBody>
      </p:sp>
      <p:sp>
        <p:nvSpPr>
          <p:cNvPr id="12" name="Rectángulo redondeado 5">
            <a:extLst>
              <a:ext uri="{FF2B5EF4-FFF2-40B4-BE49-F238E27FC236}">
                <a16:creationId xmlns:a16="http://schemas.microsoft.com/office/drawing/2014/main" id="{3511FC3E-D054-7094-4C43-1484D8FAA0DC}"/>
              </a:ext>
            </a:extLst>
          </p:cNvPr>
          <p:cNvSpPr/>
          <p:nvPr/>
        </p:nvSpPr>
        <p:spPr>
          <a:xfrm>
            <a:off x="1749221" y="4502728"/>
            <a:ext cx="8146473" cy="123005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200" dirty="0"/>
              <a:t>La página muestra la lista de asignaturas definidas en la página SHATATC para la institución-Programa ingresados en el bloque de ingreso a la página en los bloques Curso de Transferencia y Atributos del curso.</a:t>
            </a:r>
          </a:p>
          <a:p>
            <a:pPr marL="228600" indent="-228600">
              <a:buFont typeface="+mj-lt"/>
              <a:buAutoNum type="arabicPeriod" startAt="4"/>
            </a:pPr>
            <a:r>
              <a:rPr lang="es-419" sz="1200" dirty="0"/>
              <a:t>Para indicar la equivalencia de la asignatura de institución de procedencia, haga clic sobre el registro que corresponda y active la casilla ‘Principal’</a:t>
            </a:r>
          </a:p>
        </p:txBody>
      </p:sp>
      <p:sp>
        <p:nvSpPr>
          <p:cNvPr id="6" name="Rectángulo 5">
            <a:extLst>
              <a:ext uri="{FF2B5EF4-FFF2-40B4-BE49-F238E27FC236}">
                <a16:creationId xmlns:a16="http://schemas.microsoft.com/office/drawing/2014/main" id="{24AF4C4E-D51C-B313-9292-E68433458935}"/>
              </a:ext>
            </a:extLst>
          </p:cNvPr>
          <p:cNvSpPr/>
          <p:nvPr/>
        </p:nvSpPr>
        <p:spPr>
          <a:xfrm>
            <a:off x="1570181" y="2004291"/>
            <a:ext cx="1025237" cy="35098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034B4585-8559-41A5-339E-81A014CF2D5F}"/>
              </a:ext>
            </a:extLst>
          </p:cNvPr>
          <p:cNvSpPr/>
          <p:nvPr/>
        </p:nvSpPr>
        <p:spPr>
          <a:xfrm>
            <a:off x="609601" y="2109536"/>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Tree>
    <p:extLst>
      <p:ext uri="{BB962C8B-B14F-4D97-AF65-F5344CB8AC3E}">
        <p14:creationId xmlns:p14="http://schemas.microsoft.com/office/powerpoint/2010/main" val="23586932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9C84B-B464-B446-E54D-69054CBEE8AE}"/>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549BC5F5-18F1-5F92-0B11-8B7B7F3C9B2F}"/>
              </a:ext>
            </a:extLst>
          </p:cNvPr>
          <p:cNvPicPr>
            <a:picLocks noChangeAspect="1"/>
          </p:cNvPicPr>
          <p:nvPr/>
        </p:nvPicPr>
        <p:blipFill>
          <a:blip r:embed="rId2"/>
          <a:stretch>
            <a:fillRect/>
          </a:stretch>
        </p:blipFill>
        <p:spPr>
          <a:xfrm>
            <a:off x="810247" y="1324268"/>
            <a:ext cx="10909906" cy="4964748"/>
          </a:xfrm>
          <a:prstGeom prst="rect">
            <a:avLst/>
          </a:prstGeom>
        </p:spPr>
      </p:pic>
      <p:sp>
        <p:nvSpPr>
          <p:cNvPr id="3" name="Marcador de texto vertical 2">
            <a:extLst>
              <a:ext uri="{FF2B5EF4-FFF2-40B4-BE49-F238E27FC236}">
                <a16:creationId xmlns:a16="http://schemas.microsoft.com/office/drawing/2014/main" id="{7403108A-BCF6-2896-738F-B53289F79D6B}"/>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891E8BDB-091E-8AE9-30DC-EA8EF570CAE2}"/>
              </a:ext>
            </a:extLst>
          </p:cNvPr>
          <p:cNvSpPr>
            <a:spLocks noGrp="1"/>
          </p:cNvSpPr>
          <p:nvPr>
            <p:ph type="title"/>
          </p:nvPr>
        </p:nvSpPr>
        <p:spPr>
          <a:xfrm>
            <a:off x="810247" y="327992"/>
            <a:ext cx="10271883" cy="626165"/>
          </a:xfrm>
        </p:spPr>
        <p:txBody>
          <a:bodyPr/>
          <a:lstStyle/>
          <a:p>
            <a:r>
              <a:rPr lang="es-ES_tradnl" dirty="0">
                <a:solidFill>
                  <a:schemeClr val="tx2"/>
                </a:solidFill>
              </a:rPr>
              <a:t>Configuración: </a:t>
            </a:r>
            <a:r>
              <a:rPr lang="es-419" dirty="0">
                <a:solidFill>
                  <a:schemeClr val="tx2"/>
                </a:solidFill>
              </a:rPr>
              <a:t>Articulación de curso de transferencia  (SHATATR)</a:t>
            </a:r>
            <a:endParaRPr lang="es-CL" dirty="0"/>
          </a:p>
        </p:txBody>
      </p:sp>
      <p:sp>
        <p:nvSpPr>
          <p:cNvPr id="12" name="Rectángulo redondeado 5">
            <a:extLst>
              <a:ext uri="{FF2B5EF4-FFF2-40B4-BE49-F238E27FC236}">
                <a16:creationId xmlns:a16="http://schemas.microsoft.com/office/drawing/2014/main" id="{D7C03C99-A6F9-57FB-CBC5-263B4A645A5C}"/>
              </a:ext>
            </a:extLst>
          </p:cNvPr>
          <p:cNvSpPr/>
          <p:nvPr/>
        </p:nvSpPr>
        <p:spPr>
          <a:xfrm>
            <a:off x="1654331" y="3742266"/>
            <a:ext cx="8146473" cy="146133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200" dirty="0"/>
              <a:t>La página muestra la lista de asignaturas definidas en la página SHATATC para la institución-Programa ingresados en el bloque de ingreso a la página en los bloques Curso de Transferencia y Atributos del curso.</a:t>
            </a:r>
          </a:p>
          <a:p>
            <a:pPr marL="228600" indent="-228600">
              <a:buFont typeface="+mj-lt"/>
              <a:buAutoNum type="arabicPeriod" startAt="4"/>
            </a:pPr>
            <a:r>
              <a:rPr lang="es-419" sz="1200" dirty="0"/>
              <a:t>Para indicar la equivalencia de la asignatura de institución de procedencia, haga clic sobre el registro que corresponda y active la casilla ‘Principal’</a:t>
            </a:r>
          </a:p>
          <a:p>
            <a:pPr marL="228600" indent="-228600">
              <a:buFont typeface="+mj-lt"/>
              <a:buAutoNum type="arabicPeriod" startAt="4"/>
            </a:pPr>
            <a:r>
              <a:rPr lang="es-419" sz="1200" dirty="0"/>
              <a:t>Ingrese los créditos que tiene la asignatura en la institución de procedencia</a:t>
            </a:r>
          </a:p>
        </p:txBody>
      </p:sp>
      <p:sp>
        <p:nvSpPr>
          <p:cNvPr id="6" name="Rectángulo 5">
            <a:extLst>
              <a:ext uri="{FF2B5EF4-FFF2-40B4-BE49-F238E27FC236}">
                <a16:creationId xmlns:a16="http://schemas.microsoft.com/office/drawing/2014/main" id="{4055127A-A921-12F4-C517-BBEDAE24268E}"/>
              </a:ext>
            </a:extLst>
          </p:cNvPr>
          <p:cNvSpPr/>
          <p:nvPr/>
        </p:nvSpPr>
        <p:spPr>
          <a:xfrm>
            <a:off x="1570181" y="2004291"/>
            <a:ext cx="1025237" cy="35098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F0EC9F19-336B-2306-6ECC-181ECC3C2B74}"/>
              </a:ext>
            </a:extLst>
          </p:cNvPr>
          <p:cNvSpPr/>
          <p:nvPr/>
        </p:nvSpPr>
        <p:spPr>
          <a:xfrm>
            <a:off x="1369535" y="1843476"/>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
        <p:nvSpPr>
          <p:cNvPr id="7" name="Rectángulo 6">
            <a:extLst>
              <a:ext uri="{FF2B5EF4-FFF2-40B4-BE49-F238E27FC236}">
                <a16:creationId xmlns:a16="http://schemas.microsoft.com/office/drawing/2014/main" id="{9D87B8F3-7C5E-90F0-7F4F-58A35E388B01}"/>
              </a:ext>
            </a:extLst>
          </p:cNvPr>
          <p:cNvSpPr/>
          <p:nvPr/>
        </p:nvSpPr>
        <p:spPr>
          <a:xfrm>
            <a:off x="2964873" y="2825945"/>
            <a:ext cx="734291" cy="32365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2D98FC8C-8012-105C-2FCA-2DBD6CE4FBCB}"/>
              </a:ext>
            </a:extLst>
          </p:cNvPr>
          <p:cNvSpPr/>
          <p:nvPr/>
        </p:nvSpPr>
        <p:spPr>
          <a:xfrm>
            <a:off x="3775306" y="2711261"/>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5</a:t>
            </a:r>
            <a:endParaRPr lang="es-419" sz="1100" noProof="0" dirty="0"/>
          </a:p>
        </p:txBody>
      </p:sp>
    </p:spTree>
    <p:extLst>
      <p:ext uri="{BB962C8B-B14F-4D97-AF65-F5344CB8AC3E}">
        <p14:creationId xmlns:p14="http://schemas.microsoft.com/office/powerpoint/2010/main" val="25722011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7F61C-080B-109A-4D00-9FB4176BFF7F}"/>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3DB04A02-4811-9DA8-E0E7-FAE3F24CB9FF}"/>
              </a:ext>
            </a:extLst>
          </p:cNvPr>
          <p:cNvPicPr>
            <a:picLocks noChangeAspect="1"/>
          </p:cNvPicPr>
          <p:nvPr/>
        </p:nvPicPr>
        <p:blipFill>
          <a:blip r:embed="rId2"/>
          <a:stretch>
            <a:fillRect/>
          </a:stretch>
        </p:blipFill>
        <p:spPr>
          <a:xfrm>
            <a:off x="810247" y="1324268"/>
            <a:ext cx="10938407" cy="4964748"/>
          </a:xfrm>
          <a:prstGeom prst="rect">
            <a:avLst/>
          </a:prstGeom>
        </p:spPr>
      </p:pic>
      <p:sp>
        <p:nvSpPr>
          <p:cNvPr id="3" name="Marcador de texto vertical 2">
            <a:extLst>
              <a:ext uri="{FF2B5EF4-FFF2-40B4-BE49-F238E27FC236}">
                <a16:creationId xmlns:a16="http://schemas.microsoft.com/office/drawing/2014/main" id="{BEC39941-02F5-B776-D54E-E71594BAA0AD}"/>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E385887D-97F3-403B-B144-41E493473EC0}"/>
              </a:ext>
            </a:extLst>
          </p:cNvPr>
          <p:cNvSpPr>
            <a:spLocks noGrp="1"/>
          </p:cNvSpPr>
          <p:nvPr>
            <p:ph type="title"/>
          </p:nvPr>
        </p:nvSpPr>
        <p:spPr>
          <a:xfrm>
            <a:off x="810247" y="327992"/>
            <a:ext cx="10271883" cy="626165"/>
          </a:xfrm>
        </p:spPr>
        <p:txBody>
          <a:bodyPr/>
          <a:lstStyle/>
          <a:p>
            <a:r>
              <a:rPr lang="es-ES_tradnl" dirty="0">
                <a:solidFill>
                  <a:schemeClr val="tx2"/>
                </a:solidFill>
              </a:rPr>
              <a:t>Configuración: </a:t>
            </a:r>
            <a:r>
              <a:rPr lang="es-419" dirty="0">
                <a:solidFill>
                  <a:schemeClr val="tx2"/>
                </a:solidFill>
              </a:rPr>
              <a:t>Articulación de curso de transferencia  (SHATATR)</a:t>
            </a:r>
            <a:endParaRPr lang="es-CL" dirty="0"/>
          </a:p>
        </p:txBody>
      </p:sp>
      <p:sp>
        <p:nvSpPr>
          <p:cNvPr id="12" name="Rectángulo redondeado 5">
            <a:extLst>
              <a:ext uri="{FF2B5EF4-FFF2-40B4-BE49-F238E27FC236}">
                <a16:creationId xmlns:a16="http://schemas.microsoft.com/office/drawing/2014/main" id="{FB46E552-2637-DD9D-2D6E-850F7D0C14BE}"/>
              </a:ext>
            </a:extLst>
          </p:cNvPr>
          <p:cNvSpPr/>
          <p:nvPr/>
        </p:nvSpPr>
        <p:spPr>
          <a:xfrm>
            <a:off x="2022763" y="2466109"/>
            <a:ext cx="8146473" cy="143415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200" dirty="0"/>
              <a:t>Ingrese la siguiente información en el Bloque </a:t>
            </a:r>
            <a:r>
              <a:rPr lang="es-419" sz="1200" b="1" dirty="0"/>
              <a:t>Curso Equivalente</a:t>
            </a:r>
            <a:r>
              <a:rPr lang="es-419" sz="1200" dirty="0"/>
              <a:t>:</a:t>
            </a:r>
          </a:p>
          <a:p>
            <a:endParaRPr lang="es-ES_tradnl" sz="1200" dirty="0"/>
          </a:p>
          <a:p>
            <a:pPr marL="228600" indent="-228600">
              <a:buFont typeface="+mj-lt"/>
              <a:buAutoNum type="arabicPeriod" startAt="6"/>
            </a:pPr>
            <a:r>
              <a:rPr lang="es-ES_tradnl" sz="1200" dirty="0"/>
              <a:t>Código de la asignatura que se dará como convalidada para el curso de la institución de procedencia: seleccione desde el campo curso el que corresponda (debe estar definida en el catálogo). Automáticamente se desplegarán el Título, los créditos y los atributos de la asignatura, según lo que tenga definido en el catálogo de cursos.</a:t>
            </a:r>
          </a:p>
          <a:p>
            <a:pPr lvl="1"/>
            <a:r>
              <a:rPr lang="es-ES_tradnl" sz="1100" dirty="0"/>
              <a:t>Si la equivalencia es a más de un curso, puede utilizar el paréntesis izquierdo y derecho para agrupar las asignaturas y utilizar los valores Y/O en el campo correspondiente)</a:t>
            </a:r>
          </a:p>
        </p:txBody>
      </p:sp>
      <p:sp>
        <p:nvSpPr>
          <p:cNvPr id="13" name="Rectángulo redondeado 15">
            <a:extLst>
              <a:ext uri="{FF2B5EF4-FFF2-40B4-BE49-F238E27FC236}">
                <a16:creationId xmlns:a16="http://schemas.microsoft.com/office/drawing/2014/main" id="{FCF2615C-487F-A8D4-91E5-A9B71C03B7A1}"/>
              </a:ext>
            </a:extLst>
          </p:cNvPr>
          <p:cNvSpPr/>
          <p:nvPr/>
        </p:nvSpPr>
        <p:spPr>
          <a:xfrm>
            <a:off x="2493792" y="3982903"/>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6</a:t>
            </a:r>
            <a:endParaRPr lang="es-419" sz="1100" noProof="0" dirty="0"/>
          </a:p>
        </p:txBody>
      </p:sp>
      <p:sp>
        <p:nvSpPr>
          <p:cNvPr id="14" name="Rectángulo 13">
            <a:extLst>
              <a:ext uri="{FF2B5EF4-FFF2-40B4-BE49-F238E27FC236}">
                <a16:creationId xmlns:a16="http://schemas.microsoft.com/office/drawing/2014/main" id="{E208EF27-95FA-ECB0-569E-821D6EC976D6}"/>
              </a:ext>
            </a:extLst>
          </p:cNvPr>
          <p:cNvSpPr/>
          <p:nvPr/>
        </p:nvSpPr>
        <p:spPr>
          <a:xfrm>
            <a:off x="2689910" y="4104140"/>
            <a:ext cx="1300199" cy="24442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cxnSp>
        <p:nvCxnSpPr>
          <p:cNvPr id="24" name="Conector: curvado 23">
            <a:extLst>
              <a:ext uri="{FF2B5EF4-FFF2-40B4-BE49-F238E27FC236}">
                <a16:creationId xmlns:a16="http://schemas.microsoft.com/office/drawing/2014/main" id="{76971984-1113-196F-B3A7-49A8DD8FB671}"/>
              </a:ext>
            </a:extLst>
          </p:cNvPr>
          <p:cNvCxnSpPr>
            <a:cxnSpLocks/>
            <a:stCxn id="26" idx="1"/>
            <a:endCxn id="14" idx="1"/>
          </p:cNvCxnSpPr>
          <p:nvPr/>
        </p:nvCxnSpPr>
        <p:spPr>
          <a:xfrm rot="10800000" flipH="1" flipV="1">
            <a:off x="2609184" y="2173512"/>
            <a:ext cx="80725" cy="2052841"/>
          </a:xfrm>
          <a:prstGeom prst="curvedConnector3">
            <a:avLst>
              <a:gd name="adj1" fmla="val -1244292"/>
            </a:avLst>
          </a:prstGeom>
          <a:ln>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6" name="Rectángulo 25">
            <a:extLst>
              <a:ext uri="{FF2B5EF4-FFF2-40B4-BE49-F238E27FC236}">
                <a16:creationId xmlns:a16="http://schemas.microsoft.com/office/drawing/2014/main" id="{EC3ECB31-838F-33E5-975B-4425C9217555}"/>
              </a:ext>
            </a:extLst>
          </p:cNvPr>
          <p:cNvSpPr/>
          <p:nvPr/>
        </p:nvSpPr>
        <p:spPr>
          <a:xfrm>
            <a:off x="2609185" y="2114471"/>
            <a:ext cx="9139469" cy="11808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10818043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14586-5A05-DD5B-99C8-6ED4D2A1E586}"/>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C8B10E2E-27F4-36C4-1FF3-32429786E7F4}"/>
              </a:ext>
            </a:extLst>
          </p:cNvPr>
          <p:cNvPicPr>
            <a:picLocks noChangeAspect="1"/>
          </p:cNvPicPr>
          <p:nvPr/>
        </p:nvPicPr>
        <p:blipFill>
          <a:blip r:embed="rId2"/>
          <a:stretch>
            <a:fillRect/>
          </a:stretch>
        </p:blipFill>
        <p:spPr>
          <a:xfrm>
            <a:off x="810247" y="1324268"/>
            <a:ext cx="10938407" cy="4964748"/>
          </a:xfrm>
          <a:prstGeom prst="rect">
            <a:avLst/>
          </a:prstGeom>
        </p:spPr>
      </p:pic>
      <p:sp>
        <p:nvSpPr>
          <p:cNvPr id="3" name="Marcador de texto vertical 2">
            <a:extLst>
              <a:ext uri="{FF2B5EF4-FFF2-40B4-BE49-F238E27FC236}">
                <a16:creationId xmlns:a16="http://schemas.microsoft.com/office/drawing/2014/main" id="{822CF0C0-D3B9-F084-927E-1454B12BEFDB}"/>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120705F0-E028-360C-D886-88C4CBFB074D}"/>
              </a:ext>
            </a:extLst>
          </p:cNvPr>
          <p:cNvSpPr>
            <a:spLocks noGrp="1"/>
          </p:cNvSpPr>
          <p:nvPr>
            <p:ph type="title"/>
          </p:nvPr>
        </p:nvSpPr>
        <p:spPr>
          <a:xfrm>
            <a:off x="810247" y="327992"/>
            <a:ext cx="10271883" cy="626165"/>
          </a:xfrm>
        </p:spPr>
        <p:txBody>
          <a:bodyPr/>
          <a:lstStyle/>
          <a:p>
            <a:r>
              <a:rPr lang="es-ES_tradnl" dirty="0">
                <a:solidFill>
                  <a:schemeClr val="tx2"/>
                </a:solidFill>
              </a:rPr>
              <a:t>Configuración: </a:t>
            </a:r>
            <a:r>
              <a:rPr lang="es-419" dirty="0">
                <a:solidFill>
                  <a:schemeClr val="tx2"/>
                </a:solidFill>
              </a:rPr>
              <a:t>Articulación de curso de transferencia  (SHATATR)</a:t>
            </a:r>
            <a:endParaRPr lang="es-CL" dirty="0"/>
          </a:p>
        </p:txBody>
      </p:sp>
      <p:sp>
        <p:nvSpPr>
          <p:cNvPr id="12" name="Rectángulo redondeado 5">
            <a:extLst>
              <a:ext uri="{FF2B5EF4-FFF2-40B4-BE49-F238E27FC236}">
                <a16:creationId xmlns:a16="http://schemas.microsoft.com/office/drawing/2014/main" id="{56158C5F-A7E6-5891-8DF0-9C9A5DD28A1F}"/>
              </a:ext>
            </a:extLst>
          </p:cNvPr>
          <p:cNvSpPr/>
          <p:nvPr/>
        </p:nvSpPr>
        <p:spPr>
          <a:xfrm>
            <a:off x="1872951" y="3747032"/>
            <a:ext cx="8146473" cy="114415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7"/>
            </a:pPr>
            <a:r>
              <a:rPr lang="es-ES_tradnl" sz="1200" dirty="0"/>
              <a:t>Si lo desea, puede agregar un comentario sobre la equivalencia en el campo Detalles.</a:t>
            </a:r>
          </a:p>
          <a:p>
            <a:pPr marL="228600" indent="-228600">
              <a:buFont typeface="+mj-lt"/>
              <a:buAutoNum type="arabicPeriod" startAt="7"/>
            </a:pPr>
            <a:r>
              <a:rPr lang="es-ES_tradnl" sz="1200" dirty="0"/>
              <a:t>Guarde la información.</a:t>
            </a:r>
          </a:p>
          <a:p>
            <a:pPr algn="ctr"/>
            <a:r>
              <a:rPr lang="es-ES_tradnl" sz="1100" b="1" dirty="0"/>
              <a:t>Esto se debe hacer para cada una de las asignaturas de la institución de procedencia para definir qué asignatura(s) de la UAI serán convalidadas si el estudiante la tiene aprobada en la institución de procedencia.</a:t>
            </a:r>
          </a:p>
        </p:txBody>
      </p:sp>
      <p:sp>
        <p:nvSpPr>
          <p:cNvPr id="11" name="Rectángulo 10">
            <a:extLst>
              <a:ext uri="{FF2B5EF4-FFF2-40B4-BE49-F238E27FC236}">
                <a16:creationId xmlns:a16="http://schemas.microsoft.com/office/drawing/2014/main" id="{C888AEB3-E37E-235D-8B76-A01E6558A713}"/>
              </a:ext>
            </a:extLst>
          </p:cNvPr>
          <p:cNvSpPr/>
          <p:nvPr/>
        </p:nvSpPr>
        <p:spPr>
          <a:xfrm>
            <a:off x="854398" y="5261301"/>
            <a:ext cx="10894256" cy="42799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 name="Rectángulo redondeado 15">
            <a:extLst>
              <a:ext uri="{FF2B5EF4-FFF2-40B4-BE49-F238E27FC236}">
                <a16:creationId xmlns:a16="http://schemas.microsoft.com/office/drawing/2014/main" id="{2D9BDE0E-53AF-874B-6828-FD285B645812}"/>
              </a:ext>
            </a:extLst>
          </p:cNvPr>
          <p:cNvSpPr/>
          <p:nvPr/>
        </p:nvSpPr>
        <p:spPr>
          <a:xfrm>
            <a:off x="648798" y="5180893"/>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7</a:t>
            </a:r>
            <a:endParaRPr lang="es-419" sz="1100" noProof="0" dirty="0"/>
          </a:p>
        </p:txBody>
      </p:sp>
      <p:sp>
        <p:nvSpPr>
          <p:cNvPr id="20" name="Rectángulo 19">
            <a:extLst>
              <a:ext uri="{FF2B5EF4-FFF2-40B4-BE49-F238E27FC236}">
                <a16:creationId xmlns:a16="http://schemas.microsoft.com/office/drawing/2014/main" id="{0B8E457C-FEE3-C66F-E3C7-54EF487246A7}"/>
              </a:ext>
            </a:extLst>
          </p:cNvPr>
          <p:cNvSpPr/>
          <p:nvPr/>
        </p:nvSpPr>
        <p:spPr>
          <a:xfrm>
            <a:off x="11268363" y="6012872"/>
            <a:ext cx="489528" cy="17779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1" name="Rectángulo redondeado 15">
            <a:extLst>
              <a:ext uri="{FF2B5EF4-FFF2-40B4-BE49-F238E27FC236}">
                <a16:creationId xmlns:a16="http://schemas.microsoft.com/office/drawing/2014/main" id="{8A0F2380-DE0C-1847-CFEB-0037AF443B7E}"/>
              </a:ext>
            </a:extLst>
          </p:cNvPr>
          <p:cNvSpPr/>
          <p:nvPr/>
        </p:nvSpPr>
        <p:spPr>
          <a:xfrm>
            <a:off x="10890086" y="5852057"/>
            <a:ext cx="355262"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8</a:t>
            </a:r>
          </a:p>
        </p:txBody>
      </p:sp>
    </p:spTree>
    <p:extLst>
      <p:ext uri="{BB962C8B-B14F-4D97-AF65-F5344CB8AC3E}">
        <p14:creationId xmlns:p14="http://schemas.microsoft.com/office/powerpoint/2010/main" val="28129829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FC10B-3A05-57BF-1499-4BE443582F81}"/>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1A6F1F48-76C7-92EC-513B-6FABD60CCC9C}"/>
              </a:ext>
            </a:extLst>
          </p:cNvPr>
          <p:cNvSpPr>
            <a:spLocks noGrp="1"/>
          </p:cNvSpPr>
          <p:nvPr>
            <p:ph type="body" orient="vert" sz="quarter" idx="10"/>
          </p:nvPr>
        </p:nvSpPr>
        <p:spPr/>
        <p:txBody>
          <a:bodyPr/>
          <a:lstStyle/>
          <a:p>
            <a:r>
              <a:rPr lang="es-419" sz="1200" dirty="0"/>
              <a:t>Gestionar homologación y convalidación</a:t>
            </a:r>
          </a:p>
        </p:txBody>
      </p:sp>
      <p:sp>
        <p:nvSpPr>
          <p:cNvPr id="16" name="Title 15">
            <a:extLst>
              <a:ext uri="{FF2B5EF4-FFF2-40B4-BE49-F238E27FC236}">
                <a16:creationId xmlns:a16="http://schemas.microsoft.com/office/drawing/2014/main" id="{32E54CB5-4DB8-88B9-BEDB-F12BDD06B105}"/>
              </a:ext>
            </a:extLst>
          </p:cNvPr>
          <p:cNvSpPr>
            <a:spLocks noGrp="1"/>
          </p:cNvSpPr>
          <p:nvPr>
            <p:ph type="title"/>
          </p:nvPr>
        </p:nvSpPr>
        <p:spPr/>
        <p:txBody>
          <a:bodyPr/>
          <a:lstStyle/>
          <a:p>
            <a:r>
              <a:rPr lang="es-419" sz="3200" b="1" dirty="0">
                <a:solidFill>
                  <a:schemeClr val="bg1"/>
                </a:solidFill>
              </a:rPr>
              <a:t>Gestionar homologación y convalidación</a:t>
            </a:r>
          </a:p>
        </p:txBody>
      </p:sp>
      <p:sp>
        <p:nvSpPr>
          <p:cNvPr id="17" name="Text Placeholder 16">
            <a:extLst>
              <a:ext uri="{FF2B5EF4-FFF2-40B4-BE49-F238E27FC236}">
                <a16:creationId xmlns:a16="http://schemas.microsoft.com/office/drawing/2014/main" id="{0AF09F94-9072-B9D7-D1C7-F044184D1F1C}"/>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7266577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DD93A-6881-7891-AE1E-6AC12BE7FB81}"/>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590A1C1A-A7BC-5D97-BE9C-D1F63C149594}"/>
              </a:ext>
            </a:extLst>
          </p:cNvPr>
          <p:cNvSpPr>
            <a:spLocks noGrp="1"/>
          </p:cNvSpPr>
          <p:nvPr>
            <p:ph type="body" sz="quarter" idx="10"/>
          </p:nvPr>
        </p:nvSpPr>
        <p:spPr>
          <a:xfrm>
            <a:off x="914399" y="2238843"/>
            <a:ext cx="10363202" cy="1333891"/>
          </a:xfrm>
        </p:spPr>
        <p:txBody>
          <a:bodyPr/>
          <a:lstStyle/>
          <a:p>
            <a:r>
              <a:rPr lang="es-419" dirty="0"/>
              <a:t>Convalidación por articulación de equivalencias definidas</a:t>
            </a:r>
          </a:p>
        </p:txBody>
      </p:sp>
      <p:sp>
        <p:nvSpPr>
          <p:cNvPr id="6" name="Marcador de texto 5">
            <a:extLst>
              <a:ext uri="{FF2B5EF4-FFF2-40B4-BE49-F238E27FC236}">
                <a16:creationId xmlns:a16="http://schemas.microsoft.com/office/drawing/2014/main" id="{04CA61CD-9149-E65D-11B5-B0689C89B428}"/>
              </a:ext>
            </a:extLst>
          </p:cNvPr>
          <p:cNvSpPr>
            <a:spLocks noGrp="1"/>
          </p:cNvSpPr>
          <p:nvPr>
            <p:ph type="body" sz="quarter" idx="11"/>
          </p:nvPr>
        </p:nvSpPr>
        <p:spPr>
          <a:xfrm>
            <a:off x="914399" y="3750468"/>
            <a:ext cx="10363202" cy="389915"/>
          </a:xfrm>
        </p:spPr>
        <p:txBody>
          <a:bodyPr/>
          <a:lstStyle/>
          <a:p>
            <a:r>
              <a:rPr lang="es-419" dirty="0"/>
              <a:t>Gestionar homologación y convalidación</a:t>
            </a:r>
          </a:p>
        </p:txBody>
      </p:sp>
    </p:spTree>
    <p:extLst>
      <p:ext uri="{BB962C8B-B14F-4D97-AF65-F5344CB8AC3E}">
        <p14:creationId xmlns:p14="http://schemas.microsoft.com/office/powerpoint/2010/main" val="28152442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64151-5B69-9B38-727B-4311E962AFBA}"/>
            </a:ext>
          </a:extLst>
        </p:cNvPr>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A9123117-E722-A9DF-18D2-DB2CD138A2F5}"/>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038C0CF8-EBCD-F5B5-72FD-AD7A16E99772}"/>
              </a:ext>
            </a:extLst>
          </p:cNvPr>
          <p:cNvSpPr>
            <a:spLocks noGrp="1"/>
          </p:cNvSpPr>
          <p:nvPr>
            <p:ph type="title"/>
          </p:nvPr>
        </p:nvSpPr>
        <p:spPr>
          <a:xfrm>
            <a:off x="810247" y="327992"/>
            <a:ext cx="10271883" cy="626165"/>
          </a:xfrm>
        </p:spPr>
        <p:txBody>
          <a:bodyPr/>
          <a:lstStyle/>
          <a:p>
            <a:r>
              <a:rPr lang="es-419" dirty="0">
                <a:solidFill>
                  <a:schemeClr val="tx2"/>
                </a:solidFill>
              </a:rPr>
              <a:t>Curso de transferencia (</a:t>
            </a:r>
            <a:r>
              <a:rPr lang="es-ES_tradnl" dirty="0">
                <a:solidFill>
                  <a:schemeClr val="tx2"/>
                </a:solidFill>
              </a:rPr>
              <a:t>SHATRNS)</a:t>
            </a:r>
            <a:br>
              <a:rPr lang="es-CL" dirty="0">
                <a:solidFill>
                  <a:schemeClr val="tx2"/>
                </a:solidFill>
              </a:rPr>
            </a:br>
            <a:endParaRPr lang="es-CL" dirty="0">
              <a:solidFill>
                <a:schemeClr val="tx2"/>
              </a:solidFill>
            </a:endParaRPr>
          </a:p>
        </p:txBody>
      </p:sp>
      <p:sp>
        <p:nvSpPr>
          <p:cNvPr id="6" name="Rectángulo redondeado 5">
            <a:extLst>
              <a:ext uri="{FF2B5EF4-FFF2-40B4-BE49-F238E27FC236}">
                <a16:creationId xmlns:a16="http://schemas.microsoft.com/office/drawing/2014/main" id="{3C036331-4795-CEF8-40F5-3BFDAF45BE0B}"/>
              </a:ext>
            </a:extLst>
          </p:cNvPr>
          <p:cNvSpPr/>
          <p:nvPr/>
        </p:nvSpPr>
        <p:spPr>
          <a:xfrm>
            <a:off x="1745673" y="3041932"/>
            <a:ext cx="7814498" cy="235444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O" sz="1200" dirty="0"/>
              <a:t>Las convalidaciones podrán ser formalizadas por medio de la página administrativa SHATRNS, que es en donde quedan definidas. Para ello siga los siguientes pasos:</a:t>
            </a:r>
          </a:p>
          <a:p>
            <a:pPr marL="228600" indent="-228600">
              <a:buFont typeface="+mj-lt"/>
              <a:buAutoNum type="arabicPeriod"/>
            </a:pPr>
            <a:r>
              <a:rPr lang="es-CO" sz="1200" dirty="0"/>
              <a:t>Ingrese el ID del estudiante al cual se le otorgarán las convalidaciones</a:t>
            </a:r>
          </a:p>
          <a:p>
            <a:pPr marL="228600" indent="-228600">
              <a:buFont typeface="+mj-lt"/>
              <a:buAutoNum type="arabicPeriod"/>
            </a:pPr>
            <a:r>
              <a:rPr lang="es-CO" sz="1200" dirty="0"/>
              <a:t>Posteriormente se debe definir el campo ‘Número de institución de transferencia’, este campo representa un identificador de la institución de la cual provendría la homologación externa a concretar, por lo cual debiera existir solo un código por institución externa que esté relacionada con el estudiante. Se sugiere como primer registro usar el valor numérico 1, en caso de que se presenten homologaciones externas de dos o más instituciones, se sugiere definir este campo como un número correlativo de las mismas (1, 2, 3 …, N), siendo parametrizada con el valor 2 a la segunda institución a ingresar.</a:t>
            </a:r>
          </a:p>
          <a:p>
            <a:pPr marL="228600" indent="-228600">
              <a:buFont typeface="+mj-lt"/>
              <a:buAutoNum type="arabicPeriod"/>
            </a:pPr>
            <a:endParaRPr lang="es-CO" sz="1200" dirty="0"/>
          </a:p>
          <a:p>
            <a:pPr marL="228600" indent="-228600">
              <a:buFont typeface="+mj-lt"/>
              <a:buAutoNum type="arabicPeriod"/>
            </a:pPr>
            <a:endParaRPr lang="es-CO" sz="1200" dirty="0"/>
          </a:p>
        </p:txBody>
      </p:sp>
      <p:pic>
        <p:nvPicPr>
          <p:cNvPr id="5" name="Imagen 4">
            <a:extLst>
              <a:ext uri="{FF2B5EF4-FFF2-40B4-BE49-F238E27FC236}">
                <a16:creationId xmlns:a16="http://schemas.microsoft.com/office/drawing/2014/main" id="{560FF3D4-3ECC-F9E4-83ED-B4335D7B356E}"/>
              </a:ext>
            </a:extLst>
          </p:cNvPr>
          <p:cNvPicPr>
            <a:picLocks noChangeAspect="1"/>
          </p:cNvPicPr>
          <p:nvPr/>
        </p:nvPicPr>
        <p:blipFill>
          <a:blip r:embed="rId2"/>
          <a:stretch>
            <a:fillRect/>
          </a:stretch>
        </p:blipFill>
        <p:spPr>
          <a:xfrm>
            <a:off x="810247" y="1253344"/>
            <a:ext cx="10619107" cy="1411820"/>
          </a:xfrm>
          <a:prstGeom prst="rect">
            <a:avLst/>
          </a:prstGeom>
        </p:spPr>
      </p:pic>
      <p:sp>
        <p:nvSpPr>
          <p:cNvPr id="9" name="Rectángulo 8">
            <a:extLst>
              <a:ext uri="{FF2B5EF4-FFF2-40B4-BE49-F238E27FC236}">
                <a16:creationId xmlns:a16="http://schemas.microsoft.com/office/drawing/2014/main" id="{0659F50B-682E-DB9A-6163-8CB7259A7480}"/>
              </a:ext>
            </a:extLst>
          </p:cNvPr>
          <p:cNvSpPr/>
          <p:nvPr/>
        </p:nvSpPr>
        <p:spPr>
          <a:xfrm>
            <a:off x="1413615" y="1564066"/>
            <a:ext cx="1283404" cy="17620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1AB7F420-C0C8-250E-768C-A92AD47091AB}"/>
              </a:ext>
            </a:extLst>
          </p:cNvPr>
          <p:cNvSpPr/>
          <p:nvPr/>
        </p:nvSpPr>
        <p:spPr>
          <a:xfrm>
            <a:off x="1212969" y="1461626"/>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
        <p:nvSpPr>
          <p:cNvPr id="13" name="Rectángulo 12">
            <a:extLst>
              <a:ext uri="{FF2B5EF4-FFF2-40B4-BE49-F238E27FC236}">
                <a16:creationId xmlns:a16="http://schemas.microsoft.com/office/drawing/2014/main" id="{D44308E1-24D2-CDB5-CD87-BAEC6E69CF93}"/>
              </a:ext>
            </a:extLst>
          </p:cNvPr>
          <p:cNvSpPr/>
          <p:nvPr/>
        </p:nvSpPr>
        <p:spPr>
          <a:xfrm>
            <a:off x="5908259" y="1549967"/>
            <a:ext cx="1688530" cy="45364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F37DA404-16B6-D3C8-BDC6-A863A7126B2C}"/>
              </a:ext>
            </a:extLst>
          </p:cNvPr>
          <p:cNvSpPr/>
          <p:nvPr/>
        </p:nvSpPr>
        <p:spPr>
          <a:xfrm>
            <a:off x="7661861" y="1461625"/>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Tree>
    <p:extLst>
      <p:ext uri="{BB962C8B-B14F-4D97-AF65-F5344CB8AC3E}">
        <p14:creationId xmlns:p14="http://schemas.microsoft.com/office/powerpoint/2010/main" val="21794250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2B8D4-3369-45E4-BD33-91EEF06FBC69}"/>
            </a:ext>
          </a:extLst>
        </p:cNvPr>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AEF81B5C-A160-9EFB-A2B7-83CF16934107}"/>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90199B19-8D1F-633E-4ABB-8254AEC9F454}"/>
              </a:ext>
            </a:extLst>
          </p:cNvPr>
          <p:cNvSpPr>
            <a:spLocks noGrp="1"/>
          </p:cNvSpPr>
          <p:nvPr>
            <p:ph type="title"/>
          </p:nvPr>
        </p:nvSpPr>
        <p:spPr>
          <a:xfrm>
            <a:off x="810247" y="327992"/>
            <a:ext cx="10271883" cy="626165"/>
          </a:xfrm>
        </p:spPr>
        <p:txBody>
          <a:bodyPr/>
          <a:lstStyle/>
          <a:p>
            <a:r>
              <a:rPr lang="es-419" dirty="0">
                <a:solidFill>
                  <a:schemeClr val="tx2"/>
                </a:solidFill>
              </a:rPr>
              <a:t>Curso de transferencia (</a:t>
            </a:r>
            <a:r>
              <a:rPr lang="es-ES_tradnl" dirty="0">
                <a:solidFill>
                  <a:schemeClr val="tx2"/>
                </a:solidFill>
              </a:rPr>
              <a:t>SHATRNS)</a:t>
            </a:r>
            <a:br>
              <a:rPr lang="es-CL" b="1" dirty="0">
                <a:effectLst/>
              </a:rPr>
            </a:br>
            <a:endParaRPr lang="es-CL" dirty="0"/>
          </a:p>
        </p:txBody>
      </p:sp>
      <p:sp>
        <p:nvSpPr>
          <p:cNvPr id="6" name="Rectángulo redondeado 5">
            <a:extLst>
              <a:ext uri="{FF2B5EF4-FFF2-40B4-BE49-F238E27FC236}">
                <a16:creationId xmlns:a16="http://schemas.microsoft.com/office/drawing/2014/main" id="{67ECE33A-73DB-6193-471A-6CA79215AFB3}"/>
              </a:ext>
            </a:extLst>
          </p:cNvPr>
          <p:cNvSpPr/>
          <p:nvPr/>
        </p:nvSpPr>
        <p:spPr>
          <a:xfrm>
            <a:off x="1745673" y="3041931"/>
            <a:ext cx="7814498" cy="194413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3"/>
            </a:pPr>
            <a:r>
              <a:rPr lang="es-CO" sz="1200" dirty="0"/>
              <a:t>Realizado lo anterior, se requiere definir el campo ‘Número de periodo de asistencia’; este campo representa un identificador de los distintos periodos académicos que el estudiante desea homologar y fueran provenientes de una misma institución de origen, por lo cual deberá existir un código por cada periodo académico asociado a la institución externa relacionada con el estudiante. </a:t>
            </a:r>
          </a:p>
          <a:p>
            <a:pPr algn="ctr"/>
            <a:r>
              <a:rPr lang="es-CO" sz="1100" dirty="0"/>
              <a:t>Se sugiere como primer registro usar el valor numérico 1. Si decide incluir en un único periodo todos conocimientos externos obtenido por el estudiante se recomienda utilizar un único registro, pero si se desea diferenciar los contenidos cursados por cada periodo académico desarrollado por el estudiante en la institución externa se deberá utilizar un número correlativo para cada periodo a ingresar (1, 2, 3…N).</a:t>
            </a:r>
            <a:endParaRPr lang="es-CO" sz="1200" dirty="0"/>
          </a:p>
          <a:p>
            <a:pPr marL="228600" indent="-228600">
              <a:buFont typeface="+mj-lt"/>
              <a:buAutoNum type="arabicPeriod" startAt="4"/>
            </a:pPr>
            <a:r>
              <a:rPr lang="es-CO" sz="1200" dirty="0"/>
              <a:t>Presione el botón ‘Ir’.</a:t>
            </a:r>
          </a:p>
          <a:p>
            <a:pPr marL="228600" indent="-228600">
              <a:buFont typeface="+mj-lt"/>
              <a:buAutoNum type="arabicPeriod" startAt="4"/>
            </a:pPr>
            <a:endParaRPr lang="es-CO" sz="1200" dirty="0"/>
          </a:p>
        </p:txBody>
      </p:sp>
      <p:pic>
        <p:nvPicPr>
          <p:cNvPr id="5" name="Imagen 4">
            <a:extLst>
              <a:ext uri="{FF2B5EF4-FFF2-40B4-BE49-F238E27FC236}">
                <a16:creationId xmlns:a16="http://schemas.microsoft.com/office/drawing/2014/main" id="{A1C6C590-071F-1B19-2D4A-A3D45F7C1DE4}"/>
              </a:ext>
            </a:extLst>
          </p:cNvPr>
          <p:cNvPicPr>
            <a:picLocks noChangeAspect="1"/>
          </p:cNvPicPr>
          <p:nvPr/>
        </p:nvPicPr>
        <p:blipFill>
          <a:blip r:embed="rId2"/>
          <a:stretch>
            <a:fillRect/>
          </a:stretch>
        </p:blipFill>
        <p:spPr>
          <a:xfrm>
            <a:off x="810247" y="1253344"/>
            <a:ext cx="10619107" cy="1411820"/>
          </a:xfrm>
          <a:prstGeom prst="rect">
            <a:avLst/>
          </a:prstGeom>
        </p:spPr>
      </p:pic>
      <p:sp>
        <p:nvSpPr>
          <p:cNvPr id="11" name="Rectángulo 10">
            <a:extLst>
              <a:ext uri="{FF2B5EF4-FFF2-40B4-BE49-F238E27FC236}">
                <a16:creationId xmlns:a16="http://schemas.microsoft.com/office/drawing/2014/main" id="{70DF864C-ED47-8969-F409-37672BED3A58}"/>
              </a:ext>
            </a:extLst>
          </p:cNvPr>
          <p:cNvSpPr/>
          <p:nvPr/>
        </p:nvSpPr>
        <p:spPr>
          <a:xfrm>
            <a:off x="11072815" y="1571279"/>
            <a:ext cx="339194" cy="17620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214FE46C-634D-0497-D567-B72487F993B9}"/>
              </a:ext>
            </a:extLst>
          </p:cNvPr>
          <p:cNvSpPr/>
          <p:nvPr/>
        </p:nvSpPr>
        <p:spPr>
          <a:xfrm>
            <a:off x="10829579" y="1696380"/>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
        <p:nvSpPr>
          <p:cNvPr id="22" name="Rectángulo 21">
            <a:extLst>
              <a:ext uri="{FF2B5EF4-FFF2-40B4-BE49-F238E27FC236}">
                <a16:creationId xmlns:a16="http://schemas.microsoft.com/office/drawing/2014/main" id="{C7093B1A-DCB2-4E35-E3C8-D7D18EAA2E92}"/>
              </a:ext>
            </a:extLst>
          </p:cNvPr>
          <p:cNvSpPr/>
          <p:nvPr/>
        </p:nvSpPr>
        <p:spPr>
          <a:xfrm>
            <a:off x="849444" y="1931727"/>
            <a:ext cx="1906950" cy="30347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3" name="Rectángulo redondeado 15">
            <a:extLst>
              <a:ext uri="{FF2B5EF4-FFF2-40B4-BE49-F238E27FC236}">
                <a16:creationId xmlns:a16="http://schemas.microsoft.com/office/drawing/2014/main" id="{330643A1-71D1-0924-0303-E90AD835B227}"/>
              </a:ext>
            </a:extLst>
          </p:cNvPr>
          <p:cNvSpPr/>
          <p:nvPr/>
        </p:nvSpPr>
        <p:spPr>
          <a:xfrm>
            <a:off x="2843192" y="1828535"/>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Tree>
    <p:extLst>
      <p:ext uri="{BB962C8B-B14F-4D97-AF65-F5344CB8AC3E}">
        <p14:creationId xmlns:p14="http://schemas.microsoft.com/office/powerpoint/2010/main" val="31002070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A5A3C-4D15-E112-40C0-55E895D56735}"/>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B34CAC91-E828-CD8C-2E28-45B52574FDA0}"/>
              </a:ext>
            </a:extLst>
          </p:cNvPr>
          <p:cNvPicPr>
            <a:picLocks noChangeAspect="1"/>
          </p:cNvPicPr>
          <p:nvPr/>
        </p:nvPicPr>
        <p:blipFill>
          <a:blip r:embed="rId2"/>
          <a:stretch>
            <a:fillRect/>
          </a:stretch>
        </p:blipFill>
        <p:spPr>
          <a:xfrm>
            <a:off x="779991" y="1002628"/>
            <a:ext cx="10857827" cy="4930744"/>
          </a:xfrm>
          <a:prstGeom prst="rect">
            <a:avLst/>
          </a:prstGeom>
        </p:spPr>
      </p:pic>
      <p:sp>
        <p:nvSpPr>
          <p:cNvPr id="3" name="Marcador de texto vertical 2">
            <a:extLst>
              <a:ext uri="{FF2B5EF4-FFF2-40B4-BE49-F238E27FC236}">
                <a16:creationId xmlns:a16="http://schemas.microsoft.com/office/drawing/2014/main" id="{B3BFC18C-E44D-BBAE-FC08-8CF497236292}"/>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D8BF0121-3D05-2FD3-B79B-DDCEB3FB448A}"/>
              </a:ext>
            </a:extLst>
          </p:cNvPr>
          <p:cNvSpPr>
            <a:spLocks noGrp="1"/>
          </p:cNvSpPr>
          <p:nvPr>
            <p:ph type="title"/>
          </p:nvPr>
        </p:nvSpPr>
        <p:spPr>
          <a:xfrm>
            <a:off x="810247" y="327992"/>
            <a:ext cx="10271883" cy="626165"/>
          </a:xfrm>
        </p:spPr>
        <p:txBody>
          <a:bodyPr/>
          <a:lstStyle/>
          <a:p>
            <a:r>
              <a:rPr lang="es-419" dirty="0">
                <a:solidFill>
                  <a:schemeClr val="tx2"/>
                </a:solidFill>
              </a:rPr>
              <a:t>Curso de transferencia (</a:t>
            </a:r>
            <a:r>
              <a:rPr lang="es-ES_tradnl" dirty="0">
                <a:solidFill>
                  <a:schemeClr val="tx2"/>
                </a:solidFill>
              </a:rPr>
              <a:t>SHATRNS)</a:t>
            </a:r>
            <a:br>
              <a:rPr lang="es-CL" b="1" dirty="0">
                <a:effectLst/>
              </a:rPr>
            </a:br>
            <a:endParaRPr lang="es-CL" dirty="0"/>
          </a:p>
        </p:txBody>
      </p:sp>
      <p:sp>
        <p:nvSpPr>
          <p:cNvPr id="6" name="Rectángulo redondeado 5">
            <a:extLst>
              <a:ext uri="{FF2B5EF4-FFF2-40B4-BE49-F238E27FC236}">
                <a16:creationId xmlns:a16="http://schemas.microsoft.com/office/drawing/2014/main" id="{3399F09C-ECB7-A48D-0C6D-A64C563DDC2F}"/>
              </a:ext>
            </a:extLst>
          </p:cNvPr>
          <p:cNvSpPr/>
          <p:nvPr/>
        </p:nvSpPr>
        <p:spPr>
          <a:xfrm>
            <a:off x="1780179" y="4200294"/>
            <a:ext cx="7814498" cy="103265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5"/>
            </a:pPr>
            <a:r>
              <a:rPr lang="es-CO" sz="1200" dirty="0"/>
              <a:t>Ingrese o seleccione el código de la Institución de procedencia para la cual se dará la convalidación al estudiante. La fecha de ingreso de la información queda en la fecha de recepción.</a:t>
            </a:r>
          </a:p>
          <a:p>
            <a:pPr marL="228600" indent="-228600">
              <a:buFont typeface="+mj-lt"/>
              <a:buAutoNum type="arabicPeriod" startAt="5"/>
            </a:pPr>
            <a:r>
              <a:rPr lang="es-CO" sz="1200" dirty="0"/>
              <a:t>Guarde la información.</a:t>
            </a:r>
          </a:p>
          <a:p>
            <a:pPr marL="228600" indent="-228600">
              <a:buFont typeface="+mj-lt"/>
              <a:buAutoNum type="arabicPeriod" startAt="5"/>
            </a:pPr>
            <a:r>
              <a:rPr lang="es-CO" sz="1200" dirty="0"/>
              <a:t>Pase al siguiente bloque.</a:t>
            </a:r>
          </a:p>
        </p:txBody>
      </p:sp>
      <p:sp>
        <p:nvSpPr>
          <p:cNvPr id="11" name="Rectángulo 10">
            <a:extLst>
              <a:ext uri="{FF2B5EF4-FFF2-40B4-BE49-F238E27FC236}">
                <a16:creationId xmlns:a16="http://schemas.microsoft.com/office/drawing/2014/main" id="{97A906A1-5A98-5A6F-0DDC-193A950BE6DF}"/>
              </a:ext>
            </a:extLst>
          </p:cNvPr>
          <p:cNvSpPr/>
          <p:nvPr/>
        </p:nvSpPr>
        <p:spPr>
          <a:xfrm>
            <a:off x="11136209" y="5628984"/>
            <a:ext cx="538556" cy="20791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D8978E80-5810-BD80-8AB1-492DF55616BB}"/>
              </a:ext>
            </a:extLst>
          </p:cNvPr>
          <p:cNvSpPr/>
          <p:nvPr/>
        </p:nvSpPr>
        <p:spPr>
          <a:xfrm>
            <a:off x="10920681" y="5772557"/>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sp>
        <p:nvSpPr>
          <p:cNvPr id="22" name="Rectángulo 21">
            <a:extLst>
              <a:ext uri="{FF2B5EF4-FFF2-40B4-BE49-F238E27FC236}">
                <a16:creationId xmlns:a16="http://schemas.microsoft.com/office/drawing/2014/main" id="{6173AD3D-11B3-B5DE-038D-04502719D811}"/>
              </a:ext>
            </a:extLst>
          </p:cNvPr>
          <p:cNvSpPr/>
          <p:nvPr/>
        </p:nvSpPr>
        <p:spPr>
          <a:xfrm>
            <a:off x="1060746" y="1625050"/>
            <a:ext cx="2245872" cy="17620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3" name="Rectángulo redondeado 15">
            <a:extLst>
              <a:ext uri="{FF2B5EF4-FFF2-40B4-BE49-F238E27FC236}">
                <a16:creationId xmlns:a16="http://schemas.microsoft.com/office/drawing/2014/main" id="{458E0BF1-8C55-3C80-97E8-51B4854054FD}"/>
              </a:ext>
            </a:extLst>
          </p:cNvPr>
          <p:cNvSpPr/>
          <p:nvPr/>
        </p:nvSpPr>
        <p:spPr>
          <a:xfrm>
            <a:off x="3315559" y="1857195"/>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
        <p:nvSpPr>
          <p:cNvPr id="8" name="Rectángulo 7">
            <a:extLst>
              <a:ext uri="{FF2B5EF4-FFF2-40B4-BE49-F238E27FC236}">
                <a16:creationId xmlns:a16="http://schemas.microsoft.com/office/drawing/2014/main" id="{B2E5F74E-E6B7-F9B2-BF05-F0A62924A8C8}"/>
              </a:ext>
            </a:extLst>
          </p:cNvPr>
          <p:cNvSpPr/>
          <p:nvPr/>
        </p:nvSpPr>
        <p:spPr>
          <a:xfrm>
            <a:off x="1032166" y="5631391"/>
            <a:ext cx="334816" cy="17620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E18F7BDE-9D5B-FE47-FF47-4C9C95C27252}"/>
              </a:ext>
            </a:extLst>
          </p:cNvPr>
          <p:cNvSpPr/>
          <p:nvPr/>
        </p:nvSpPr>
        <p:spPr>
          <a:xfrm>
            <a:off x="1205533" y="5852964"/>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7</a:t>
            </a:r>
          </a:p>
        </p:txBody>
      </p:sp>
    </p:spTree>
    <p:extLst>
      <p:ext uri="{BB962C8B-B14F-4D97-AF65-F5344CB8AC3E}">
        <p14:creationId xmlns:p14="http://schemas.microsoft.com/office/powerpoint/2010/main" val="3246525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39391-F44C-7054-471B-9FAEDA4A8573}"/>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1C12955A-575F-6A16-F0CC-F017A5BBF14B}"/>
              </a:ext>
            </a:extLst>
          </p:cNvPr>
          <p:cNvPicPr>
            <a:picLocks noGrp="1" noRot="1" noChangeAspect="1" noMove="1" noResize="1" noEditPoints="1" noAdjustHandles="1" noChangeArrowheads="1" noChangeShapeType="1" noCrop="1"/>
          </p:cNvPicPr>
          <p:nvPr/>
        </p:nvPicPr>
        <p:blipFill>
          <a:blip r:embed="rId2"/>
          <a:stretch>
            <a:fillRect/>
          </a:stretch>
        </p:blipFill>
        <p:spPr>
          <a:xfrm>
            <a:off x="779991" y="924628"/>
            <a:ext cx="10857827" cy="4941558"/>
          </a:xfrm>
          <a:prstGeom prst="rect">
            <a:avLst/>
          </a:prstGeom>
        </p:spPr>
      </p:pic>
      <p:sp>
        <p:nvSpPr>
          <p:cNvPr id="3" name="Marcador de texto vertical 2">
            <a:extLst>
              <a:ext uri="{FF2B5EF4-FFF2-40B4-BE49-F238E27FC236}">
                <a16:creationId xmlns:a16="http://schemas.microsoft.com/office/drawing/2014/main" id="{F054BD96-E296-36A6-1038-760717AFF6D6}"/>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B7DB2DC0-66D7-A007-1080-61FEE09C0FB1}"/>
              </a:ext>
            </a:extLst>
          </p:cNvPr>
          <p:cNvSpPr>
            <a:spLocks noGrp="1"/>
          </p:cNvSpPr>
          <p:nvPr>
            <p:ph type="title"/>
          </p:nvPr>
        </p:nvSpPr>
        <p:spPr>
          <a:xfrm>
            <a:off x="810247" y="327992"/>
            <a:ext cx="10271883" cy="626165"/>
          </a:xfrm>
        </p:spPr>
        <p:txBody>
          <a:bodyPr/>
          <a:lstStyle/>
          <a:p>
            <a:r>
              <a:rPr lang="es-419" dirty="0">
                <a:solidFill>
                  <a:schemeClr val="tx2"/>
                </a:solidFill>
              </a:rPr>
              <a:t>Curso de transferencia (</a:t>
            </a:r>
            <a:r>
              <a:rPr lang="es-ES_tradnl" dirty="0">
                <a:solidFill>
                  <a:schemeClr val="tx2"/>
                </a:solidFill>
              </a:rPr>
              <a:t>SHATRNS)</a:t>
            </a:r>
            <a:br>
              <a:rPr lang="es-CL" b="1" dirty="0">
                <a:effectLst/>
              </a:rPr>
            </a:br>
            <a:endParaRPr lang="es-CL" dirty="0"/>
          </a:p>
        </p:txBody>
      </p:sp>
      <p:sp>
        <p:nvSpPr>
          <p:cNvPr id="6" name="Rectángulo redondeado 5">
            <a:extLst>
              <a:ext uri="{FF2B5EF4-FFF2-40B4-BE49-F238E27FC236}">
                <a16:creationId xmlns:a16="http://schemas.microsoft.com/office/drawing/2014/main" id="{6B8873A3-EDF3-1D1F-21AF-146D05BDB027}"/>
              </a:ext>
            </a:extLst>
          </p:cNvPr>
          <p:cNvSpPr/>
          <p:nvPr/>
        </p:nvSpPr>
        <p:spPr>
          <a:xfrm>
            <a:off x="1745673" y="3831334"/>
            <a:ext cx="7814498" cy="155211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8"/>
            </a:pPr>
            <a:r>
              <a:rPr lang="es-CO" sz="1200" dirty="0"/>
              <a:t>En el campo Periodo de asistencia , ingrese o seleccione en el cual el estudiante haya cursado las asignaturas en la institución de origen. Este período debe ser mayor o igual al definido en el catálogo de las asignaturas de transferencia (SHATATC).</a:t>
            </a:r>
          </a:p>
          <a:p>
            <a:pPr algn="ctr"/>
            <a:r>
              <a:rPr lang="es-CO" sz="1100" dirty="0"/>
              <a:t> El campo fecha de aceptación toma la fecha de ingreso de la información en la página.</a:t>
            </a:r>
            <a:endParaRPr lang="es-CO" sz="1200" dirty="0"/>
          </a:p>
          <a:p>
            <a:pPr marL="228600" indent="-228600">
              <a:buFont typeface="+mj-lt"/>
              <a:buAutoNum type="arabicPeriod" startAt="9"/>
            </a:pPr>
            <a:r>
              <a:rPr lang="es-CO" sz="1200" dirty="0"/>
              <a:t>En el campo ‘Periodo de Vigencia’ ingrese o seleccione el periodo académico en el cual quedarán convalidadas las asignaturas para el estudiante en UAI.</a:t>
            </a:r>
          </a:p>
          <a:p>
            <a:pPr marL="228600" indent="-228600">
              <a:buFont typeface="+mj-lt"/>
              <a:buAutoNum type="arabicPeriod" startAt="9"/>
            </a:pPr>
            <a:r>
              <a:rPr lang="es-CO" sz="1200" dirty="0"/>
              <a:t>Ingrese el nivel para el cual se convalidarán las asignaturas.</a:t>
            </a:r>
          </a:p>
          <a:p>
            <a:pPr marL="228600" indent="-228600">
              <a:buFont typeface="+mj-lt"/>
              <a:buAutoNum type="arabicPeriod" startAt="9"/>
            </a:pPr>
            <a:r>
              <a:rPr lang="es-CO" sz="1200" dirty="0"/>
              <a:t>Guarde la información.</a:t>
            </a:r>
          </a:p>
        </p:txBody>
      </p:sp>
      <p:sp>
        <p:nvSpPr>
          <p:cNvPr id="11" name="Rectángulo 10">
            <a:extLst>
              <a:ext uri="{FF2B5EF4-FFF2-40B4-BE49-F238E27FC236}">
                <a16:creationId xmlns:a16="http://schemas.microsoft.com/office/drawing/2014/main" id="{6422BA2A-C507-8164-8671-903C41C12FDD}"/>
              </a:ext>
            </a:extLst>
          </p:cNvPr>
          <p:cNvSpPr/>
          <p:nvPr/>
        </p:nvSpPr>
        <p:spPr>
          <a:xfrm>
            <a:off x="11136209" y="5573568"/>
            <a:ext cx="538556" cy="20791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2" name="Rectángulo 21">
            <a:extLst>
              <a:ext uri="{FF2B5EF4-FFF2-40B4-BE49-F238E27FC236}">
                <a16:creationId xmlns:a16="http://schemas.microsoft.com/office/drawing/2014/main" id="{D043DB0C-AF96-D1B3-DE1A-C00EAFA3B544}"/>
              </a:ext>
            </a:extLst>
          </p:cNvPr>
          <p:cNvSpPr/>
          <p:nvPr/>
        </p:nvSpPr>
        <p:spPr>
          <a:xfrm>
            <a:off x="810247" y="2304641"/>
            <a:ext cx="1406480" cy="17620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3" name="Rectángulo redondeado 15">
            <a:extLst>
              <a:ext uri="{FF2B5EF4-FFF2-40B4-BE49-F238E27FC236}">
                <a16:creationId xmlns:a16="http://schemas.microsoft.com/office/drawing/2014/main" id="{BF41980D-E7AD-E627-2664-64E51B70B637}"/>
              </a:ext>
            </a:extLst>
          </p:cNvPr>
          <p:cNvSpPr/>
          <p:nvPr/>
        </p:nvSpPr>
        <p:spPr>
          <a:xfrm>
            <a:off x="629199" y="2304641"/>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8</a:t>
            </a:r>
          </a:p>
        </p:txBody>
      </p:sp>
      <p:sp>
        <p:nvSpPr>
          <p:cNvPr id="10" name="Rectángulo 9">
            <a:extLst>
              <a:ext uri="{FF2B5EF4-FFF2-40B4-BE49-F238E27FC236}">
                <a16:creationId xmlns:a16="http://schemas.microsoft.com/office/drawing/2014/main" id="{975E8E15-B088-14B5-F29B-D7CD66C223D0}"/>
              </a:ext>
            </a:extLst>
          </p:cNvPr>
          <p:cNvSpPr/>
          <p:nvPr/>
        </p:nvSpPr>
        <p:spPr>
          <a:xfrm>
            <a:off x="810247" y="2735997"/>
            <a:ext cx="1406480" cy="17620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3" name="Rectángulo redondeado 15">
            <a:extLst>
              <a:ext uri="{FF2B5EF4-FFF2-40B4-BE49-F238E27FC236}">
                <a16:creationId xmlns:a16="http://schemas.microsoft.com/office/drawing/2014/main" id="{A057F18F-388C-324D-2883-B9A177142697}"/>
              </a:ext>
            </a:extLst>
          </p:cNvPr>
          <p:cNvSpPr/>
          <p:nvPr/>
        </p:nvSpPr>
        <p:spPr>
          <a:xfrm>
            <a:off x="629199" y="2735997"/>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9</a:t>
            </a:r>
            <a:endParaRPr lang="es-419" sz="1100" noProof="0" dirty="0"/>
          </a:p>
        </p:txBody>
      </p:sp>
      <p:sp>
        <p:nvSpPr>
          <p:cNvPr id="14" name="Rectángulo 13">
            <a:extLst>
              <a:ext uri="{FF2B5EF4-FFF2-40B4-BE49-F238E27FC236}">
                <a16:creationId xmlns:a16="http://schemas.microsoft.com/office/drawing/2014/main" id="{80EB1B27-80F5-F2E7-7703-09588851327C}"/>
              </a:ext>
            </a:extLst>
          </p:cNvPr>
          <p:cNvSpPr/>
          <p:nvPr/>
        </p:nvSpPr>
        <p:spPr>
          <a:xfrm>
            <a:off x="6419273" y="2334659"/>
            <a:ext cx="1020618" cy="16081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DCC47FF9-BE32-3F0B-E658-BA333684AB4F}"/>
              </a:ext>
            </a:extLst>
          </p:cNvPr>
          <p:cNvSpPr/>
          <p:nvPr/>
        </p:nvSpPr>
        <p:spPr>
          <a:xfrm>
            <a:off x="5985806" y="2292494"/>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10</a:t>
            </a:r>
          </a:p>
        </p:txBody>
      </p:sp>
      <p:sp>
        <p:nvSpPr>
          <p:cNvPr id="16" name="Rectángulo redondeado 15">
            <a:extLst>
              <a:ext uri="{FF2B5EF4-FFF2-40B4-BE49-F238E27FC236}">
                <a16:creationId xmlns:a16="http://schemas.microsoft.com/office/drawing/2014/main" id="{A13A8597-2425-3874-F467-2E00511B6EA5}"/>
              </a:ext>
            </a:extLst>
          </p:cNvPr>
          <p:cNvSpPr/>
          <p:nvPr/>
        </p:nvSpPr>
        <p:spPr>
          <a:xfrm>
            <a:off x="10739689" y="5574574"/>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11</a:t>
            </a:r>
          </a:p>
        </p:txBody>
      </p:sp>
    </p:spTree>
    <p:extLst>
      <p:ext uri="{BB962C8B-B14F-4D97-AF65-F5344CB8AC3E}">
        <p14:creationId xmlns:p14="http://schemas.microsoft.com/office/powerpoint/2010/main" val="21960068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00811-8FB0-B5CA-A167-8797F6AE1A23}"/>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5B61455C-A430-4516-6507-560B9BAFC50C}"/>
              </a:ext>
            </a:extLst>
          </p:cNvPr>
          <p:cNvPicPr>
            <a:picLocks noChangeAspect="1"/>
          </p:cNvPicPr>
          <p:nvPr/>
        </p:nvPicPr>
        <p:blipFill>
          <a:blip r:embed="rId2"/>
          <a:stretch>
            <a:fillRect/>
          </a:stretch>
        </p:blipFill>
        <p:spPr>
          <a:xfrm>
            <a:off x="762646" y="1253345"/>
            <a:ext cx="10666708" cy="1456320"/>
          </a:xfrm>
          <a:prstGeom prst="rect">
            <a:avLst/>
          </a:prstGeom>
        </p:spPr>
      </p:pic>
      <p:sp>
        <p:nvSpPr>
          <p:cNvPr id="3" name="Marcador de texto vertical 2">
            <a:extLst>
              <a:ext uri="{FF2B5EF4-FFF2-40B4-BE49-F238E27FC236}">
                <a16:creationId xmlns:a16="http://schemas.microsoft.com/office/drawing/2014/main" id="{E30C8424-7C51-4311-FB6A-0673AC4DB833}"/>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FECEABF5-5CBB-159E-454C-03D0E65C9FB4}"/>
              </a:ext>
            </a:extLst>
          </p:cNvPr>
          <p:cNvSpPr>
            <a:spLocks noGrp="1"/>
          </p:cNvSpPr>
          <p:nvPr>
            <p:ph type="title"/>
          </p:nvPr>
        </p:nvSpPr>
        <p:spPr>
          <a:xfrm>
            <a:off x="810247" y="327992"/>
            <a:ext cx="10271883" cy="626165"/>
          </a:xfrm>
        </p:spPr>
        <p:txBody>
          <a:bodyPr/>
          <a:lstStyle/>
          <a:p>
            <a:r>
              <a:rPr lang="es-419" dirty="0">
                <a:solidFill>
                  <a:schemeClr val="tx2"/>
                </a:solidFill>
              </a:rPr>
              <a:t>Evaluación de articulación de transferencia (SHATAEQ)</a:t>
            </a:r>
            <a:br>
              <a:rPr lang="es-CL" dirty="0">
                <a:solidFill>
                  <a:schemeClr val="tx2"/>
                </a:solidFill>
              </a:rPr>
            </a:br>
            <a:endParaRPr lang="es-CL" dirty="0">
              <a:solidFill>
                <a:schemeClr val="tx2"/>
              </a:solidFill>
            </a:endParaRPr>
          </a:p>
        </p:txBody>
      </p:sp>
      <p:sp>
        <p:nvSpPr>
          <p:cNvPr id="6" name="Rectángulo redondeado 5">
            <a:extLst>
              <a:ext uri="{FF2B5EF4-FFF2-40B4-BE49-F238E27FC236}">
                <a16:creationId xmlns:a16="http://schemas.microsoft.com/office/drawing/2014/main" id="{23CC6C84-D081-C1BC-CD8D-40F6F06F505E}"/>
              </a:ext>
            </a:extLst>
          </p:cNvPr>
          <p:cNvSpPr/>
          <p:nvPr/>
        </p:nvSpPr>
        <p:spPr>
          <a:xfrm>
            <a:off x="1762925" y="3513131"/>
            <a:ext cx="7814498" cy="181774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O" sz="1200" dirty="0"/>
              <a:t>Luego de registrar la institución de procedencia, períodos y nivel , en la página SHATAEQ se deben ingresar las asignaturas que se le convalidarán al estudiante y la calificación obtenida en la institución de procedencia, siguiendo los siguientes pasos:</a:t>
            </a:r>
          </a:p>
          <a:p>
            <a:endParaRPr lang="es-CO" sz="1200" dirty="0"/>
          </a:p>
          <a:p>
            <a:pPr marL="228600" indent="-228600">
              <a:buFont typeface="+mj-lt"/>
              <a:buAutoNum type="arabicPeriod"/>
            </a:pPr>
            <a:r>
              <a:rPr lang="es-CO" sz="1200" dirty="0"/>
              <a:t>Ingrese el ID del estudiante al cual se le otorgarán las convalidaciones</a:t>
            </a:r>
          </a:p>
          <a:p>
            <a:pPr marL="228600" indent="-228600">
              <a:buFont typeface="+mj-lt"/>
              <a:buAutoNum type="arabicPeriod"/>
            </a:pPr>
            <a:r>
              <a:rPr lang="es-CO" sz="1200" dirty="0"/>
              <a:t>Ingrese o seleccione el código de la Institución de procedencia.</a:t>
            </a:r>
          </a:p>
          <a:p>
            <a:pPr marL="228600" indent="-228600">
              <a:buFont typeface="+mj-lt"/>
              <a:buAutoNum type="arabicPeriod"/>
            </a:pPr>
            <a:r>
              <a:rPr lang="es-CO" sz="1200" dirty="0"/>
              <a:t>Ingrese el Programa para el cual se hará la convalidación.</a:t>
            </a:r>
          </a:p>
          <a:p>
            <a:pPr marL="228600" indent="-228600">
              <a:buFont typeface="+mj-lt"/>
              <a:buAutoNum type="arabicPeriod"/>
            </a:pPr>
            <a:r>
              <a:rPr lang="es-CO" sz="1200" dirty="0"/>
              <a:t>Presione el botón ‘Ir’.</a:t>
            </a:r>
          </a:p>
        </p:txBody>
      </p:sp>
      <p:sp>
        <p:nvSpPr>
          <p:cNvPr id="9" name="Rectángulo 8">
            <a:extLst>
              <a:ext uri="{FF2B5EF4-FFF2-40B4-BE49-F238E27FC236}">
                <a16:creationId xmlns:a16="http://schemas.microsoft.com/office/drawing/2014/main" id="{64340A0C-EE8B-7F75-2CF9-216AF4BD9047}"/>
              </a:ext>
            </a:extLst>
          </p:cNvPr>
          <p:cNvSpPr/>
          <p:nvPr/>
        </p:nvSpPr>
        <p:spPr>
          <a:xfrm>
            <a:off x="1385907" y="1527122"/>
            <a:ext cx="1283404" cy="17620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D784CF63-1E2C-5A3C-BC0B-532B4DA8DEB5}"/>
              </a:ext>
            </a:extLst>
          </p:cNvPr>
          <p:cNvSpPr/>
          <p:nvPr/>
        </p:nvSpPr>
        <p:spPr>
          <a:xfrm>
            <a:off x="1212969" y="1461626"/>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
        <p:nvSpPr>
          <p:cNvPr id="13" name="Rectángulo 12">
            <a:extLst>
              <a:ext uri="{FF2B5EF4-FFF2-40B4-BE49-F238E27FC236}">
                <a16:creationId xmlns:a16="http://schemas.microsoft.com/office/drawing/2014/main" id="{5086A081-ECB2-99EA-AF7A-4921C07E31D1}"/>
              </a:ext>
            </a:extLst>
          </p:cNvPr>
          <p:cNvSpPr/>
          <p:nvPr/>
        </p:nvSpPr>
        <p:spPr>
          <a:xfrm>
            <a:off x="5908259" y="1549967"/>
            <a:ext cx="2201268" cy="17620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A22324F7-C050-8793-F0B8-A9BBF8D43BAB}"/>
              </a:ext>
            </a:extLst>
          </p:cNvPr>
          <p:cNvSpPr/>
          <p:nvPr/>
        </p:nvSpPr>
        <p:spPr>
          <a:xfrm>
            <a:off x="5746810" y="1389152"/>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8" name="Rectángulo 7">
            <a:extLst>
              <a:ext uri="{FF2B5EF4-FFF2-40B4-BE49-F238E27FC236}">
                <a16:creationId xmlns:a16="http://schemas.microsoft.com/office/drawing/2014/main" id="{663F6A88-21C1-165A-0D4A-849813296337}"/>
              </a:ext>
            </a:extLst>
          </p:cNvPr>
          <p:cNvSpPr/>
          <p:nvPr/>
        </p:nvSpPr>
        <p:spPr>
          <a:xfrm>
            <a:off x="1103971" y="1720009"/>
            <a:ext cx="1565340" cy="17620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F1E34C27-C1AB-FC62-9976-228B624E77E6}"/>
              </a:ext>
            </a:extLst>
          </p:cNvPr>
          <p:cNvSpPr/>
          <p:nvPr/>
        </p:nvSpPr>
        <p:spPr>
          <a:xfrm>
            <a:off x="931033" y="1654513"/>
            <a:ext cx="196916"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2" name="Rectángulo 11">
            <a:extLst>
              <a:ext uri="{FF2B5EF4-FFF2-40B4-BE49-F238E27FC236}">
                <a16:creationId xmlns:a16="http://schemas.microsoft.com/office/drawing/2014/main" id="{A3BD632C-1B21-7132-5512-682066C3623C}"/>
              </a:ext>
            </a:extLst>
          </p:cNvPr>
          <p:cNvSpPr/>
          <p:nvPr/>
        </p:nvSpPr>
        <p:spPr>
          <a:xfrm>
            <a:off x="11072815" y="1571279"/>
            <a:ext cx="339194" cy="17620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B0733CE7-08BC-01D9-4907-33C51580A8CA}"/>
              </a:ext>
            </a:extLst>
          </p:cNvPr>
          <p:cNvSpPr/>
          <p:nvPr/>
        </p:nvSpPr>
        <p:spPr>
          <a:xfrm>
            <a:off x="10829579" y="1696380"/>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Tree>
    <p:extLst>
      <p:ext uri="{BB962C8B-B14F-4D97-AF65-F5344CB8AC3E}">
        <p14:creationId xmlns:p14="http://schemas.microsoft.com/office/powerpoint/2010/main" val="17007633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56E2A-BA47-5625-71A5-260284FFA90F}"/>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51E6EDAC-A2EA-9FF1-CFD0-2652C00F1E67}"/>
              </a:ext>
            </a:extLst>
          </p:cNvPr>
          <p:cNvPicPr>
            <a:picLocks noChangeAspect="1"/>
          </p:cNvPicPr>
          <p:nvPr/>
        </p:nvPicPr>
        <p:blipFill>
          <a:blip r:embed="rId2"/>
          <a:stretch>
            <a:fillRect/>
          </a:stretch>
        </p:blipFill>
        <p:spPr>
          <a:xfrm>
            <a:off x="762646" y="1077477"/>
            <a:ext cx="10856699" cy="4944635"/>
          </a:xfrm>
          <a:prstGeom prst="rect">
            <a:avLst/>
          </a:prstGeom>
        </p:spPr>
      </p:pic>
      <p:sp>
        <p:nvSpPr>
          <p:cNvPr id="3" name="Marcador de texto vertical 2">
            <a:extLst>
              <a:ext uri="{FF2B5EF4-FFF2-40B4-BE49-F238E27FC236}">
                <a16:creationId xmlns:a16="http://schemas.microsoft.com/office/drawing/2014/main" id="{DF3E6F78-1667-0A2F-FB54-201F84A21CAE}"/>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C9284949-CF40-B00F-AD08-B8C62959EA11}"/>
              </a:ext>
            </a:extLst>
          </p:cNvPr>
          <p:cNvSpPr>
            <a:spLocks noGrp="1"/>
          </p:cNvSpPr>
          <p:nvPr>
            <p:ph type="title"/>
          </p:nvPr>
        </p:nvSpPr>
        <p:spPr>
          <a:xfrm>
            <a:off x="810247" y="327992"/>
            <a:ext cx="10271883" cy="626165"/>
          </a:xfrm>
        </p:spPr>
        <p:txBody>
          <a:bodyPr/>
          <a:lstStyle/>
          <a:p>
            <a:r>
              <a:rPr lang="es-419" dirty="0">
                <a:solidFill>
                  <a:schemeClr val="tx2"/>
                </a:solidFill>
              </a:rPr>
              <a:t>Evaluación de articulación de transferencia (SHATAEQ)</a:t>
            </a:r>
            <a:br>
              <a:rPr lang="es-CL" dirty="0">
                <a:solidFill>
                  <a:schemeClr val="tx2"/>
                </a:solidFill>
              </a:rPr>
            </a:br>
            <a:endParaRPr lang="es-CL" dirty="0">
              <a:solidFill>
                <a:schemeClr val="tx2"/>
              </a:solidFill>
            </a:endParaRPr>
          </a:p>
        </p:txBody>
      </p:sp>
      <p:sp>
        <p:nvSpPr>
          <p:cNvPr id="8" name="Rectángulo 7">
            <a:extLst>
              <a:ext uri="{FF2B5EF4-FFF2-40B4-BE49-F238E27FC236}">
                <a16:creationId xmlns:a16="http://schemas.microsoft.com/office/drawing/2014/main" id="{FC4EF770-2DB2-FA87-1CAD-0BBD6DC2F8FB}"/>
              </a:ext>
            </a:extLst>
          </p:cNvPr>
          <p:cNvSpPr/>
          <p:nvPr/>
        </p:nvSpPr>
        <p:spPr>
          <a:xfrm>
            <a:off x="762646" y="1738546"/>
            <a:ext cx="365303" cy="45970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1103358F-1BF8-55DB-DBFE-05620F20B4ED}"/>
              </a:ext>
            </a:extLst>
          </p:cNvPr>
          <p:cNvSpPr/>
          <p:nvPr/>
        </p:nvSpPr>
        <p:spPr>
          <a:xfrm>
            <a:off x="810247" y="2321575"/>
            <a:ext cx="196916"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grpSp>
        <p:nvGrpSpPr>
          <p:cNvPr id="18" name="Grupo 17">
            <a:extLst>
              <a:ext uri="{FF2B5EF4-FFF2-40B4-BE49-F238E27FC236}">
                <a16:creationId xmlns:a16="http://schemas.microsoft.com/office/drawing/2014/main" id="{1BF20AAF-24F8-74BC-8392-1B10DEC9EDB4}"/>
              </a:ext>
            </a:extLst>
          </p:cNvPr>
          <p:cNvGrpSpPr/>
          <p:nvPr/>
        </p:nvGrpSpPr>
        <p:grpSpPr>
          <a:xfrm>
            <a:off x="1551709" y="3258487"/>
            <a:ext cx="7102763" cy="1239622"/>
            <a:chOff x="1551709" y="3258487"/>
            <a:chExt cx="7102763" cy="1239622"/>
          </a:xfrm>
        </p:grpSpPr>
        <p:sp>
          <p:nvSpPr>
            <p:cNvPr id="6" name="Rectángulo redondeado 5">
              <a:extLst>
                <a:ext uri="{FF2B5EF4-FFF2-40B4-BE49-F238E27FC236}">
                  <a16:creationId xmlns:a16="http://schemas.microsoft.com/office/drawing/2014/main" id="{423449CC-7169-F890-C754-DD63D7D38100}"/>
                </a:ext>
              </a:extLst>
            </p:cNvPr>
            <p:cNvSpPr/>
            <p:nvPr/>
          </p:nvSpPr>
          <p:spPr>
            <a:xfrm>
              <a:off x="1551709" y="3258487"/>
              <a:ext cx="7102763" cy="123962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5"/>
              </a:pPr>
              <a:r>
                <a:rPr lang="es-CO" sz="1200" dirty="0"/>
                <a:t>Seleccione el Período de Asistencia haciendo clic en el botón         . El sistema lo lleva a la página de resumen de registros de SHATRNS para que seleccione, si aplica, el período que le corresponde al estudiante e institución de procedencia: </a:t>
              </a:r>
            </a:p>
          </p:txBody>
        </p:sp>
        <p:pic>
          <p:nvPicPr>
            <p:cNvPr id="17" name="Imagen 16">
              <a:extLst>
                <a:ext uri="{FF2B5EF4-FFF2-40B4-BE49-F238E27FC236}">
                  <a16:creationId xmlns:a16="http://schemas.microsoft.com/office/drawing/2014/main" id="{90D467E5-3CD2-A552-5872-2571B821C7AB}"/>
                </a:ext>
              </a:extLst>
            </p:cNvPr>
            <p:cNvPicPr>
              <a:picLocks noChangeAspect="1"/>
            </p:cNvPicPr>
            <p:nvPr/>
          </p:nvPicPr>
          <p:blipFill>
            <a:blip r:embed="rId3"/>
            <a:stretch>
              <a:fillRect/>
            </a:stretch>
          </p:blipFill>
          <p:spPr>
            <a:xfrm>
              <a:off x="5991225" y="3549794"/>
              <a:ext cx="209550" cy="219075"/>
            </a:xfrm>
            <a:prstGeom prst="rect">
              <a:avLst/>
            </a:prstGeom>
          </p:spPr>
        </p:pic>
      </p:grpSp>
    </p:spTree>
    <p:extLst>
      <p:ext uri="{BB962C8B-B14F-4D97-AF65-F5344CB8AC3E}">
        <p14:creationId xmlns:p14="http://schemas.microsoft.com/office/powerpoint/2010/main" val="35779831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D4B4C-9471-8EDD-9FDD-4A74CAD94A35}"/>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0A1B1C9B-8418-B11E-021A-523F691E4589}"/>
              </a:ext>
            </a:extLst>
          </p:cNvPr>
          <p:cNvPicPr>
            <a:picLocks noChangeAspect="1"/>
          </p:cNvPicPr>
          <p:nvPr/>
        </p:nvPicPr>
        <p:blipFill>
          <a:blip r:embed="rId2"/>
          <a:stretch>
            <a:fillRect/>
          </a:stretch>
        </p:blipFill>
        <p:spPr>
          <a:xfrm>
            <a:off x="762646" y="1006917"/>
            <a:ext cx="10913475" cy="4944635"/>
          </a:xfrm>
          <a:prstGeom prst="rect">
            <a:avLst/>
          </a:prstGeom>
        </p:spPr>
      </p:pic>
      <p:sp>
        <p:nvSpPr>
          <p:cNvPr id="3" name="Marcador de texto vertical 2">
            <a:extLst>
              <a:ext uri="{FF2B5EF4-FFF2-40B4-BE49-F238E27FC236}">
                <a16:creationId xmlns:a16="http://schemas.microsoft.com/office/drawing/2014/main" id="{AAD08903-F7FD-5F99-6ABD-B375CD64E40B}"/>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A1A65011-B5FB-88AC-DBB7-1CBDE341AD91}"/>
              </a:ext>
            </a:extLst>
          </p:cNvPr>
          <p:cNvSpPr>
            <a:spLocks noGrp="1"/>
          </p:cNvSpPr>
          <p:nvPr>
            <p:ph type="title"/>
          </p:nvPr>
        </p:nvSpPr>
        <p:spPr>
          <a:xfrm>
            <a:off x="810247" y="327992"/>
            <a:ext cx="10271883" cy="626165"/>
          </a:xfrm>
        </p:spPr>
        <p:txBody>
          <a:bodyPr/>
          <a:lstStyle/>
          <a:p>
            <a:r>
              <a:rPr lang="es-419" dirty="0">
                <a:solidFill>
                  <a:schemeClr val="tx2"/>
                </a:solidFill>
              </a:rPr>
              <a:t>Evaluación de articulación de transferencia (SHATAEQ)</a:t>
            </a:r>
            <a:br>
              <a:rPr lang="es-CL" dirty="0">
                <a:solidFill>
                  <a:schemeClr val="tx2"/>
                </a:solidFill>
              </a:rPr>
            </a:br>
            <a:endParaRPr lang="es-CL" dirty="0">
              <a:solidFill>
                <a:schemeClr val="tx2"/>
              </a:solidFill>
            </a:endParaRPr>
          </a:p>
        </p:txBody>
      </p:sp>
      <p:sp>
        <p:nvSpPr>
          <p:cNvPr id="6" name="Rectángulo redondeado 5">
            <a:extLst>
              <a:ext uri="{FF2B5EF4-FFF2-40B4-BE49-F238E27FC236}">
                <a16:creationId xmlns:a16="http://schemas.microsoft.com/office/drawing/2014/main" id="{1A093A22-F617-54F9-EFAA-C419D28715C4}"/>
              </a:ext>
            </a:extLst>
          </p:cNvPr>
          <p:cNvSpPr/>
          <p:nvPr/>
        </p:nvSpPr>
        <p:spPr>
          <a:xfrm>
            <a:off x="2456873" y="2958685"/>
            <a:ext cx="7102763" cy="123962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O" sz="1200" dirty="0"/>
              <a:t>Haga clic sobre el período de asistencia del estudiante a la Institución de procedencia (según lo cargado en SHATRNS) y presione el botón Seleccionar. El sistema regresa a la página SHATAEQ con el registro seleccionado.</a:t>
            </a:r>
          </a:p>
        </p:txBody>
      </p:sp>
      <p:sp>
        <p:nvSpPr>
          <p:cNvPr id="8" name="Rectángulo 7">
            <a:extLst>
              <a:ext uri="{FF2B5EF4-FFF2-40B4-BE49-F238E27FC236}">
                <a16:creationId xmlns:a16="http://schemas.microsoft.com/office/drawing/2014/main" id="{ECF0CF49-1F69-0515-73C3-C155B9B493D1}"/>
              </a:ext>
            </a:extLst>
          </p:cNvPr>
          <p:cNvSpPr/>
          <p:nvPr/>
        </p:nvSpPr>
        <p:spPr>
          <a:xfrm>
            <a:off x="762645" y="1900941"/>
            <a:ext cx="10913475" cy="91961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6" name="Rectángulo 15">
            <a:extLst>
              <a:ext uri="{FF2B5EF4-FFF2-40B4-BE49-F238E27FC236}">
                <a16:creationId xmlns:a16="http://schemas.microsoft.com/office/drawing/2014/main" id="{0ADE77E2-9E8E-4753-05E6-E74B3531DB24}"/>
              </a:ext>
            </a:extLst>
          </p:cNvPr>
          <p:cNvSpPr/>
          <p:nvPr/>
        </p:nvSpPr>
        <p:spPr>
          <a:xfrm>
            <a:off x="11072894" y="5648349"/>
            <a:ext cx="593989" cy="22120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24605144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58830-4554-8C0C-BB2B-D454153D4614}"/>
            </a:ext>
          </a:extLst>
        </p:cNvPr>
        <p:cNvGrpSpPr/>
        <p:nvPr/>
      </p:nvGrpSpPr>
      <p:grpSpPr>
        <a:xfrm>
          <a:off x="0" y="0"/>
          <a:ext cx="0" cy="0"/>
          <a:chOff x="0" y="0"/>
          <a:chExt cx="0" cy="0"/>
        </a:xfrm>
      </p:grpSpPr>
      <p:pic>
        <p:nvPicPr>
          <p:cNvPr id="18" name="Imagen 17">
            <a:extLst>
              <a:ext uri="{FF2B5EF4-FFF2-40B4-BE49-F238E27FC236}">
                <a16:creationId xmlns:a16="http://schemas.microsoft.com/office/drawing/2014/main" id="{52F96484-AF45-48D7-3264-7F0BA822570E}"/>
              </a:ext>
            </a:extLst>
          </p:cNvPr>
          <p:cNvPicPr>
            <a:picLocks noChangeAspect="1"/>
          </p:cNvPicPr>
          <p:nvPr/>
        </p:nvPicPr>
        <p:blipFill>
          <a:blip r:embed="rId2"/>
          <a:stretch>
            <a:fillRect/>
          </a:stretch>
        </p:blipFill>
        <p:spPr>
          <a:xfrm>
            <a:off x="779991" y="980677"/>
            <a:ext cx="10826938" cy="4928007"/>
          </a:xfrm>
          <a:prstGeom prst="rect">
            <a:avLst/>
          </a:prstGeom>
        </p:spPr>
      </p:pic>
      <p:sp>
        <p:nvSpPr>
          <p:cNvPr id="3" name="Marcador de texto vertical 2">
            <a:extLst>
              <a:ext uri="{FF2B5EF4-FFF2-40B4-BE49-F238E27FC236}">
                <a16:creationId xmlns:a16="http://schemas.microsoft.com/office/drawing/2014/main" id="{82091441-D944-2AA9-5574-73E70583FE0A}"/>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103A89F0-AB79-A5B2-BBEE-57B0C762EF18}"/>
              </a:ext>
            </a:extLst>
          </p:cNvPr>
          <p:cNvSpPr>
            <a:spLocks noGrp="1"/>
          </p:cNvSpPr>
          <p:nvPr>
            <p:ph type="title"/>
          </p:nvPr>
        </p:nvSpPr>
        <p:spPr>
          <a:xfrm>
            <a:off x="810247" y="327992"/>
            <a:ext cx="10271883" cy="626165"/>
          </a:xfrm>
        </p:spPr>
        <p:txBody>
          <a:bodyPr/>
          <a:lstStyle/>
          <a:p>
            <a:r>
              <a:rPr lang="es-419" dirty="0">
                <a:solidFill>
                  <a:schemeClr val="tx2"/>
                </a:solidFill>
              </a:rPr>
              <a:t>Evaluación de articulación de transferencia (SHATAEQ)</a:t>
            </a:r>
            <a:br>
              <a:rPr lang="es-CL" dirty="0">
                <a:solidFill>
                  <a:schemeClr val="tx2"/>
                </a:solidFill>
              </a:rPr>
            </a:br>
            <a:endParaRPr lang="es-CL" dirty="0">
              <a:solidFill>
                <a:schemeClr val="tx2"/>
              </a:solidFill>
            </a:endParaRPr>
          </a:p>
        </p:txBody>
      </p:sp>
      <p:sp>
        <p:nvSpPr>
          <p:cNvPr id="8" name="Rectángulo 7">
            <a:extLst>
              <a:ext uri="{FF2B5EF4-FFF2-40B4-BE49-F238E27FC236}">
                <a16:creationId xmlns:a16="http://schemas.microsoft.com/office/drawing/2014/main" id="{3A279647-33FE-FD95-5814-F78586A162CF}"/>
              </a:ext>
            </a:extLst>
          </p:cNvPr>
          <p:cNvSpPr/>
          <p:nvPr/>
        </p:nvSpPr>
        <p:spPr>
          <a:xfrm>
            <a:off x="2521528" y="1618807"/>
            <a:ext cx="404971" cy="50555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0B6FD4EF-8D75-0D56-B8BE-C0F69DCAF7CB}"/>
              </a:ext>
            </a:extLst>
          </p:cNvPr>
          <p:cNvSpPr/>
          <p:nvPr/>
        </p:nvSpPr>
        <p:spPr>
          <a:xfrm>
            <a:off x="2423070" y="2163005"/>
            <a:ext cx="196916"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8</a:t>
            </a:r>
            <a:endParaRPr lang="es-419" sz="1100" noProof="0" dirty="0"/>
          </a:p>
        </p:txBody>
      </p:sp>
      <p:pic>
        <p:nvPicPr>
          <p:cNvPr id="19" name="Imagen 18">
            <a:extLst>
              <a:ext uri="{FF2B5EF4-FFF2-40B4-BE49-F238E27FC236}">
                <a16:creationId xmlns:a16="http://schemas.microsoft.com/office/drawing/2014/main" id="{212B1F5E-AE04-FCDD-A37A-CCE63B206867}"/>
              </a:ext>
            </a:extLst>
          </p:cNvPr>
          <p:cNvPicPr>
            <a:picLocks noChangeAspect="1"/>
          </p:cNvPicPr>
          <p:nvPr/>
        </p:nvPicPr>
        <p:blipFill>
          <a:blip r:embed="rId3"/>
          <a:stretch>
            <a:fillRect/>
          </a:stretch>
        </p:blipFill>
        <p:spPr>
          <a:xfrm>
            <a:off x="5991225" y="3549794"/>
            <a:ext cx="209550" cy="219075"/>
          </a:xfrm>
          <a:prstGeom prst="rect">
            <a:avLst/>
          </a:prstGeom>
        </p:spPr>
      </p:pic>
      <p:pic>
        <p:nvPicPr>
          <p:cNvPr id="21" name="Imagen 20">
            <a:extLst>
              <a:ext uri="{FF2B5EF4-FFF2-40B4-BE49-F238E27FC236}">
                <a16:creationId xmlns:a16="http://schemas.microsoft.com/office/drawing/2014/main" id="{013B0242-3199-5CD3-A3FC-D2CDC16DD5FC}"/>
              </a:ext>
            </a:extLst>
          </p:cNvPr>
          <p:cNvPicPr>
            <a:picLocks noChangeAspect="1"/>
          </p:cNvPicPr>
          <p:nvPr/>
        </p:nvPicPr>
        <p:blipFill>
          <a:blip r:embed="rId4"/>
          <a:stretch>
            <a:fillRect/>
          </a:stretch>
        </p:blipFill>
        <p:spPr>
          <a:xfrm>
            <a:off x="3954506" y="2613284"/>
            <a:ext cx="2666295" cy="1574944"/>
          </a:xfrm>
          <a:prstGeom prst="rect">
            <a:avLst/>
          </a:prstGeom>
        </p:spPr>
      </p:pic>
      <p:sp>
        <p:nvSpPr>
          <p:cNvPr id="13" name="Rectángulo 12">
            <a:extLst>
              <a:ext uri="{FF2B5EF4-FFF2-40B4-BE49-F238E27FC236}">
                <a16:creationId xmlns:a16="http://schemas.microsoft.com/office/drawing/2014/main" id="{1509854D-2FDA-3343-B9F4-D78BF10575F4}"/>
              </a:ext>
            </a:extLst>
          </p:cNvPr>
          <p:cNvSpPr/>
          <p:nvPr/>
        </p:nvSpPr>
        <p:spPr>
          <a:xfrm>
            <a:off x="3999507" y="3373585"/>
            <a:ext cx="1302166" cy="17620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A704E649-9843-884B-BAD1-EBB96F1DE68A}"/>
              </a:ext>
            </a:extLst>
          </p:cNvPr>
          <p:cNvSpPr/>
          <p:nvPr/>
        </p:nvSpPr>
        <p:spPr>
          <a:xfrm>
            <a:off x="5346674" y="3514580"/>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9</a:t>
            </a:r>
          </a:p>
        </p:txBody>
      </p:sp>
      <p:grpSp>
        <p:nvGrpSpPr>
          <p:cNvPr id="23" name="Grupo 22">
            <a:extLst>
              <a:ext uri="{FF2B5EF4-FFF2-40B4-BE49-F238E27FC236}">
                <a16:creationId xmlns:a16="http://schemas.microsoft.com/office/drawing/2014/main" id="{A15682C6-22B3-B5B1-0149-CD3C1A1EBF5D}"/>
              </a:ext>
            </a:extLst>
          </p:cNvPr>
          <p:cNvGrpSpPr/>
          <p:nvPr/>
        </p:nvGrpSpPr>
        <p:grpSpPr>
          <a:xfrm>
            <a:off x="2324737" y="4504927"/>
            <a:ext cx="7530463" cy="1239622"/>
            <a:chOff x="2195428" y="4832186"/>
            <a:chExt cx="7530463" cy="1239622"/>
          </a:xfrm>
        </p:grpSpPr>
        <p:sp>
          <p:nvSpPr>
            <p:cNvPr id="6" name="Rectángulo redondeado 5">
              <a:extLst>
                <a:ext uri="{FF2B5EF4-FFF2-40B4-BE49-F238E27FC236}">
                  <a16:creationId xmlns:a16="http://schemas.microsoft.com/office/drawing/2014/main" id="{866DE80C-0C33-73EE-A481-0C65C234E904}"/>
                </a:ext>
              </a:extLst>
            </p:cNvPr>
            <p:cNvSpPr/>
            <p:nvPr/>
          </p:nvSpPr>
          <p:spPr>
            <a:xfrm>
              <a:off x="2195428" y="4832186"/>
              <a:ext cx="7530463" cy="123962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6"/>
              </a:pPr>
              <a:r>
                <a:rPr lang="es-CO" sz="1200" dirty="0"/>
                <a:t>Ingrese el período para el cual se hará efectiva la convalidación</a:t>
              </a:r>
            </a:p>
            <a:p>
              <a:pPr marL="228600" indent="-228600">
                <a:buFont typeface="+mj-lt"/>
                <a:buAutoNum type="arabicPeriod" startAt="6"/>
              </a:pPr>
              <a:r>
                <a:rPr lang="es-CO" sz="1200" dirty="0"/>
                <a:t>Ingrese el Nivel para el cual se dará la convalidación.</a:t>
              </a:r>
            </a:p>
            <a:p>
              <a:pPr marL="228600" indent="-228600">
                <a:buFont typeface="+mj-lt"/>
                <a:buAutoNum type="arabicPeriod" startAt="6"/>
              </a:pPr>
              <a:r>
                <a:rPr lang="es-CO" sz="1200" dirty="0"/>
                <a:t>Seleccione la materia que cursó el estudiante en la institución de procedencia haciendo clic sobre el botón          del campo Materia de transferencia.</a:t>
              </a:r>
            </a:p>
            <a:p>
              <a:pPr marL="228600" indent="-228600">
                <a:buFont typeface="+mj-lt"/>
                <a:buAutoNum type="arabicPeriod" startAt="6"/>
              </a:pPr>
              <a:r>
                <a:rPr lang="es-CO" sz="1200" dirty="0"/>
                <a:t>Haga clic sobre la opción Definir cursos (SHATATR) de la ventana emergente. </a:t>
              </a:r>
            </a:p>
          </p:txBody>
        </p:sp>
        <p:pic>
          <p:nvPicPr>
            <p:cNvPr id="22" name="Imagen 21">
              <a:extLst>
                <a:ext uri="{FF2B5EF4-FFF2-40B4-BE49-F238E27FC236}">
                  <a16:creationId xmlns:a16="http://schemas.microsoft.com/office/drawing/2014/main" id="{5F6565A4-3425-C564-BF68-FCE12549140E}"/>
                </a:ext>
              </a:extLst>
            </p:cNvPr>
            <p:cNvPicPr>
              <a:picLocks noChangeAspect="1"/>
            </p:cNvPicPr>
            <p:nvPr/>
          </p:nvPicPr>
          <p:blipFill>
            <a:blip r:embed="rId3"/>
            <a:stretch>
              <a:fillRect/>
            </a:stretch>
          </p:blipFill>
          <p:spPr>
            <a:xfrm>
              <a:off x="3021734" y="5517950"/>
              <a:ext cx="209550" cy="219075"/>
            </a:xfrm>
            <a:prstGeom prst="rect">
              <a:avLst/>
            </a:prstGeom>
          </p:spPr>
        </p:pic>
      </p:grpSp>
      <p:sp>
        <p:nvSpPr>
          <p:cNvPr id="24" name="Rectángulo 23">
            <a:extLst>
              <a:ext uri="{FF2B5EF4-FFF2-40B4-BE49-F238E27FC236}">
                <a16:creationId xmlns:a16="http://schemas.microsoft.com/office/drawing/2014/main" id="{B13A970F-D3BA-E21C-0803-AC0203A85CC2}"/>
              </a:ext>
            </a:extLst>
          </p:cNvPr>
          <p:cNvSpPr/>
          <p:nvPr/>
        </p:nvSpPr>
        <p:spPr>
          <a:xfrm>
            <a:off x="1080247" y="1618807"/>
            <a:ext cx="404971" cy="50555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5" name="Rectángulo redondeado 15">
            <a:extLst>
              <a:ext uri="{FF2B5EF4-FFF2-40B4-BE49-F238E27FC236}">
                <a16:creationId xmlns:a16="http://schemas.microsoft.com/office/drawing/2014/main" id="{B4120BAA-AAA6-F70D-F632-39D350C65DD2}"/>
              </a:ext>
            </a:extLst>
          </p:cNvPr>
          <p:cNvSpPr/>
          <p:nvPr/>
        </p:nvSpPr>
        <p:spPr>
          <a:xfrm>
            <a:off x="981789" y="2163005"/>
            <a:ext cx="196916"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6</a:t>
            </a:r>
            <a:endParaRPr lang="es-419" sz="1100" noProof="0" dirty="0"/>
          </a:p>
        </p:txBody>
      </p:sp>
      <p:sp>
        <p:nvSpPr>
          <p:cNvPr id="26" name="Rectángulo 25">
            <a:extLst>
              <a:ext uri="{FF2B5EF4-FFF2-40B4-BE49-F238E27FC236}">
                <a16:creationId xmlns:a16="http://schemas.microsoft.com/office/drawing/2014/main" id="{54F4BF09-235D-4045-2E4E-BAD782F2F734}"/>
              </a:ext>
            </a:extLst>
          </p:cNvPr>
          <p:cNvSpPr/>
          <p:nvPr/>
        </p:nvSpPr>
        <p:spPr>
          <a:xfrm>
            <a:off x="1478961" y="1618807"/>
            <a:ext cx="306513" cy="50555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7" name="Rectángulo redondeado 15">
            <a:extLst>
              <a:ext uri="{FF2B5EF4-FFF2-40B4-BE49-F238E27FC236}">
                <a16:creationId xmlns:a16="http://schemas.microsoft.com/office/drawing/2014/main" id="{6703F67D-033C-41E5-BE8C-B07B370E4A0D}"/>
              </a:ext>
            </a:extLst>
          </p:cNvPr>
          <p:cNvSpPr/>
          <p:nvPr/>
        </p:nvSpPr>
        <p:spPr>
          <a:xfrm>
            <a:off x="1657050" y="2150885"/>
            <a:ext cx="196916"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7</a:t>
            </a:r>
          </a:p>
        </p:txBody>
      </p:sp>
    </p:spTree>
    <p:extLst>
      <p:ext uri="{BB962C8B-B14F-4D97-AF65-F5344CB8AC3E}">
        <p14:creationId xmlns:p14="http://schemas.microsoft.com/office/powerpoint/2010/main" val="26580089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34A7D-6568-14B9-1796-6E04A7522947}"/>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AAD32F8C-1C5B-A312-FE04-994101517288}"/>
              </a:ext>
            </a:extLst>
          </p:cNvPr>
          <p:cNvPicPr>
            <a:picLocks noChangeAspect="1"/>
          </p:cNvPicPr>
          <p:nvPr/>
        </p:nvPicPr>
        <p:blipFill>
          <a:blip r:embed="rId2"/>
          <a:stretch>
            <a:fillRect/>
          </a:stretch>
        </p:blipFill>
        <p:spPr>
          <a:xfrm>
            <a:off x="786671" y="916996"/>
            <a:ext cx="10864271" cy="4936761"/>
          </a:xfrm>
          <a:prstGeom prst="rect">
            <a:avLst/>
          </a:prstGeom>
        </p:spPr>
      </p:pic>
      <p:sp>
        <p:nvSpPr>
          <p:cNvPr id="3" name="Marcador de texto vertical 2">
            <a:extLst>
              <a:ext uri="{FF2B5EF4-FFF2-40B4-BE49-F238E27FC236}">
                <a16:creationId xmlns:a16="http://schemas.microsoft.com/office/drawing/2014/main" id="{6E49BD87-20DB-DEFC-4F2F-D4F2760D6049}"/>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30CFF44F-27FD-3B75-BB17-A56C489B3A51}"/>
              </a:ext>
            </a:extLst>
          </p:cNvPr>
          <p:cNvSpPr>
            <a:spLocks noGrp="1"/>
          </p:cNvSpPr>
          <p:nvPr>
            <p:ph type="title"/>
          </p:nvPr>
        </p:nvSpPr>
        <p:spPr>
          <a:xfrm>
            <a:off x="810247" y="327992"/>
            <a:ext cx="10271883" cy="626165"/>
          </a:xfrm>
        </p:spPr>
        <p:txBody>
          <a:bodyPr/>
          <a:lstStyle/>
          <a:p>
            <a:r>
              <a:rPr lang="es-419" dirty="0">
                <a:solidFill>
                  <a:schemeClr val="tx2"/>
                </a:solidFill>
              </a:rPr>
              <a:t>Evaluación de articulación de transferencia (SHATAEQ)</a:t>
            </a:r>
            <a:br>
              <a:rPr lang="es-CL" dirty="0">
                <a:solidFill>
                  <a:schemeClr val="tx2"/>
                </a:solidFill>
              </a:rPr>
            </a:br>
            <a:endParaRPr lang="es-CL" dirty="0">
              <a:solidFill>
                <a:schemeClr val="tx2"/>
              </a:solidFill>
            </a:endParaRPr>
          </a:p>
        </p:txBody>
      </p:sp>
      <p:sp>
        <p:nvSpPr>
          <p:cNvPr id="8" name="Rectángulo 7">
            <a:extLst>
              <a:ext uri="{FF2B5EF4-FFF2-40B4-BE49-F238E27FC236}">
                <a16:creationId xmlns:a16="http://schemas.microsoft.com/office/drawing/2014/main" id="{2038764E-8230-6E52-297D-CD77823F0B3A}"/>
              </a:ext>
            </a:extLst>
          </p:cNvPr>
          <p:cNvSpPr/>
          <p:nvPr/>
        </p:nvSpPr>
        <p:spPr>
          <a:xfrm>
            <a:off x="786673" y="1413164"/>
            <a:ext cx="10864271" cy="71120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pic>
        <p:nvPicPr>
          <p:cNvPr id="19" name="Imagen 18">
            <a:extLst>
              <a:ext uri="{FF2B5EF4-FFF2-40B4-BE49-F238E27FC236}">
                <a16:creationId xmlns:a16="http://schemas.microsoft.com/office/drawing/2014/main" id="{2A507CDF-A423-F85A-BB5D-DD90C4444F57}"/>
              </a:ext>
            </a:extLst>
          </p:cNvPr>
          <p:cNvPicPr>
            <a:picLocks noChangeAspect="1"/>
          </p:cNvPicPr>
          <p:nvPr/>
        </p:nvPicPr>
        <p:blipFill>
          <a:blip r:embed="rId3"/>
          <a:stretch>
            <a:fillRect/>
          </a:stretch>
        </p:blipFill>
        <p:spPr>
          <a:xfrm>
            <a:off x="5991225" y="3549794"/>
            <a:ext cx="209550" cy="219075"/>
          </a:xfrm>
          <a:prstGeom prst="rect">
            <a:avLst/>
          </a:prstGeom>
        </p:spPr>
      </p:pic>
      <p:sp>
        <p:nvSpPr>
          <p:cNvPr id="13" name="Rectángulo 12">
            <a:extLst>
              <a:ext uri="{FF2B5EF4-FFF2-40B4-BE49-F238E27FC236}">
                <a16:creationId xmlns:a16="http://schemas.microsoft.com/office/drawing/2014/main" id="{B6D048A3-1CB4-7513-BE8B-0E0714E79092}"/>
              </a:ext>
            </a:extLst>
          </p:cNvPr>
          <p:cNvSpPr/>
          <p:nvPr/>
        </p:nvSpPr>
        <p:spPr>
          <a:xfrm>
            <a:off x="10575635" y="5597698"/>
            <a:ext cx="605431" cy="19350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Rectángulo redondeado 5">
            <a:extLst>
              <a:ext uri="{FF2B5EF4-FFF2-40B4-BE49-F238E27FC236}">
                <a16:creationId xmlns:a16="http://schemas.microsoft.com/office/drawing/2014/main" id="{210E49FB-5EFE-0CC8-C51F-FEDC4BD48B20}"/>
              </a:ext>
            </a:extLst>
          </p:cNvPr>
          <p:cNvSpPr/>
          <p:nvPr/>
        </p:nvSpPr>
        <p:spPr>
          <a:xfrm>
            <a:off x="2301298" y="3494014"/>
            <a:ext cx="7102763" cy="123962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O" sz="1200" dirty="0"/>
              <a:t>Haga clic sobre la asignatura de la Institución de procedencia que va a convalidar al estudiante, active la casilla Principal y presione el botón Seleccionar. El sistema regresa a la página SHATAEQ con  las características del curso llenas.</a:t>
            </a:r>
          </a:p>
        </p:txBody>
      </p:sp>
    </p:spTree>
    <p:extLst>
      <p:ext uri="{BB962C8B-B14F-4D97-AF65-F5344CB8AC3E}">
        <p14:creationId xmlns:p14="http://schemas.microsoft.com/office/powerpoint/2010/main" val="42848824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7F347-D75B-C0BC-A199-A51A674F1C87}"/>
            </a:ext>
          </a:extLst>
        </p:cNvPr>
        <p:cNvGrpSpPr/>
        <p:nvPr/>
      </p:nvGrpSpPr>
      <p:grpSpPr>
        <a:xfrm>
          <a:off x="0" y="0"/>
          <a:ext cx="0" cy="0"/>
          <a:chOff x="0" y="0"/>
          <a:chExt cx="0" cy="0"/>
        </a:xfrm>
      </p:grpSpPr>
      <p:pic>
        <p:nvPicPr>
          <p:cNvPr id="28" name="Imagen 27">
            <a:extLst>
              <a:ext uri="{FF2B5EF4-FFF2-40B4-BE49-F238E27FC236}">
                <a16:creationId xmlns:a16="http://schemas.microsoft.com/office/drawing/2014/main" id="{2DE1DF0A-8B03-F2BE-8039-F64A57DE7534}"/>
              </a:ext>
            </a:extLst>
          </p:cNvPr>
          <p:cNvPicPr>
            <a:picLocks noChangeAspect="1"/>
          </p:cNvPicPr>
          <p:nvPr/>
        </p:nvPicPr>
        <p:blipFill>
          <a:blip r:embed="rId2"/>
          <a:stretch>
            <a:fillRect/>
          </a:stretch>
        </p:blipFill>
        <p:spPr>
          <a:xfrm>
            <a:off x="701963" y="949315"/>
            <a:ext cx="10918743" cy="4961513"/>
          </a:xfrm>
          <a:prstGeom prst="rect">
            <a:avLst/>
          </a:prstGeom>
        </p:spPr>
      </p:pic>
      <p:sp>
        <p:nvSpPr>
          <p:cNvPr id="3" name="Marcador de texto vertical 2">
            <a:extLst>
              <a:ext uri="{FF2B5EF4-FFF2-40B4-BE49-F238E27FC236}">
                <a16:creationId xmlns:a16="http://schemas.microsoft.com/office/drawing/2014/main" id="{77D23C2B-CF41-7977-A2CD-250CFADD9337}"/>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F123F48C-6220-DBAC-1DA0-665B44DA2995}"/>
              </a:ext>
            </a:extLst>
          </p:cNvPr>
          <p:cNvSpPr>
            <a:spLocks noGrp="1"/>
          </p:cNvSpPr>
          <p:nvPr>
            <p:ph type="title"/>
          </p:nvPr>
        </p:nvSpPr>
        <p:spPr>
          <a:xfrm>
            <a:off x="810247" y="327992"/>
            <a:ext cx="10271883" cy="626165"/>
          </a:xfrm>
        </p:spPr>
        <p:txBody>
          <a:bodyPr/>
          <a:lstStyle/>
          <a:p>
            <a:r>
              <a:rPr lang="es-419" dirty="0">
                <a:solidFill>
                  <a:schemeClr val="tx2"/>
                </a:solidFill>
              </a:rPr>
              <a:t>Evaluación de articulación de transferencia (SHATAEQ)</a:t>
            </a:r>
            <a:br>
              <a:rPr lang="es-CL" dirty="0">
                <a:solidFill>
                  <a:schemeClr val="tx2"/>
                </a:solidFill>
              </a:rPr>
            </a:br>
            <a:endParaRPr lang="es-CL" dirty="0">
              <a:solidFill>
                <a:schemeClr val="tx2"/>
              </a:solidFill>
            </a:endParaRPr>
          </a:p>
        </p:txBody>
      </p:sp>
      <p:sp>
        <p:nvSpPr>
          <p:cNvPr id="8" name="Rectángulo 7">
            <a:extLst>
              <a:ext uri="{FF2B5EF4-FFF2-40B4-BE49-F238E27FC236}">
                <a16:creationId xmlns:a16="http://schemas.microsoft.com/office/drawing/2014/main" id="{7BD5B206-58D3-DED9-D87B-64D64879ED70}"/>
              </a:ext>
            </a:extLst>
          </p:cNvPr>
          <p:cNvSpPr/>
          <p:nvPr/>
        </p:nvSpPr>
        <p:spPr>
          <a:xfrm>
            <a:off x="3676072" y="1635578"/>
            <a:ext cx="351143" cy="46107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redondeado 5">
            <a:extLst>
              <a:ext uri="{FF2B5EF4-FFF2-40B4-BE49-F238E27FC236}">
                <a16:creationId xmlns:a16="http://schemas.microsoft.com/office/drawing/2014/main" id="{AB487B43-415C-5CE9-8B26-CB26FB9AC62B}"/>
              </a:ext>
            </a:extLst>
          </p:cNvPr>
          <p:cNvSpPr/>
          <p:nvPr/>
        </p:nvSpPr>
        <p:spPr>
          <a:xfrm>
            <a:off x="2022765" y="4504927"/>
            <a:ext cx="7404736" cy="123962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10"/>
            </a:pPr>
            <a:r>
              <a:rPr lang="es-CO" sz="1200" dirty="0"/>
              <a:t>Ingrese la calificación que obtuvo el estudiante en la asignatura de procedencia (las calificaciones válidas con las que fueron configuradas en la página SHATGRD para la institución de procedencia).</a:t>
            </a:r>
          </a:p>
          <a:p>
            <a:pPr algn="ctr"/>
            <a:r>
              <a:rPr lang="es-CO" sz="1100" dirty="0"/>
              <a:t>Ingrese, insertando registros por medio de la opción ‘+’ todas las asignaturas que le va a</a:t>
            </a:r>
          </a:p>
          <a:p>
            <a:pPr algn="ctr"/>
            <a:r>
              <a:rPr lang="es-CO" sz="1100" dirty="0"/>
              <a:t> convalidar al estudiante</a:t>
            </a:r>
          </a:p>
          <a:p>
            <a:pPr marL="228600" indent="-228600">
              <a:buFont typeface="+mj-lt"/>
              <a:buAutoNum type="arabicPeriod" startAt="11"/>
            </a:pPr>
            <a:r>
              <a:rPr lang="es-CO" sz="1200" dirty="0"/>
              <a:t>Guarde la información</a:t>
            </a:r>
          </a:p>
        </p:txBody>
      </p:sp>
      <p:sp>
        <p:nvSpPr>
          <p:cNvPr id="24" name="Rectángulo redondeado 15">
            <a:extLst>
              <a:ext uri="{FF2B5EF4-FFF2-40B4-BE49-F238E27FC236}">
                <a16:creationId xmlns:a16="http://schemas.microsoft.com/office/drawing/2014/main" id="{A4D0336F-1F93-7F44-6209-30C7F868C7D8}"/>
              </a:ext>
            </a:extLst>
          </p:cNvPr>
          <p:cNvSpPr/>
          <p:nvPr/>
        </p:nvSpPr>
        <p:spPr>
          <a:xfrm>
            <a:off x="3928568" y="2113324"/>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10</a:t>
            </a:r>
            <a:endParaRPr lang="es-419" sz="1100" noProof="0" dirty="0"/>
          </a:p>
        </p:txBody>
      </p:sp>
      <p:sp>
        <p:nvSpPr>
          <p:cNvPr id="29" name="Rectángulo 28">
            <a:extLst>
              <a:ext uri="{FF2B5EF4-FFF2-40B4-BE49-F238E27FC236}">
                <a16:creationId xmlns:a16="http://schemas.microsoft.com/office/drawing/2014/main" id="{8D2EAD75-B7E1-43C1-FC09-ECC3FDDD2E99}"/>
              </a:ext>
            </a:extLst>
          </p:cNvPr>
          <p:cNvSpPr/>
          <p:nvPr/>
        </p:nvSpPr>
        <p:spPr>
          <a:xfrm>
            <a:off x="11109838" y="5629054"/>
            <a:ext cx="538576" cy="19909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30" name="Rectángulo redondeado 15">
            <a:extLst>
              <a:ext uri="{FF2B5EF4-FFF2-40B4-BE49-F238E27FC236}">
                <a16:creationId xmlns:a16="http://schemas.microsoft.com/office/drawing/2014/main" id="{FB59A812-F4A8-9486-B3CA-A3261E30F7D4}"/>
              </a:ext>
            </a:extLst>
          </p:cNvPr>
          <p:cNvSpPr/>
          <p:nvPr/>
        </p:nvSpPr>
        <p:spPr>
          <a:xfrm>
            <a:off x="10748303" y="5491329"/>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11</a:t>
            </a:r>
            <a:endParaRPr lang="es-419" sz="1100" noProof="0" dirty="0"/>
          </a:p>
        </p:txBody>
      </p:sp>
    </p:spTree>
    <p:extLst>
      <p:ext uri="{BB962C8B-B14F-4D97-AF65-F5344CB8AC3E}">
        <p14:creationId xmlns:p14="http://schemas.microsoft.com/office/powerpoint/2010/main" val="32689429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41678-A7B3-B60C-C72E-7175E19F935B}"/>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83DE6F88-2D57-60FF-9AB5-69E7F846289A}"/>
              </a:ext>
            </a:extLst>
          </p:cNvPr>
          <p:cNvPicPr>
            <a:picLocks noChangeAspect="1"/>
          </p:cNvPicPr>
          <p:nvPr/>
        </p:nvPicPr>
        <p:blipFill>
          <a:blip r:embed="rId2"/>
          <a:stretch>
            <a:fillRect/>
          </a:stretch>
        </p:blipFill>
        <p:spPr>
          <a:xfrm>
            <a:off x="701963" y="947172"/>
            <a:ext cx="10918743" cy="4981179"/>
          </a:xfrm>
          <a:prstGeom prst="rect">
            <a:avLst/>
          </a:prstGeom>
        </p:spPr>
      </p:pic>
      <p:sp>
        <p:nvSpPr>
          <p:cNvPr id="3" name="Marcador de texto vertical 2">
            <a:extLst>
              <a:ext uri="{FF2B5EF4-FFF2-40B4-BE49-F238E27FC236}">
                <a16:creationId xmlns:a16="http://schemas.microsoft.com/office/drawing/2014/main" id="{5EAB040F-1EAD-833E-87F3-5121256E7380}"/>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7B09BF12-3E39-D310-C403-812495033547}"/>
              </a:ext>
            </a:extLst>
          </p:cNvPr>
          <p:cNvSpPr>
            <a:spLocks noGrp="1"/>
          </p:cNvSpPr>
          <p:nvPr>
            <p:ph type="title"/>
          </p:nvPr>
        </p:nvSpPr>
        <p:spPr>
          <a:xfrm>
            <a:off x="810247" y="327992"/>
            <a:ext cx="10271883" cy="626165"/>
          </a:xfrm>
        </p:spPr>
        <p:txBody>
          <a:bodyPr/>
          <a:lstStyle/>
          <a:p>
            <a:r>
              <a:rPr lang="es-419" dirty="0">
                <a:solidFill>
                  <a:schemeClr val="tx2"/>
                </a:solidFill>
              </a:rPr>
              <a:t>Evaluación de articulación de transferencia (SHATAEQ)</a:t>
            </a:r>
            <a:br>
              <a:rPr lang="es-CL" dirty="0">
                <a:solidFill>
                  <a:schemeClr val="tx2"/>
                </a:solidFill>
              </a:rPr>
            </a:br>
            <a:endParaRPr lang="es-CL" dirty="0">
              <a:solidFill>
                <a:schemeClr val="tx2"/>
              </a:solidFill>
            </a:endParaRPr>
          </a:p>
        </p:txBody>
      </p:sp>
      <p:sp>
        <p:nvSpPr>
          <p:cNvPr id="13" name="Rectángulo 12">
            <a:extLst>
              <a:ext uri="{FF2B5EF4-FFF2-40B4-BE49-F238E27FC236}">
                <a16:creationId xmlns:a16="http://schemas.microsoft.com/office/drawing/2014/main" id="{45F81659-C54C-0F0B-91F9-E1599A7E7CB0}"/>
              </a:ext>
            </a:extLst>
          </p:cNvPr>
          <p:cNvSpPr/>
          <p:nvPr/>
        </p:nvSpPr>
        <p:spPr>
          <a:xfrm>
            <a:off x="11273540" y="963393"/>
            <a:ext cx="337930" cy="17776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redondeado 5">
            <a:extLst>
              <a:ext uri="{FF2B5EF4-FFF2-40B4-BE49-F238E27FC236}">
                <a16:creationId xmlns:a16="http://schemas.microsoft.com/office/drawing/2014/main" id="{C482FBD8-E5B8-CBDF-D84A-9884575C999E}"/>
              </a:ext>
            </a:extLst>
          </p:cNvPr>
          <p:cNvSpPr/>
          <p:nvPr/>
        </p:nvSpPr>
        <p:spPr>
          <a:xfrm>
            <a:off x="1927573" y="3248781"/>
            <a:ext cx="7102763" cy="123962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O" sz="1200" dirty="0"/>
              <a:t>Toda vez que se tienen las asignaturas a convalidar guardadas en la página:</a:t>
            </a:r>
          </a:p>
          <a:p>
            <a:endParaRPr lang="es-CO" sz="1200" dirty="0"/>
          </a:p>
          <a:p>
            <a:pPr marL="228600" indent="-228600">
              <a:buFont typeface="+mj-lt"/>
              <a:buAutoNum type="arabicPeriod" startAt="12"/>
            </a:pPr>
            <a:r>
              <a:rPr lang="es-CO" sz="1200" dirty="0"/>
              <a:t>Haga clic sobre el ícono de herramientas. </a:t>
            </a:r>
          </a:p>
          <a:p>
            <a:pPr marL="228600" indent="-228600">
              <a:buFont typeface="+mj-lt"/>
              <a:buAutoNum type="arabicPeriod" startAt="12"/>
            </a:pPr>
            <a:r>
              <a:rPr lang="es-CO" sz="1200" dirty="0"/>
              <a:t>Haga clic sobre la opción ‘Articular’</a:t>
            </a:r>
          </a:p>
        </p:txBody>
      </p:sp>
      <p:pic>
        <p:nvPicPr>
          <p:cNvPr id="12" name="Imagen 11">
            <a:extLst>
              <a:ext uri="{FF2B5EF4-FFF2-40B4-BE49-F238E27FC236}">
                <a16:creationId xmlns:a16="http://schemas.microsoft.com/office/drawing/2014/main" id="{0CE91183-8DAE-5C16-3FC7-161AE3529393}"/>
              </a:ext>
            </a:extLst>
          </p:cNvPr>
          <p:cNvPicPr>
            <a:picLocks noChangeAspect="1"/>
          </p:cNvPicPr>
          <p:nvPr/>
        </p:nvPicPr>
        <p:blipFill>
          <a:blip r:embed="rId3"/>
          <a:stretch>
            <a:fillRect/>
          </a:stretch>
        </p:blipFill>
        <p:spPr>
          <a:xfrm>
            <a:off x="10027097" y="1131923"/>
            <a:ext cx="1616109" cy="4419131"/>
          </a:xfrm>
          <a:prstGeom prst="rect">
            <a:avLst/>
          </a:prstGeom>
        </p:spPr>
      </p:pic>
      <p:sp>
        <p:nvSpPr>
          <p:cNvPr id="15" name="Rectángulo 14">
            <a:extLst>
              <a:ext uri="{FF2B5EF4-FFF2-40B4-BE49-F238E27FC236}">
                <a16:creationId xmlns:a16="http://schemas.microsoft.com/office/drawing/2014/main" id="{3E3819BD-1EB9-9318-B00A-9AF6D4B4A299}"/>
              </a:ext>
            </a:extLst>
          </p:cNvPr>
          <p:cNvSpPr/>
          <p:nvPr/>
        </p:nvSpPr>
        <p:spPr>
          <a:xfrm>
            <a:off x="10050112" y="5373255"/>
            <a:ext cx="489528" cy="17779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6" name="Rectángulo redondeado 15">
            <a:extLst>
              <a:ext uri="{FF2B5EF4-FFF2-40B4-BE49-F238E27FC236}">
                <a16:creationId xmlns:a16="http://schemas.microsoft.com/office/drawing/2014/main" id="{8FA403AB-02E7-77DB-323D-62C3F3EC2A29}"/>
              </a:ext>
            </a:extLst>
          </p:cNvPr>
          <p:cNvSpPr/>
          <p:nvPr/>
        </p:nvSpPr>
        <p:spPr>
          <a:xfrm>
            <a:off x="10872097" y="965391"/>
            <a:ext cx="355262"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12</a:t>
            </a:r>
            <a:endParaRPr lang="es-419" sz="1100" noProof="0" dirty="0"/>
          </a:p>
        </p:txBody>
      </p:sp>
      <p:sp>
        <p:nvSpPr>
          <p:cNvPr id="2" name="Rectángulo redondeado 15">
            <a:extLst>
              <a:ext uri="{FF2B5EF4-FFF2-40B4-BE49-F238E27FC236}">
                <a16:creationId xmlns:a16="http://schemas.microsoft.com/office/drawing/2014/main" id="{A5552603-F926-C1ED-7520-A0E488F16F09}"/>
              </a:ext>
            </a:extLst>
          </p:cNvPr>
          <p:cNvSpPr/>
          <p:nvPr/>
        </p:nvSpPr>
        <p:spPr>
          <a:xfrm>
            <a:off x="9630577" y="5307856"/>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13</a:t>
            </a:r>
            <a:endParaRPr lang="es-419" sz="1100" noProof="0" dirty="0"/>
          </a:p>
        </p:txBody>
      </p:sp>
    </p:spTree>
    <p:extLst>
      <p:ext uri="{BB962C8B-B14F-4D97-AF65-F5344CB8AC3E}">
        <p14:creationId xmlns:p14="http://schemas.microsoft.com/office/powerpoint/2010/main" val="37886560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12EBE-8404-7CF7-6B77-65178BCA915A}"/>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00E14966-5A1B-3820-9C21-A82E99E05556}"/>
              </a:ext>
            </a:extLst>
          </p:cNvPr>
          <p:cNvPicPr>
            <a:picLocks noChangeAspect="1"/>
          </p:cNvPicPr>
          <p:nvPr/>
        </p:nvPicPr>
        <p:blipFill>
          <a:blip r:embed="rId2"/>
          <a:stretch>
            <a:fillRect/>
          </a:stretch>
        </p:blipFill>
        <p:spPr>
          <a:xfrm>
            <a:off x="701963" y="939404"/>
            <a:ext cx="10941243" cy="4976924"/>
          </a:xfrm>
          <a:prstGeom prst="rect">
            <a:avLst/>
          </a:prstGeom>
        </p:spPr>
      </p:pic>
      <p:sp>
        <p:nvSpPr>
          <p:cNvPr id="3" name="Marcador de texto vertical 2">
            <a:extLst>
              <a:ext uri="{FF2B5EF4-FFF2-40B4-BE49-F238E27FC236}">
                <a16:creationId xmlns:a16="http://schemas.microsoft.com/office/drawing/2014/main" id="{D5866709-3647-4641-2D67-D2CDD9F2E997}"/>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622D8B11-F94E-EF49-DCDD-1F823DA1FD72}"/>
              </a:ext>
            </a:extLst>
          </p:cNvPr>
          <p:cNvSpPr>
            <a:spLocks noGrp="1"/>
          </p:cNvSpPr>
          <p:nvPr>
            <p:ph type="title"/>
          </p:nvPr>
        </p:nvSpPr>
        <p:spPr>
          <a:xfrm>
            <a:off x="810247" y="327992"/>
            <a:ext cx="10271883" cy="626165"/>
          </a:xfrm>
        </p:spPr>
        <p:txBody>
          <a:bodyPr/>
          <a:lstStyle/>
          <a:p>
            <a:r>
              <a:rPr lang="es-419" dirty="0">
                <a:solidFill>
                  <a:schemeClr val="tx2"/>
                </a:solidFill>
              </a:rPr>
              <a:t>Evaluación de articulación de transferencia (SHATAEQ)</a:t>
            </a:r>
            <a:br>
              <a:rPr lang="es-CL" dirty="0">
                <a:solidFill>
                  <a:schemeClr val="tx2"/>
                </a:solidFill>
              </a:rPr>
            </a:br>
            <a:endParaRPr lang="es-CL" dirty="0">
              <a:solidFill>
                <a:schemeClr val="tx2"/>
              </a:solidFill>
            </a:endParaRPr>
          </a:p>
        </p:txBody>
      </p:sp>
      <p:sp>
        <p:nvSpPr>
          <p:cNvPr id="13" name="Rectángulo 12">
            <a:extLst>
              <a:ext uri="{FF2B5EF4-FFF2-40B4-BE49-F238E27FC236}">
                <a16:creationId xmlns:a16="http://schemas.microsoft.com/office/drawing/2014/main" id="{6E071E00-0FA8-C2AD-F0C3-ECC6D7E3115F}"/>
              </a:ext>
            </a:extLst>
          </p:cNvPr>
          <p:cNvSpPr/>
          <p:nvPr/>
        </p:nvSpPr>
        <p:spPr>
          <a:xfrm>
            <a:off x="5075939" y="1905502"/>
            <a:ext cx="567479" cy="34061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redondeado 5">
            <a:extLst>
              <a:ext uri="{FF2B5EF4-FFF2-40B4-BE49-F238E27FC236}">
                <a16:creationId xmlns:a16="http://schemas.microsoft.com/office/drawing/2014/main" id="{12C061D5-B727-40F1-EBBA-964D12609651}"/>
              </a:ext>
            </a:extLst>
          </p:cNvPr>
          <p:cNvSpPr/>
          <p:nvPr/>
        </p:nvSpPr>
        <p:spPr>
          <a:xfrm>
            <a:off x="2422943" y="3510701"/>
            <a:ext cx="7072040" cy="139380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O" sz="1200" dirty="0"/>
              <a:t>El sistema ejecutará la articulación de las asignaturas indicando :</a:t>
            </a:r>
          </a:p>
          <a:p>
            <a:pPr marL="228600" indent="-228600">
              <a:buFont typeface="+mj-lt"/>
              <a:buAutoNum type="arabicPeriod" startAt="14"/>
            </a:pPr>
            <a:r>
              <a:rPr lang="es-CO" sz="1200" dirty="0"/>
              <a:t>Que hubo éxito en la articulación</a:t>
            </a:r>
          </a:p>
          <a:p>
            <a:pPr marL="228600" indent="-228600">
              <a:buFont typeface="+mj-lt"/>
              <a:buAutoNum type="arabicPeriod" startAt="14"/>
            </a:pPr>
            <a:r>
              <a:rPr lang="es-CO" sz="1200" dirty="0"/>
              <a:t>Muestra las asignaturas de la institución (UAI) que serán articuladas, según la equivalencia cargada en SHATATR.</a:t>
            </a:r>
          </a:p>
          <a:p>
            <a:pPr marL="228600" indent="-228600">
              <a:buFont typeface="+mj-lt"/>
              <a:buAutoNum type="arabicPeriod" startAt="14"/>
            </a:pPr>
            <a:r>
              <a:rPr lang="es-CO" sz="1200" dirty="0"/>
              <a:t>Guarde la información</a:t>
            </a:r>
          </a:p>
          <a:p>
            <a:pPr marL="228600" indent="-228600">
              <a:buFont typeface="+mj-lt"/>
              <a:buAutoNum type="arabicPeriod" startAt="14"/>
            </a:pPr>
            <a:r>
              <a:rPr lang="es-CO" sz="1200" dirty="0"/>
              <a:t>Pase al siguiente bloque</a:t>
            </a:r>
          </a:p>
        </p:txBody>
      </p:sp>
      <p:sp>
        <p:nvSpPr>
          <p:cNvPr id="15" name="Rectángulo 14">
            <a:extLst>
              <a:ext uri="{FF2B5EF4-FFF2-40B4-BE49-F238E27FC236}">
                <a16:creationId xmlns:a16="http://schemas.microsoft.com/office/drawing/2014/main" id="{A12100C9-EE93-AA73-42FF-04F5239E1539}"/>
              </a:ext>
            </a:extLst>
          </p:cNvPr>
          <p:cNvSpPr/>
          <p:nvPr/>
        </p:nvSpPr>
        <p:spPr>
          <a:xfrm>
            <a:off x="5735780" y="1925972"/>
            <a:ext cx="5907426" cy="34851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6" name="Rectángulo redondeado 15">
            <a:extLst>
              <a:ext uri="{FF2B5EF4-FFF2-40B4-BE49-F238E27FC236}">
                <a16:creationId xmlns:a16="http://schemas.microsoft.com/office/drawing/2014/main" id="{E68973DF-14DE-3FA8-8E13-CDD35C4E4749}"/>
              </a:ext>
            </a:extLst>
          </p:cNvPr>
          <p:cNvSpPr/>
          <p:nvPr/>
        </p:nvSpPr>
        <p:spPr>
          <a:xfrm>
            <a:off x="4674497" y="1925972"/>
            <a:ext cx="355262"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14</a:t>
            </a:r>
            <a:endParaRPr lang="es-419" sz="1100" noProof="0" dirty="0"/>
          </a:p>
        </p:txBody>
      </p:sp>
      <p:sp>
        <p:nvSpPr>
          <p:cNvPr id="2" name="Rectángulo redondeado 15">
            <a:extLst>
              <a:ext uri="{FF2B5EF4-FFF2-40B4-BE49-F238E27FC236}">
                <a16:creationId xmlns:a16="http://schemas.microsoft.com/office/drawing/2014/main" id="{37903B84-3878-F39C-4360-8F3121A5A32D}"/>
              </a:ext>
            </a:extLst>
          </p:cNvPr>
          <p:cNvSpPr/>
          <p:nvPr/>
        </p:nvSpPr>
        <p:spPr>
          <a:xfrm>
            <a:off x="8048532" y="1774705"/>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15</a:t>
            </a:r>
            <a:endParaRPr lang="es-419" sz="1100" noProof="0" dirty="0"/>
          </a:p>
        </p:txBody>
      </p:sp>
      <p:sp>
        <p:nvSpPr>
          <p:cNvPr id="9" name="Rectángulo 8">
            <a:extLst>
              <a:ext uri="{FF2B5EF4-FFF2-40B4-BE49-F238E27FC236}">
                <a16:creationId xmlns:a16="http://schemas.microsoft.com/office/drawing/2014/main" id="{2C34D62C-FBA9-02C5-BD87-7A94580853D1}"/>
              </a:ext>
            </a:extLst>
          </p:cNvPr>
          <p:cNvSpPr/>
          <p:nvPr/>
        </p:nvSpPr>
        <p:spPr>
          <a:xfrm>
            <a:off x="992358" y="5605422"/>
            <a:ext cx="282259" cy="23195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3CF70897-6C40-D2D6-BDEF-B6D07E57F2BF}"/>
              </a:ext>
            </a:extLst>
          </p:cNvPr>
          <p:cNvSpPr/>
          <p:nvPr/>
        </p:nvSpPr>
        <p:spPr>
          <a:xfrm>
            <a:off x="1366979" y="5525014"/>
            <a:ext cx="355262"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17</a:t>
            </a:r>
            <a:endParaRPr lang="es-419" sz="1100" noProof="0" dirty="0"/>
          </a:p>
        </p:txBody>
      </p:sp>
      <p:sp>
        <p:nvSpPr>
          <p:cNvPr id="11" name="Rectángulo 10">
            <a:extLst>
              <a:ext uri="{FF2B5EF4-FFF2-40B4-BE49-F238E27FC236}">
                <a16:creationId xmlns:a16="http://schemas.microsoft.com/office/drawing/2014/main" id="{051285E1-A2AF-6F0F-3B6A-77CB21461BA4}"/>
              </a:ext>
            </a:extLst>
          </p:cNvPr>
          <p:cNvSpPr/>
          <p:nvPr/>
        </p:nvSpPr>
        <p:spPr>
          <a:xfrm>
            <a:off x="11109838" y="5629054"/>
            <a:ext cx="538576" cy="19909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82798E07-4E14-16A3-2357-3F1C04A85637}"/>
              </a:ext>
            </a:extLst>
          </p:cNvPr>
          <p:cNvSpPr/>
          <p:nvPr/>
        </p:nvSpPr>
        <p:spPr>
          <a:xfrm>
            <a:off x="10748303" y="5491329"/>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16</a:t>
            </a:r>
            <a:endParaRPr lang="es-419" sz="1100" noProof="0" dirty="0"/>
          </a:p>
        </p:txBody>
      </p:sp>
    </p:spTree>
    <p:extLst>
      <p:ext uri="{BB962C8B-B14F-4D97-AF65-F5344CB8AC3E}">
        <p14:creationId xmlns:p14="http://schemas.microsoft.com/office/powerpoint/2010/main" val="34917819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D3A41-DE30-DF67-C781-3AACFCC331DB}"/>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3C19C7D8-81F2-16BE-4FE7-6C82CF4F0471}"/>
              </a:ext>
            </a:extLst>
          </p:cNvPr>
          <p:cNvPicPr>
            <a:picLocks noChangeAspect="1"/>
          </p:cNvPicPr>
          <p:nvPr/>
        </p:nvPicPr>
        <p:blipFill>
          <a:blip r:embed="rId2"/>
          <a:stretch>
            <a:fillRect/>
          </a:stretch>
        </p:blipFill>
        <p:spPr>
          <a:xfrm>
            <a:off x="701963" y="939404"/>
            <a:ext cx="10941243" cy="4983140"/>
          </a:xfrm>
          <a:prstGeom prst="rect">
            <a:avLst/>
          </a:prstGeom>
        </p:spPr>
      </p:pic>
      <p:sp>
        <p:nvSpPr>
          <p:cNvPr id="3" name="Marcador de texto vertical 2">
            <a:extLst>
              <a:ext uri="{FF2B5EF4-FFF2-40B4-BE49-F238E27FC236}">
                <a16:creationId xmlns:a16="http://schemas.microsoft.com/office/drawing/2014/main" id="{D42A1FBE-BBB1-8817-1B52-07D8C6DA0585}"/>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95DFA8EA-70A4-FB59-FB9D-BD3056CA88A8}"/>
              </a:ext>
            </a:extLst>
          </p:cNvPr>
          <p:cNvSpPr>
            <a:spLocks noGrp="1"/>
          </p:cNvSpPr>
          <p:nvPr>
            <p:ph type="title"/>
          </p:nvPr>
        </p:nvSpPr>
        <p:spPr>
          <a:xfrm>
            <a:off x="810247" y="327992"/>
            <a:ext cx="10271883" cy="626165"/>
          </a:xfrm>
        </p:spPr>
        <p:txBody>
          <a:bodyPr/>
          <a:lstStyle/>
          <a:p>
            <a:r>
              <a:rPr lang="es-419" dirty="0">
                <a:solidFill>
                  <a:schemeClr val="tx2"/>
                </a:solidFill>
              </a:rPr>
              <a:t>Evaluación de articulación de transferencia (SHATAEQ)</a:t>
            </a:r>
            <a:br>
              <a:rPr lang="es-CL" dirty="0">
                <a:solidFill>
                  <a:schemeClr val="tx2"/>
                </a:solidFill>
              </a:rPr>
            </a:br>
            <a:endParaRPr lang="es-CL" dirty="0">
              <a:solidFill>
                <a:schemeClr val="tx2"/>
              </a:solidFill>
            </a:endParaRPr>
          </a:p>
        </p:txBody>
      </p:sp>
      <p:sp>
        <p:nvSpPr>
          <p:cNvPr id="13" name="Rectángulo 12">
            <a:extLst>
              <a:ext uri="{FF2B5EF4-FFF2-40B4-BE49-F238E27FC236}">
                <a16:creationId xmlns:a16="http://schemas.microsoft.com/office/drawing/2014/main" id="{F30F08CE-B576-5150-867C-C33F89E66D99}"/>
              </a:ext>
            </a:extLst>
          </p:cNvPr>
          <p:cNvSpPr/>
          <p:nvPr/>
        </p:nvSpPr>
        <p:spPr>
          <a:xfrm>
            <a:off x="1498428" y="3429000"/>
            <a:ext cx="1200824" cy="18128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redondeado 5">
            <a:extLst>
              <a:ext uri="{FF2B5EF4-FFF2-40B4-BE49-F238E27FC236}">
                <a16:creationId xmlns:a16="http://schemas.microsoft.com/office/drawing/2014/main" id="{7AAC5A1D-2E9C-541B-23CD-98EFD1A7891B}"/>
              </a:ext>
            </a:extLst>
          </p:cNvPr>
          <p:cNvSpPr/>
          <p:nvPr/>
        </p:nvSpPr>
        <p:spPr>
          <a:xfrm>
            <a:off x="2699252" y="4131206"/>
            <a:ext cx="7072040" cy="139380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O" sz="1200" dirty="0"/>
              <a:t>La página muestra un resumen de la cantidad de créditos que se están otorgando al estudiante desde la institución de procedencia (Transferencia) y los que se convalidarán en la UAI (Equivalente):</a:t>
            </a:r>
          </a:p>
          <a:p>
            <a:endParaRPr lang="es-CO" sz="1200" dirty="0"/>
          </a:p>
          <a:p>
            <a:pPr marL="228600" indent="-228600">
              <a:buFont typeface="+mj-lt"/>
              <a:buAutoNum type="arabicPeriod" startAt="18"/>
            </a:pPr>
            <a:r>
              <a:rPr lang="es-CO" sz="1200" dirty="0"/>
              <a:t>Seleccione el Indicador de historial: ‘Pasar a historial’</a:t>
            </a:r>
          </a:p>
          <a:p>
            <a:pPr marL="228600" indent="-228600">
              <a:buFont typeface="+mj-lt"/>
              <a:buAutoNum type="arabicPeriod" startAt="18"/>
            </a:pPr>
            <a:r>
              <a:rPr lang="es-CO" sz="1200" dirty="0"/>
              <a:t>Guarde la información</a:t>
            </a:r>
          </a:p>
          <a:p>
            <a:pPr marL="228600" indent="-228600">
              <a:buFont typeface="+mj-lt"/>
              <a:buAutoNum type="arabicPeriod" startAt="18"/>
            </a:pPr>
            <a:endParaRPr lang="es-CO" sz="1200" dirty="0"/>
          </a:p>
        </p:txBody>
      </p:sp>
      <p:sp>
        <p:nvSpPr>
          <p:cNvPr id="16" name="Rectángulo redondeado 15">
            <a:extLst>
              <a:ext uri="{FF2B5EF4-FFF2-40B4-BE49-F238E27FC236}">
                <a16:creationId xmlns:a16="http://schemas.microsoft.com/office/drawing/2014/main" id="{97A33382-44C4-A628-FB1B-8A346FF002E4}"/>
              </a:ext>
            </a:extLst>
          </p:cNvPr>
          <p:cNvSpPr/>
          <p:nvPr/>
        </p:nvSpPr>
        <p:spPr>
          <a:xfrm>
            <a:off x="1096986" y="3449470"/>
            <a:ext cx="355262"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18</a:t>
            </a:r>
            <a:endParaRPr lang="es-419" sz="1100" noProof="0" dirty="0"/>
          </a:p>
        </p:txBody>
      </p:sp>
      <p:sp>
        <p:nvSpPr>
          <p:cNvPr id="11" name="Rectángulo 10">
            <a:extLst>
              <a:ext uri="{FF2B5EF4-FFF2-40B4-BE49-F238E27FC236}">
                <a16:creationId xmlns:a16="http://schemas.microsoft.com/office/drawing/2014/main" id="{7154E263-49D8-AAD6-3AE9-B0EA0E41FF05}"/>
              </a:ext>
            </a:extLst>
          </p:cNvPr>
          <p:cNvSpPr/>
          <p:nvPr/>
        </p:nvSpPr>
        <p:spPr>
          <a:xfrm>
            <a:off x="11109838" y="5629054"/>
            <a:ext cx="538576" cy="19909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C1FC516F-CE9B-E244-CACF-01A1EBF7F682}"/>
              </a:ext>
            </a:extLst>
          </p:cNvPr>
          <p:cNvSpPr/>
          <p:nvPr/>
        </p:nvSpPr>
        <p:spPr>
          <a:xfrm>
            <a:off x="10748303" y="5491329"/>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19</a:t>
            </a:r>
            <a:endParaRPr lang="es-419" sz="1100" noProof="0" dirty="0"/>
          </a:p>
        </p:txBody>
      </p:sp>
    </p:spTree>
    <p:extLst>
      <p:ext uri="{BB962C8B-B14F-4D97-AF65-F5344CB8AC3E}">
        <p14:creationId xmlns:p14="http://schemas.microsoft.com/office/powerpoint/2010/main" val="3537062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DED59-E825-B46B-E4BE-9E21AC8AACBF}"/>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AFFF5402-69FD-27B3-39C0-A2F0181A1E20}"/>
              </a:ext>
            </a:extLst>
          </p:cNvPr>
          <p:cNvPicPr>
            <a:picLocks noChangeAspect="1"/>
          </p:cNvPicPr>
          <p:nvPr/>
        </p:nvPicPr>
        <p:blipFill>
          <a:blip r:embed="rId2"/>
          <a:stretch>
            <a:fillRect/>
          </a:stretch>
        </p:blipFill>
        <p:spPr>
          <a:xfrm>
            <a:off x="672113" y="935457"/>
            <a:ext cx="10971093" cy="4990502"/>
          </a:xfrm>
          <a:prstGeom prst="rect">
            <a:avLst/>
          </a:prstGeom>
        </p:spPr>
      </p:pic>
      <p:sp>
        <p:nvSpPr>
          <p:cNvPr id="3" name="Marcador de texto vertical 2">
            <a:extLst>
              <a:ext uri="{FF2B5EF4-FFF2-40B4-BE49-F238E27FC236}">
                <a16:creationId xmlns:a16="http://schemas.microsoft.com/office/drawing/2014/main" id="{28D030E1-9E70-4430-1CAE-72D458367868}"/>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40EF1DDE-5C08-0220-92DC-CAC38C27E750}"/>
              </a:ext>
            </a:extLst>
          </p:cNvPr>
          <p:cNvSpPr>
            <a:spLocks noGrp="1"/>
          </p:cNvSpPr>
          <p:nvPr>
            <p:ph type="title"/>
          </p:nvPr>
        </p:nvSpPr>
        <p:spPr>
          <a:xfrm>
            <a:off x="810247" y="327992"/>
            <a:ext cx="10271883" cy="626165"/>
          </a:xfrm>
        </p:spPr>
        <p:txBody>
          <a:bodyPr/>
          <a:lstStyle/>
          <a:p>
            <a:r>
              <a:rPr lang="es-419" dirty="0">
                <a:solidFill>
                  <a:schemeClr val="tx2"/>
                </a:solidFill>
              </a:rPr>
              <a:t>Evaluación de articulación de transferencia (SHATAEQ)</a:t>
            </a:r>
            <a:br>
              <a:rPr lang="es-CL" dirty="0">
                <a:solidFill>
                  <a:schemeClr val="tx2"/>
                </a:solidFill>
              </a:rPr>
            </a:br>
            <a:endParaRPr lang="es-CL" dirty="0">
              <a:solidFill>
                <a:schemeClr val="tx2"/>
              </a:solidFill>
            </a:endParaRPr>
          </a:p>
        </p:txBody>
      </p:sp>
      <p:sp>
        <p:nvSpPr>
          <p:cNvPr id="6" name="Rectángulo redondeado 5">
            <a:extLst>
              <a:ext uri="{FF2B5EF4-FFF2-40B4-BE49-F238E27FC236}">
                <a16:creationId xmlns:a16="http://schemas.microsoft.com/office/drawing/2014/main" id="{AF4FEC8A-34B7-E86E-C524-34630D48B439}"/>
              </a:ext>
            </a:extLst>
          </p:cNvPr>
          <p:cNvSpPr/>
          <p:nvPr/>
        </p:nvSpPr>
        <p:spPr>
          <a:xfrm>
            <a:off x="3417455" y="3290697"/>
            <a:ext cx="4986855" cy="62616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O" sz="1200" dirty="0"/>
              <a:t>Se debe mostrar un mensaje de éxito en el proceso.</a:t>
            </a:r>
          </a:p>
          <a:p>
            <a:pPr marL="228600" indent="-228600" algn="ctr">
              <a:buFont typeface="+mj-lt"/>
              <a:buAutoNum type="arabicPeriod" startAt="18"/>
            </a:pPr>
            <a:endParaRPr lang="es-CO" sz="1200" dirty="0"/>
          </a:p>
        </p:txBody>
      </p:sp>
    </p:spTree>
    <p:extLst>
      <p:ext uri="{BB962C8B-B14F-4D97-AF65-F5344CB8AC3E}">
        <p14:creationId xmlns:p14="http://schemas.microsoft.com/office/powerpoint/2010/main" val="17289750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6DEAF-82C1-E751-0D12-56416449CDD5}"/>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D8C8C84B-490E-093D-CBF1-A15838E97F9D}"/>
              </a:ext>
            </a:extLst>
          </p:cNvPr>
          <p:cNvPicPr>
            <a:picLocks noChangeAspect="1"/>
          </p:cNvPicPr>
          <p:nvPr/>
        </p:nvPicPr>
        <p:blipFill>
          <a:blip r:embed="rId2"/>
          <a:stretch>
            <a:fillRect/>
          </a:stretch>
        </p:blipFill>
        <p:spPr>
          <a:xfrm>
            <a:off x="672113" y="932041"/>
            <a:ext cx="10971093" cy="4996225"/>
          </a:xfrm>
          <a:prstGeom prst="rect">
            <a:avLst/>
          </a:prstGeom>
        </p:spPr>
      </p:pic>
      <p:sp>
        <p:nvSpPr>
          <p:cNvPr id="3" name="Marcador de texto vertical 2">
            <a:extLst>
              <a:ext uri="{FF2B5EF4-FFF2-40B4-BE49-F238E27FC236}">
                <a16:creationId xmlns:a16="http://schemas.microsoft.com/office/drawing/2014/main" id="{7CB9630A-DC5C-F8F6-6624-33009147F839}"/>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3DFE286B-4DA6-7FC1-84C2-3BF1767FAB3F}"/>
              </a:ext>
            </a:extLst>
          </p:cNvPr>
          <p:cNvSpPr>
            <a:spLocks noGrp="1"/>
          </p:cNvSpPr>
          <p:nvPr>
            <p:ph type="title"/>
          </p:nvPr>
        </p:nvSpPr>
        <p:spPr>
          <a:xfrm>
            <a:off x="810247" y="327992"/>
            <a:ext cx="10271883" cy="626165"/>
          </a:xfrm>
        </p:spPr>
        <p:txBody>
          <a:bodyPr/>
          <a:lstStyle/>
          <a:p>
            <a:r>
              <a:rPr lang="es-419" dirty="0">
                <a:solidFill>
                  <a:schemeClr val="tx2"/>
                </a:solidFill>
              </a:rPr>
              <a:t>Evaluación de articulación de transferencia (SHATAEQ)</a:t>
            </a:r>
            <a:br>
              <a:rPr lang="es-CL" dirty="0">
                <a:solidFill>
                  <a:schemeClr val="tx2"/>
                </a:solidFill>
              </a:rPr>
            </a:br>
            <a:endParaRPr lang="es-CL" dirty="0">
              <a:solidFill>
                <a:schemeClr val="tx2"/>
              </a:solidFill>
            </a:endParaRPr>
          </a:p>
        </p:txBody>
      </p:sp>
      <p:sp>
        <p:nvSpPr>
          <p:cNvPr id="8" name="Rectángulo redondeado 5">
            <a:extLst>
              <a:ext uri="{FF2B5EF4-FFF2-40B4-BE49-F238E27FC236}">
                <a16:creationId xmlns:a16="http://schemas.microsoft.com/office/drawing/2014/main" id="{D3135CFD-6972-D2B7-7984-D6B4DACCEF7A}"/>
              </a:ext>
            </a:extLst>
          </p:cNvPr>
          <p:cNvSpPr/>
          <p:nvPr/>
        </p:nvSpPr>
        <p:spPr>
          <a:xfrm>
            <a:off x="1766379" y="3318406"/>
            <a:ext cx="7072040" cy="80101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20"/>
            </a:pPr>
            <a:r>
              <a:rPr lang="es-CO" sz="1200" dirty="0"/>
              <a:t>Haga clic en la opción que corresponde al menú Relacionado</a:t>
            </a:r>
          </a:p>
          <a:p>
            <a:pPr marL="228600" indent="-228600">
              <a:buFont typeface="+mj-lt"/>
              <a:buAutoNum type="arabicPeriod" startAt="20"/>
            </a:pPr>
            <a:r>
              <a:rPr lang="es-CO" sz="1200" dirty="0"/>
              <a:t>Seleccione la opción Detalle de curso de transferencia (SHATRNS)</a:t>
            </a:r>
          </a:p>
        </p:txBody>
      </p:sp>
      <p:sp>
        <p:nvSpPr>
          <p:cNvPr id="9" name="Rectángulo 8">
            <a:extLst>
              <a:ext uri="{FF2B5EF4-FFF2-40B4-BE49-F238E27FC236}">
                <a16:creationId xmlns:a16="http://schemas.microsoft.com/office/drawing/2014/main" id="{6F0367F4-8091-82C6-8F7B-8C5C773989AF}"/>
              </a:ext>
            </a:extLst>
          </p:cNvPr>
          <p:cNvSpPr/>
          <p:nvPr/>
        </p:nvSpPr>
        <p:spPr>
          <a:xfrm>
            <a:off x="10252364" y="954157"/>
            <a:ext cx="258618" cy="20962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A2A546E0-997C-F9AE-4C52-0FBA8D17A9DA}"/>
              </a:ext>
            </a:extLst>
          </p:cNvPr>
          <p:cNvSpPr/>
          <p:nvPr/>
        </p:nvSpPr>
        <p:spPr>
          <a:xfrm>
            <a:off x="10510982" y="783027"/>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20</a:t>
            </a:r>
            <a:endParaRPr lang="es-419" sz="1100" noProof="0" dirty="0"/>
          </a:p>
        </p:txBody>
      </p:sp>
      <p:sp>
        <p:nvSpPr>
          <p:cNvPr id="11" name="Rectángulo 10">
            <a:extLst>
              <a:ext uri="{FF2B5EF4-FFF2-40B4-BE49-F238E27FC236}">
                <a16:creationId xmlns:a16="http://schemas.microsoft.com/office/drawing/2014/main" id="{D96859AD-068D-E9D1-4023-CCD57E8CBC01}"/>
              </a:ext>
            </a:extLst>
          </p:cNvPr>
          <p:cNvSpPr/>
          <p:nvPr/>
        </p:nvSpPr>
        <p:spPr>
          <a:xfrm>
            <a:off x="9972406" y="1458660"/>
            <a:ext cx="1670800" cy="35985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5686E4E6-B723-A3A2-223D-6B8FC80EF759}"/>
              </a:ext>
            </a:extLst>
          </p:cNvPr>
          <p:cNvSpPr/>
          <p:nvPr/>
        </p:nvSpPr>
        <p:spPr>
          <a:xfrm>
            <a:off x="9513374" y="1393261"/>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21</a:t>
            </a:r>
          </a:p>
        </p:txBody>
      </p:sp>
    </p:spTree>
    <p:extLst>
      <p:ext uri="{BB962C8B-B14F-4D97-AF65-F5344CB8AC3E}">
        <p14:creationId xmlns:p14="http://schemas.microsoft.com/office/powerpoint/2010/main" val="38101420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CC219-7485-71EC-E8DD-0493DB0388AB}"/>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FEAADA8D-58C6-4C2F-AEE1-8EC158CA60F7}"/>
              </a:ext>
            </a:extLst>
          </p:cNvPr>
          <p:cNvPicPr>
            <a:picLocks noChangeAspect="1"/>
          </p:cNvPicPr>
          <p:nvPr/>
        </p:nvPicPr>
        <p:blipFill>
          <a:blip r:embed="rId2"/>
          <a:stretch>
            <a:fillRect/>
          </a:stretch>
        </p:blipFill>
        <p:spPr>
          <a:xfrm>
            <a:off x="672113" y="913824"/>
            <a:ext cx="10951823" cy="1524576"/>
          </a:xfrm>
          <a:prstGeom prst="rect">
            <a:avLst/>
          </a:prstGeom>
        </p:spPr>
      </p:pic>
      <p:sp>
        <p:nvSpPr>
          <p:cNvPr id="3" name="Marcador de texto vertical 2">
            <a:extLst>
              <a:ext uri="{FF2B5EF4-FFF2-40B4-BE49-F238E27FC236}">
                <a16:creationId xmlns:a16="http://schemas.microsoft.com/office/drawing/2014/main" id="{E84E2ACC-363D-3495-4F78-229443474589}"/>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3BD96255-519B-AC9B-C00D-BE2FC3F3B3A4}"/>
              </a:ext>
            </a:extLst>
          </p:cNvPr>
          <p:cNvSpPr>
            <a:spLocks noGrp="1"/>
          </p:cNvSpPr>
          <p:nvPr>
            <p:ph type="title"/>
          </p:nvPr>
        </p:nvSpPr>
        <p:spPr>
          <a:xfrm>
            <a:off x="810247" y="327992"/>
            <a:ext cx="10271883" cy="626165"/>
          </a:xfrm>
        </p:spPr>
        <p:txBody>
          <a:bodyPr/>
          <a:lstStyle/>
          <a:p>
            <a:r>
              <a:rPr lang="es-419" dirty="0">
                <a:solidFill>
                  <a:schemeClr val="tx2"/>
                </a:solidFill>
              </a:rPr>
              <a:t>Curso de transferencia (</a:t>
            </a:r>
            <a:r>
              <a:rPr lang="es-ES_tradnl" dirty="0">
                <a:solidFill>
                  <a:schemeClr val="tx2"/>
                </a:solidFill>
              </a:rPr>
              <a:t>SHATRNS)</a:t>
            </a:r>
            <a:endParaRPr lang="es-CL" dirty="0">
              <a:solidFill>
                <a:schemeClr val="tx2"/>
              </a:solidFill>
            </a:endParaRPr>
          </a:p>
        </p:txBody>
      </p:sp>
      <p:sp>
        <p:nvSpPr>
          <p:cNvPr id="8" name="Rectángulo redondeado 5">
            <a:extLst>
              <a:ext uri="{FF2B5EF4-FFF2-40B4-BE49-F238E27FC236}">
                <a16:creationId xmlns:a16="http://schemas.microsoft.com/office/drawing/2014/main" id="{ECA3ADF0-1B2E-0191-C89D-DF0B7AEC4108}"/>
              </a:ext>
            </a:extLst>
          </p:cNvPr>
          <p:cNvSpPr/>
          <p:nvPr/>
        </p:nvSpPr>
        <p:spPr>
          <a:xfrm>
            <a:off x="1766379" y="3318406"/>
            <a:ext cx="7072040" cy="80101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22"/>
            </a:pPr>
            <a:r>
              <a:rPr lang="es-CO" sz="1200" dirty="0"/>
              <a:t>Ingrese los datos en el bloque de información clave de la página, según lo indicado en las diapositivas 33 y 34</a:t>
            </a:r>
          </a:p>
          <a:p>
            <a:pPr marL="228600" indent="-228600">
              <a:buFont typeface="+mj-lt"/>
              <a:buAutoNum type="arabicPeriod" startAt="22"/>
            </a:pPr>
            <a:r>
              <a:rPr lang="es-CO" sz="1200" dirty="0"/>
              <a:t>Presione el botón ‘Ir’.</a:t>
            </a:r>
          </a:p>
        </p:txBody>
      </p:sp>
      <p:sp>
        <p:nvSpPr>
          <p:cNvPr id="11" name="Rectángulo 10">
            <a:extLst>
              <a:ext uri="{FF2B5EF4-FFF2-40B4-BE49-F238E27FC236}">
                <a16:creationId xmlns:a16="http://schemas.microsoft.com/office/drawing/2014/main" id="{032C6D12-9F40-22BA-DA84-B99F94507E1F}"/>
              </a:ext>
            </a:extLst>
          </p:cNvPr>
          <p:cNvSpPr/>
          <p:nvPr/>
        </p:nvSpPr>
        <p:spPr>
          <a:xfrm>
            <a:off x="672113" y="1154285"/>
            <a:ext cx="7224978" cy="81305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C881A5D7-8F2D-B0BE-0105-F41295862D26}"/>
              </a:ext>
            </a:extLst>
          </p:cNvPr>
          <p:cNvSpPr/>
          <p:nvPr/>
        </p:nvSpPr>
        <p:spPr>
          <a:xfrm>
            <a:off x="7959603" y="1500083"/>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22</a:t>
            </a:r>
          </a:p>
        </p:txBody>
      </p:sp>
      <p:sp>
        <p:nvSpPr>
          <p:cNvPr id="6" name="Rectángulo 5">
            <a:extLst>
              <a:ext uri="{FF2B5EF4-FFF2-40B4-BE49-F238E27FC236}">
                <a16:creationId xmlns:a16="http://schemas.microsoft.com/office/drawing/2014/main" id="{CDA52CD0-0055-5510-4D32-EDCF3294C1CB}"/>
              </a:ext>
            </a:extLst>
          </p:cNvPr>
          <p:cNvSpPr/>
          <p:nvPr/>
        </p:nvSpPr>
        <p:spPr>
          <a:xfrm>
            <a:off x="11221539" y="1200465"/>
            <a:ext cx="396520" cy="25004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3" name="Rectángulo redondeado 15">
            <a:extLst>
              <a:ext uri="{FF2B5EF4-FFF2-40B4-BE49-F238E27FC236}">
                <a16:creationId xmlns:a16="http://schemas.microsoft.com/office/drawing/2014/main" id="{51A34EE6-B959-4E67-710E-441AA4E8F285}"/>
              </a:ext>
            </a:extLst>
          </p:cNvPr>
          <p:cNvSpPr/>
          <p:nvPr/>
        </p:nvSpPr>
        <p:spPr>
          <a:xfrm>
            <a:off x="10825019" y="1459750"/>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23</a:t>
            </a:r>
            <a:endParaRPr lang="es-419" sz="1100" noProof="0" dirty="0"/>
          </a:p>
        </p:txBody>
      </p:sp>
    </p:spTree>
    <p:extLst>
      <p:ext uri="{BB962C8B-B14F-4D97-AF65-F5344CB8AC3E}">
        <p14:creationId xmlns:p14="http://schemas.microsoft.com/office/powerpoint/2010/main" val="17331181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501EC-0CFD-71DD-0C48-926A8D204077}"/>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E0A96D22-5756-7BF8-551B-FC55B8AD3489}"/>
              </a:ext>
            </a:extLst>
          </p:cNvPr>
          <p:cNvPicPr>
            <a:picLocks noChangeAspect="1"/>
          </p:cNvPicPr>
          <p:nvPr/>
        </p:nvPicPr>
        <p:blipFill>
          <a:blip r:embed="rId2"/>
          <a:stretch>
            <a:fillRect/>
          </a:stretch>
        </p:blipFill>
        <p:spPr>
          <a:xfrm>
            <a:off x="672113" y="913824"/>
            <a:ext cx="10935913" cy="4960503"/>
          </a:xfrm>
          <a:prstGeom prst="rect">
            <a:avLst/>
          </a:prstGeom>
        </p:spPr>
      </p:pic>
      <p:sp>
        <p:nvSpPr>
          <p:cNvPr id="3" name="Marcador de texto vertical 2">
            <a:extLst>
              <a:ext uri="{FF2B5EF4-FFF2-40B4-BE49-F238E27FC236}">
                <a16:creationId xmlns:a16="http://schemas.microsoft.com/office/drawing/2014/main" id="{9355C952-7AEE-BCAD-286B-AC07E17270CB}"/>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CE7B804C-32D2-0343-EE14-55DC3FD8E3C7}"/>
              </a:ext>
            </a:extLst>
          </p:cNvPr>
          <p:cNvSpPr>
            <a:spLocks noGrp="1"/>
          </p:cNvSpPr>
          <p:nvPr>
            <p:ph type="title"/>
          </p:nvPr>
        </p:nvSpPr>
        <p:spPr>
          <a:xfrm>
            <a:off x="810247" y="327992"/>
            <a:ext cx="10271883" cy="626165"/>
          </a:xfrm>
        </p:spPr>
        <p:txBody>
          <a:bodyPr/>
          <a:lstStyle/>
          <a:p>
            <a:r>
              <a:rPr lang="es-419" dirty="0">
                <a:solidFill>
                  <a:schemeClr val="tx2"/>
                </a:solidFill>
              </a:rPr>
              <a:t>Curso de transferencia (</a:t>
            </a:r>
            <a:r>
              <a:rPr lang="es-ES_tradnl" dirty="0">
                <a:solidFill>
                  <a:schemeClr val="tx2"/>
                </a:solidFill>
              </a:rPr>
              <a:t>SHATRNS)</a:t>
            </a:r>
            <a:br>
              <a:rPr lang="es-CL" dirty="0">
                <a:solidFill>
                  <a:schemeClr val="tx2"/>
                </a:solidFill>
              </a:rPr>
            </a:br>
            <a:endParaRPr lang="es-CL" dirty="0">
              <a:solidFill>
                <a:schemeClr val="tx2"/>
              </a:solidFill>
            </a:endParaRPr>
          </a:p>
        </p:txBody>
      </p:sp>
      <p:sp>
        <p:nvSpPr>
          <p:cNvPr id="8" name="Rectángulo redondeado 5">
            <a:extLst>
              <a:ext uri="{FF2B5EF4-FFF2-40B4-BE49-F238E27FC236}">
                <a16:creationId xmlns:a16="http://schemas.microsoft.com/office/drawing/2014/main" id="{E33E2ECC-0140-5216-4D4B-48DA6B81D45A}"/>
              </a:ext>
            </a:extLst>
          </p:cNvPr>
          <p:cNvSpPr/>
          <p:nvPr/>
        </p:nvSpPr>
        <p:spPr>
          <a:xfrm>
            <a:off x="2410168" y="3530842"/>
            <a:ext cx="7072040" cy="80101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O" sz="1200" dirty="0"/>
              <a:t>El sistema indica que ya existen cursos de transferencia procesados para el registro que se está consultando.</a:t>
            </a:r>
          </a:p>
          <a:p>
            <a:pPr marL="228600" indent="-228600">
              <a:buFont typeface="+mj-lt"/>
              <a:buAutoNum type="arabicPeriod" startAt="24"/>
            </a:pPr>
            <a:r>
              <a:rPr lang="es-CO" sz="1200" dirty="0"/>
              <a:t>Presione el botón de siguiente bloque 2 veces</a:t>
            </a:r>
          </a:p>
        </p:txBody>
      </p:sp>
      <p:sp>
        <p:nvSpPr>
          <p:cNvPr id="6" name="Rectángulo 5">
            <a:extLst>
              <a:ext uri="{FF2B5EF4-FFF2-40B4-BE49-F238E27FC236}">
                <a16:creationId xmlns:a16="http://schemas.microsoft.com/office/drawing/2014/main" id="{16F716DF-AD7F-7C34-3F04-42A63339FB16}"/>
              </a:ext>
            </a:extLst>
          </p:cNvPr>
          <p:cNvSpPr/>
          <p:nvPr/>
        </p:nvSpPr>
        <p:spPr>
          <a:xfrm>
            <a:off x="962022" y="5554094"/>
            <a:ext cx="275651" cy="25004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3" name="Rectángulo redondeado 15">
            <a:extLst>
              <a:ext uri="{FF2B5EF4-FFF2-40B4-BE49-F238E27FC236}">
                <a16:creationId xmlns:a16="http://schemas.microsoft.com/office/drawing/2014/main" id="{496D7318-F89C-AB9C-44EF-9862CE8571D6}"/>
              </a:ext>
            </a:extLst>
          </p:cNvPr>
          <p:cNvSpPr/>
          <p:nvPr/>
        </p:nvSpPr>
        <p:spPr>
          <a:xfrm>
            <a:off x="583974" y="5813379"/>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24</a:t>
            </a:r>
            <a:endParaRPr lang="es-419" sz="1100" noProof="0" dirty="0"/>
          </a:p>
        </p:txBody>
      </p:sp>
    </p:spTree>
    <p:extLst>
      <p:ext uri="{BB962C8B-B14F-4D97-AF65-F5344CB8AC3E}">
        <p14:creationId xmlns:p14="http://schemas.microsoft.com/office/powerpoint/2010/main" val="8709942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847E5-2A55-1749-C6F5-E0DBB9F3EC40}"/>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B0EC6CF3-7F7A-FEC9-FF7C-25FDF0B36094}"/>
              </a:ext>
            </a:extLst>
          </p:cNvPr>
          <p:cNvPicPr>
            <a:picLocks noChangeAspect="1"/>
          </p:cNvPicPr>
          <p:nvPr/>
        </p:nvPicPr>
        <p:blipFill>
          <a:blip r:embed="rId2"/>
          <a:stretch>
            <a:fillRect/>
          </a:stretch>
        </p:blipFill>
        <p:spPr>
          <a:xfrm>
            <a:off x="672113" y="913824"/>
            <a:ext cx="10935913" cy="4974499"/>
          </a:xfrm>
          <a:prstGeom prst="rect">
            <a:avLst/>
          </a:prstGeom>
        </p:spPr>
      </p:pic>
      <p:sp>
        <p:nvSpPr>
          <p:cNvPr id="3" name="Marcador de texto vertical 2">
            <a:extLst>
              <a:ext uri="{FF2B5EF4-FFF2-40B4-BE49-F238E27FC236}">
                <a16:creationId xmlns:a16="http://schemas.microsoft.com/office/drawing/2014/main" id="{4FD61692-657E-6F7E-8908-62D7DD549870}"/>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C3FBE9FF-4480-DCF5-CACE-9194150806CD}"/>
              </a:ext>
            </a:extLst>
          </p:cNvPr>
          <p:cNvSpPr>
            <a:spLocks noGrp="1"/>
          </p:cNvSpPr>
          <p:nvPr>
            <p:ph type="title"/>
          </p:nvPr>
        </p:nvSpPr>
        <p:spPr>
          <a:xfrm>
            <a:off x="810247" y="327992"/>
            <a:ext cx="10271883" cy="626165"/>
          </a:xfrm>
        </p:spPr>
        <p:txBody>
          <a:bodyPr/>
          <a:lstStyle/>
          <a:p>
            <a:r>
              <a:rPr lang="es-419" dirty="0">
                <a:solidFill>
                  <a:schemeClr val="tx2"/>
                </a:solidFill>
              </a:rPr>
              <a:t>Curso de transferencia (</a:t>
            </a:r>
            <a:r>
              <a:rPr lang="es-ES_tradnl" dirty="0">
                <a:solidFill>
                  <a:schemeClr val="tx2"/>
                </a:solidFill>
              </a:rPr>
              <a:t>SHATRNS)</a:t>
            </a:r>
            <a:br>
              <a:rPr lang="es-CL" dirty="0">
                <a:solidFill>
                  <a:schemeClr val="tx2"/>
                </a:solidFill>
              </a:rPr>
            </a:br>
            <a:endParaRPr lang="es-CL" dirty="0">
              <a:solidFill>
                <a:schemeClr val="tx2"/>
              </a:solidFill>
            </a:endParaRPr>
          </a:p>
        </p:txBody>
      </p:sp>
      <p:sp>
        <p:nvSpPr>
          <p:cNvPr id="8" name="Rectángulo redondeado 5">
            <a:extLst>
              <a:ext uri="{FF2B5EF4-FFF2-40B4-BE49-F238E27FC236}">
                <a16:creationId xmlns:a16="http://schemas.microsoft.com/office/drawing/2014/main" id="{8DE579D4-C4DA-F8A2-89D8-E583068BCC4F}"/>
              </a:ext>
            </a:extLst>
          </p:cNvPr>
          <p:cNvSpPr/>
          <p:nvPr/>
        </p:nvSpPr>
        <p:spPr>
          <a:xfrm>
            <a:off x="2345513" y="3863350"/>
            <a:ext cx="7072040" cy="182624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O" sz="1200" dirty="0"/>
              <a:t>Se muestran las asignaturas que fueron convalidas para el estudiante y período de asistencia de la institución:</a:t>
            </a:r>
          </a:p>
          <a:p>
            <a:endParaRPr lang="es-CO" sz="1200" dirty="0"/>
          </a:p>
          <a:p>
            <a:r>
              <a:rPr lang="es-CO" sz="1200" dirty="0"/>
              <a:t>En el bloque Detalle de curso de transferencia se visualiza la asignatura que corresponde a la asignatura de la institución de procedencia.</a:t>
            </a:r>
          </a:p>
          <a:p>
            <a:endParaRPr lang="es-CO" sz="1200" dirty="0"/>
          </a:p>
          <a:p>
            <a:r>
              <a:rPr lang="es-CO" sz="1200" dirty="0"/>
              <a:t>En el bloque Detalle de curso equivalente, se visualiza la asignatura que fue convalidada por la UAI.</a:t>
            </a:r>
          </a:p>
          <a:p>
            <a:endParaRPr lang="es-CO" sz="1200" dirty="0"/>
          </a:p>
          <a:p>
            <a:r>
              <a:rPr lang="es-CO" sz="1200" dirty="0"/>
              <a:t>Puede moverse entre los registros para ver cada una de ellas.</a:t>
            </a:r>
          </a:p>
        </p:txBody>
      </p:sp>
      <p:sp>
        <p:nvSpPr>
          <p:cNvPr id="6" name="Rectángulo 5">
            <a:extLst>
              <a:ext uri="{FF2B5EF4-FFF2-40B4-BE49-F238E27FC236}">
                <a16:creationId xmlns:a16="http://schemas.microsoft.com/office/drawing/2014/main" id="{032ED1BE-1B8D-2656-0CD6-9848CC44188A}"/>
              </a:ext>
            </a:extLst>
          </p:cNvPr>
          <p:cNvSpPr/>
          <p:nvPr/>
        </p:nvSpPr>
        <p:spPr>
          <a:xfrm>
            <a:off x="672421" y="2496857"/>
            <a:ext cx="925470" cy="13550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38339362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9EBD6-CC55-9304-BBD5-2E95AF18137D}"/>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F95432A2-C679-FDE5-3A6A-7F5800D6E638}"/>
              </a:ext>
            </a:extLst>
          </p:cNvPr>
          <p:cNvSpPr>
            <a:spLocks noGrp="1"/>
          </p:cNvSpPr>
          <p:nvPr>
            <p:ph type="body" sz="quarter" idx="10"/>
          </p:nvPr>
        </p:nvSpPr>
        <p:spPr>
          <a:xfrm>
            <a:off x="914399" y="2238843"/>
            <a:ext cx="10363202" cy="669094"/>
          </a:xfrm>
        </p:spPr>
        <p:txBody>
          <a:bodyPr/>
          <a:lstStyle/>
          <a:p>
            <a:r>
              <a:rPr lang="es-419" dirty="0"/>
              <a:t>Convalidación individual</a:t>
            </a:r>
          </a:p>
        </p:txBody>
      </p:sp>
      <p:sp>
        <p:nvSpPr>
          <p:cNvPr id="6" name="Marcador de texto 5">
            <a:extLst>
              <a:ext uri="{FF2B5EF4-FFF2-40B4-BE49-F238E27FC236}">
                <a16:creationId xmlns:a16="http://schemas.microsoft.com/office/drawing/2014/main" id="{D8E23236-FD51-4875-215B-3957919B38AF}"/>
              </a:ext>
            </a:extLst>
          </p:cNvPr>
          <p:cNvSpPr>
            <a:spLocks noGrp="1"/>
          </p:cNvSpPr>
          <p:nvPr>
            <p:ph type="body" sz="quarter" idx="11"/>
          </p:nvPr>
        </p:nvSpPr>
        <p:spPr>
          <a:xfrm>
            <a:off x="914399" y="3750468"/>
            <a:ext cx="10363202" cy="389915"/>
          </a:xfrm>
        </p:spPr>
        <p:txBody>
          <a:bodyPr/>
          <a:lstStyle/>
          <a:p>
            <a:r>
              <a:rPr lang="es-419" dirty="0"/>
              <a:t>Gestionar homologación y convalidación</a:t>
            </a:r>
          </a:p>
        </p:txBody>
      </p:sp>
    </p:spTree>
    <p:extLst>
      <p:ext uri="{BB962C8B-B14F-4D97-AF65-F5344CB8AC3E}">
        <p14:creationId xmlns:p14="http://schemas.microsoft.com/office/powerpoint/2010/main" val="18856785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E11D5-600E-9EA4-34B6-26086F2548C0}"/>
            </a:ext>
          </a:extLst>
        </p:cNvPr>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CBB5E4D2-60F0-09BF-2381-C1B4323AEDA9}"/>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FDB442FE-ACAB-8C61-E277-E74EADFC0F68}"/>
              </a:ext>
            </a:extLst>
          </p:cNvPr>
          <p:cNvSpPr>
            <a:spLocks noGrp="1"/>
          </p:cNvSpPr>
          <p:nvPr>
            <p:ph type="title"/>
          </p:nvPr>
        </p:nvSpPr>
        <p:spPr>
          <a:xfrm>
            <a:off x="810247" y="327992"/>
            <a:ext cx="10271883" cy="626165"/>
          </a:xfrm>
        </p:spPr>
        <p:txBody>
          <a:bodyPr/>
          <a:lstStyle/>
          <a:p>
            <a:r>
              <a:rPr lang="es-419" dirty="0">
                <a:solidFill>
                  <a:schemeClr val="tx2"/>
                </a:solidFill>
              </a:rPr>
              <a:t>Curso de transferencia (</a:t>
            </a:r>
            <a:r>
              <a:rPr lang="es-ES_tradnl" dirty="0">
                <a:solidFill>
                  <a:schemeClr val="tx2"/>
                </a:solidFill>
              </a:rPr>
              <a:t>SHATRNS)</a:t>
            </a:r>
            <a:br>
              <a:rPr lang="es-CL" dirty="0">
                <a:solidFill>
                  <a:schemeClr val="tx2"/>
                </a:solidFill>
              </a:rPr>
            </a:br>
            <a:endParaRPr lang="es-CL" dirty="0">
              <a:solidFill>
                <a:schemeClr val="tx2"/>
              </a:solidFill>
            </a:endParaRPr>
          </a:p>
        </p:txBody>
      </p:sp>
      <p:sp>
        <p:nvSpPr>
          <p:cNvPr id="6" name="Rectángulo redondeado 5">
            <a:extLst>
              <a:ext uri="{FF2B5EF4-FFF2-40B4-BE49-F238E27FC236}">
                <a16:creationId xmlns:a16="http://schemas.microsoft.com/office/drawing/2014/main" id="{8EF5C275-60E3-17BE-9A49-A09473A4FC6A}"/>
              </a:ext>
            </a:extLst>
          </p:cNvPr>
          <p:cNvSpPr/>
          <p:nvPr/>
        </p:nvSpPr>
        <p:spPr>
          <a:xfrm>
            <a:off x="1745673" y="3041931"/>
            <a:ext cx="7814498" cy="256272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O" sz="1200" dirty="0"/>
              <a:t>Las convalidaciones podrán ser formalizadas por medio de la página administrativa SHATRNS, que es en donde quedan definidas. Para ello siga los siguientes pasos:</a:t>
            </a:r>
          </a:p>
          <a:p>
            <a:pPr marL="228600" indent="-228600">
              <a:buFont typeface="+mj-lt"/>
              <a:buAutoNum type="arabicPeriod"/>
            </a:pPr>
            <a:r>
              <a:rPr lang="es-CO" sz="1200" dirty="0"/>
              <a:t>Ingrese el ID del estudiante al cual se le otorgarán las convalidaciones</a:t>
            </a:r>
          </a:p>
          <a:p>
            <a:pPr marL="228600" indent="-228600">
              <a:buFont typeface="+mj-lt"/>
              <a:buAutoNum type="arabicPeriod"/>
            </a:pPr>
            <a:r>
              <a:rPr lang="es-CO" sz="1200" dirty="0"/>
              <a:t>Posteriormente se debe definir el campo ‘Número de institución de transferencia’, este campo representa un identificador de la institución de la cual provendría la homologación externa a concretar, por lo cual debiera existir solo un código por institución externa que esté relacionada con el estudiante. Se sugiere como primer registro usar el valor numérico 1, en caso de que se presenten homologaciones externas de dos o más instituciones, se sugiere definir este campo como un número correlativo de las mismas (1, 2, 3 …, N), siendo parametrizada con el valor 2 a la segunda institución a ingresar.</a:t>
            </a:r>
          </a:p>
          <a:p>
            <a:pPr marL="228600" indent="-228600">
              <a:buFont typeface="+mj-lt"/>
              <a:buAutoNum type="arabicPeriod"/>
            </a:pPr>
            <a:endParaRPr lang="es-CO" sz="1200" dirty="0"/>
          </a:p>
          <a:p>
            <a:pPr marL="228600" indent="-228600">
              <a:buFont typeface="+mj-lt"/>
              <a:buAutoNum type="arabicPeriod"/>
            </a:pPr>
            <a:endParaRPr lang="es-CO" sz="1200" dirty="0"/>
          </a:p>
        </p:txBody>
      </p:sp>
      <p:pic>
        <p:nvPicPr>
          <p:cNvPr id="5" name="Imagen 4">
            <a:extLst>
              <a:ext uri="{FF2B5EF4-FFF2-40B4-BE49-F238E27FC236}">
                <a16:creationId xmlns:a16="http://schemas.microsoft.com/office/drawing/2014/main" id="{AF81C9CA-F891-C6B0-A25B-33569CCE0A2D}"/>
              </a:ext>
            </a:extLst>
          </p:cNvPr>
          <p:cNvPicPr>
            <a:picLocks noChangeAspect="1"/>
          </p:cNvPicPr>
          <p:nvPr/>
        </p:nvPicPr>
        <p:blipFill>
          <a:blip r:embed="rId2"/>
          <a:stretch>
            <a:fillRect/>
          </a:stretch>
        </p:blipFill>
        <p:spPr>
          <a:xfrm>
            <a:off x="810247" y="1253344"/>
            <a:ext cx="10619107" cy="1411820"/>
          </a:xfrm>
          <a:prstGeom prst="rect">
            <a:avLst/>
          </a:prstGeom>
        </p:spPr>
      </p:pic>
      <p:sp>
        <p:nvSpPr>
          <p:cNvPr id="9" name="Rectángulo 8">
            <a:extLst>
              <a:ext uri="{FF2B5EF4-FFF2-40B4-BE49-F238E27FC236}">
                <a16:creationId xmlns:a16="http://schemas.microsoft.com/office/drawing/2014/main" id="{82212766-7CF6-90AB-A486-04E74158182D}"/>
              </a:ext>
            </a:extLst>
          </p:cNvPr>
          <p:cNvSpPr/>
          <p:nvPr/>
        </p:nvSpPr>
        <p:spPr>
          <a:xfrm>
            <a:off x="1413615" y="1564066"/>
            <a:ext cx="1283404" cy="17620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2A5414FE-EA49-AD2A-AE3E-2D2354C97FB7}"/>
              </a:ext>
            </a:extLst>
          </p:cNvPr>
          <p:cNvSpPr/>
          <p:nvPr/>
        </p:nvSpPr>
        <p:spPr>
          <a:xfrm>
            <a:off x="1212969" y="1461626"/>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
        <p:nvSpPr>
          <p:cNvPr id="13" name="Rectángulo 12">
            <a:extLst>
              <a:ext uri="{FF2B5EF4-FFF2-40B4-BE49-F238E27FC236}">
                <a16:creationId xmlns:a16="http://schemas.microsoft.com/office/drawing/2014/main" id="{9D01D4BA-7A31-C83C-C49F-DAF84FBF0047}"/>
              </a:ext>
            </a:extLst>
          </p:cNvPr>
          <p:cNvSpPr/>
          <p:nvPr/>
        </p:nvSpPr>
        <p:spPr>
          <a:xfrm>
            <a:off x="5908259" y="1549967"/>
            <a:ext cx="1688530" cy="45364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D6B2BA36-402B-7A87-B1B1-ED080DFD507A}"/>
              </a:ext>
            </a:extLst>
          </p:cNvPr>
          <p:cNvSpPr/>
          <p:nvPr/>
        </p:nvSpPr>
        <p:spPr>
          <a:xfrm>
            <a:off x="7661861" y="1461625"/>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Tree>
    <p:extLst>
      <p:ext uri="{BB962C8B-B14F-4D97-AF65-F5344CB8AC3E}">
        <p14:creationId xmlns:p14="http://schemas.microsoft.com/office/powerpoint/2010/main" val="8300464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6BEAB-7B0A-9DC5-C027-621FCD786956}"/>
            </a:ext>
          </a:extLst>
        </p:cNvPr>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619A6874-339F-8C1A-884A-A763BB1A5D37}"/>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0734D795-54C3-FEB3-81D3-1A6D5C89B534}"/>
              </a:ext>
            </a:extLst>
          </p:cNvPr>
          <p:cNvSpPr>
            <a:spLocks noGrp="1"/>
          </p:cNvSpPr>
          <p:nvPr>
            <p:ph type="title"/>
          </p:nvPr>
        </p:nvSpPr>
        <p:spPr>
          <a:xfrm>
            <a:off x="810247" y="327992"/>
            <a:ext cx="10271883" cy="626165"/>
          </a:xfrm>
        </p:spPr>
        <p:txBody>
          <a:bodyPr/>
          <a:lstStyle/>
          <a:p>
            <a:r>
              <a:rPr lang="es-419" dirty="0">
                <a:solidFill>
                  <a:schemeClr val="tx2"/>
                </a:solidFill>
              </a:rPr>
              <a:t>Curso de transferencia (</a:t>
            </a:r>
            <a:r>
              <a:rPr lang="es-ES_tradnl" dirty="0">
                <a:solidFill>
                  <a:schemeClr val="tx2"/>
                </a:solidFill>
              </a:rPr>
              <a:t>SHATRNS)</a:t>
            </a:r>
            <a:br>
              <a:rPr lang="es-CL" b="1" dirty="0">
                <a:effectLst/>
              </a:rPr>
            </a:br>
            <a:endParaRPr lang="es-CL" dirty="0"/>
          </a:p>
        </p:txBody>
      </p:sp>
      <p:sp>
        <p:nvSpPr>
          <p:cNvPr id="6" name="Rectángulo redondeado 5">
            <a:extLst>
              <a:ext uri="{FF2B5EF4-FFF2-40B4-BE49-F238E27FC236}">
                <a16:creationId xmlns:a16="http://schemas.microsoft.com/office/drawing/2014/main" id="{82FBA13C-F031-6407-553D-37469BA23EB0}"/>
              </a:ext>
            </a:extLst>
          </p:cNvPr>
          <p:cNvSpPr/>
          <p:nvPr/>
        </p:nvSpPr>
        <p:spPr>
          <a:xfrm>
            <a:off x="1745673" y="3041931"/>
            <a:ext cx="7814498" cy="256272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3"/>
            </a:pPr>
            <a:r>
              <a:rPr lang="es-CO" sz="1200" dirty="0"/>
              <a:t>Realizado lo anterior, se requiere definir el campo ‘Número de periodo de asistencia’; este campo representa un identificador de los distintos periodos académicos que el estudiante desea homologar y fueran provenientes de una misma institución de origen, por lo cual deberá existir un código por cada periodo académico asociado a la institución externa relacionada con el estudiante. </a:t>
            </a:r>
          </a:p>
          <a:p>
            <a:pPr algn="ctr"/>
            <a:r>
              <a:rPr lang="es-CO" sz="1100" dirty="0"/>
              <a:t>Se sugiere como primer registro usar el valor numérico 1. Si decide incluir en un único periodo todos conocimientos externos obtenido por el estudiante se recomienda utilizar un único registro, pero si se desea diferenciar los contenidos cursados por cada periodo académico desarrollado por el estudiante en la institución externa se deberá utilizar un número correlativo para cada periodo a ingresar (1, 2, 3…N).</a:t>
            </a:r>
            <a:endParaRPr lang="es-CO" sz="1200" dirty="0"/>
          </a:p>
          <a:p>
            <a:pPr marL="228600" indent="-228600">
              <a:buFont typeface="+mj-lt"/>
              <a:buAutoNum type="arabicPeriod" startAt="4"/>
            </a:pPr>
            <a:r>
              <a:rPr lang="es-CO" sz="1200" dirty="0"/>
              <a:t>Presione el botón ‘Ir’.</a:t>
            </a:r>
          </a:p>
          <a:p>
            <a:pPr marL="228600" indent="-228600">
              <a:buFont typeface="+mj-lt"/>
              <a:buAutoNum type="arabicPeriod" startAt="4"/>
            </a:pPr>
            <a:endParaRPr lang="es-CO" sz="1200" dirty="0"/>
          </a:p>
        </p:txBody>
      </p:sp>
      <p:pic>
        <p:nvPicPr>
          <p:cNvPr id="5" name="Imagen 4">
            <a:extLst>
              <a:ext uri="{FF2B5EF4-FFF2-40B4-BE49-F238E27FC236}">
                <a16:creationId xmlns:a16="http://schemas.microsoft.com/office/drawing/2014/main" id="{8B5F955A-E1F5-AF5C-2D54-ED371628A866}"/>
              </a:ext>
            </a:extLst>
          </p:cNvPr>
          <p:cNvPicPr>
            <a:picLocks noChangeAspect="1"/>
          </p:cNvPicPr>
          <p:nvPr/>
        </p:nvPicPr>
        <p:blipFill>
          <a:blip r:embed="rId2"/>
          <a:stretch>
            <a:fillRect/>
          </a:stretch>
        </p:blipFill>
        <p:spPr>
          <a:xfrm>
            <a:off x="810247" y="1253344"/>
            <a:ext cx="10619107" cy="1411820"/>
          </a:xfrm>
          <a:prstGeom prst="rect">
            <a:avLst/>
          </a:prstGeom>
        </p:spPr>
      </p:pic>
      <p:sp>
        <p:nvSpPr>
          <p:cNvPr id="11" name="Rectángulo 10">
            <a:extLst>
              <a:ext uri="{FF2B5EF4-FFF2-40B4-BE49-F238E27FC236}">
                <a16:creationId xmlns:a16="http://schemas.microsoft.com/office/drawing/2014/main" id="{EA28A563-9428-6AD6-7B02-4AB39DFBEC8F}"/>
              </a:ext>
            </a:extLst>
          </p:cNvPr>
          <p:cNvSpPr/>
          <p:nvPr/>
        </p:nvSpPr>
        <p:spPr>
          <a:xfrm>
            <a:off x="11072815" y="1571279"/>
            <a:ext cx="339194" cy="17620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4FBB54A6-0C7F-7224-FDDF-2659F6997ABB}"/>
              </a:ext>
            </a:extLst>
          </p:cNvPr>
          <p:cNvSpPr/>
          <p:nvPr/>
        </p:nvSpPr>
        <p:spPr>
          <a:xfrm>
            <a:off x="10829579" y="1696380"/>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
        <p:nvSpPr>
          <p:cNvPr id="22" name="Rectángulo 21">
            <a:extLst>
              <a:ext uri="{FF2B5EF4-FFF2-40B4-BE49-F238E27FC236}">
                <a16:creationId xmlns:a16="http://schemas.microsoft.com/office/drawing/2014/main" id="{27D7266B-B772-1873-8D47-23E8CCD11D68}"/>
              </a:ext>
            </a:extLst>
          </p:cNvPr>
          <p:cNvSpPr/>
          <p:nvPr/>
        </p:nvSpPr>
        <p:spPr>
          <a:xfrm>
            <a:off x="849444" y="1931727"/>
            <a:ext cx="1906950" cy="30347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3" name="Rectángulo redondeado 15">
            <a:extLst>
              <a:ext uri="{FF2B5EF4-FFF2-40B4-BE49-F238E27FC236}">
                <a16:creationId xmlns:a16="http://schemas.microsoft.com/office/drawing/2014/main" id="{A0AD1C7E-E4C1-6206-2849-207C491AED7F}"/>
              </a:ext>
            </a:extLst>
          </p:cNvPr>
          <p:cNvSpPr/>
          <p:nvPr/>
        </p:nvSpPr>
        <p:spPr>
          <a:xfrm>
            <a:off x="2843192" y="1828535"/>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Tree>
    <p:extLst>
      <p:ext uri="{BB962C8B-B14F-4D97-AF65-F5344CB8AC3E}">
        <p14:creationId xmlns:p14="http://schemas.microsoft.com/office/powerpoint/2010/main" val="10887606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79414-CFAD-83D1-5848-49EA24116AF1}"/>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57E0A3AB-21BF-B805-1FB0-7CA7C1C61362}"/>
              </a:ext>
            </a:extLst>
          </p:cNvPr>
          <p:cNvPicPr>
            <a:picLocks noChangeAspect="1"/>
          </p:cNvPicPr>
          <p:nvPr/>
        </p:nvPicPr>
        <p:blipFill>
          <a:blip r:embed="rId2"/>
          <a:stretch>
            <a:fillRect/>
          </a:stretch>
        </p:blipFill>
        <p:spPr>
          <a:xfrm>
            <a:off x="779991" y="1002629"/>
            <a:ext cx="10857827" cy="4938980"/>
          </a:xfrm>
          <a:prstGeom prst="rect">
            <a:avLst/>
          </a:prstGeom>
        </p:spPr>
      </p:pic>
      <p:sp>
        <p:nvSpPr>
          <p:cNvPr id="3" name="Marcador de texto vertical 2">
            <a:extLst>
              <a:ext uri="{FF2B5EF4-FFF2-40B4-BE49-F238E27FC236}">
                <a16:creationId xmlns:a16="http://schemas.microsoft.com/office/drawing/2014/main" id="{FB145A3E-F172-B3DE-41E4-464C8E0304A1}"/>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FA5AFC5E-C5C8-2BF2-0C9E-47DFD984822D}"/>
              </a:ext>
            </a:extLst>
          </p:cNvPr>
          <p:cNvSpPr>
            <a:spLocks noGrp="1"/>
          </p:cNvSpPr>
          <p:nvPr>
            <p:ph type="title"/>
          </p:nvPr>
        </p:nvSpPr>
        <p:spPr>
          <a:xfrm>
            <a:off x="810247" y="327992"/>
            <a:ext cx="10271883" cy="626165"/>
          </a:xfrm>
        </p:spPr>
        <p:txBody>
          <a:bodyPr/>
          <a:lstStyle/>
          <a:p>
            <a:r>
              <a:rPr lang="es-419" dirty="0">
                <a:solidFill>
                  <a:schemeClr val="tx2"/>
                </a:solidFill>
              </a:rPr>
              <a:t>Curso de transferencia (</a:t>
            </a:r>
            <a:r>
              <a:rPr lang="es-ES_tradnl" dirty="0">
                <a:solidFill>
                  <a:schemeClr val="tx2"/>
                </a:solidFill>
              </a:rPr>
              <a:t>SHATRNS)</a:t>
            </a:r>
            <a:br>
              <a:rPr lang="es-CL" b="1" dirty="0">
                <a:effectLst/>
              </a:rPr>
            </a:br>
            <a:endParaRPr lang="es-CL" dirty="0"/>
          </a:p>
        </p:txBody>
      </p:sp>
      <p:sp>
        <p:nvSpPr>
          <p:cNvPr id="6" name="Rectángulo redondeado 5">
            <a:extLst>
              <a:ext uri="{FF2B5EF4-FFF2-40B4-BE49-F238E27FC236}">
                <a16:creationId xmlns:a16="http://schemas.microsoft.com/office/drawing/2014/main" id="{7AD409A7-1E82-0B19-D981-466591617028}"/>
              </a:ext>
            </a:extLst>
          </p:cNvPr>
          <p:cNvSpPr/>
          <p:nvPr/>
        </p:nvSpPr>
        <p:spPr>
          <a:xfrm>
            <a:off x="1745673" y="4572000"/>
            <a:ext cx="7814498" cy="103265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5"/>
            </a:pPr>
            <a:r>
              <a:rPr lang="es-CO" sz="1200" dirty="0"/>
              <a:t>Ingrese o seleccione el código de la Institución de procedencia para la cual se dará la convalidación al estudiante. La fecha de ingreso de la información queda en la fecha de recepción.</a:t>
            </a:r>
          </a:p>
          <a:p>
            <a:pPr marL="228600" indent="-228600">
              <a:buFont typeface="+mj-lt"/>
              <a:buAutoNum type="arabicPeriod" startAt="5"/>
            </a:pPr>
            <a:r>
              <a:rPr lang="es-CO" sz="1200" dirty="0"/>
              <a:t>Guarde la información.</a:t>
            </a:r>
          </a:p>
          <a:p>
            <a:pPr marL="228600" indent="-228600">
              <a:buFont typeface="+mj-lt"/>
              <a:buAutoNum type="arabicPeriod" startAt="5"/>
            </a:pPr>
            <a:r>
              <a:rPr lang="es-CO" sz="1200" dirty="0"/>
              <a:t>Pase al siguiente bloque.</a:t>
            </a:r>
          </a:p>
        </p:txBody>
      </p:sp>
      <p:sp>
        <p:nvSpPr>
          <p:cNvPr id="11" name="Rectángulo 10">
            <a:extLst>
              <a:ext uri="{FF2B5EF4-FFF2-40B4-BE49-F238E27FC236}">
                <a16:creationId xmlns:a16="http://schemas.microsoft.com/office/drawing/2014/main" id="{6B9D70FC-5CC4-CF0A-FA62-378E25E20159}"/>
              </a:ext>
            </a:extLst>
          </p:cNvPr>
          <p:cNvSpPr/>
          <p:nvPr/>
        </p:nvSpPr>
        <p:spPr>
          <a:xfrm>
            <a:off x="11136209" y="5628984"/>
            <a:ext cx="538556" cy="20791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222704DE-105F-48E6-A261-1087BB3F18FD}"/>
              </a:ext>
            </a:extLst>
          </p:cNvPr>
          <p:cNvSpPr/>
          <p:nvPr/>
        </p:nvSpPr>
        <p:spPr>
          <a:xfrm>
            <a:off x="10920681" y="5772557"/>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sp>
        <p:nvSpPr>
          <p:cNvPr id="22" name="Rectángulo 21">
            <a:extLst>
              <a:ext uri="{FF2B5EF4-FFF2-40B4-BE49-F238E27FC236}">
                <a16:creationId xmlns:a16="http://schemas.microsoft.com/office/drawing/2014/main" id="{2B41C5C3-1788-DB1D-4D9C-980774956BD8}"/>
              </a:ext>
            </a:extLst>
          </p:cNvPr>
          <p:cNvSpPr/>
          <p:nvPr/>
        </p:nvSpPr>
        <p:spPr>
          <a:xfrm>
            <a:off x="1060746" y="1625050"/>
            <a:ext cx="2014963" cy="17620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3" name="Rectángulo redondeado 15">
            <a:extLst>
              <a:ext uri="{FF2B5EF4-FFF2-40B4-BE49-F238E27FC236}">
                <a16:creationId xmlns:a16="http://schemas.microsoft.com/office/drawing/2014/main" id="{43E28166-310F-0CF6-5525-B63C002D2B07}"/>
              </a:ext>
            </a:extLst>
          </p:cNvPr>
          <p:cNvSpPr/>
          <p:nvPr/>
        </p:nvSpPr>
        <p:spPr>
          <a:xfrm>
            <a:off x="3315559" y="1857195"/>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
        <p:nvSpPr>
          <p:cNvPr id="8" name="Rectángulo 7">
            <a:extLst>
              <a:ext uri="{FF2B5EF4-FFF2-40B4-BE49-F238E27FC236}">
                <a16:creationId xmlns:a16="http://schemas.microsoft.com/office/drawing/2014/main" id="{F09F1804-F696-E86A-D5E9-B42D87B3EFF4}"/>
              </a:ext>
            </a:extLst>
          </p:cNvPr>
          <p:cNvSpPr/>
          <p:nvPr/>
        </p:nvSpPr>
        <p:spPr>
          <a:xfrm>
            <a:off x="1032166" y="5631391"/>
            <a:ext cx="334816" cy="17620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484BEDB5-CBDB-1333-14C6-A906707B78D4}"/>
              </a:ext>
            </a:extLst>
          </p:cNvPr>
          <p:cNvSpPr/>
          <p:nvPr/>
        </p:nvSpPr>
        <p:spPr>
          <a:xfrm>
            <a:off x="1205533" y="5852964"/>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7</a:t>
            </a:r>
          </a:p>
        </p:txBody>
      </p:sp>
    </p:spTree>
    <p:extLst>
      <p:ext uri="{BB962C8B-B14F-4D97-AF65-F5344CB8AC3E}">
        <p14:creationId xmlns:p14="http://schemas.microsoft.com/office/powerpoint/2010/main" val="30541492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89D7A-B423-C36F-C363-CC13AF818497}"/>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B4FF02E0-496E-63DE-4462-62466AA1973D}"/>
              </a:ext>
            </a:extLst>
          </p:cNvPr>
          <p:cNvPicPr>
            <a:picLocks noChangeAspect="1"/>
          </p:cNvPicPr>
          <p:nvPr/>
        </p:nvPicPr>
        <p:blipFill>
          <a:blip r:embed="rId2"/>
          <a:stretch>
            <a:fillRect/>
          </a:stretch>
        </p:blipFill>
        <p:spPr>
          <a:xfrm>
            <a:off x="766617" y="907156"/>
            <a:ext cx="10857827" cy="4938980"/>
          </a:xfrm>
          <a:prstGeom prst="rect">
            <a:avLst/>
          </a:prstGeom>
        </p:spPr>
      </p:pic>
      <p:sp>
        <p:nvSpPr>
          <p:cNvPr id="3" name="Marcador de texto vertical 2">
            <a:extLst>
              <a:ext uri="{FF2B5EF4-FFF2-40B4-BE49-F238E27FC236}">
                <a16:creationId xmlns:a16="http://schemas.microsoft.com/office/drawing/2014/main" id="{DD7A5979-0EFE-6370-063F-28DA62B23266}"/>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89EFBFDA-D7C2-FC6D-7774-065CE5CC227B}"/>
              </a:ext>
            </a:extLst>
          </p:cNvPr>
          <p:cNvSpPr>
            <a:spLocks noGrp="1"/>
          </p:cNvSpPr>
          <p:nvPr>
            <p:ph type="title"/>
          </p:nvPr>
        </p:nvSpPr>
        <p:spPr>
          <a:xfrm>
            <a:off x="810247" y="327992"/>
            <a:ext cx="10271883" cy="626165"/>
          </a:xfrm>
        </p:spPr>
        <p:txBody>
          <a:bodyPr/>
          <a:lstStyle/>
          <a:p>
            <a:r>
              <a:rPr lang="es-419" dirty="0">
                <a:solidFill>
                  <a:schemeClr val="tx2"/>
                </a:solidFill>
              </a:rPr>
              <a:t>Curso de transferencia (</a:t>
            </a:r>
            <a:r>
              <a:rPr lang="es-ES_tradnl" dirty="0">
                <a:solidFill>
                  <a:schemeClr val="tx2"/>
                </a:solidFill>
              </a:rPr>
              <a:t>SHATRNS)</a:t>
            </a:r>
            <a:br>
              <a:rPr lang="es-CL" b="1" dirty="0">
                <a:effectLst/>
              </a:rPr>
            </a:br>
            <a:endParaRPr lang="es-CL" dirty="0"/>
          </a:p>
        </p:txBody>
      </p:sp>
      <p:sp>
        <p:nvSpPr>
          <p:cNvPr id="6" name="Rectángulo redondeado 5">
            <a:extLst>
              <a:ext uri="{FF2B5EF4-FFF2-40B4-BE49-F238E27FC236}">
                <a16:creationId xmlns:a16="http://schemas.microsoft.com/office/drawing/2014/main" id="{C5A22530-3F12-620E-4C37-4163D8371BE4}"/>
              </a:ext>
            </a:extLst>
          </p:cNvPr>
          <p:cNvSpPr/>
          <p:nvPr/>
        </p:nvSpPr>
        <p:spPr>
          <a:xfrm>
            <a:off x="1745673" y="3592946"/>
            <a:ext cx="7814498" cy="179050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8"/>
            </a:pPr>
            <a:r>
              <a:rPr lang="es-CO" sz="1200" dirty="0"/>
              <a:t>En el campo Periodo de asistencia , ingrese o seleccione en el cual el estudiante haya cursado las asignaturas en la institución de origen. Este período debe ser mayor o igual al definido en el catálogo de las asignaturas de transferencia (SHATATC).</a:t>
            </a:r>
          </a:p>
          <a:p>
            <a:pPr algn="ctr"/>
            <a:r>
              <a:rPr lang="es-CO" sz="1100" dirty="0"/>
              <a:t> El campo fecha de aceptación toma la fecha de ingreso de la información en la página.</a:t>
            </a:r>
            <a:endParaRPr lang="es-CO" sz="1200" dirty="0"/>
          </a:p>
          <a:p>
            <a:pPr marL="228600" indent="-228600">
              <a:buFont typeface="+mj-lt"/>
              <a:buAutoNum type="arabicPeriod" startAt="9"/>
            </a:pPr>
            <a:r>
              <a:rPr lang="es-CO" sz="1200" dirty="0"/>
              <a:t>En el campo ‘Periodo de Vigencia’ ingrese o seleccione el periodo académico en el cual quedarán convalidadas las asignaturas para el estudiante en UAI.</a:t>
            </a:r>
          </a:p>
          <a:p>
            <a:pPr marL="228600" indent="-228600">
              <a:buFont typeface="+mj-lt"/>
              <a:buAutoNum type="arabicPeriod" startAt="9"/>
            </a:pPr>
            <a:r>
              <a:rPr lang="es-CO" sz="1200" dirty="0"/>
              <a:t>Ingrese el nivel para el cual se convalidarán las asignaturas.</a:t>
            </a:r>
          </a:p>
          <a:p>
            <a:pPr marL="228600" indent="-228600">
              <a:buFont typeface="+mj-lt"/>
              <a:buAutoNum type="arabicPeriod" startAt="9"/>
            </a:pPr>
            <a:r>
              <a:rPr lang="es-CO" sz="1200" dirty="0"/>
              <a:t>Guarde la información.</a:t>
            </a:r>
          </a:p>
          <a:p>
            <a:pPr marL="228600" indent="-228600">
              <a:buFont typeface="+mj-lt"/>
              <a:buAutoNum type="arabicPeriod" startAt="9"/>
            </a:pPr>
            <a:r>
              <a:rPr lang="es-CO" sz="1200" dirty="0"/>
              <a:t>Pase al siguiente bloque</a:t>
            </a:r>
          </a:p>
        </p:txBody>
      </p:sp>
      <p:sp>
        <p:nvSpPr>
          <p:cNvPr id="11" name="Rectángulo 10">
            <a:extLst>
              <a:ext uri="{FF2B5EF4-FFF2-40B4-BE49-F238E27FC236}">
                <a16:creationId xmlns:a16="http://schemas.microsoft.com/office/drawing/2014/main" id="{659C032F-0507-80DD-6353-4D6C5030AC38}"/>
              </a:ext>
            </a:extLst>
          </p:cNvPr>
          <p:cNvSpPr/>
          <p:nvPr/>
        </p:nvSpPr>
        <p:spPr>
          <a:xfrm>
            <a:off x="11136209" y="5573568"/>
            <a:ext cx="538556" cy="20791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2" name="Rectángulo 21">
            <a:extLst>
              <a:ext uri="{FF2B5EF4-FFF2-40B4-BE49-F238E27FC236}">
                <a16:creationId xmlns:a16="http://schemas.microsoft.com/office/drawing/2014/main" id="{3F311C7D-F6E2-04C3-FA3A-17A56E444E7C}"/>
              </a:ext>
            </a:extLst>
          </p:cNvPr>
          <p:cNvSpPr/>
          <p:nvPr/>
        </p:nvSpPr>
        <p:spPr>
          <a:xfrm>
            <a:off x="810247" y="2304641"/>
            <a:ext cx="1406480" cy="17620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3" name="Rectángulo redondeado 15">
            <a:extLst>
              <a:ext uri="{FF2B5EF4-FFF2-40B4-BE49-F238E27FC236}">
                <a16:creationId xmlns:a16="http://schemas.microsoft.com/office/drawing/2014/main" id="{2CCD6035-68B0-2E97-F5BF-7D73614B333C}"/>
              </a:ext>
            </a:extLst>
          </p:cNvPr>
          <p:cNvSpPr/>
          <p:nvPr/>
        </p:nvSpPr>
        <p:spPr>
          <a:xfrm>
            <a:off x="629199" y="2304641"/>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8</a:t>
            </a:r>
          </a:p>
        </p:txBody>
      </p:sp>
      <p:sp>
        <p:nvSpPr>
          <p:cNvPr id="10" name="Rectángulo 9">
            <a:extLst>
              <a:ext uri="{FF2B5EF4-FFF2-40B4-BE49-F238E27FC236}">
                <a16:creationId xmlns:a16="http://schemas.microsoft.com/office/drawing/2014/main" id="{ACBAF068-D94F-3AC3-CFC9-025CDA80968D}"/>
              </a:ext>
            </a:extLst>
          </p:cNvPr>
          <p:cNvSpPr/>
          <p:nvPr/>
        </p:nvSpPr>
        <p:spPr>
          <a:xfrm>
            <a:off x="810247" y="2735997"/>
            <a:ext cx="1406480" cy="17620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3" name="Rectángulo redondeado 15">
            <a:extLst>
              <a:ext uri="{FF2B5EF4-FFF2-40B4-BE49-F238E27FC236}">
                <a16:creationId xmlns:a16="http://schemas.microsoft.com/office/drawing/2014/main" id="{503C988F-CAF5-A88D-AED5-9D505E2F0901}"/>
              </a:ext>
            </a:extLst>
          </p:cNvPr>
          <p:cNvSpPr/>
          <p:nvPr/>
        </p:nvSpPr>
        <p:spPr>
          <a:xfrm>
            <a:off x="629199" y="2735997"/>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9</a:t>
            </a:r>
            <a:endParaRPr lang="es-419" sz="1100" noProof="0" dirty="0"/>
          </a:p>
        </p:txBody>
      </p:sp>
      <p:sp>
        <p:nvSpPr>
          <p:cNvPr id="14" name="Rectángulo 13">
            <a:extLst>
              <a:ext uri="{FF2B5EF4-FFF2-40B4-BE49-F238E27FC236}">
                <a16:creationId xmlns:a16="http://schemas.microsoft.com/office/drawing/2014/main" id="{EDBCCB37-3393-384F-1964-AE88ED552BD8}"/>
              </a:ext>
            </a:extLst>
          </p:cNvPr>
          <p:cNvSpPr/>
          <p:nvPr/>
        </p:nvSpPr>
        <p:spPr>
          <a:xfrm>
            <a:off x="6419273" y="2334659"/>
            <a:ext cx="1020618" cy="16081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1480DD4C-A8CB-BF41-8C0F-7035C1426382}"/>
              </a:ext>
            </a:extLst>
          </p:cNvPr>
          <p:cNvSpPr/>
          <p:nvPr/>
        </p:nvSpPr>
        <p:spPr>
          <a:xfrm>
            <a:off x="5985806" y="2292494"/>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10</a:t>
            </a:r>
          </a:p>
        </p:txBody>
      </p:sp>
      <p:sp>
        <p:nvSpPr>
          <p:cNvPr id="16" name="Rectángulo redondeado 15">
            <a:extLst>
              <a:ext uri="{FF2B5EF4-FFF2-40B4-BE49-F238E27FC236}">
                <a16:creationId xmlns:a16="http://schemas.microsoft.com/office/drawing/2014/main" id="{E455E94B-C6D5-628A-4909-58E705F58004}"/>
              </a:ext>
            </a:extLst>
          </p:cNvPr>
          <p:cNvSpPr/>
          <p:nvPr/>
        </p:nvSpPr>
        <p:spPr>
          <a:xfrm>
            <a:off x="10739689" y="5574574"/>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11</a:t>
            </a:r>
          </a:p>
        </p:txBody>
      </p:sp>
      <p:sp>
        <p:nvSpPr>
          <p:cNvPr id="7" name="Rectángulo 6">
            <a:extLst>
              <a:ext uri="{FF2B5EF4-FFF2-40B4-BE49-F238E27FC236}">
                <a16:creationId xmlns:a16="http://schemas.microsoft.com/office/drawing/2014/main" id="{39E8CF54-54E0-22E4-4A23-18C8A719FB30}"/>
              </a:ext>
            </a:extLst>
          </p:cNvPr>
          <p:cNvSpPr/>
          <p:nvPr/>
        </p:nvSpPr>
        <p:spPr>
          <a:xfrm>
            <a:off x="1025719" y="5533921"/>
            <a:ext cx="322790" cy="20791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redondeado 15">
            <a:extLst>
              <a:ext uri="{FF2B5EF4-FFF2-40B4-BE49-F238E27FC236}">
                <a16:creationId xmlns:a16="http://schemas.microsoft.com/office/drawing/2014/main" id="{9E1C6444-F00F-DC6A-D5E4-D62931B91EAB}"/>
              </a:ext>
            </a:extLst>
          </p:cNvPr>
          <p:cNvSpPr/>
          <p:nvPr/>
        </p:nvSpPr>
        <p:spPr>
          <a:xfrm>
            <a:off x="1409351" y="5611040"/>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12</a:t>
            </a:r>
          </a:p>
        </p:txBody>
      </p:sp>
    </p:spTree>
    <p:extLst>
      <p:ext uri="{BB962C8B-B14F-4D97-AF65-F5344CB8AC3E}">
        <p14:creationId xmlns:p14="http://schemas.microsoft.com/office/powerpoint/2010/main" val="21418283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C50A9-691B-6569-D434-8558C904111B}"/>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AE0AC946-C5E6-83E0-5159-2DAB614E62B5}"/>
              </a:ext>
            </a:extLst>
          </p:cNvPr>
          <p:cNvPicPr>
            <a:picLocks noChangeAspect="1"/>
          </p:cNvPicPr>
          <p:nvPr/>
        </p:nvPicPr>
        <p:blipFill>
          <a:blip r:embed="rId2"/>
          <a:stretch>
            <a:fillRect/>
          </a:stretch>
        </p:blipFill>
        <p:spPr>
          <a:xfrm>
            <a:off x="766617" y="907157"/>
            <a:ext cx="10857827" cy="4933316"/>
          </a:xfrm>
          <a:prstGeom prst="rect">
            <a:avLst/>
          </a:prstGeom>
        </p:spPr>
      </p:pic>
      <p:sp>
        <p:nvSpPr>
          <p:cNvPr id="3" name="Marcador de texto vertical 2">
            <a:extLst>
              <a:ext uri="{FF2B5EF4-FFF2-40B4-BE49-F238E27FC236}">
                <a16:creationId xmlns:a16="http://schemas.microsoft.com/office/drawing/2014/main" id="{A6BD1E91-C5BE-2CAF-ED96-5545B1F2D59B}"/>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63B419B0-034F-61CA-F1F5-64C2A4B9EDC4}"/>
              </a:ext>
            </a:extLst>
          </p:cNvPr>
          <p:cNvSpPr>
            <a:spLocks noGrp="1"/>
          </p:cNvSpPr>
          <p:nvPr>
            <p:ph type="title"/>
          </p:nvPr>
        </p:nvSpPr>
        <p:spPr>
          <a:xfrm>
            <a:off x="810247" y="327992"/>
            <a:ext cx="10271883" cy="626165"/>
          </a:xfrm>
        </p:spPr>
        <p:txBody>
          <a:bodyPr/>
          <a:lstStyle/>
          <a:p>
            <a:r>
              <a:rPr lang="es-419" dirty="0">
                <a:solidFill>
                  <a:schemeClr val="tx2"/>
                </a:solidFill>
              </a:rPr>
              <a:t>Curso de transferencia (</a:t>
            </a:r>
            <a:r>
              <a:rPr lang="es-ES_tradnl" dirty="0">
                <a:solidFill>
                  <a:schemeClr val="tx2"/>
                </a:solidFill>
              </a:rPr>
              <a:t>SHATRNS)</a:t>
            </a:r>
            <a:br>
              <a:rPr lang="es-CL" b="1" dirty="0">
                <a:effectLst/>
              </a:rPr>
            </a:br>
            <a:endParaRPr lang="es-CL" dirty="0"/>
          </a:p>
        </p:txBody>
      </p:sp>
      <p:sp>
        <p:nvSpPr>
          <p:cNvPr id="6" name="Rectángulo redondeado 5">
            <a:extLst>
              <a:ext uri="{FF2B5EF4-FFF2-40B4-BE49-F238E27FC236}">
                <a16:creationId xmlns:a16="http://schemas.microsoft.com/office/drawing/2014/main" id="{0BF9C049-FAAC-4D4A-39DC-3F7DEF46D2D7}"/>
              </a:ext>
            </a:extLst>
          </p:cNvPr>
          <p:cNvSpPr/>
          <p:nvPr/>
        </p:nvSpPr>
        <p:spPr>
          <a:xfrm>
            <a:off x="1745673" y="3831334"/>
            <a:ext cx="7814498" cy="155211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13"/>
            </a:pPr>
            <a:r>
              <a:rPr lang="es-CO" sz="1200" dirty="0"/>
              <a:t>Ingrese la identificación que le dará a la asignatura de la institución de procedencia en los campos Materia y Números de curso.</a:t>
            </a:r>
          </a:p>
          <a:p>
            <a:pPr marL="228600" indent="-228600">
              <a:buFont typeface="+mj-lt"/>
              <a:buAutoNum type="arabicPeriod" startAt="13"/>
            </a:pPr>
            <a:r>
              <a:rPr lang="es-CO" sz="1200" dirty="0"/>
              <a:t>Ingrese el título de la materia.</a:t>
            </a:r>
          </a:p>
          <a:p>
            <a:pPr marL="228600" indent="-228600">
              <a:buFont typeface="+mj-lt"/>
              <a:buAutoNum type="arabicPeriod" startAt="13"/>
            </a:pPr>
            <a:r>
              <a:rPr lang="es-CO" sz="1200" dirty="0"/>
              <a:t>Ingrese los créditos que tiene el curso en la institución de procedencia en el campo Horas.</a:t>
            </a:r>
          </a:p>
          <a:p>
            <a:pPr marL="228600" indent="-228600">
              <a:buFont typeface="+mj-lt"/>
              <a:buAutoNum type="arabicPeriod" startAt="13"/>
            </a:pPr>
            <a:r>
              <a:rPr lang="es-CO" sz="1200" dirty="0"/>
              <a:t>Especifique la calificación que obtuvo el estudiante en la asignatura de la institución de procedencia</a:t>
            </a:r>
          </a:p>
          <a:p>
            <a:pPr marL="228600" indent="-228600">
              <a:buFont typeface="+mj-lt"/>
              <a:buAutoNum type="arabicPeriod" startAt="13"/>
            </a:pPr>
            <a:r>
              <a:rPr lang="es-CO" sz="1200" dirty="0"/>
              <a:t>Guarde la información</a:t>
            </a:r>
          </a:p>
        </p:txBody>
      </p:sp>
      <p:sp>
        <p:nvSpPr>
          <p:cNvPr id="11" name="Rectángulo 10">
            <a:extLst>
              <a:ext uri="{FF2B5EF4-FFF2-40B4-BE49-F238E27FC236}">
                <a16:creationId xmlns:a16="http://schemas.microsoft.com/office/drawing/2014/main" id="{012C10C7-017A-9E9E-8369-4AE43FEE1E89}"/>
              </a:ext>
            </a:extLst>
          </p:cNvPr>
          <p:cNvSpPr/>
          <p:nvPr/>
        </p:nvSpPr>
        <p:spPr>
          <a:xfrm>
            <a:off x="11136209" y="5573568"/>
            <a:ext cx="538556" cy="20791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2" name="Rectángulo 21">
            <a:extLst>
              <a:ext uri="{FF2B5EF4-FFF2-40B4-BE49-F238E27FC236}">
                <a16:creationId xmlns:a16="http://schemas.microsoft.com/office/drawing/2014/main" id="{374F82B0-1A3E-8626-4953-B1578AB237AB}"/>
              </a:ext>
            </a:extLst>
          </p:cNvPr>
          <p:cNvSpPr/>
          <p:nvPr/>
        </p:nvSpPr>
        <p:spPr>
          <a:xfrm>
            <a:off x="810246" y="1855766"/>
            <a:ext cx="2431717" cy="27783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9">
            <a:extLst>
              <a:ext uri="{FF2B5EF4-FFF2-40B4-BE49-F238E27FC236}">
                <a16:creationId xmlns:a16="http://schemas.microsoft.com/office/drawing/2014/main" id="{72FD01B6-6B6F-BFCD-EFF9-C0B339E2768B}"/>
              </a:ext>
            </a:extLst>
          </p:cNvPr>
          <p:cNvSpPr/>
          <p:nvPr/>
        </p:nvSpPr>
        <p:spPr>
          <a:xfrm>
            <a:off x="1013447" y="2133600"/>
            <a:ext cx="1221753" cy="15013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13">
            <a:extLst>
              <a:ext uri="{FF2B5EF4-FFF2-40B4-BE49-F238E27FC236}">
                <a16:creationId xmlns:a16="http://schemas.microsoft.com/office/drawing/2014/main" id="{5CB46586-CAF8-D457-EC1B-2F9353289AFF}"/>
              </a:ext>
            </a:extLst>
          </p:cNvPr>
          <p:cNvSpPr/>
          <p:nvPr/>
        </p:nvSpPr>
        <p:spPr>
          <a:xfrm>
            <a:off x="6631710" y="1855766"/>
            <a:ext cx="1653308" cy="13079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39D50AAB-7144-45C0-C01C-7421767C7057}"/>
              </a:ext>
            </a:extLst>
          </p:cNvPr>
          <p:cNvSpPr/>
          <p:nvPr/>
        </p:nvSpPr>
        <p:spPr>
          <a:xfrm>
            <a:off x="6198243" y="1813601"/>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14</a:t>
            </a:r>
          </a:p>
        </p:txBody>
      </p:sp>
      <p:sp>
        <p:nvSpPr>
          <p:cNvPr id="16" name="Rectángulo redondeado 15">
            <a:extLst>
              <a:ext uri="{FF2B5EF4-FFF2-40B4-BE49-F238E27FC236}">
                <a16:creationId xmlns:a16="http://schemas.microsoft.com/office/drawing/2014/main" id="{3AC72484-798B-3FD7-B9A4-6527132A86AA}"/>
              </a:ext>
            </a:extLst>
          </p:cNvPr>
          <p:cNvSpPr/>
          <p:nvPr/>
        </p:nvSpPr>
        <p:spPr>
          <a:xfrm>
            <a:off x="10739689" y="5574574"/>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17</a:t>
            </a:r>
          </a:p>
        </p:txBody>
      </p:sp>
      <p:sp>
        <p:nvSpPr>
          <p:cNvPr id="8" name="Rectángulo redondeado 15">
            <a:extLst>
              <a:ext uri="{FF2B5EF4-FFF2-40B4-BE49-F238E27FC236}">
                <a16:creationId xmlns:a16="http://schemas.microsoft.com/office/drawing/2014/main" id="{91CC34FC-5DAC-4902-ADDB-28984BDFBD9A}"/>
              </a:ext>
            </a:extLst>
          </p:cNvPr>
          <p:cNvSpPr/>
          <p:nvPr/>
        </p:nvSpPr>
        <p:spPr>
          <a:xfrm>
            <a:off x="539848" y="2152939"/>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r>
              <a:rPr lang="es-419" sz="1100" dirty="0"/>
              <a:t>5</a:t>
            </a:r>
            <a:endParaRPr lang="es-419" sz="1100" noProof="0" dirty="0"/>
          </a:p>
        </p:txBody>
      </p:sp>
      <p:sp>
        <p:nvSpPr>
          <p:cNvPr id="9" name="Rectángulo redondeado 15">
            <a:extLst>
              <a:ext uri="{FF2B5EF4-FFF2-40B4-BE49-F238E27FC236}">
                <a16:creationId xmlns:a16="http://schemas.microsoft.com/office/drawing/2014/main" id="{2ACC882D-A350-A417-4126-504883EFACA1}"/>
              </a:ext>
            </a:extLst>
          </p:cNvPr>
          <p:cNvSpPr/>
          <p:nvPr/>
        </p:nvSpPr>
        <p:spPr>
          <a:xfrm>
            <a:off x="3278910" y="1757882"/>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r>
              <a:rPr lang="es-419" sz="1100" dirty="0"/>
              <a:t>3</a:t>
            </a:r>
            <a:endParaRPr lang="es-419" sz="1100" noProof="0" dirty="0"/>
          </a:p>
        </p:txBody>
      </p:sp>
      <p:sp>
        <p:nvSpPr>
          <p:cNvPr id="12" name="Rectángulo 11">
            <a:extLst>
              <a:ext uri="{FF2B5EF4-FFF2-40B4-BE49-F238E27FC236}">
                <a16:creationId xmlns:a16="http://schemas.microsoft.com/office/drawing/2014/main" id="{02C24DFC-8424-6F9A-A8B2-D08DF0325AB2}"/>
              </a:ext>
            </a:extLst>
          </p:cNvPr>
          <p:cNvSpPr/>
          <p:nvPr/>
        </p:nvSpPr>
        <p:spPr>
          <a:xfrm>
            <a:off x="1088769" y="2286000"/>
            <a:ext cx="1146432" cy="15013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7" name="Rectángulo redondeado 15">
            <a:extLst>
              <a:ext uri="{FF2B5EF4-FFF2-40B4-BE49-F238E27FC236}">
                <a16:creationId xmlns:a16="http://schemas.microsoft.com/office/drawing/2014/main" id="{31FF3FE0-7DD6-6778-2125-454EFF17964D}"/>
              </a:ext>
            </a:extLst>
          </p:cNvPr>
          <p:cNvSpPr/>
          <p:nvPr/>
        </p:nvSpPr>
        <p:spPr>
          <a:xfrm>
            <a:off x="2269592" y="2327347"/>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16</a:t>
            </a:r>
          </a:p>
        </p:txBody>
      </p:sp>
    </p:spTree>
    <p:extLst>
      <p:ext uri="{BB962C8B-B14F-4D97-AF65-F5344CB8AC3E}">
        <p14:creationId xmlns:p14="http://schemas.microsoft.com/office/powerpoint/2010/main" val="19080795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3F6F3-972D-71B6-FAF3-6ED05CD98C23}"/>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99E72336-6392-3FA7-873E-30A35C444B75}"/>
              </a:ext>
            </a:extLst>
          </p:cNvPr>
          <p:cNvPicPr>
            <a:picLocks noGrp="1" noRot="1" noChangeAspect="1" noMove="1" noResize="1" noEditPoints="1" noAdjustHandles="1" noChangeArrowheads="1" noChangeShapeType="1" noCrop="1"/>
          </p:cNvPicPr>
          <p:nvPr/>
        </p:nvPicPr>
        <p:blipFill>
          <a:blip r:embed="rId2"/>
          <a:stretch>
            <a:fillRect/>
          </a:stretch>
        </p:blipFill>
        <p:spPr>
          <a:xfrm>
            <a:off x="738108" y="907157"/>
            <a:ext cx="10914044" cy="4948003"/>
          </a:xfrm>
          <a:prstGeom prst="rect">
            <a:avLst/>
          </a:prstGeom>
        </p:spPr>
      </p:pic>
      <p:sp>
        <p:nvSpPr>
          <p:cNvPr id="3" name="Marcador de texto vertical 2">
            <a:extLst>
              <a:ext uri="{FF2B5EF4-FFF2-40B4-BE49-F238E27FC236}">
                <a16:creationId xmlns:a16="http://schemas.microsoft.com/office/drawing/2014/main" id="{ECE5DB51-0ED0-A8E4-BC3C-4A7B283C6A6A}"/>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F243D38A-858B-E40A-DFBD-1A8D5CF1AA87}"/>
              </a:ext>
            </a:extLst>
          </p:cNvPr>
          <p:cNvSpPr>
            <a:spLocks noGrp="1"/>
          </p:cNvSpPr>
          <p:nvPr>
            <p:ph type="title"/>
          </p:nvPr>
        </p:nvSpPr>
        <p:spPr>
          <a:xfrm>
            <a:off x="810247" y="327992"/>
            <a:ext cx="10271883" cy="626165"/>
          </a:xfrm>
        </p:spPr>
        <p:txBody>
          <a:bodyPr/>
          <a:lstStyle/>
          <a:p>
            <a:r>
              <a:rPr lang="es-419" dirty="0">
                <a:solidFill>
                  <a:schemeClr val="tx2"/>
                </a:solidFill>
              </a:rPr>
              <a:t>Curso de transferencia (</a:t>
            </a:r>
            <a:r>
              <a:rPr lang="es-ES_tradnl" dirty="0">
                <a:solidFill>
                  <a:schemeClr val="tx2"/>
                </a:solidFill>
              </a:rPr>
              <a:t>SHATRNS)</a:t>
            </a:r>
            <a:br>
              <a:rPr lang="es-CL" b="1" dirty="0">
                <a:effectLst/>
              </a:rPr>
            </a:br>
            <a:endParaRPr lang="es-CL" dirty="0"/>
          </a:p>
        </p:txBody>
      </p:sp>
      <p:sp>
        <p:nvSpPr>
          <p:cNvPr id="6" name="Rectángulo redondeado 5">
            <a:extLst>
              <a:ext uri="{FF2B5EF4-FFF2-40B4-BE49-F238E27FC236}">
                <a16:creationId xmlns:a16="http://schemas.microsoft.com/office/drawing/2014/main" id="{B24A2183-A946-30ED-9BF7-B03304D8A90F}"/>
              </a:ext>
            </a:extLst>
          </p:cNvPr>
          <p:cNvSpPr/>
          <p:nvPr/>
        </p:nvSpPr>
        <p:spPr>
          <a:xfrm>
            <a:off x="1745673" y="3831334"/>
            <a:ext cx="7814498" cy="174223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18"/>
            </a:pPr>
            <a:r>
              <a:rPr lang="es-CO" sz="1200" dirty="0"/>
              <a:t>Active la casilla Contar en PGA para que la asignatura dada por transferencia sea incluida en la evaluación del cumplimiento de Plan de estudios (CAPP).</a:t>
            </a:r>
          </a:p>
          <a:p>
            <a:pPr marL="228600" indent="-228600">
              <a:buFont typeface="+mj-lt"/>
              <a:buAutoNum type="arabicPeriod" startAt="18"/>
            </a:pPr>
            <a:r>
              <a:rPr lang="es-CO" sz="1200" dirty="0"/>
              <a:t>Defina la asignatura de la UAI que se convalidará ingresando la materia y curso que corresponda en cada registro. Los valores de Horas y Título se llenarán automáticamente.</a:t>
            </a:r>
          </a:p>
          <a:p>
            <a:pPr marL="228600" indent="-228600">
              <a:buFont typeface="+mj-lt"/>
              <a:buAutoNum type="arabicPeriod" startAt="18"/>
            </a:pPr>
            <a:r>
              <a:rPr lang="es-CO" sz="1200" dirty="0"/>
              <a:t>Ingrese la calificación con la que se convalidará la asignatura en la UAI.</a:t>
            </a:r>
          </a:p>
          <a:p>
            <a:pPr marL="228600" indent="-228600">
              <a:buFont typeface="+mj-lt"/>
              <a:buAutoNum type="arabicPeriod" startAt="18"/>
            </a:pPr>
            <a:r>
              <a:rPr lang="es-CO" sz="1200" dirty="0"/>
              <a:t>Ingrese el modo de calificar de la asignatura.</a:t>
            </a:r>
          </a:p>
          <a:p>
            <a:pPr marL="228600" indent="-228600">
              <a:buFont typeface="+mj-lt"/>
              <a:buAutoNum type="arabicPeriod" startAt="18"/>
            </a:pPr>
            <a:r>
              <a:rPr lang="es-CO" sz="1200" dirty="0"/>
              <a:t>Ingrese o seleccione el Plan de estudios para el cual aplica la convalidación.</a:t>
            </a:r>
          </a:p>
          <a:p>
            <a:pPr marL="228600" indent="-228600">
              <a:buFont typeface="+mj-lt"/>
              <a:buAutoNum type="arabicPeriod" startAt="18"/>
            </a:pPr>
            <a:r>
              <a:rPr lang="es-CO" sz="1200" dirty="0"/>
              <a:t>Guarde la información</a:t>
            </a:r>
          </a:p>
        </p:txBody>
      </p:sp>
      <p:sp>
        <p:nvSpPr>
          <p:cNvPr id="11" name="Rectángulo 10">
            <a:extLst>
              <a:ext uri="{FF2B5EF4-FFF2-40B4-BE49-F238E27FC236}">
                <a16:creationId xmlns:a16="http://schemas.microsoft.com/office/drawing/2014/main" id="{D803D194-A059-724D-79D9-455FC37CBF37}"/>
              </a:ext>
            </a:extLst>
          </p:cNvPr>
          <p:cNvSpPr/>
          <p:nvPr/>
        </p:nvSpPr>
        <p:spPr>
          <a:xfrm>
            <a:off x="11136209" y="5573568"/>
            <a:ext cx="538556" cy="20791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2" name="Rectángulo 21">
            <a:extLst>
              <a:ext uri="{FF2B5EF4-FFF2-40B4-BE49-F238E27FC236}">
                <a16:creationId xmlns:a16="http://schemas.microsoft.com/office/drawing/2014/main" id="{BAF9D9EE-F543-EFD9-DD59-179A17A54733}"/>
              </a:ext>
            </a:extLst>
          </p:cNvPr>
          <p:cNvSpPr/>
          <p:nvPr/>
        </p:nvSpPr>
        <p:spPr>
          <a:xfrm>
            <a:off x="2555919" y="2798927"/>
            <a:ext cx="722992" cy="25860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13">
            <a:extLst>
              <a:ext uri="{FF2B5EF4-FFF2-40B4-BE49-F238E27FC236}">
                <a16:creationId xmlns:a16="http://schemas.microsoft.com/office/drawing/2014/main" id="{3A89CADD-5ADE-A818-0C0F-AFE81EF7F812}"/>
              </a:ext>
            </a:extLst>
          </p:cNvPr>
          <p:cNvSpPr/>
          <p:nvPr/>
        </p:nvSpPr>
        <p:spPr>
          <a:xfrm>
            <a:off x="6001889" y="2803885"/>
            <a:ext cx="499403" cy="25860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9157FC99-52A3-EA96-6E59-53B7AEF67E6D}"/>
              </a:ext>
            </a:extLst>
          </p:cNvPr>
          <p:cNvSpPr/>
          <p:nvPr/>
        </p:nvSpPr>
        <p:spPr>
          <a:xfrm>
            <a:off x="5946188" y="3092915"/>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20</a:t>
            </a:r>
            <a:endParaRPr lang="es-419" sz="1100" noProof="0" dirty="0"/>
          </a:p>
        </p:txBody>
      </p:sp>
      <p:sp>
        <p:nvSpPr>
          <p:cNvPr id="16" name="Rectángulo redondeado 15">
            <a:extLst>
              <a:ext uri="{FF2B5EF4-FFF2-40B4-BE49-F238E27FC236}">
                <a16:creationId xmlns:a16="http://schemas.microsoft.com/office/drawing/2014/main" id="{BCEBC7A6-AA9A-880C-184D-4886D04F20B7}"/>
              </a:ext>
            </a:extLst>
          </p:cNvPr>
          <p:cNvSpPr/>
          <p:nvPr/>
        </p:nvSpPr>
        <p:spPr>
          <a:xfrm>
            <a:off x="10739689" y="5574574"/>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23</a:t>
            </a:r>
            <a:endParaRPr lang="es-419" sz="1100" noProof="0" dirty="0"/>
          </a:p>
        </p:txBody>
      </p:sp>
      <p:sp>
        <p:nvSpPr>
          <p:cNvPr id="9" name="Rectángulo redondeado 15">
            <a:extLst>
              <a:ext uri="{FF2B5EF4-FFF2-40B4-BE49-F238E27FC236}">
                <a16:creationId xmlns:a16="http://schemas.microsoft.com/office/drawing/2014/main" id="{534F34EC-20E0-D503-A91A-D7212250A0B5}"/>
              </a:ext>
            </a:extLst>
          </p:cNvPr>
          <p:cNvSpPr/>
          <p:nvPr/>
        </p:nvSpPr>
        <p:spPr>
          <a:xfrm>
            <a:off x="2357659" y="3109703"/>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18</a:t>
            </a:r>
          </a:p>
        </p:txBody>
      </p:sp>
      <p:sp>
        <p:nvSpPr>
          <p:cNvPr id="13" name="Rectángulo 12">
            <a:extLst>
              <a:ext uri="{FF2B5EF4-FFF2-40B4-BE49-F238E27FC236}">
                <a16:creationId xmlns:a16="http://schemas.microsoft.com/office/drawing/2014/main" id="{E70E4074-4B68-90D6-9EE4-4BF1D84A06EC}"/>
              </a:ext>
            </a:extLst>
          </p:cNvPr>
          <p:cNvSpPr/>
          <p:nvPr/>
        </p:nvSpPr>
        <p:spPr>
          <a:xfrm>
            <a:off x="3278910" y="2794649"/>
            <a:ext cx="932871" cy="25860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redondeado 15">
            <a:extLst>
              <a:ext uri="{FF2B5EF4-FFF2-40B4-BE49-F238E27FC236}">
                <a16:creationId xmlns:a16="http://schemas.microsoft.com/office/drawing/2014/main" id="{EE8E721A-B360-CDD0-A5C8-4269E10CCA89}"/>
              </a:ext>
            </a:extLst>
          </p:cNvPr>
          <p:cNvSpPr/>
          <p:nvPr/>
        </p:nvSpPr>
        <p:spPr>
          <a:xfrm>
            <a:off x="3644069" y="3109703"/>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r>
              <a:rPr lang="es-419" sz="1100" dirty="0"/>
              <a:t>9</a:t>
            </a:r>
            <a:endParaRPr lang="es-419" sz="1100" noProof="0" dirty="0"/>
          </a:p>
        </p:txBody>
      </p:sp>
      <p:sp>
        <p:nvSpPr>
          <p:cNvPr id="19" name="Rectángulo 18">
            <a:extLst>
              <a:ext uri="{FF2B5EF4-FFF2-40B4-BE49-F238E27FC236}">
                <a16:creationId xmlns:a16="http://schemas.microsoft.com/office/drawing/2014/main" id="{206A4DA5-A773-88A4-42F6-D725D6DD60F1}"/>
              </a:ext>
            </a:extLst>
          </p:cNvPr>
          <p:cNvSpPr/>
          <p:nvPr/>
        </p:nvSpPr>
        <p:spPr>
          <a:xfrm>
            <a:off x="6516505" y="2811436"/>
            <a:ext cx="722992" cy="25860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0" name="Rectángulo redondeado 15">
            <a:extLst>
              <a:ext uri="{FF2B5EF4-FFF2-40B4-BE49-F238E27FC236}">
                <a16:creationId xmlns:a16="http://schemas.microsoft.com/office/drawing/2014/main" id="{D2064EEF-C024-7D8E-2DFB-8B26FDAB3FB6}"/>
              </a:ext>
            </a:extLst>
          </p:cNvPr>
          <p:cNvSpPr/>
          <p:nvPr/>
        </p:nvSpPr>
        <p:spPr>
          <a:xfrm>
            <a:off x="6479276" y="3100466"/>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21</a:t>
            </a:r>
            <a:endParaRPr lang="es-419" sz="1100" noProof="0" dirty="0"/>
          </a:p>
        </p:txBody>
      </p:sp>
      <p:sp>
        <p:nvSpPr>
          <p:cNvPr id="21" name="Rectángulo 20">
            <a:extLst>
              <a:ext uri="{FF2B5EF4-FFF2-40B4-BE49-F238E27FC236}">
                <a16:creationId xmlns:a16="http://schemas.microsoft.com/office/drawing/2014/main" id="{1D93473E-641E-0512-265A-C89C456739C3}"/>
              </a:ext>
            </a:extLst>
          </p:cNvPr>
          <p:cNvSpPr/>
          <p:nvPr/>
        </p:nvSpPr>
        <p:spPr>
          <a:xfrm>
            <a:off x="10979169" y="2803885"/>
            <a:ext cx="672983" cy="25860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3" name="Rectángulo redondeado 15">
            <a:extLst>
              <a:ext uri="{FF2B5EF4-FFF2-40B4-BE49-F238E27FC236}">
                <a16:creationId xmlns:a16="http://schemas.microsoft.com/office/drawing/2014/main" id="{21A53011-BFC8-72AD-173E-6720D152F897}"/>
              </a:ext>
            </a:extLst>
          </p:cNvPr>
          <p:cNvSpPr/>
          <p:nvPr/>
        </p:nvSpPr>
        <p:spPr>
          <a:xfrm>
            <a:off x="10780909" y="3114661"/>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22</a:t>
            </a:r>
            <a:endParaRPr lang="es-419" sz="1100" noProof="0" dirty="0"/>
          </a:p>
        </p:txBody>
      </p:sp>
    </p:spTree>
    <p:extLst>
      <p:ext uri="{BB962C8B-B14F-4D97-AF65-F5344CB8AC3E}">
        <p14:creationId xmlns:p14="http://schemas.microsoft.com/office/powerpoint/2010/main" val="39153803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8ABF4-22A6-656E-1735-CCBD29581023}"/>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BF07839E-2720-F759-B0E6-E8109986C5B8}"/>
              </a:ext>
            </a:extLst>
          </p:cNvPr>
          <p:cNvPicPr>
            <a:picLocks noChangeAspect="1"/>
          </p:cNvPicPr>
          <p:nvPr/>
        </p:nvPicPr>
        <p:blipFill>
          <a:blip r:embed="rId2"/>
          <a:stretch>
            <a:fillRect/>
          </a:stretch>
        </p:blipFill>
        <p:spPr>
          <a:xfrm>
            <a:off x="738108" y="907157"/>
            <a:ext cx="10889012" cy="4948003"/>
          </a:xfrm>
          <a:prstGeom prst="rect">
            <a:avLst/>
          </a:prstGeom>
        </p:spPr>
      </p:pic>
      <p:sp>
        <p:nvSpPr>
          <p:cNvPr id="3" name="Marcador de texto vertical 2">
            <a:extLst>
              <a:ext uri="{FF2B5EF4-FFF2-40B4-BE49-F238E27FC236}">
                <a16:creationId xmlns:a16="http://schemas.microsoft.com/office/drawing/2014/main" id="{71839BEB-9EAA-10F0-FF2C-F4AF6A962DE3}"/>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BFE3A6BD-861D-0627-818A-886DA04A4BA8}"/>
              </a:ext>
            </a:extLst>
          </p:cNvPr>
          <p:cNvSpPr>
            <a:spLocks noGrp="1"/>
          </p:cNvSpPr>
          <p:nvPr>
            <p:ph type="title"/>
          </p:nvPr>
        </p:nvSpPr>
        <p:spPr>
          <a:xfrm>
            <a:off x="810247" y="327992"/>
            <a:ext cx="10271883" cy="626165"/>
          </a:xfrm>
        </p:spPr>
        <p:txBody>
          <a:bodyPr/>
          <a:lstStyle/>
          <a:p>
            <a:r>
              <a:rPr lang="es-419" dirty="0">
                <a:solidFill>
                  <a:schemeClr val="tx2"/>
                </a:solidFill>
              </a:rPr>
              <a:t>Curso de transferencia (</a:t>
            </a:r>
            <a:r>
              <a:rPr lang="es-ES_tradnl" dirty="0">
                <a:solidFill>
                  <a:schemeClr val="tx2"/>
                </a:solidFill>
              </a:rPr>
              <a:t>SHATRNS)</a:t>
            </a:r>
            <a:br>
              <a:rPr lang="es-CL" b="1" dirty="0">
                <a:effectLst/>
              </a:rPr>
            </a:br>
            <a:endParaRPr lang="es-CL" dirty="0"/>
          </a:p>
        </p:txBody>
      </p:sp>
      <p:sp>
        <p:nvSpPr>
          <p:cNvPr id="6" name="Rectángulo redondeado 5">
            <a:extLst>
              <a:ext uri="{FF2B5EF4-FFF2-40B4-BE49-F238E27FC236}">
                <a16:creationId xmlns:a16="http://schemas.microsoft.com/office/drawing/2014/main" id="{5F0DA7EF-B6D7-02F3-7B2D-7CF0B5D442C9}"/>
              </a:ext>
            </a:extLst>
          </p:cNvPr>
          <p:cNvSpPr/>
          <p:nvPr/>
        </p:nvSpPr>
        <p:spPr>
          <a:xfrm>
            <a:off x="1745673" y="4294908"/>
            <a:ext cx="7814498" cy="127865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24"/>
            </a:pPr>
            <a:r>
              <a:rPr lang="es-CO" sz="1200" dirty="0"/>
              <a:t>Pase al siguiente bloque</a:t>
            </a:r>
          </a:p>
          <a:p>
            <a:pPr marL="228600" indent="-228600">
              <a:buFont typeface="+mj-lt"/>
              <a:buAutoNum type="arabicPeriod" startAt="24"/>
            </a:pPr>
            <a:r>
              <a:rPr lang="es-419" sz="1200" dirty="0"/>
              <a:t>Si la asignatura UAI tuviera atributos, estos serían cargados al concepto de convalidación en la sección ‘Atributos de Curso’ pudiendo ser modificados utilizando las comandas ‘</a:t>
            </a:r>
            <a:r>
              <a:rPr lang="es-419" sz="1200" b="1" dirty="0"/>
              <a:t>+</a:t>
            </a:r>
            <a:r>
              <a:rPr lang="es-419" sz="1200" dirty="0"/>
              <a:t>’ o ‘</a:t>
            </a:r>
            <a:r>
              <a:rPr lang="es-419" sz="1200" b="1" dirty="0"/>
              <a:t>-</a:t>
            </a:r>
            <a:r>
              <a:rPr lang="es-419" sz="1200" dirty="0"/>
              <a:t>’, para definir más o menos atributos al curso convalidado.</a:t>
            </a:r>
            <a:endParaRPr lang="es-CO" sz="1200" dirty="0"/>
          </a:p>
        </p:txBody>
      </p:sp>
      <p:sp>
        <p:nvSpPr>
          <p:cNvPr id="11" name="Rectángulo 10">
            <a:extLst>
              <a:ext uri="{FF2B5EF4-FFF2-40B4-BE49-F238E27FC236}">
                <a16:creationId xmlns:a16="http://schemas.microsoft.com/office/drawing/2014/main" id="{78C2B22B-7706-B395-861B-1FFFB21B4476}"/>
              </a:ext>
            </a:extLst>
          </p:cNvPr>
          <p:cNvSpPr/>
          <p:nvPr/>
        </p:nvSpPr>
        <p:spPr>
          <a:xfrm>
            <a:off x="11136209" y="5573568"/>
            <a:ext cx="538556" cy="20791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2" name="Rectángulo 21">
            <a:extLst>
              <a:ext uri="{FF2B5EF4-FFF2-40B4-BE49-F238E27FC236}">
                <a16:creationId xmlns:a16="http://schemas.microsoft.com/office/drawing/2014/main" id="{011E43B6-3B91-A488-E588-717F89BF5172}"/>
              </a:ext>
            </a:extLst>
          </p:cNvPr>
          <p:cNvSpPr/>
          <p:nvPr/>
        </p:nvSpPr>
        <p:spPr>
          <a:xfrm>
            <a:off x="738107" y="3183872"/>
            <a:ext cx="10889011" cy="62616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6" name="Rectángulo redondeado 15">
            <a:extLst>
              <a:ext uri="{FF2B5EF4-FFF2-40B4-BE49-F238E27FC236}">
                <a16:creationId xmlns:a16="http://schemas.microsoft.com/office/drawing/2014/main" id="{07FD4596-4BED-8CB1-D6E1-E8E38805D6A9}"/>
              </a:ext>
            </a:extLst>
          </p:cNvPr>
          <p:cNvSpPr/>
          <p:nvPr/>
        </p:nvSpPr>
        <p:spPr>
          <a:xfrm>
            <a:off x="10739689" y="5574574"/>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23</a:t>
            </a:r>
            <a:endParaRPr lang="es-419" sz="1100" noProof="0" dirty="0"/>
          </a:p>
        </p:txBody>
      </p:sp>
      <p:sp>
        <p:nvSpPr>
          <p:cNvPr id="9" name="Rectángulo redondeado 15">
            <a:extLst>
              <a:ext uri="{FF2B5EF4-FFF2-40B4-BE49-F238E27FC236}">
                <a16:creationId xmlns:a16="http://schemas.microsoft.com/office/drawing/2014/main" id="{5A83FE05-91C0-1DF3-FB28-12FAA35D44CF}"/>
              </a:ext>
            </a:extLst>
          </p:cNvPr>
          <p:cNvSpPr/>
          <p:nvPr/>
        </p:nvSpPr>
        <p:spPr>
          <a:xfrm>
            <a:off x="738105" y="2986648"/>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25</a:t>
            </a:r>
          </a:p>
        </p:txBody>
      </p:sp>
      <p:sp>
        <p:nvSpPr>
          <p:cNvPr id="8" name="Rectángulo 7">
            <a:extLst>
              <a:ext uri="{FF2B5EF4-FFF2-40B4-BE49-F238E27FC236}">
                <a16:creationId xmlns:a16="http://schemas.microsoft.com/office/drawing/2014/main" id="{C883C673-3275-1A6B-613B-4907D7C6F3DE}"/>
              </a:ext>
            </a:extLst>
          </p:cNvPr>
          <p:cNvSpPr/>
          <p:nvPr/>
        </p:nvSpPr>
        <p:spPr>
          <a:xfrm>
            <a:off x="1025719" y="5533921"/>
            <a:ext cx="322790" cy="20791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608C2DC8-24AF-880F-7130-F7039C04EDCA}"/>
              </a:ext>
            </a:extLst>
          </p:cNvPr>
          <p:cNvSpPr/>
          <p:nvPr/>
        </p:nvSpPr>
        <p:spPr>
          <a:xfrm>
            <a:off x="1409351" y="5611040"/>
            <a:ext cx="396520" cy="130797"/>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24</a:t>
            </a:r>
            <a:endParaRPr lang="es-419" sz="1100" noProof="0" dirty="0"/>
          </a:p>
        </p:txBody>
      </p:sp>
      <p:sp>
        <p:nvSpPr>
          <p:cNvPr id="12" name="Rectángulo 11">
            <a:extLst>
              <a:ext uri="{FF2B5EF4-FFF2-40B4-BE49-F238E27FC236}">
                <a16:creationId xmlns:a16="http://schemas.microsoft.com/office/drawing/2014/main" id="{5F22644D-DE78-7C15-7CF3-B3CAFB7B96EB}"/>
              </a:ext>
            </a:extLst>
          </p:cNvPr>
          <p:cNvSpPr/>
          <p:nvPr/>
        </p:nvSpPr>
        <p:spPr>
          <a:xfrm>
            <a:off x="10853129" y="3216848"/>
            <a:ext cx="415235" cy="13595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36189858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99A15-34BC-D452-B510-F85E3C20402A}"/>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E9DDA946-128B-C04D-6760-93C3C4237724}"/>
              </a:ext>
            </a:extLst>
          </p:cNvPr>
          <p:cNvPicPr>
            <a:picLocks noGrp="1" noRot="1" noChangeAspect="1" noMove="1" noResize="1" noEditPoints="1" noAdjustHandles="1" noChangeArrowheads="1" noChangeShapeType="1" noCrop="1"/>
          </p:cNvPicPr>
          <p:nvPr/>
        </p:nvPicPr>
        <p:blipFill>
          <a:blip r:embed="rId2"/>
          <a:stretch>
            <a:fillRect/>
          </a:stretch>
        </p:blipFill>
        <p:spPr>
          <a:xfrm>
            <a:off x="738108" y="907157"/>
            <a:ext cx="10914044" cy="4948003"/>
          </a:xfrm>
          <a:prstGeom prst="rect">
            <a:avLst/>
          </a:prstGeom>
        </p:spPr>
      </p:pic>
      <p:sp>
        <p:nvSpPr>
          <p:cNvPr id="3" name="Marcador de texto vertical 2">
            <a:extLst>
              <a:ext uri="{FF2B5EF4-FFF2-40B4-BE49-F238E27FC236}">
                <a16:creationId xmlns:a16="http://schemas.microsoft.com/office/drawing/2014/main" id="{EBFA6A75-1815-1E2A-B695-060CFA7736D8}"/>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37232E61-C685-F07E-68DE-03F2BD10236F}"/>
              </a:ext>
            </a:extLst>
          </p:cNvPr>
          <p:cNvSpPr>
            <a:spLocks noGrp="1"/>
          </p:cNvSpPr>
          <p:nvPr>
            <p:ph type="title"/>
          </p:nvPr>
        </p:nvSpPr>
        <p:spPr>
          <a:xfrm>
            <a:off x="810247" y="327992"/>
            <a:ext cx="10271883" cy="626165"/>
          </a:xfrm>
        </p:spPr>
        <p:txBody>
          <a:bodyPr/>
          <a:lstStyle/>
          <a:p>
            <a:r>
              <a:rPr lang="es-419" dirty="0">
                <a:solidFill>
                  <a:schemeClr val="tx2"/>
                </a:solidFill>
              </a:rPr>
              <a:t>Curso de transferencia (</a:t>
            </a:r>
            <a:r>
              <a:rPr lang="es-ES_tradnl" dirty="0">
                <a:solidFill>
                  <a:schemeClr val="tx2"/>
                </a:solidFill>
              </a:rPr>
              <a:t>SHATRNS)</a:t>
            </a:r>
            <a:br>
              <a:rPr lang="es-CL" b="1" dirty="0">
                <a:effectLst/>
              </a:rPr>
            </a:br>
            <a:endParaRPr lang="es-CL" dirty="0"/>
          </a:p>
        </p:txBody>
      </p:sp>
      <p:sp>
        <p:nvSpPr>
          <p:cNvPr id="6" name="Rectángulo redondeado 5">
            <a:extLst>
              <a:ext uri="{FF2B5EF4-FFF2-40B4-BE49-F238E27FC236}">
                <a16:creationId xmlns:a16="http://schemas.microsoft.com/office/drawing/2014/main" id="{39E4573E-E1C1-832A-F63F-0CFFDBAFC39C}"/>
              </a:ext>
            </a:extLst>
          </p:cNvPr>
          <p:cNvSpPr/>
          <p:nvPr/>
        </p:nvSpPr>
        <p:spPr>
          <a:xfrm>
            <a:off x="1745673" y="3831334"/>
            <a:ext cx="7814498" cy="174223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200" dirty="0"/>
              <a:t>Si para la misma referencia de curso externo se desea convalidar dos o más asignaturas del catálogo de curso de la institución, se ha de insertar un nuevo registro en la sección “Detalle de Cursos Equivalente’, utilizando la opción ‘</a:t>
            </a:r>
            <a:r>
              <a:rPr lang="es-419" sz="1200" b="1" dirty="0"/>
              <a:t>+</a:t>
            </a:r>
            <a:r>
              <a:rPr lang="es-419" sz="1200" dirty="0"/>
              <a:t>’, y se procedería con el cargue de los registros asociados de la nueva asignatura, tal cual fue realizado en los procesos anteriores.</a:t>
            </a:r>
            <a:endParaRPr lang="es-CO" sz="1200" dirty="0"/>
          </a:p>
        </p:txBody>
      </p:sp>
      <p:sp>
        <p:nvSpPr>
          <p:cNvPr id="22" name="Rectángulo 21">
            <a:extLst>
              <a:ext uri="{FF2B5EF4-FFF2-40B4-BE49-F238E27FC236}">
                <a16:creationId xmlns:a16="http://schemas.microsoft.com/office/drawing/2014/main" id="{284F1125-023D-EAE4-E223-5AA06C643F20}"/>
              </a:ext>
            </a:extLst>
          </p:cNvPr>
          <p:cNvSpPr/>
          <p:nvPr/>
        </p:nvSpPr>
        <p:spPr>
          <a:xfrm>
            <a:off x="738108" y="2623436"/>
            <a:ext cx="10914044" cy="62616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 name="Rectángulo 1">
            <a:extLst>
              <a:ext uri="{FF2B5EF4-FFF2-40B4-BE49-F238E27FC236}">
                <a16:creationId xmlns:a16="http://schemas.microsoft.com/office/drawing/2014/main" id="{2D082D78-D90A-4509-2228-F1C6F6881AA2}"/>
              </a:ext>
            </a:extLst>
          </p:cNvPr>
          <p:cNvSpPr/>
          <p:nvPr/>
        </p:nvSpPr>
        <p:spPr>
          <a:xfrm>
            <a:off x="10874512" y="2642728"/>
            <a:ext cx="415235" cy="13595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122418525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0820C-9341-581C-643F-5CB9A10A8E1B}"/>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E54AD9D3-C997-2F44-2CDB-4C565D570EE5}"/>
              </a:ext>
            </a:extLst>
          </p:cNvPr>
          <p:cNvPicPr>
            <a:picLocks noChangeAspect="1"/>
          </p:cNvPicPr>
          <p:nvPr/>
        </p:nvPicPr>
        <p:blipFill>
          <a:blip r:embed="rId2"/>
          <a:stretch>
            <a:fillRect/>
          </a:stretch>
        </p:blipFill>
        <p:spPr>
          <a:xfrm>
            <a:off x="738108" y="907157"/>
            <a:ext cx="10914044" cy="4956273"/>
          </a:xfrm>
          <a:prstGeom prst="rect">
            <a:avLst/>
          </a:prstGeom>
        </p:spPr>
      </p:pic>
      <p:sp>
        <p:nvSpPr>
          <p:cNvPr id="3" name="Marcador de texto vertical 2">
            <a:extLst>
              <a:ext uri="{FF2B5EF4-FFF2-40B4-BE49-F238E27FC236}">
                <a16:creationId xmlns:a16="http://schemas.microsoft.com/office/drawing/2014/main" id="{6D5F75DA-100E-3748-25D6-6AE2FFFE365A}"/>
              </a:ext>
            </a:extLst>
          </p:cNvPr>
          <p:cNvSpPr>
            <a:spLocks noGrp="1"/>
          </p:cNvSpPr>
          <p:nvPr>
            <p:ph type="body" orient="vert" sz="quarter" idx="17"/>
          </p:nvPr>
        </p:nvSpPr>
        <p:spPr/>
        <p:txBody>
          <a:bodyPr/>
          <a:lstStyle/>
          <a:p>
            <a:r>
              <a:rPr lang="es-419" sz="1200" dirty="0"/>
              <a:t>Gestionar homologación y convalidación</a:t>
            </a:r>
          </a:p>
        </p:txBody>
      </p:sp>
      <p:sp>
        <p:nvSpPr>
          <p:cNvPr id="4" name="Título 3">
            <a:extLst>
              <a:ext uri="{FF2B5EF4-FFF2-40B4-BE49-F238E27FC236}">
                <a16:creationId xmlns:a16="http://schemas.microsoft.com/office/drawing/2014/main" id="{C68D6735-5863-76E1-AC88-A258837C697F}"/>
              </a:ext>
            </a:extLst>
          </p:cNvPr>
          <p:cNvSpPr>
            <a:spLocks noGrp="1"/>
          </p:cNvSpPr>
          <p:nvPr>
            <p:ph type="title"/>
          </p:nvPr>
        </p:nvSpPr>
        <p:spPr>
          <a:xfrm>
            <a:off x="810247" y="327992"/>
            <a:ext cx="10271883" cy="626165"/>
          </a:xfrm>
        </p:spPr>
        <p:txBody>
          <a:bodyPr/>
          <a:lstStyle/>
          <a:p>
            <a:r>
              <a:rPr lang="es-419" dirty="0">
                <a:solidFill>
                  <a:schemeClr val="tx2"/>
                </a:solidFill>
              </a:rPr>
              <a:t>Curso de transferencia (</a:t>
            </a:r>
            <a:r>
              <a:rPr lang="es-ES_tradnl" dirty="0">
                <a:solidFill>
                  <a:schemeClr val="tx2"/>
                </a:solidFill>
              </a:rPr>
              <a:t>SHATRNS)</a:t>
            </a:r>
            <a:br>
              <a:rPr lang="es-CL" b="1" dirty="0">
                <a:effectLst/>
              </a:rPr>
            </a:br>
            <a:endParaRPr lang="es-CL" dirty="0"/>
          </a:p>
        </p:txBody>
      </p:sp>
      <p:sp>
        <p:nvSpPr>
          <p:cNvPr id="6" name="Rectángulo redondeado 5">
            <a:extLst>
              <a:ext uri="{FF2B5EF4-FFF2-40B4-BE49-F238E27FC236}">
                <a16:creationId xmlns:a16="http://schemas.microsoft.com/office/drawing/2014/main" id="{F40A35F4-8144-564B-6C3B-3444450A458A}"/>
              </a:ext>
            </a:extLst>
          </p:cNvPr>
          <p:cNvSpPr/>
          <p:nvPr/>
        </p:nvSpPr>
        <p:spPr>
          <a:xfrm>
            <a:off x="1745673" y="3831334"/>
            <a:ext cx="7814498" cy="122813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200" dirty="0"/>
              <a:t>En caso de que se desee ingresar una nueva asignatura de procedencia que se desee convalidar con las asignaturas de la institución, en la sección ‘Detalle de Curso de Transferencia’ se deberá presionar el botón ‘</a:t>
            </a:r>
            <a:r>
              <a:rPr lang="es-419" sz="1200" b="1" dirty="0"/>
              <a:t>+</a:t>
            </a:r>
            <a:r>
              <a:rPr lang="es-419" sz="1200" dirty="0"/>
              <a:t>’ con lo cual se generaría un nuevo registro a configurar, repitiendo los procesos de definición ya ilustrados anteriormente.</a:t>
            </a:r>
            <a:endParaRPr lang="es-CO" sz="1200" dirty="0"/>
          </a:p>
        </p:txBody>
      </p:sp>
      <p:sp>
        <p:nvSpPr>
          <p:cNvPr id="22" name="Rectángulo 21">
            <a:extLst>
              <a:ext uri="{FF2B5EF4-FFF2-40B4-BE49-F238E27FC236}">
                <a16:creationId xmlns:a16="http://schemas.microsoft.com/office/drawing/2014/main" id="{566E3BF8-0803-7C61-72FF-DAF08778E3AC}"/>
              </a:ext>
            </a:extLst>
          </p:cNvPr>
          <p:cNvSpPr/>
          <p:nvPr/>
        </p:nvSpPr>
        <p:spPr>
          <a:xfrm>
            <a:off x="738108" y="1394994"/>
            <a:ext cx="10914044" cy="122813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 name="Rectángulo 1">
            <a:extLst>
              <a:ext uri="{FF2B5EF4-FFF2-40B4-BE49-F238E27FC236}">
                <a16:creationId xmlns:a16="http://schemas.microsoft.com/office/drawing/2014/main" id="{2ED8CB10-81D8-5D88-B2EA-63E43110BE5F}"/>
              </a:ext>
            </a:extLst>
          </p:cNvPr>
          <p:cNvSpPr/>
          <p:nvPr/>
        </p:nvSpPr>
        <p:spPr>
          <a:xfrm>
            <a:off x="10874512" y="1414286"/>
            <a:ext cx="415235" cy="13595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16068737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body" orient="vert" sz="quarter" idx="10"/>
          </p:nvPr>
        </p:nvSpPr>
        <p:spPr/>
        <p:txBody>
          <a:bodyPr/>
          <a:lstStyle/>
          <a:p>
            <a:r>
              <a:rPr lang="es-ES" sz="1200" dirty="0"/>
              <a:t>Actualizar estado del estudiante</a:t>
            </a:r>
            <a:endParaRPr lang="es-ES_tradnl" dirty="0"/>
          </a:p>
        </p:txBody>
      </p:sp>
      <p:sp>
        <p:nvSpPr>
          <p:cNvPr id="3" name="Marcador de texto 2">
            <a:extLst>
              <a:ext uri="{FF2B5EF4-FFF2-40B4-BE49-F238E27FC236}">
                <a16:creationId xmlns:a16="http://schemas.microsoft.com/office/drawing/2014/main" id="{4A610FCC-0713-53EF-ADB4-AA53CA5BA34C}"/>
              </a:ext>
            </a:extLst>
          </p:cNvPr>
          <p:cNvSpPr>
            <a:spLocks noGrp="1"/>
          </p:cNvSpPr>
          <p:nvPr>
            <p:ph type="body" sz="quarter" idx="18"/>
          </p:nvPr>
        </p:nvSpPr>
        <p:spPr>
          <a:xfrm>
            <a:off x="1104900" y="1623880"/>
            <a:ext cx="10597474" cy="4358629"/>
          </a:xfrm>
        </p:spPr>
        <p:txBody>
          <a:bodyPr/>
          <a:lstStyle/>
          <a:p>
            <a:pPr marL="342900" indent="-342900" algn="just">
              <a:buClr>
                <a:srgbClr val="0CB4B4"/>
              </a:buClr>
              <a:buFont typeface="Wingdings" panose="05000000000000000000" pitchFamily="2" charset="2"/>
              <a:buChar char="q"/>
            </a:pPr>
            <a:r>
              <a:rPr lang="es-419" dirty="0"/>
              <a:t>Banner permite el ingreso de las homologaciones externas por medio de la página administrativa SHATRNS, haciendo referencia a la institución de origen desde la cual provendría el estudiante.</a:t>
            </a:r>
          </a:p>
          <a:p>
            <a:pPr marL="342900" indent="-342900" algn="just">
              <a:buClr>
                <a:srgbClr val="0CB4B4"/>
              </a:buClr>
              <a:buFont typeface="Wingdings" panose="05000000000000000000" pitchFamily="2" charset="2"/>
              <a:buChar char="q"/>
            </a:pPr>
            <a:r>
              <a:rPr lang="es-419" dirty="0"/>
              <a:t>Cada institución de origen se ha de referenciar una única vez al estudiante, pero dentro de dicha asignación pudiere tener uno o varios periodos de asistencia asociados.</a:t>
            </a:r>
          </a:p>
          <a:p>
            <a:pPr marL="342900" indent="-342900" algn="just">
              <a:buClr>
                <a:srgbClr val="0CB4B4"/>
              </a:buClr>
              <a:buFont typeface="Wingdings" panose="05000000000000000000" pitchFamily="2" charset="2"/>
              <a:buChar char="q"/>
            </a:pPr>
            <a:r>
              <a:rPr lang="es-419" dirty="0"/>
              <a:t>Es posible realizar desde una única asignatura de origen la homologación de una o varias asignaturas del catálogo de curso. Por lo anterior se pueden ingresar homologaciones con una relación 1:1, 1:N o N:N. </a:t>
            </a:r>
          </a:p>
          <a:p>
            <a:pPr marL="342900" indent="-342900" algn="just">
              <a:buClr>
                <a:srgbClr val="0CB4B4"/>
              </a:buClr>
              <a:buFont typeface="Wingdings" panose="05000000000000000000" pitchFamily="2" charset="2"/>
              <a:buChar char="q"/>
            </a:pPr>
            <a:r>
              <a:rPr lang="es-419" dirty="0"/>
              <a:t>Las asignaturas del catálogo que fueran homologadas heredan los atributos que estuvieran configurados a nivel de catálogo, pudiendo ser modificados en caso de ser necesario.</a:t>
            </a:r>
          </a:p>
          <a:p>
            <a:endParaRPr lang="es-419" sz="1600" dirty="0"/>
          </a:p>
        </p:txBody>
      </p:sp>
      <p:sp>
        <p:nvSpPr>
          <p:cNvPr id="7" name="Title 15">
            <a:extLst>
              <a:ext uri="{FF2B5EF4-FFF2-40B4-BE49-F238E27FC236}">
                <a16:creationId xmlns:a16="http://schemas.microsoft.com/office/drawing/2014/main" id="{957F28A3-0E5D-037E-7A5A-BBEFD092D364}"/>
              </a:ext>
            </a:extLst>
          </p:cNvPr>
          <p:cNvSpPr txBox="1">
            <a:spLocks/>
          </p:cNvSpPr>
          <p:nvPr/>
        </p:nvSpPr>
        <p:spPr>
          <a:xfrm>
            <a:off x="955644" y="-201252"/>
            <a:ext cx="7092820" cy="1628192"/>
          </a:xfrm>
          <a:prstGeom prst="rect">
            <a:avLst/>
          </a:prstGeom>
        </p:spPr>
        <p:txBody>
          <a:bodyPr vert="horz" lIns="0" tIns="45720" rIns="91440" bIns="0" rtlCol="0" anchor="b" anchorCtr="0">
            <a:noAutofit/>
          </a:bodyPr>
          <a:lstStyle>
            <a:lvl1pPr algn="l" defTabSz="914400" rtl="0" eaLnBrk="1" latinLnBrk="0" hangingPunct="1">
              <a:lnSpc>
                <a:spcPct val="90000"/>
              </a:lnSpc>
              <a:spcBef>
                <a:spcPct val="0"/>
              </a:spcBef>
              <a:buNone/>
              <a:defRPr sz="3200" b="1" kern="1200">
                <a:solidFill>
                  <a:schemeClr val="bg1"/>
                </a:solidFill>
                <a:latin typeface="+mj-lt"/>
                <a:ea typeface="+mj-ea"/>
                <a:cs typeface="+mj-cs"/>
              </a:defRPr>
            </a:lvl1pPr>
          </a:lstStyle>
          <a:p>
            <a:r>
              <a:rPr lang="en-US" sz="3600" dirty="0"/>
              <a:t>RESUMEN</a:t>
            </a:r>
          </a:p>
        </p:txBody>
      </p:sp>
    </p:spTree>
    <p:extLst>
      <p:ext uri="{BB962C8B-B14F-4D97-AF65-F5344CB8AC3E}">
        <p14:creationId xmlns:p14="http://schemas.microsoft.com/office/powerpoint/2010/main" val="30517754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A4B0D3FF-2F8B-8FC5-7AC2-84CC61ED8977}"/>
              </a:ext>
            </a:extLst>
          </p:cNvPr>
          <p:cNvSpPr>
            <a:spLocks noGrp="1"/>
          </p:cNvSpPr>
          <p:nvPr>
            <p:ph type="body" sz="quarter" idx="10"/>
          </p:nvPr>
        </p:nvSpPr>
        <p:spPr>
          <a:xfrm>
            <a:off x="914399" y="2238843"/>
            <a:ext cx="10363202" cy="669094"/>
          </a:xfrm>
        </p:spPr>
        <p:txBody>
          <a:bodyPr/>
          <a:lstStyle/>
          <a:p>
            <a:r>
              <a:rPr lang="es-419" noProof="0" dirty="0"/>
              <a:t>MUCHAS GRACIAS</a:t>
            </a:r>
          </a:p>
        </p:txBody>
      </p:sp>
      <p:sp>
        <p:nvSpPr>
          <p:cNvPr id="5" name="Marcador de texto 4">
            <a:extLst>
              <a:ext uri="{FF2B5EF4-FFF2-40B4-BE49-F238E27FC236}">
                <a16:creationId xmlns:a16="http://schemas.microsoft.com/office/drawing/2014/main" id="{826401A9-DE11-DDDF-9F42-FAAE12FE6B9F}"/>
              </a:ext>
            </a:extLst>
          </p:cNvPr>
          <p:cNvSpPr>
            <a:spLocks noGrp="1"/>
          </p:cNvSpPr>
          <p:nvPr>
            <p:ph type="body" sz="quarter" idx="11"/>
          </p:nvPr>
        </p:nvSpPr>
        <p:spPr>
          <a:xfrm>
            <a:off x="1229043" y="4584074"/>
            <a:ext cx="10363202" cy="324961"/>
          </a:xfrm>
        </p:spPr>
        <p:txBody>
          <a:bodyPr/>
          <a:lstStyle/>
          <a:p>
            <a:pPr algn="l"/>
            <a:r>
              <a:rPr lang="es-419" sz="2000" noProof="0" dirty="0"/>
              <a:t>Consultor</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4490" y="4609395"/>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3543" y="4985033"/>
            <a:ext cx="274320" cy="274320"/>
          </a:xfrm>
          <a:prstGeom prst="rect">
            <a:avLst/>
          </a:prstGeom>
        </p:spPr>
      </p:pic>
      <p:sp>
        <p:nvSpPr>
          <p:cNvPr id="11" name="Marcador de texto 4">
            <a:extLst>
              <a:ext uri="{FF2B5EF4-FFF2-40B4-BE49-F238E27FC236}">
                <a16:creationId xmlns:a16="http://schemas.microsoft.com/office/drawing/2014/main" id="{88780A86-7F59-00BD-9B1E-C1DFAC865719}"/>
              </a:ext>
            </a:extLst>
          </p:cNvPr>
          <p:cNvSpPr txBox="1">
            <a:spLocks/>
          </p:cNvSpPr>
          <p:nvPr/>
        </p:nvSpPr>
        <p:spPr>
          <a:xfrm>
            <a:off x="1229043" y="4959712"/>
            <a:ext cx="5334046" cy="324961"/>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600"/>
              </a:spcAft>
              <a:buFont typeface="Arial" panose="020B0604020202020204" pitchFamily="34" charset="0"/>
              <a:buNone/>
              <a:defRPr sz="2000" b="0"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noProof="0" dirty="0"/>
              <a:t>Correo</a:t>
            </a:r>
          </a:p>
        </p:txBody>
      </p:sp>
    </p:spTree>
    <p:extLst>
      <p:ext uri="{BB962C8B-B14F-4D97-AF65-F5344CB8AC3E}">
        <p14:creationId xmlns:p14="http://schemas.microsoft.com/office/powerpoint/2010/main" val="149292278"/>
      </p:ext>
    </p:extLst>
  </p:cSld>
  <p:clrMapOvr>
    <a:masterClrMapping/>
  </p:clrMapOvr>
</p:sld>
</file>

<file path=ppt/theme/theme1.xml><?xml version="1.0" encoding="utf-8"?>
<a:theme xmlns:a="http://schemas.openxmlformats.org/drawingml/2006/main" name="Ellucian_April 2025">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_April 2025" id="{26EA1B6D-013D-4CE8-B6BA-844450BD34AD}" vid="{76DDA76C-B383-44A4-B33A-CC50C6670FCD}"/>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id="{A599B5A2-9FB4-43D0-8DD2-7AE7CFBE6EE5}" vid="{5FE6AC23-0F88-4612-B1AD-D84E4AF262DE}"/>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Ellucian_April 2025</Template>
  <TotalTime>9977</TotalTime>
  <Words>4192</Words>
  <Application>Microsoft Office PowerPoint</Application>
  <PresentationFormat>Widescreen</PresentationFormat>
  <Paragraphs>405</Paragraphs>
  <Slides>62</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62</vt:i4>
      </vt:variant>
    </vt:vector>
  </HeadingPairs>
  <TitlesOfParts>
    <vt:vector size="71" baseType="lpstr">
      <vt:lpstr>Aptos</vt:lpstr>
      <vt:lpstr>Aptos Display</vt:lpstr>
      <vt:lpstr>Arial</vt:lpstr>
      <vt:lpstr>Calibri</vt:lpstr>
      <vt:lpstr>Courier New</vt:lpstr>
      <vt:lpstr>Helvetica Neue</vt:lpstr>
      <vt:lpstr>Wingdings</vt:lpstr>
      <vt:lpstr>Ellucian_April 2025</vt:lpstr>
      <vt:lpstr>Ellucian Blank Layouts</vt:lpstr>
      <vt:lpstr>PowerPoint Presentation</vt:lpstr>
      <vt:lpstr>PowerPoint Presentation</vt:lpstr>
      <vt:lpstr>Overview</vt:lpstr>
      <vt:lpstr>Overview: Mapa de Capacidades</vt:lpstr>
      <vt:lpstr>Overview: Capacidad Admisión del Estudiante</vt:lpstr>
      <vt:lpstr>Overview: Capacidad Admisión del Estudiante</vt:lpstr>
      <vt:lpstr>PowerPoint Presentation</vt:lpstr>
      <vt:lpstr>PowerPoint Presentation</vt:lpstr>
      <vt:lpstr>PowerPoint Presentation</vt:lpstr>
      <vt:lpstr>CONFIGURACIONES</vt:lpstr>
      <vt:lpstr>PowerPoint Presentation</vt:lpstr>
      <vt:lpstr>Premisa: Validación de código de institución fuente/origen (STVSBGI) </vt:lpstr>
      <vt:lpstr>Configuración: Institución de articulación de transferencia (SOABGTA) </vt:lpstr>
      <vt:lpstr>Configuración: Institución de articulación de transferencia (SOABGTA) </vt:lpstr>
      <vt:lpstr>Configuración: Institución de articulación de transferencia (SOABGTA) </vt:lpstr>
      <vt:lpstr>PowerPoint Presentation</vt:lpstr>
      <vt:lpstr>Configuración: Mantenimiento de calificación de transferencia (SHATGRD) </vt:lpstr>
      <vt:lpstr>Configuración: Mantenimiento de calificación de transferencia (SHATGRD) </vt:lpstr>
      <vt:lpstr>Configuración: Mantenimiento de calificación de transferencia (SHATGRD) </vt:lpstr>
      <vt:lpstr>Configuración: Mantenimiento de calificación de transferencia (SHATGRD) </vt:lpstr>
      <vt:lpstr>PowerPoint Presentation</vt:lpstr>
      <vt:lpstr>Configuración: Captura de Catálogo de Institución de Transferencia (SHATATC)</vt:lpstr>
      <vt:lpstr>Configuración: Captura de Catálogo de Institución de Transferencia (SHATATC)</vt:lpstr>
      <vt:lpstr>Configuración: Captura de Catálogo de Institución de Transferencia (SHATATC)</vt:lpstr>
      <vt:lpstr>PowerPoint Presentation</vt:lpstr>
      <vt:lpstr>Configuración: Articulación de curso de transferencia  (SHATATR)</vt:lpstr>
      <vt:lpstr>Configuración: Articulación de curso de transferencia  (SHATATR)</vt:lpstr>
      <vt:lpstr>Configuración: Articulación de curso de transferencia  (SHATATR)</vt:lpstr>
      <vt:lpstr>Configuración: Articulación de curso de transferencia  (SHATATR)</vt:lpstr>
      <vt:lpstr>Configuración: Articulación de curso de transferencia  (SHATATR)</vt:lpstr>
      <vt:lpstr>Gestionar homologación y convalidación</vt:lpstr>
      <vt:lpstr>PowerPoint Presentation</vt:lpstr>
      <vt:lpstr>Curso de transferencia (SHATRNS) </vt:lpstr>
      <vt:lpstr>Curso de transferencia (SHATRNS) </vt:lpstr>
      <vt:lpstr>Curso de transferencia (SHATRNS) </vt:lpstr>
      <vt:lpstr>Curso de transferencia (SHATRNS) </vt:lpstr>
      <vt:lpstr>Evaluación de articulación de transferencia (SHATAEQ) </vt:lpstr>
      <vt:lpstr>Evaluación de articulación de transferencia (SHATAEQ) </vt:lpstr>
      <vt:lpstr>Evaluación de articulación de transferencia (SHATAEQ) </vt:lpstr>
      <vt:lpstr>Evaluación de articulación de transferencia (SHATAEQ) </vt:lpstr>
      <vt:lpstr>Evaluación de articulación de transferencia (SHATAEQ) </vt:lpstr>
      <vt:lpstr>Evaluación de articulación de transferencia (SHATAEQ) </vt:lpstr>
      <vt:lpstr>Evaluación de articulación de transferencia (SHATAEQ) </vt:lpstr>
      <vt:lpstr>Evaluación de articulación de transferencia (SHATAEQ) </vt:lpstr>
      <vt:lpstr>Evaluación de articulación de transferencia (SHATAEQ) </vt:lpstr>
      <vt:lpstr>Evaluación de articulación de transferencia (SHATAEQ) </vt:lpstr>
      <vt:lpstr>Evaluación de articulación de transferencia (SHATAEQ) </vt:lpstr>
      <vt:lpstr>Curso de transferencia (SHATRNS)</vt:lpstr>
      <vt:lpstr>Curso de transferencia (SHATRNS) </vt:lpstr>
      <vt:lpstr>Curso de transferencia (SHATRNS) </vt:lpstr>
      <vt:lpstr>PowerPoint Presentation</vt:lpstr>
      <vt:lpstr>Curso de transferencia (SHATRNS) </vt:lpstr>
      <vt:lpstr>Curso de transferencia (SHATRNS) </vt:lpstr>
      <vt:lpstr>Curso de transferencia (SHATRNS) </vt:lpstr>
      <vt:lpstr>Curso de transferencia (SHATRNS) </vt:lpstr>
      <vt:lpstr>Curso de transferencia (SHATRNS) </vt:lpstr>
      <vt:lpstr>Curso de transferencia (SHATRNS) </vt:lpstr>
      <vt:lpstr>Curso de transferencia (SHATRNS) </vt:lpstr>
      <vt:lpstr>Curso de transferencia (SHATRNS) </vt:lpstr>
      <vt:lpstr>Curso de transferencia (SHATRNS)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Gestionar conceptos de cobro y pago</dc:title>
  <dc:creator>Mardones, Francisco</dc:creator>
  <cp:lastModifiedBy>Molina, Sergio</cp:lastModifiedBy>
  <cp:revision>283</cp:revision>
  <dcterms:created xsi:type="dcterms:W3CDTF">2023-07-17T20:07:38Z</dcterms:created>
  <dcterms:modified xsi:type="dcterms:W3CDTF">2026-03-17T23:46:39Z</dcterms:modified>
</cp:coreProperties>
</file>
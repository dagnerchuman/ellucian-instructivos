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  <p:sldMasterId id="2147483764" r:id="rId2"/>
  </p:sldMasterIdLst>
  <p:notesMasterIdLst>
    <p:notesMasterId r:id="rId27"/>
  </p:notesMasterIdLst>
  <p:handoutMasterIdLst>
    <p:handoutMasterId r:id="rId28"/>
  </p:handoutMasterIdLst>
  <p:sldIdLst>
    <p:sldId id="1488" r:id="rId3"/>
    <p:sldId id="423" r:id="rId4"/>
    <p:sldId id="1174" r:id="rId5"/>
    <p:sldId id="569" r:id="rId6"/>
    <p:sldId id="1250" r:id="rId7"/>
    <p:sldId id="1251" r:id="rId8"/>
    <p:sldId id="1430" r:id="rId9"/>
    <p:sldId id="1292" r:id="rId10"/>
    <p:sldId id="1119" r:id="rId11"/>
    <p:sldId id="1226" r:id="rId12"/>
    <p:sldId id="1477" r:id="rId13"/>
    <p:sldId id="1478" r:id="rId14"/>
    <p:sldId id="1453" r:id="rId15"/>
    <p:sldId id="1456" r:id="rId16"/>
    <p:sldId id="1479" r:id="rId17"/>
    <p:sldId id="1480" r:id="rId18"/>
    <p:sldId id="1482" r:id="rId19"/>
    <p:sldId id="1483" r:id="rId20"/>
    <p:sldId id="1484" r:id="rId21"/>
    <p:sldId id="1485" r:id="rId22"/>
    <p:sldId id="1486" r:id="rId23"/>
    <p:sldId id="1487" r:id="rId24"/>
    <p:sldId id="1221" r:id="rId25"/>
    <p:sldId id="32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1B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5" d="100"/>
          <a:sy n="45" d="100"/>
        </p:scale>
        <p:origin x="1812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5BC12A7-7F48-303B-FCE9-FCBB18C8E8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8F1E1B-94B4-D578-E0CD-3A3A7263491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4AEEB7-13CD-4D6E-8289-63B96BFCEE0C}" type="datetimeFigureOut">
              <a:rPr lang="es-419" smtClean="0"/>
              <a:t>17/4/2026</a:t>
            </a:fld>
            <a:endParaRPr lang="es-419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CCC704-0EEA-3EBF-DAA9-4258059AC47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C549E0-D214-184A-9077-2B370E89CD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59B65F-D030-48BC-BFA8-8E84558C764C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6595311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23C117-F0D1-46E6-B911-20932DF680A3}" type="datetimeFigureOut">
              <a:rPr lang="es-419" smtClean="0"/>
              <a:t>17/4/2026</a:t>
            </a:fld>
            <a:endParaRPr lang="es-419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1C308A-25FC-453F-866C-E0840FC3618C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095982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8523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8938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5112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862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jp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21812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671348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31491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4814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6844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087142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34532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2154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3236975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-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9DD77-3C7C-EEB6-765D-0ED3FE5F2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100637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8D8608-56F7-AD14-997B-C0305B2054CC}"/>
              </a:ext>
            </a:extLst>
          </p:cNvPr>
          <p:cNvSpPr/>
          <p:nvPr userDrawn="1"/>
        </p:nvSpPr>
        <p:spPr>
          <a:xfrm>
            <a:off x="9176657" y="6520543"/>
            <a:ext cx="2467818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F73055-A386-719A-C37F-04157119A6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91275" y="6457921"/>
            <a:ext cx="2153200" cy="24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340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600532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3426843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2366137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42484737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41590703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844324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184926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823752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8006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1947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0924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4083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0457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6676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22562133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8770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17385455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9598642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446077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764485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049401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8922597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5124226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83172321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F57A3D79-8EB8-420C-9CED-F27F00CFFC96}" type="slidenum">
              <a:rPr lang="es-419" smtClean="0"/>
              <a:t>‹#›</a:t>
            </a:fld>
            <a:endParaRPr lang="es-419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5C09D1-CFD0-FCF8-5E32-183C9C3699A2}"/>
              </a:ext>
            </a:extLst>
          </p:cNvPr>
          <p:cNvSpPr/>
          <p:nvPr userDrawn="1"/>
        </p:nvSpPr>
        <p:spPr>
          <a:xfrm>
            <a:off x="9220200" y="6444343"/>
            <a:ext cx="2427514" cy="27713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5F7D1C-7098-A4A7-4BDE-0159627DDE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51380" y="6444343"/>
            <a:ext cx="2429966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6753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57A3D79-8EB8-420C-9CED-F27F00CFFC96}" type="slidenum">
              <a:rPr lang="es-419" smtClean="0"/>
              <a:t>‹#›</a:t>
            </a:fld>
            <a:endParaRPr lang="es-419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2CE9DE-1DCD-A414-E8CA-C31E39EDC70A}"/>
              </a:ext>
            </a:extLst>
          </p:cNvPr>
          <p:cNvSpPr/>
          <p:nvPr userDrawn="1"/>
        </p:nvSpPr>
        <p:spPr>
          <a:xfrm>
            <a:off x="9187543" y="6498771"/>
            <a:ext cx="2394854" cy="2227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1531A4-A372-CD9A-1389-BE57CFD137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87543" y="6483315"/>
            <a:ext cx="2394854" cy="286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7652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Slide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rtical Text Placeholder 13">
            <a:extLst>
              <a:ext uri="{FF2B5EF4-FFF2-40B4-BE49-F238E27FC236}">
                <a16:creationId xmlns:a16="http://schemas.microsoft.com/office/drawing/2014/main" id="{615AF287-335F-BB55-C118-E2B304809BF5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02A5F3B-3ABB-9E8C-64CA-3C1440FE2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57A3D79-8EB8-420C-9CED-F27F00CFFC96}" type="slidenum">
              <a:rPr lang="es-419" smtClean="0"/>
              <a:t>‹#›</a:t>
            </a:fld>
            <a:endParaRPr lang="es-419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6075AE4F-120B-4A06-3546-84A4BC13F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3B78B6-303F-D98C-5E1F-D0B9499E247E}"/>
              </a:ext>
            </a:extLst>
          </p:cNvPr>
          <p:cNvSpPr/>
          <p:nvPr userDrawn="1"/>
        </p:nvSpPr>
        <p:spPr>
          <a:xfrm>
            <a:off x="9056914" y="6487886"/>
            <a:ext cx="2525483" cy="2335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289BC9-9447-C539-19EA-10225EE55F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96397" y="6473597"/>
            <a:ext cx="2286000" cy="28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8756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>
            <a:extLst>
              <a:ext uri="{FF2B5EF4-FFF2-40B4-BE49-F238E27FC236}">
                <a16:creationId xmlns:a16="http://schemas.microsoft.com/office/drawing/2014/main" id="{0D606AED-DD8D-9B4B-A5A1-B57A5083C0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8163" y="258373"/>
            <a:ext cx="6711912" cy="6858000"/>
          </a:xfrm>
          <a:prstGeom prst="rect">
            <a:avLst/>
          </a:prstGeom>
        </p:spPr>
      </p:pic>
      <p:sp>
        <p:nvSpPr>
          <p:cNvPr id="4" name="Trapezoid 3"/>
          <p:cNvSpPr/>
          <p:nvPr/>
        </p:nvSpPr>
        <p:spPr>
          <a:xfrm>
            <a:off x="0" y="1"/>
            <a:ext cx="9144000" cy="6874172"/>
          </a:xfrm>
          <a:custGeom>
            <a:avLst/>
            <a:gdLst>
              <a:gd name="connsiteX0" fmla="*/ 0 w 6858000"/>
              <a:gd name="connsiteY0" fmla="*/ 5148072 h 5148072"/>
              <a:gd name="connsiteX1" fmla="*/ 0 w 6858000"/>
              <a:gd name="connsiteY1" fmla="*/ 0 h 5148072"/>
              <a:gd name="connsiteX2" fmla="*/ 6858000 w 6858000"/>
              <a:gd name="connsiteY2" fmla="*/ 0 h 5148072"/>
              <a:gd name="connsiteX3" fmla="*/ 6858000 w 6858000"/>
              <a:gd name="connsiteY3" fmla="*/ 5148072 h 5148072"/>
              <a:gd name="connsiteX4" fmla="*/ 0 w 6858000"/>
              <a:gd name="connsiteY4" fmla="*/ 5148072 h 5148072"/>
              <a:gd name="connsiteX0" fmla="*/ 0 w 6858000"/>
              <a:gd name="connsiteY0" fmla="*/ 5148072 h 5155629"/>
              <a:gd name="connsiteX1" fmla="*/ 0 w 6858000"/>
              <a:gd name="connsiteY1" fmla="*/ 0 h 5155629"/>
              <a:gd name="connsiteX2" fmla="*/ 6858000 w 6858000"/>
              <a:gd name="connsiteY2" fmla="*/ 0 h 5155629"/>
              <a:gd name="connsiteX3" fmla="*/ 4840275 w 6858000"/>
              <a:gd name="connsiteY3" fmla="*/ 5155629 h 5155629"/>
              <a:gd name="connsiteX4" fmla="*/ 0 w 6858000"/>
              <a:gd name="connsiteY4" fmla="*/ 5148072 h 5155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00" h="5155629">
                <a:moveTo>
                  <a:pt x="0" y="5148072"/>
                </a:moveTo>
                <a:lnTo>
                  <a:pt x="0" y="0"/>
                </a:lnTo>
                <a:lnTo>
                  <a:pt x="6858000" y="0"/>
                </a:lnTo>
                <a:lnTo>
                  <a:pt x="4840275" y="5155629"/>
                </a:lnTo>
                <a:lnTo>
                  <a:pt x="0" y="51480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lvl="0"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309" y="2589804"/>
            <a:ext cx="6650691" cy="2151529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6400">
                <a:solidFill>
                  <a:schemeClr val="accent4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pic>
        <p:nvPicPr>
          <p:cNvPr id="5" name="Picture 4" descr="ellucian_purple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310" y="1631578"/>
            <a:ext cx="2327711" cy="479092"/>
          </a:xfrm>
          <a:prstGeom prst="rect">
            <a:avLst/>
          </a:prstGeom>
        </p:spPr>
      </p:pic>
      <p:sp>
        <p:nvSpPr>
          <p:cNvPr id="10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5543554"/>
            <a:ext cx="6396392" cy="675417"/>
          </a:xfrm>
        </p:spPr>
        <p:txBody>
          <a:bodyPr anchor="t" anchorCtr="0">
            <a:noAutofit/>
          </a:bodyPr>
          <a:lstStyle>
            <a:lvl1pPr>
              <a:buNone/>
              <a:defRPr sz="2267" b="0" spc="0" baseline="0">
                <a:solidFill>
                  <a:schemeClr val="accent2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Presenter’s title</a:t>
            </a:r>
            <a:br>
              <a:rPr lang="en-US" dirty="0"/>
            </a:br>
            <a:r>
              <a:rPr lang="en-US" dirty="0" err="1"/>
              <a:t>Ellucian</a:t>
            </a:r>
            <a:endParaRPr lang="en-US" dirty="0"/>
          </a:p>
        </p:txBody>
      </p:sp>
      <p:sp>
        <p:nvSpPr>
          <p:cNvPr id="3" name="Right Triangle 2"/>
          <p:cNvSpPr/>
          <p:nvPr/>
        </p:nvSpPr>
        <p:spPr>
          <a:xfrm flipH="1" flipV="1">
            <a:off x="6604000" y="-3"/>
            <a:ext cx="5588000" cy="5608320"/>
          </a:xfrm>
          <a:prstGeom prst="rtTriangle">
            <a:avLst/>
          </a:prstGeom>
          <a:solidFill>
            <a:srgbClr val="45A1AA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40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719592"/>
            <a:ext cx="6656832" cy="835251"/>
          </a:xfrm>
        </p:spPr>
        <p:txBody>
          <a:bodyPr anchor="b">
            <a:noAutofit/>
          </a:bodyPr>
          <a:lstStyle>
            <a:lvl1pPr>
              <a:buNone/>
              <a:defRPr sz="2267" b="1" cap="all" spc="0" baseline="0">
                <a:solidFill>
                  <a:schemeClr val="accent2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PRESENTER NAME</a:t>
            </a: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0743FBCD-B5E0-3FF8-7B5E-991A601EA8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8163" y="258373"/>
            <a:ext cx="6711912" cy="6858000"/>
          </a:xfrm>
          <a:prstGeom prst="rect">
            <a:avLst/>
          </a:prstGeom>
        </p:spPr>
      </p:pic>
      <p:sp>
        <p:nvSpPr>
          <p:cNvPr id="7" name="Trapezoid 3">
            <a:extLst>
              <a:ext uri="{FF2B5EF4-FFF2-40B4-BE49-F238E27FC236}">
                <a16:creationId xmlns:a16="http://schemas.microsoft.com/office/drawing/2014/main" id="{A0FD59B6-D597-072E-7BAA-5EF243EC1A4E}"/>
              </a:ext>
            </a:extLst>
          </p:cNvPr>
          <p:cNvSpPr/>
          <p:nvPr userDrawn="1"/>
        </p:nvSpPr>
        <p:spPr>
          <a:xfrm>
            <a:off x="0" y="1"/>
            <a:ext cx="9144000" cy="6874172"/>
          </a:xfrm>
          <a:custGeom>
            <a:avLst/>
            <a:gdLst>
              <a:gd name="connsiteX0" fmla="*/ 0 w 6858000"/>
              <a:gd name="connsiteY0" fmla="*/ 5148072 h 5148072"/>
              <a:gd name="connsiteX1" fmla="*/ 0 w 6858000"/>
              <a:gd name="connsiteY1" fmla="*/ 0 h 5148072"/>
              <a:gd name="connsiteX2" fmla="*/ 6858000 w 6858000"/>
              <a:gd name="connsiteY2" fmla="*/ 0 h 5148072"/>
              <a:gd name="connsiteX3" fmla="*/ 6858000 w 6858000"/>
              <a:gd name="connsiteY3" fmla="*/ 5148072 h 5148072"/>
              <a:gd name="connsiteX4" fmla="*/ 0 w 6858000"/>
              <a:gd name="connsiteY4" fmla="*/ 5148072 h 5148072"/>
              <a:gd name="connsiteX0" fmla="*/ 0 w 6858000"/>
              <a:gd name="connsiteY0" fmla="*/ 5148072 h 5155629"/>
              <a:gd name="connsiteX1" fmla="*/ 0 w 6858000"/>
              <a:gd name="connsiteY1" fmla="*/ 0 h 5155629"/>
              <a:gd name="connsiteX2" fmla="*/ 6858000 w 6858000"/>
              <a:gd name="connsiteY2" fmla="*/ 0 h 5155629"/>
              <a:gd name="connsiteX3" fmla="*/ 4840275 w 6858000"/>
              <a:gd name="connsiteY3" fmla="*/ 5155629 h 5155629"/>
              <a:gd name="connsiteX4" fmla="*/ 0 w 6858000"/>
              <a:gd name="connsiteY4" fmla="*/ 5148072 h 5155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00" h="5155629">
                <a:moveTo>
                  <a:pt x="0" y="5148072"/>
                </a:moveTo>
                <a:lnTo>
                  <a:pt x="0" y="0"/>
                </a:lnTo>
                <a:lnTo>
                  <a:pt x="6858000" y="0"/>
                </a:lnTo>
                <a:lnTo>
                  <a:pt x="4840275" y="5155629"/>
                </a:lnTo>
                <a:lnTo>
                  <a:pt x="0" y="51480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lvl="0"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35CD854-39D9-D7A1-4CA0-1EFFDCF2D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309" y="2589804"/>
            <a:ext cx="6650691" cy="2151529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640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4" descr="ellucian_purple.png">
            <a:extLst>
              <a:ext uri="{FF2B5EF4-FFF2-40B4-BE49-F238E27FC236}">
                <a16:creationId xmlns:a16="http://schemas.microsoft.com/office/drawing/2014/main" id="{DD1F227D-82CE-FCD4-72D8-A7AB5F6DF2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310" y="1631578"/>
            <a:ext cx="2327711" cy="479092"/>
          </a:xfrm>
          <a:prstGeom prst="rect">
            <a:avLst/>
          </a:prstGeom>
        </p:spPr>
      </p:pic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965DE087-C19D-B5C5-1A4B-1A25FC57BE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5543554"/>
            <a:ext cx="6396392" cy="675417"/>
          </a:xfrm>
        </p:spPr>
        <p:txBody>
          <a:bodyPr anchor="t" anchorCtr="0">
            <a:noAutofit/>
          </a:bodyPr>
          <a:lstStyle>
            <a:lvl1pPr>
              <a:buNone/>
              <a:defRPr sz="2267" b="0" spc="0" baseline="0">
                <a:solidFill>
                  <a:schemeClr val="accent2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Presenter’s title</a:t>
            </a:r>
            <a:br>
              <a:rPr lang="en-US" dirty="0"/>
            </a:br>
            <a:r>
              <a:rPr lang="en-US" dirty="0" err="1"/>
              <a:t>Ellucian</a:t>
            </a:r>
            <a:endParaRPr lang="en-US" dirty="0"/>
          </a:p>
        </p:txBody>
      </p:sp>
      <p:sp>
        <p:nvSpPr>
          <p:cNvPr id="14" name="Right Triangle 2">
            <a:extLst>
              <a:ext uri="{FF2B5EF4-FFF2-40B4-BE49-F238E27FC236}">
                <a16:creationId xmlns:a16="http://schemas.microsoft.com/office/drawing/2014/main" id="{1384AF49-7919-5CDE-6BC1-8EA0705DE69B}"/>
              </a:ext>
            </a:extLst>
          </p:cNvPr>
          <p:cNvSpPr/>
          <p:nvPr userDrawn="1"/>
        </p:nvSpPr>
        <p:spPr>
          <a:xfrm flipH="1" flipV="1">
            <a:off x="6604000" y="-3"/>
            <a:ext cx="5588000" cy="5608320"/>
          </a:xfrm>
          <a:prstGeom prst="rtTriangle">
            <a:avLst/>
          </a:prstGeom>
          <a:solidFill>
            <a:srgbClr val="45A1AA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400428233"/>
      </p:ext>
    </p:extLst>
  </p:cSld>
  <p:clrMapOvr>
    <a:masterClrMapping/>
  </p:clrMapOvr>
  <p:transition spd="slow">
    <p:wipe dir="r"/>
  </p:transition>
  <p:extLst>
    <p:ext uri="{DCECCB84-F9BA-43D5-87BE-67443E8EF086}">
      <p15:sldGuideLst xmlns:p15="http://schemas.microsoft.com/office/powerpoint/2012/main">
        <p15:guide id="1" orient="horz" pos="2747">
          <p15:clr>
            <a:srgbClr val="FBAE40"/>
          </p15:clr>
        </p15:guide>
        <p15:guide id="2" pos="3047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75488" y="487681"/>
            <a:ext cx="11267392" cy="5826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/>
            </a:lvl1pPr>
          </a:lstStyle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926817974"/>
      </p:ext>
    </p:extLst>
  </p:cSld>
  <p:clrMapOvr>
    <a:masterClrMapping/>
  </p:clrMapOvr>
  <p:transition spd="slow">
    <p:wipe dir="r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Divider 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2848" y="991929"/>
            <a:ext cx="11266501" cy="1691096"/>
          </a:xfrm>
        </p:spPr>
        <p:txBody>
          <a:bodyPr tIns="0" bIns="0" anchor="b">
            <a:noAutofit/>
          </a:bodyPr>
          <a:lstStyle>
            <a:lvl1pPr algn="l">
              <a:lnSpc>
                <a:spcPct val="100000"/>
              </a:lnSpc>
              <a:defRPr sz="5333" b="0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472849" y="1316874"/>
            <a:ext cx="5298956" cy="351367"/>
          </a:xfrm>
        </p:spPr>
        <p:txBody>
          <a:bodyPr>
            <a:normAutofit/>
          </a:bodyPr>
          <a:lstStyle>
            <a:lvl1pPr>
              <a:buNone/>
              <a:defRPr sz="2133" spc="133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r>
              <a:rPr lang="en-US" dirty="0"/>
              <a:t>SECTION # [optional]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848" y="3112608"/>
            <a:ext cx="7108205" cy="2462723"/>
          </a:xfrm>
        </p:spPr>
        <p:txBody>
          <a:bodyPr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933" b="0">
                <a:solidFill>
                  <a:schemeClr val="bg1">
                    <a:lumMod val="8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20" name="Footer Placeholder 4"/>
          <p:cNvSpPr txBox="1">
            <a:spLocks/>
          </p:cNvSpPr>
          <p:nvPr/>
        </p:nvSpPr>
        <p:spPr>
          <a:xfrm>
            <a:off x="6875242" y="6591893"/>
            <a:ext cx="4426065" cy="143565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© 2018 Ellucian</a:t>
            </a:r>
            <a:endParaRPr kumimoji="0" lang="en-US" sz="933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21" name="Picture 20" descr="ellucian_white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077" y="6564051"/>
            <a:ext cx="983800" cy="201444"/>
          </a:xfrm>
          <a:prstGeom prst="rect">
            <a:avLst/>
          </a:prstGeom>
        </p:spPr>
      </p:pic>
      <p:sp>
        <p:nvSpPr>
          <p:cNvPr id="9" name="Slide Number Placeholder 3"/>
          <p:cNvSpPr txBox="1">
            <a:spLocks/>
          </p:cNvSpPr>
          <p:nvPr/>
        </p:nvSpPr>
        <p:spPr>
          <a:xfrm>
            <a:off x="11203208" y="6468813"/>
            <a:ext cx="537689" cy="2747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457200" rtl="0" eaLnBrk="1" latinLnBrk="0" hangingPunct="1">
              <a:defRPr sz="1100" b="0" kern="120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A085A0-3A3D-6540-B0AC-0588E66301FB}" type="slidenum">
              <a:rPr lang="en-US" sz="1467" smtClean="0"/>
              <a:pPr/>
              <a:t>‹#›</a:t>
            </a:fld>
            <a:endParaRPr lang="en-US" sz="1467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3C07AFF-556B-7260-1185-21259457D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2848" y="991929"/>
            <a:ext cx="11266501" cy="1691096"/>
          </a:xfrm>
        </p:spPr>
        <p:txBody>
          <a:bodyPr tIns="0" bIns="0" anchor="b">
            <a:noAutofit/>
          </a:bodyPr>
          <a:lstStyle>
            <a:lvl1pPr algn="l">
              <a:lnSpc>
                <a:spcPct val="100000"/>
              </a:lnSpc>
              <a:defRPr sz="5333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D73DF2B-4D13-AF66-333A-D6950A35BC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2848" y="3112608"/>
            <a:ext cx="7108205" cy="2462723"/>
          </a:xfrm>
        </p:spPr>
        <p:txBody>
          <a:bodyPr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933" b="0">
                <a:solidFill>
                  <a:schemeClr val="bg1">
                    <a:lumMod val="8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7E0CE9E-6FE8-9CAD-5B4D-0046621B2E4D}"/>
              </a:ext>
            </a:extLst>
          </p:cNvPr>
          <p:cNvSpPr txBox="1">
            <a:spLocks/>
          </p:cNvSpPr>
          <p:nvPr userDrawn="1"/>
        </p:nvSpPr>
        <p:spPr>
          <a:xfrm>
            <a:off x="6875242" y="6591893"/>
            <a:ext cx="4426065" cy="143565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© 2018 Ellucian</a:t>
            </a:r>
            <a:endParaRPr kumimoji="0" lang="en-US" sz="933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7" name="Picture 20" descr="ellucian_white.png">
            <a:extLst>
              <a:ext uri="{FF2B5EF4-FFF2-40B4-BE49-F238E27FC236}">
                <a16:creationId xmlns:a16="http://schemas.microsoft.com/office/drawing/2014/main" id="{BC2BE9C3-E6C5-7D71-BD7B-2AE3232F9C5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077" y="6564051"/>
            <a:ext cx="983800" cy="201444"/>
          </a:xfrm>
          <a:prstGeom prst="rect">
            <a:avLst/>
          </a:prstGeom>
        </p:spPr>
      </p:pic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905CDD5C-2DAD-EB44-8964-80068458F297}"/>
              </a:ext>
            </a:extLst>
          </p:cNvPr>
          <p:cNvSpPr txBox="1">
            <a:spLocks/>
          </p:cNvSpPr>
          <p:nvPr userDrawn="1"/>
        </p:nvSpPr>
        <p:spPr>
          <a:xfrm>
            <a:off x="11203208" y="6468813"/>
            <a:ext cx="537689" cy="2747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457200" rtl="0" eaLnBrk="1" latinLnBrk="0" hangingPunct="1">
              <a:defRPr sz="1100" b="0" kern="120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A085A0-3A3D-6540-B0AC-0588E66301FB}" type="slidenum">
              <a:rPr lang="en-US" sz="1467" smtClean="0"/>
              <a:pPr/>
              <a:t>‹#›</a:t>
            </a:fld>
            <a:endParaRPr lang="en-US" sz="1467"/>
          </a:p>
        </p:txBody>
      </p:sp>
    </p:spTree>
    <p:extLst>
      <p:ext uri="{BB962C8B-B14F-4D97-AF65-F5344CB8AC3E}">
        <p14:creationId xmlns:p14="http://schemas.microsoft.com/office/powerpoint/2010/main" val="3382107207"/>
      </p:ext>
    </p:extLst>
  </p:cSld>
  <p:clrMapOvr>
    <a:masterClrMapping/>
  </p:clrMapOvr>
  <p:transition spd="slow">
    <p:wipe dir="r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ingle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488" y="1600200"/>
            <a:ext cx="11267392" cy="4343400"/>
          </a:xfrm>
        </p:spPr>
        <p:txBody>
          <a:bodyPr>
            <a:noAutofit/>
          </a:bodyPr>
          <a:lstStyle>
            <a:lvl1pPr marL="0" indent="0" algn="l" defTabSz="609585" rtl="0" eaLnBrk="1" latinLnBrk="0" hangingPunct="1">
              <a:spcBef>
                <a:spcPts val="1200"/>
              </a:spcBef>
              <a:buFontTx/>
              <a:buNone/>
              <a:defRPr lang="en-US" sz="2133" b="1" kern="1200" dirty="0" smtClean="0">
                <a:solidFill>
                  <a:srgbClr val="45A1AA"/>
                </a:solidFill>
                <a:latin typeface="Arial"/>
                <a:ea typeface="+mn-ea"/>
                <a:cs typeface="Arial"/>
              </a:defRPr>
            </a:lvl1pPr>
            <a:lvl2pPr marL="380990" indent="-380990" algn="l" defTabSz="609585" rtl="0" eaLnBrk="1" latinLnBrk="0" hangingPunct="1">
              <a:lnSpc>
                <a:spcPct val="95000"/>
              </a:lnSpc>
              <a:spcBef>
                <a:spcPts val="1200"/>
              </a:spcBef>
              <a:buClr>
                <a:schemeClr val="tx1"/>
              </a:buClr>
              <a:buFont typeface="Arial" pitchFamily="34" charset="0"/>
              <a:buChar char="•"/>
              <a:defRPr lang="en-US" sz="2133" b="0" kern="1200" dirty="0" smtClean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683667" indent="-380990" algn="l" defTabSz="609585" rtl="0" eaLnBrk="1" latinLnBrk="0" hangingPunct="1">
              <a:spcBef>
                <a:spcPts val="1200"/>
              </a:spcBef>
              <a:buClr>
                <a:srgbClr val="642673"/>
              </a:buClr>
              <a:buFont typeface="Arial"/>
              <a:buChar char="•"/>
              <a:defRPr lang="en-US" sz="1867" kern="1200" dirty="0" smtClean="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3pPr>
            <a:lvl4pPr marL="916493" indent="-380990" algn="l" defTabSz="609585" rtl="0" eaLnBrk="1" latinLnBrk="0" hangingPunct="1">
              <a:spcBef>
                <a:spcPts val="1200"/>
              </a:spcBef>
              <a:buClr>
                <a:srgbClr val="45A1AA"/>
              </a:buClr>
              <a:buFont typeface="Arial" panose="020B0604020202020204" pitchFamily="34" charset="0"/>
              <a:buChar char="•"/>
              <a:defRPr lang="en-US" sz="1600" kern="1200" dirty="0" smtClean="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4pPr>
            <a:lvl5pPr marL="916493" indent="-380990" algn="l" defTabSz="609585" rtl="0" eaLnBrk="1" latinLnBrk="0" hangingPunct="1">
              <a:spcBef>
                <a:spcPts val="1200"/>
              </a:spcBef>
              <a:buClr>
                <a:srgbClr val="414042"/>
              </a:buClr>
              <a:buFont typeface="Arial" panose="020B0604020202020204" pitchFamily="34" charset="0"/>
              <a:buChar char="̶"/>
              <a:defRPr lang="en-US" sz="1600" kern="1200" dirty="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5pPr>
          </a:lstStyle>
          <a:p>
            <a:pPr marL="457189" lvl="0" indent="-457189" algn="l" defTabSz="609585" rtl="0" eaLnBrk="1" latinLnBrk="0" hangingPunct="1">
              <a:spcBef>
                <a:spcPts val="1600"/>
              </a:spcBef>
              <a:buFontTx/>
              <a:buNone/>
            </a:pPr>
            <a:r>
              <a:rPr lang="es-MX"/>
              <a:t>Haga clic para modificar los estilos de texto del patrón</a:t>
            </a:r>
          </a:p>
          <a:p>
            <a:pPr marL="457189" lvl="1" indent="-457189" algn="l" defTabSz="609585" rtl="0" eaLnBrk="1" latinLnBrk="0" hangingPunct="1">
              <a:spcBef>
                <a:spcPts val="1600"/>
              </a:spcBef>
              <a:buFontTx/>
              <a:buNone/>
            </a:pPr>
            <a:r>
              <a:rPr lang="es-MX"/>
              <a:t>Segundo nivel</a:t>
            </a:r>
          </a:p>
          <a:p>
            <a:pPr marL="457189" lvl="2" indent="-457189" algn="l" defTabSz="609585" rtl="0" eaLnBrk="1" latinLnBrk="0" hangingPunct="1">
              <a:spcBef>
                <a:spcPts val="1600"/>
              </a:spcBef>
              <a:buFontTx/>
              <a:buNone/>
            </a:pPr>
            <a:r>
              <a:rPr lang="es-MX"/>
              <a:t>Tercer nivel</a:t>
            </a:r>
          </a:p>
          <a:p>
            <a:pPr marL="457189" lvl="3" indent="-457189" algn="l" defTabSz="609585" rtl="0" eaLnBrk="1" latinLnBrk="0" hangingPunct="1">
              <a:spcBef>
                <a:spcPts val="1600"/>
              </a:spcBef>
              <a:buFontTx/>
              <a:buNone/>
            </a:pPr>
            <a:r>
              <a:rPr lang="es-MX"/>
              <a:t>Cuarto nivel</a:t>
            </a:r>
          </a:p>
          <a:p>
            <a:pPr marL="457189" lvl="4" indent="-457189" algn="l" defTabSz="609585" rtl="0" eaLnBrk="1" latinLnBrk="0" hangingPunct="1">
              <a:spcBef>
                <a:spcPts val="1600"/>
              </a:spcBef>
              <a:buFontTx/>
              <a:buNone/>
            </a:pPr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75488" y="487681"/>
            <a:ext cx="11267392" cy="58267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856653"/>
      </p:ext>
    </p:extLst>
  </p:cSld>
  <p:clrMapOvr>
    <a:masterClrMapping/>
  </p:clrMapOvr>
  <p:transition spd="slow">
    <p:wipe dir="r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Stock-646457628.jpg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6177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3779"/>
            <a:ext cx="12192000" cy="6858000"/>
          </a:xfrm>
          <a:prstGeom prst="rect">
            <a:avLst/>
          </a:prstGeom>
          <a:solidFill>
            <a:schemeClr val="accent4">
              <a:alpha val="6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Right Triangle 21"/>
          <p:cNvSpPr/>
          <p:nvPr/>
        </p:nvSpPr>
        <p:spPr>
          <a:xfrm flipH="1">
            <a:off x="7632095" y="-7814"/>
            <a:ext cx="4559904" cy="6865815"/>
          </a:xfrm>
          <a:custGeom>
            <a:avLst/>
            <a:gdLst>
              <a:gd name="connsiteX0" fmla="*/ 0 w 3419928"/>
              <a:gd name="connsiteY0" fmla="*/ 5143500 h 5143500"/>
              <a:gd name="connsiteX1" fmla="*/ 0 w 3419928"/>
              <a:gd name="connsiteY1" fmla="*/ 0 h 5143500"/>
              <a:gd name="connsiteX2" fmla="*/ 3419928 w 3419928"/>
              <a:gd name="connsiteY2" fmla="*/ 5143500 h 5143500"/>
              <a:gd name="connsiteX3" fmla="*/ 0 w 3419928"/>
              <a:gd name="connsiteY3" fmla="*/ 5143500 h 5143500"/>
              <a:gd name="connsiteX0" fmla="*/ 0 w 3419928"/>
              <a:gd name="connsiteY0" fmla="*/ 5143500 h 5143500"/>
              <a:gd name="connsiteX1" fmla="*/ 0 w 3419928"/>
              <a:gd name="connsiteY1" fmla="*/ 0 h 5143500"/>
              <a:gd name="connsiteX2" fmla="*/ 992980 w 3419928"/>
              <a:gd name="connsiteY2" fmla="*/ 1485900 h 5143500"/>
              <a:gd name="connsiteX3" fmla="*/ 3419928 w 3419928"/>
              <a:gd name="connsiteY3" fmla="*/ 5143500 h 5143500"/>
              <a:gd name="connsiteX4" fmla="*/ 0 w 3419928"/>
              <a:gd name="connsiteY4" fmla="*/ 5143500 h 5143500"/>
              <a:gd name="connsiteX0" fmla="*/ 0 w 3419928"/>
              <a:gd name="connsiteY0" fmla="*/ 5157788 h 5157788"/>
              <a:gd name="connsiteX1" fmla="*/ 0 w 3419928"/>
              <a:gd name="connsiteY1" fmla="*/ 14288 h 5157788"/>
              <a:gd name="connsiteX2" fmla="*/ 1257299 w 3419928"/>
              <a:gd name="connsiteY2" fmla="*/ 0 h 5157788"/>
              <a:gd name="connsiteX3" fmla="*/ 3419928 w 3419928"/>
              <a:gd name="connsiteY3" fmla="*/ 5157788 h 5157788"/>
              <a:gd name="connsiteX4" fmla="*/ 0 w 3419928"/>
              <a:gd name="connsiteY4" fmla="*/ 5157788 h 5157788"/>
              <a:gd name="connsiteX0" fmla="*/ 0 w 3419928"/>
              <a:gd name="connsiteY0" fmla="*/ 5145147 h 5145147"/>
              <a:gd name="connsiteX1" fmla="*/ 0 w 3419928"/>
              <a:gd name="connsiteY1" fmla="*/ 1647 h 5145147"/>
              <a:gd name="connsiteX2" fmla="*/ 1263619 w 3419928"/>
              <a:gd name="connsiteY2" fmla="*/ 0 h 5145147"/>
              <a:gd name="connsiteX3" fmla="*/ 3419928 w 3419928"/>
              <a:gd name="connsiteY3" fmla="*/ 5145147 h 5145147"/>
              <a:gd name="connsiteX4" fmla="*/ 0 w 3419928"/>
              <a:gd name="connsiteY4" fmla="*/ 5145147 h 5145147"/>
              <a:gd name="connsiteX0" fmla="*/ 0 w 3419928"/>
              <a:gd name="connsiteY0" fmla="*/ 5143500 h 5143500"/>
              <a:gd name="connsiteX1" fmla="*/ 0 w 3419928"/>
              <a:gd name="connsiteY1" fmla="*/ 0 h 5143500"/>
              <a:gd name="connsiteX2" fmla="*/ 1200412 w 3419928"/>
              <a:gd name="connsiteY2" fmla="*/ 103699 h 5143500"/>
              <a:gd name="connsiteX3" fmla="*/ 3419928 w 3419928"/>
              <a:gd name="connsiteY3" fmla="*/ 5143500 h 5143500"/>
              <a:gd name="connsiteX4" fmla="*/ 0 w 3419928"/>
              <a:gd name="connsiteY4" fmla="*/ 5143500 h 5143500"/>
              <a:gd name="connsiteX0" fmla="*/ 0 w 3419928"/>
              <a:gd name="connsiteY0" fmla="*/ 5151467 h 5151467"/>
              <a:gd name="connsiteX1" fmla="*/ 0 w 3419928"/>
              <a:gd name="connsiteY1" fmla="*/ 7967 h 5151467"/>
              <a:gd name="connsiteX2" fmla="*/ 1261512 w 3419928"/>
              <a:gd name="connsiteY2" fmla="*/ 0 h 5151467"/>
              <a:gd name="connsiteX3" fmla="*/ 3419928 w 3419928"/>
              <a:gd name="connsiteY3" fmla="*/ 5151467 h 5151467"/>
              <a:gd name="connsiteX4" fmla="*/ 0 w 3419928"/>
              <a:gd name="connsiteY4" fmla="*/ 5151467 h 5151467"/>
              <a:gd name="connsiteX0" fmla="*/ 0 w 3419928"/>
              <a:gd name="connsiteY0" fmla="*/ 5149361 h 5149361"/>
              <a:gd name="connsiteX1" fmla="*/ 0 w 3419928"/>
              <a:gd name="connsiteY1" fmla="*/ 5861 h 5149361"/>
              <a:gd name="connsiteX2" fmla="*/ 1261512 w 3419928"/>
              <a:gd name="connsiteY2" fmla="*/ 0 h 5149361"/>
              <a:gd name="connsiteX3" fmla="*/ 3419928 w 3419928"/>
              <a:gd name="connsiteY3" fmla="*/ 5149361 h 5149361"/>
              <a:gd name="connsiteX4" fmla="*/ 0 w 3419928"/>
              <a:gd name="connsiteY4" fmla="*/ 5149361 h 5149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9928" h="5149361">
                <a:moveTo>
                  <a:pt x="0" y="5149361"/>
                </a:moveTo>
                <a:lnTo>
                  <a:pt x="0" y="5861"/>
                </a:lnTo>
                <a:lnTo>
                  <a:pt x="1261512" y="0"/>
                </a:lnTo>
                <a:lnTo>
                  <a:pt x="3419928" y="5149361"/>
                </a:lnTo>
                <a:lnTo>
                  <a:pt x="0" y="5149361"/>
                </a:lnTo>
                <a:close/>
              </a:path>
            </a:pathLst>
          </a:custGeom>
          <a:solidFill>
            <a:schemeClr val="accent2">
              <a:alpha val="63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400"/>
          </a:p>
        </p:txBody>
      </p:sp>
      <p:sp>
        <p:nvSpPr>
          <p:cNvPr id="15" name="Right Triangle 14"/>
          <p:cNvSpPr/>
          <p:nvPr/>
        </p:nvSpPr>
        <p:spPr>
          <a:xfrm flipH="1" flipV="1">
            <a:off x="8273143" y="-8162"/>
            <a:ext cx="3918856" cy="3905907"/>
          </a:xfrm>
          <a:prstGeom prst="rtTriangle">
            <a:avLst/>
          </a:prstGeom>
          <a:solidFill>
            <a:schemeClr val="accent4">
              <a:alpha val="76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310" y="3625511"/>
            <a:ext cx="5695167" cy="1161143"/>
          </a:xfrm>
        </p:spPr>
        <p:txBody>
          <a:bodyPr>
            <a:normAutofit/>
          </a:bodyPr>
          <a:lstStyle>
            <a:lvl1pPr>
              <a:defRPr sz="5333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pic>
        <p:nvPicPr>
          <p:cNvPr id="13" name="Picture 12" descr="ellucian_white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310" y="866875"/>
            <a:ext cx="2164695" cy="443247"/>
          </a:xfrm>
          <a:prstGeom prst="rect">
            <a:avLst/>
          </a:prstGeom>
        </p:spPr>
      </p:pic>
      <p:sp>
        <p:nvSpPr>
          <p:cNvPr id="12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463297" y="4911366"/>
            <a:ext cx="7640512" cy="1589695"/>
          </a:xfrm>
        </p:spPr>
        <p:txBody>
          <a:bodyPr anchor="t" anchorCtr="0">
            <a:normAutofit/>
          </a:bodyPr>
          <a:lstStyle>
            <a:lvl1pPr>
              <a:spcBef>
                <a:spcPts val="0"/>
              </a:spcBef>
              <a:buNone/>
              <a:defRPr sz="2267" b="0" spc="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Title title title, </a:t>
            </a:r>
            <a:r>
              <a:rPr lang="en-US" dirty="0" err="1"/>
              <a:t>Ellucian</a:t>
            </a:r>
            <a:br>
              <a:rPr lang="en-US" dirty="0"/>
            </a:br>
            <a:r>
              <a:rPr lang="en-US" dirty="0" err="1"/>
              <a:t>firstname.lastname@ellucian.com</a:t>
            </a:r>
            <a:endParaRPr lang="en-US" dirty="0"/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053544"/>
            <a:ext cx="6656832" cy="835251"/>
          </a:xfrm>
        </p:spPr>
        <p:txBody>
          <a:bodyPr anchor="b">
            <a:noAutofit/>
          </a:bodyPr>
          <a:lstStyle>
            <a:lvl1pPr>
              <a:buNone/>
              <a:defRPr sz="2267" b="1" cap="all" spc="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3902559036"/>
      </p:ext>
    </p:extLst>
  </p:cSld>
  <p:clrMapOvr>
    <a:masterClrMapping/>
  </p:clrMapOvr>
  <p:transition spd="slow">
    <p:wipe dir="r"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orient="horz" pos="2453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>
            <a:extLst>
              <a:ext uri="{FF2B5EF4-FFF2-40B4-BE49-F238E27FC236}">
                <a16:creationId xmlns:a16="http://schemas.microsoft.com/office/drawing/2014/main" id="{0D606AED-DD8D-9B4B-A5A1-B57A5083C0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8163" y="258373"/>
            <a:ext cx="6711912" cy="6858000"/>
          </a:xfrm>
          <a:prstGeom prst="rect">
            <a:avLst/>
          </a:prstGeom>
        </p:spPr>
      </p:pic>
      <p:sp>
        <p:nvSpPr>
          <p:cNvPr id="4" name="Trapezoid 3"/>
          <p:cNvSpPr/>
          <p:nvPr userDrawn="1"/>
        </p:nvSpPr>
        <p:spPr>
          <a:xfrm>
            <a:off x="0" y="1"/>
            <a:ext cx="9144000" cy="6874172"/>
          </a:xfrm>
          <a:custGeom>
            <a:avLst/>
            <a:gdLst>
              <a:gd name="connsiteX0" fmla="*/ 0 w 6858000"/>
              <a:gd name="connsiteY0" fmla="*/ 5148072 h 5148072"/>
              <a:gd name="connsiteX1" fmla="*/ 0 w 6858000"/>
              <a:gd name="connsiteY1" fmla="*/ 0 h 5148072"/>
              <a:gd name="connsiteX2" fmla="*/ 6858000 w 6858000"/>
              <a:gd name="connsiteY2" fmla="*/ 0 h 5148072"/>
              <a:gd name="connsiteX3" fmla="*/ 6858000 w 6858000"/>
              <a:gd name="connsiteY3" fmla="*/ 5148072 h 5148072"/>
              <a:gd name="connsiteX4" fmla="*/ 0 w 6858000"/>
              <a:gd name="connsiteY4" fmla="*/ 5148072 h 5148072"/>
              <a:gd name="connsiteX0" fmla="*/ 0 w 6858000"/>
              <a:gd name="connsiteY0" fmla="*/ 5148072 h 5155629"/>
              <a:gd name="connsiteX1" fmla="*/ 0 w 6858000"/>
              <a:gd name="connsiteY1" fmla="*/ 0 h 5155629"/>
              <a:gd name="connsiteX2" fmla="*/ 6858000 w 6858000"/>
              <a:gd name="connsiteY2" fmla="*/ 0 h 5155629"/>
              <a:gd name="connsiteX3" fmla="*/ 4840275 w 6858000"/>
              <a:gd name="connsiteY3" fmla="*/ 5155629 h 5155629"/>
              <a:gd name="connsiteX4" fmla="*/ 0 w 6858000"/>
              <a:gd name="connsiteY4" fmla="*/ 5148072 h 5155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00" h="5155629">
                <a:moveTo>
                  <a:pt x="0" y="5148072"/>
                </a:moveTo>
                <a:lnTo>
                  <a:pt x="0" y="0"/>
                </a:lnTo>
                <a:lnTo>
                  <a:pt x="6858000" y="0"/>
                </a:lnTo>
                <a:lnTo>
                  <a:pt x="4840275" y="5155629"/>
                </a:lnTo>
                <a:lnTo>
                  <a:pt x="0" y="51480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lvl="0"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461309" y="2589804"/>
            <a:ext cx="6650691" cy="2151529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640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5" name="Picture 4" descr="ellucian_purpl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310" y="1631578"/>
            <a:ext cx="2327711" cy="479092"/>
          </a:xfrm>
          <a:prstGeom prst="rect">
            <a:avLst/>
          </a:prstGeom>
        </p:spPr>
      </p:pic>
      <p:sp>
        <p:nvSpPr>
          <p:cNvPr id="10" name="Text Placeholder 1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7200" y="5543554"/>
            <a:ext cx="6396392" cy="675417"/>
          </a:xfrm>
        </p:spPr>
        <p:txBody>
          <a:bodyPr anchor="t" anchorCtr="0">
            <a:noAutofit/>
          </a:bodyPr>
          <a:lstStyle>
            <a:lvl1pPr>
              <a:buNone/>
              <a:defRPr sz="2267" b="0" spc="0" baseline="0">
                <a:solidFill>
                  <a:schemeClr val="accent2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Presenter’s title</a:t>
            </a:r>
            <a:br>
              <a:rPr lang="en-US" dirty="0"/>
            </a:br>
            <a:r>
              <a:rPr lang="en-US" dirty="0" err="1"/>
              <a:t>Ellucian</a:t>
            </a:r>
            <a:endParaRPr lang="en-US" dirty="0"/>
          </a:p>
        </p:txBody>
      </p:sp>
      <p:sp>
        <p:nvSpPr>
          <p:cNvPr id="3" name="Right Triangle 2"/>
          <p:cNvSpPr/>
          <p:nvPr userDrawn="1"/>
        </p:nvSpPr>
        <p:spPr>
          <a:xfrm flipH="1" flipV="1">
            <a:off x="6604000" y="-3"/>
            <a:ext cx="5588000" cy="5608320"/>
          </a:xfrm>
          <a:prstGeom prst="rtTriangle">
            <a:avLst/>
          </a:prstGeom>
          <a:solidFill>
            <a:srgbClr val="45A1AA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40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719592"/>
            <a:ext cx="6656832" cy="835251"/>
          </a:xfrm>
        </p:spPr>
        <p:txBody>
          <a:bodyPr anchor="b">
            <a:noAutofit/>
          </a:bodyPr>
          <a:lstStyle>
            <a:lvl1pPr>
              <a:buNone/>
              <a:defRPr sz="2267" b="1" cap="all" spc="0" baseline="0">
                <a:solidFill>
                  <a:schemeClr val="accent2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100155739"/>
      </p:ext>
    </p:extLst>
  </p:cSld>
  <p:clrMapOvr>
    <a:masterClrMapping/>
  </p:clrMapOvr>
  <p:transition spd="slow">
    <p:wipe dir="r"/>
  </p:transition>
  <p:extLst>
    <p:ext uri="{DCECCB84-F9BA-43D5-87BE-67443E8EF086}">
      <p15:sldGuideLst xmlns:p15="http://schemas.microsoft.com/office/powerpoint/2012/main">
        <p15:guide id="1" orient="horz" pos="2747">
          <p15:clr>
            <a:srgbClr val="FBAE40"/>
          </p15:clr>
        </p15:guide>
        <p15:guide id="2" pos="3047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75488" y="487681"/>
            <a:ext cx="11267392" cy="5826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/>
            </a:lvl1pPr>
          </a:lstStyle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821010585"/>
      </p:ext>
    </p:extLst>
  </p:cSld>
  <p:clrMapOvr>
    <a:masterClrMapping/>
  </p:clrMapOvr>
  <p:transition spd="slow">
    <p:wipe dir="r"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Divider 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472848" y="991929"/>
            <a:ext cx="11266501" cy="1691096"/>
          </a:xfrm>
        </p:spPr>
        <p:txBody>
          <a:bodyPr tIns="0" bIns="0" anchor="b">
            <a:noAutofit/>
          </a:bodyPr>
          <a:lstStyle>
            <a:lvl1pPr algn="l">
              <a:lnSpc>
                <a:spcPct val="100000"/>
              </a:lnSpc>
              <a:defRPr sz="5333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472849" y="1316874"/>
            <a:ext cx="5298956" cy="351367"/>
          </a:xfrm>
        </p:spPr>
        <p:txBody>
          <a:bodyPr>
            <a:normAutofit/>
          </a:bodyPr>
          <a:lstStyle>
            <a:lvl1pPr>
              <a:buNone/>
              <a:defRPr sz="2133" spc="133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r>
              <a:rPr lang="en-US" dirty="0"/>
              <a:t>SECTION # [optional]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472848" y="3112608"/>
            <a:ext cx="7108205" cy="2462723"/>
          </a:xfrm>
        </p:spPr>
        <p:txBody>
          <a:bodyPr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933" b="0">
                <a:solidFill>
                  <a:schemeClr val="bg1">
                    <a:lumMod val="8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0" name="Footer Placeholder 4"/>
          <p:cNvSpPr txBox="1">
            <a:spLocks/>
          </p:cNvSpPr>
          <p:nvPr userDrawn="1"/>
        </p:nvSpPr>
        <p:spPr>
          <a:xfrm>
            <a:off x="6875242" y="6591893"/>
            <a:ext cx="4426065" cy="143565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© 2018 Ellucian</a:t>
            </a:r>
            <a:endParaRPr kumimoji="0" lang="en-US" sz="933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21" name="Picture 20" descr="ellucian_whit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077" y="6564051"/>
            <a:ext cx="983800" cy="201444"/>
          </a:xfrm>
          <a:prstGeom prst="rect">
            <a:avLst/>
          </a:prstGeom>
        </p:spPr>
      </p:pic>
      <p:sp>
        <p:nvSpPr>
          <p:cNvPr id="9" name="Slide Number Placeholder 3"/>
          <p:cNvSpPr txBox="1">
            <a:spLocks/>
          </p:cNvSpPr>
          <p:nvPr userDrawn="1"/>
        </p:nvSpPr>
        <p:spPr>
          <a:xfrm>
            <a:off x="11203208" y="6468813"/>
            <a:ext cx="537689" cy="2747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457200" rtl="0" eaLnBrk="1" latinLnBrk="0" hangingPunct="1">
              <a:defRPr sz="1100" b="0" kern="120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A085A0-3A3D-6540-B0AC-0588E66301FB}" type="slidenum">
              <a:rPr lang="en-US" sz="1467" smtClean="0"/>
              <a:pPr/>
              <a:t>‹#›</a:t>
            </a:fld>
            <a:endParaRPr lang="en-US" sz="1467"/>
          </a:p>
        </p:txBody>
      </p:sp>
    </p:spTree>
    <p:extLst>
      <p:ext uri="{BB962C8B-B14F-4D97-AF65-F5344CB8AC3E}">
        <p14:creationId xmlns:p14="http://schemas.microsoft.com/office/powerpoint/2010/main" val="2912799733"/>
      </p:ext>
    </p:extLst>
  </p:cSld>
  <p:clrMapOvr>
    <a:masterClrMapping/>
  </p:clrMapOvr>
  <p:transition spd="slow">
    <p:wipe dir="r"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alt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475488" y="4264233"/>
            <a:ext cx="7640512" cy="1589695"/>
          </a:xfrm>
        </p:spPr>
        <p:txBody>
          <a:bodyPr anchor="b">
            <a:noAutofit/>
          </a:bodyPr>
          <a:lstStyle>
            <a:lvl1pPr>
              <a:buNone/>
              <a:defRPr sz="2267" b="0" spc="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PRESENTER NAME, Title, </a:t>
            </a:r>
            <a:r>
              <a:rPr lang="en-US" dirty="0" err="1"/>
              <a:t>Ellucian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475488" y="581175"/>
            <a:ext cx="5971371" cy="351367"/>
          </a:xfrm>
        </p:spPr>
        <p:txBody>
          <a:bodyPr>
            <a:noAutofit/>
          </a:bodyPr>
          <a:lstStyle>
            <a:lvl1pPr>
              <a:buNone/>
              <a:defRPr sz="2133" spc="133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WEBINAR [optional]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75488" y="1117442"/>
            <a:ext cx="5971371" cy="3790903"/>
          </a:xfrm>
        </p:spPr>
        <p:txBody>
          <a:bodyPr tIns="0" bIns="0" anchor="t">
            <a:noAutofit/>
          </a:bodyPr>
          <a:lstStyle>
            <a:lvl1pPr algn="l">
              <a:lnSpc>
                <a:spcPct val="90000"/>
              </a:lnSpc>
              <a:defRPr sz="4933" b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Master title style</a:t>
            </a:r>
          </a:p>
        </p:txBody>
      </p:sp>
      <p:pic>
        <p:nvPicPr>
          <p:cNvPr id="5" name="Picture 4" descr="ellucian_whit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1407" y="5558586"/>
            <a:ext cx="2164695" cy="443247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0" y="6431280"/>
            <a:ext cx="12192000" cy="42672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193322890"/>
      </p:ext>
    </p:extLst>
  </p:cSld>
  <p:clrMapOvr>
    <a:masterClrMapping/>
  </p:clrMapOvr>
  <p:transition spd="slow">
    <p:wipe dir="r"/>
  </p:transition>
  <p:extLst>
    <p:ext uri="{DCECCB84-F9BA-43D5-87BE-67443E8EF086}">
      <p15:sldGuideLst xmlns:p15="http://schemas.microsoft.com/office/powerpoint/2012/main">
        <p15:guide id="1" orient="horz" pos="78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722968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81C625F-C66F-1373-141C-E36C160D0D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E6E8FD-F743-B760-4565-52A5B0B667B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76087-D7C9-C1C3-5E17-263AB892AD6D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09868629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1FD067-74D8-0E64-F510-C09BEC15D0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E64D5-8E4A-3059-BC15-EB884BE08EC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D1F0B-69D7-F3A9-055F-2A986648AD27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0871188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DB79317-11D6-0AF3-4B54-BDA534C904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209B0-4D3E-B28A-692D-AB3B431BDB0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58A56-C172-10B2-D489-16D7DACEC5F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3204017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ABA3577-65BA-7CC4-5395-E38F2A7AC7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35DE03-26E8-0184-A39C-5A462BDC2DC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91899-8397-C452-E914-5DA32F2E64BE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7047984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95EB3C-8530-E0C8-4217-5508CF63DB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50D81-7260-A5B0-C045-065E98F3D872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E4D3A3-6199-EF4C-2D38-F8DA60A48FE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4244236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0CB40AC-8E27-B4CE-FE98-617281F618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A44510-D9B6-3D27-0025-27FFAAD9F8AE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BE2C0-3213-6D2D-4479-AD9B8089A641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50409549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839101-BBAA-D670-10CD-40BF5E0392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F7E87-236E-67B1-F9B1-5ACC27A1C0B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E2BFF-AA3C-F635-EDE7-1D4D95732292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52724853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88CB9F-7B69-6D25-41A0-F5D4BFE324C9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E0AAAEA-1F16-516A-417D-DC9DF964E8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FD55EF-B73C-D814-E528-7EF5EBB86F1C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7C5A4-055F-072E-16C5-84527D1FFDB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02718075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5C8E9-F647-20C1-E64B-5FADBF7E8499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66E5DE2-889D-3DE4-3572-3DCEEA210F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32288-F84C-D66E-3E63-ED023CEAD97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A4C6E-89CC-BA61-A575-3A36232457CA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2757175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D04E6AC-3638-47BF-6BFD-E68AF8093A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33454-6E80-8B9B-BBCB-6434F5D21BA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2D7DB-F5BA-604F-2A99-DBAB5A8DE7ED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6416598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5C3B88-0182-B843-BB3B-F145067D5C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4ADAE-B350-C159-D672-6F29FE4CC4F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B9DF3-A55E-DBF2-C049-8624E2CA323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1850412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68F462-6E9A-C654-C321-DFBF69C7A6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75F911-FCDF-6D37-1A4E-6CFB26AAEB35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A93C5-2125-4620-62DB-C8E3A6CA982A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0954247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396D46-CDE6-66B6-0A7B-6DEC14B972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462404-BF65-8481-4332-5DF7AD5ED1C9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232A2-9E4F-3C88-D771-7120FAD75090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9303409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A2E6-F483-60DE-DF61-B60C10DBDE89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37624072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3DCF4-AC60-B9D8-A985-C1CFC1A5AD75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0167148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C058F-486D-43DF-4B5C-09387CA4F8E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0131610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arm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F5FB22-C2EA-99F6-EF38-AD4BBB0C34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AEA50-DA2C-915C-545F-713FCDF35A3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EA6DE-76EE-C5B8-0477-8D50A19F075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16790168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2952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59.xml"/><Relationship Id="rId18" Type="http://schemas.openxmlformats.org/officeDocument/2006/relationships/slideLayout" Target="../slideLayouts/slideLayout64.xml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63.xml"/><Relationship Id="rId2" Type="http://schemas.openxmlformats.org/officeDocument/2006/relationships/slideLayout" Target="../slideLayouts/slideLayout48.xml"/><Relationship Id="rId16" Type="http://schemas.openxmlformats.org/officeDocument/2006/relationships/slideLayout" Target="../slideLayouts/slideLayout62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56.xml"/><Relationship Id="rId19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70247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  <p:sldLayoutId id="2147483736" r:id="rId18"/>
    <p:sldLayoutId id="2147483737" r:id="rId19"/>
    <p:sldLayoutId id="2147483738" r:id="rId20"/>
    <p:sldLayoutId id="2147483739" r:id="rId21"/>
    <p:sldLayoutId id="2147483740" r:id="rId22"/>
    <p:sldLayoutId id="2147483741" r:id="rId23"/>
    <p:sldLayoutId id="2147483742" r:id="rId24"/>
    <p:sldLayoutId id="2147483743" r:id="rId25"/>
    <p:sldLayoutId id="2147483744" r:id="rId26"/>
    <p:sldLayoutId id="2147483745" r:id="rId27"/>
    <p:sldLayoutId id="2147483746" r:id="rId28"/>
    <p:sldLayoutId id="2147483747" r:id="rId29"/>
    <p:sldLayoutId id="2147483748" r:id="rId30"/>
    <p:sldLayoutId id="2147483749" r:id="rId31"/>
    <p:sldLayoutId id="2147483750" r:id="rId32"/>
    <p:sldLayoutId id="2147483751" r:id="rId33"/>
    <p:sldLayoutId id="2147483752" r:id="rId34"/>
    <p:sldLayoutId id="2147483753" r:id="rId35"/>
    <p:sldLayoutId id="2147483754" r:id="rId36"/>
    <p:sldLayoutId id="2147483757" r:id="rId37"/>
    <p:sldLayoutId id="2147483758" r:id="rId38"/>
    <p:sldLayoutId id="2147483759" r:id="rId39"/>
    <p:sldLayoutId id="2147483760" r:id="rId40"/>
    <p:sldLayoutId id="2147483761" r:id="rId41"/>
    <p:sldLayoutId id="2147483762" r:id="rId42"/>
    <p:sldLayoutId id="2147483712" r:id="rId43"/>
    <p:sldLayoutId id="2147483713" r:id="rId44"/>
    <p:sldLayoutId id="2147483714" r:id="rId45"/>
    <p:sldLayoutId id="2147483717" r:id="rId4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4133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  <p:sldLayoutId id="2147483779" r:id="rId15"/>
    <p:sldLayoutId id="2147483780" r:id="rId16"/>
    <p:sldLayoutId id="2147483781" r:id="rId17"/>
    <p:sldLayoutId id="2147483782" r:id="rId18"/>
    <p:sldLayoutId id="2147483783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39.sv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4DC2834-C0BC-1E9E-35AB-295707DC0D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902" y="4143944"/>
            <a:ext cx="5427132" cy="740459"/>
          </a:xfrm>
        </p:spPr>
        <p:txBody>
          <a:bodyPr/>
          <a:lstStyle/>
          <a:p>
            <a:r>
              <a:rPr lang="es-ES" dirty="0"/>
              <a:t>Instructivo</a:t>
            </a:r>
            <a:endParaRPr lang="es-419" dirty="0"/>
          </a:p>
          <a:p>
            <a:endParaRPr lang="es-419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26DA71FA-37DD-30F0-5182-663EBEE7A9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CL" dirty="0"/>
              <a:t>Mes, Año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44935" y="2183599"/>
            <a:ext cx="5651066" cy="233057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419" sz="4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Revisar las calificaciones por Autoservicio  </a:t>
            </a:r>
            <a:br>
              <a:rPr lang="es-419" sz="4000" dirty="0"/>
            </a:br>
            <a:endParaRPr lang="es-ES_tradnl" sz="4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8" name="Marcador de posición de imagen 8" descr="Un par de personas sentadas en una mesa&#10;&#10;El contenido generado por IA puede ser incorrecto.">
            <a:extLst>
              <a:ext uri="{FF2B5EF4-FFF2-40B4-BE49-F238E27FC236}">
                <a16:creationId xmlns:a16="http://schemas.microsoft.com/office/drawing/2014/main" id="{4F7B45E6-A22E-4AC7-1472-85D0784AA90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9" r="17869"/>
          <a:stretch>
            <a:fillRect/>
          </a:stretch>
        </p:blipFill>
        <p:spPr>
          <a:xfrm>
            <a:off x="6689725" y="574675"/>
            <a:ext cx="5502275" cy="5710238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</p:pic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64F96709-410B-0915-4195-6E4BDF25CC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6902" y="5609784"/>
            <a:ext cx="3032274" cy="398058"/>
          </a:xfrm>
        </p:spPr>
        <p:txBody>
          <a:bodyPr/>
          <a:lstStyle/>
          <a:p>
            <a:r>
              <a:rPr lang="es-CL" dirty="0"/>
              <a:t>Consultor</a:t>
            </a:r>
            <a:br>
              <a:rPr lang="es-CL" dirty="0"/>
            </a:br>
            <a:r>
              <a:rPr lang="es-CL" dirty="0"/>
              <a:t>Cargo</a:t>
            </a:r>
          </a:p>
        </p:txBody>
      </p:sp>
    </p:spTree>
    <p:extLst>
      <p:ext uri="{BB962C8B-B14F-4D97-AF65-F5344CB8AC3E}">
        <p14:creationId xmlns:p14="http://schemas.microsoft.com/office/powerpoint/2010/main" val="3216543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dirty="0"/>
              <a:t>Revisar las calificaciones por Autoservicio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2F251E4-F7D3-0AE0-241B-BEA1D1CB083C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825625"/>
          <a:ext cx="8916155" cy="27415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015">
                  <a:extLst>
                    <a:ext uri="{9D8B030D-6E8A-4147-A177-3AD203B41FA5}">
                      <a16:colId xmlns:a16="http://schemas.microsoft.com/office/drawing/2014/main" val="4056122228"/>
                    </a:ext>
                  </a:extLst>
                </a:gridCol>
                <a:gridCol w="8103140">
                  <a:extLst>
                    <a:ext uri="{9D8B030D-6E8A-4147-A177-3AD203B41FA5}">
                      <a16:colId xmlns:a16="http://schemas.microsoft.com/office/drawing/2014/main" val="870785619"/>
                    </a:ext>
                  </a:extLst>
                </a:gridCol>
              </a:tblGrid>
              <a:tr h="617939">
                <a:tc>
                  <a:txBody>
                    <a:bodyPr/>
                    <a:lstStyle/>
                    <a:p>
                      <a:r>
                        <a:rPr lang="es-ES_tradnl" sz="2400" b="1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01</a:t>
                      </a:r>
                    </a:p>
                  </a:txBody>
                  <a:tcPr marL="121920" marR="121920" marT="60960" marB="6096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_tradnl" sz="1800" b="0" kern="1200" noProof="0" dirty="0">
                        <a:solidFill>
                          <a:srgbClr val="414042"/>
                        </a:solidFill>
                        <a:latin typeface="Arial"/>
                        <a:ea typeface="+mn-ea"/>
                        <a:cs typeface="Arial"/>
                      </a:endParaRPr>
                    </a:p>
                    <a:p>
                      <a:r>
                        <a:rPr lang="es-ES_tradnl" sz="2400" b="1" kern="1200" noProof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Overview</a:t>
                      </a:r>
                      <a:endParaRPr lang="es-ES_tradnl" sz="2400" b="1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97536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188900"/>
                  </a:ext>
                </a:extLst>
              </a:tr>
              <a:tr h="64959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ES_tradnl" sz="2400" b="1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02</a:t>
                      </a:r>
                    </a:p>
                  </a:txBody>
                  <a:tcPr marL="121920" marR="121920" marT="60960" marB="60960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ES" sz="2400" b="1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Configuraciones </a:t>
                      </a:r>
                      <a:endParaRPr lang="es-ES_tradnl" sz="2400" b="1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97536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0300855"/>
                  </a:ext>
                </a:extLst>
              </a:tr>
              <a:tr h="64442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ES_tradnl" sz="2400" b="1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</a:p>
                  </a:txBody>
                  <a:tcPr marL="121920" marR="121920" marT="60960" marB="60960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sz="2400" b="1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Revisar las calificaciones</a:t>
                      </a:r>
                    </a:p>
                  </a:txBody>
                  <a:tcPr marL="121920" marR="121920" marT="60960" marB="97536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4902383"/>
                  </a:ext>
                </a:extLst>
              </a:tr>
              <a:tr h="64898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419" sz="2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</a:p>
                  </a:txBody>
                  <a:tcPr marL="121920" marR="121920" marT="60960" marB="60960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2400" b="1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Resumen</a:t>
                      </a:r>
                      <a:endParaRPr lang="es-419" sz="2400" b="1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97536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0622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1571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vertical 3">
            <a:extLst>
              <a:ext uri="{FF2B5EF4-FFF2-40B4-BE49-F238E27FC236}">
                <a16:creationId xmlns:a16="http://schemas.microsoft.com/office/drawing/2014/main" id="{EEB262EA-17F2-0141-65EE-C84E22C29CEB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Revisar las calificaciones por Autoservicio</a:t>
            </a:r>
            <a:endParaRPr lang="es-419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Overview</a:t>
            </a:r>
            <a:endParaRPr lang="es-ES_tradnl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21709B6-3D7D-7AA3-22D3-520F8F6543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393894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tical Text Placeholder 3">
            <a:extLst>
              <a:ext uri="{FF2B5EF4-FFF2-40B4-BE49-F238E27FC236}">
                <a16:creationId xmlns:a16="http://schemas.microsoft.com/office/drawing/2014/main" id="{E84A95C1-A1C4-874B-A0F8-44AB6CD99FF1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dirty="0"/>
              <a:t>Revisar las calificaciones por Autoservicio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1505E3-5A51-3A2E-57EA-74DF6A59B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337" y="508268"/>
            <a:ext cx="9418021" cy="898555"/>
          </a:xfrm>
        </p:spPr>
        <p:txBody>
          <a:bodyPr/>
          <a:lstStyle/>
          <a:p>
            <a:r>
              <a:rPr lang="es-419" sz="3200" noProof="0" dirty="0">
                <a:solidFill>
                  <a:schemeClr val="accent1"/>
                </a:solidFill>
              </a:rPr>
              <a:t>Overview: </a:t>
            </a:r>
            <a:r>
              <a:rPr lang="es-419" sz="3200" b="0" noProof="0" dirty="0">
                <a:solidFill>
                  <a:schemeClr val="accent1"/>
                </a:solidFill>
              </a:rPr>
              <a:t>Mapa de capacidades</a:t>
            </a:r>
            <a:endParaRPr lang="es-419" b="0" noProof="0" dirty="0">
              <a:solidFill>
                <a:schemeClr val="accent1"/>
              </a:solidFill>
            </a:endParaRPr>
          </a:p>
        </p:txBody>
      </p:sp>
      <p:pic>
        <p:nvPicPr>
          <p:cNvPr id="5" name="Imagen 2">
            <a:extLst>
              <a:ext uri="{FF2B5EF4-FFF2-40B4-BE49-F238E27FC236}">
                <a16:creationId xmlns:a16="http://schemas.microsoft.com/office/drawing/2014/main" id="{911D7325-C46C-1AEC-08B6-C55A90B2B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49" y="1030689"/>
            <a:ext cx="10180101" cy="479661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C70E560-FD05-5A48-6D34-D3EBD8654FB8}"/>
              </a:ext>
            </a:extLst>
          </p:cNvPr>
          <p:cNvSpPr/>
          <p:nvPr/>
        </p:nvSpPr>
        <p:spPr>
          <a:xfrm>
            <a:off x="5439345" y="2662645"/>
            <a:ext cx="1624395" cy="629196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118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2">
            <a:extLst>
              <a:ext uri="{FF2B5EF4-FFF2-40B4-BE49-F238E27FC236}">
                <a16:creationId xmlns:a16="http://schemas.microsoft.com/office/drawing/2014/main" id="{EA264FA8-8D88-4C07-B119-8483D8339E48}"/>
              </a:ext>
            </a:extLst>
          </p:cNvPr>
          <p:cNvSpPr txBox="1">
            <a:spLocks/>
          </p:cNvSpPr>
          <p:nvPr/>
        </p:nvSpPr>
        <p:spPr>
          <a:xfrm>
            <a:off x="449120" y="488643"/>
            <a:ext cx="11267392" cy="58267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endParaRPr lang="es-ES_tradnl" sz="3467" b="1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DE6F1F6-6376-A432-54A8-2DC50D4AC5F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1" algn="just"/>
            <a:r>
              <a:rPr lang="es-419" sz="1600" dirty="0"/>
              <a:t>Los alumnos pueden ver las calificaciones obtenidas en sus evaluaciones, según lo vayan registrando los profesores, siempre y cuando estén inscritos en los NRC.</a:t>
            </a:r>
          </a:p>
          <a:p>
            <a:pPr lvl="1" algn="just"/>
            <a:r>
              <a:rPr lang="es-419" sz="1600" dirty="0"/>
              <a:t>Se deben realizar algunas configuraciones para el despliegue de las calificaciones para los estudiantes.</a:t>
            </a:r>
          </a:p>
          <a:p>
            <a:pPr marL="0" indent="0">
              <a:buNone/>
            </a:pPr>
            <a:endParaRPr lang="es-419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6F371D0-37ED-3E35-97F4-2CEDBED2385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dirty="0"/>
              <a:t>Revisar las calificaciones por Autoservicio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1873B57-21C0-B73C-0651-BC5FB30B9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3467" dirty="0" err="1">
                <a:solidFill>
                  <a:schemeClr val="accent1"/>
                </a:solidFill>
              </a:rPr>
              <a:t>Overview</a:t>
            </a:r>
            <a:r>
              <a:rPr lang="es-ES_tradnl" sz="3467" dirty="0">
                <a:solidFill>
                  <a:schemeClr val="accent1"/>
                </a:solidFill>
              </a:rPr>
              <a:t>: </a:t>
            </a:r>
            <a:r>
              <a:rPr lang="es-419" sz="3200" dirty="0">
                <a:solidFill>
                  <a:schemeClr val="accent1"/>
                </a:solidFill>
              </a:rPr>
              <a:t>Revisar las calificaciones por Autoservicio</a:t>
            </a:r>
            <a:br>
              <a:rPr lang="es-ES_tradnl" sz="3467" dirty="0">
                <a:solidFill>
                  <a:schemeClr val="accent1"/>
                </a:solidFill>
              </a:rPr>
            </a:br>
            <a:endParaRPr lang="es-419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1982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2FB3D023-ED79-7E91-BC0A-C4048E0DD771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Revisar las calificaciones por Autoservicio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>
                <a:solidFill>
                  <a:schemeClr val="accent1"/>
                </a:solidFill>
              </a:rPr>
              <a:t>Overview</a:t>
            </a:r>
            <a:r>
              <a:rPr lang="es-ES_tradnl" dirty="0">
                <a:solidFill>
                  <a:schemeClr val="accent1"/>
                </a:solidFill>
              </a:rPr>
              <a:t>: </a:t>
            </a:r>
            <a:r>
              <a:rPr lang="es-419" sz="3200" dirty="0">
                <a:solidFill>
                  <a:schemeClr val="accent1"/>
                </a:solidFill>
              </a:rPr>
              <a:t>Revisar las calificaciones por Autoservicio</a:t>
            </a:r>
            <a:br>
              <a:rPr lang="es-CO" dirty="0">
                <a:solidFill>
                  <a:schemeClr val="accent1"/>
                </a:solidFill>
              </a:rPr>
            </a:br>
            <a:endParaRPr lang="es-ES_tradnl" dirty="0">
              <a:solidFill>
                <a:schemeClr val="accent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BFEEF90-FFF6-8A34-5AE6-76C3DA0453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50" y="1662113"/>
            <a:ext cx="10629900" cy="353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0803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FF9F5-4D73-0F95-7678-0AE0FCC4F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F9B5C96-8DBC-65FF-FAE3-4F645679D6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2515" y="361822"/>
            <a:ext cx="11122188" cy="446084"/>
          </a:xfrm>
        </p:spPr>
        <p:txBody>
          <a:bodyPr/>
          <a:lstStyle/>
          <a:p>
            <a:r>
              <a:rPr lang="es-ES_tradnl" dirty="0" err="1"/>
              <a:t>Overview</a:t>
            </a:r>
            <a:r>
              <a:rPr lang="es-ES_tradnl" dirty="0"/>
              <a:t>: Región donde aplica</a:t>
            </a:r>
            <a:endParaRPr lang="es-419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3F52F2A-F8BB-F72D-A754-DB9173333620}"/>
              </a:ext>
            </a:extLst>
          </p:cNvPr>
          <p:cNvSpPr txBox="1"/>
          <p:nvPr/>
        </p:nvSpPr>
        <p:spPr>
          <a:xfrm>
            <a:off x="8400287" y="3429000"/>
            <a:ext cx="1197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Todo LAC</a:t>
            </a:r>
          </a:p>
        </p:txBody>
      </p:sp>
      <p:pic>
        <p:nvPicPr>
          <p:cNvPr id="10" name="Picture 9" descr="A purple map of south america&#10;&#10;AI-generated content may be incorrect.">
            <a:extLst>
              <a:ext uri="{FF2B5EF4-FFF2-40B4-BE49-F238E27FC236}">
                <a16:creationId xmlns:a16="http://schemas.microsoft.com/office/drawing/2014/main" id="{BC199AD4-C762-DD9E-693C-C0737DFB4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972" y="807906"/>
            <a:ext cx="5780314" cy="578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507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3C43E5D-5D90-9AA1-C4E7-B8A2D164D43C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Revisar las calificaciones por Autoservicio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07623" y="236522"/>
            <a:ext cx="10477497" cy="898555"/>
          </a:xfrm>
        </p:spPr>
        <p:txBody>
          <a:bodyPr/>
          <a:lstStyle/>
          <a:p>
            <a:r>
              <a:rPr lang="es-ES_tradnl" dirty="0" err="1">
                <a:solidFill>
                  <a:schemeClr val="accent1"/>
                </a:solidFill>
              </a:rPr>
              <a:t>Overview</a:t>
            </a:r>
            <a:r>
              <a:rPr lang="es-ES_tradnl" dirty="0">
                <a:solidFill>
                  <a:schemeClr val="accent1"/>
                </a:solidFill>
              </a:rPr>
              <a:t>: </a:t>
            </a:r>
            <a:r>
              <a:rPr lang="es-419" sz="3200" dirty="0">
                <a:solidFill>
                  <a:schemeClr val="accent1"/>
                </a:solidFill>
              </a:rPr>
              <a:t>Revisar las calificaciones por Autoservicio</a:t>
            </a:r>
            <a:br>
              <a:rPr lang="es-419" dirty="0">
                <a:solidFill>
                  <a:schemeClr val="accent1"/>
                </a:solidFill>
              </a:rPr>
            </a:br>
            <a:endParaRPr lang="es-ES_tradnl" dirty="0">
              <a:solidFill>
                <a:schemeClr val="accent1"/>
              </a:solidFill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C2FBF0DB-AA49-19BE-7699-FE95F7C414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072254"/>
              </p:ext>
            </p:extLst>
          </p:nvPr>
        </p:nvGraphicFramePr>
        <p:xfrm>
          <a:off x="1007623" y="1435782"/>
          <a:ext cx="10620983" cy="37983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8964">
                  <a:extLst>
                    <a:ext uri="{9D8B030D-6E8A-4147-A177-3AD203B41FA5}">
                      <a16:colId xmlns:a16="http://schemas.microsoft.com/office/drawing/2014/main" val="34381708"/>
                    </a:ext>
                  </a:extLst>
                </a:gridCol>
                <a:gridCol w="9082019">
                  <a:extLst>
                    <a:ext uri="{9D8B030D-6E8A-4147-A177-3AD203B41FA5}">
                      <a16:colId xmlns:a16="http://schemas.microsoft.com/office/drawing/2014/main" val="1628494477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Concepto</a:t>
                      </a:r>
                      <a:endParaRPr lang="es-CO" sz="120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Descripción</a:t>
                      </a:r>
                      <a:endParaRPr lang="es-CO" sz="120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237914942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 b="1" dirty="0">
                          <a:effectLst/>
                        </a:rPr>
                        <a:t>Número de Referencia de Curso (NRC)</a:t>
                      </a:r>
                      <a:endParaRPr lang="es-CO" sz="1400" b="1" dirty="0">
                        <a:solidFill>
                          <a:srgbClr val="414042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300" dirty="0">
                          <a:solidFill>
                            <a:schemeClr val="tx1"/>
                          </a:solidFill>
                        </a:rPr>
                        <a:t>Es un </a:t>
                      </a:r>
                      <a:r>
                        <a:rPr lang="es-CO" sz="1300" dirty="0"/>
                        <a:t>valor numérico único, en un periodo, que identifica la oferta de un curso en un horario específico y con uno o varios docentes que lo dictan</a:t>
                      </a:r>
                      <a:r>
                        <a:rPr lang="es-419" sz="1300" dirty="0"/>
                        <a:t>.</a:t>
                      </a:r>
                      <a:endParaRPr lang="es-419" sz="1300" dirty="0">
                        <a:solidFill>
                          <a:srgbClr val="414042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1227877135"/>
                  </a:ext>
                </a:extLst>
              </a:tr>
              <a:tr h="59652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CO" sz="1400" b="1" dirty="0">
                          <a:solidFill>
                            <a:srgbClr val="41404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Calificación</a:t>
                      </a: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CO" sz="1300" dirty="0"/>
                        <a:t>Valoración cuantitativa de las competencias alcanzadas por el estudiante asignado a la actividad desarrolladas</a:t>
                      </a:r>
                      <a:r>
                        <a:rPr lang="es-CO" sz="13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s-419" sz="1300" dirty="0">
                        <a:solidFill>
                          <a:srgbClr val="414042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2980877216"/>
                  </a:ext>
                </a:extLst>
              </a:tr>
              <a:tr h="62616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CO" sz="1400" b="1" dirty="0">
                          <a:solidFill>
                            <a:srgbClr val="41404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Calificación Final</a:t>
                      </a: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CO" sz="1300" dirty="0"/>
                        <a:t>Calificación final que obtiene un estudiante en una asignatura, que determina si ha aprobado o reprobado. Comúnmente es un promedio ponderado de las calificaciones parciales obtenidas a lo largo del periodo académico.</a:t>
                      </a:r>
                      <a:endParaRPr lang="es-419" sz="1300" dirty="0">
                        <a:solidFill>
                          <a:srgbClr val="414042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1324545965"/>
                  </a:ext>
                </a:extLst>
              </a:tr>
              <a:tr h="62616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CO" sz="1400" b="1" dirty="0">
                          <a:solidFill>
                            <a:srgbClr val="41404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Componente de calificación</a:t>
                      </a: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300" dirty="0"/>
                        <a:t>Elementos en los que se divide en plan de evaluación de un NRC para obtener la calificación de este.</a:t>
                      </a:r>
                      <a:endParaRPr lang="es-419" sz="1300" dirty="0">
                        <a:solidFill>
                          <a:srgbClr val="414042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2545342843"/>
                  </a:ext>
                </a:extLst>
              </a:tr>
              <a:tr h="6957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CO" sz="1400" b="1" dirty="0">
                          <a:solidFill>
                            <a:srgbClr val="41404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Subcomponente de calificación</a:t>
                      </a: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300" dirty="0"/>
                        <a:t>Un componente de calificación puede dividirse, a su vez, en varias evaluaciones para poder obtener su valoración.</a:t>
                      </a:r>
                      <a:endParaRPr lang="es-419" sz="1300" dirty="0">
                        <a:solidFill>
                          <a:srgbClr val="414042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3242057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034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dirty="0"/>
              <a:t>Revisar las calificaciones por Autoservicio</a:t>
            </a:r>
            <a:endParaRPr lang="es-ES_tradn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Configuraciones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4AA9394-E69C-C63E-8DAA-4B80F997EEA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001964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9F004E2-AAB2-EB9E-4A20-2D950593E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391" y="1232539"/>
            <a:ext cx="10748614" cy="5074332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23BA1EC3-F28D-706C-1D09-F75F6970B207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dirty="0"/>
              <a:t>Revisar las calificaciones por Autoservicio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834202" y="333984"/>
            <a:ext cx="11307684" cy="898555"/>
          </a:xfrm>
        </p:spPr>
        <p:txBody>
          <a:bodyPr/>
          <a:lstStyle/>
          <a:p>
            <a:r>
              <a:rPr lang="es-CO" dirty="0">
                <a:solidFill>
                  <a:schemeClr val="accent1"/>
                </a:solidFill>
              </a:rPr>
              <a:t>Habilitar consulta de calificaciones del período (</a:t>
            </a:r>
            <a:r>
              <a:rPr lang="es-419" b="1" dirty="0">
                <a:solidFill>
                  <a:schemeClr val="accent1"/>
                </a:solidFill>
                <a:effectLst/>
              </a:rPr>
              <a:t>SOATERM</a:t>
            </a:r>
            <a:r>
              <a:rPr lang="es-CO" dirty="0">
                <a:solidFill>
                  <a:schemeClr val="accent1"/>
                </a:solidFill>
              </a:rPr>
              <a:t>)</a:t>
            </a:r>
            <a:endParaRPr lang="es-ES_tradnl" b="1" dirty="0">
              <a:solidFill>
                <a:schemeClr val="accent1"/>
              </a:solidFill>
            </a:endParaRPr>
          </a:p>
        </p:txBody>
      </p:sp>
      <p:sp>
        <p:nvSpPr>
          <p:cNvPr id="8" name="Rectángulo redondeado 5">
            <a:extLst>
              <a:ext uri="{FF2B5EF4-FFF2-40B4-BE49-F238E27FC236}">
                <a16:creationId xmlns:a16="http://schemas.microsoft.com/office/drawing/2014/main" id="{5C365D31-D788-0F72-0C35-969C91A0AC7A}"/>
              </a:ext>
            </a:extLst>
          </p:cNvPr>
          <p:cNvSpPr/>
          <p:nvPr/>
        </p:nvSpPr>
        <p:spPr>
          <a:xfrm>
            <a:off x="1512385" y="3611183"/>
            <a:ext cx="9891224" cy="147416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s-419" sz="1200" dirty="0"/>
              <a:t>Para que los estudiantes puedan visualizar las calificaciones, en la página </a:t>
            </a:r>
            <a:r>
              <a:rPr lang="es-419" sz="1200" b="1" dirty="0"/>
              <a:t>SOATERM</a:t>
            </a:r>
            <a:r>
              <a:rPr lang="es-419" sz="1200" dirty="0"/>
              <a:t> deben activarse las casillas ubicadas en el bloque Controles de despliegue de calificación: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sz="1200" b="1" dirty="0"/>
              <a:t>Desplegar detalles de calificaciones</a:t>
            </a:r>
            <a:r>
              <a:rPr lang="es-ES_tradnl" sz="1200" dirty="0"/>
              <a:t>: permite a los estudiantes visualizar las calificaciones de los componentes y subcomponentes a medida que los docentes las van cargando.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sz="1200" b="1" dirty="0"/>
              <a:t>Desplegar calificaciones parciales</a:t>
            </a:r>
            <a:r>
              <a:rPr lang="es-ES_tradnl" sz="1200" dirty="0"/>
              <a:t>: permite a los estudiantes visualizar la carga de calificaciones parciales de los docentes.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sz="1200" b="1" dirty="0"/>
              <a:t>Desplegar calificaciones finales</a:t>
            </a:r>
            <a:r>
              <a:rPr lang="es-ES_tradnl" sz="1200" dirty="0"/>
              <a:t>: permite a los estudiantes visualizar la carga de calificaciones finales de los docentes.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F2013EE-46B9-C4DD-B459-AB845E83A9D6}"/>
              </a:ext>
            </a:extLst>
          </p:cNvPr>
          <p:cNvSpPr/>
          <p:nvPr/>
        </p:nvSpPr>
        <p:spPr>
          <a:xfrm>
            <a:off x="834202" y="2587949"/>
            <a:ext cx="10656991" cy="424707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400"/>
          </a:p>
        </p:txBody>
      </p:sp>
    </p:spTree>
    <p:extLst>
      <p:ext uri="{BB962C8B-B14F-4D97-AF65-F5344CB8AC3E}">
        <p14:creationId xmlns:p14="http://schemas.microsoft.com/office/powerpoint/2010/main" val="293615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EF30366-BE87-4BAF-2044-1D2404F2E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155" y="1015074"/>
            <a:ext cx="10900166" cy="5170446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23BA1EC3-F28D-706C-1D09-F75F6970B207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dirty="0"/>
              <a:t>Revisar las calificaciones por Autoservicio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804155" y="367461"/>
            <a:ext cx="11307684" cy="898555"/>
          </a:xfrm>
        </p:spPr>
        <p:txBody>
          <a:bodyPr/>
          <a:lstStyle/>
          <a:p>
            <a:r>
              <a:rPr lang="es-CO" dirty="0">
                <a:solidFill>
                  <a:schemeClr val="accent1"/>
                </a:solidFill>
              </a:rPr>
              <a:t>Habilitar consulta de calificaciones para un NRC (</a:t>
            </a:r>
            <a:r>
              <a:rPr lang="es-419" b="1" dirty="0">
                <a:solidFill>
                  <a:schemeClr val="accent1"/>
                </a:solidFill>
                <a:effectLst/>
              </a:rPr>
              <a:t>SSAWSEC</a:t>
            </a:r>
            <a:r>
              <a:rPr lang="es-CO" dirty="0">
                <a:solidFill>
                  <a:schemeClr val="accent1"/>
                </a:solidFill>
              </a:rPr>
              <a:t>)</a:t>
            </a:r>
            <a:endParaRPr lang="es-ES_tradnl" b="1" dirty="0">
              <a:solidFill>
                <a:schemeClr val="accent1"/>
              </a:solidFill>
            </a:endParaRPr>
          </a:p>
        </p:txBody>
      </p:sp>
      <p:sp>
        <p:nvSpPr>
          <p:cNvPr id="8" name="Rectángulo redondeado 5">
            <a:extLst>
              <a:ext uri="{FF2B5EF4-FFF2-40B4-BE49-F238E27FC236}">
                <a16:creationId xmlns:a16="http://schemas.microsoft.com/office/drawing/2014/main" id="{5C365D31-D788-0F72-0C35-969C91A0AC7A}"/>
              </a:ext>
            </a:extLst>
          </p:cNvPr>
          <p:cNvSpPr/>
          <p:nvPr/>
        </p:nvSpPr>
        <p:spPr>
          <a:xfrm>
            <a:off x="1203439" y="3703320"/>
            <a:ext cx="9517153" cy="130812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s-419" sz="1200" dirty="0"/>
              <a:t>Si para un NRC en particular se desea restringir la visualización de las calificaciones, se debe configurar esto en la página SSAWSEC, incorporando el período y NRC correspondiente:</a:t>
            </a:r>
          </a:p>
          <a:p>
            <a:endParaRPr lang="es-419" sz="1200" dirty="0"/>
          </a:p>
          <a:p>
            <a:pPr marL="228600" indent="-228600">
              <a:buFont typeface="+mj-lt"/>
              <a:buAutoNum type="arabicPeriod"/>
            </a:pPr>
            <a:r>
              <a:rPr lang="es-ES_tradnl" sz="1200" dirty="0"/>
              <a:t>En </a:t>
            </a:r>
            <a:r>
              <a:rPr lang="es-ES_tradnl" sz="1200" b="1" dirty="0"/>
              <a:t>SSAWSEC</a:t>
            </a:r>
            <a:r>
              <a:rPr lang="es-ES_tradnl" sz="1200" dirty="0"/>
              <a:t>, </a:t>
            </a:r>
            <a:r>
              <a:rPr lang="es-CO" sz="1200" dirty="0"/>
              <a:t>ingrese el </a:t>
            </a:r>
            <a:r>
              <a:rPr lang="es-CO" sz="1200" b="1" dirty="0"/>
              <a:t>Período</a:t>
            </a:r>
            <a:r>
              <a:rPr lang="es-CO" sz="1200" dirty="0"/>
              <a:t> y el </a:t>
            </a:r>
            <a:r>
              <a:rPr lang="es-CO" sz="1200" b="1" dirty="0"/>
              <a:t>NRC</a:t>
            </a:r>
            <a:r>
              <a:rPr lang="es-CO" sz="1200" dirty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s-CO" sz="1200" dirty="0"/>
              <a:t>Presione el botón </a:t>
            </a:r>
            <a:r>
              <a:rPr lang="es-CO" sz="1200" b="1" dirty="0"/>
              <a:t>Ir</a:t>
            </a:r>
            <a:r>
              <a:rPr lang="es-CO" sz="1200" dirty="0"/>
              <a:t>.</a:t>
            </a:r>
            <a:endParaRPr lang="es-ES_tradnl" sz="12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A77B7DC-6E7A-D306-CB01-138E3C1314C9}"/>
              </a:ext>
            </a:extLst>
          </p:cNvPr>
          <p:cNvSpPr txBox="1"/>
          <p:nvPr/>
        </p:nvSpPr>
        <p:spPr>
          <a:xfrm>
            <a:off x="760863" y="1555224"/>
            <a:ext cx="301753" cy="21544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s-CO" sz="800" b="1" dirty="0">
                <a:solidFill>
                  <a:schemeClr val="bg1"/>
                </a:solidFill>
              </a:rPr>
              <a:t>1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D8C669B-6E20-C478-4654-7180968C802F}"/>
              </a:ext>
            </a:extLst>
          </p:cNvPr>
          <p:cNvSpPr txBox="1"/>
          <p:nvPr/>
        </p:nvSpPr>
        <p:spPr>
          <a:xfrm>
            <a:off x="10959992" y="1574357"/>
            <a:ext cx="301753" cy="21544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C5A1089-5069-7B8D-1BC4-C9BD354A81FA}"/>
              </a:ext>
            </a:extLst>
          </p:cNvPr>
          <p:cNvSpPr/>
          <p:nvPr/>
        </p:nvSpPr>
        <p:spPr>
          <a:xfrm>
            <a:off x="1203439" y="1593490"/>
            <a:ext cx="6697841" cy="177178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400"/>
          </a:p>
        </p:txBody>
      </p:sp>
    </p:spTree>
    <p:extLst>
      <p:ext uri="{BB962C8B-B14F-4D97-AF65-F5344CB8AC3E}">
        <p14:creationId xmlns:p14="http://schemas.microsoft.com/office/powerpoint/2010/main" val="2361761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7046AD1-1694-13B2-EA59-1B3C52E0B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155" y="1255744"/>
            <a:ext cx="10689854" cy="5057144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23BA1EC3-F28D-706C-1D09-F75F6970B207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dirty="0"/>
              <a:t>Revisar las calificaciones por Autoservicio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804155" y="357189"/>
            <a:ext cx="11307684" cy="898555"/>
          </a:xfrm>
        </p:spPr>
        <p:txBody>
          <a:bodyPr/>
          <a:lstStyle/>
          <a:p>
            <a:r>
              <a:rPr lang="es-CO" dirty="0">
                <a:solidFill>
                  <a:schemeClr val="accent1"/>
                </a:solidFill>
              </a:rPr>
              <a:t>Habilitar consulta de calificaciones para un NRC (</a:t>
            </a:r>
            <a:r>
              <a:rPr lang="es-419" b="1" dirty="0">
                <a:solidFill>
                  <a:schemeClr val="accent1"/>
                </a:solidFill>
                <a:effectLst/>
              </a:rPr>
              <a:t>SSAWSEC</a:t>
            </a:r>
            <a:r>
              <a:rPr lang="es-CO" dirty="0">
                <a:solidFill>
                  <a:schemeClr val="accent1"/>
                </a:solidFill>
              </a:rPr>
              <a:t>)</a:t>
            </a:r>
            <a:endParaRPr lang="es-ES_tradnl" b="1" dirty="0">
              <a:solidFill>
                <a:schemeClr val="accent1"/>
              </a:solidFill>
            </a:endParaRPr>
          </a:p>
        </p:txBody>
      </p:sp>
      <p:sp>
        <p:nvSpPr>
          <p:cNvPr id="8" name="Rectángulo redondeado 5">
            <a:extLst>
              <a:ext uri="{FF2B5EF4-FFF2-40B4-BE49-F238E27FC236}">
                <a16:creationId xmlns:a16="http://schemas.microsoft.com/office/drawing/2014/main" id="{5C365D31-D788-0F72-0C35-969C91A0AC7A}"/>
              </a:ext>
            </a:extLst>
          </p:cNvPr>
          <p:cNvSpPr/>
          <p:nvPr/>
        </p:nvSpPr>
        <p:spPr>
          <a:xfrm>
            <a:off x="1203439" y="3256268"/>
            <a:ext cx="9891224" cy="1755175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s-419" sz="1200" dirty="0"/>
              <a:t>Las opciones son las que se explican a continuación:</a:t>
            </a:r>
          </a:p>
          <a:p>
            <a:endParaRPr lang="es-419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sz="1200" b="1" dirty="0"/>
              <a:t>Desplegar calificaciones parciales</a:t>
            </a:r>
            <a:r>
              <a:rPr lang="es-ES_tradnl" sz="1200" dirty="0"/>
              <a:t>: permite a los estudiantes visualizar la carga de calificaciones parciales del NRC.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sz="1200" b="1" dirty="0"/>
              <a:t>Desplegar calificaciones finales</a:t>
            </a:r>
            <a:r>
              <a:rPr lang="es-ES_tradnl" sz="1200" dirty="0"/>
              <a:t>: permite a los estudiantes visualizar la carga de calificaciones finales del NRC.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sz="1200" b="1" dirty="0"/>
              <a:t> Desplegar detalles de calificaciones</a:t>
            </a:r>
            <a:r>
              <a:rPr lang="es-ES_tradnl" sz="1200" dirty="0"/>
              <a:t>: permite a los estudiantes visualizar las calificaciones de los componentes y subcomponentes a medida que los docentes las van cargando en el NRC.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F2013EE-46B9-C4DD-B459-AB845E83A9D6}"/>
              </a:ext>
            </a:extLst>
          </p:cNvPr>
          <p:cNvSpPr/>
          <p:nvPr/>
        </p:nvSpPr>
        <p:spPr>
          <a:xfrm>
            <a:off x="841442" y="1963578"/>
            <a:ext cx="10509115" cy="483073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400"/>
          </a:p>
        </p:txBody>
      </p:sp>
    </p:spTree>
    <p:extLst>
      <p:ext uri="{BB962C8B-B14F-4D97-AF65-F5344CB8AC3E}">
        <p14:creationId xmlns:p14="http://schemas.microsoft.com/office/powerpoint/2010/main" val="2788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vertical 4">
            <a:extLst>
              <a:ext uri="{FF2B5EF4-FFF2-40B4-BE49-F238E27FC236}">
                <a16:creationId xmlns:a16="http://schemas.microsoft.com/office/drawing/2014/main" id="{D5FB153C-E093-F2A7-6300-8369346125C7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dirty="0"/>
              <a:t>Revisar las calificaciones por Autoservicio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782A3B3-C066-6E6D-9B0C-D064042F5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Revisar las Calificaciones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A3B5F139-C8B1-2F6E-63DF-012A9853CB7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209848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79C262B-86B1-EBB4-6570-5EEEB7C00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966" y="1584355"/>
            <a:ext cx="10698068" cy="4801270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393300FE-93A3-1753-59DF-7E1CBCE6B4C7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dirty="0"/>
              <a:t>Revisar las calificaciones por Autoservicio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0CB16F3-F3CB-1B86-21EF-B4ED5951F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>
                <a:solidFill>
                  <a:schemeClr val="accent1"/>
                </a:solidFill>
              </a:rPr>
              <a:t>Registro de Calificaciones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BCC1EBD-A81B-F018-928D-24847E89C743}"/>
              </a:ext>
            </a:extLst>
          </p:cNvPr>
          <p:cNvSpPr/>
          <p:nvPr/>
        </p:nvSpPr>
        <p:spPr>
          <a:xfrm>
            <a:off x="746966" y="2075432"/>
            <a:ext cx="1229738" cy="306094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40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DB958DA5-5533-7B95-B2DE-91C9D41962E7}"/>
              </a:ext>
            </a:extLst>
          </p:cNvPr>
          <p:cNvSpPr/>
          <p:nvPr/>
        </p:nvSpPr>
        <p:spPr>
          <a:xfrm>
            <a:off x="2758216" y="2653021"/>
            <a:ext cx="3115377" cy="1006271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El alumno debe seleccionar el período para el cual desea consultar las calificaciones</a:t>
            </a:r>
          </a:p>
        </p:txBody>
      </p:sp>
    </p:spTree>
    <p:extLst>
      <p:ext uri="{BB962C8B-B14F-4D97-AF65-F5344CB8AC3E}">
        <p14:creationId xmlns:p14="http://schemas.microsoft.com/office/powerpoint/2010/main" val="1649030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6D1354BD-469A-B5CB-86A5-4ABDE4AC1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480" y="1380920"/>
            <a:ext cx="11117226" cy="5001323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393300FE-93A3-1753-59DF-7E1CBCE6B4C7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dirty="0"/>
              <a:t>Revisar las calificaciones por Autoservicio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0CB16F3-F3CB-1B86-21EF-B4ED5951F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>
                <a:solidFill>
                  <a:schemeClr val="accent1"/>
                </a:solidFill>
              </a:rPr>
              <a:t>Registro de Calificaciones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BCC1EBD-A81B-F018-928D-24847E89C743}"/>
              </a:ext>
            </a:extLst>
          </p:cNvPr>
          <p:cNvSpPr/>
          <p:nvPr/>
        </p:nvSpPr>
        <p:spPr>
          <a:xfrm>
            <a:off x="3059107" y="2277636"/>
            <a:ext cx="1638300" cy="306094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40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DB958DA5-5533-7B95-B2DE-91C9D41962E7}"/>
              </a:ext>
            </a:extLst>
          </p:cNvPr>
          <p:cNvSpPr/>
          <p:nvPr/>
        </p:nvSpPr>
        <p:spPr>
          <a:xfrm>
            <a:off x="6423093" y="2080595"/>
            <a:ext cx="3115377" cy="1006271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Posteriormente, debe seleccionar el nivel de los cursos que desea consultar, o incluir todos.</a:t>
            </a:r>
          </a:p>
        </p:txBody>
      </p:sp>
    </p:spTree>
    <p:extLst>
      <p:ext uri="{BB962C8B-B14F-4D97-AF65-F5344CB8AC3E}">
        <p14:creationId xmlns:p14="http://schemas.microsoft.com/office/powerpoint/2010/main" val="32488870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0236E9-515A-CDCE-12F1-EFBB59141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99" y="1584355"/>
            <a:ext cx="10774279" cy="4772691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393300FE-93A3-1753-59DF-7E1CBCE6B4C7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dirty="0"/>
              <a:t>Revisar las calificaciones por Autoservicio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0CB16F3-F3CB-1B86-21EF-B4ED5951F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>
                <a:solidFill>
                  <a:schemeClr val="accent1"/>
                </a:solidFill>
              </a:rPr>
              <a:t>Registro de Calificaciones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BCC1EBD-A81B-F018-928D-24847E89C743}"/>
              </a:ext>
            </a:extLst>
          </p:cNvPr>
          <p:cNvSpPr/>
          <p:nvPr/>
        </p:nvSpPr>
        <p:spPr>
          <a:xfrm>
            <a:off x="4694431" y="2042246"/>
            <a:ext cx="1050635" cy="285514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40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DB958DA5-5533-7B95-B2DE-91C9D41962E7}"/>
              </a:ext>
            </a:extLst>
          </p:cNvPr>
          <p:cNvSpPr/>
          <p:nvPr/>
        </p:nvSpPr>
        <p:spPr>
          <a:xfrm>
            <a:off x="5983724" y="2078820"/>
            <a:ext cx="4114850" cy="1006271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En la página se muestra la lista de asignaturas del nivel y período seleccionados. </a:t>
            </a:r>
          </a:p>
          <a:p>
            <a:pPr algn="ctr"/>
            <a:r>
              <a:rPr lang="es-ES_tradnl" sz="1100" dirty="0"/>
              <a:t>Aun así, el estudiante puede indicar que se muestren todos los cursos o uno en particular.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F27E1BF-5736-365A-3D92-B3B92BA5E1CF}"/>
              </a:ext>
            </a:extLst>
          </p:cNvPr>
          <p:cNvSpPr/>
          <p:nvPr/>
        </p:nvSpPr>
        <p:spPr>
          <a:xfrm>
            <a:off x="1104899" y="3741096"/>
            <a:ext cx="10477497" cy="2408631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400"/>
          </a:p>
        </p:txBody>
      </p:sp>
    </p:spTree>
    <p:extLst>
      <p:ext uri="{BB962C8B-B14F-4D97-AF65-F5344CB8AC3E}">
        <p14:creationId xmlns:p14="http://schemas.microsoft.com/office/powerpoint/2010/main" val="24983820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E2B14B7-EDCB-D6D4-3CA7-274768B28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99" y="1584355"/>
            <a:ext cx="10774279" cy="4772691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393300FE-93A3-1753-59DF-7E1CBCE6B4C7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dirty="0"/>
              <a:t>Revisar las calificaciones por Autoservicio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0CB16F3-F3CB-1B86-21EF-B4ED5951F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>
                <a:solidFill>
                  <a:schemeClr val="accent1"/>
                </a:solidFill>
              </a:rPr>
              <a:t>Registro de Calificaciones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BCC1EBD-A81B-F018-928D-24847E89C743}"/>
              </a:ext>
            </a:extLst>
          </p:cNvPr>
          <p:cNvSpPr/>
          <p:nvPr/>
        </p:nvSpPr>
        <p:spPr>
          <a:xfrm>
            <a:off x="1104898" y="4250423"/>
            <a:ext cx="10477497" cy="409125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40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DB958DA5-5533-7B95-B2DE-91C9D41962E7}"/>
              </a:ext>
            </a:extLst>
          </p:cNvPr>
          <p:cNvSpPr/>
          <p:nvPr/>
        </p:nvSpPr>
        <p:spPr>
          <a:xfrm>
            <a:off x="5983724" y="2078820"/>
            <a:ext cx="4114850" cy="1006271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Si la asignatura no tiene componentes cargados, el sistema mostrará los datos dela asignatura y cuando se carguen las calificaciones parciales o finales, el estudiante las visualizará en las columnas correspondientes.</a:t>
            </a:r>
          </a:p>
          <a:p>
            <a:pPr algn="ctr"/>
            <a:r>
              <a:rPr lang="es-ES_tradnl" sz="1100" dirty="0"/>
              <a:t>Ese es el caso del NRC 24119.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F27E1BF-5736-365A-3D92-B3B92BA5E1CF}"/>
              </a:ext>
            </a:extLst>
          </p:cNvPr>
          <p:cNvSpPr/>
          <p:nvPr/>
        </p:nvSpPr>
        <p:spPr>
          <a:xfrm>
            <a:off x="3745149" y="3951849"/>
            <a:ext cx="1488332" cy="707699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400"/>
          </a:p>
        </p:txBody>
      </p:sp>
    </p:spTree>
    <p:extLst>
      <p:ext uri="{BB962C8B-B14F-4D97-AF65-F5344CB8AC3E}">
        <p14:creationId xmlns:p14="http://schemas.microsoft.com/office/powerpoint/2010/main" val="9520481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A606A7B-1B79-52DE-BDBF-CA4A092BD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99" y="1584355"/>
            <a:ext cx="10774279" cy="4772691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393300FE-93A3-1753-59DF-7E1CBCE6B4C7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dirty="0"/>
              <a:t>Revisar las calificaciones por Autoservicio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0CB16F3-F3CB-1B86-21EF-B4ED5951F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>
                <a:solidFill>
                  <a:schemeClr val="accent1"/>
                </a:solidFill>
              </a:rPr>
              <a:t>Registro de Calificaciones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BCC1EBD-A81B-F018-928D-24847E89C743}"/>
              </a:ext>
            </a:extLst>
          </p:cNvPr>
          <p:cNvSpPr/>
          <p:nvPr/>
        </p:nvSpPr>
        <p:spPr>
          <a:xfrm>
            <a:off x="1104899" y="4659548"/>
            <a:ext cx="10477497" cy="409125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40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DB958DA5-5533-7B95-B2DE-91C9D41962E7}"/>
              </a:ext>
            </a:extLst>
          </p:cNvPr>
          <p:cNvSpPr/>
          <p:nvPr/>
        </p:nvSpPr>
        <p:spPr>
          <a:xfrm>
            <a:off x="5983724" y="2078820"/>
            <a:ext cx="4114850" cy="1006271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Si la asignatura ya está en historia académica, muestra la calificación final.</a:t>
            </a:r>
          </a:p>
          <a:p>
            <a:pPr algn="ctr"/>
            <a:r>
              <a:rPr lang="es-ES_tradnl" sz="1100" dirty="0"/>
              <a:t>Ese es el caso del NRC SG001.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F27E1BF-5736-365A-3D92-B3B92BA5E1CF}"/>
              </a:ext>
            </a:extLst>
          </p:cNvPr>
          <p:cNvSpPr/>
          <p:nvPr/>
        </p:nvSpPr>
        <p:spPr>
          <a:xfrm>
            <a:off x="4484451" y="4659547"/>
            <a:ext cx="749030" cy="409125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400"/>
          </a:p>
        </p:txBody>
      </p:sp>
    </p:spTree>
    <p:extLst>
      <p:ext uri="{BB962C8B-B14F-4D97-AF65-F5344CB8AC3E}">
        <p14:creationId xmlns:p14="http://schemas.microsoft.com/office/powerpoint/2010/main" val="32104742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577C415-8829-D881-5A9C-420E309C5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99" y="1584355"/>
            <a:ext cx="10774279" cy="4772691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393300FE-93A3-1753-59DF-7E1CBCE6B4C7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dirty="0"/>
              <a:t>Revisar las calificaciones por Autoservicio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0CB16F3-F3CB-1B86-21EF-B4ED5951F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>
                <a:solidFill>
                  <a:schemeClr val="accent1"/>
                </a:solidFill>
              </a:rPr>
              <a:t>Registro de Calificaciones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BCC1EBD-A81B-F018-928D-24847E89C743}"/>
              </a:ext>
            </a:extLst>
          </p:cNvPr>
          <p:cNvSpPr/>
          <p:nvPr/>
        </p:nvSpPr>
        <p:spPr>
          <a:xfrm>
            <a:off x="1104901" y="5068110"/>
            <a:ext cx="10364010" cy="409125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40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DB958DA5-5533-7B95-B2DE-91C9D41962E7}"/>
              </a:ext>
            </a:extLst>
          </p:cNvPr>
          <p:cNvSpPr/>
          <p:nvPr/>
        </p:nvSpPr>
        <p:spPr>
          <a:xfrm>
            <a:off x="5983724" y="2078820"/>
            <a:ext cx="4114850" cy="1006271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Si el NRC tiene componentes, pero desde la página SSAWSEC se restringió su visualización, se muestra el NRC y el botón de componentes “apagado”.</a:t>
            </a:r>
          </a:p>
          <a:p>
            <a:pPr algn="ctr"/>
            <a:r>
              <a:rPr lang="es-ES_tradnl" sz="1100" dirty="0"/>
              <a:t>Ese es el caso del NRC 24101.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F27E1BF-5736-365A-3D92-B3B92BA5E1CF}"/>
              </a:ext>
            </a:extLst>
          </p:cNvPr>
          <p:cNvSpPr/>
          <p:nvPr/>
        </p:nvSpPr>
        <p:spPr>
          <a:xfrm>
            <a:off x="10714182" y="5068109"/>
            <a:ext cx="754728" cy="409125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400"/>
          </a:p>
        </p:txBody>
      </p:sp>
    </p:spTree>
    <p:extLst>
      <p:ext uri="{BB962C8B-B14F-4D97-AF65-F5344CB8AC3E}">
        <p14:creationId xmlns:p14="http://schemas.microsoft.com/office/powerpoint/2010/main" val="29301378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CEE11AF-8DCA-B2CC-BB4D-9540EE3C9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952" y="1584355"/>
            <a:ext cx="10774279" cy="4772691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393300FE-93A3-1753-59DF-7E1CBCE6B4C7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dirty="0"/>
              <a:t>Revisar las calificaciones por Autoservicio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0CB16F3-F3CB-1B86-21EF-B4ED5951F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>
                <a:solidFill>
                  <a:schemeClr val="accent1"/>
                </a:solidFill>
              </a:rPr>
              <a:t>Registro de Calificaciones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BCC1EBD-A81B-F018-928D-24847E89C743}"/>
              </a:ext>
            </a:extLst>
          </p:cNvPr>
          <p:cNvSpPr/>
          <p:nvPr/>
        </p:nvSpPr>
        <p:spPr>
          <a:xfrm>
            <a:off x="1104900" y="5525307"/>
            <a:ext cx="10634517" cy="409125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40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DB958DA5-5533-7B95-B2DE-91C9D41962E7}"/>
              </a:ext>
            </a:extLst>
          </p:cNvPr>
          <p:cNvSpPr/>
          <p:nvPr/>
        </p:nvSpPr>
        <p:spPr>
          <a:xfrm>
            <a:off x="5983724" y="2078820"/>
            <a:ext cx="4114850" cy="1006271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Si el NRC tiene componentes, y se permite su visualización, se muestra el NRC y el botón de componentes activo.</a:t>
            </a:r>
          </a:p>
          <a:p>
            <a:pPr algn="ctr"/>
            <a:r>
              <a:rPr lang="es-ES_tradnl" sz="1100" dirty="0"/>
              <a:t>Ese es el caso del NRC 24102.</a:t>
            </a:r>
          </a:p>
          <a:p>
            <a:pPr algn="ctr"/>
            <a:r>
              <a:rPr lang="es-ES_tradnl" sz="1100" dirty="0"/>
              <a:t>Si el estudiante presiona el botón componentes, el sistema los muestra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F27E1BF-5736-365A-3D92-B3B92BA5E1CF}"/>
              </a:ext>
            </a:extLst>
          </p:cNvPr>
          <p:cNvSpPr/>
          <p:nvPr/>
        </p:nvSpPr>
        <p:spPr>
          <a:xfrm>
            <a:off x="10751127" y="5525306"/>
            <a:ext cx="988290" cy="409125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400"/>
          </a:p>
        </p:txBody>
      </p:sp>
    </p:spTree>
    <p:extLst>
      <p:ext uri="{BB962C8B-B14F-4D97-AF65-F5344CB8AC3E}">
        <p14:creationId xmlns:p14="http://schemas.microsoft.com/office/powerpoint/2010/main" val="41561120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0349DB8-98E4-06AC-1922-68E7CEA44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828" y="1436823"/>
            <a:ext cx="10955279" cy="4820323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393300FE-93A3-1753-59DF-7E1CBCE6B4C7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dirty="0"/>
              <a:t>Revisar las calificaciones por Autoservicio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0CB16F3-F3CB-1B86-21EF-B4ED5951F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>
                <a:solidFill>
                  <a:schemeClr val="accent1"/>
                </a:solidFill>
              </a:rPr>
              <a:t>Registro de Calificaciones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BCC1EBD-A81B-F018-928D-24847E89C743}"/>
              </a:ext>
            </a:extLst>
          </p:cNvPr>
          <p:cNvSpPr/>
          <p:nvPr/>
        </p:nvSpPr>
        <p:spPr>
          <a:xfrm>
            <a:off x="952497" y="3619609"/>
            <a:ext cx="10629899" cy="1519890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40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DB958DA5-5533-7B95-B2DE-91C9D41962E7}"/>
              </a:ext>
            </a:extLst>
          </p:cNvPr>
          <p:cNvSpPr/>
          <p:nvPr/>
        </p:nvSpPr>
        <p:spPr>
          <a:xfrm>
            <a:off x="5983724" y="2078820"/>
            <a:ext cx="4114850" cy="1006271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Los componentes del NRC se muestran de la siguiente manera 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F27E1BF-5736-365A-3D92-B3B92BA5E1CF}"/>
              </a:ext>
            </a:extLst>
          </p:cNvPr>
          <p:cNvSpPr/>
          <p:nvPr/>
        </p:nvSpPr>
        <p:spPr>
          <a:xfrm>
            <a:off x="952497" y="4503903"/>
            <a:ext cx="152403" cy="359928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400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FB0A9B99-1AFC-3E7D-0F28-DE45BDAA0036}"/>
              </a:ext>
            </a:extLst>
          </p:cNvPr>
          <p:cNvSpPr/>
          <p:nvPr/>
        </p:nvSpPr>
        <p:spPr>
          <a:xfrm>
            <a:off x="3315102" y="5223288"/>
            <a:ext cx="4114850" cy="1006271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Solo los componentes que tienen subcomponentes muestran la flecha que se indica en el recuadro. AL presionar sobre la flecha se muestran los subcomponentes que le corresponden</a:t>
            </a:r>
          </a:p>
        </p:txBody>
      </p:sp>
    </p:spTree>
    <p:extLst>
      <p:ext uri="{BB962C8B-B14F-4D97-AF65-F5344CB8AC3E}">
        <p14:creationId xmlns:p14="http://schemas.microsoft.com/office/powerpoint/2010/main" val="15743717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9D2670F-46CA-E886-CFE9-AAAA44A77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92" y="1284052"/>
            <a:ext cx="10964805" cy="5058481"/>
          </a:xfrm>
          <a:prstGeom prst="rect">
            <a:avLst/>
          </a:prstGeom>
        </p:spPr>
      </p:pic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393300FE-93A3-1753-59DF-7E1CBCE6B4C7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dirty="0"/>
              <a:t>Revisar las calificaciones por Autoservicio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0CB16F3-F3CB-1B86-21EF-B4ED5951F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>
                <a:solidFill>
                  <a:schemeClr val="accent1"/>
                </a:solidFill>
              </a:rPr>
              <a:t>Registro de Calificaciones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BCC1EBD-A81B-F018-928D-24847E89C743}"/>
              </a:ext>
            </a:extLst>
          </p:cNvPr>
          <p:cNvSpPr/>
          <p:nvPr/>
        </p:nvSpPr>
        <p:spPr>
          <a:xfrm>
            <a:off x="609601" y="3694589"/>
            <a:ext cx="10820400" cy="1879359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40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DB958DA5-5533-7B95-B2DE-91C9D41962E7}"/>
              </a:ext>
            </a:extLst>
          </p:cNvPr>
          <p:cNvSpPr/>
          <p:nvPr/>
        </p:nvSpPr>
        <p:spPr>
          <a:xfrm>
            <a:off x="5964268" y="1942889"/>
            <a:ext cx="4114850" cy="1006271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Si los componentes o subcomponentes del NRC tienen calificaciones cargadas, éstas se muestran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F27E1BF-5736-365A-3D92-B3B92BA5E1CF}"/>
              </a:ext>
            </a:extLst>
          </p:cNvPr>
          <p:cNvSpPr/>
          <p:nvPr/>
        </p:nvSpPr>
        <p:spPr>
          <a:xfrm>
            <a:off x="634115" y="4508288"/>
            <a:ext cx="148757" cy="251960"/>
          </a:xfrm>
          <a:prstGeom prst="rect">
            <a:avLst/>
          </a:prstGeom>
          <a:solidFill>
            <a:srgbClr val="681B79">
              <a:alpha val="25098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2400"/>
          </a:p>
        </p:txBody>
      </p:sp>
    </p:spTree>
    <p:extLst>
      <p:ext uri="{BB962C8B-B14F-4D97-AF65-F5344CB8AC3E}">
        <p14:creationId xmlns:p14="http://schemas.microsoft.com/office/powerpoint/2010/main" val="37900021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vertical 3">
            <a:extLst>
              <a:ext uri="{FF2B5EF4-FFF2-40B4-BE49-F238E27FC236}">
                <a16:creationId xmlns:a16="http://schemas.microsoft.com/office/drawing/2014/main" id="{84CB00C4-4CE1-863D-3919-889E86B83F38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dirty="0"/>
              <a:t>Revisar las calificaciones por Autoservicio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DACCD36-3ACC-38E3-E6D1-36A1808E4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838" y="-414703"/>
            <a:ext cx="7092820" cy="1628192"/>
          </a:xfrm>
        </p:spPr>
        <p:txBody>
          <a:bodyPr/>
          <a:lstStyle/>
          <a:p>
            <a:r>
              <a:rPr lang="es-ES_tradnl" dirty="0"/>
              <a:t>RESUMEN</a:t>
            </a:r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B0CB5FB3-0FFF-BD39-3C9C-D613E315FFF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41838" y="1687104"/>
            <a:ext cx="10067596" cy="3399903"/>
          </a:xfrm>
        </p:spPr>
        <p:txBody>
          <a:bodyPr/>
          <a:lstStyle/>
          <a:p>
            <a:pPr marL="342900" lvl="1" indent="-342900" algn="just">
              <a:spcBef>
                <a:spcPts val="1000"/>
              </a:spcBef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1800" dirty="0"/>
              <a:t>El despliegue de calificaciones para los alumnos en el Autoservicio es habilitado en la página SOATERM, pero se puede restringir para un NRC en particular en la página SSAWSEC.</a:t>
            </a:r>
          </a:p>
          <a:p>
            <a:pPr marL="342900" lvl="1" indent="-342900" algn="just">
              <a:spcBef>
                <a:spcPts val="1000"/>
              </a:spcBef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1800" dirty="0"/>
              <a:t>En este instructivo se incluye cómo los estudiantes pueden consultar las calificaciones que han sido registradas por parte del docente mediante el Autoservicio.</a:t>
            </a:r>
          </a:p>
          <a:p>
            <a:pPr marL="0" lvl="1" algn="just">
              <a:spcBef>
                <a:spcPts val="1000"/>
              </a:spcBef>
              <a:buClr>
                <a:srgbClr val="0CB4B4"/>
              </a:buClr>
            </a:pPr>
            <a:endParaRPr lang="es-419" sz="1800" dirty="0"/>
          </a:p>
        </p:txBody>
      </p:sp>
    </p:spTree>
    <p:extLst>
      <p:ext uri="{BB962C8B-B14F-4D97-AF65-F5344CB8AC3E}">
        <p14:creationId xmlns:p14="http://schemas.microsoft.com/office/powerpoint/2010/main" val="30517754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084689-227B-A2E5-EA69-DF2CD64C7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MUCHAS GRACIAS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0EF50E-22E9-2C0A-4970-41D2FFEB26B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Consultor</a:t>
            </a:r>
          </a:p>
          <a:p>
            <a:r>
              <a:rPr lang="en-US" dirty="0"/>
              <a:t>Correo@ellucian.com</a:t>
            </a:r>
          </a:p>
        </p:txBody>
      </p:sp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id="{C726B198-B5C8-1C5D-4D10-BFFD13AAD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490" y="3652538"/>
            <a:ext cx="274320" cy="274320"/>
          </a:xfrm>
          <a:prstGeom prst="rect">
            <a:avLst/>
          </a:prstGeom>
        </p:spPr>
      </p:pic>
      <p:pic>
        <p:nvPicPr>
          <p:cNvPr id="9" name="Graphic 8" descr="Email with solid fill">
            <a:extLst>
              <a:ext uri="{FF2B5EF4-FFF2-40B4-BE49-F238E27FC236}">
                <a16:creationId xmlns:a16="http://schemas.microsoft.com/office/drawing/2014/main" id="{DD7F5D3F-15A6-F216-AF41-EA0DCDE6B3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3543" y="4028176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196057"/>
      </p:ext>
    </p:extLst>
  </p:cSld>
  <p:clrMapOvr>
    <a:masterClrMapping/>
  </p:clrMapOvr>
</p:sld>
</file>

<file path=ppt/theme/theme1.xml><?xml version="1.0" encoding="utf-8"?>
<a:theme xmlns:a="http://schemas.openxmlformats.org/drawingml/2006/main" name="Ellucian Main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BP 01 - 4.1.6.2 Programar el inicio y finalizacion de Per.Acad.Regulares" id="{36489518-00D3-425C-91F5-1EE673D7B517}" vid="{CEA309A8-FD57-42A7-831A-1C6DF3BE5D5A}"/>
    </a:ext>
  </a:extLst>
</a:theme>
</file>

<file path=ppt/theme/theme2.xml><?xml version="1.0" encoding="utf-8"?>
<a:theme xmlns:a="http://schemas.openxmlformats.org/drawingml/2006/main" name="Ellucian Blank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BP 01 - 4.1.6.2 Programar el inicio y finalizacion de Per.Acad.Regulares" id="{36489518-00D3-425C-91F5-1EE673D7B517}" vid="{B53508D9-7D69-489E-B75B-7682E6255525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EBP 05 4.1.6.1. Instructivo - Actualizar estado del estudiante</Template>
  <TotalTime>4827</TotalTime>
  <Words>944</Words>
  <Application>Microsoft Office PowerPoint</Application>
  <PresentationFormat>Widescreen</PresentationFormat>
  <Paragraphs>110</Paragraphs>
  <Slides>24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Aptos</vt:lpstr>
      <vt:lpstr>Aptos Display</vt:lpstr>
      <vt:lpstr>Arial</vt:lpstr>
      <vt:lpstr>Courier New</vt:lpstr>
      <vt:lpstr>Helvetica Neue</vt:lpstr>
      <vt:lpstr>Wingdings</vt:lpstr>
      <vt:lpstr>Ellucian Main Layouts</vt:lpstr>
      <vt:lpstr>Ellucian Blank Layouts</vt:lpstr>
      <vt:lpstr>Revisar las calificaciones por Autoservicio   </vt:lpstr>
      <vt:lpstr>PowerPoint Presentation</vt:lpstr>
      <vt:lpstr>Overview</vt:lpstr>
      <vt:lpstr>Overview: Mapa de capacidades</vt:lpstr>
      <vt:lpstr>Overview: Revisar las calificaciones por Autoservicio </vt:lpstr>
      <vt:lpstr>Overview: Revisar las calificaciones por Autoservicio </vt:lpstr>
      <vt:lpstr>PowerPoint Presentation</vt:lpstr>
      <vt:lpstr>Overview: Revisar las calificaciones por Autoservicio </vt:lpstr>
      <vt:lpstr>Configuraciones</vt:lpstr>
      <vt:lpstr>Habilitar consulta de calificaciones del período (SOATERM)</vt:lpstr>
      <vt:lpstr>Habilitar consulta de calificaciones para un NRC (SSAWSEC)</vt:lpstr>
      <vt:lpstr>Habilitar consulta de calificaciones para un NRC (SSAWSEC)</vt:lpstr>
      <vt:lpstr>Revisar las Calificaciones</vt:lpstr>
      <vt:lpstr>Registro de Calificaciones</vt:lpstr>
      <vt:lpstr>Registro de Calificaciones</vt:lpstr>
      <vt:lpstr>Registro de Calificaciones</vt:lpstr>
      <vt:lpstr>Registro de Calificaciones</vt:lpstr>
      <vt:lpstr>Registro de Calificaciones</vt:lpstr>
      <vt:lpstr>Registro de Calificaciones</vt:lpstr>
      <vt:lpstr>Registro de Calificaciones</vt:lpstr>
      <vt:lpstr>Registro de Calificaciones</vt:lpstr>
      <vt:lpstr>Registro de Calificaciones</vt:lpstr>
      <vt:lpstr>RESUMEN</vt:lpstr>
      <vt:lpstr>MUCHAS 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Ramos, Karyn</dc:creator>
  <cp:lastModifiedBy>Trapp, Eduardo</cp:lastModifiedBy>
  <cp:revision>59</cp:revision>
  <dcterms:created xsi:type="dcterms:W3CDTF">2024-10-02T00:21:55Z</dcterms:created>
  <dcterms:modified xsi:type="dcterms:W3CDTF">2026-04-17T18:16:11Z</dcterms:modified>
</cp:coreProperties>
</file>
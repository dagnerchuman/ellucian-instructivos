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0" r:id="rId2"/>
    <p:sldMasterId id="2147483770" r:id="rId3"/>
    <p:sldMasterId id="2147483807" r:id="rId4"/>
  </p:sldMasterIdLst>
  <p:notesMasterIdLst>
    <p:notesMasterId r:id="rId31"/>
  </p:notesMasterIdLst>
  <p:sldIdLst>
    <p:sldId id="502" r:id="rId5"/>
    <p:sldId id="257" r:id="rId6"/>
    <p:sldId id="260" r:id="rId7"/>
    <p:sldId id="266" r:id="rId8"/>
    <p:sldId id="268" r:id="rId9"/>
    <p:sldId id="350" r:id="rId10"/>
    <p:sldId id="261" r:id="rId11"/>
    <p:sldId id="353" r:id="rId12"/>
    <p:sldId id="474" r:id="rId13"/>
    <p:sldId id="343" r:id="rId14"/>
    <p:sldId id="475" r:id="rId15"/>
    <p:sldId id="477" r:id="rId16"/>
    <p:sldId id="355" r:id="rId17"/>
    <p:sldId id="478" r:id="rId18"/>
    <p:sldId id="476" r:id="rId19"/>
    <p:sldId id="493" r:id="rId20"/>
    <p:sldId id="494" r:id="rId21"/>
    <p:sldId id="495" r:id="rId22"/>
    <p:sldId id="469" r:id="rId23"/>
    <p:sldId id="470" r:id="rId24"/>
    <p:sldId id="496" r:id="rId25"/>
    <p:sldId id="497" r:id="rId26"/>
    <p:sldId id="498" r:id="rId27"/>
    <p:sldId id="499" r:id="rId28"/>
    <p:sldId id="500" r:id="rId29"/>
    <p:sldId id="34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1B79"/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6C5A5-DE6A-4026-948C-0C7CF339DF91}" v="10" dt="2026-06-10T23:51:19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olina" userId="20636364146_tp_box_2" providerId="OAuth2" clId="{44CDD4FA-DF07-4B69-BC01-0B2B69272B43}"/>
    <pc:docChg chg="delSld modSld">
      <pc:chgData name="Sergio Molina" userId="20636364146_tp_box_2" providerId="OAuth2" clId="{44CDD4FA-DF07-4B69-BC01-0B2B69272B43}" dt="2026-06-10T23:51:19.422" v="9" actId="47"/>
      <pc:docMkLst>
        <pc:docMk/>
      </pc:docMkLst>
      <pc:sldChg chg="modSp mod">
        <pc:chgData name="Sergio Molina" userId="20636364146_tp_box_2" providerId="OAuth2" clId="{44CDD4FA-DF07-4B69-BC01-0B2B69272B43}" dt="2026-06-10T23:50:52.598" v="8" actId="1037"/>
        <pc:sldMkLst>
          <pc:docMk/>
          <pc:sldMk cId="3958544234" sldId="257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3958544234" sldId="257"/>
            <ac:spMk id="7" creationId="{6412E2B5-4BE1-B49E-58AB-9C60B6BBF141}"/>
          </ac:spMkLst>
        </pc:spChg>
        <pc:spChg chg="mod">
          <ac:chgData name="Sergio Molina" userId="20636364146_tp_box_2" providerId="OAuth2" clId="{44CDD4FA-DF07-4B69-BC01-0B2B69272B43}" dt="2026-06-10T23:50:52.598" v="8" actId="1037"/>
          <ac:spMkLst>
            <pc:docMk/>
            <pc:sldMk cId="3958544234" sldId="257"/>
            <ac:spMk id="12" creationId="{D286A64F-1AC2-0842-49F6-CEE06ABF1090}"/>
          </ac:spMkLst>
        </pc:spChg>
      </pc:sldChg>
      <pc:sldChg chg="modSp del">
        <pc:chgData name="Sergio Molina" userId="20636364146_tp_box_2" providerId="OAuth2" clId="{44CDD4FA-DF07-4B69-BC01-0B2B69272B43}" dt="2026-06-10T23:51:19.422" v="9" actId="47"/>
        <pc:sldMkLst>
          <pc:docMk/>
          <pc:sldMk cId="2599343073" sldId="258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599343073" sldId="258"/>
            <ac:spMk id="10" creationId="{EC23B209-15D9-D0E9-52DA-CB94020FD7E0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599343073" sldId="258"/>
            <ac:spMk id="11" creationId="{1A6F69FF-CB9F-4F67-BE3D-8C02B4EEB7A7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4151330217" sldId="260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4151330217" sldId="260"/>
            <ac:spMk id="2" creationId="{898E1C91-D53E-9F97-C485-84628578389D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2966767743" sldId="261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966767743" sldId="261"/>
            <ac:spMk id="2" creationId="{9F9B5C96-8DBC-65FF-FAE3-4F645679D6ED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2090565978" sldId="266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090565978" sldId="266"/>
            <ac:spMk id="2" creationId="{C31C0327-E277-8995-30AD-95DC98DE725F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1837389031" sldId="343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837389031" sldId="343"/>
            <ac:spMk id="10" creationId="{61C17162-17F1-530F-F6BC-4203C78DA55D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837389031" sldId="343"/>
            <ac:spMk id="16" creationId="{E36F486A-1A18-4A72-1755-E54B412B189B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837389031" sldId="343"/>
            <ac:spMk id="17" creationId="{4B4C8632-4464-5AEC-A279-4414A5A8BC79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837389031" sldId="343"/>
            <ac:spMk id="18" creationId="{585CE95F-9E93-A1EC-A586-CDA89C427210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3113485635" sldId="345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3113485635" sldId="345"/>
            <ac:spMk id="10" creationId="{61C17162-17F1-530F-F6BC-4203C78DA55D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3113485635" sldId="345"/>
            <ac:spMk id="18" creationId="{585CE95F-9E93-A1EC-A586-CDA89C427210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167875606" sldId="350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67875606" sldId="350"/>
            <ac:spMk id="3" creationId="{22BE24A3-7467-74A8-A973-F32D51EBA4D3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67875606" sldId="350"/>
            <ac:spMk id="4" creationId="{296A5721-C06B-CE2D-66A9-59404F187719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299373700" sldId="353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99373700" sldId="353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99373700" sldId="353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3328105554" sldId="355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3328105554" sldId="355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3328105554" sldId="355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690636011" sldId="469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690636011" sldId="469"/>
            <ac:spMk id="10" creationId="{61C17162-17F1-530F-F6BC-4203C78DA55D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690636011" sldId="469"/>
            <ac:spMk id="16" creationId="{E36F486A-1A18-4A72-1755-E54B412B189B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690636011" sldId="469"/>
            <ac:spMk id="17" creationId="{4B4C8632-4464-5AEC-A279-4414A5A8BC79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690636011" sldId="469"/>
            <ac:spMk id="18" creationId="{585CE95F-9E93-A1EC-A586-CDA89C427210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51784995" sldId="470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51784995" sldId="470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51784995" sldId="470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3321449519" sldId="474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3321449519" sldId="474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3321449519" sldId="474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4164333419" sldId="475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4164333419" sldId="475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4164333419" sldId="475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2289511368" sldId="476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289511368" sldId="476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289511368" sldId="476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55202535" sldId="477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55202535" sldId="477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55202535" sldId="477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2428738355" sldId="478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428738355" sldId="478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428738355" sldId="478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810037673" sldId="493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810037673" sldId="493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810037673" sldId="493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466418600" sldId="494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466418600" sldId="494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466418600" sldId="494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1100191917" sldId="495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100191917" sldId="495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100191917" sldId="495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161585715" sldId="496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61585715" sldId="496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61585715" sldId="496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2204753867" sldId="497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204753867" sldId="497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2204753867" sldId="497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4294822204" sldId="498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4294822204" sldId="498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4294822204" sldId="498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151938154" sldId="499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51938154" sldId="499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51938154" sldId="499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345717992" sldId="500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345717992" sldId="500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345717992" sldId="500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0T23:50:41.817" v="0"/>
        <pc:sldMkLst>
          <pc:docMk/>
          <pc:sldMk cId="1226147885" sldId="502"/>
        </pc:sldMkLst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226147885" sldId="502"/>
            <ac:spMk id="2" creationId="{1C775F30-4948-8625-4D18-95EE2803BD83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226147885" sldId="502"/>
            <ac:spMk id="3" creationId="{DD381F98-39A1-4ACC-B642-A72023AF9BC1}"/>
          </ac:spMkLst>
        </pc:spChg>
        <pc:spChg chg="mod">
          <ac:chgData name="Sergio Molina" userId="20636364146_tp_box_2" providerId="OAuth2" clId="{44CDD4FA-DF07-4B69-BC01-0B2B69272B43}" dt="2026-06-10T23:50:41.817" v="0"/>
          <ac:spMkLst>
            <pc:docMk/>
            <pc:sldMk cId="1226147885" sldId="502"/>
            <ac:spMk id="13" creationId="{BC90C980-F946-78A1-2843-B04BE206F92C}"/>
          </ac:spMkLst>
        </pc:spChg>
        <pc:picChg chg="mod">
          <ac:chgData name="Sergio Molina" userId="20636364146_tp_box_2" providerId="OAuth2" clId="{44CDD4FA-DF07-4B69-BC01-0B2B69272B43}" dt="2026-06-10T23:50:41.817" v="0"/>
          <ac:picMkLst>
            <pc:docMk/>
            <pc:sldMk cId="1226147885" sldId="502"/>
            <ac:picMk id="8" creationId="{E56D2DEC-D416-3AB5-1313-E840E25BFD9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10-06-2026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1978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77365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3482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4352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2118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79754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9978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21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93354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808606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683111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090651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844800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836891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Breaker slide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07763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Breaker slide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70563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Breaker slide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285357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532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76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887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245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212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60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097299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88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3002263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endParaRPr lang="en-US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246398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err="1">
                <a:effectLst/>
                <a:latin typeface="Helvetica Neue" panose="02000503000000020004" pitchFamily="2" charset="0"/>
              </a:rPr>
              <a:t>amet</a:t>
            </a:r>
            <a:r>
              <a:rPr lang="en-US">
                <a:effectLst/>
                <a:latin typeface="Helvetica Neue" panose="02000503000000020004" pitchFamily="2" charset="0"/>
              </a:rPr>
              <a:t>, </a:t>
            </a:r>
            <a:r>
              <a:rPr lang="en-US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elit</a:t>
            </a:r>
            <a:r>
              <a:rPr lang="en-US">
                <a:effectLst/>
                <a:latin typeface="Helvetica Neue" panose="02000503000000020004" pitchFamily="2" charset="0"/>
              </a:rPr>
              <a:t> sed do </a:t>
            </a:r>
            <a:r>
              <a:rPr lang="en-US" err="1">
                <a:effectLst/>
                <a:latin typeface="Helvetica Neue" panose="02000503000000020004" pitchFamily="2" charset="0"/>
              </a:rPr>
              <a:t>eiusmod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tempor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ut</a:t>
            </a:r>
            <a:r>
              <a:rPr lang="en-US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err="1">
                <a:effectLst/>
                <a:latin typeface="Helvetica Neue" panose="02000503000000020004" pitchFamily="2" charset="0"/>
              </a:rPr>
              <a:t>aliqua</a:t>
            </a:r>
            <a:r>
              <a:rPr lang="en-US">
                <a:effectLst/>
                <a:latin typeface="Helvetica Neue" panose="02000503000000020004" pitchFamily="2" charset="0"/>
              </a:rPr>
              <a:t>. Ut </a:t>
            </a:r>
            <a:r>
              <a:rPr lang="en-US" err="1">
                <a:effectLst/>
                <a:latin typeface="Helvetica Neue" panose="02000503000000020004" pitchFamily="2" charset="0"/>
              </a:rPr>
              <a:t>enim</a:t>
            </a:r>
            <a:r>
              <a:rPr lang="en-US">
                <a:effectLst/>
                <a:latin typeface="Helvetica Neue" panose="02000503000000020004" pitchFamily="2" charset="0"/>
              </a:rPr>
              <a:t> ad minim </a:t>
            </a:r>
            <a:r>
              <a:rPr lang="en-US" err="1">
                <a:effectLst/>
                <a:latin typeface="Helvetica Neue" panose="02000503000000020004" pitchFamily="2" charset="0"/>
              </a:rPr>
              <a:t>veniam</a:t>
            </a:r>
            <a:r>
              <a:rPr lang="en-US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304048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err="1">
                <a:effectLst/>
                <a:latin typeface="Helvetica Neue" panose="02000503000000020004" pitchFamily="2" charset="0"/>
              </a:rPr>
              <a:t>amet</a:t>
            </a:r>
            <a:r>
              <a:rPr lang="en-US">
                <a:effectLst/>
                <a:latin typeface="Helvetica Neue" panose="02000503000000020004" pitchFamily="2" charset="0"/>
              </a:rPr>
              <a:t>, </a:t>
            </a:r>
            <a:r>
              <a:rPr lang="en-US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elit</a:t>
            </a:r>
            <a:r>
              <a:rPr lang="en-US">
                <a:effectLst/>
                <a:latin typeface="Helvetica Neue" panose="02000503000000020004" pitchFamily="2" charset="0"/>
              </a:rPr>
              <a:t> sed do </a:t>
            </a:r>
            <a:r>
              <a:rPr lang="en-US" err="1">
                <a:effectLst/>
                <a:latin typeface="Helvetica Neue" panose="02000503000000020004" pitchFamily="2" charset="0"/>
              </a:rPr>
              <a:t>eiusmod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tempor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ut</a:t>
            </a:r>
            <a:r>
              <a:rPr lang="en-US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err="1">
                <a:effectLst/>
                <a:latin typeface="Helvetica Neue" panose="02000503000000020004" pitchFamily="2" charset="0"/>
              </a:rPr>
              <a:t>aliqua</a:t>
            </a:r>
            <a:r>
              <a:rPr lang="en-US">
                <a:effectLst/>
                <a:latin typeface="Helvetica Neue" panose="02000503000000020004" pitchFamily="2" charset="0"/>
              </a:rPr>
              <a:t>. Ut </a:t>
            </a:r>
            <a:r>
              <a:rPr lang="en-US" err="1">
                <a:effectLst/>
                <a:latin typeface="Helvetica Neue" panose="02000503000000020004" pitchFamily="2" charset="0"/>
              </a:rPr>
              <a:t>enim</a:t>
            </a:r>
            <a:r>
              <a:rPr lang="en-US">
                <a:effectLst/>
                <a:latin typeface="Helvetica Neue" panose="02000503000000020004" pitchFamily="2" charset="0"/>
              </a:rPr>
              <a:t> ad minim </a:t>
            </a:r>
            <a:r>
              <a:rPr lang="en-US" err="1">
                <a:effectLst/>
                <a:latin typeface="Helvetica Neue" panose="02000503000000020004" pitchFamily="2" charset="0"/>
              </a:rPr>
              <a:t>veniam</a:t>
            </a:r>
            <a:r>
              <a:rPr lang="en-US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490503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537638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377813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PresenterEmail@Ellucian.com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619455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568918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/>
              <a:t>Subhead (not required, max two lines)</a:t>
            </a:r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293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000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2364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391628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035306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675298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578091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252196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730847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711666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142114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171018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073349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908898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101423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959551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052497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6843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541793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119525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78673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485939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581451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808432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972803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8128147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199851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3666085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053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424907543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206062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6907148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6754512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502434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076773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86341909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Breaker slide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346659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Breaker slide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6420312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Breaker slide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4657274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1767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560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950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36380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143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62163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65058925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21356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17136509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endParaRPr lang="en-US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8037347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err="1">
                <a:effectLst/>
                <a:latin typeface="Helvetica Neue" panose="02000503000000020004" pitchFamily="2" charset="0"/>
              </a:rPr>
              <a:t>amet</a:t>
            </a:r>
            <a:r>
              <a:rPr lang="en-US">
                <a:effectLst/>
                <a:latin typeface="Helvetica Neue" panose="02000503000000020004" pitchFamily="2" charset="0"/>
              </a:rPr>
              <a:t>, </a:t>
            </a:r>
            <a:r>
              <a:rPr lang="en-US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elit</a:t>
            </a:r>
            <a:r>
              <a:rPr lang="en-US">
                <a:effectLst/>
                <a:latin typeface="Helvetica Neue" panose="02000503000000020004" pitchFamily="2" charset="0"/>
              </a:rPr>
              <a:t> sed do </a:t>
            </a:r>
            <a:r>
              <a:rPr lang="en-US" err="1">
                <a:effectLst/>
                <a:latin typeface="Helvetica Neue" panose="02000503000000020004" pitchFamily="2" charset="0"/>
              </a:rPr>
              <a:t>eiusmod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tempor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ut</a:t>
            </a:r>
            <a:r>
              <a:rPr lang="en-US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err="1">
                <a:effectLst/>
                <a:latin typeface="Helvetica Neue" panose="02000503000000020004" pitchFamily="2" charset="0"/>
              </a:rPr>
              <a:t>aliqua</a:t>
            </a:r>
            <a:r>
              <a:rPr lang="en-US">
                <a:effectLst/>
                <a:latin typeface="Helvetica Neue" panose="02000503000000020004" pitchFamily="2" charset="0"/>
              </a:rPr>
              <a:t>. Ut </a:t>
            </a:r>
            <a:r>
              <a:rPr lang="en-US" err="1">
                <a:effectLst/>
                <a:latin typeface="Helvetica Neue" panose="02000503000000020004" pitchFamily="2" charset="0"/>
              </a:rPr>
              <a:t>enim</a:t>
            </a:r>
            <a:r>
              <a:rPr lang="en-US">
                <a:effectLst/>
                <a:latin typeface="Helvetica Neue" panose="02000503000000020004" pitchFamily="2" charset="0"/>
              </a:rPr>
              <a:t> ad minim </a:t>
            </a:r>
            <a:r>
              <a:rPr lang="en-US" err="1">
                <a:effectLst/>
                <a:latin typeface="Helvetica Neue" panose="02000503000000020004" pitchFamily="2" charset="0"/>
              </a:rPr>
              <a:t>veniam</a:t>
            </a:r>
            <a:r>
              <a:rPr lang="en-US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128727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err="1">
                <a:effectLst/>
                <a:latin typeface="Helvetica Neue" panose="02000503000000020004" pitchFamily="2" charset="0"/>
              </a:rPr>
              <a:t>amet</a:t>
            </a:r>
            <a:r>
              <a:rPr lang="en-US">
                <a:effectLst/>
                <a:latin typeface="Helvetica Neue" panose="02000503000000020004" pitchFamily="2" charset="0"/>
              </a:rPr>
              <a:t>, </a:t>
            </a:r>
            <a:r>
              <a:rPr lang="en-US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elit</a:t>
            </a:r>
            <a:r>
              <a:rPr lang="en-US">
                <a:effectLst/>
                <a:latin typeface="Helvetica Neue" panose="02000503000000020004" pitchFamily="2" charset="0"/>
              </a:rPr>
              <a:t> sed do </a:t>
            </a:r>
            <a:r>
              <a:rPr lang="en-US" err="1">
                <a:effectLst/>
                <a:latin typeface="Helvetica Neue" panose="02000503000000020004" pitchFamily="2" charset="0"/>
              </a:rPr>
              <a:t>eiusmod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tempor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ut</a:t>
            </a:r>
            <a:r>
              <a:rPr lang="en-US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err="1">
                <a:effectLst/>
                <a:latin typeface="Helvetica Neue" panose="02000503000000020004" pitchFamily="2" charset="0"/>
              </a:rPr>
              <a:t>aliqua</a:t>
            </a:r>
            <a:r>
              <a:rPr lang="en-US">
                <a:effectLst/>
                <a:latin typeface="Helvetica Neue" panose="02000503000000020004" pitchFamily="2" charset="0"/>
              </a:rPr>
              <a:t>. Ut </a:t>
            </a:r>
            <a:r>
              <a:rPr lang="en-US" err="1">
                <a:effectLst/>
                <a:latin typeface="Helvetica Neue" panose="02000503000000020004" pitchFamily="2" charset="0"/>
              </a:rPr>
              <a:t>enim</a:t>
            </a:r>
            <a:r>
              <a:rPr lang="en-US">
                <a:effectLst/>
                <a:latin typeface="Helvetica Neue" panose="02000503000000020004" pitchFamily="2" charset="0"/>
              </a:rPr>
              <a:t> ad minim </a:t>
            </a:r>
            <a:r>
              <a:rPr lang="en-US" err="1">
                <a:effectLst/>
                <a:latin typeface="Helvetica Neue" panose="02000503000000020004" pitchFamily="2" charset="0"/>
              </a:rPr>
              <a:t>veniam</a:t>
            </a:r>
            <a:r>
              <a:rPr lang="en-US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2718494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182523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395540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PresenterEmail@Ellucian.com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7051630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327832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98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/>
              <a:t>Subhead (not required, max two lines)</a:t>
            </a:r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38816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40397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2424961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643299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213347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3774631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84287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2962557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9219855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623749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3674871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7711734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7904875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0826264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9923321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9056875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130856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7358754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6910940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235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image" Target="../media/image1.svg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84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theme" Target="../theme/theme3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107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1617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60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7912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  <p:sldLayoutId id="2147483792" r:id="rId22"/>
    <p:sldLayoutId id="2147483793" r:id="rId23"/>
    <p:sldLayoutId id="2147483794" r:id="rId24"/>
    <p:sldLayoutId id="2147483795" r:id="rId25"/>
    <p:sldLayoutId id="2147483796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34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  <p:sldLayoutId id="2147483825" r:id="rId18"/>
    <p:sldLayoutId id="214748382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ES" sz="4400"/>
              <a:t>Diseñar y crear los cursos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rmAutofit/>
          </a:bodyPr>
          <a:lstStyle/>
          <a:p>
            <a:r>
              <a:rPr lang="es-CL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1058994-14DF-8FFD-FA01-FFA4BBFEC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194925"/>
          </a:xfrm>
        </p:spPr>
        <p:txBody>
          <a:bodyPr/>
          <a:lstStyle/>
          <a:p>
            <a:r>
              <a:rPr lang="es-CL"/>
              <a:t>USSIPAN-Perú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C90C980-F946-78A1-2843-B04BE206F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/>
              <a:t>Junio, 2026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E56D2DEC-D416-3AB5-1313-E840E25BFD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614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897CB17-50A9-E1EA-BB72-02ED775A4D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1321" y="1113643"/>
            <a:ext cx="7234915" cy="324961"/>
          </a:xfrm>
        </p:spPr>
        <p:txBody>
          <a:bodyPr/>
          <a:lstStyle/>
          <a:p>
            <a:r>
              <a:rPr lang="es-419" err="1"/>
              <a:t>Overview</a:t>
            </a:r>
            <a:r>
              <a:rPr lang="es-419"/>
              <a:t>: características generales del proceso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364149FD-8541-BB66-31C7-5C8D540962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1321" y="2362388"/>
            <a:ext cx="7234915" cy="322139"/>
          </a:xfrm>
        </p:spPr>
        <p:txBody>
          <a:bodyPr vert="horz" lIns="0" tIns="0" rIns="0" bIns="0" rtlCol="0">
            <a:spAutoFit/>
          </a:bodyPr>
          <a:lstStyle/>
          <a:p>
            <a:r>
              <a:rPr lang="es-ES_tradnl"/>
              <a:t>Definiciones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367C3D73-E477-8A70-ACF6-A8466042E71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1322" y="3045674"/>
            <a:ext cx="7234915" cy="324961"/>
          </a:xfrm>
        </p:spPr>
        <p:txBody>
          <a:bodyPr vert="horz" lIns="0" tIns="0" rIns="0" bIns="0" rtlCol="0">
            <a:spAutoFit/>
          </a:bodyPr>
          <a:lstStyle/>
          <a:p>
            <a:r>
              <a:rPr lang="es-ES_tradnl"/>
              <a:t>Configuraciones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D286A64F-1AC2-0842-49F6-CEE06ABF10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01801" y="3710867"/>
            <a:ext cx="7234915" cy="324961"/>
          </a:xfrm>
        </p:spPr>
        <p:txBody>
          <a:bodyPr vert="horz" lIns="0" tIns="0" rIns="0" bIns="0" rtlCol="0">
            <a:spAutoFit/>
          </a:bodyPr>
          <a:lstStyle/>
          <a:p>
            <a:r>
              <a:rPr lang="es-ES_tradnl"/>
              <a:t>Resumen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6412E2B5-4BE1-B49E-58AB-9C60B6BBF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/>
              <a:t>Tabla de contenidos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38ECF1E3-960C-9F44-1035-D5044E592609}"/>
              </a:ext>
            </a:extLst>
          </p:cNvPr>
          <p:cNvSpPr txBox="1">
            <a:spLocks/>
          </p:cNvSpPr>
          <p:nvPr/>
        </p:nvSpPr>
        <p:spPr>
          <a:xfrm>
            <a:off x="4571321" y="1694373"/>
            <a:ext cx="7234915" cy="32496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231775" indent="-2317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err="1"/>
              <a:t>Overview</a:t>
            </a:r>
            <a:r>
              <a:rPr lang="es-419"/>
              <a:t>: características generales del procedimiento</a:t>
            </a:r>
          </a:p>
        </p:txBody>
      </p:sp>
    </p:spTree>
    <p:extLst>
      <p:ext uri="{BB962C8B-B14F-4D97-AF65-F5344CB8AC3E}">
        <p14:creationId xmlns:p14="http://schemas.microsoft.com/office/powerpoint/2010/main" val="395854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8E1C91-D53E-9F97-C485-846285783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Overview: </a:t>
            </a:r>
            <a:r>
              <a:rPr lang="en-US" b="0"/>
              <a:t>Mapa de </a:t>
            </a:r>
            <a:r>
              <a:rPr lang="en-US" b="0" err="1"/>
              <a:t>capacidades</a:t>
            </a:r>
            <a:endParaRPr lang="es-419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5E5532-A998-508F-D976-B5AB9A86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5525"/>
            <a:ext cx="12192000" cy="48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33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31C0327-E277-8995-30AD-95DC98DE72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err="1"/>
              <a:t>Overview</a:t>
            </a:r>
            <a:r>
              <a:rPr lang="es-419"/>
              <a:t>: Proceso Gestionar el catálogo de cursos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8A9006-C922-5FC9-18EF-DBB6C047A4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97151"/>
          </a:xfrm>
        </p:spPr>
        <p:txBody>
          <a:bodyPr/>
          <a:lstStyle/>
          <a:p>
            <a:pPr marL="0" indent="0">
              <a:buNone/>
            </a:pPr>
            <a:r>
              <a:rPr lang="es-419"/>
              <a:t>A continuación, se presenta el diagrama del proceso “Gestionar el catálogo de cursos”, con sus responsables, las entradas y salidas correspondientes.</a:t>
            </a:r>
            <a:endParaRPr lang="es-CO"/>
          </a:p>
        </p:txBody>
      </p:sp>
      <p:pic>
        <p:nvPicPr>
          <p:cNvPr id="4" name="Imagen 6">
            <a:extLst>
              <a:ext uri="{FF2B5EF4-FFF2-40B4-BE49-F238E27FC236}">
                <a16:creationId xmlns:a16="http://schemas.microsoft.com/office/drawing/2014/main" id="{C83666FA-0986-F41D-955C-FA9479596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96" y="2204085"/>
            <a:ext cx="11897720" cy="245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0565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F0CF3E-E12E-1606-BD0D-9F22060370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762054"/>
            <a:ext cx="10363202" cy="1333891"/>
          </a:xfrm>
        </p:spPr>
        <p:txBody>
          <a:bodyPr/>
          <a:lstStyle/>
          <a:p>
            <a:r>
              <a:rPr lang="es-419"/>
              <a:t>Procedimiento: Diseñar y crear los cursos</a:t>
            </a:r>
          </a:p>
        </p:txBody>
      </p:sp>
    </p:spTree>
    <p:extLst>
      <p:ext uri="{BB962C8B-B14F-4D97-AF65-F5344CB8AC3E}">
        <p14:creationId xmlns:p14="http://schemas.microsoft.com/office/powerpoint/2010/main" val="283593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/>
          <a:lstStyle/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/>
              <a:t>Mediante este procedimiento se crearán y mantendrán </a:t>
            </a:r>
            <a:r>
              <a:rPr lang="es-ES" sz="2000"/>
              <a:t>los distintos cursos que son ofertados en la institución.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" sz="2000"/>
              <a:t>Los cursos creados son ofertados por una Unidad Académica y pueden ser administrados por un Departamento.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" sz="2000"/>
              <a:t>Los cursos serán agrupados por un código de área de conocimiento que los categorice. Luego, cada curso tendrá un número de lo identifique dentro del código agrupador</a:t>
            </a:r>
            <a:r>
              <a:rPr lang="es-419" sz="2000"/>
              <a:t>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419" sz="2000"/>
              <a:t>Para la creación de un curso se definen elementos como: tipo de horario, carga crediticia, carga horaria, modo de calificar nivel.</a:t>
            </a:r>
            <a:endParaRPr lang="es-ES" sz="2000"/>
          </a:p>
          <a:p>
            <a:pPr marL="0" indent="0" algn="just">
              <a:buClr>
                <a:srgbClr val="0CB4B4"/>
              </a:buClr>
              <a:buNone/>
            </a:pPr>
            <a:endParaRPr lang="es-ES" sz="200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/>
              <a:t>Overview</a:t>
            </a:r>
            <a:r>
              <a:rPr lang="es-ES_tradnl" sz="3200">
                <a:solidFill>
                  <a:schemeClr val="tx2"/>
                </a:solidFill>
              </a:rPr>
              <a:t>: </a:t>
            </a:r>
            <a:r>
              <a:rPr lang="es-ES_tradnl" sz="3200" b="1"/>
              <a:t>Proceso de diseñar y crear los cursos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_tradnl" err="1"/>
              <a:t>Overview</a:t>
            </a:r>
            <a:r>
              <a:rPr lang="es-ES_tradnl"/>
              <a:t>: Región donde aplica</a:t>
            </a:r>
            <a:endParaRPr lang="es-419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09" y="536868"/>
            <a:ext cx="9609373" cy="898555"/>
          </a:xfrm>
        </p:spPr>
        <p:txBody>
          <a:bodyPr/>
          <a:lstStyle/>
          <a:p>
            <a:r>
              <a:rPr lang="es-ES_tradnl" sz="3200">
                <a:solidFill>
                  <a:schemeClr val="tx2"/>
                </a:solidFill>
              </a:rPr>
              <a:t>Overview: </a:t>
            </a:r>
            <a:r>
              <a:rPr lang="es-ES_tradnl" sz="3200" b="1"/>
              <a:t>Proceso de diseñar y crear los cursos</a:t>
            </a:r>
            <a:endParaRPr lang="es-CL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E5E4D0-6C0B-7B86-A04E-A985621B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279103"/>
              </p:ext>
            </p:extLst>
          </p:nvPr>
        </p:nvGraphicFramePr>
        <p:xfrm>
          <a:off x="1181820" y="1404355"/>
          <a:ext cx="10644178" cy="4129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323">
                  <a:extLst>
                    <a:ext uri="{9D8B030D-6E8A-4147-A177-3AD203B41FA5}">
                      <a16:colId xmlns:a16="http://schemas.microsoft.com/office/drawing/2014/main" val="2298581278"/>
                    </a:ext>
                  </a:extLst>
                </a:gridCol>
                <a:gridCol w="8542855">
                  <a:extLst>
                    <a:ext uri="{9D8B030D-6E8A-4147-A177-3AD203B41FA5}">
                      <a16:colId xmlns:a16="http://schemas.microsoft.com/office/drawing/2014/main" val="1504358611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Concepto</a:t>
                      </a:r>
                      <a:endParaRPr lang="es-CO" sz="200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Descripción</a:t>
                      </a:r>
                      <a:endParaRPr lang="es-CO" sz="200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31455631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Período</a:t>
                      </a:r>
                      <a:endParaRPr lang="es-CO" sz="16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/>
                        <a:t>Los periodos son unidades de tiempo que permiten clasificar, activar o desactivar los cursos.</a:t>
                      </a:r>
                      <a:endParaRPr lang="es-ES" sz="16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674607535"/>
                  </a:ext>
                </a:extLst>
              </a:tr>
              <a:tr h="4672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/>
                        <a:t>Se entiende como el agrupador o área de conocimiento a la cual pertenecen los cursos.</a:t>
                      </a:r>
                      <a:endParaRPr lang="es-ES" sz="16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579196519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Curso</a:t>
                      </a:r>
                      <a:endParaRPr lang="es-ES" sz="16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/>
                        <a:t>Código con el que se identificará </a:t>
                      </a:r>
                      <a:r>
                        <a:rPr lang="es-MX" sz="1600"/>
                        <a:t>a una asignatura en particular</a:t>
                      </a:r>
                      <a:r>
                        <a:rPr lang="es-ES" sz="1600">
                          <a:effectLst/>
                        </a:rPr>
                        <a:t>.</a:t>
                      </a:r>
                      <a:endParaRPr lang="es-CO" sz="200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959410008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Modo de calificar</a:t>
                      </a:r>
                      <a:endParaRPr lang="es-CO" sz="16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600"/>
                        <a:t>Agrupador de códigos de calificaciones que pueden obtener los estudiantes según la naturaleza de la evaluación.</a:t>
                      </a:r>
                      <a:endParaRPr lang="es-CO" sz="200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205674216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Tipo de horario</a:t>
                      </a:r>
                      <a:endParaRPr lang="es-CO" sz="16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/>
                        <a:t>Se refiere al tipo de oferta horaria del curso: teórica, práctica, una mezcla de ambas o cualquier otra que tenga establecida la institución.</a:t>
                      </a:r>
                      <a:endParaRPr lang="es-CO" sz="200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893119640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Método educativo</a:t>
                      </a:r>
                      <a:endParaRPr lang="es-CO" sz="16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Forma en la que se imparte el curso. Ej.; presencial, a distancia, virtual, </a:t>
                      </a:r>
                      <a:r>
                        <a:rPr lang="es-MX" sz="16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s-CO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3689148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7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09" y="536868"/>
            <a:ext cx="9609373" cy="898555"/>
          </a:xfrm>
        </p:spPr>
        <p:txBody>
          <a:bodyPr/>
          <a:lstStyle/>
          <a:p>
            <a:r>
              <a:rPr lang="es-ES_tradnl" sz="3200">
                <a:solidFill>
                  <a:schemeClr val="tx2"/>
                </a:solidFill>
              </a:rPr>
              <a:t>Overview: </a:t>
            </a:r>
            <a:r>
              <a:rPr lang="es-ES_tradnl" sz="3200" b="1"/>
              <a:t>Proceso de Diseñar y crear los cursos</a:t>
            </a:r>
            <a:endParaRPr lang="es-CL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E5E4D0-6C0B-7B86-A04E-A985621B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984571"/>
              </p:ext>
            </p:extLst>
          </p:nvPr>
        </p:nvGraphicFramePr>
        <p:xfrm>
          <a:off x="1044009" y="1512390"/>
          <a:ext cx="10287379" cy="4110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885">
                  <a:extLst>
                    <a:ext uri="{9D8B030D-6E8A-4147-A177-3AD203B41FA5}">
                      <a16:colId xmlns:a16="http://schemas.microsoft.com/office/drawing/2014/main" val="2298581278"/>
                    </a:ext>
                  </a:extLst>
                </a:gridCol>
                <a:gridCol w="8256494">
                  <a:extLst>
                    <a:ext uri="{9D8B030D-6E8A-4147-A177-3AD203B41FA5}">
                      <a16:colId xmlns:a16="http://schemas.microsoft.com/office/drawing/2014/main" val="1504358611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Concepto</a:t>
                      </a:r>
                      <a:endParaRPr lang="es-CO" sz="200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Descripción</a:t>
                      </a:r>
                      <a:endParaRPr lang="es-CO" sz="200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31455631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Escuela</a:t>
                      </a:r>
                      <a:endParaRPr lang="es-CO" sz="16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Unidad de enseñanza que concentra los recursos humanos y financieros para la oferta de los programas académicos</a:t>
                      </a:r>
                      <a:endParaRPr lang="es-CO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205674216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Departamento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Unidades de docencia e investigación encargadas de coordinar y administrar las enseñanzas de uno o varios ámbitos del conocimiento en una Universidad</a:t>
                      </a:r>
                      <a:r>
                        <a:rPr lang="es-CO" sz="2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es-CO" sz="200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479303438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Créditos académicos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 refiere al valor crediticio que el curso otorga a la historia académica del estudiante una vez que lo aprueba</a:t>
                      </a:r>
                      <a:endParaRPr lang="es-CO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936186946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Créditos de cobro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 refiere a la cantidad de créditos que debe pagar el estudiante al inscribir el curso</a:t>
                      </a:r>
                      <a:r>
                        <a:rPr lang="es-ES_tradnl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CO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4105470830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Curso de aprendizaje abierto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Puede ser cualquier clase ofrecida en donde: los controles de nivel de sección son requeridos, los registros de inscripción son procesados a nivel del alumno contra el nivel de clases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200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940935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449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O"/>
              <a:t>Tablas de validación</a:t>
            </a:r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8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EFE323A-692E-44D1-42A3-B5170D69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50" y="1013814"/>
            <a:ext cx="10786699" cy="483037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STVCOLL Validación de </a:t>
            </a:r>
            <a:r>
              <a:rPr lang="es-ES_tradnl" sz="3000"/>
              <a:t>código de escuela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67392" y="3626681"/>
            <a:ext cx="10457214" cy="1578160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las escuelas que ofrecen los programas académicos, el proceso de creación y actualización es el siguiente:</a:t>
            </a:r>
          </a:p>
          <a:p>
            <a:endParaRPr lang="es-ES" sz="1100"/>
          </a:p>
          <a:p>
            <a:r>
              <a:rPr lang="es-ES" sz="1100"/>
              <a:t>1. </a:t>
            </a:r>
            <a:r>
              <a:rPr lang="es-ES_tradnl" sz="1100"/>
              <a:t>Debe presionar insertar la para la creación del nuevo registro.</a:t>
            </a:r>
            <a:br>
              <a:rPr lang="es-ES" sz="1100" b="1"/>
            </a:br>
            <a:r>
              <a:rPr lang="es-ES" sz="1100" b="1"/>
              <a:t>2. Código: </a:t>
            </a:r>
            <a:r>
              <a:rPr lang="es-ES" sz="1100"/>
              <a:t>Código alfanumérico de 02 caracteres que representa el código definido para  las escuelas</a:t>
            </a:r>
          </a:p>
          <a:p>
            <a:pPr algn="just"/>
            <a:r>
              <a:rPr lang="es-CL" sz="1100" b="1"/>
              <a:t>3. Descripción: </a:t>
            </a:r>
            <a:r>
              <a:rPr lang="es-CL" sz="1100"/>
              <a:t>Campo alfanumérico de hasta 30 caracteres que representa el nombre de la escuela señalada anteriormente.</a:t>
            </a:r>
          </a:p>
          <a:p>
            <a:pPr algn="just"/>
            <a:r>
              <a:rPr lang="es-CL" sz="1100" b="1"/>
              <a:t>4. Requerido por el sistema</a:t>
            </a:r>
            <a:r>
              <a:rPr lang="es-CL" sz="1100"/>
              <a:t>: Solo se marca para aquellos códigos que son requeridos para el funcionamiento del sistema. En este caso 00 y 99.</a:t>
            </a:r>
          </a:p>
          <a:p>
            <a:pPr algn="just"/>
            <a:r>
              <a:rPr lang="es-CL" sz="1100" b="1"/>
              <a:t>5. Distrito MIS</a:t>
            </a:r>
            <a:r>
              <a:rPr lang="es-CL" sz="1100"/>
              <a:t>: Depende de la tabla GTVDICD y corresponde al distrito/división. Este campo es opcional</a:t>
            </a:r>
          </a:p>
          <a:p>
            <a:pPr algn="just"/>
            <a:r>
              <a:rPr lang="es-CL" sz="1100"/>
              <a:t>6. </a:t>
            </a:r>
            <a:r>
              <a:rPr lang="es-ES_tradnl" sz="1100"/>
              <a:t>Finalmente se deben guardar todos los registros creados.</a:t>
            </a:r>
            <a:endParaRPr lang="es-CL" sz="110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120E3819-449F-4035-9364-3A24F4F642E0}"/>
              </a:ext>
            </a:extLst>
          </p:cNvPr>
          <p:cNvSpPr/>
          <p:nvPr/>
        </p:nvSpPr>
        <p:spPr>
          <a:xfrm>
            <a:off x="10642468" y="1362914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E88D2C7B-3A98-84C8-4719-1903C0CBF4C1}"/>
              </a:ext>
            </a:extLst>
          </p:cNvPr>
          <p:cNvSpPr/>
          <p:nvPr/>
        </p:nvSpPr>
        <p:spPr>
          <a:xfrm>
            <a:off x="507159" y="2056511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44FE54B9-6744-43E7-7814-ACC1947E003E}"/>
              </a:ext>
            </a:extLst>
          </p:cNvPr>
          <p:cNvSpPr/>
          <p:nvPr/>
        </p:nvSpPr>
        <p:spPr>
          <a:xfrm>
            <a:off x="1679088" y="2056511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8A958533-4C67-4943-7BA1-E80A3BE4BCA3}"/>
              </a:ext>
            </a:extLst>
          </p:cNvPr>
          <p:cNvSpPr/>
          <p:nvPr/>
        </p:nvSpPr>
        <p:spPr>
          <a:xfrm>
            <a:off x="6984347" y="2056511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69F4230-B75D-A6C8-D416-6029306AAA68}"/>
              </a:ext>
            </a:extLst>
          </p:cNvPr>
          <p:cNvSpPr/>
          <p:nvPr/>
        </p:nvSpPr>
        <p:spPr>
          <a:xfrm>
            <a:off x="10975851" y="5557858"/>
            <a:ext cx="515631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292AD6-851D-0765-D083-8B191BF309F8}"/>
              </a:ext>
            </a:extLst>
          </p:cNvPr>
          <p:cNvSpPr/>
          <p:nvPr/>
        </p:nvSpPr>
        <p:spPr>
          <a:xfrm>
            <a:off x="10610144" y="1610170"/>
            <a:ext cx="267414" cy="19316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013CDE86-8512-965A-8F32-BE54342A76A0}"/>
              </a:ext>
            </a:extLst>
          </p:cNvPr>
          <p:cNvSpPr/>
          <p:nvPr/>
        </p:nvSpPr>
        <p:spPr>
          <a:xfrm>
            <a:off x="9853495" y="2030508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3BB96F4F-50AD-D852-0148-91B6FB4CDE67}"/>
              </a:ext>
            </a:extLst>
          </p:cNvPr>
          <p:cNvSpPr/>
          <p:nvPr/>
        </p:nvSpPr>
        <p:spPr>
          <a:xfrm>
            <a:off x="10728426" y="5608340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64333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5F4DF11-C90C-A9D4-9865-1D2F31AEF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68" y="1391945"/>
            <a:ext cx="10632039" cy="478025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259415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STVD</a:t>
            </a:r>
            <a:r>
              <a:rPr lang="es-ES_tradnl" sz="3000"/>
              <a:t>EPT</a:t>
            </a:r>
            <a:r>
              <a:rPr lang="es-ES_tradnl" sz="3000" b="1"/>
              <a:t> Validación de </a:t>
            </a:r>
            <a:r>
              <a:rPr lang="es-ES_tradnl" sz="3000"/>
              <a:t>código de departamento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524251" y="3577170"/>
            <a:ext cx="10843871" cy="1855695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los departamentos que ofrecen los programas y que pueden estar asociados a un programa, curso o docente. el proceso de creación y actualización es el siguiente:</a:t>
            </a:r>
          </a:p>
          <a:p>
            <a:br>
              <a:rPr lang="es-ES" sz="1100"/>
            </a:br>
            <a:r>
              <a:rPr lang="es-ES" sz="1100"/>
              <a:t>1. </a:t>
            </a:r>
            <a:r>
              <a:rPr lang="es-ES_tradnl" sz="1100"/>
              <a:t>Debe presionar insertar la para la creación del nuevo registro.</a:t>
            </a:r>
            <a:br>
              <a:rPr lang="es-ES" sz="1100"/>
            </a:br>
            <a:r>
              <a:rPr lang="es-ES" sz="1100"/>
              <a:t>2. Código: Código alfanumérico de 06 caracteres que representa el código definido al departamento</a:t>
            </a:r>
          </a:p>
          <a:p>
            <a:pPr algn="just"/>
            <a:r>
              <a:rPr lang="es-CL" sz="1100"/>
              <a:t>3. Descripción: Campo alfanumérico de hasta 30 caracteres que representa el nombre del departamento definido anteriormente.</a:t>
            </a:r>
          </a:p>
          <a:p>
            <a:pPr algn="just"/>
            <a:r>
              <a:rPr lang="es-CL" sz="1100"/>
              <a:t>4. Requerido por el sistema: Debe estar marcado para el código 0000.</a:t>
            </a:r>
          </a:p>
          <a:p>
            <a:r>
              <a:rPr lang="es-CL" sz="1100"/>
              <a:t>5.Número de mensaje de RV</a:t>
            </a:r>
            <a:r>
              <a:rPr lang="es-419" sz="1100"/>
              <a:t>: Funcionalidad asociada a usar Banner integrado con un sistema de telefonía IP. No aplica</a:t>
            </a:r>
          </a:p>
          <a:p>
            <a:r>
              <a:rPr lang="es-CL" sz="1100"/>
              <a:t>6. </a:t>
            </a:r>
            <a:r>
              <a:rPr lang="es-ES_tradnl" sz="1100"/>
              <a:t>Finalmente se deben guardar todos los registros creados.</a:t>
            </a:r>
            <a:br>
              <a:rPr lang="es-CL" sz="1100"/>
            </a:br>
            <a:endParaRPr lang="es-CL" sz="110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0202FB47-02C1-F7E2-30C3-4E01D142D2F0}"/>
              </a:ext>
            </a:extLst>
          </p:cNvPr>
          <p:cNvSpPr/>
          <p:nvPr/>
        </p:nvSpPr>
        <p:spPr>
          <a:xfrm>
            <a:off x="10008525" y="2313660"/>
            <a:ext cx="165908" cy="1708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E6E30A85-FBDF-EED0-F5AE-0876F7B4E7B2}"/>
              </a:ext>
            </a:extLst>
          </p:cNvPr>
          <p:cNvSpPr/>
          <p:nvPr/>
        </p:nvSpPr>
        <p:spPr>
          <a:xfrm>
            <a:off x="1050533" y="2313660"/>
            <a:ext cx="165908" cy="1708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079ECF9D-DC9B-DE87-6900-A9E93258FE15}"/>
              </a:ext>
            </a:extLst>
          </p:cNvPr>
          <p:cNvSpPr/>
          <p:nvPr/>
        </p:nvSpPr>
        <p:spPr>
          <a:xfrm>
            <a:off x="2894122" y="2313660"/>
            <a:ext cx="165908" cy="1708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DDBDDC2E-2982-07D6-5E73-4C2CD91C6071}"/>
              </a:ext>
            </a:extLst>
          </p:cNvPr>
          <p:cNvSpPr/>
          <p:nvPr/>
        </p:nvSpPr>
        <p:spPr>
          <a:xfrm>
            <a:off x="8253878" y="2313660"/>
            <a:ext cx="165908" cy="1708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E01A120E-6C02-8689-63DF-5B405CBD7316}"/>
              </a:ext>
            </a:extLst>
          </p:cNvPr>
          <p:cNvSpPr/>
          <p:nvPr/>
        </p:nvSpPr>
        <p:spPr>
          <a:xfrm>
            <a:off x="10466858" y="1721048"/>
            <a:ext cx="165908" cy="1708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66668FB-80C4-E44A-98D0-26C80A98E96D}"/>
              </a:ext>
            </a:extLst>
          </p:cNvPr>
          <p:cNvSpPr/>
          <p:nvPr/>
        </p:nvSpPr>
        <p:spPr>
          <a:xfrm>
            <a:off x="10767143" y="5881098"/>
            <a:ext cx="515631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6949D6F-F363-4513-8AFE-5FE19737F939}"/>
              </a:ext>
            </a:extLst>
          </p:cNvPr>
          <p:cNvSpPr/>
          <p:nvPr/>
        </p:nvSpPr>
        <p:spPr>
          <a:xfrm>
            <a:off x="10455631" y="1950708"/>
            <a:ext cx="165908" cy="20726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6CBCD577-80E2-B804-F84C-1F636CC54A3A}"/>
              </a:ext>
            </a:extLst>
          </p:cNvPr>
          <p:cNvSpPr/>
          <p:nvPr/>
        </p:nvSpPr>
        <p:spPr>
          <a:xfrm>
            <a:off x="10355718" y="5939230"/>
            <a:ext cx="165908" cy="1708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5202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0C29575-A201-67C6-2782-BFB95C4B8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64" y="1818575"/>
            <a:ext cx="10428858" cy="146494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STV</a:t>
            </a:r>
            <a:r>
              <a:rPr lang="es-ES_tradnl" sz="3000"/>
              <a:t>CSTA</a:t>
            </a:r>
            <a:r>
              <a:rPr lang="es-ES_tradnl" sz="3000" b="1"/>
              <a:t> Validación de </a:t>
            </a:r>
            <a:r>
              <a:rPr lang="es-ES_tradnl" sz="3000"/>
              <a:t>código de estatus del curso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395601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los estatus de los cursos</a:t>
            </a:r>
            <a:br>
              <a:rPr lang="es-ES" sz="1100" b="1"/>
            </a:br>
            <a:br>
              <a:rPr lang="es-ES" sz="1100" b="1"/>
            </a:br>
            <a:r>
              <a:rPr lang="es-ES" sz="1100" b="1"/>
              <a:t>1.     Código: </a:t>
            </a:r>
            <a:r>
              <a:rPr lang="es-ES" sz="1100"/>
              <a:t>Código alfanumérico de 01 caracteres que representa el código  del estatus</a:t>
            </a:r>
          </a:p>
          <a:p>
            <a:pPr algn="just"/>
            <a:r>
              <a:rPr lang="es-CL" sz="1100" b="1"/>
              <a:t>2.     Descripción: </a:t>
            </a:r>
            <a:r>
              <a:rPr lang="es-CL" sz="1100"/>
              <a:t>Campo alfanumérico de hasta 30 caracteres que representa el nombre del estatus.</a:t>
            </a:r>
          </a:p>
          <a:p>
            <a:pPr algn="just"/>
            <a:r>
              <a:rPr lang="es-CL" sz="1100" b="1"/>
              <a:t>3.     Activo</a:t>
            </a:r>
            <a:r>
              <a:rPr lang="es-CL" sz="1100"/>
              <a:t>: Indica que el curso se encuentra activo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F99D0E39-661A-A466-00F6-33EB376B0B74}"/>
              </a:ext>
            </a:extLst>
          </p:cNvPr>
          <p:cNvSpPr/>
          <p:nvPr/>
        </p:nvSpPr>
        <p:spPr>
          <a:xfrm>
            <a:off x="1273258" y="2722080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FD0CD81D-3FD7-30B7-D54F-915DB870BCFA}"/>
              </a:ext>
            </a:extLst>
          </p:cNvPr>
          <p:cNvSpPr/>
          <p:nvPr/>
        </p:nvSpPr>
        <p:spPr>
          <a:xfrm>
            <a:off x="2420949" y="2722080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E2AA8B5A-4E07-02A4-6A7D-BF795E2AD0F9}"/>
              </a:ext>
            </a:extLst>
          </p:cNvPr>
          <p:cNvSpPr/>
          <p:nvPr/>
        </p:nvSpPr>
        <p:spPr>
          <a:xfrm>
            <a:off x="10526196" y="2722080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28105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6EDBE1F-7E4D-FDC6-8E1C-37AF5472B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10" y="1307039"/>
            <a:ext cx="10554179" cy="476178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STVGMOD</a:t>
            </a:r>
            <a:r>
              <a:rPr lang="es-ES_tradnl" sz="3000" b="1"/>
              <a:t> Validación de modo </a:t>
            </a:r>
            <a:r>
              <a:rPr lang="es-ES_tradnl" sz="3000"/>
              <a:t>de calificar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3971365"/>
            <a:ext cx="10843871" cy="1462490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los modos de calificar que </a:t>
            </a:r>
            <a:r>
              <a:rPr lang="es-419" sz="1100"/>
              <a:t>serán vinculados a cada curso en la página de SCACRSE.</a:t>
            </a:r>
            <a:br>
              <a:rPr lang="es-ES" sz="1100"/>
            </a:br>
            <a:r>
              <a:rPr lang="es-ES" sz="1100"/>
              <a:t>1. </a:t>
            </a:r>
            <a:r>
              <a:rPr lang="es-ES_tradnl" sz="1100"/>
              <a:t>Debe presionar insertar la para la creación del nuevo registro.</a:t>
            </a:r>
            <a:br>
              <a:rPr lang="es-ES" sz="1100"/>
            </a:br>
            <a:r>
              <a:rPr lang="es-ES" sz="1100"/>
              <a:t>2. Código: Código alfanumérico de 01 caracteres que representa el código definido para el modo de calificar</a:t>
            </a:r>
          </a:p>
          <a:p>
            <a:pPr algn="just"/>
            <a:r>
              <a:rPr lang="es-CL" sz="1100"/>
              <a:t>3. Descripción: Campo alfanumérico de hasta 30 caracteres que representa a la descripción del modo de calificar.</a:t>
            </a:r>
          </a:p>
          <a:p>
            <a:pPr algn="just"/>
            <a:r>
              <a:rPr lang="es-ES" sz="1100"/>
              <a:t>4. Modo de calificar de despliegue en web</a:t>
            </a:r>
            <a:r>
              <a:rPr lang="es-CL" sz="1100"/>
              <a:t>: Se mantiene el mismo valor del modo de calificar</a:t>
            </a:r>
          </a:p>
          <a:p>
            <a:pPr algn="just"/>
            <a:r>
              <a:rPr lang="es-ES_tradnl" sz="1100"/>
              <a:t>5. Finalmente se deben guardar todos los registros creados.</a:t>
            </a:r>
            <a:endParaRPr lang="es-CL" sz="110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1EAB5757-E483-4247-437B-79B0A92247A6}"/>
              </a:ext>
            </a:extLst>
          </p:cNvPr>
          <p:cNvSpPr/>
          <p:nvPr/>
        </p:nvSpPr>
        <p:spPr>
          <a:xfrm>
            <a:off x="1284686" y="2220523"/>
            <a:ext cx="195168" cy="17333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47CD55B0-93D4-1367-6652-65CA5E495A5C}"/>
              </a:ext>
            </a:extLst>
          </p:cNvPr>
          <p:cNvSpPr/>
          <p:nvPr/>
        </p:nvSpPr>
        <p:spPr>
          <a:xfrm>
            <a:off x="3366336" y="2220523"/>
            <a:ext cx="195168" cy="17333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A555D288-E365-C9FD-AE03-839EE3325327}"/>
              </a:ext>
            </a:extLst>
          </p:cNvPr>
          <p:cNvSpPr/>
          <p:nvPr/>
        </p:nvSpPr>
        <p:spPr>
          <a:xfrm>
            <a:off x="10199450" y="2220523"/>
            <a:ext cx="195168" cy="17333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F6851A98-5D3D-B452-C2B2-F4AA2D46A0F1}"/>
              </a:ext>
            </a:extLst>
          </p:cNvPr>
          <p:cNvSpPr/>
          <p:nvPr/>
        </p:nvSpPr>
        <p:spPr>
          <a:xfrm>
            <a:off x="10546028" y="1664441"/>
            <a:ext cx="165908" cy="1708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8F3860B-2A4D-C85D-A691-101C8125187B}"/>
              </a:ext>
            </a:extLst>
          </p:cNvPr>
          <p:cNvSpPr/>
          <p:nvPr/>
        </p:nvSpPr>
        <p:spPr>
          <a:xfrm>
            <a:off x="10866121" y="5789778"/>
            <a:ext cx="515631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13F10DB-8828-9965-7166-9CDC401F6956}"/>
              </a:ext>
            </a:extLst>
          </p:cNvPr>
          <p:cNvSpPr/>
          <p:nvPr/>
        </p:nvSpPr>
        <p:spPr>
          <a:xfrm>
            <a:off x="10503400" y="1909182"/>
            <a:ext cx="251165" cy="1708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1B061D60-BB1C-C250-1716-498630D9C87A}"/>
              </a:ext>
            </a:extLst>
          </p:cNvPr>
          <p:cNvSpPr/>
          <p:nvPr/>
        </p:nvSpPr>
        <p:spPr>
          <a:xfrm>
            <a:off x="10644163" y="5824878"/>
            <a:ext cx="165908" cy="1708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28738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220DD91-4275-00B0-4770-F2A26DADC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812126"/>
            <a:ext cx="10816976" cy="184238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 b="1"/>
              <a:t>STVSCHD Validación de </a:t>
            </a:r>
            <a:r>
              <a:rPr lang="es-ES_tradnl" sz="3000"/>
              <a:t>código de tipo de horario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512485"/>
            <a:ext cx="10816976" cy="165971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los tipos de horario que serán vinculados a cada curso</a:t>
            </a:r>
            <a:br>
              <a:rPr lang="es-ES" sz="1100"/>
            </a:br>
            <a:br>
              <a:rPr lang="es-ES" sz="1100"/>
            </a:br>
            <a:r>
              <a:rPr lang="es-ES" sz="1100"/>
              <a:t>1. Código: Código alfanumérico de 03 caracteres que representa el tipo de horario</a:t>
            </a:r>
          </a:p>
          <a:p>
            <a:pPr algn="just"/>
            <a:r>
              <a:rPr lang="es-CL" sz="1100"/>
              <a:t>2.- Descripción: Campo alfanumérico de hasta 30 caracteres que representa el nombre del tipo de horario.</a:t>
            </a:r>
          </a:p>
          <a:p>
            <a:pPr algn="just"/>
            <a:r>
              <a:rPr lang="es-CL" sz="1100"/>
              <a:t>3.- Método educativo: Depende de la tabla </a:t>
            </a:r>
            <a:r>
              <a:rPr lang="es-ES" sz="1100"/>
              <a:t>GTVINSM</a:t>
            </a:r>
            <a:r>
              <a:rPr lang="es-ES" sz="180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CL" sz="1100"/>
              <a:t>	</a:t>
            </a:r>
          </a:p>
          <a:p>
            <a:pPr algn="just"/>
            <a:r>
              <a:rPr lang="es-CL" sz="1100"/>
              <a:t>4.- Programador automático: No aplica.</a:t>
            </a:r>
          </a:p>
          <a:p>
            <a:pPr algn="just"/>
            <a:r>
              <a:rPr lang="es-ES" sz="1100"/>
              <a:t>5.- Asignación de cooperativa permitida: Si está permitido la asignación de Empresas, en SGACOOP, se debe marcar el </a:t>
            </a:r>
            <a:r>
              <a:rPr lang="es-ES" sz="1100" err="1"/>
              <a:t>checkbox</a:t>
            </a:r>
            <a:endParaRPr lang="es-CL" sz="1100"/>
          </a:p>
          <a:p>
            <a:br>
              <a:rPr lang="es-CL" sz="1100"/>
            </a:br>
            <a:endParaRPr lang="es-CL" sz="110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B8597100-E887-3B43-9AD6-F72064D9FFD2}"/>
              </a:ext>
            </a:extLst>
          </p:cNvPr>
          <p:cNvSpPr/>
          <p:nvPr/>
        </p:nvSpPr>
        <p:spPr>
          <a:xfrm>
            <a:off x="1217487" y="2789972"/>
            <a:ext cx="186005" cy="19989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DF938848-576F-C74B-E3B6-F3AAE89023A1}"/>
              </a:ext>
            </a:extLst>
          </p:cNvPr>
          <p:cNvSpPr/>
          <p:nvPr/>
        </p:nvSpPr>
        <p:spPr>
          <a:xfrm>
            <a:off x="2339277" y="2789972"/>
            <a:ext cx="186005" cy="19989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8AB7834A-9512-59AC-9655-432F428136C5}"/>
              </a:ext>
            </a:extLst>
          </p:cNvPr>
          <p:cNvSpPr/>
          <p:nvPr/>
        </p:nvSpPr>
        <p:spPr>
          <a:xfrm>
            <a:off x="5528972" y="2789972"/>
            <a:ext cx="186005" cy="19989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EE5B80CB-9BE7-FCB2-4802-75EF9E3831C1}"/>
              </a:ext>
            </a:extLst>
          </p:cNvPr>
          <p:cNvSpPr/>
          <p:nvPr/>
        </p:nvSpPr>
        <p:spPr>
          <a:xfrm>
            <a:off x="6786604" y="2789972"/>
            <a:ext cx="186005" cy="19989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9AA0E24C-8990-55A9-0DDA-1F42D19CA6AB}"/>
              </a:ext>
            </a:extLst>
          </p:cNvPr>
          <p:cNvSpPr/>
          <p:nvPr/>
        </p:nvSpPr>
        <p:spPr>
          <a:xfrm>
            <a:off x="8138666" y="2796708"/>
            <a:ext cx="186005" cy="19989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89511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E2083B3-2DE9-66C0-85EC-7A6F4CC20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36" y="1588964"/>
            <a:ext cx="11067692" cy="225977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GTVINSM</a:t>
            </a:r>
            <a:r>
              <a:rPr lang="es-ES_tradnl" sz="3000" b="1"/>
              <a:t> Validación de </a:t>
            </a:r>
            <a:r>
              <a:rPr lang="es-ES_tradnl" sz="3000"/>
              <a:t>método educativo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563035"/>
            <a:ext cx="10843871" cy="1462490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los métodos educativos, la forma como se impartirán los cursos y se verán vinculados a cada tipo de horario</a:t>
            </a:r>
            <a:br>
              <a:rPr lang="es-ES" sz="1100"/>
            </a:br>
            <a:endParaRPr lang="es-ES" sz="1100"/>
          </a:p>
          <a:p>
            <a:r>
              <a:rPr lang="es-ES" sz="1100" b="1"/>
              <a:t>1.   Código: </a:t>
            </a:r>
            <a:r>
              <a:rPr lang="es-ES" sz="1100"/>
              <a:t>Código alfanumérico de 01 caracteres que representa el código del método educativo</a:t>
            </a:r>
          </a:p>
          <a:p>
            <a:pPr algn="just"/>
            <a:r>
              <a:rPr lang="es-CL" sz="1100" b="1"/>
              <a:t>2.   Descripción: </a:t>
            </a:r>
            <a:r>
              <a:rPr lang="es-CL" sz="1100"/>
              <a:t>Campo alfanumérico de hasta 30 caracteres que representa la descripción del método educativo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BC6376B-E045-4610-304A-6434F73FF5FB}"/>
              </a:ext>
            </a:extLst>
          </p:cNvPr>
          <p:cNvSpPr/>
          <p:nvPr/>
        </p:nvSpPr>
        <p:spPr>
          <a:xfrm>
            <a:off x="1239348" y="2718852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F31982D3-0833-4742-1C6F-54061D135BCC}"/>
              </a:ext>
            </a:extLst>
          </p:cNvPr>
          <p:cNvSpPr/>
          <p:nvPr/>
        </p:nvSpPr>
        <p:spPr>
          <a:xfrm>
            <a:off x="3069473" y="2718852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0037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2263AD41-705A-7CAC-2AFC-9168BFD6D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54" y="1155119"/>
            <a:ext cx="10343073" cy="159705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GTVDUNT</a:t>
            </a:r>
            <a:r>
              <a:rPr lang="es-ES_tradnl" sz="3000" b="1"/>
              <a:t> Validación </a:t>
            </a:r>
            <a:r>
              <a:rPr lang="es-ES_tradnl" sz="3000"/>
              <a:t>de unidad de duración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213411"/>
            <a:ext cx="10601823" cy="1274231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unidades de duración, las cuales se pueden vincular a un curso en la página SCACRSE</a:t>
            </a:r>
            <a:br>
              <a:rPr lang="es-ES" sz="1100"/>
            </a:br>
            <a:endParaRPr lang="es-ES" sz="1100"/>
          </a:p>
          <a:p>
            <a:r>
              <a:rPr lang="es-ES" sz="1100" b="1"/>
              <a:t>1.   Código: </a:t>
            </a:r>
            <a:r>
              <a:rPr lang="es-ES" sz="1100"/>
              <a:t>Código alfanumérico de 01 caracteres que representa el código de la unidad de duración</a:t>
            </a:r>
          </a:p>
          <a:p>
            <a:pPr marL="228600" indent="-228600" algn="just">
              <a:buAutoNum type="arabicPeriod" startAt="2"/>
            </a:pPr>
            <a:r>
              <a:rPr lang="es-CL" sz="1100" b="1"/>
              <a:t>Descripción: </a:t>
            </a:r>
            <a:r>
              <a:rPr lang="es-CL" sz="1100"/>
              <a:t>Campo alfanumérico de hasta 30 caracteres que representa la descripción de la unidad de duración creada</a:t>
            </a:r>
          </a:p>
          <a:p>
            <a:pPr marL="228600" indent="-228600" algn="just">
              <a:buAutoNum type="arabicPeriod" startAt="2"/>
            </a:pPr>
            <a:r>
              <a:rPr lang="es-CL" sz="1100" b="1"/>
              <a:t>Días por unidad: </a:t>
            </a:r>
            <a:r>
              <a:rPr lang="es-CL" sz="1100"/>
              <a:t>Número de días que tiene la unidad creada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090B15A4-A8C8-6DD2-DFC1-1AD0A0488B8E}"/>
              </a:ext>
            </a:extLst>
          </p:cNvPr>
          <p:cNvSpPr/>
          <p:nvPr/>
        </p:nvSpPr>
        <p:spPr>
          <a:xfrm>
            <a:off x="1613079" y="2175189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3CA56539-B036-6592-460A-543519BBACA8}"/>
              </a:ext>
            </a:extLst>
          </p:cNvPr>
          <p:cNvSpPr/>
          <p:nvPr/>
        </p:nvSpPr>
        <p:spPr>
          <a:xfrm>
            <a:off x="3172840" y="2175189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38FBA2F6-21CE-1128-0F1E-23637E5E0F88}"/>
              </a:ext>
            </a:extLst>
          </p:cNvPr>
          <p:cNvSpPr/>
          <p:nvPr/>
        </p:nvSpPr>
        <p:spPr>
          <a:xfrm>
            <a:off x="10841877" y="2175189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641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E06649-B7CB-5DB5-A354-1F0177022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50" y="1231664"/>
            <a:ext cx="10492297" cy="470948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STVSUBJ</a:t>
            </a:r>
            <a:r>
              <a:rPr lang="es-ES_tradnl" sz="3000" b="1"/>
              <a:t> Validación </a:t>
            </a:r>
            <a:r>
              <a:rPr lang="es-ES_tradnl" sz="3000"/>
              <a:t>de código de materia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043012" y="4145772"/>
            <a:ext cx="10105975" cy="1399738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código materia o área del conocimiento, </a:t>
            </a:r>
            <a:br>
              <a:rPr lang="es-ES" sz="1100"/>
            </a:br>
            <a:r>
              <a:rPr lang="es-ES" sz="1100"/>
              <a:t>1. </a:t>
            </a:r>
            <a:r>
              <a:rPr lang="es-ES_tradnl" sz="1100"/>
              <a:t>Debe presionar insertar la para la creación del nuevo registro.</a:t>
            </a:r>
            <a:endParaRPr lang="es-ES" sz="1100"/>
          </a:p>
          <a:p>
            <a:r>
              <a:rPr lang="es-ES" sz="1100"/>
              <a:t>2. Código: Código alfanumérico de 04 caracteres que representa el código  de la agrupación</a:t>
            </a:r>
          </a:p>
          <a:p>
            <a:pPr algn="just"/>
            <a:r>
              <a:rPr lang="es-CL" sz="1100"/>
              <a:t>3. Descripción: Campo alfanumérico de hasta 30 caracteres que representa la del código de la materia</a:t>
            </a:r>
          </a:p>
          <a:p>
            <a:pPr algn="just"/>
            <a:r>
              <a:rPr lang="es-CL" sz="1100"/>
              <a:t>4. Indicador de web: </a:t>
            </a:r>
            <a:r>
              <a:rPr lang="es-CO" sz="1100"/>
              <a:t>Active el campo para indicar que las materias se pueden desplegar en el Autoservicio</a:t>
            </a:r>
          </a:p>
          <a:p>
            <a:pPr algn="just"/>
            <a:r>
              <a:rPr lang="es-ES_tradnl" sz="1100"/>
              <a:t>5. Finalmente se deben guardar todos los registros creados.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F14CF480-CD29-1155-8DFB-B4924D09F871}"/>
              </a:ext>
            </a:extLst>
          </p:cNvPr>
          <p:cNvSpPr/>
          <p:nvPr/>
        </p:nvSpPr>
        <p:spPr>
          <a:xfrm>
            <a:off x="10064673" y="2134618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340466D1-FEB4-F33C-AAEF-7ADEC59CA7A0}"/>
              </a:ext>
            </a:extLst>
          </p:cNvPr>
          <p:cNvSpPr/>
          <p:nvPr/>
        </p:nvSpPr>
        <p:spPr>
          <a:xfrm>
            <a:off x="1613458" y="2134618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972BE19C-9865-A5F9-E0A9-744ED04E0B80}"/>
              </a:ext>
            </a:extLst>
          </p:cNvPr>
          <p:cNvSpPr/>
          <p:nvPr/>
        </p:nvSpPr>
        <p:spPr>
          <a:xfrm>
            <a:off x="2985361" y="2134618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280981A6-5AA5-9DA4-3DAF-B69BC60A26E6}"/>
              </a:ext>
            </a:extLst>
          </p:cNvPr>
          <p:cNvSpPr/>
          <p:nvPr/>
        </p:nvSpPr>
        <p:spPr>
          <a:xfrm>
            <a:off x="10267438" y="1596093"/>
            <a:ext cx="165908" cy="1708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4241FE2-37A7-71FE-BCEA-8C33BEF55210}"/>
              </a:ext>
            </a:extLst>
          </p:cNvPr>
          <p:cNvSpPr/>
          <p:nvPr/>
        </p:nvSpPr>
        <p:spPr>
          <a:xfrm>
            <a:off x="10860809" y="5644531"/>
            <a:ext cx="515631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5DDD9E1-B577-15BF-0616-C2749AD643F6}"/>
              </a:ext>
            </a:extLst>
          </p:cNvPr>
          <p:cNvSpPr/>
          <p:nvPr/>
        </p:nvSpPr>
        <p:spPr>
          <a:xfrm>
            <a:off x="10276797" y="1817413"/>
            <a:ext cx="231903" cy="20726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redondeado 15">
            <a:extLst>
              <a:ext uri="{FF2B5EF4-FFF2-40B4-BE49-F238E27FC236}">
                <a16:creationId xmlns:a16="http://schemas.microsoft.com/office/drawing/2014/main" id="{7332CCC9-EF01-85FD-8D44-15C2E60718AA}"/>
              </a:ext>
            </a:extLst>
          </p:cNvPr>
          <p:cNvSpPr/>
          <p:nvPr/>
        </p:nvSpPr>
        <p:spPr>
          <a:xfrm>
            <a:off x="10549539" y="5669772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0191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>
                <a:solidFill>
                  <a:schemeClr val="bg1"/>
                </a:solidFill>
              </a:rPr>
              <a:t>D</a:t>
            </a:r>
            <a:r>
              <a:rPr lang="en-US" sz="3200" b="1" err="1">
                <a:solidFill>
                  <a:schemeClr val="bg1"/>
                </a:solidFill>
              </a:rPr>
              <a:t>iseñar</a:t>
            </a:r>
            <a:r>
              <a:rPr lang="en-US" sz="3200" b="1">
                <a:solidFill>
                  <a:schemeClr val="bg1"/>
                </a:solidFill>
              </a:rPr>
              <a:t> y </a:t>
            </a:r>
            <a:r>
              <a:rPr lang="en-US" sz="3200" b="1" err="1">
                <a:solidFill>
                  <a:schemeClr val="bg1"/>
                </a:solidFill>
              </a:rPr>
              <a:t>crear</a:t>
            </a:r>
            <a:r>
              <a:rPr lang="en-US" sz="3200" b="1">
                <a:solidFill>
                  <a:schemeClr val="bg1"/>
                </a:solidFill>
              </a:rPr>
              <a:t> </a:t>
            </a:r>
            <a:r>
              <a:rPr lang="en-US" sz="3200" b="1" err="1">
                <a:solidFill>
                  <a:schemeClr val="bg1"/>
                </a:solidFill>
              </a:rPr>
              <a:t>los</a:t>
            </a:r>
            <a:r>
              <a:rPr lang="en-US" sz="3200" b="1">
                <a:solidFill>
                  <a:schemeClr val="bg1"/>
                </a:solidFill>
              </a:rPr>
              <a:t> </a:t>
            </a:r>
            <a:r>
              <a:rPr lang="en-US" sz="3200" b="1" err="1">
                <a:solidFill>
                  <a:schemeClr val="bg1"/>
                </a:solidFill>
              </a:rPr>
              <a:t>cursos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/>
              <a:t>Crear cursos y definir prioridades</a:t>
            </a:r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63B08109-C0B2-5D60-8A11-37FBEA123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94" y="1275172"/>
            <a:ext cx="10446588" cy="168756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/>
          </a:p>
          <a:p>
            <a:r>
              <a:rPr lang="es-ES" sz="1200"/>
              <a:t>Diseñar y crear los cursos</a:t>
            </a:r>
            <a:endParaRPr lang="en-US"/>
          </a:p>
          <a:p>
            <a:endParaRPr lang="es-CL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SCACRSE</a:t>
            </a:r>
            <a:r>
              <a:rPr lang="es-ES_tradnl" sz="3000" b="1"/>
              <a:t> Información básica de curso </a:t>
            </a:r>
            <a:r>
              <a:rPr lang="es-ES_tradnl" sz="3000" b="0"/>
              <a:t>1</a:t>
            </a:r>
            <a:r>
              <a:rPr lang="es-ES_tradnl" sz="3200" b="0"/>
              <a:t>/6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691688"/>
            <a:ext cx="10951447" cy="1664661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la información básica del curso</a:t>
            </a:r>
            <a:br>
              <a:rPr lang="es-ES" sz="1100"/>
            </a:br>
            <a:br>
              <a:rPr lang="es-ES" sz="1100"/>
            </a:br>
            <a:r>
              <a:rPr lang="es-ES" sz="1100"/>
              <a:t>1.  Materia: Viene de la tabla </a:t>
            </a:r>
            <a:r>
              <a:rPr lang="es-419" sz="1100"/>
              <a:t>STVSUBJ</a:t>
            </a:r>
            <a:r>
              <a:rPr lang="es-ES" sz="1100"/>
              <a:t>, se selecciona la que se va a crear</a:t>
            </a:r>
          </a:p>
          <a:p>
            <a:pPr algn="just"/>
            <a:r>
              <a:rPr lang="es-CL" sz="1100"/>
              <a:t>2. Curso: Se ingresa el número que va a identificar la asignatura.</a:t>
            </a:r>
            <a:endParaRPr lang="es-ES" sz="1100"/>
          </a:p>
          <a:p>
            <a:pPr algn="just"/>
            <a:r>
              <a:rPr lang="es-CL" sz="1100"/>
              <a:t>3. Período: Se ingresa el período a partir de cual se va a parametrizar la asignatura.</a:t>
            </a:r>
          </a:p>
          <a:p>
            <a:pPr algn="just"/>
            <a:r>
              <a:rPr lang="es-CL" sz="1100"/>
              <a:t>4. Título de curso: se llena cuando se ingresan los datos .</a:t>
            </a:r>
            <a:endParaRPr lang="es-ES" sz="1100"/>
          </a:p>
          <a:p>
            <a:r>
              <a:rPr lang="es-CL" sz="1100"/>
              <a:t>5. Copiar: Se </a:t>
            </a:r>
            <a:r>
              <a:rPr lang="es-419" sz="1100"/>
              <a:t>debe ingresar la materia, número del curso y periodo del nuevo curso, al dar clic en “Copiar”, el sistema le solicitará los datos del curso existente para realizar la copia.</a:t>
            </a:r>
          </a:p>
          <a:p>
            <a:r>
              <a:rPr lang="es-419" sz="1100"/>
              <a:t>6. Para validar el consecutivo de cursos deberá desplegar la tabla , ver en cursos existentes y revisar el consecutivo. Se puede por reportearía en caso </a:t>
            </a:r>
            <a:endParaRPr lang="en-US" sz="1100"/>
          </a:p>
          <a:p>
            <a:endParaRPr lang="es-CL" sz="110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F483E58B-DA74-E342-361D-3A258879281A}"/>
              </a:ext>
            </a:extLst>
          </p:cNvPr>
          <p:cNvSpPr/>
          <p:nvPr/>
        </p:nvSpPr>
        <p:spPr>
          <a:xfrm>
            <a:off x="956262" y="1881364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0185F076-64D0-E15A-F885-E4CFEB1E6F7D}"/>
              </a:ext>
            </a:extLst>
          </p:cNvPr>
          <p:cNvSpPr/>
          <p:nvPr/>
        </p:nvSpPr>
        <p:spPr>
          <a:xfrm>
            <a:off x="5712615" y="1892485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E8967FCE-56DD-2A93-F969-C5EE6590FAC5}"/>
              </a:ext>
            </a:extLst>
          </p:cNvPr>
          <p:cNvSpPr/>
          <p:nvPr/>
        </p:nvSpPr>
        <p:spPr>
          <a:xfrm>
            <a:off x="956262" y="2103880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805BFC35-FB05-FEF1-4806-FA21A10704FE}"/>
              </a:ext>
            </a:extLst>
          </p:cNvPr>
          <p:cNvSpPr/>
          <p:nvPr/>
        </p:nvSpPr>
        <p:spPr>
          <a:xfrm>
            <a:off x="5419929" y="2037975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CE934504-70D6-E8C8-389E-3B6DCC1861ED}"/>
              </a:ext>
            </a:extLst>
          </p:cNvPr>
          <p:cNvSpPr/>
          <p:nvPr/>
        </p:nvSpPr>
        <p:spPr>
          <a:xfrm>
            <a:off x="2181277" y="2231135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5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20C8EF0-B2F5-7A06-BFF5-9499A84B1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529" y="2724489"/>
            <a:ext cx="3553058" cy="191499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DF7C8D9-688A-05B0-904F-540983C35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303" y="2724489"/>
            <a:ext cx="3141919" cy="1981575"/>
          </a:xfrm>
          <a:prstGeom prst="rect">
            <a:avLst/>
          </a:prstGeom>
        </p:spPr>
      </p:pic>
      <p:sp>
        <p:nvSpPr>
          <p:cNvPr id="18" name="Rectángulo redondeado 15">
            <a:extLst>
              <a:ext uri="{FF2B5EF4-FFF2-40B4-BE49-F238E27FC236}">
                <a16:creationId xmlns:a16="http://schemas.microsoft.com/office/drawing/2014/main" id="{5507727F-7438-82FF-8C8E-AC29B65CD8B8}"/>
              </a:ext>
            </a:extLst>
          </p:cNvPr>
          <p:cNvSpPr/>
          <p:nvPr/>
        </p:nvSpPr>
        <p:spPr>
          <a:xfrm>
            <a:off x="3839238" y="2866159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1784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D95BAE8-C264-4494-66CF-8A2505BD4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96" y="1162793"/>
            <a:ext cx="10555608" cy="477345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/>
          </a:p>
          <a:p>
            <a:r>
              <a:rPr lang="es-ES" sz="1200"/>
              <a:t>Diseñar y crear los cursos</a:t>
            </a:r>
            <a:endParaRPr lang="en-US"/>
          </a:p>
          <a:p>
            <a:endParaRPr lang="es-CL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SCACRSE</a:t>
            </a:r>
            <a:r>
              <a:rPr lang="es-ES_tradnl" sz="3000" b="1"/>
              <a:t> Información básica de curso  - Detalles del curso </a:t>
            </a:r>
            <a:r>
              <a:rPr lang="es-ES_tradnl" sz="3000" b="0"/>
              <a:t>2</a:t>
            </a:r>
            <a:r>
              <a:rPr lang="es-ES_tradnl" sz="3200" b="0"/>
              <a:t>/</a:t>
            </a:r>
            <a:r>
              <a:rPr lang="es-ES_tradnl" b="0"/>
              <a:t>6</a:t>
            </a: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38530" y="4993341"/>
            <a:ext cx="10682506" cy="14436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 la creación de la información básica del curso</a:t>
            </a:r>
            <a:br>
              <a:rPr lang="es-ES" sz="1100"/>
            </a:br>
            <a:br>
              <a:rPr lang="es-ES" sz="1100"/>
            </a:br>
            <a:r>
              <a:rPr lang="es-ES" sz="1100"/>
              <a:t>6. Título: </a:t>
            </a:r>
            <a:r>
              <a:rPr lang="es-419" sz="1100"/>
              <a:t>Nombre del curso o asignatura</a:t>
            </a:r>
          </a:p>
          <a:p>
            <a:r>
              <a:rPr lang="es-CL" sz="1100"/>
              <a:t>7. Escuela: </a:t>
            </a:r>
            <a:r>
              <a:rPr lang="es-419" sz="1100"/>
              <a:t>Facultad asociada al curso, depende de STVCOLL	</a:t>
            </a:r>
            <a:r>
              <a:rPr lang="es-CL" sz="1100"/>
              <a:t>.</a:t>
            </a:r>
            <a:endParaRPr lang="es-ES" sz="1100"/>
          </a:p>
          <a:p>
            <a:pPr algn="just"/>
            <a:r>
              <a:rPr lang="es-CL" sz="1100"/>
              <a:t>8. Departamento: </a:t>
            </a:r>
            <a:r>
              <a:rPr lang="es-419" sz="1100"/>
              <a:t>Departamento asociado al curso, depende de STVDEPT</a:t>
            </a:r>
            <a:r>
              <a:rPr lang="es-CL" sz="1100"/>
              <a:t>.</a:t>
            </a:r>
          </a:p>
          <a:p>
            <a:pPr algn="just"/>
            <a:r>
              <a:rPr lang="es-CL" sz="1100"/>
              <a:t>9. Estatus: </a:t>
            </a:r>
            <a:r>
              <a:rPr lang="es-419" sz="1100"/>
              <a:t>Estado del curso, este permitirá utilizarlo o no dentro del sistema. Depende de STVCSTA</a:t>
            </a:r>
            <a:r>
              <a:rPr lang="es-CL" sz="1100"/>
              <a:t>.</a:t>
            </a:r>
            <a:endParaRPr lang="es-ES" sz="1100"/>
          </a:p>
          <a:p>
            <a:r>
              <a:rPr lang="es-CL" sz="1100"/>
              <a:t>10. Duración: </a:t>
            </a:r>
            <a:r>
              <a:rPr lang="es-419" sz="1100"/>
              <a:t>No se ingresa información</a:t>
            </a:r>
            <a:endParaRPr lang="en-US" sz="1100"/>
          </a:p>
          <a:p>
            <a:endParaRPr lang="es-CL" sz="1100"/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5E470D7D-DF2C-A515-E698-A96D01AEA630}"/>
              </a:ext>
            </a:extLst>
          </p:cNvPr>
          <p:cNvSpPr/>
          <p:nvPr/>
        </p:nvSpPr>
        <p:spPr>
          <a:xfrm>
            <a:off x="6289571" y="2368265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9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A6A28DA6-E295-2D96-C204-1AA61CB81692}"/>
              </a:ext>
            </a:extLst>
          </p:cNvPr>
          <p:cNvSpPr/>
          <p:nvPr/>
        </p:nvSpPr>
        <p:spPr>
          <a:xfrm>
            <a:off x="716813" y="3192293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8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D745B767-17FC-A959-F153-6D7B23648F81}"/>
              </a:ext>
            </a:extLst>
          </p:cNvPr>
          <p:cNvSpPr/>
          <p:nvPr/>
        </p:nvSpPr>
        <p:spPr>
          <a:xfrm>
            <a:off x="708864" y="2691505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7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061B000E-D4EC-FFAB-2CD9-A9B060534AB9}"/>
              </a:ext>
            </a:extLst>
          </p:cNvPr>
          <p:cNvSpPr/>
          <p:nvPr/>
        </p:nvSpPr>
        <p:spPr>
          <a:xfrm>
            <a:off x="716813" y="2383877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6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3B51958E-F48E-6A92-B122-3F028B3BEAFD}"/>
              </a:ext>
            </a:extLst>
          </p:cNvPr>
          <p:cNvSpPr/>
          <p:nvPr/>
        </p:nvSpPr>
        <p:spPr>
          <a:xfrm>
            <a:off x="6096000" y="3192913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585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53EF629-F961-F623-7B12-3F2B5B540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24" y="1148141"/>
            <a:ext cx="9103350" cy="411671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/>
          </a:p>
          <a:p>
            <a:r>
              <a:rPr lang="es-ES" sz="1200"/>
              <a:t>Diseñar y crear los cursos</a:t>
            </a:r>
            <a:endParaRPr lang="en-US"/>
          </a:p>
          <a:p>
            <a:endParaRPr lang="es-CL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29" y="372717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SCACRSE</a:t>
            </a:r>
            <a:r>
              <a:rPr lang="es-ES_tradnl" sz="3000" b="1"/>
              <a:t> Información básica de curso  - Detalles del curso 3</a:t>
            </a:r>
            <a:r>
              <a:rPr lang="es-ES_tradnl" sz="3200" b="0"/>
              <a:t>/6</a:t>
            </a:r>
            <a:br>
              <a:rPr lang="es-CL" b="1">
                <a:effectLst/>
              </a:rPr>
            </a:b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38529" y="4917842"/>
            <a:ext cx="10395847" cy="165878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s-ES" sz="1100"/>
          </a:p>
          <a:p>
            <a:r>
              <a:rPr lang="es-ES" sz="1100"/>
              <a:t>Página destinada a la creación de la información básica del curso</a:t>
            </a:r>
            <a:br>
              <a:rPr lang="es-ES" sz="1100"/>
            </a:br>
            <a:br>
              <a:rPr lang="es-ES" sz="1100"/>
            </a:br>
            <a:r>
              <a:rPr lang="es-ES" sz="1100"/>
              <a:t>11. UEC o crédito: </a:t>
            </a:r>
            <a:r>
              <a:rPr lang="es-419" sz="1100"/>
              <a:t>Se debe ingresar el número de  créditos que tiene el curso, estos serán utilizados para calcular promedio</a:t>
            </a:r>
            <a:endParaRPr lang="es-ES" sz="1100"/>
          </a:p>
          <a:p>
            <a:pPr algn="just"/>
            <a:r>
              <a:rPr lang="es-CL" sz="1100"/>
              <a:t>12. </a:t>
            </a:r>
            <a:r>
              <a:rPr lang="es-ES" sz="1100"/>
              <a:t>Cobro</a:t>
            </a:r>
            <a:r>
              <a:rPr lang="es-CL" sz="1100"/>
              <a:t>: </a:t>
            </a:r>
            <a:r>
              <a:rPr lang="es-419" sz="1100"/>
              <a:t>Se debe ingresar el número de créditos que serán utilizados para generar los cargos en la cuenta del estudiante, dependiendo de las reglas de cobro.	</a:t>
            </a:r>
            <a:r>
              <a:rPr lang="es-CL" sz="1100"/>
              <a:t>.</a:t>
            </a:r>
            <a:endParaRPr lang="es-ES" sz="1100"/>
          </a:p>
          <a:p>
            <a:pPr algn="just"/>
            <a:r>
              <a:rPr lang="es-CL" sz="1100"/>
              <a:t>13. </a:t>
            </a:r>
            <a:r>
              <a:rPr lang="es-ES" sz="1100"/>
              <a:t>Teoría</a:t>
            </a:r>
            <a:r>
              <a:rPr lang="es-CL" sz="1100"/>
              <a:t>: </a:t>
            </a:r>
            <a:r>
              <a:rPr lang="es-ES_tradnl" sz="1100"/>
              <a:t>Se ingresan las horas de teoría</a:t>
            </a:r>
            <a:r>
              <a:rPr lang="es-CL" sz="1100"/>
              <a:t> que tiene el curso</a:t>
            </a:r>
          </a:p>
          <a:p>
            <a:pPr algn="just"/>
            <a:r>
              <a:rPr lang="es-CL" sz="1100"/>
              <a:t>14. </a:t>
            </a:r>
            <a:r>
              <a:rPr lang="es-ES" sz="1100"/>
              <a:t>Laboratorio</a:t>
            </a:r>
            <a:r>
              <a:rPr lang="es-CL" sz="1100"/>
              <a:t>: </a:t>
            </a:r>
            <a:r>
              <a:rPr lang="es-ES_tradnl" sz="1100"/>
              <a:t>Se ingresan las horas de laboratorio</a:t>
            </a:r>
            <a:r>
              <a:rPr lang="es-CL" sz="1100"/>
              <a:t> que tiene el curso</a:t>
            </a:r>
            <a:endParaRPr lang="es-ES" sz="1100"/>
          </a:p>
          <a:p>
            <a:r>
              <a:rPr lang="es-CL" sz="1100"/>
              <a:t>15. </a:t>
            </a:r>
            <a:r>
              <a:rPr lang="es-ES" sz="1100"/>
              <a:t>Otro</a:t>
            </a:r>
            <a:r>
              <a:rPr lang="es-CL" sz="1100"/>
              <a:t>: </a:t>
            </a:r>
            <a:r>
              <a:rPr lang="es-419" sz="1100"/>
              <a:t>Se ingresan otras horas que tenga el curso</a:t>
            </a:r>
          </a:p>
          <a:p>
            <a:r>
              <a:rPr lang="es-419" sz="1100"/>
              <a:t>16. Contacto: </a:t>
            </a:r>
            <a:r>
              <a:rPr lang="es-ES_tradnl" sz="1100"/>
              <a:t>El campo Contacto calculará las horas totales del curso.</a:t>
            </a:r>
            <a:endParaRPr lang="en-US" sz="1100"/>
          </a:p>
          <a:p>
            <a:r>
              <a:rPr lang="es-ES_tradnl" sz="1100">
                <a:cs typeface="Arial"/>
              </a:rPr>
              <a:t>17. Límite. Para el caso de Pregrado y Posgrado, se beberá indicar la cantidad de veces que el estudiante podrá repetir las asignaturas</a:t>
            </a:r>
          </a:p>
          <a:p>
            <a:endParaRPr lang="es-CL" sz="1100">
              <a:cs typeface="Arial" panose="020B0604020202020204"/>
            </a:endParaRP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4DE689E4-79CA-B638-7794-417D1B5A82BA}"/>
              </a:ext>
            </a:extLst>
          </p:cNvPr>
          <p:cNvSpPr/>
          <p:nvPr/>
        </p:nvSpPr>
        <p:spPr>
          <a:xfrm>
            <a:off x="893862" y="3691172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11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409CC394-BE5B-FFAC-3E8F-7C5D995E46F4}"/>
              </a:ext>
            </a:extLst>
          </p:cNvPr>
          <p:cNvSpPr/>
          <p:nvPr/>
        </p:nvSpPr>
        <p:spPr>
          <a:xfrm>
            <a:off x="1930498" y="3853657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12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78E03796-6E1F-56D0-4778-2A96ED709F9C}"/>
              </a:ext>
            </a:extLst>
          </p:cNvPr>
          <p:cNvSpPr/>
          <p:nvPr/>
        </p:nvSpPr>
        <p:spPr>
          <a:xfrm>
            <a:off x="876870" y="3985468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13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9E5EDC7F-9DF2-1A5A-95BC-97C86FFFBC53}"/>
              </a:ext>
            </a:extLst>
          </p:cNvPr>
          <p:cNvSpPr/>
          <p:nvPr/>
        </p:nvSpPr>
        <p:spPr>
          <a:xfrm>
            <a:off x="1930497" y="4115019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14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8B0D9A3F-DB30-B96F-1BC2-428FAD229AA4}"/>
              </a:ext>
            </a:extLst>
          </p:cNvPr>
          <p:cNvSpPr/>
          <p:nvPr/>
        </p:nvSpPr>
        <p:spPr>
          <a:xfrm>
            <a:off x="876665" y="4240477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15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50F4AA73-ADDD-184B-DD65-8F9AC5064E50}"/>
              </a:ext>
            </a:extLst>
          </p:cNvPr>
          <p:cNvSpPr/>
          <p:nvPr/>
        </p:nvSpPr>
        <p:spPr>
          <a:xfrm>
            <a:off x="1866743" y="4385749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16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A5C55B0D-2589-6509-1F2F-6CB3F9AA4E0F}"/>
              </a:ext>
            </a:extLst>
          </p:cNvPr>
          <p:cNvSpPr/>
          <p:nvPr/>
        </p:nvSpPr>
        <p:spPr>
          <a:xfrm>
            <a:off x="1074615" y="4700136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05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04753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2BD8E3E-F462-FE8A-A722-8922CB43D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" y="1581569"/>
            <a:ext cx="10576621" cy="167232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/>
          </a:p>
          <a:p>
            <a:r>
              <a:rPr lang="es-ES" sz="1200"/>
              <a:t>Diseñar y crear los cursos</a:t>
            </a:r>
            <a:endParaRPr lang="en-US"/>
          </a:p>
          <a:p>
            <a:endParaRPr lang="es-CL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72717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SCACRSE</a:t>
            </a:r>
            <a:r>
              <a:rPr lang="es-ES_tradnl" sz="3000" b="1"/>
              <a:t> Información básica de curso – Nivel del curso 4/6</a:t>
            </a: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5056094"/>
            <a:ext cx="10852835" cy="100442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/>
              <a:t>Página destinada al ingreso del nivel de curso</a:t>
            </a:r>
            <a:br>
              <a:rPr lang="es-ES" sz="1100" b="1"/>
            </a:br>
            <a:br>
              <a:rPr lang="es-ES" sz="1100" b="1"/>
            </a:br>
            <a:r>
              <a:rPr lang="es-ES" sz="1100" b="1"/>
              <a:t>1.- Nivel</a:t>
            </a:r>
            <a:r>
              <a:rPr lang="es-ES" sz="1100"/>
              <a:t>:</a:t>
            </a:r>
            <a:r>
              <a:rPr lang="es-ES" sz="1100" b="1"/>
              <a:t> </a:t>
            </a:r>
            <a:r>
              <a:rPr lang="es-ES" sz="1100"/>
              <a:t>Se indica para que niveles se puede utilizar el curso, </a:t>
            </a:r>
            <a:r>
              <a:rPr lang="es-419" sz="1100"/>
              <a:t>Depende de la página STVLEVL.</a:t>
            </a:r>
            <a:br>
              <a:rPr lang="es-419" sz="1100"/>
            </a:br>
            <a:r>
              <a:rPr lang="es-419" sz="1100" b="1"/>
              <a:t>2.- Insertar</a:t>
            </a:r>
            <a:r>
              <a:rPr lang="es-419" sz="1100"/>
              <a:t>: Se puede ingresar más de un registro para indicar todos los niveles necesarios asociados al curso.</a:t>
            </a:r>
            <a:endParaRPr lang="en-US" sz="1100"/>
          </a:p>
          <a:p>
            <a:endParaRPr lang="es-CL" sz="110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6EC2662-410B-A3FC-BC83-191E061979AC}"/>
              </a:ext>
            </a:extLst>
          </p:cNvPr>
          <p:cNvSpPr/>
          <p:nvPr/>
        </p:nvSpPr>
        <p:spPr>
          <a:xfrm>
            <a:off x="1092199" y="2916223"/>
            <a:ext cx="198720" cy="18590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1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33556CBC-4BC5-0068-CFF5-D50DC18079DB}"/>
              </a:ext>
            </a:extLst>
          </p:cNvPr>
          <p:cNvSpPr/>
          <p:nvPr/>
        </p:nvSpPr>
        <p:spPr>
          <a:xfrm>
            <a:off x="10565356" y="2231825"/>
            <a:ext cx="198720" cy="18590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94822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6967D0B-F877-54E8-7E13-CFA7A2A9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33" y="1563833"/>
            <a:ext cx="10679502" cy="162030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/>
          </a:p>
          <a:p>
            <a:r>
              <a:rPr lang="es-ES" sz="1200"/>
              <a:t>Diseñar y crear los cursos</a:t>
            </a:r>
            <a:endParaRPr lang="en-US"/>
          </a:p>
          <a:p>
            <a:endParaRPr lang="es-CL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00" y="350694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SCACRSE</a:t>
            </a:r>
            <a:r>
              <a:rPr lang="es-ES_tradnl" sz="3000" b="1"/>
              <a:t> Información básica de curso – Modo de calificar 5/</a:t>
            </a:r>
            <a:r>
              <a:rPr lang="es-ES_tradnl" sz="3000"/>
              <a:t>6</a:t>
            </a: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20600" y="4762892"/>
            <a:ext cx="10852835" cy="150343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/>
              <a:t>Página destinada al ingreso del modo de calificar</a:t>
            </a:r>
            <a:br>
              <a:rPr lang="es-ES" sz="1100" b="1"/>
            </a:br>
            <a:br>
              <a:rPr lang="es-ES" sz="1100" b="1"/>
            </a:br>
            <a:r>
              <a:rPr lang="es-419" sz="1100"/>
              <a:t>Indique el modo de calificar para el curso (asignatura). Depende de la página STVGMOD. </a:t>
            </a:r>
          </a:p>
          <a:p>
            <a:r>
              <a:rPr lang="es-419" sz="1100"/>
              <a:t>1.- </a:t>
            </a:r>
            <a:r>
              <a:rPr lang="es-419" sz="1100" b="1"/>
              <a:t>Modo de calificar</a:t>
            </a:r>
            <a:r>
              <a:rPr lang="es-419" sz="1100"/>
              <a:t>: Se puede ingresar más de un modo de calificar. </a:t>
            </a:r>
          </a:p>
          <a:p>
            <a:r>
              <a:rPr lang="es-419" sz="1100"/>
              <a:t>2.- </a:t>
            </a:r>
            <a:r>
              <a:rPr lang="es-419" sz="1100" b="1"/>
              <a:t>Predefinido</a:t>
            </a:r>
            <a:r>
              <a:rPr lang="es-419" sz="1100"/>
              <a:t>: Se debe indicar cual es el predefinido.</a:t>
            </a:r>
            <a:endParaRPr lang="en-US" sz="1100"/>
          </a:p>
          <a:p>
            <a:br>
              <a:rPr lang="es-419" sz="1100"/>
            </a:br>
            <a:r>
              <a:rPr lang="es-419" sz="1100"/>
              <a:t>Debe existir un modo de calificación marcado como preferido.</a:t>
            </a:r>
            <a:endParaRPr lang="en-US" sz="1100"/>
          </a:p>
          <a:p>
            <a:endParaRPr lang="es-CL" sz="110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D2D0A0CC-5EFC-9AC4-5738-9755FF19AC31}"/>
              </a:ext>
            </a:extLst>
          </p:cNvPr>
          <p:cNvSpPr/>
          <p:nvPr/>
        </p:nvSpPr>
        <p:spPr>
          <a:xfrm>
            <a:off x="1428655" y="2905590"/>
            <a:ext cx="228104" cy="15137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90ED5A00-A68D-3D29-DA73-552DE34E344B}"/>
              </a:ext>
            </a:extLst>
          </p:cNvPr>
          <p:cNvSpPr/>
          <p:nvPr/>
        </p:nvSpPr>
        <p:spPr>
          <a:xfrm>
            <a:off x="10408645" y="2905590"/>
            <a:ext cx="228104" cy="15137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938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9BE5354C-32C4-BCF7-C084-263857A6E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37" y="1803777"/>
            <a:ext cx="11128077" cy="189339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/>
          </a:p>
          <a:p>
            <a:r>
              <a:rPr lang="es-ES" sz="1200"/>
              <a:t>Diseñar y crear los cursos</a:t>
            </a:r>
            <a:endParaRPr lang="en-US"/>
          </a:p>
          <a:p>
            <a:endParaRPr lang="es-CL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/>
              <a:t>Configuraciones: </a:t>
            </a:r>
            <a:r>
              <a:rPr lang="es-ES_tradnl" sz="3000"/>
              <a:t>SCACRSE</a:t>
            </a:r>
            <a:r>
              <a:rPr lang="es-ES_tradnl" sz="3000" b="1"/>
              <a:t> Información básica de curso – Tipo de horario 6/6</a:t>
            </a:r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282575"/>
            <a:ext cx="10897659" cy="1528383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/>
              <a:t>Página destinada al ingreso del tipo de horario</a:t>
            </a:r>
            <a:br>
              <a:rPr lang="es-ES" sz="1100" b="1"/>
            </a:br>
            <a:br>
              <a:rPr lang="es-ES" sz="1100" b="1"/>
            </a:br>
            <a:r>
              <a:rPr lang="es-ES" sz="1100" b="1"/>
              <a:t>1.  Horario: </a:t>
            </a:r>
            <a:r>
              <a:rPr lang="es-ES" sz="1100"/>
              <a:t>Se </a:t>
            </a:r>
            <a:r>
              <a:rPr lang="es-419" sz="1100"/>
              <a:t>Ingresa el o los tipos de horario que puede tener el curso </a:t>
            </a:r>
            <a:endParaRPr lang="es-ES" sz="1100"/>
          </a:p>
          <a:p>
            <a:pPr algn="just"/>
            <a:r>
              <a:rPr lang="es-CL" sz="1100" b="1"/>
              <a:t>2. Descripción </a:t>
            </a:r>
            <a:r>
              <a:rPr lang="es-419" sz="1100"/>
              <a:t>La trae por defecto</a:t>
            </a:r>
            <a:endParaRPr lang="es-ES" sz="1100"/>
          </a:p>
          <a:p>
            <a:pPr algn="just"/>
            <a:r>
              <a:rPr lang="es-CL" sz="1100" b="1"/>
              <a:t>3. Método educativo</a:t>
            </a:r>
            <a:r>
              <a:rPr lang="es-CL" sz="1100"/>
              <a:t>: </a:t>
            </a:r>
            <a:r>
              <a:rPr lang="es-419" sz="1100"/>
              <a:t>Se ingresa el que le corresponda al tipo de horario </a:t>
            </a:r>
          </a:p>
          <a:p>
            <a:pPr algn="just"/>
            <a:r>
              <a:rPr lang="es-CL" sz="1100"/>
              <a:t>4. </a:t>
            </a:r>
            <a:r>
              <a:rPr lang="es-CL" sz="1100" b="1"/>
              <a:t>Carga de trabajo</a:t>
            </a:r>
            <a:r>
              <a:rPr lang="es-CL" sz="1100"/>
              <a:t>: </a:t>
            </a:r>
            <a:r>
              <a:rPr lang="es-419" sz="1100"/>
              <a:t>Número de créditos que se verán reflejados al docente, al momento de asignarlo en SSASECT</a:t>
            </a:r>
            <a:r>
              <a:rPr lang="es-CL" sz="1100"/>
              <a:t>.</a:t>
            </a:r>
            <a:endParaRPr lang="es-ES" sz="1100"/>
          </a:p>
          <a:p>
            <a:r>
              <a:rPr lang="es-CL" sz="1100" b="1"/>
              <a:t>5. Sobrecarga de ingreso: </a:t>
            </a:r>
            <a:r>
              <a:rPr lang="es-419" sz="1100"/>
              <a:t>Número de alumnos ingresados que constituyen un sobre ingreso para el tipo de horario. No se ingresan datos</a:t>
            </a:r>
          </a:p>
          <a:p>
            <a:r>
              <a:rPr lang="es-CL" sz="1100" b="1"/>
              <a:t>6.  Carga de trabajo ajustada: </a:t>
            </a:r>
            <a:r>
              <a:rPr lang="es-419" sz="1100"/>
              <a:t>se usa para hacer ajustes a la carga de trabajo educativa como resultado de un sobre ingreso en una sección. No se ingresan datos</a:t>
            </a:r>
            <a:endParaRPr lang="es-CL" sz="110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4FB30A4E-86E7-3CAC-3FDE-6B1E3D22D8E6}"/>
              </a:ext>
            </a:extLst>
          </p:cNvPr>
          <p:cNvSpPr/>
          <p:nvPr/>
        </p:nvSpPr>
        <p:spPr>
          <a:xfrm>
            <a:off x="1005846" y="3197286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2B9759DF-15EB-68AC-F47D-D8A40D1E2E58}"/>
              </a:ext>
            </a:extLst>
          </p:cNvPr>
          <p:cNvSpPr/>
          <p:nvPr/>
        </p:nvSpPr>
        <p:spPr>
          <a:xfrm>
            <a:off x="2650172" y="3197286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154523D0-CB1E-212D-BB74-9A26FD9B953E}"/>
              </a:ext>
            </a:extLst>
          </p:cNvPr>
          <p:cNvSpPr/>
          <p:nvPr/>
        </p:nvSpPr>
        <p:spPr>
          <a:xfrm>
            <a:off x="3932991" y="3197286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3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12D5E92A-65DF-D84B-8ED4-C42A340363AB}"/>
              </a:ext>
            </a:extLst>
          </p:cNvPr>
          <p:cNvSpPr/>
          <p:nvPr/>
        </p:nvSpPr>
        <p:spPr>
          <a:xfrm>
            <a:off x="10215819" y="3147273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6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A7B5EED2-9E8B-05D6-864F-2181E9432CAE}"/>
              </a:ext>
            </a:extLst>
          </p:cNvPr>
          <p:cNvSpPr/>
          <p:nvPr/>
        </p:nvSpPr>
        <p:spPr>
          <a:xfrm>
            <a:off x="8970032" y="3231627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5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0DCEAC58-A7AA-37FB-4192-C43F2FFEAE61}"/>
              </a:ext>
            </a:extLst>
          </p:cNvPr>
          <p:cNvSpPr/>
          <p:nvPr/>
        </p:nvSpPr>
        <p:spPr>
          <a:xfrm>
            <a:off x="7995725" y="3197286"/>
            <a:ext cx="361507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717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/>
              <a:t>Diseñar y crear los cursos</a:t>
            </a:r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24467" cy="3979659"/>
          </a:xfrm>
        </p:spPr>
        <p:txBody>
          <a:bodyPr/>
          <a:lstStyle/>
          <a:p>
            <a:pPr marL="0" indent="0">
              <a:buNone/>
            </a:pPr>
            <a:r>
              <a:rPr lang="es-419" sz="2000"/>
              <a:t>Diseñar y crear los cursos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/>
              <a:t>Los cursos pertenecen a un código que los agrupa por área temática.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/>
              <a:t>Los cursos a crear son ofrecidos por una Escuela, y, si aplica, administrado por un Departamento.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/>
              <a:t>Para crear un curso se debe ingresar sus características principales, número de créditos, nivel académico, modo de calificar, tipo de horario y método.</a:t>
            </a:r>
            <a:endParaRPr lang="es-C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01 - 4.1.6.2 Programar el inicio y finalizacion de Per.Acad.Regulares</Template>
  <Application>Microsoft Office PowerPoint</Application>
  <PresentationFormat>Widescreen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Ellucian Main Layouts</vt:lpstr>
      <vt:lpstr>Ellucian Blank Layouts</vt:lpstr>
      <vt:lpstr>1_Ellucian Main Layouts</vt:lpstr>
      <vt:lpstr>1_Ellucian Blank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Overview: Proceso de diseñar y crear los cursos</vt:lpstr>
      <vt:lpstr>PowerPoint Presentation</vt:lpstr>
      <vt:lpstr>Overview: Proceso de diseñar y crear los cursos</vt:lpstr>
      <vt:lpstr>Overview: Proceso de Diseñar y crear los cursos</vt:lpstr>
      <vt:lpstr>CONFIGURACIONES</vt:lpstr>
      <vt:lpstr>Configuraciones: STVCOLL Validación de código de escuela </vt:lpstr>
      <vt:lpstr>Configuraciones: STVDEPT Validación de código de departamento </vt:lpstr>
      <vt:lpstr>Configuraciones: STVCSTA Validación de código de estatus del curso </vt:lpstr>
      <vt:lpstr>Configuraciones: STVGMOD Validación de modo de calificar </vt:lpstr>
      <vt:lpstr>Configuraciones: STVSCHD Validación de código de tipo de horario </vt:lpstr>
      <vt:lpstr>Configuraciones: GTVINSM Validación de método educativo </vt:lpstr>
      <vt:lpstr>Configuraciones: GTVDUNT Validación de unidad de duración </vt:lpstr>
      <vt:lpstr>Configuraciones: STVSUBJ Validación de código de materia </vt:lpstr>
      <vt:lpstr>Diseñar y crear los cursos</vt:lpstr>
      <vt:lpstr>Configuraciones: SCACRSE Información básica de curso 1/6 </vt:lpstr>
      <vt:lpstr>Configuraciones: SCACRSE Información básica de curso  - Detalles del curso 2/6</vt:lpstr>
      <vt:lpstr>Configuraciones: SCACRSE Información básica de curso  - Detalles del curso 3/6 </vt:lpstr>
      <vt:lpstr>Configuraciones: SCACRSE Información básica de curso – Nivel del curso 4/6</vt:lpstr>
      <vt:lpstr>Configuraciones: SCACRSE Información básica de curso – Modo de calificar 5/6</vt:lpstr>
      <vt:lpstr>Configuraciones: SCACRSE Información básica de curso – Tipo de horario 6/6</vt:lpstr>
      <vt:lpstr>RESUMEN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revision>1</cp:revision>
  <dcterms:created xsi:type="dcterms:W3CDTF">2023-07-17T20:07:38Z</dcterms:created>
  <dcterms:modified xsi:type="dcterms:W3CDTF">2026-06-10T23:52:01Z</dcterms:modified>
</cp:coreProperties>
</file>
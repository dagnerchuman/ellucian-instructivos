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1" r:id="rId1"/>
    <p:sldMasterId id="2147483752" r:id="rId2"/>
  </p:sldMasterIdLst>
  <p:notesMasterIdLst>
    <p:notesMasterId r:id="rId46"/>
  </p:notesMasterIdLst>
  <p:sldIdLst>
    <p:sldId id="257" r:id="rId3"/>
    <p:sldId id="423" r:id="rId4"/>
    <p:sldId id="476" r:id="rId5"/>
    <p:sldId id="348" r:id="rId6"/>
    <p:sldId id="349" r:id="rId7"/>
    <p:sldId id="350" r:id="rId8"/>
    <p:sldId id="1863" r:id="rId9"/>
    <p:sldId id="352" r:id="rId10"/>
    <p:sldId id="421" r:id="rId11"/>
    <p:sldId id="566" r:id="rId12"/>
    <p:sldId id="1728" r:id="rId13"/>
    <p:sldId id="469" r:id="rId14"/>
    <p:sldId id="1731" r:id="rId15"/>
    <p:sldId id="1864" r:id="rId16"/>
    <p:sldId id="1645" r:id="rId17"/>
    <p:sldId id="1662" r:id="rId18"/>
    <p:sldId id="1753" r:id="rId19"/>
    <p:sldId id="1646" r:id="rId20"/>
    <p:sldId id="1663" r:id="rId21"/>
    <p:sldId id="1754" r:id="rId22"/>
    <p:sldId id="1667" r:id="rId23"/>
    <p:sldId id="1668" r:id="rId24"/>
    <p:sldId id="1730" r:id="rId25"/>
    <p:sldId id="1647" r:id="rId26"/>
    <p:sldId id="1721" r:id="rId27"/>
    <p:sldId id="1755" r:id="rId28"/>
    <p:sldId id="1756" r:id="rId29"/>
    <p:sldId id="1865" r:id="rId30"/>
    <p:sldId id="1867" r:id="rId31"/>
    <p:sldId id="1739" r:id="rId32"/>
    <p:sldId id="1817" r:id="rId33"/>
    <p:sldId id="1850" r:id="rId34"/>
    <p:sldId id="1851" r:id="rId35"/>
    <p:sldId id="1852" r:id="rId36"/>
    <p:sldId id="1856" r:id="rId37"/>
    <p:sldId id="1857" r:id="rId38"/>
    <p:sldId id="1858" r:id="rId39"/>
    <p:sldId id="1860" r:id="rId40"/>
    <p:sldId id="1861" r:id="rId41"/>
    <p:sldId id="1859" r:id="rId42"/>
    <p:sldId id="1719" r:id="rId43"/>
    <p:sldId id="1862" r:id="rId44"/>
    <p:sldId id="501"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4B06FD8-FBF7-48A6-EC94-7EAC12BBF7D7}" name="Mardones, Francisco" initials="MF" userId="S::Francisco.Mardones@ellucian.com::216dec8c-35d0-45c5-a341-2c26a655750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00B0"/>
    <a:srgbClr val="0CA8B4"/>
    <a:srgbClr val="33CCCC"/>
    <a:srgbClr val="0CB4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466" autoAdjust="0"/>
    <p:restoredTop sz="95706" autoAdjust="0"/>
  </p:normalViewPr>
  <p:slideViewPr>
    <p:cSldViewPr snapToGrid="0">
      <p:cViewPr varScale="1">
        <p:scale>
          <a:sx n="106" d="100"/>
          <a:sy n="106" d="100"/>
        </p:scale>
        <p:origin x="996" y="102"/>
      </p:cViewPr>
      <p:guideLst/>
    </p:cSldViewPr>
  </p:slideViewPr>
  <p:notesTextViewPr>
    <p:cViewPr>
      <p:scale>
        <a:sx n="66" d="100"/>
        <a:sy n="66" d="100"/>
      </p:scale>
      <p:origin x="0" y="0"/>
    </p:cViewPr>
  </p:notesTextViewPr>
  <p:sorterViewPr>
    <p:cViewPr>
      <p:scale>
        <a:sx n="100" d="100"/>
        <a:sy n="100" d="100"/>
      </p:scale>
      <p:origin x="0" y="0"/>
    </p:cViewPr>
  </p:sorterViewPr>
  <p:notesViewPr>
    <p:cSldViewPr snapToGrid="0">
      <p:cViewPr varScale="1">
        <p:scale>
          <a:sx n="48" d="100"/>
          <a:sy n="48" d="100"/>
        </p:scale>
        <p:origin x="2684" y="4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viewProps" Target="viewProps.xml"/><Relationship Id="rId8" Type="http://schemas.openxmlformats.org/officeDocument/2006/relationships/slide" Target="slides/slide6.xml"/><Relationship Id="rId51" Type="http://schemas.microsoft.com/office/2018/10/relationships/authors" Target="author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422212-D69D-41E4-A547-75F507D8A64A}" type="datetimeFigureOut">
              <a:rPr lang="es-CL" smtClean="0"/>
              <a:t>08-07-2026</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582945-6648-41CA-B880-4B10E0E03327}" type="slidenum">
              <a:rPr lang="es-CL" smtClean="0"/>
              <a:t>‹Nº›</a:t>
            </a:fld>
            <a:endParaRPr lang="es-CL"/>
          </a:p>
        </p:txBody>
      </p:sp>
    </p:spTree>
    <p:extLst>
      <p:ext uri="{BB962C8B-B14F-4D97-AF65-F5344CB8AC3E}">
        <p14:creationId xmlns:p14="http://schemas.microsoft.com/office/powerpoint/2010/main" val="12590852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8CE8A-4C56-CE24-D548-39EB924BD0C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BB3C15C-A130-A058-4150-9BA29A48A43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BA54384-2A8A-F12A-75FE-6D36DD4018B1}"/>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8C9947C-073C-0995-D430-477E41BFC695}"/>
              </a:ext>
            </a:extLst>
          </p:cNvPr>
          <p:cNvSpPr>
            <a:spLocks noGrp="1"/>
          </p:cNvSpPr>
          <p:nvPr>
            <p:ph type="sldNum" sz="quarter" idx="5"/>
          </p:nvPr>
        </p:nvSpPr>
        <p:spPr/>
        <p:txBody>
          <a:bodyPr/>
          <a:lstStyle/>
          <a:p>
            <a:fld id="{CF541D2A-E99A-2F4F-B8C9-28142709F87F}" type="slidenum">
              <a:rPr lang="en-US" smtClean="0"/>
              <a:pPr/>
              <a:t>14</a:t>
            </a:fld>
            <a:endParaRPr lang="en-US"/>
          </a:p>
        </p:txBody>
      </p:sp>
    </p:spTree>
    <p:extLst>
      <p:ext uri="{BB962C8B-B14F-4D97-AF65-F5344CB8AC3E}">
        <p14:creationId xmlns:p14="http://schemas.microsoft.com/office/powerpoint/2010/main" val="32061343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FAD8-12A0-68DA-9F0A-C6D99A8CCDEC}"/>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E3E3B25-9DD5-E7BE-31B2-A99A6BF44726}"/>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37D575-95A9-459E-FD8F-C6A42D5D60E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EBB9DC3-753D-B89A-6BE1-8C5BDF15BD63}"/>
              </a:ext>
            </a:extLst>
          </p:cNvPr>
          <p:cNvSpPr>
            <a:spLocks noGrp="1"/>
          </p:cNvSpPr>
          <p:nvPr>
            <p:ph type="sldNum" sz="quarter" idx="5"/>
          </p:nvPr>
        </p:nvSpPr>
        <p:spPr/>
        <p:txBody>
          <a:bodyPr/>
          <a:lstStyle/>
          <a:p>
            <a:fld id="{CF541D2A-E99A-2F4F-B8C9-28142709F87F}" type="slidenum">
              <a:rPr lang="en-US" smtClean="0"/>
              <a:pPr/>
              <a:t>16</a:t>
            </a:fld>
            <a:endParaRPr lang="en-US"/>
          </a:p>
        </p:txBody>
      </p:sp>
    </p:spTree>
    <p:extLst>
      <p:ext uri="{BB962C8B-B14F-4D97-AF65-F5344CB8AC3E}">
        <p14:creationId xmlns:p14="http://schemas.microsoft.com/office/powerpoint/2010/main" val="25011502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8DA89-8CB2-20FF-E5A5-6F9768B3AF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8C91444-51D7-4E80-9F00-6FCA724FEE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A185F0D-0C55-4418-52B3-5BE7DF53680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333B5DF-B8F5-78E1-A4A5-127CA1BDA94E}"/>
              </a:ext>
            </a:extLst>
          </p:cNvPr>
          <p:cNvSpPr>
            <a:spLocks noGrp="1"/>
          </p:cNvSpPr>
          <p:nvPr>
            <p:ph type="sldNum" sz="quarter" idx="5"/>
          </p:nvPr>
        </p:nvSpPr>
        <p:spPr/>
        <p:txBody>
          <a:bodyPr/>
          <a:lstStyle/>
          <a:p>
            <a:fld id="{CF541D2A-E99A-2F4F-B8C9-28142709F87F}" type="slidenum">
              <a:rPr lang="en-US" smtClean="0"/>
              <a:pPr/>
              <a:t>17</a:t>
            </a:fld>
            <a:endParaRPr lang="en-US"/>
          </a:p>
        </p:txBody>
      </p:sp>
    </p:spTree>
    <p:extLst>
      <p:ext uri="{BB962C8B-B14F-4D97-AF65-F5344CB8AC3E}">
        <p14:creationId xmlns:p14="http://schemas.microsoft.com/office/powerpoint/2010/main" val="30173757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FBAB0-B059-C7E0-CA02-DB11DF6613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F171526-9CC7-0440-0C49-03021508140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A263B26-14B1-3B33-78DB-9B16CE842D8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F365F77-523F-168F-D594-0974C0E3DB38}"/>
              </a:ext>
            </a:extLst>
          </p:cNvPr>
          <p:cNvSpPr>
            <a:spLocks noGrp="1"/>
          </p:cNvSpPr>
          <p:nvPr>
            <p:ph type="sldNum" sz="quarter" idx="5"/>
          </p:nvPr>
        </p:nvSpPr>
        <p:spPr/>
        <p:txBody>
          <a:bodyPr/>
          <a:lstStyle/>
          <a:p>
            <a:fld id="{CF541D2A-E99A-2F4F-B8C9-28142709F87F}" type="slidenum">
              <a:rPr lang="en-US" smtClean="0"/>
              <a:pPr/>
              <a:t>19</a:t>
            </a:fld>
            <a:endParaRPr lang="en-US"/>
          </a:p>
        </p:txBody>
      </p:sp>
    </p:spTree>
    <p:extLst>
      <p:ext uri="{BB962C8B-B14F-4D97-AF65-F5344CB8AC3E}">
        <p14:creationId xmlns:p14="http://schemas.microsoft.com/office/powerpoint/2010/main" val="3736127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2691D-EADD-D549-3800-964FC27ECCB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386105D-27E1-3A95-BC18-6A1C5AF3E62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CD1B266-DEAB-31BC-8FC1-E1F26A2A6A8C}"/>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EBA3129-FD90-3972-DC5F-3CAA7784DA67}"/>
              </a:ext>
            </a:extLst>
          </p:cNvPr>
          <p:cNvSpPr>
            <a:spLocks noGrp="1"/>
          </p:cNvSpPr>
          <p:nvPr>
            <p:ph type="sldNum" sz="quarter" idx="5"/>
          </p:nvPr>
        </p:nvSpPr>
        <p:spPr/>
        <p:txBody>
          <a:bodyPr/>
          <a:lstStyle/>
          <a:p>
            <a:fld id="{CF541D2A-E99A-2F4F-B8C9-28142709F87F}" type="slidenum">
              <a:rPr lang="en-US" smtClean="0"/>
              <a:pPr/>
              <a:t>20</a:t>
            </a:fld>
            <a:endParaRPr lang="en-US"/>
          </a:p>
        </p:txBody>
      </p:sp>
    </p:spTree>
    <p:extLst>
      <p:ext uri="{BB962C8B-B14F-4D97-AF65-F5344CB8AC3E}">
        <p14:creationId xmlns:p14="http://schemas.microsoft.com/office/powerpoint/2010/main" val="4097880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16F8AE-B40D-3FFB-7DBE-11C7FE7B06DE}"/>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401123A-B407-85A2-5A01-266E701E32C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692D42-9B3B-624C-92D2-2A1DE72207B6}"/>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C67C91C4-D518-16FC-C98F-34762714AE77}"/>
              </a:ext>
            </a:extLst>
          </p:cNvPr>
          <p:cNvSpPr>
            <a:spLocks noGrp="1"/>
          </p:cNvSpPr>
          <p:nvPr>
            <p:ph type="sldNum" sz="quarter" idx="5"/>
          </p:nvPr>
        </p:nvSpPr>
        <p:spPr/>
        <p:txBody>
          <a:bodyPr/>
          <a:lstStyle/>
          <a:p>
            <a:fld id="{CF541D2A-E99A-2F4F-B8C9-28142709F87F}" type="slidenum">
              <a:rPr lang="en-US" smtClean="0"/>
              <a:pPr/>
              <a:t>21</a:t>
            </a:fld>
            <a:endParaRPr lang="en-US"/>
          </a:p>
        </p:txBody>
      </p:sp>
    </p:spTree>
    <p:extLst>
      <p:ext uri="{BB962C8B-B14F-4D97-AF65-F5344CB8AC3E}">
        <p14:creationId xmlns:p14="http://schemas.microsoft.com/office/powerpoint/2010/main" val="287150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C54F5-14D4-53BE-FC7B-7A221D14360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68081C7-38BA-EBC6-7908-66CD618674B8}"/>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C16015-C4D1-5C14-FEDB-44CDB49C2847}"/>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D74994B-FD6D-77F9-1ACD-146BFC7F4350}"/>
              </a:ext>
            </a:extLst>
          </p:cNvPr>
          <p:cNvSpPr>
            <a:spLocks noGrp="1"/>
          </p:cNvSpPr>
          <p:nvPr>
            <p:ph type="sldNum" sz="quarter" idx="5"/>
          </p:nvPr>
        </p:nvSpPr>
        <p:spPr/>
        <p:txBody>
          <a:bodyPr/>
          <a:lstStyle/>
          <a:p>
            <a:fld id="{CF541D2A-E99A-2F4F-B8C9-28142709F87F}" type="slidenum">
              <a:rPr lang="en-US" smtClean="0"/>
              <a:pPr/>
              <a:t>22</a:t>
            </a:fld>
            <a:endParaRPr lang="en-US"/>
          </a:p>
        </p:txBody>
      </p:sp>
    </p:spTree>
    <p:extLst>
      <p:ext uri="{BB962C8B-B14F-4D97-AF65-F5344CB8AC3E}">
        <p14:creationId xmlns:p14="http://schemas.microsoft.com/office/powerpoint/2010/main" val="1430631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37469-2BB5-41C7-3F39-167DD9FBABF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F53718E-F21E-F70D-233C-EEE50618FC0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7826EB2-B178-D1E5-C0E2-C60407C12CF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84A87013-8CA5-50A1-D773-E3AF71D16565}"/>
              </a:ext>
            </a:extLst>
          </p:cNvPr>
          <p:cNvSpPr>
            <a:spLocks noGrp="1"/>
          </p:cNvSpPr>
          <p:nvPr>
            <p:ph type="sldNum" sz="quarter" idx="5"/>
          </p:nvPr>
        </p:nvSpPr>
        <p:spPr/>
        <p:txBody>
          <a:bodyPr/>
          <a:lstStyle/>
          <a:p>
            <a:fld id="{CF541D2A-E99A-2F4F-B8C9-28142709F87F}" type="slidenum">
              <a:rPr lang="en-US" smtClean="0"/>
              <a:pPr/>
              <a:t>25</a:t>
            </a:fld>
            <a:endParaRPr lang="en-US"/>
          </a:p>
        </p:txBody>
      </p:sp>
    </p:spTree>
    <p:extLst>
      <p:ext uri="{BB962C8B-B14F-4D97-AF65-F5344CB8AC3E}">
        <p14:creationId xmlns:p14="http://schemas.microsoft.com/office/powerpoint/2010/main" val="6819913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CEDFA-82DF-9188-947D-0E2C55648EA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1D1A87-1051-6947-025C-5FA99BF3835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E241032-F4F6-37CD-9DE1-CEF46881B39B}"/>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2F53C916-0F33-4939-85D9-ADFE76AB2D81}"/>
              </a:ext>
            </a:extLst>
          </p:cNvPr>
          <p:cNvSpPr>
            <a:spLocks noGrp="1"/>
          </p:cNvSpPr>
          <p:nvPr>
            <p:ph type="sldNum" sz="quarter" idx="5"/>
          </p:nvPr>
        </p:nvSpPr>
        <p:spPr/>
        <p:txBody>
          <a:bodyPr/>
          <a:lstStyle/>
          <a:p>
            <a:fld id="{CF541D2A-E99A-2F4F-B8C9-28142709F87F}" type="slidenum">
              <a:rPr lang="en-US" smtClean="0"/>
              <a:pPr/>
              <a:t>26</a:t>
            </a:fld>
            <a:endParaRPr lang="en-US"/>
          </a:p>
        </p:txBody>
      </p:sp>
    </p:spTree>
    <p:extLst>
      <p:ext uri="{BB962C8B-B14F-4D97-AF65-F5344CB8AC3E}">
        <p14:creationId xmlns:p14="http://schemas.microsoft.com/office/powerpoint/2010/main" val="14255740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D30F9-FFDF-5279-A58B-7AC2B27275B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0736A96-209D-787D-3437-678AFD2D78B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B22B3C5-6F94-29DC-659B-A1DF6A19621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01FA1B03-0879-ACD9-D9E3-3E8AB36EAAFD}"/>
              </a:ext>
            </a:extLst>
          </p:cNvPr>
          <p:cNvSpPr>
            <a:spLocks noGrp="1"/>
          </p:cNvSpPr>
          <p:nvPr>
            <p:ph type="sldNum" sz="quarter" idx="5"/>
          </p:nvPr>
        </p:nvSpPr>
        <p:spPr/>
        <p:txBody>
          <a:bodyPr/>
          <a:lstStyle/>
          <a:p>
            <a:fld id="{CF541D2A-E99A-2F4F-B8C9-28142709F87F}" type="slidenum">
              <a:rPr lang="en-US" smtClean="0"/>
              <a:pPr/>
              <a:t>27</a:t>
            </a:fld>
            <a:endParaRPr lang="en-US"/>
          </a:p>
        </p:txBody>
      </p:sp>
    </p:spTree>
    <p:extLst>
      <p:ext uri="{BB962C8B-B14F-4D97-AF65-F5344CB8AC3E}">
        <p14:creationId xmlns:p14="http://schemas.microsoft.com/office/powerpoint/2010/main" val="1187592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4C6CD-6D9A-8D4B-93E8-728E8A7B586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7DA6A18-3F66-D66B-CCF3-529868A37A6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2600117-9EBB-4348-EB9A-1302A084916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C6FAEAC-136A-A730-470E-D958C57BAD83}"/>
              </a:ext>
            </a:extLst>
          </p:cNvPr>
          <p:cNvSpPr>
            <a:spLocks noGrp="1"/>
          </p:cNvSpPr>
          <p:nvPr>
            <p:ph type="sldNum" sz="quarter" idx="5"/>
          </p:nvPr>
        </p:nvSpPr>
        <p:spPr/>
        <p:txBody>
          <a:bodyPr/>
          <a:lstStyle/>
          <a:p>
            <a:fld id="{CF541D2A-E99A-2F4F-B8C9-28142709F87F}" type="slidenum">
              <a:rPr lang="en-US" smtClean="0"/>
              <a:pPr/>
              <a:t>28</a:t>
            </a:fld>
            <a:endParaRPr lang="en-US"/>
          </a:p>
        </p:txBody>
      </p:sp>
    </p:spTree>
    <p:extLst>
      <p:ext uri="{BB962C8B-B14F-4D97-AF65-F5344CB8AC3E}">
        <p14:creationId xmlns:p14="http://schemas.microsoft.com/office/powerpoint/2010/main" val="22207138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DCF5F-27C3-DEC6-18E0-F0208746A2E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6C3C18-9492-92C5-4698-EDE917678AE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D4B8838-3887-7380-49DB-93F6D485B3C9}"/>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C192A82-DC3A-CBCD-7524-BBD29D530195}"/>
              </a:ext>
            </a:extLst>
          </p:cNvPr>
          <p:cNvSpPr>
            <a:spLocks noGrp="1"/>
          </p:cNvSpPr>
          <p:nvPr>
            <p:ph type="sldNum" sz="quarter" idx="5"/>
          </p:nvPr>
        </p:nvSpPr>
        <p:spPr/>
        <p:txBody>
          <a:bodyPr/>
          <a:lstStyle/>
          <a:p>
            <a:fld id="{CF541D2A-E99A-2F4F-B8C9-28142709F87F}" type="slidenum">
              <a:rPr lang="en-US" smtClean="0"/>
              <a:pPr/>
              <a:t>29</a:t>
            </a:fld>
            <a:endParaRPr lang="en-US"/>
          </a:p>
        </p:txBody>
      </p:sp>
    </p:spTree>
    <p:extLst>
      <p:ext uri="{BB962C8B-B14F-4D97-AF65-F5344CB8AC3E}">
        <p14:creationId xmlns:p14="http://schemas.microsoft.com/office/powerpoint/2010/main" val="37859097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40A45-9222-6A05-1AED-B268BB6E8E2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D63ECE0-504B-282C-8FE0-F18BB73728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8E57F9B-A4AD-9962-3545-C581179D472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99B5946-635D-A28A-F955-160A280D3867}"/>
              </a:ext>
            </a:extLst>
          </p:cNvPr>
          <p:cNvSpPr>
            <a:spLocks noGrp="1"/>
          </p:cNvSpPr>
          <p:nvPr>
            <p:ph type="sldNum" sz="quarter" idx="5"/>
          </p:nvPr>
        </p:nvSpPr>
        <p:spPr/>
        <p:txBody>
          <a:bodyPr/>
          <a:lstStyle/>
          <a:p>
            <a:fld id="{CF541D2A-E99A-2F4F-B8C9-28142709F87F}" type="slidenum">
              <a:rPr lang="en-US" smtClean="0"/>
              <a:pPr/>
              <a:t>31</a:t>
            </a:fld>
            <a:endParaRPr lang="en-US"/>
          </a:p>
        </p:txBody>
      </p:sp>
    </p:spTree>
    <p:extLst>
      <p:ext uri="{BB962C8B-B14F-4D97-AF65-F5344CB8AC3E}">
        <p14:creationId xmlns:p14="http://schemas.microsoft.com/office/powerpoint/2010/main" val="20274866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0457-1086-805D-7B8C-4552C6B24EC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EAD44F6-CF37-7DA4-B233-114AF92DAF7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E29664-E6EC-D589-E4C5-F47217EB93C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4231DF38-3535-26FC-9F20-F2F3AE30940A}"/>
              </a:ext>
            </a:extLst>
          </p:cNvPr>
          <p:cNvSpPr>
            <a:spLocks noGrp="1"/>
          </p:cNvSpPr>
          <p:nvPr>
            <p:ph type="sldNum" sz="quarter" idx="5"/>
          </p:nvPr>
        </p:nvSpPr>
        <p:spPr/>
        <p:txBody>
          <a:bodyPr/>
          <a:lstStyle/>
          <a:p>
            <a:fld id="{CF541D2A-E99A-2F4F-B8C9-28142709F87F}" type="slidenum">
              <a:rPr lang="en-US" smtClean="0"/>
              <a:pPr/>
              <a:t>32</a:t>
            </a:fld>
            <a:endParaRPr lang="en-US"/>
          </a:p>
        </p:txBody>
      </p:sp>
    </p:spTree>
    <p:extLst>
      <p:ext uri="{BB962C8B-B14F-4D97-AF65-F5344CB8AC3E}">
        <p14:creationId xmlns:p14="http://schemas.microsoft.com/office/powerpoint/2010/main" val="1590058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93269-B6FC-2DE5-661E-97B5924D829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9A45502-AB3F-6132-2A06-CC7EE6087B0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8947943-AF35-76D7-1090-2AEEC90BC468}"/>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377F2EFC-C250-80EF-A2B4-12D559B48276}"/>
              </a:ext>
            </a:extLst>
          </p:cNvPr>
          <p:cNvSpPr>
            <a:spLocks noGrp="1"/>
          </p:cNvSpPr>
          <p:nvPr>
            <p:ph type="sldNum" sz="quarter" idx="5"/>
          </p:nvPr>
        </p:nvSpPr>
        <p:spPr/>
        <p:txBody>
          <a:bodyPr/>
          <a:lstStyle/>
          <a:p>
            <a:fld id="{CF541D2A-E99A-2F4F-B8C9-28142709F87F}" type="slidenum">
              <a:rPr lang="en-US" smtClean="0"/>
              <a:pPr/>
              <a:t>33</a:t>
            </a:fld>
            <a:endParaRPr lang="en-US"/>
          </a:p>
        </p:txBody>
      </p:sp>
    </p:spTree>
    <p:extLst>
      <p:ext uri="{BB962C8B-B14F-4D97-AF65-F5344CB8AC3E}">
        <p14:creationId xmlns:p14="http://schemas.microsoft.com/office/powerpoint/2010/main" val="42823543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17BEF-F269-C386-09FF-20AA024685B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573FD18-8B5E-C994-6BB1-D6BBAE3464B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632B52A-10E3-C065-413C-5ACB1D0011DE}"/>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56D0F855-5751-1C4F-8476-EE28DBB46FC0}"/>
              </a:ext>
            </a:extLst>
          </p:cNvPr>
          <p:cNvSpPr>
            <a:spLocks noGrp="1"/>
          </p:cNvSpPr>
          <p:nvPr>
            <p:ph type="sldNum" sz="quarter" idx="5"/>
          </p:nvPr>
        </p:nvSpPr>
        <p:spPr/>
        <p:txBody>
          <a:bodyPr/>
          <a:lstStyle/>
          <a:p>
            <a:fld id="{CF541D2A-E99A-2F4F-B8C9-28142709F87F}" type="slidenum">
              <a:rPr lang="en-US" smtClean="0"/>
              <a:pPr/>
              <a:t>34</a:t>
            </a:fld>
            <a:endParaRPr lang="en-US"/>
          </a:p>
        </p:txBody>
      </p:sp>
    </p:spTree>
    <p:extLst>
      <p:ext uri="{BB962C8B-B14F-4D97-AF65-F5344CB8AC3E}">
        <p14:creationId xmlns:p14="http://schemas.microsoft.com/office/powerpoint/2010/main" val="41154930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2EAC2-AE6C-9C13-25CF-B057499E2EF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EE8629D-471D-4550-0C8F-8D96BB2E5CB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F9B3E9-8316-A873-EF4F-E5B0F3D6A51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5F58897-ECA8-0894-F063-7A6440DA8ECF}"/>
              </a:ext>
            </a:extLst>
          </p:cNvPr>
          <p:cNvSpPr>
            <a:spLocks noGrp="1"/>
          </p:cNvSpPr>
          <p:nvPr>
            <p:ph type="sldNum" sz="quarter" idx="5"/>
          </p:nvPr>
        </p:nvSpPr>
        <p:spPr/>
        <p:txBody>
          <a:bodyPr/>
          <a:lstStyle/>
          <a:p>
            <a:fld id="{CF541D2A-E99A-2F4F-B8C9-28142709F87F}" type="slidenum">
              <a:rPr lang="en-US" smtClean="0"/>
              <a:pPr/>
              <a:t>35</a:t>
            </a:fld>
            <a:endParaRPr lang="en-US"/>
          </a:p>
        </p:txBody>
      </p:sp>
    </p:spTree>
    <p:extLst>
      <p:ext uri="{BB962C8B-B14F-4D97-AF65-F5344CB8AC3E}">
        <p14:creationId xmlns:p14="http://schemas.microsoft.com/office/powerpoint/2010/main" val="26434466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0F025-D845-39FC-1AF7-93166006A5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1565BE-0E45-1AD6-76E3-49BB9F115574}"/>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5703AA-938F-DDB0-9C4E-E9A89002828D}"/>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70822D83-876E-1257-079F-563A1059AD2E}"/>
              </a:ext>
            </a:extLst>
          </p:cNvPr>
          <p:cNvSpPr>
            <a:spLocks noGrp="1"/>
          </p:cNvSpPr>
          <p:nvPr>
            <p:ph type="sldNum" sz="quarter" idx="5"/>
          </p:nvPr>
        </p:nvSpPr>
        <p:spPr/>
        <p:txBody>
          <a:bodyPr/>
          <a:lstStyle/>
          <a:p>
            <a:fld id="{CF541D2A-E99A-2F4F-B8C9-28142709F87F}" type="slidenum">
              <a:rPr lang="en-US" smtClean="0"/>
              <a:pPr/>
              <a:t>36</a:t>
            </a:fld>
            <a:endParaRPr lang="en-US"/>
          </a:p>
        </p:txBody>
      </p:sp>
    </p:spTree>
    <p:extLst>
      <p:ext uri="{BB962C8B-B14F-4D97-AF65-F5344CB8AC3E}">
        <p14:creationId xmlns:p14="http://schemas.microsoft.com/office/powerpoint/2010/main" val="37078675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98BA2-0963-F692-F6E3-90DD38E4466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ADBE948-C110-0175-AE22-7EE9ABD7BA8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22A62FE-4832-9546-7B71-4958BE740C84}"/>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6791217A-895F-F709-D2D5-D4B3CA38DDF6}"/>
              </a:ext>
            </a:extLst>
          </p:cNvPr>
          <p:cNvSpPr>
            <a:spLocks noGrp="1"/>
          </p:cNvSpPr>
          <p:nvPr>
            <p:ph type="sldNum" sz="quarter" idx="5"/>
          </p:nvPr>
        </p:nvSpPr>
        <p:spPr/>
        <p:txBody>
          <a:bodyPr/>
          <a:lstStyle/>
          <a:p>
            <a:fld id="{CF541D2A-E99A-2F4F-B8C9-28142709F87F}" type="slidenum">
              <a:rPr lang="en-US" smtClean="0"/>
              <a:pPr/>
              <a:t>37</a:t>
            </a:fld>
            <a:endParaRPr lang="en-US"/>
          </a:p>
        </p:txBody>
      </p:sp>
    </p:spTree>
    <p:extLst>
      <p:ext uri="{BB962C8B-B14F-4D97-AF65-F5344CB8AC3E}">
        <p14:creationId xmlns:p14="http://schemas.microsoft.com/office/powerpoint/2010/main" val="7611021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31128E-49F4-F9D4-265B-C2C02CC7A2E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A80D295-90C7-4311-746F-B83DA54E841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0969212-198D-5E27-9AAA-1DF6C3FD6E05}"/>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F28AAD2B-804F-CBA9-CB65-5523397FF8D6}"/>
              </a:ext>
            </a:extLst>
          </p:cNvPr>
          <p:cNvSpPr>
            <a:spLocks noGrp="1"/>
          </p:cNvSpPr>
          <p:nvPr>
            <p:ph type="sldNum" sz="quarter" idx="5"/>
          </p:nvPr>
        </p:nvSpPr>
        <p:spPr/>
        <p:txBody>
          <a:bodyPr/>
          <a:lstStyle/>
          <a:p>
            <a:fld id="{CF541D2A-E99A-2F4F-B8C9-28142709F87F}" type="slidenum">
              <a:rPr lang="en-US" smtClean="0"/>
              <a:pPr/>
              <a:t>38</a:t>
            </a:fld>
            <a:endParaRPr lang="en-US"/>
          </a:p>
        </p:txBody>
      </p:sp>
    </p:spTree>
    <p:extLst>
      <p:ext uri="{BB962C8B-B14F-4D97-AF65-F5344CB8AC3E}">
        <p14:creationId xmlns:p14="http://schemas.microsoft.com/office/powerpoint/2010/main" val="27713606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32B1C-39D9-AC84-D1C9-6F26AD19D37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E4C131E-88F3-9B56-311A-E9F5161405E0}"/>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7B98FE8-4F68-AF43-1FCF-54FAD77DE5CF}"/>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A69EF6B6-2077-BD48-A4AA-83CDB2A91C65}"/>
              </a:ext>
            </a:extLst>
          </p:cNvPr>
          <p:cNvSpPr>
            <a:spLocks noGrp="1"/>
          </p:cNvSpPr>
          <p:nvPr>
            <p:ph type="sldNum" sz="quarter" idx="5"/>
          </p:nvPr>
        </p:nvSpPr>
        <p:spPr/>
        <p:txBody>
          <a:bodyPr/>
          <a:lstStyle/>
          <a:p>
            <a:fld id="{CF541D2A-E99A-2F4F-B8C9-28142709F87F}" type="slidenum">
              <a:rPr lang="en-US" smtClean="0"/>
              <a:pPr/>
              <a:t>39</a:t>
            </a:fld>
            <a:endParaRPr lang="en-US"/>
          </a:p>
        </p:txBody>
      </p:sp>
    </p:spTree>
    <p:extLst>
      <p:ext uri="{BB962C8B-B14F-4D97-AF65-F5344CB8AC3E}">
        <p14:creationId xmlns:p14="http://schemas.microsoft.com/office/powerpoint/2010/main" val="19471310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E2F39-9D23-6196-001C-117DD6C65CD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EF59035-E95A-BAAC-BA8F-ED5C1CF559C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1B18B34-41BB-2EEE-EB13-92A09A6340D3}"/>
              </a:ext>
            </a:extLst>
          </p:cNvPr>
          <p:cNvSpPr>
            <a:spLocks noGrp="1"/>
          </p:cNvSpPr>
          <p:nvPr>
            <p:ph type="body" idx="1"/>
          </p:nvPr>
        </p:nvSpPr>
        <p:spPr/>
        <p:txBody>
          <a:bodyPr/>
          <a:lstStyle/>
          <a:p>
            <a:endParaRPr lang="es-ES_tradnl" dirty="0"/>
          </a:p>
        </p:txBody>
      </p:sp>
      <p:sp>
        <p:nvSpPr>
          <p:cNvPr id="4" name="Marcador de número de diapositiva 3">
            <a:extLst>
              <a:ext uri="{FF2B5EF4-FFF2-40B4-BE49-F238E27FC236}">
                <a16:creationId xmlns:a16="http://schemas.microsoft.com/office/drawing/2014/main" id="{1D96F176-1D61-DB6A-09F6-445029C21B4D}"/>
              </a:ext>
            </a:extLst>
          </p:cNvPr>
          <p:cNvSpPr>
            <a:spLocks noGrp="1"/>
          </p:cNvSpPr>
          <p:nvPr>
            <p:ph type="sldNum" sz="quarter" idx="5"/>
          </p:nvPr>
        </p:nvSpPr>
        <p:spPr/>
        <p:txBody>
          <a:bodyPr/>
          <a:lstStyle/>
          <a:p>
            <a:fld id="{CF541D2A-E99A-2F4F-B8C9-28142709F87F}" type="slidenum">
              <a:rPr lang="en-US" smtClean="0"/>
              <a:pPr/>
              <a:t>40</a:t>
            </a:fld>
            <a:endParaRPr lang="en-US"/>
          </a:p>
        </p:txBody>
      </p:sp>
    </p:spTree>
    <p:extLst>
      <p:ext uri="{BB962C8B-B14F-4D97-AF65-F5344CB8AC3E}">
        <p14:creationId xmlns:p14="http://schemas.microsoft.com/office/powerpoint/2010/main" val="272131802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073699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94987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146303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287533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99153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39597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662580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2070162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5094540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686907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176452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33001774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613955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55546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48741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0183500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975498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116983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1812805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935362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61349265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50905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7500218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6465446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59416868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2763661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69022583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5306586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1899718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135741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96697216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7622381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482037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08-07-2026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36942411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4027423446"/>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949995011"/>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94765078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89744814"/>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Title Only Slide">
    <p:bg>
      <p:bgPr>
        <a:solidFill>
          <a:schemeClr val="bg1">
            <a:alpha val="20231"/>
          </a:schemeClr>
        </a:solidFill>
        <a:effectLst/>
      </p:bgPr>
    </p:bg>
    <p:spTree>
      <p:nvGrpSpPr>
        <p:cNvPr id="1" name=""/>
        <p:cNvGrpSpPr/>
        <p:nvPr/>
      </p:nvGrpSpPr>
      <p:grpSpPr>
        <a:xfrm>
          <a:off x="0" y="0"/>
          <a:ext cx="0" cy="0"/>
          <a:chOff x="0" y="0"/>
          <a:chExt cx="0" cy="0"/>
        </a:xfrm>
      </p:grpSpPr>
      <p:sp>
        <p:nvSpPr>
          <p:cNvPr id="7" name="Vertical Text Placeholder 13">
            <a:extLst>
              <a:ext uri="{FF2B5EF4-FFF2-40B4-BE49-F238E27FC236}">
                <a16:creationId xmlns:a16="http://schemas.microsoft.com/office/drawing/2014/main" id="{615AF287-335F-BB55-C118-E2B304809BF5}"/>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10" name="Slide Number Placeholder 5">
            <a:extLst>
              <a:ext uri="{FF2B5EF4-FFF2-40B4-BE49-F238E27FC236}">
                <a16:creationId xmlns:a16="http://schemas.microsoft.com/office/drawing/2014/main" id="{602A5F3B-3ABB-9E8C-64CA-3C1440FE24FE}"/>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2" name="Title 2">
            <a:extLst>
              <a:ext uri="{FF2B5EF4-FFF2-40B4-BE49-F238E27FC236}">
                <a16:creationId xmlns:a16="http://schemas.microsoft.com/office/drawing/2014/main" id="{6075AE4F-120B-4A06-3546-84A4BC13FBF4}"/>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163088868"/>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n blanco">
    <p:spTree>
      <p:nvGrpSpPr>
        <p:cNvPr id="1" name=""/>
        <p:cNvGrpSpPr/>
        <p:nvPr/>
      </p:nvGrpSpPr>
      <p:grpSpPr>
        <a:xfrm>
          <a:off x="0" y="0"/>
          <a:ext cx="0" cy="0"/>
          <a:chOff x="0" y="0"/>
          <a:chExt cx="0" cy="0"/>
        </a:xfrm>
      </p:grpSpPr>
    </p:spTree>
    <p:extLst>
      <p:ext uri="{BB962C8B-B14F-4D97-AF65-F5344CB8AC3E}">
        <p14:creationId xmlns:p14="http://schemas.microsoft.com/office/powerpoint/2010/main" val="403086480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Footer Black">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81C625F-C66F-1373-141C-E36C160D0D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A8E6E8FD-F743-B760-4565-52A5B0B667B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8DF76087-D7C9-C1C3-5E17-263AB892AD6D}"/>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234866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B Purple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Graphic 8">
            <a:extLst>
              <a:ext uri="{FF2B5EF4-FFF2-40B4-BE49-F238E27FC236}">
                <a16:creationId xmlns:a16="http://schemas.microsoft.com/office/drawing/2014/main" id="{EE1FD067-74D8-0E64-F510-C09BEC15D05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10" name="TextBox 9">
            <a:extLst>
              <a:ext uri="{FF2B5EF4-FFF2-40B4-BE49-F238E27FC236}">
                <a16:creationId xmlns:a16="http://schemas.microsoft.com/office/drawing/2014/main" id="{116E64D5-8E4A-3059-BC15-EB884BE08EC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0DFD1F0B-69D7-F3A9-055F-2A986648AD27}"/>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969131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B Purple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DB79317-11D6-0AF3-4B54-BDA534C904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C7209B0-4D3E-B28A-692D-AB3B431BDB0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65158A56-C172-10B2-D489-16D7DACEC5F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1379407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 Gray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0ABA3577-65BA-7CC4-5395-E38F2A7AC77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E135DE03-26E8-0184-A39C-5A462BDC2DC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5" name="TextBox 4">
            <a:extLst>
              <a:ext uri="{FF2B5EF4-FFF2-40B4-BE49-F238E27FC236}">
                <a16:creationId xmlns:a16="http://schemas.microsoft.com/office/drawing/2014/main" id="{19F91899-8397-C452-E914-5DA32F2E64BE}"/>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2176580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 Gray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695EB3C-8530-E0C8-4217-5508CF63DB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59450D81-7260-A5B0-C045-065E98F3D87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C8E4D3A3-6199-EF4C-2D38-F8DA60A48FEE}"/>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3511031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 Green Half Lef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a:extLst>
              <a:ext uri="{FF2B5EF4-FFF2-40B4-BE49-F238E27FC236}">
                <a16:creationId xmlns:a16="http://schemas.microsoft.com/office/drawing/2014/main" id="{40CB40AC-8E27-B4CE-FE98-617281F618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08A44510-D9B6-3D27-0025-27FFAAD9F8AE}"/>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B9DBE2C0-3213-6D2D-4479-AD9B8089A641}"/>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24705631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B Green Half Righ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FE05E42-38B4-613A-91A3-6308614973EC}"/>
              </a:ext>
            </a:extLst>
          </p:cNvPr>
          <p:cNvSpPr/>
          <p:nvPr/>
        </p:nvSpPr>
        <p:spPr>
          <a:xfrm>
            <a:off x="609600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61839101-BBAA-D670-10CD-40BF5E0392E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CCF7E87-236E-67B1-F9B1-5ACC27A1C0B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8B6E2BFF-AA3C-F635-EDE7-1D4D95732292}"/>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0118004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B Purple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8CB9F-7B69-6D25-41A0-F5D4BFE324C9}"/>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2E0AAAEA-1F16-516A-417D-DC9DF964E8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66FD55EF-B73C-D814-E528-7EF5EBB86F1C}"/>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4077C5A4-055F-072E-16C5-84527D1FFDB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39992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B Purple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8A5C8E9-F647-20C1-E64B-5FADBF7E8499}"/>
              </a:ext>
            </a:extLst>
          </p:cNvPr>
          <p:cNvSpPr/>
          <p:nvPr/>
        </p:nvSpPr>
        <p:spPr>
          <a:xfrm>
            <a:off x="8128016"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66E5DE2-889D-3DE4-3572-3DCEEA210F8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7C932288-F84C-D66E-3E63-ED023CEAD97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12AA4C6E-89CC-BA61-A575-3A36232457C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3658112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B Gray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9D04E6AC-3638-47BF-6BFD-E68AF8093AD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AC033454-6E80-8B9B-BBCB-6434F5D21BA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2D7DB-F5BA-604F-2A99-DBAB5A8DE7ED}"/>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099259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B Gray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145C3B88-0182-B843-BB3B-F145067D5C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CC84ADAE-B350-C159-D672-6F29FE4CC4F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83FB9DF3-A55E-DBF2-C049-8624E2CA323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3947488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 Green Third Lef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3401B5-FB7E-EDEB-5D87-90FA593EF7F8}"/>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3668F462-6E9A-C654-C321-DFBF69C7A66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5" name="TextBox 4">
            <a:extLst>
              <a:ext uri="{FF2B5EF4-FFF2-40B4-BE49-F238E27FC236}">
                <a16:creationId xmlns:a16="http://schemas.microsoft.com/office/drawing/2014/main" id="{2F75F911-FCDF-6D37-1A4E-6CFB26AAEB35}"/>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6" name="TextBox 5">
            <a:extLst>
              <a:ext uri="{FF2B5EF4-FFF2-40B4-BE49-F238E27FC236}">
                <a16:creationId xmlns:a16="http://schemas.microsoft.com/office/drawing/2014/main" id="{6F4A93C5-2125-4620-62DB-C8E3A6CA982A}"/>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29528246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 Green Third Righ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8128016"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CE396D46-CDE6-66B6-0A7B-6DEC14B972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462404-BF65-8481-4332-5DF7AD5ED1C9}"/>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CC6232A2-9E4F-3C88-D771-7120FAD75090}"/>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48361095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221DA2E6-F483-60DE-DF61-B60C10DBDE89}"/>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8131462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Blank Dark Pur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A593DCF4-AC60-B9D8-A985-C1CFC1A5AD75}"/>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1232097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Blank Dark Gree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7F4F974E-F629-0B9E-90C7-6BA76E29618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D8B03757-D8E3-42CD-21F7-B5A125EE77E1}"/>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3" name="TextBox 2">
            <a:extLst>
              <a:ext uri="{FF2B5EF4-FFF2-40B4-BE49-F238E27FC236}">
                <a16:creationId xmlns:a16="http://schemas.microsoft.com/office/drawing/2014/main" id="{EFFC058F-486D-43DF-4B5C-09387CA4F8E1}"/>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29065702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Blank Warm Gra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FEDEB4-E39B-67FF-92F1-4314058FBAAE}"/>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9FF5FB22-C2EA-99F6-EF38-AD4BBB0C34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603AEA50-DA2C-915C-545F-713FCDF35A3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3" name="TextBox 2">
            <a:extLst>
              <a:ext uri="{FF2B5EF4-FFF2-40B4-BE49-F238E27FC236}">
                <a16:creationId xmlns:a16="http://schemas.microsoft.com/office/drawing/2014/main" id="{9D0EA6DE-76EE-C5B8-0477-8D50A19F0758}"/>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68811850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006099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18" Type="http://schemas.openxmlformats.org/officeDocument/2006/relationships/slideLayout" Target="../slideLayouts/slideLayout57.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theme" Target="../theme/theme2.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10" Type="http://schemas.openxmlformats.org/officeDocument/2006/relationships/slideLayout" Target="../slideLayouts/slideLayout49.xml"/><Relationship Id="rId19" Type="http://schemas.openxmlformats.org/officeDocument/2006/relationships/slideLayout" Target="../slideLayouts/slideLayout58.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73592080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 id="2147483726" r:id="rId15"/>
    <p:sldLayoutId id="2147483727" r:id="rId16"/>
    <p:sldLayoutId id="2147483728" r:id="rId17"/>
    <p:sldLayoutId id="2147483729" r:id="rId18"/>
    <p:sldLayoutId id="2147483730" r:id="rId19"/>
    <p:sldLayoutId id="2147483731" r:id="rId20"/>
    <p:sldLayoutId id="2147483732" r:id="rId21"/>
    <p:sldLayoutId id="2147483733" r:id="rId22"/>
    <p:sldLayoutId id="2147483734" r:id="rId23"/>
    <p:sldLayoutId id="2147483735" r:id="rId24"/>
    <p:sldLayoutId id="2147483736" r:id="rId25"/>
    <p:sldLayoutId id="2147483737" r:id="rId26"/>
    <p:sldLayoutId id="2147483738" r:id="rId27"/>
    <p:sldLayoutId id="2147483739" r:id="rId28"/>
    <p:sldLayoutId id="2147483740" r:id="rId29"/>
    <p:sldLayoutId id="2147483741" r:id="rId30"/>
    <p:sldLayoutId id="2147483742" r:id="rId31"/>
    <p:sldLayoutId id="2147483743" r:id="rId32"/>
    <p:sldLayoutId id="2147483744" r:id="rId33"/>
    <p:sldLayoutId id="2147483745" r:id="rId34"/>
    <p:sldLayoutId id="2147483746" r:id="rId35"/>
    <p:sldLayoutId id="2147483747" r:id="rId36"/>
    <p:sldLayoutId id="2147483748" r:id="rId37"/>
    <p:sldLayoutId id="2147483749" r:id="rId38"/>
    <p:sldLayoutId id="2147483750" r:id="rId3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2168278"/>
      </p:ext>
    </p:extLst>
  </p:cSld>
  <p:clrMap bg1="lt1" tx1="dk1" bg2="lt2" tx2="dk2" accent1="accent1" accent2="accent2" accent3="accent3" accent4="accent4" accent5="accent5" accent6="accent6" hlink="hlink" folHlink="folHlink"/>
  <p:sldLayoutIdLst>
    <p:sldLayoutId id="2147483753" r:id="rId1"/>
    <p:sldLayoutId id="2147483754" r:id="rId2"/>
    <p:sldLayoutId id="2147483755" r:id="rId3"/>
    <p:sldLayoutId id="2147483756" r:id="rId4"/>
    <p:sldLayoutId id="2147483757" r:id="rId5"/>
    <p:sldLayoutId id="2147483758" r:id="rId6"/>
    <p:sldLayoutId id="2147483759" r:id="rId7"/>
    <p:sldLayoutId id="2147483760" r:id="rId8"/>
    <p:sldLayoutId id="2147483761" r:id="rId9"/>
    <p:sldLayoutId id="2147483762" r:id="rId10"/>
    <p:sldLayoutId id="2147483763" r:id="rId11"/>
    <p:sldLayoutId id="2147483764" r:id="rId12"/>
    <p:sldLayoutId id="2147483765" r:id="rId13"/>
    <p:sldLayoutId id="2147483766" r:id="rId14"/>
    <p:sldLayoutId id="2147483767" r:id="rId15"/>
    <p:sldLayoutId id="2147483768" r:id="rId16"/>
    <p:sldLayoutId id="2147483769" r:id="rId17"/>
    <p:sldLayoutId id="2147483770" r:id="rId18"/>
    <p:sldLayoutId id="2147483771" r:id="rId19"/>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3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39.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3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9.xml"/><Relationship Id="rId4"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43.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DD381F98-39A1-4ACC-B642-A72023AF9BC1}"/>
              </a:ext>
            </a:extLst>
          </p:cNvPr>
          <p:cNvSpPr>
            <a:spLocks noGrp="1"/>
          </p:cNvSpPr>
          <p:nvPr>
            <p:ph type="body" sz="quarter" idx="10"/>
          </p:nvPr>
        </p:nvSpPr>
        <p:spPr>
          <a:xfrm>
            <a:off x="556902" y="2249757"/>
            <a:ext cx="5427132" cy="1832105"/>
          </a:xfrm>
        </p:spPr>
        <p:txBody>
          <a:bodyPr/>
          <a:lstStyle/>
          <a:p>
            <a:r>
              <a:rPr lang="es-419" sz="4400" dirty="0"/>
              <a:t>Gestionar los sobrepasos de inscripción</a:t>
            </a:r>
            <a:endParaRPr lang="es-CL" dirty="0">
              <a:latin typeface="+mj-lt"/>
            </a:endParaRPr>
          </a:p>
        </p:txBody>
      </p:sp>
      <p:sp>
        <p:nvSpPr>
          <p:cNvPr id="4" name="Marcador de texto 3">
            <a:extLst>
              <a:ext uri="{FF2B5EF4-FFF2-40B4-BE49-F238E27FC236}">
                <a16:creationId xmlns:a16="http://schemas.microsoft.com/office/drawing/2014/main" id="{A1EF17AF-28D3-D529-32AF-17D3B44889E9}"/>
              </a:ext>
            </a:extLst>
          </p:cNvPr>
          <p:cNvSpPr>
            <a:spLocks noGrp="1"/>
          </p:cNvSpPr>
          <p:nvPr>
            <p:ph type="body" sz="quarter" idx="11"/>
          </p:nvPr>
        </p:nvSpPr>
        <p:spPr>
          <a:xfrm>
            <a:off x="556902" y="4116116"/>
            <a:ext cx="5427132" cy="674095"/>
          </a:xfrm>
        </p:spPr>
        <p:txBody>
          <a:bodyPr/>
          <a:lstStyle/>
          <a:p>
            <a:endParaRPr lang="es-ES" sz="1800" dirty="0"/>
          </a:p>
          <a:p>
            <a:r>
              <a:rPr lang="es-ES" sz="1800" dirty="0"/>
              <a:t>Instructivo</a:t>
            </a:r>
            <a:endParaRPr lang="es-CL" dirty="0"/>
          </a:p>
        </p:txBody>
      </p:sp>
      <p:sp>
        <p:nvSpPr>
          <p:cNvPr id="5" name="Marcador de texto 4">
            <a:extLst>
              <a:ext uri="{FF2B5EF4-FFF2-40B4-BE49-F238E27FC236}">
                <a16:creationId xmlns:a16="http://schemas.microsoft.com/office/drawing/2014/main" id="{2FA6B18F-EA2A-7CBC-3E93-C1F7F4E03498}"/>
              </a:ext>
            </a:extLst>
          </p:cNvPr>
          <p:cNvSpPr>
            <a:spLocks noGrp="1"/>
          </p:cNvSpPr>
          <p:nvPr>
            <p:ph type="body" sz="quarter" idx="12"/>
          </p:nvPr>
        </p:nvSpPr>
        <p:spPr>
          <a:xfrm>
            <a:off x="556902" y="5609784"/>
            <a:ext cx="3032274" cy="194925"/>
          </a:xfrm>
        </p:spPr>
        <p:txBody>
          <a:bodyPr/>
          <a:lstStyle/>
          <a:p>
            <a:r>
              <a:rPr lang="es-CL" dirty="0"/>
              <a:t>Universidad Señor de SIPAN</a:t>
            </a:r>
          </a:p>
        </p:txBody>
      </p:sp>
      <p:sp>
        <p:nvSpPr>
          <p:cNvPr id="6" name="Marcador de texto 5">
            <a:extLst>
              <a:ext uri="{FF2B5EF4-FFF2-40B4-BE49-F238E27FC236}">
                <a16:creationId xmlns:a16="http://schemas.microsoft.com/office/drawing/2014/main" id="{7A9163AF-E847-89EA-1C83-2289BDD56FA7}"/>
              </a:ext>
            </a:extLst>
          </p:cNvPr>
          <p:cNvSpPr>
            <a:spLocks noGrp="1"/>
          </p:cNvSpPr>
          <p:nvPr>
            <p:ph type="body" sz="quarter" idx="13"/>
          </p:nvPr>
        </p:nvSpPr>
        <p:spPr/>
        <p:txBody>
          <a:bodyPr/>
          <a:lstStyle/>
          <a:p>
            <a:r>
              <a:rPr lang="es-419" dirty="0"/>
              <a:t>Agosto, 2025</a:t>
            </a:r>
          </a:p>
        </p:txBody>
      </p:sp>
      <p:pic>
        <p:nvPicPr>
          <p:cNvPr id="9" name="Marcador de posición de imagen 8" descr="Un grupo de folletos sobre una mesa de madera&#10;&#10;El contenido generado por IA puede ser incorrecto.">
            <a:extLst>
              <a:ext uri="{FF2B5EF4-FFF2-40B4-BE49-F238E27FC236}">
                <a16:creationId xmlns:a16="http://schemas.microsoft.com/office/drawing/2014/main" id="{8F270BFC-79EC-9862-87AD-49626C24887F}"/>
              </a:ext>
            </a:extLst>
          </p:cNvPr>
          <p:cNvPicPr>
            <a:picLocks noGrp="1" noChangeAspect="1"/>
          </p:cNvPicPr>
          <p:nvPr>
            <p:ph type="pic" sz="quarter" idx="14"/>
          </p:nvPr>
        </p:nvPicPr>
        <p:blipFill>
          <a:blip r:embed="rId2">
            <a:extLst>
              <a:ext uri="{28A0092B-C50C-407E-A947-70E740481C1C}">
                <a14:useLocalDpi xmlns:a14="http://schemas.microsoft.com/office/drawing/2010/main" val="0"/>
              </a:ext>
            </a:extLst>
          </a:blip>
          <a:srcRect l="17881" r="17881"/>
          <a:stretch>
            <a:fillRect/>
          </a:stretch>
        </p:blipFill>
        <p:spPr/>
      </p:pic>
    </p:spTree>
    <p:extLst>
      <p:ext uri="{BB962C8B-B14F-4D97-AF65-F5344CB8AC3E}">
        <p14:creationId xmlns:p14="http://schemas.microsoft.com/office/powerpoint/2010/main" val="3353114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los sobrepasos de inscripción</a:t>
            </a:r>
            <a:endParaRPr lang="es-419" dirty="0"/>
          </a:p>
        </p:txBody>
      </p:sp>
      <p:graphicFrame>
        <p:nvGraphicFramePr>
          <p:cNvPr id="4" name="Table 2">
            <a:extLst>
              <a:ext uri="{FF2B5EF4-FFF2-40B4-BE49-F238E27FC236}">
                <a16:creationId xmlns:a16="http://schemas.microsoft.com/office/drawing/2014/main" id="{86028BF8-A141-2E97-2FAA-0A37BCE60D2D}"/>
              </a:ext>
            </a:extLst>
          </p:cNvPr>
          <p:cNvGraphicFramePr>
            <a:graphicFrameLocks noGrp="1"/>
          </p:cNvGraphicFramePr>
          <p:nvPr>
            <p:extLst>
              <p:ext uri="{D42A27DB-BD31-4B8C-83A1-F6EECF244321}">
                <p14:modId xmlns:p14="http://schemas.microsoft.com/office/powerpoint/2010/main" val="4055770251"/>
              </p:ext>
            </p:extLst>
          </p:nvPr>
        </p:nvGraphicFramePr>
        <p:xfrm>
          <a:off x="786088" y="1651015"/>
          <a:ext cx="9058128" cy="3256796"/>
        </p:xfrm>
        <a:graphic>
          <a:graphicData uri="http://schemas.openxmlformats.org/drawingml/2006/table">
            <a:tbl>
              <a:tblPr>
                <a:tableStyleId>{5C22544A-7EE6-4342-B048-85BDC9FD1C3A}</a:tableStyleId>
              </a:tblPr>
              <a:tblGrid>
                <a:gridCol w="930128">
                  <a:extLst>
                    <a:ext uri="{9D8B030D-6E8A-4147-A177-3AD203B41FA5}">
                      <a16:colId xmlns:a16="http://schemas.microsoft.com/office/drawing/2014/main" val="1835725686"/>
                    </a:ext>
                  </a:extLst>
                </a:gridCol>
                <a:gridCol w="8128000">
                  <a:extLst>
                    <a:ext uri="{9D8B030D-6E8A-4147-A177-3AD203B41FA5}">
                      <a16:colId xmlns:a16="http://schemas.microsoft.com/office/drawing/2014/main" val="52046442"/>
                    </a:ext>
                  </a:extLst>
                </a:gridCol>
              </a:tblGrid>
              <a:tr h="814199">
                <a:tc>
                  <a:txBody>
                    <a:bodyPr/>
                    <a:lstStyle/>
                    <a:p>
                      <a:r>
                        <a:rPr lang="en-US" sz="2800" b="1" dirty="0">
                          <a:solidFill>
                            <a:schemeClr val="bg1"/>
                          </a:solidFill>
                        </a:rPr>
                        <a:t>01</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Overview</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1948859"/>
                  </a:ext>
                </a:extLst>
              </a:tr>
              <a:tr h="814199">
                <a:tc>
                  <a:txBody>
                    <a:bodyPr/>
                    <a:lstStyle/>
                    <a:p>
                      <a:r>
                        <a:rPr lang="en-US" sz="2800" b="1" dirty="0">
                          <a:solidFill>
                            <a:schemeClr val="bg1"/>
                          </a:solidFill>
                        </a:rPr>
                        <a:t>02</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Configuraciones</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4980871"/>
                  </a:ext>
                </a:extLst>
              </a:tr>
              <a:tr h="814199">
                <a:tc>
                  <a:txBody>
                    <a:bodyPr/>
                    <a:lstStyle/>
                    <a:p>
                      <a:r>
                        <a:rPr lang="en-US" sz="2800" b="1" dirty="0">
                          <a:solidFill>
                            <a:schemeClr val="bg1"/>
                          </a:solidFill>
                        </a:rPr>
                        <a:t>03</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s-419" sz="2800" b="1" dirty="0">
                          <a:solidFill>
                            <a:schemeClr val="bg1"/>
                          </a:solidFill>
                        </a:rPr>
                        <a:t>Gestionar los sobrepasos de inscripción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9936347"/>
                  </a:ext>
                </a:extLst>
              </a:tr>
              <a:tr h="814199">
                <a:tc>
                  <a:txBody>
                    <a:bodyPr/>
                    <a:lstStyle/>
                    <a:p>
                      <a:r>
                        <a:rPr lang="en-US" sz="2800" b="1" dirty="0">
                          <a:solidFill>
                            <a:schemeClr val="bg1"/>
                          </a:solidFill>
                        </a:rPr>
                        <a:t>04</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2800" b="1" dirty="0">
                          <a:solidFill>
                            <a:schemeClr val="bg1"/>
                          </a:solidFill>
                        </a:rPr>
                        <a:t>Resumen</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33436290"/>
                  </a:ext>
                </a:extLst>
              </a:tr>
            </a:tbl>
          </a:graphicData>
        </a:graphic>
      </p:graphicFrame>
    </p:spTree>
    <p:extLst>
      <p:ext uri="{BB962C8B-B14F-4D97-AF65-F5344CB8AC3E}">
        <p14:creationId xmlns:p14="http://schemas.microsoft.com/office/powerpoint/2010/main" val="4251571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los sobrepasos de inscripción</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sz="3200" b="1" dirty="0">
                <a:solidFill>
                  <a:schemeClr val="bg1"/>
                </a:solidFill>
              </a:rPr>
              <a:t>Overview</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2650576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Vertical Text Placeholder 3">
            <a:extLst>
              <a:ext uri="{FF2B5EF4-FFF2-40B4-BE49-F238E27FC236}">
                <a16:creationId xmlns:a16="http://schemas.microsoft.com/office/drawing/2014/main" id="{E84A95C1-A1C4-874B-A0F8-44AB6CD99FF1}"/>
              </a:ext>
            </a:extLst>
          </p:cNvPr>
          <p:cNvSpPr>
            <a:spLocks noGrp="1"/>
          </p:cNvSpPr>
          <p:nvPr>
            <p:ph type="body" orient="vert" sz="quarter" idx="17"/>
          </p:nvPr>
        </p:nvSpPr>
        <p:spPr/>
        <p:txBody>
          <a:bodyPr/>
          <a:lstStyle/>
          <a:p>
            <a:r>
              <a:rPr lang="es-419" sz="1200" dirty="0"/>
              <a:t>´Gestión de la Inscripción Académica</a:t>
            </a:r>
          </a:p>
        </p:txBody>
      </p:sp>
      <p:sp>
        <p:nvSpPr>
          <p:cNvPr id="17" name="Slide Number Placeholder 16">
            <a:extLst>
              <a:ext uri="{FF2B5EF4-FFF2-40B4-BE49-F238E27FC236}">
                <a16:creationId xmlns:a16="http://schemas.microsoft.com/office/drawing/2014/main" id="{8AC1633D-9215-2128-452C-BEE52AEB6D5E}"/>
              </a:ext>
            </a:extLst>
          </p:cNvPr>
          <p:cNvSpPr>
            <a:spLocks noGrp="1"/>
          </p:cNvSpPr>
          <p:nvPr>
            <p:ph type="sldNum" sz="quarter" idx="4"/>
          </p:nvPr>
        </p:nvSpPr>
        <p:spPr/>
        <p:txBody>
          <a:bodyPr/>
          <a:lstStyle/>
          <a:p>
            <a:fld id="{4A16F8ED-7337-F64C-865A-41A1F48E54DF}" type="slidenum">
              <a:rPr lang="en-US" smtClean="0"/>
              <a:pPr/>
              <a:t>4</a:t>
            </a:fld>
            <a:endParaRPr lang="en-US"/>
          </a:p>
        </p:txBody>
      </p:sp>
      <p:sp>
        <p:nvSpPr>
          <p:cNvPr id="3" name="Title 2">
            <a:extLst>
              <a:ext uri="{FF2B5EF4-FFF2-40B4-BE49-F238E27FC236}">
                <a16:creationId xmlns:a16="http://schemas.microsoft.com/office/drawing/2014/main" id="{CE1505E3-5A51-3A2E-57EA-74DF6A59B9BE}"/>
              </a:ext>
            </a:extLst>
          </p:cNvPr>
          <p:cNvSpPr>
            <a:spLocks noGrp="1"/>
          </p:cNvSpPr>
          <p:nvPr>
            <p:ph type="title"/>
          </p:nvPr>
        </p:nvSpPr>
        <p:spPr>
          <a:xfrm>
            <a:off x="1463337" y="508268"/>
            <a:ext cx="9418021" cy="898555"/>
          </a:xfrm>
        </p:spPr>
        <p:txBody>
          <a:bodyPr/>
          <a:lstStyle/>
          <a:p>
            <a:r>
              <a:rPr lang="es-ES_tradnl" sz="3200" dirty="0">
                <a:solidFill>
                  <a:schemeClr val="tx2"/>
                </a:solidFill>
              </a:rPr>
              <a:t>Overview: </a:t>
            </a:r>
            <a:r>
              <a:rPr lang="es-ES_tradnl" sz="3200" b="1" dirty="0">
                <a:solidFill>
                  <a:schemeClr val="tx2"/>
                </a:solidFill>
              </a:rPr>
              <a:t>Mapa de capacidades</a:t>
            </a:r>
            <a:endParaRPr lang="en-US" dirty="0"/>
          </a:p>
        </p:txBody>
      </p:sp>
      <p:pic>
        <p:nvPicPr>
          <p:cNvPr id="2" name="Imagen 2">
            <a:extLst>
              <a:ext uri="{FF2B5EF4-FFF2-40B4-BE49-F238E27FC236}">
                <a16:creationId xmlns:a16="http://schemas.microsoft.com/office/drawing/2014/main" id="{CD767F04-A4F8-7CF9-45B1-8070B88894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5949" y="1166297"/>
            <a:ext cx="10180101" cy="4796619"/>
          </a:xfrm>
          <a:prstGeom prst="rect">
            <a:avLst/>
          </a:prstGeom>
        </p:spPr>
      </p:pic>
      <p:sp>
        <p:nvSpPr>
          <p:cNvPr id="6" name="Rectangle 5">
            <a:extLst>
              <a:ext uri="{FF2B5EF4-FFF2-40B4-BE49-F238E27FC236}">
                <a16:creationId xmlns:a16="http://schemas.microsoft.com/office/drawing/2014/main" id="{226A4735-976B-631C-3E5A-3509C44EC4B5}"/>
              </a:ext>
            </a:extLst>
          </p:cNvPr>
          <p:cNvSpPr/>
          <p:nvPr/>
        </p:nvSpPr>
        <p:spPr>
          <a:xfrm>
            <a:off x="1463336" y="4713818"/>
            <a:ext cx="3986487" cy="672861"/>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Tree>
    <p:extLst>
      <p:ext uri="{BB962C8B-B14F-4D97-AF65-F5344CB8AC3E}">
        <p14:creationId xmlns:p14="http://schemas.microsoft.com/office/powerpoint/2010/main" val="733128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9D552BA8-E40D-BE5E-B33E-255C974B1B45}"/>
              </a:ext>
            </a:extLst>
          </p:cNvPr>
          <p:cNvSpPr>
            <a:spLocks noGrp="1"/>
          </p:cNvSpPr>
          <p:nvPr>
            <p:ph type="body" sz="quarter" idx="18"/>
          </p:nvPr>
        </p:nvSpPr>
        <p:spPr>
          <a:xfrm>
            <a:off x="1031009" y="1584355"/>
            <a:ext cx="9698935" cy="3737745"/>
          </a:xfrm>
        </p:spPr>
        <p:txBody>
          <a:bodyPr anchor="ctr"/>
          <a:lstStyle/>
          <a:p>
            <a:pPr marL="0" lvl="0" indent="0" algn="just">
              <a:buClr>
                <a:srgbClr val="0CB4B4"/>
              </a:buClr>
              <a:buNone/>
            </a:pPr>
            <a:r>
              <a:rPr lang="es-CO" sz="2000" dirty="0"/>
              <a:t>Tiene como propósito </a:t>
            </a:r>
            <a:r>
              <a:rPr lang="es-CO" sz="2000" b="1" dirty="0"/>
              <a:t>administrar el registro y retiro de asignaturas</a:t>
            </a:r>
            <a:r>
              <a:rPr lang="es-CO" sz="2000" dirty="0"/>
              <a:t> que los estudiantes cursarán en un periodo académico. Para ello utiliza los distintos </a:t>
            </a:r>
            <a:r>
              <a:rPr lang="es-CO" sz="2000" b="1" dirty="0"/>
              <a:t>modelos de inscripción</a:t>
            </a:r>
            <a:r>
              <a:rPr lang="es-CO" sz="2000" dirty="0"/>
              <a:t> definidos por la institución —como inscripción básica, estructurada o proyectada— y opera en conjunto con funcionalidades complementarias como la </a:t>
            </a:r>
            <a:r>
              <a:rPr lang="es-CO" sz="2000" b="1" dirty="0"/>
              <a:t>gestión de turnos</a:t>
            </a:r>
            <a:r>
              <a:rPr lang="es-CO" sz="2000" dirty="0"/>
              <a:t>, </a:t>
            </a:r>
            <a:r>
              <a:rPr lang="es-CO" sz="2000" b="1" dirty="0"/>
              <a:t>inscripción por bloques</a:t>
            </a:r>
            <a:r>
              <a:rPr lang="es-CO" sz="2000" dirty="0"/>
              <a:t>, </a:t>
            </a:r>
            <a:r>
              <a:rPr lang="es-CO" sz="2000" b="1" dirty="0"/>
              <a:t>listas de espera</a:t>
            </a:r>
            <a:r>
              <a:rPr lang="es-CO" sz="2000" dirty="0"/>
              <a:t>, </a:t>
            </a:r>
            <a:r>
              <a:rPr lang="es-CO" sz="2000" b="1" dirty="0"/>
              <a:t>sobrepasos</a:t>
            </a:r>
            <a:r>
              <a:rPr lang="es-CO" sz="2000" dirty="0"/>
              <a:t>, entre otras herramientas que permiten controlar y organizar el proceso de matrícula de manera eficiente.</a:t>
            </a:r>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7A5B615C-2E6F-63B7-AAC2-AA0545E94BBE}"/>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1504878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texto 1">
            <a:extLst>
              <a:ext uri="{FF2B5EF4-FFF2-40B4-BE49-F238E27FC236}">
                <a16:creationId xmlns:a16="http://schemas.microsoft.com/office/drawing/2014/main" id="{21D2E5BD-8D92-BBEB-6DE7-7F46E2C205E5}"/>
              </a:ext>
            </a:extLst>
          </p:cNvPr>
          <p:cNvSpPr>
            <a:spLocks noGrp="1"/>
          </p:cNvSpPr>
          <p:nvPr>
            <p:ph type="body" sz="quarter" idx="18"/>
          </p:nvPr>
        </p:nvSpPr>
        <p:spPr>
          <a:xfrm>
            <a:off x="924354" y="1500996"/>
            <a:ext cx="10136257" cy="4671203"/>
          </a:xfrm>
        </p:spPr>
        <p:txBody>
          <a:bodyPr vert="horz" lIns="91440" tIns="45720" rIns="91440" bIns="45720" rtlCol="0" anchor="t">
            <a:noAutofit/>
          </a:bodyPr>
          <a:lstStyle/>
          <a:p>
            <a:pPr>
              <a:buClr>
                <a:schemeClr val="bg2">
                  <a:lumMod val="10000"/>
                </a:schemeClr>
              </a:buClr>
              <a:buFont typeface="Wingdings" panose="05000000000000000000" pitchFamily="2" charset="2"/>
              <a:buChar char="v"/>
            </a:pPr>
            <a:r>
              <a:rPr lang="es-ES" sz="2400" dirty="0">
                <a:solidFill>
                  <a:srgbClr val="7030A0"/>
                </a:solidFill>
              </a:rPr>
              <a:t> </a:t>
            </a:r>
            <a:r>
              <a:rPr lang="es-ES" sz="2400" b="1" dirty="0">
                <a:solidFill>
                  <a:srgbClr val="7030A0"/>
                </a:solidFill>
              </a:rPr>
              <a:t>Ejecutar Proyección Académica</a:t>
            </a:r>
          </a:p>
          <a:p>
            <a:pPr>
              <a:buClr>
                <a:schemeClr val="bg2">
                  <a:lumMod val="10000"/>
                </a:schemeClr>
              </a:buClr>
              <a:buFont typeface="Wingdings" panose="05000000000000000000" pitchFamily="2" charset="2"/>
              <a:buChar char="v"/>
            </a:pPr>
            <a:r>
              <a:rPr lang="es-ES" sz="2400" b="1" dirty="0">
                <a:solidFill>
                  <a:srgbClr val="7030A0"/>
                </a:solidFill>
              </a:rPr>
              <a:t> </a:t>
            </a:r>
            <a:r>
              <a:rPr lang="es-ES" sz="2400" dirty="0">
                <a:solidFill>
                  <a:srgbClr val="7030A0"/>
                </a:solidFill>
              </a:rPr>
              <a:t>Ejecutar Planificación de cursos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Básico</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Autoservicio Estructurado</a:t>
            </a:r>
          </a:p>
          <a:p>
            <a:pPr>
              <a:buClr>
                <a:schemeClr val="bg2">
                  <a:lumMod val="10000"/>
                </a:schemeClr>
              </a:buClr>
              <a:buFont typeface="Wingdings" panose="05000000000000000000" pitchFamily="2" charset="2"/>
              <a:buChar char="v"/>
            </a:pPr>
            <a:r>
              <a:rPr lang="es-CO" sz="2400" dirty="0">
                <a:solidFill>
                  <a:srgbClr val="7030A0"/>
                </a:solidFill>
              </a:rPr>
              <a:t>Inscripción de Cursos por </a:t>
            </a:r>
            <a:r>
              <a:rPr lang="es-CO" sz="2400" dirty="0" err="1">
                <a:solidFill>
                  <a:srgbClr val="7030A0"/>
                </a:solidFill>
              </a:rPr>
              <a:t>Backoffice</a:t>
            </a:r>
            <a:endParaRPr lang="es-CO" sz="2400" dirty="0">
              <a:solidFill>
                <a:srgbClr val="7030A0"/>
              </a:solidFill>
            </a:endParaRPr>
          </a:p>
          <a:p>
            <a:pPr>
              <a:buClr>
                <a:schemeClr val="bg2">
                  <a:lumMod val="10000"/>
                </a:schemeClr>
              </a:buClr>
              <a:buFont typeface="Wingdings" panose="05000000000000000000" pitchFamily="2" charset="2"/>
              <a:buChar char="v"/>
            </a:pPr>
            <a:r>
              <a:rPr lang="es-ES" sz="2400" dirty="0">
                <a:solidFill>
                  <a:srgbClr val="7030A0"/>
                </a:solidFill>
              </a:rPr>
              <a:t>Inscripción de cursos por </a:t>
            </a:r>
            <a:r>
              <a:rPr lang="es-ES" sz="2400" dirty="0" err="1">
                <a:solidFill>
                  <a:srgbClr val="7030A0"/>
                </a:solidFill>
              </a:rPr>
              <a:t>Backoffice</a:t>
            </a:r>
            <a:r>
              <a:rPr lang="es-ES" sz="2400" dirty="0">
                <a:solidFill>
                  <a:srgbClr val="7030A0"/>
                </a:solidFill>
              </a:rPr>
              <a:t> por Bloques</a:t>
            </a:r>
          </a:p>
          <a:p>
            <a:pPr>
              <a:buClr>
                <a:schemeClr val="bg2">
                  <a:lumMod val="10000"/>
                </a:schemeClr>
              </a:buClr>
              <a:buFont typeface="Wingdings" panose="05000000000000000000" pitchFamily="2" charset="2"/>
              <a:buChar char="v"/>
            </a:pPr>
            <a:r>
              <a:rPr lang="es-ES" sz="2400" dirty="0">
                <a:solidFill>
                  <a:srgbClr val="7030A0"/>
                </a:solidFill>
              </a:rPr>
              <a:t>Inscripción de cursos por Lista de Espera</a:t>
            </a:r>
          </a:p>
          <a:p>
            <a:pPr>
              <a:buClr>
                <a:schemeClr val="bg2">
                  <a:lumMod val="10000"/>
                </a:schemeClr>
              </a:buClr>
              <a:buFont typeface="Wingdings" panose="05000000000000000000" pitchFamily="2" charset="2"/>
              <a:buChar char="v"/>
            </a:pPr>
            <a:r>
              <a:rPr lang="es-ES" sz="2400" dirty="0">
                <a:solidFill>
                  <a:srgbClr val="7030A0"/>
                </a:solidFill>
              </a:rPr>
              <a:t>Gestionar Sobrepasos de Inscripción</a:t>
            </a:r>
          </a:p>
          <a:p>
            <a:pPr>
              <a:buClr>
                <a:schemeClr val="bg2">
                  <a:lumMod val="10000"/>
                </a:schemeClr>
              </a:buClr>
              <a:buFont typeface="Wingdings" panose="05000000000000000000" pitchFamily="2" charset="2"/>
              <a:buChar char="v"/>
            </a:pPr>
            <a:r>
              <a:rPr lang="es-ES" sz="2400" dirty="0">
                <a:solidFill>
                  <a:srgbClr val="7030A0"/>
                </a:solidFill>
              </a:rPr>
              <a:t>Gestionar Retiro de Cursos por Autoservicio</a:t>
            </a: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a:p>
            <a:pPr marL="285750" indent="-285750">
              <a:buClr>
                <a:srgbClr val="0CB4B4"/>
              </a:buClr>
              <a:buFont typeface="Wingdings" panose="05000000000000000000" pitchFamily="2" charset="2"/>
              <a:buChar char="q"/>
            </a:pPr>
            <a:endParaRPr lang="es-ES" sz="2400" dirty="0">
              <a:solidFill>
                <a:srgbClr val="7030A0"/>
              </a:solidFill>
            </a:endParaRPr>
          </a:p>
        </p:txBody>
      </p:sp>
      <p:sp>
        <p:nvSpPr>
          <p:cNvPr id="4" name="Título 3">
            <a:extLst>
              <a:ext uri="{FF2B5EF4-FFF2-40B4-BE49-F238E27FC236}">
                <a16:creationId xmlns:a16="http://schemas.microsoft.com/office/drawing/2014/main" id="{296A5721-C06B-CE2D-66A9-59404F187719}"/>
              </a:ext>
            </a:extLst>
          </p:cNvPr>
          <p:cNvSpPr>
            <a:spLocks noGrp="1"/>
          </p:cNvSpPr>
          <p:nvPr>
            <p:ph type="title"/>
          </p:nvPr>
        </p:nvSpPr>
        <p:spPr>
          <a:xfrm>
            <a:off x="924354" y="236522"/>
            <a:ext cx="10477497" cy="898555"/>
          </a:xfrm>
        </p:spPr>
        <p:txBody>
          <a:bodyPr/>
          <a:lstStyle/>
          <a:p>
            <a:r>
              <a:rPr lang="es-ES_tradnl" sz="3200"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CL" dirty="0">
              <a:solidFill>
                <a:schemeClr val="tx2"/>
              </a:solidFill>
            </a:endParaRPr>
          </a:p>
        </p:txBody>
      </p:sp>
      <p:sp>
        <p:nvSpPr>
          <p:cNvPr id="7" name="Vertical Text Placeholder 3">
            <a:extLst>
              <a:ext uri="{FF2B5EF4-FFF2-40B4-BE49-F238E27FC236}">
                <a16:creationId xmlns:a16="http://schemas.microsoft.com/office/drawing/2014/main" id="{C031A173-880F-0E1B-25E5-A1B03E6E36AE}"/>
              </a:ext>
            </a:extLst>
          </p:cNvPr>
          <p:cNvSpPr txBox="1">
            <a:spLocks/>
          </p:cNvSpPr>
          <p:nvPr/>
        </p:nvSpPr>
        <p:spPr>
          <a:xfrm rot="10800000">
            <a:off x="0" y="596660"/>
            <a:ext cx="609600" cy="5486399"/>
          </a:xfrm>
          <a:prstGeom prst="rect">
            <a:avLst/>
          </a:prstGeom>
        </p:spPr>
        <p:txBody>
          <a:bodyPr vert="eaVert" lIns="0" tIns="0" rIns="0" bIns="0" rtlCol="0" anchor="ctr">
            <a:noAutofit/>
          </a:bodyPr>
          <a:lstStyle>
            <a:lvl1pPr marL="0" indent="0" algn="ctr" defTabSz="914400" rtl="0" eaLnBrk="1" latinLnBrk="0" hangingPunct="1">
              <a:lnSpc>
                <a:spcPct val="110000"/>
              </a:lnSpc>
              <a:spcBef>
                <a:spcPts val="0"/>
              </a:spcBef>
              <a:spcAft>
                <a:spcPts val="600"/>
              </a:spcAft>
              <a:buFont typeface="Arial" panose="020B0604020202020204" pitchFamily="34" charset="0"/>
              <a:buNone/>
              <a:defRPr sz="1200" kern="1200" spc="300">
                <a:solidFill>
                  <a:schemeClr val="bg1">
                    <a:lumMod val="50000"/>
                  </a:schemeClr>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´Gestión de la Inscripción Académica</a:t>
            </a:r>
          </a:p>
        </p:txBody>
      </p:sp>
    </p:spTree>
    <p:extLst>
      <p:ext uri="{BB962C8B-B14F-4D97-AF65-F5344CB8AC3E}">
        <p14:creationId xmlns:p14="http://schemas.microsoft.com/office/powerpoint/2010/main" val="1678756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err="1">
                <a:solidFill>
                  <a:schemeClr val="tx2"/>
                </a:solidFill>
              </a:rPr>
              <a:t>Overview</a:t>
            </a:r>
            <a:r>
              <a:rPr lang="es-ES_tradnl" dirty="0">
                <a:solidFill>
                  <a:schemeClr val="tx2"/>
                </a:solidFill>
              </a:rPr>
              <a:t>: Capacidad operativa </a:t>
            </a:r>
            <a:r>
              <a:rPr lang="es-419" dirty="0">
                <a:solidFill>
                  <a:schemeClr val="tx2"/>
                </a:solidFill>
              </a:rPr>
              <a:t>Gestionar la inscripción de cursos</a:t>
            </a:r>
            <a:endParaRPr lang="es-419" sz="3200" dirty="0"/>
          </a:p>
        </p:txBody>
      </p:sp>
      <p:pic>
        <p:nvPicPr>
          <p:cNvPr id="2" name="Picture 49">
            <a:extLst>
              <a:ext uri="{FF2B5EF4-FFF2-40B4-BE49-F238E27FC236}">
                <a16:creationId xmlns:a16="http://schemas.microsoft.com/office/drawing/2014/main" id="{F747E82D-4004-F481-DBFE-93BF2BFB3E56}"/>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34" r="840" b="2225"/>
          <a:stretch>
            <a:fillRect/>
          </a:stretch>
        </p:blipFill>
        <p:spPr bwMode="auto">
          <a:xfrm>
            <a:off x="1457864" y="1803624"/>
            <a:ext cx="9622905" cy="3372226"/>
          </a:xfrm>
          <a:prstGeom prst="rect">
            <a:avLst/>
          </a:prstGeom>
          <a:noFill/>
          <a:ln>
            <a:noFill/>
          </a:ln>
          <a:extLst>
            <a:ext uri="{53640926-AAD7-44D8-BBD7-CCE9431645EC}">
              <a14:shadowObscured xmlns:a14="http://schemas.microsoft.com/office/drawing/2010/main"/>
            </a:ext>
          </a:extLst>
        </p:spPr>
      </p:pic>
      <p:sp>
        <p:nvSpPr>
          <p:cNvPr id="7" name="Vertical Text Placeholder 3">
            <a:extLst>
              <a:ext uri="{FF2B5EF4-FFF2-40B4-BE49-F238E27FC236}">
                <a16:creationId xmlns:a16="http://schemas.microsoft.com/office/drawing/2014/main" id="{13913AA1-AF07-8DBA-ED4D-D5C0F670DEA1}"/>
              </a:ext>
            </a:extLst>
          </p:cNvPr>
          <p:cNvSpPr>
            <a:spLocks noGrp="1"/>
          </p:cNvSpPr>
          <p:nvPr>
            <p:ph type="body" orient="vert" sz="quarter" idx="17"/>
          </p:nvPr>
        </p:nvSpPr>
        <p:spPr>
          <a:xfrm rot="10800000">
            <a:off x="0" y="685800"/>
            <a:ext cx="609600" cy="5486399"/>
          </a:xfrm>
        </p:spPr>
        <p:txBody>
          <a:bodyPr/>
          <a:lstStyle/>
          <a:p>
            <a:r>
              <a:rPr lang="es-419" sz="1200" dirty="0"/>
              <a:t>´Gestión de la Inscripción Académica</a:t>
            </a:r>
          </a:p>
        </p:txBody>
      </p:sp>
    </p:spTree>
    <p:extLst>
      <p:ext uri="{BB962C8B-B14F-4D97-AF65-F5344CB8AC3E}">
        <p14:creationId xmlns:p14="http://schemas.microsoft.com/office/powerpoint/2010/main" val="3593469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Gestionar los sobrepasos de inscripción</a:t>
            </a:r>
            <a:endParaRPr lang="es-419" dirty="0"/>
          </a:p>
        </p:txBody>
      </p:sp>
      <p:pic>
        <p:nvPicPr>
          <p:cNvPr id="8" name="Imagen 7" descr="Imagen que contiene texto, mapa&#10;&#10;Descripción generada automáticamente">
            <a:extLst>
              <a:ext uri="{FF2B5EF4-FFF2-40B4-BE49-F238E27FC236}">
                <a16:creationId xmlns:a16="http://schemas.microsoft.com/office/drawing/2014/main" id="{171DEDFE-F050-E179-A066-C9F72BC68D9D}"/>
              </a:ext>
            </a:extLst>
          </p:cNvPr>
          <p:cNvPicPr>
            <a:picLocks noChangeAspect="1"/>
          </p:cNvPicPr>
          <p:nvPr/>
        </p:nvPicPr>
        <p:blipFill rotWithShape="1">
          <a:blip r:embed="rId2"/>
          <a:srcRect l="14657" t="34650" b="2103"/>
          <a:stretch/>
        </p:blipFill>
        <p:spPr>
          <a:xfrm>
            <a:off x="4765039" y="1415833"/>
            <a:ext cx="4750021" cy="5049719"/>
          </a:xfrm>
          <a:prstGeom prst="rect">
            <a:avLst/>
          </a:prstGeom>
        </p:spPr>
      </p:pic>
      <p:sp>
        <p:nvSpPr>
          <p:cNvPr id="9" name="CuadroTexto 8">
            <a:extLst>
              <a:ext uri="{FF2B5EF4-FFF2-40B4-BE49-F238E27FC236}">
                <a16:creationId xmlns:a16="http://schemas.microsoft.com/office/drawing/2014/main" id="{CDA0D89D-33DC-4151-D805-A43C6E21B822}"/>
              </a:ext>
            </a:extLst>
          </p:cNvPr>
          <p:cNvSpPr txBox="1"/>
          <p:nvPr/>
        </p:nvSpPr>
        <p:spPr>
          <a:xfrm>
            <a:off x="8921175" y="2785533"/>
            <a:ext cx="2111475" cy="584775"/>
          </a:xfrm>
          <a:prstGeom prst="rect">
            <a:avLst/>
          </a:prstGeom>
          <a:noFill/>
        </p:spPr>
        <p:txBody>
          <a:bodyPr wrap="none" rtlCol="0">
            <a:spAutoFit/>
          </a:bodyPr>
          <a:lstStyle/>
          <a:p>
            <a:r>
              <a:rPr lang="es-ES_tradnl" sz="3200" b="1" dirty="0"/>
              <a:t>Todo LAC</a:t>
            </a:r>
          </a:p>
        </p:txBody>
      </p:sp>
      <p:sp>
        <p:nvSpPr>
          <p:cNvPr id="7" name="Título 3">
            <a:extLst>
              <a:ext uri="{FF2B5EF4-FFF2-40B4-BE49-F238E27FC236}">
                <a16:creationId xmlns:a16="http://schemas.microsoft.com/office/drawing/2014/main" id="{41A78240-C607-71D5-FFEE-AC493BD21BE1}"/>
              </a:ext>
            </a:extLst>
          </p:cNvPr>
          <p:cNvSpPr txBox="1">
            <a:spLocks/>
          </p:cNvSpPr>
          <p:nvPr/>
        </p:nvSpPr>
        <p:spPr>
          <a:xfrm>
            <a:off x="1104900" y="276729"/>
            <a:ext cx="10477497" cy="104674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Macroproceso </a:t>
            </a:r>
            <a:r>
              <a:rPr lang="es-419" dirty="0">
                <a:solidFill>
                  <a:schemeClr val="tx2"/>
                </a:solidFill>
              </a:rPr>
              <a:t>Gestionar la inscripción de cursos – Inscripción de Cursos</a:t>
            </a:r>
          </a:p>
        </p:txBody>
      </p:sp>
    </p:spTree>
    <p:extLst>
      <p:ext uri="{BB962C8B-B14F-4D97-AF65-F5344CB8AC3E}">
        <p14:creationId xmlns:p14="http://schemas.microsoft.com/office/powerpoint/2010/main" val="14480981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22BE24A3-7467-74A8-A973-F32D51EBA4D3}"/>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6" name="Título 3">
            <a:extLst>
              <a:ext uri="{FF2B5EF4-FFF2-40B4-BE49-F238E27FC236}">
                <a16:creationId xmlns:a16="http://schemas.microsoft.com/office/drawing/2014/main" id="{CCA54959-6279-D1AE-349E-8840E0B3CBEC}"/>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Procedimiento</a:t>
            </a:r>
            <a:r>
              <a:rPr lang="es-CO" dirty="0">
                <a:solidFill>
                  <a:schemeClr val="tx2"/>
                </a:solidFill>
              </a:rPr>
              <a:t> </a:t>
            </a:r>
            <a:r>
              <a:rPr lang="es-419" dirty="0">
                <a:solidFill>
                  <a:schemeClr val="tx2"/>
                </a:solidFill>
              </a:rPr>
              <a:t>Gestionar los sobrepasos de inscripción</a:t>
            </a:r>
          </a:p>
        </p:txBody>
      </p:sp>
      <p:pic>
        <p:nvPicPr>
          <p:cNvPr id="5" name="Imagen 4" descr="Diagrama&#10;&#10;Descripción generada automáticamente">
            <a:extLst>
              <a:ext uri="{FF2B5EF4-FFF2-40B4-BE49-F238E27FC236}">
                <a16:creationId xmlns:a16="http://schemas.microsoft.com/office/drawing/2014/main" id="{F48F41D8-79A5-F0F1-CA43-5A809C7D2FC4}"/>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339" t="3985" r="4241" b="3485"/>
          <a:stretch/>
        </p:blipFill>
        <p:spPr bwMode="auto">
          <a:xfrm>
            <a:off x="1647731" y="1869013"/>
            <a:ext cx="9566248" cy="335483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755469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C5A6BF-A195-B50F-C3BB-73FFCB6357F8}"/>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51945B24-A53A-5B2A-A335-1B6099500175}"/>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7" name="Título 3">
            <a:extLst>
              <a:ext uri="{FF2B5EF4-FFF2-40B4-BE49-F238E27FC236}">
                <a16:creationId xmlns:a16="http://schemas.microsoft.com/office/drawing/2014/main" id="{66B5A0C4-0379-D054-42EB-7E956BE2ED30}"/>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CO" dirty="0">
                <a:solidFill>
                  <a:schemeClr val="tx2"/>
                </a:solidFill>
              </a:rPr>
              <a:t>Procedimiento </a:t>
            </a:r>
            <a:r>
              <a:rPr lang="es-419" dirty="0">
                <a:solidFill>
                  <a:schemeClr val="tx2"/>
                </a:solidFill>
              </a:rPr>
              <a:t>Gestionar los sobrepasos de inscripción</a:t>
            </a:r>
          </a:p>
        </p:txBody>
      </p:sp>
      <p:sp>
        <p:nvSpPr>
          <p:cNvPr id="4" name="Marcador de texto 1">
            <a:extLst>
              <a:ext uri="{FF2B5EF4-FFF2-40B4-BE49-F238E27FC236}">
                <a16:creationId xmlns:a16="http://schemas.microsoft.com/office/drawing/2014/main" id="{07B16285-E536-FD06-1C3C-4C5E637169C0}"/>
              </a:ext>
            </a:extLst>
          </p:cNvPr>
          <p:cNvSpPr txBox="1">
            <a:spLocks/>
          </p:cNvSpPr>
          <p:nvPr/>
        </p:nvSpPr>
        <p:spPr>
          <a:xfrm>
            <a:off x="1041816" y="2263515"/>
            <a:ext cx="10350709" cy="3651372"/>
          </a:xfrm>
          <a:prstGeom prst="rect">
            <a:avLst/>
          </a:prstGeom>
        </p:spPr>
        <p:txBody>
          <a:bodyPr vert="horz" lIns="91440" tIns="45720" rIns="91440" bIns="45720" rtlCol="0" anchor="t">
            <a:noAutofit/>
          </a:bodyPr>
          <a:lstStyle>
            <a:lvl1pPr marL="174625" indent="-174625" algn="l" defTabSz="914400" rtl="0" eaLnBrk="1" latinLnBrk="0" hangingPunct="1">
              <a:lnSpc>
                <a:spcPct val="100000"/>
              </a:lnSpc>
              <a:spcBef>
                <a:spcPts val="1000"/>
              </a:spcBef>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v"/>
            </a:pPr>
            <a:r>
              <a:rPr lang="es-419" sz="2400" dirty="0">
                <a:solidFill>
                  <a:srgbClr val="7030A0"/>
                </a:solidFill>
              </a:rPr>
              <a:t>Ellucian Student realiza una verificación de error de inscripción en la cual pudiera obtener como salida: </a:t>
            </a:r>
          </a:p>
          <a:p>
            <a:pPr marL="854075" lvl="3" indent="-342900" algn="just">
              <a:buClr>
                <a:schemeClr val="tx1"/>
              </a:buClr>
              <a:buFont typeface="Wingdings" panose="05000000000000000000" pitchFamily="2" charset="2"/>
              <a:buChar char="ü"/>
            </a:pPr>
            <a:r>
              <a:rPr lang="es-419" sz="2400" dirty="0">
                <a:solidFill>
                  <a:srgbClr val="7030A0"/>
                </a:solidFill>
              </a:rPr>
              <a:t>Error fatal: estudiante no puede inscribir esta asignatura debido a este error</a:t>
            </a:r>
          </a:p>
          <a:p>
            <a:pPr marL="854075" lvl="3" indent="-342900" algn="just">
              <a:buClr>
                <a:schemeClr val="tx1"/>
              </a:buClr>
              <a:buFont typeface="Wingdings" panose="05000000000000000000" pitchFamily="2" charset="2"/>
              <a:buChar char="ü"/>
            </a:pPr>
            <a:r>
              <a:rPr lang="es-419" sz="2400" dirty="0">
                <a:solidFill>
                  <a:srgbClr val="7030A0"/>
                </a:solidFill>
              </a:rPr>
              <a:t>Alerta: estudiante puede inscribir la asignatura con la advertencia del error.</a:t>
            </a:r>
          </a:p>
          <a:p>
            <a:pPr marL="854075" lvl="3" indent="-342900" algn="just">
              <a:buClr>
                <a:schemeClr val="tx1"/>
              </a:buClr>
              <a:buFont typeface="Wingdings" panose="05000000000000000000" pitchFamily="2" charset="2"/>
              <a:buChar char="ü"/>
            </a:pPr>
            <a:r>
              <a:rPr lang="es-419" sz="2400" dirty="0">
                <a:solidFill>
                  <a:srgbClr val="7030A0"/>
                </a:solidFill>
              </a:rPr>
              <a:t>No verificar: no se realiza la verificación del potencial error.</a:t>
            </a:r>
          </a:p>
        </p:txBody>
      </p:sp>
    </p:spTree>
    <p:extLst>
      <p:ext uri="{BB962C8B-B14F-4D97-AF65-F5344CB8AC3E}">
        <p14:creationId xmlns:p14="http://schemas.microsoft.com/office/powerpoint/2010/main" val="4032646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02345-16AE-BE9B-387E-077965EDFA34}"/>
            </a:ext>
          </a:extLst>
        </p:cNvPr>
        <p:cNvGrpSpPr/>
        <p:nvPr/>
      </p:nvGrpSpPr>
      <p:grpSpPr>
        <a:xfrm>
          <a:off x="0" y="0"/>
          <a:ext cx="0" cy="0"/>
          <a:chOff x="0" y="0"/>
          <a:chExt cx="0" cy="0"/>
        </a:xfrm>
      </p:grpSpPr>
      <p:sp>
        <p:nvSpPr>
          <p:cNvPr id="3" name="Marcador de texto vertical 2">
            <a:extLst>
              <a:ext uri="{FF2B5EF4-FFF2-40B4-BE49-F238E27FC236}">
                <a16:creationId xmlns:a16="http://schemas.microsoft.com/office/drawing/2014/main" id="{36502B49-8058-B5E2-D67C-4BD0AD394954}"/>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7" name="Título 3">
            <a:extLst>
              <a:ext uri="{FF2B5EF4-FFF2-40B4-BE49-F238E27FC236}">
                <a16:creationId xmlns:a16="http://schemas.microsoft.com/office/drawing/2014/main" id="{12B08074-D481-5FE6-26CD-2F7F8DBBB8BF}"/>
              </a:ext>
            </a:extLst>
          </p:cNvPr>
          <p:cNvSpPr txBox="1">
            <a:spLocks/>
          </p:cNvSpPr>
          <p:nvPr/>
        </p:nvSpPr>
        <p:spPr>
          <a:xfrm>
            <a:off x="1104900" y="452120"/>
            <a:ext cx="10477497" cy="898555"/>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s-ES_tradnl" dirty="0">
                <a:solidFill>
                  <a:schemeClr val="tx2"/>
                </a:solidFill>
              </a:rPr>
              <a:t>Overview: </a:t>
            </a:r>
            <a:r>
              <a:rPr lang="es-CO" dirty="0">
                <a:solidFill>
                  <a:schemeClr val="tx2"/>
                </a:solidFill>
              </a:rPr>
              <a:t>Procedimiento</a:t>
            </a:r>
            <a:r>
              <a:rPr lang="es-419" dirty="0">
                <a:solidFill>
                  <a:schemeClr val="tx2"/>
                </a:solidFill>
              </a:rPr>
              <a:t> Gestionar los sobrepasos de inscripción</a:t>
            </a:r>
          </a:p>
        </p:txBody>
      </p:sp>
      <p:sp>
        <p:nvSpPr>
          <p:cNvPr id="4" name="Marcador de texto 1">
            <a:extLst>
              <a:ext uri="{FF2B5EF4-FFF2-40B4-BE49-F238E27FC236}">
                <a16:creationId xmlns:a16="http://schemas.microsoft.com/office/drawing/2014/main" id="{16DA26D8-872C-923D-0177-5BD119A19FC4}"/>
              </a:ext>
            </a:extLst>
          </p:cNvPr>
          <p:cNvSpPr txBox="1">
            <a:spLocks/>
          </p:cNvSpPr>
          <p:nvPr/>
        </p:nvSpPr>
        <p:spPr>
          <a:xfrm>
            <a:off x="1041816" y="2263515"/>
            <a:ext cx="10350709" cy="3651372"/>
          </a:xfrm>
          <a:prstGeom prst="rect">
            <a:avLst/>
          </a:prstGeom>
        </p:spPr>
        <p:txBody>
          <a:bodyPr vert="horz" lIns="91440" tIns="45720" rIns="91440" bIns="45720" rtlCol="0" anchor="t">
            <a:noAutofit/>
          </a:bodyPr>
          <a:lstStyle>
            <a:lvl1pPr marL="174625" indent="-174625" algn="l" defTabSz="914400" rtl="0" eaLnBrk="1" latinLnBrk="0" hangingPunct="1">
              <a:lnSpc>
                <a:spcPct val="100000"/>
              </a:lnSpc>
              <a:spcBef>
                <a:spcPts val="1000"/>
              </a:spcBef>
              <a:buClr>
                <a:schemeClr val="accent2"/>
              </a:buClr>
              <a:buFont typeface="Arial" panose="020B0604020202020204" pitchFamily="34" charset="0"/>
              <a:buChar char="•"/>
              <a:tabLst/>
              <a:defRPr sz="1600" kern="1200">
                <a:solidFill>
                  <a:schemeClr val="tx1"/>
                </a:solidFill>
                <a:latin typeface="+mn-lt"/>
                <a:ea typeface="+mn-ea"/>
                <a:cs typeface="+mn-cs"/>
              </a:defRPr>
            </a:lvl1pPr>
            <a:lvl2pPr marL="342900" indent="-168275"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2pPr>
            <a:lvl3pPr marL="5191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3pPr>
            <a:lvl4pPr marL="685800" indent="-166688"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4pPr>
            <a:lvl5pPr marL="862013" indent="-176213" algn="l" defTabSz="914400" rtl="0" eaLnBrk="1" latinLnBrk="0" hangingPunct="1">
              <a:lnSpc>
                <a:spcPct val="100000"/>
              </a:lnSpc>
              <a:spcBef>
                <a:spcPts val="500"/>
              </a:spcBef>
              <a:buClr>
                <a:schemeClr val="accent2"/>
              </a:buClr>
              <a:buFont typeface="Arial" panose="020B0604020202020204" pitchFamily="34" charset="0"/>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Clr>
                <a:schemeClr val="tx1"/>
              </a:buClr>
              <a:buFont typeface="Wingdings" panose="05000000000000000000" pitchFamily="2" charset="2"/>
              <a:buChar char="v"/>
            </a:pPr>
            <a:r>
              <a:rPr lang="es-CL" sz="2400" dirty="0">
                <a:solidFill>
                  <a:srgbClr val="7030A0"/>
                </a:solidFill>
              </a:rPr>
              <a:t>La institución puede generar sobrepasos de inscripción con las que se evitaría que se verificarán algunos potenciales errores.</a:t>
            </a:r>
          </a:p>
          <a:p>
            <a:pPr algn="just">
              <a:buClr>
                <a:schemeClr val="tx1"/>
              </a:buClr>
              <a:buFont typeface="Wingdings" panose="05000000000000000000" pitchFamily="2" charset="2"/>
              <a:buChar char="v"/>
            </a:pPr>
            <a:r>
              <a:rPr lang="es-CL" sz="2400" dirty="0">
                <a:solidFill>
                  <a:srgbClr val="7030A0"/>
                </a:solidFill>
              </a:rPr>
              <a:t>Los sobre pasos pueden ser asignados a un NRC y/o a una asignatura.</a:t>
            </a:r>
          </a:p>
          <a:p>
            <a:pPr algn="just">
              <a:buClr>
                <a:schemeClr val="tx1"/>
              </a:buClr>
              <a:buFont typeface="Wingdings" panose="05000000000000000000" pitchFamily="2" charset="2"/>
              <a:buChar char="v"/>
            </a:pPr>
            <a:r>
              <a:rPr lang="es-CL" sz="2400" dirty="0">
                <a:solidFill>
                  <a:srgbClr val="7030A0"/>
                </a:solidFill>
              </a:rPr>
              <a:t>El funcional administrativo puede sobrepasar manualmente un error de inscripción directamente en SFAREGS en caso de que el estudiante no tenga una sobre paso previamente asignado.</a:t>
            </a:r>
            <a:endParaRPr lang="es-419" sz="2400" dirty="0">
              <a:solidFill>
                <a:srgbClr val="7030A0"/>
              </a:solidFill>
            </a:endParaRPr>
          </a:p>
        </p:txBody>
      </p:sp>
    </p:spTree>
    <p:extLst>
      <p:ext uri="{BB962C8B-B14F-4D97-AF65-F5344CB8AC3E}">
        <p14:creationId xmlns:p14="http://schemas.microsoft.com/office/powerpoint/2010/main" val="41719329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61C17162-17F1-530F-F6BC-4203C78DA55D}"/>
              </a:ext>
            </a:extLst>
          </p:cNvPr>
          <p:cNvSpPr>
            <a:spLocks noGrp="1"/>
          </p:cNvSpPr>
          <p:nvPr>
            <p:ph type="body" orient="vert" sz="quarter" idx="10"/>
          </p:nvPr>
        </p:nvSpPr>
        <p:spPr/>
        <p:txBody>
          <a:bodyPr/>
          <a:lstStyle/>
          <a:p>
            <a:r>
              <a:rPr lang="es-419" sz="1200" dirty="0"/>
              <a:t>Gestionar los sobrepasos de inscripción</a:t>
            </a:r>
            <a:endParaRPr lang="es-419" dirty="0"/>
          </a:p>
        </p:txBody>
      </p:sp>
      <p:sp>
        <p:nvSpPr>
          <p:cNvPr id="16" name="Title 15">
            <a:extLst>
              <a:ext uri="{FF2B5EF4-FFF2-40B4-BE49-F238E27FC236}">
                <a16:creationId xmlns:a16="http://schemas.microsoft.com/office/drawing/2014/main" id="{E36F486A-1A18-4A72-1755-E54B412B189B}"/>
              </a:ext>
            </a:extLst>
          </p:cNvPr>
          <p:cNvSpPr>
            <a:spLocks noGrp="1"/>
          </p:cNvSpPr>
          <p:nvPr>
            <p:ph type="title"/>
          </p:nvPr>
        </p:nvSpPr>
        <p:spPr/>
        <p:txBody>
          <a:bodyPr/>
          <a:lstStyle/>
          <a:p>
            <a:r>
              <a:rPr lang="en-US" dirty="0"/>
              <a:t>CONFIGURACIONES</a:t>
            </a:r>
          </a:p>
        </p:txBody>
      </p:sp>
      <p:sp>
        <p:nvSpPr>
          <p:cNvPr id="17" name="Text Placeholder 16">
            <a:extLst>
              <a:ext uri="{FF2B5EF4-FFF2-40B4-BE49-F238E27FC236}">
                <a16:creationId xmlns:a16="http://schemas.microsoft.com/office/drawing/2014/main" id="{4B4C8632-4464-5AEC-A279-4414A5A8BC79}"/>
              </a:ext>
            </a:extLst>
          </p:cNvPr>
          <p:cNvSpPr>
            <a:spLocks noGrp="1"/>
          </p:cNvSpPr>
          <p:nvPr>
            <p:ph type="body" sz="quarter" idx="18"/>
          </p:nvPr>
        </p:nvSpPr>
        <p:spPr/>
        <p:txBody>
          <a:bodyPr/>
          <a:lstStyle/>
          <a:p>
            <a:endParaRPr lang="en-US" dirty="0"/>
          </a:p>
        </p:txBody>
      </p:sp>
    </p:spTree>
    <p:extLst>
      <p:ext uri="{BB962C8B-B14F-4D97-AF65-F5344CB8AC3E}">
        <p14:creationId xmlns:p14="http://schemas.microsoft.com/office/powerpoint/2010/main" val="690636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311297-B49C-6AD8-5522-E65ECDAB458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102B5E24-5687-4BBB-C68D-A0FD3590C2ED}"/>
              </a:ext>
            </a:extLst>
          </p:cNvPr>
          <p:cNvSpPr>
            <a:spLocks noGrp="1"/>
          </p:cNvSpPr>
          <p:nvPr>
            <p:ph type="body" sz="quarter" idx="10"/>
          </p:nvPr>
        </p:nvSpPr>
        <p:spPr>
          <a:xfrm>
            <a:off x="914399" y="2238843"/>
            <a:ext cx="10363202" cy="669094"/>
          </a:xfrm>
        </p:spPr>
        <p:txBody>
          <a:bodyPr/>
          <a:lstStyle/>
          <a:p>
            <a:r>
              <a:rPr lang="es-ES_tradnl" dirty="0"/>
              <a:t>Control de periodo</a:t>
            </a:r>
            <a:endParaRPr lang="es-419" dirty="0"/>
          </a:p>
        </p:txBody>
      </p:sp>
      <p:sp>
        <p:nvSpPr>
          <p:cNvPr id="2" name="Marcador de texto vertical 1">
            <a:extLst>
              <a:ext uri="{FF2B5EF4-FFF2-40B4-BE49-F238E27FC236}">
                <a16:creationId xmlns:a16="http://schemas.microsoft.com/office/drawing/2014/main" id="{41A4F1AF-41B9-A9FE-872A-B9D5B14AC4B3}"/>
              </a:ext>
            </a:extLst>
          </p:cNvPr>
          <p:cNvSpPr>
            <a:spLocks noGrp="1"/>
          </p:cNvSpPr>
          <p:nvPr>
            <p:ph type="body" sz="quarter" idx="11"/>
          </p:nvPr>
        </p:nvSpPr>
        <p:spPr/>
        <p:txBody>
          <a:bodyPr vert="horz" lIns="0" tIns="0" rIns="0" bIns="0" rtlCol="0">
            <a:spAutoFit/>
          </a:bodyPr>
          <a:lstStyle/>
          <a:p>
            <a:r>
              <a:rPr lang="es-419" dirty="0"/>
              <a:t>Gestionar los sobrepasos de inscripción</a:t>
            </a:r>
          </a:p>
        </p:txBody>
      </p:sp>
    </p:spTree>
    <p:extLst>
      <p:ext uri="{BB962C8B-B14F-4D97-AF65-F5344CB8AC3E}">
        <p14:creationId xmlns:p14="http://schemas.microsoft.com/office/powerpoint/2010/main" val="4515303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28A75-B353-F3AC-0889-50B2C9DBFCA3}"/>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5890D531-F902-6000-9721-972A7FDBAC6E}"/>
              </a:ext>
            </a:extLst>
          </p:cNvPr>
          <p:cNvPicPr>
            <a:picLocks noChangeAspect="1"/>
          </p:cNvPicPr>
          <p:nvPr/>
        </p:nvPicPr>
        <p:blipFill>
          <a:blip r:embed="rId3"/>
          <a:stretch>
            <a:fillRect/>
          </a:stretch>
        </p:blipFill>
        <p:spPr>
          <a:xfrm>
            <a:off x="775507" y="1029664"/>
            <a:ext cx="11141798" cy="4979737"/>
          </a:xfrm>
          <a:prstGeom prst="rect">
            <a:avLst/>
          </a:prstGeom>
        </p:spPr>
      </p:pic>
      <p:sp>
        <p:nvSpPr>
          <p:cNvPr id="2" name="Marcador de texto vertical 1">
            <a:extLst>
              <a:ext uri="{FF2B5EF4-FFF2-40B4-BE49-F238E27FC236}">
                <a16:creationId xmlns:a16="http://schemas.microsoft.com/office/drawing/2014/main" id="{582C77CB-5DB3-EA38-751A-F546743CBC8A}"/>
              </a:ext>
            </a:extLst>
          </p:cNvPr>
          <p:cNvSpPr>
            <a:spLocks noGrp="1"/>
          </p:cNvSpPr>
          <p:nvPr>
            <p:ph type="body" orient="vert" sz="quarter" idx="17"/>
          </p:nvPr>
        </p:nvSpPr>
        <p:spPr/>
        <p:txBody>
          <a:bodyPr/>
          <a:lstStyle/>
          <a:p>
            <a:r>
              <a:rPr lang="es-419" sz="1200" dirty="0"/>
              <a:t>Ejecutar la inscripción de cursos por autoservicio básico</a:t>
            </a:r>
            <a:endParaRPr lang="es-419" dirty="0"/>
          </a:p>
        </p:txBody>
      </p:sp>
      <p:sp>
        <p:nvSpPr>
          <p:cNvPr id="13" name="Title 12">
            <a:extLst>
              <a:ext uri="{FF2B5EF4-FFF2-40B4-BE49-F238E27FC236}">
                <a16:creationId xmlns:a16="http://schemas.microsoft.com/office/drawing/2014/main" id="{D3E2CF92-01EB-27F4-E2F0-1411752A91E9}"/>
              </a:ext>
            </a:extLst>
          </p:cNvPr>
          <p:cNvSpPr>
            <a:spLocks noGrp="1"/>
          </p:cNvSpPr>
          <p:nvPr>
            <p:ph type="title"/>
          </p:nvPr>
        </p:nvSpPr>
        <p:spPr>
          <a:xfrm>
            <a:off x="938996" y="304614"/>
            <a:ext cx="10477497" cy="898555"/>
          </a:xfrm>
        </p:spPr>
        <p:txBody>
          <a:bodyPr/>
          <a:lstStyle/>
          <a:p>
            <a:r>
              <a:rPr lang="es-ES_tradnl" dirty="0">
                <a:solidFill>
                  <a:schemeClr val="tx2"/>
                </a:solidFill>
              </a:rPr>
              <a:t>Control de periodo (SOATERM)</a:t>
            </a:r>
          </a:p>
        </p:txBody>
      </p:sp>
      <p:sp>
        <p:nvSpPr>
          <p:cNvPr id="17" name="Rectángulo 16">
            <a:extLst>
              <a:ext uri="{FF2B5EF4-FFF2-40B4-BE49-F238E27FC236}">
                <a16:creationId xmlns:a16="http://schemas.microsoft.com/office/drawing/2014/main" id="{F0AE4108-D870-75D2-2AF8-85194FBE3CF2}"/>
              </a:ext>
            </a:extLst>
          </p:cNvPr>
          <p:cNvSpPr/>
          <p:nvPr/>
        </p:nvSpPr>
        <p:spPr>
          <a:xfrm>
            <a:off x="775507" y="1638300"/>
            <a:ext cx="10812836" cy="34290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esquinas redondeadas 3">
            <a:extLst>
              <a:ext uri="{FF2B5EF4-FFF2-40B4-BE49-F238E27FC236}">
                <a16:creationId xmlns:a16="http://schemas.microsoft.com/office/drawing/2014/main" id="{36D6E0A3-1811-8CF2-8147-11180A441EE3}"/>
              </a:ext>
            </a:extLst>
          </p:cNvPr>
          <p:cNvSpPr/>
          <p:nvPr/>
        </p:nvSpPr>
        <p:spPr>
          <a:xfrm>
            <a:off x="2070940" y="4280893"/>
            <a:ext cx="7629408" cy="938807"/>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Se espera que la verificación de errores de inscripción se encuentre configurada con la intención de evidenciar el uso de los sobrepasos que fueran utilizados para permitir la inscripción a pesar del “Error Fatal” que pudiera tener una inscripción de sección.</a:t>
            </a:r>
          </a:p>
        </p:txBody>
      </p:sp>
    </p:spTree>
    <p:extLst>
      <p:ext uri="{BB962C8B-B14F-4D97-AF65-F5344CB8AC3E}">
        <p14:creationId xmlns:p14="http://schemas.microsoft.com/office/powerpoint/2010/main" val="19924817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10A52-DDA3-E396-822B-416F03872106}"/>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4DB9AECA-9B8F-5835-AC6E-370355C0123A}"/>
              </a:ext>
            </a:extLst>
          </p:cNvPr>
          <p:cNvSpPr>
            <a:spLocks noGrp="1"/>
          </p:cNvSpPr>
          <p:nvPr>
            <p:ph type="body" sz="quarter" idx="10"/>
          </p:nvPr>
        </p:nvSpPr>
        <p:spPr/>
        <p:txBody>
          <a:bodyPr/>
          <a:lstStyle/>
          <a:p>
            <a:r>
              <a:rPr lang="es-419" dirty="0"/>
              <a:t>Validación de código de permiso-sobrepaso de inscripción</a:t>
            </a:r>
          </a:p>
        </p:txBody>
      </p:sp>
      <p:sp>
        <p:nvSpPr>
          <p:cNvPr id="2" name="Marcador de texto vertical 1">
            <a:extLst>
              <a:ext uri="{FF2B5EF4-FFF2-40B4-BE49-F238E27FC236}">
                <a16:creationId xmlns:a16="http://schemas.microsoft.com/office/drawing/2014/main" id="{BF6212A3-5D16-EFAD-E614-5C02AE7D01E9}"/>
              </a:ext>
            </a:extLst>
          </p:cNvPr>
          <p:cNvSpPr>
            <a:spLocks noGrp="1"/>
          </p:cNvSpPr>
          <p:nvPr>
            <p:ph type="body" sz="quarter" idx="11"/>
          </p:nvPr>
        </p:nvSpPr>
        <p:spPr/>
        <p:txBody>
          <a:bodyPr vert="horz" lIns="0" tIns="0" rIns="0" bIns="0" rtlCol="0">
            <a:spAutoFit/>
          </a:bodyPr>
          <a:lstStyle/>
          <a:p>
            <a:r>
              <a:rPr lang="es-419" dirty="0"/>
              <a:t>Gestionar los sobrepasos de inscripción</a:t>
            </a:r>
          </a:p>
        </p:txBody>
      </p:sp>
    </p:spTree>
    <p:extLst>
      <p:ext uri="{BB962C8B-B14F-4D97-AF65-F5344CB8AC3E}">
        <p14:creationId xmlns:p14="http://schemas.microsoft.com/office/powerpoint/2010/main" val="2261099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1D2BB-A408-984F-D577-25B96A91C458}"/>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776BE775-2F72-D080-2E9C-499A395E1180}"/>
              </a:ext>
            </a:extLst>
          </p:cNvPr>
          <p:cNvPicPr>
            <a:picLocks noChangeAspect="1"/>
          </p:cNvPicPr>
          <p:nvPr/>
        </p:nvPicPr>
        <p:blipFill>
          <a:blip r:embed="rId3"/>
          <a:stretch>
            <a:fillRect/>
          </a:stretch>
        </p:blipFill>
        <p:spPr>
          <a:xfrm>
            <a:off x="1027568" y="1456902"/>
            <a:ext cx="10136863" cy="4492953"/>
          </a:xfrm>
          <a:prstGeom prst="rect">
            <a:avLst/>
          </a:prstGeom>
        </p:spPr>
      </p:pic>
      <p:sp>
        <p:nvSpPr>
          <p:cNvPr id="2" name="Marcador de texto vertical 1">
            <a:extLst>
              <a:ext uri="{FF2B5EF4-FFF2-40B4-BE49-F238E27FC236}">
                <a16:creationId xmlns:a16="http://schemas.microsoft.com/office/drawing/2014/main" id="{60B9DF71-AE4E-7B53-C43E-FE1852A7B74E}"/>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7E0749CF-99DB-2B6C-78BF-A45FEC9A98D6}"/>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Validación de código de permiso-sobrepaso de inscripción (STVROVR)</a:t>
            </a:r>
            <a:br>
              <a:rPr lang="es-419" dirty="0">
                <a:solidFill>
                  <a:schemeClr val="tx2"/>
                </a:solidFill>
              </a:rPr>
            </a:br>
            <a:endParaRPr lang="es-ES_tradnl" dirty="0">
              <a:solidFill>
                <a:schemeClr val="tx2"/>
              </a:solidFill>
            </a:endParaRPr>
          </a:p>
        </p:txBody>
      </p:sp>
      <p:sp>
        <p:nvSpPr>
          <p:cNvPr id="15" name="Rectángulo: esquinas redondeadas 14">
            <a:extLst>
              <a:ext uri="{FF2B5EF4-FFF2-40B4-BE49-F238E27FC236}">
                <a16:creationId xmlns:a16="http://schemas.microsoft.com/office/drawing/2014/main" id="{1DFC9C36-C2D1-9BD2-7945-03599E669346}"/>
              </a:ext>
            </a:extLst>
          </p:cNvPr>
          <p:cNvSpPr/>
          <p:nvPr/>
        </p:nvSpPr>
        <p:spPr>
          <a:xfrm>
            <a:off x="2690959" y="3428999"/>
            <a:ext cx="7176942" cy="9525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algn="ctr"/>
            <a:r>
              <a:rPr lang="es-ES_tradnl" sz="1200" dirty="0"/>
              <a:t>En STVROVR se definen los códigos de permisos de sobrepasos que pudieran ser configurados para su uso en cada periodo académico, según corresponda al caso.</a:t>
            </a:r>
          </a:p>
        </p:txBody>
      </p:sp>
    </p:spTree>
    <p:extLst>
      <p:ext uri="{BB962C8B-B14F-4D97-AF65-F5344CB8AC3E}">
        <p14:creationId xmlns:p14="http://schemas.microsoft.com/office/powerpoint/2010/main" val="21414527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A76D3-28F6-30F6-D1BB-8243B2AB173D}"/>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8E53F393-93C8-5AF6-5748-135C4E4B1A22}"/>
              </a:ext>
            </a:extLst>
          </p:cNvPr>
          <p:cNvPicPr>
            <a:picLocks noChangeAspect="1"/>
          </p:cNvPicPr>
          <p:nvPr/>
        </p:nvPicPr>
        <p:blipFill>
          <a:blip r:embed="rId3"/>
          <a:stretch>
            <a:fillRect/>
          </a:stretch>
        </p:blipFill>
        <p:spPr>
          <a:xfrm>
            <a:off x="1369270" y="1533158"/>
            <a:ext cx="10136863" cy="4492953"/>
          </a:xfrm>
          <a:prstGeom prst="rect">
            <a:avLst/>
          </a:prstGeom>
        </p:spPr>
      </p:pic>
      <p:sp>
        <p:nvSpPr>
          <p:cNvPr id="2" name="Marcador de texto vertical 1">
            <a:extLst>
              <a:ext uri="{FF2B5EF4-FFF2-40B4-BE49-F238E27FC236}">
                <a16:creationId xmlns:a16="http://schemas.microsoft.com/office/drawing/2014/main" id="{72AA4A24-6E11-0111-11C7-AD19ADEA957D}"/>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0B1FA687-4B99-309B-F2CA-B11E2E7BCF17}"/>
              </a:ext>
            </a:extLst>
          </p:cNvPr>
          <p:cNvSpPr>
            <a:spLocks noGrp="1"/>
          </p:cNvSpPr>
          <p:nvPr>
            <p:ph type="title"/>
          </p:nvPr>
        </p:nvSpPr>
        <p:spPr>
          <a:xfrm>
            <a:off x="938996" y="304614"/>
            <a:ext cx="10477497" cy="898555"/>
          </a:xfrm>
        </p:spPr>
        <p:txBody>
          <a:bodyPr/>
          <a:lstStyle/>
          <a:p>
            <a:r>
              <a:rPr lang="es-419" dirty="0">
                <a:solidFill>
                  <a:schemeClr val="tx2"/>
                </a:solidFill>
              </a:rPr>
              <a:t>Validación de código de permiso-sobrepaso de inscripción (STVROVR)</a:t>
            </a:r>
            <a:br>
              <a:rPr lang="es-419" b="0" dirty="0">
                <a:effectLst/>
              </a:rPr>
            </a:br>
            <a:endParaRPr lang="es-ES_tradnl" b="1" dirty="0"/>
          </a:p>
        </p:txBody>
      </p:sp>
      <p:sp>
        <p:nvSpPr>
          <p:cNvPr id="15" name="Rectángulo: esquinas redondeadas 14">
            <a:extLst>
              <a:ext uri="{FF2B5EF4-FFF2-40B4-BE49-F238E27FC236}">
                <a16:creationId xmlns:a16="http://schemas.microsoft.com/office/drawing/2014/main" id="{870CD978-04BE-6AB4-CFC1-B58D7C8E1244}"/>
              </a:ext>
            </a:extLst>
          </p:cNvPr>
          <p:cNvSpPr/>
          <p:nvPr/>
        </p:nvSpPr>
        <p:spPr>
          <a:xfrm>
            <a:off x="2455203" y="4649289"/>
            <a:ext cx="7176942" cy="12192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Para ingresar un nuevo registro:</a:t>
            </a:r>
          </a:p>
          <a:p>
            <a:endParaRPr lang="es-ES_tradnl" sz="1200" dirty="0"/>
          </a:p>
          <a:p>
            <a:pPr marL="228600" indent="-228600">
              <a:buFont typeface="+mj-lt"/>
              <a:buAutoNum type="arabicPeriod"/>
            </a:pPr>
            <a:r>
              <a:rPr lang="es-ES_tradnl" sz="1200" dirty="0"/>
              <a:t> Inserte un nuevo registro presionando la opción ‘+’</a:t>
            </a:r>
          </a:p>
          <a:p>
            <a:pPr marL="228600" indent="-228600">
              <a:buFont typeface="+mj-lt"/>
              <a:buAutoNum type="arabicPeriod"/>
            </a:pPr>
            <a:r>
              <a:rPr lang="es-ES_tradnl" sz="1200" dirty="0"/>
              <a:t>Defina un código de identificación único . Máximo 10 caracteres</a:t>
            </a:r>
          </a:p>
          <a:p>
            <a:pPr marL="228600" indent="-228600">
              <a:buFont typeface="+mj-lt"/>
              <a:buAutoNum type="arabicPeriod"/>
            </a:pPr>
            <a:r>
              <a:rPr lang="es-ES_tradnl" sz="1200" dirty="0"/>
              <a:t>Ingrese la descripción  del código. Máximo 30 caracteres.</a:t>
            </a:r>
          </a:p>
          <a:p>
            <a:pPr marL="228600" indent="-228600">
              <a:buFont typeface="+mj-lt"/>
              <a:buAutoNum type="arabicPeriod"/>
            </a:pPr>
            <a:r>
              <a:rPr lang="es-ES_tradnl" sz="1200" dirty="0"/>
              <a:t>Guarde la información</a:t>
            </a:r>
          </a:p>
        </p:txBody>
      </p:sp>
      <p:sp>
        <p:nvSpPr>
          <p:cNvPr id="3" name="Rectángulo 2">
            <a:extLst>
              <a:ext uri="{FF2B5EF4-FFF2-40B4-BE49-F238E27FC236}">
                <a16:creationId xmlns:a16="http://schemas.microsoft.com/office/drawing/2014/main" id="{A6C83228-2CD2-CE7B-69B9-DCE991C3468A}"/>
              </a:ext>
            </a:extLst>
          </p:cNvPr>
          <p:cNvSpPr/>
          <p:nvPr/>
        </p:nvSpPr>
        <p:spPr>
          <a:xfrm>
            <a:off x="10860109" y="1740286"/>
            <a:ext cx="292624"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redondeado 15">
            <a:extLst>
              <a:ext uri="{FF2B5EF4-FFF2-40B4-BE49-F238E27FC236}">
                <a16:creationId xmlns:a16="http://schemas.microsoft.com/office/drawing/2014/main" id="{5C8BA79A-8BF8-A571-1664-7518E32C508E}"/>
              </a:ext>
            </a:extLst>
          </p:cNvPr>
          <p:cNvSpPr/>
          <p:nvPr/>
        </p:nvSpPr>
        <p:spPr>
          <a:xfrm>
            <a:off x="11172796" y="190110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6" name="Rectángulo 5">
            <a:extLst>
              <a:ext uri="{FF2B5EF4-FFF2-40B4-BE49-F238E27FC236}">
                <a16:creationId xmlns:a16="http://schemas.microsoft.com/office/drawing/2014/main" id="{CAC135C6-142B-9F05-7C0A-392D830E81B1}"/>
              </a:ext>
            </a:extLst>
          </p:cNvPr>
          <p:cNvSpPr/>
          <p:nvPr/>
        </p:nvSpPr>
        <p:spPr>
          <a:xfrm>
            <a:off x="1369270" y="3918506"/>
            <a:ext cx="432604" cy="1608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AC31E9AF-9405-8412-7540-A17395E02545}"/>
              </a:ext>
            </a:extLst>
          </p:cNvPr>
          <p:cNvSpPr/>
          <p:nvPr/>
        </p:nvSpPr>
        <p:spPr>
          <a:xfrm>
            <a:off x="1827274" y="40947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0" name="Rectángulo 9">
            <a:extLst>
              <a:ext uri="{FF2B5EF4-FFF2-40B4-BE49-F238E27FC236}">
                <a16:creationId xmlns:a16="http://schemas.microsoft.com/office/drawing/2014/main" id="{A366F293-7552-7F26-3B4E-C98B42E7FE39}"/>
              </a:ext>
            </a:extLst>
          </p:cNvPr>
          <p:cNvSpPr/>
          <p:nvPr/>
        </p:nvSpPr>
        <p:spPr>
          <a:xfrm>
            <a:off x="11145526" y="5736271"/>
            <a:ext cx="690874" cy="26443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redondeado 15">
            <a:extLst>
              <a:ext uri="{FF2B5EF4-FFF2-40B4-BE49-F238E27FC236}">
                <a16:creationId xmlns:a16="http://schemas.microsoft.com/office/drawing/2014/main" id="{FA4581E5-A5ED-709A-5FA8-88A0FAB949E6}"/>
              </a:ext>
            </a:extLst>
          </p:cNvPr>
          <p:cNvSpPr/>
          <p:nvPr/>
        </p:nvSpPr>
        <p:spPr>
          <a:xfrm>
            <a:off x="10994734" y="602611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2" name="Rectángulo 11">
            <a:extLst>
              <a:ext uri="{FF2B5EF4-FFF2-40B4-BE49-F238E27FC236}">
                <a16:creationId xmlns:a16="http://schemas.microsoft.com/office/drawing/2014/main" id="{8E9FB339-E195-F4AC-75C2-6A845CDD2CF3}"/>
              </a:ext>
            </a:extLst>
          </p:cNvPr>
          <p:cNvSpPr/>
          <p:nvPr/>
        </p:nvSpPr>
        <p:spPr>
          <a:xfrm>
            <a:off x="4275343" y="3991173"/>
            <a:ext cx="1474004" cy="17629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4" name="Rectángulo redondeado 15">
            <a:extLst>
              <a:ext uri="{FF2B5EF4-FFF2-40B4-BE49-F238E27FC236}">
                <a16:creationId xmlns:a16="http://schemas.microsoft.com/office/drawing/2014/main" id="{57F57FAF-D83D-F8B2-787A-5CB1A23A4BAE}"/>
              </a:ext>
            </a:extLst>
          </p:cNvPr>
          <p:cNvSpPr/>
          <p:nvPr/>
        </p:nvSpPr>
        <p:spPr>
          <a:xfrm>
            <a:off x="3788566" y="391850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Tree>
    <p:extLst>
      <p:ext uri="{BB962C8B-B14F-4D97-AF65-F5344CB8AC3E}">
        <p14:creationId xmlns:p14="http://schemas.microsoft.com/office/powerpoint/2010/main" val="1914601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53A6F-F79F-5DD7-FBDC-C5B108A366B5}"/>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33BC770B-4A5B-F2EB-E3A4-4845429A82F7}"/>
              </a:ext>
            </a:extLst>
          </p:cNvPr>
          <p:cNvSpPr>
            <a:spLocks noGrp="1"/>
          </p:cNvSpPr>
          <p:nvPr>
            <p:ph type="body" sz="quarter" idx="10"/>
          </p:nvPr>
        </p:nvSpPr>
        <p:spPr/>
        <p:txBody>
          <a:bodyPr/>
          <a:lstStyle/>
          <a:p>
            <a:r>
              <a:rPr lang="es-419" dirty="0"/>
              <a:t>Control de permiso-sobrepaso de inscripción</a:t>
            </a:r>
          </a:p>
        </p:txBody>
      </p:sp>
      <p:sp>
        <p:nvSpPr>
          <p:cNvPr id="2" name="Marcador de texto vertical 1">
            <a:extLst>
              <a:ext uri="{FF2B5EF4-FFF2-40B4-BE49-F238E27FC236}">
                <a16:creationId xmlns:a16="http://schemas.microsoft.com/office/drawing/2014/main" id="{B9177A51-0821-5BB5-C6FC-5AFAA68BA811}"/>
              </a:ext>
            </a:extLst>
          </p:cNvPr>
          <p:cNvSpPr>
            <a:spLocks noGrp="1"/>
          </p:cNvSpPr>
          <p:nvPr>
            <p:ph type="body" sz="quarter" idx="11"/>
          </p:nvPr>
        </p:nvSpPr>
        <p:spPr/>
        <p:txBody>
          <a:bodyPr vert="horz" lIns="0" tIns="0" rIns="0" bIns="0" rtlCol="0">
            <a:spAutoFit/>
          </a:bodyPr>
          <a:lstStyle/>
          <a:p>
            <a:r>
              <a:rPr lang="es-419" dirty="0"/>
              <a:t>Gestionar los sobrepasos de inscripción</a:t>
            </a:r>
          </a:p>
        </p:txBody>
      </p:sp>
    </p:spTree>
    <p:extLst>
      <p:ext uri="{BB962C8B-B14F-4D97-AF65-F5344CB8AC3E}">
        <p14:creationId xmlns:p14="http://schemas.microsoft.com/office/powerpoint/2010/main" val="33175270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91297-B0C9-B404-E67E-E12E958DB81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41028947-9BB4-CF6E-BE8D-DC681E9A7C27}"/>
              </a:ext>
            </a:extLst>
          </p:cNvPr>
          <p:cNvPicPr>
            <a:picLocks noChangeAspect="1"/>
          </p:cNvPicPr>
          <p:nvPr/>
        </p:nvPicPr>
        <p:blipFill>
          <a:blip r:embed="rId3"/>
          <a:stretch>
            <a:fillRect/>
          </a:stretch>
        </p:blipFill>
        <p:spPr>
          <a:xfrm>
            <a:off x="814812" y="1203169"/>
            <a:ext cx="11081441" cy="949116"/>
          </a:xfrm>
          <a:prstGeom prst="rect">
            <a:avLst/>
          </a:prstGeom>
        </p:spPr>
      </p:pic>
      <p:sp>
        <p:nvSpPr>
          <p:cNvPr id="2" name="Marcador de texto vertical 1">
            <a:extLst>
              <a:ext uri="{FF2B5EF4-FFF2-40B4-BE49-F238E27FC236}">
                <a16:creationId xmlns:a16="http://schemas.microsoft.com/office/drawing/2014/main" id="{E9026F54-42B4-21E4-3FA7-5BF8ED502875}"/>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3744B6A6-308E-F9EB-65EA-C0F0DA9E64CF}"/>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Control de permiso-sobrepaso de inscripción (SFAROVR)</a:t>
            </a:r>
            <a:endParaRPr lang="es-ES_tradnl" dirty="0">
              <a:solidFill>
                <a:schemeClr val="tx2"/>
              </a:solidFill>
            </a:endParaRPr>
          </a:p>
        </p:txBody>
      </p:sp>
      <p:sp>
        <p:nvSpPr>
          <p:cNvPr id="10" name="Rectángulo: esquinas redondeadas 9">
            <a:extLst>
              <a:ext uri="{FF2B5EF4-FFF2-40B4-BE49-F238E27FC236}">
                <a16:creationId xmlns:a16="http://schemas.microsoft.com/office/drawing/2014/main" id="{67B3C053-9073-8C31-6901-ED01198F9D92}"/>
              </a:ext>
            </a:extLst>
          </p:cNvPr>
          <p:cNvSpPr/>
          <p:nvPr/>
        </p:nvSpPr>
        <p:spPr>
          <a:xfrm>
            <a:off x="2690959" y="3428999"/>
            <a:ext cx="7176942" cy="12192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Si se requiere el uso de sobrepasos en el proceso de inscripción, se necesita configurar SFAROVR con los permisos de sobrepaso (STVROVR) que estarían habilitados para su asignación en un periodo académico determinado. Para ello:</a:t>
            </a:r>
          </a:p>
          <a:p>
            <a:endParaRPr lang="es-ES_tradnl" sz="1200" dirty="0"/>
          </a:p>
          <a:p>
            <a:pPr marL="228600" indent="-228600">
              <a:buFont typeface="+mj-lt"/>
              <a:buAutoNum type="arabicPeriod"/>
            </a:pPr>
            <a:r>
              <a:rPr lang="es-ES_tradnl" sz="1200" dirty="0"/>
              <a:t>Ingrese o seleccione el período académico para el cual se configurarán los sobrepasos</a:t>
            </a:r>
          </a:p>
          <a:p>
            <a:pPr marL="228600" indent="-228600">
              <a:buFont typeface="+mj-lt"/>
              <a:buAutoNum type="arabicPeriod"/>
            </a:pPr>
            <a:r>
              <a:rPr lang="es-ES_tradnl" sz="1200" dirty="0"/>
              <a:t>Presione el botón ‘Ir’</a:t>
            </a:r>
          </a:p>
        </p:txBody>
      </p:sp>
      <p:sp>
        <p:nvSpPr>
          <p:cNvPr id="11" name="Rectángulo 10">
            <a:extLst>
              <a:ext uri="{FF2B5EF4-FFF2-40B4-BE49-F238E27FC236}">
                <a16:creationId xmlns:a16="http://schemas.microsoft.com/office/drawing/2014/main" id="{D49F5966-F56C-1EBE-4A9C-4CE8BDFEF024}"/>
              </a:ext>
            </a:extLst>
          </p:cNvPr>
          <p:cNvSpPr/>
          <p:nvPr/>
        </p:nvSpPr>
        <p:spPr>
          <a:xfrm>
            <a:off x="11416493" y="1452466"/>
            <a:ext cx="411582" cy="2593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029355EF-5EB3-0A63-42A5-F9F62B97C6FA}"/>
              </a:ext>
            </a:extLst>
          </p:cNvPr>
          <p:cNvSpPr/>
          <p:nvPr/>
        </p:nvSpPr>
        <p:spPr>
          <a:xfrm>
            <a:off x="11090045" y="167772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
        <p:nvSpPr>
          <p:cNvPr id="19" name="Rectángulo 18">
            <a:extLst>
              <a:ext uri="{FF2B5EF4-FFF2-40B4-BE49-F238E27FC236}">
                <a16:creationId xmlns:a16="http://schemas.microsoft.com/office/drawing/2014/main" id="{927A68C7-A721-D578-7CB9-D6A8FA75BDA4}"/>
              </a:ext>
            </a:extLst>
          </p:cNvPr>
          <p:cNvSpPr/>
          <p:nvPr/>
        </p:nvSpPr>
        <p:spPr>
          <a:xfrm>
            <a:off x="1432690" y="1480526"/>
            <a:ext cx="1818510" cy="2593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DB1CDA21-A4FB-92DE-9F13-810D7CFB1435}"/>
              </a:ext>
            </a:extLst>
          </p:cNvPr>
          <p:cNvSpPr/>
          <p:nvPr/>
        </p:nvSpPr>
        <p:spPr>
          <a:xfrm>
            <a:off x="3322325" y="176529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Tree>
    <p:extLst>
      <p:ext uri="{BB962C8B-B14F-4D97-AF65-F5344CB8AC3E}">
        <p14:creationId xmlns:p14="http://schemas.microsoft.com/office/powerpoint/2010/main" val="24214837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29F5C-03E5-A7BD-1490-D6B745C1C337}"/>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26C49F5D-31A0-7AE8-80EB-3772680CA08F}"/>
              </a:ext>
            </a:extLst>
          </p:cNvPr>
          <p:cNvPicPr>
            <a:picLocks noChangeAspect="1"/>
          </p:cNvPicPr>
          <p:nvPr/>
        </p:nvPicPr>
        <p:blipFill>
          <a:blip r:embed="rId3"/>
          <a:stretch>
            <a:fillRect/>
          </a:stretch>
        </p:blipFill>
        <p:spPr>
          <a:xfrm>
            <a:off x="564750" y="1042603"/>
            <a:ext cx="11350028" cy="5037872"/>
          </a:xfrm>
          <a:prstGeom prst="rect">
            <a:avLst/>
          </a:prstGeom>
        </p:spPr>
      </p:pic>
      <p:sp>
        <p:nvSpPr>
          <p:cNvPr id="2" name="Marcador de texto vertical 1">
            <a:extLst>
              <a:ext uri="{FF2B5EF4-FFF2-40B4-BE49-F238E27FC236}">
                <a16:creationId xmlns:a16="http://schemas.microsoft.com/office/drawing/2014/main" id="{D337D450-D53B-7B75-D186-8200BA75DE76}"/>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6609ADDB-5E2B-C45E-9018-D33ACFF78E53}"/>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Control de permiso-sobrepaso de inscripción (SFAROVR)</a:t>
            </a:r>
            <a:endParaRPr lang="es-ES_tradnl" dirty="0">
              <a:solidFill>
                <a:schemeClr val="tx2"/>
              </a:solidFill>
            </a:endParaRPr>
          </a:p>
        </p:txBody>
      </p:sp>
      <p:sp>
        <p:nvSpPr>
          <p:cNvPr id="10" name="Rectángulo: esquinas redondeadas 9">
            <a:extLst>
              <a:ext uri="{FF2B5EF4-FFF2-40B4-BE49-F238E27FC236}">
                <a16:creationId xmlns:a16="http://schemas.microsoft.com/office/drawing/2014/main" id="{0C953B5E-38FA-19D5-CDA7-9E51AFBEF67D}"/>
              </a:ext>
            </a:extLst>
          </p:cNvPr>
          <p:cNvSpPr/>
          <p:nvPr/>
        </p:nvSpPr>
        <p:spPr>
          <a:xfrm>
            <a:off x="1739900" y="3428999"/>
            <a:ext cx="8743365" cy="1689103"/>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3"/>
            </a:pPr>
            <a:r>
              <a:rPr lang="es-ES_tradnl" sz="1200" dirty="0"/>
              <a:t>Ingrese un nuevo registro presionando la opción ‘+’</a:t>
            </a:r>
          </a:p>
          <a:p>
            <a:pPr marL="228600" indent="-228600">
              <a:buFont typeface="+mj-lt"/>
              <a:buAutoNum type="arabicPeriod" startAt="3"/>
            </a:pPr>
            <a:r>
              <a:rPr lang="es-ES_tradnl" sz="1200" dirty="0"/>
              <a:t>Ingrese el código de permiso que será configurado, según los códigos creados en STVROVR.</a:t>
            </a:r>
          </a:p>
          <a:p>
            <a:pPr marL="228600" indent="-228600">
              <a:buFont typeface="+mj-lt"/>
              <a:buAutoNum type="arabicPeriod" startAt="3"/>
            </a:pPr>
            <a:r>
              <a:rPr lang="es-ES_tradnl" sz="1200" dirty="0"/>
              <a:t>Active la(s) casilla(s) que otorga(n) al registro ingresado la propiedad de sobrepasar la validación configurada al momento de la inscripción, permitiendo la inscripción de un NRC que tuviera una restricción de nivel, prerrequisitos, horas, restricción de programa entre otros. En la siguiente tabla se resume todos los sobrepasos que pueden ser asignados al registro</a:t>
            </a:r>
          </a:p>
          <a:p>
            <a:pPr marL="228600" indent="-228600">
              <a:buFont typeface="+mj-lt"/>
              <a:buAutoNum type="arabicPeriod" startAt="3"/>
            </a:pPr>
            <a:r>
              <a:rPr lang="es-ES_tradnl" sz="1200" dirty="0"/>
              <a:t>Guarde la información</a:t>
            </a:r>
          </a:p>
        </p:txBody>
      </p:sp>
      <p:sp>
        <p:nvSpPr>
          <p:cNvPr id="11" name="Rectángulo 10">
            <a:extLst>
              <a:ext uri="{FF2B5EF4-FFF2-40B4-BE49-F238E27FC236}">
                <a16:creationId xmlns:a16="http://schemas.microsoft.com/office/drawing/2014/main" id="{5581FD2F-45FD-0900-FAE1-12A0568568C5}"/>
              </a:ext>
            </a:extLst>
          </p:cNvPr>
          <p:cNvSpPr/>
          <p:nvPr/>
        </p:nvSpPr>
        <p:spPr>
          <a:xfrm>
            <a:off x="11106246" y="1518604"/>
            <a:ext cx="283670" cy="1989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6" name="Rectángulo redondeado 15">
            <a:extLst>
              <a:ext uri="{FF2B5EF4-FFF2-40B4-BE49-F238E27FC236}">
                <a16:creationId xmlns:a16="http://schemas.microsoft.com/office/drawing/2014/main" id="{92579A79-784A-891F-06C6-1DE620C3AF00}"/>
              </a:ext>
            </a:extLst>
          </p:cNvPr>
          <p:cNvSpPr/>
          <p:nvPr/>
        </p:nvSpPr>
        <p:spPr>
          <a:xfrm>
            <a:off x="10723633" y="152785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9" name="Rectángulo 18">
            <a:extLst>
              <a:ext uri="{FF2B5EF4-FFF2-40B4-BE49-F238E27FC236}">
                <a16:creationId xmlns:a16="http://schemas.microsoft.com/office/drawing/2014/main" id="{80062E7C-E933-0031-9425-220E40E27333}"/>
              </a:ext>
            </a:extLst>
          </p:cNvPr>
          <p:cNvSpPr/>
          <p:nvPr/>
        </p:nvSpPr>
        <p:spPr>
          <a:xfrm>
            <a:off x="519899" y="2139032"/>
            <a:ext cx="699304" cy="26126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F1A8AF5E-C6F6-CE45-5A1C-A5A5539674E3}"/>
              </a:ext>
            </a:extLst>
          </p:cNvPr>
          <p:cNvSpPr/>
          <p:nvPr/>
        </p:nvSpPr>
        <p:spPr>
          <a:xfrm>
            <a:off x="435615" y="242536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6" name="Rectángulo 5">
            <a:extLst>
              <a:ext uri="{FF2B5EF4-FFF2-40B4-BE49-F238E27FC236}">
                <a16:creationId xmlns:a16="http://schemas.microsoft.com/office/drawing/2014/main" id="{0056FD43-5ACE-B1A8-1F1A-3C3002DB9865}"/>
              </a:ext>
            </a:extLst>
          </p:cNvPr>
          <p:cNvSpPr/>
          <p:nvPr/>
        </p:nvSpPr>
        <p:spPr>
          <a:xfrm>
            <a:off x="2804767" y="2117572"/>
            <a:ext cx="8443314" cy="34905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D85C6943-9197-C08C-4A22-6CF264A62112}"/>
              </a:ext>
            </a:extLst>
          </p:cNvPr>
          <p:cNvSpPr/>
          <p:nvPr/>
        </p:nvSpPr>
        <p:spPr>
          <a:xfrm>
            <a:off x="7175683" y="2435432"/>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8" name="Rectángulo 7">
            <a:extLst>
              <a:ext uri="{FF2B5EF4-FFF2-40B4-BE49-F238E27FC236}">
                <a16:creationId xmlns:a16="http://schemas.microsoft.com/office/drawing/2014/main" id="{E7C7450B-EE1C-B0B0-D390-E36DB178A065}"/>
              </a:ext>
            </a:extLst>
          </p:cNvPr>
          <p:cNvSpPr/>
          <p:nvPr/>
        </p:nvSpPr>
        <p:spPr>
          <a:xfrm>
            <a:off x="11337565" y="5837838"/>
            <a:ext cx="669186" cy="24963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9" name="Rectángulo redondeado 15">
            <a:extLst>
              <a:ext uri="{FF2B5EF4-FFF2-40B4-BE49-F238E27FC236}">
                <a16:creationId xmlns:a16="http://schemas.microsoft.com/office/drawing/2014/main" id="{5EAFF29F-ACEA-112F-4520-018533D3D933}"/>
              </a:ext>
            </a:extLst>
          </p:cNvPr>
          <p:cNvSpPr/>
          <p:nvPr/>
        </p:nvSpPr>
        <p:spPr>
          <a:xfrm>
            <a:off x="11079295" y="593384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Tree>
    <p:extLst>
      <p:ext uri="{BB962C8B-B14F-4D97-AF65-F5344CB8AC3E}">
        <p14:creationId xmlns:p14="http://schemas.microsoft.com/office/powerpoint/2010/main" val="9708476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64E65-6C2A-FAF9-0BA5-10A918790E24}"/>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DFBF5CB9-430D-EAFB-8D7E-F159CB885ABB}"/>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3BB510BB-BC0D-5CCA-FBD1-6267C5795527}"/>
              </a:ext>
            </a:extLst>
          </p:cNvPr>
          <p:cNvSpPr>
            <a:spLocks noGrp="1"/>
          </p:cNvSpPr>
          <p:nvPr>
            <p:ph type="title"/>
          </p:nvPr>
        </p:nvSpPr>
        <p:spPr>
          <a:xfrm>
            <a:off x="938996" y="304614"/>
            <a:ext cx="10477497" cy="898555"/>
          </a:xfrm>
        </p:spPr>
        <p:txBody>
          <a:bodyPr/>
          <a:lstStyle/>
          <a:p>
            <a:r>
              <a:rPr lang="es-419" dirty="0">
                <a:solidFill>
                  <a:schemeClr val="tx2"/>
                </a:solidFill>
              </a:rPr>
              <a:t>Control de permiso-sobrepaso de inscripción (SFAROVR)</a:t>
            </a:r>
            <a:endParaRPr lang="es-ES_tradnl" b="0" dirty="0"/>
          </a:p>
        </p:txBody>
      </p:sp>
      <p:graphicFrame>
        <p:nvGraphicFramePr>
          <p:cNvPr id="5" name="Tabla 4">
            <a:extLst>
              <a:ext uri="{FF2B5EF4-FFF2-40B4-BE49-F238E27FC236}">
                <a16:creationId xmlns:a16="http://schemas.microsoft.com/office/drawing/2014/main" id="{4E23B1B8-54B2-4A69-6E93-E1D216D7FE21}"/>
              </a:ext>
            </a:extLst>
          </p:cNvPr>
          <p:cNvGraphicFramePr>
            <a:graphicFrameLocks noGrp="1"/>
          </p:cNvGraphicFramePr>
          <p:nvPr>
            <p:extLst>
              <p:ext uri="{D42A27DB-BD31-4B8C-83A1-F6EECF244321}">
                <p14:modId xmlns:p14="http://schemas.microsoft.com/office/powerpoint/2010/main" val="1217484120"/>
              </p:ext>
            </p:extLst>
          </p:nvPr>
        </p:nvGraphicFramePr>
        <p:xfrm>
          <a:off x="1504653" y="1401580"/>
          <a:ext cx="9041381" cy="4914604"/>
        </p:xfrm>
        <a:graphic>
          <a:graphicData uri="http://schemas.openxmlformats.org/drawingml/2006/table">
            <a:tbl>
              <a:tblPr firstRow="1" bandRow="1">
                <a:tableStyleId>{5C22544A-7EE6-4342-B048-85BDC9FD1C3A}</a:tableStyleId>
              </a:tblPr>
              <a:tblGrid>
                <a:gridCol w="1591615">
                  <a:extLst>
                    <a:ext uri="{9D8B030D-6E8A-4147-A177-3AD203B41FA5}">
                      <a16:colId xmlns:a16="http://schemas.microsoft.com/office/drawing/2014/main" val="3671970364"/>
                    </a:ext>
                  </a:extLst>
                </a:gridCol>
                <a:gridCol w="7449766">
                  <a:extLst>
                    <a:ext uri="{9D8B030D-6E8A-4147-A177-3AD203B41FA5}">
                      <a16:colId xmlns:a16="http://schemas.microsoft.com/office/drawing/2014/main" val="1822289275"/>
                    </a:ext>
                  </a:extLst>
                </a:gridCol>
              </a:tblGrid>
              <a:tr h="437409">
                <a:tc>
                  <a:txBody>
                    <a:bodyPr/>
                    <a:lstStyle/>
                    <a:p>
                      <a:pPr marL="0" algn="ctr" defTabSz="914400" rtl="0" eaLnBrk="1" fontAlgn="ctr" latinLnBrk="0" hangingPunct="1"/>
                      <a:r>
                        <a:rPr lang="es-CL" sz="1200" b="1" u="none" strike="noStrike" kern="1200" noProof="0" dirty="0">
                          <a:solidFill>
                            <a:schemeClr val="lt1"/>
                          </a:solidFill>
                          <a:effectLst/>
                          <a:latin typeface="+mn-lt"/>
                          <a:ea typeface="+mn-ea"/>
                          <a:cs typeface="+mn-cs"/>
                        </a:rPr>
                        <a:t>Campo</a:t>
                      </a:r>
                      <a:endParaRPr lang="es-419" sz="1200" b="1" u="none" strike="noStrike" kern="1200" noProof="0" dirty="0">
                        <a:solidFill>
                          <a:schemeClr val="lt1"/>
                        </a:solidFill>
                        <a:effectLst/>
                        <a:latin typeface="+mn-lt"/>
                        <a:ea typeface="+mn-ea"/>
                        <a:cs typeface="+mn-cs"/>
                      </a:endParaRPr>
                    </a:p>
                  </a:txBody>
                  <a:tcPr marL="0" marR="0" marT="0" marB="0" anchor="ctr"/>
                </a:tc>
                <a:tc>
                  <a:txBody>
                    <a:bodyPr/>
                    <a:lstStyle/>
                    <a:p>
                      <a:pPr marL="0" algn="ctr" defTabSz="914400" rtl="0" eaLnBrk="1" fontAlgn="ctr" latinLnBrk="0" hangingPunct="1"/>
                      <a:r>
                        <a:rPr lang="es-419" sz="1200" b="1" u="none" strike="noStrike" kern="1200" noProof="0" dirty="0">
                          <a:solidFill>
                            <a:schemeClr val="lt1"/>
                          </a:solidFill>
                          <a:effectLst/>
                          <a:latin typeface="+mn-lt"/>
                          <a:ea typeface="+mn-ea"/>
                          <a:cs typeface="+mn-cs"/>
                        </a:rPr>
                        <a:t>Descripción</a:t>
                      </a:r>
                    </a:p>
                  </a:txBody>
                  <a:tcPr marL="0" marR="0" marT="0" marB="0" anchor="ctr"/>
                </a:tc>
                <a:extLst>
                  <a:ext uri="{0D108BD9-81ED-4DB2-BD59-A6C34878D82A}">
                    <a16:rowId xmlns:a16="http://schemas.microsoft.com/office/drawing/2014/main" val="1600408903"/>
                  </a:ext>
                </a:extLst>
              </a:tr>
              <a:tr h="429590">
                <a:tc>
                  <a:txBody>
                    <a:bodyPr/>
                    <a:lstStyle/>
                    <a:p>
                      <a:pPr algn="ctr" fontAlgn="ctr"/>
                      <a:r>
                        <a:rPr lang="es-419" sz="1200" b="0" i="0" u="none" strike="noStrike" dirty="0">
                          <a:solidFill>
                            <a:srgbClr val="000000"/>
                          </a:solidFill>
                          <a:effectLst/>
                          <a:latin typeface="+mn-lt"/>
                        </a:rPr>
                        <a:t>Duplicados</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duplicados está activo para la regla de permiso de sobrepaso de inscripción.</a:t>
                      </a:r>
                    </a:p>
                  </a:txBody>
                  <a:tcPr marL="0" marR="0" marT="0" marB="0" anchor="ctr"/>
                </a:tc>
                <a:extLst>
                  <a:ext uri="{0D108BD9-81ED-4DB2-BD59-A6C34878D82A}">
                    <a16:rowId xmlns:a16="http://schemas.microsoft.com/office/drawing/2014/main" val="3807490090"/>
                  </a:ext>
                </a:extLst>
              </a:tr>
              <a:tr h="429590">
                <a:tc>
                  <a:txBody>
                    <a:bodyPr/>
                    <a:lstStyle/>
                    <a:p>
                      <a:pPr algn="ctr" fontAlgn="ctr"/>
                      <a:r>
                        <a:rPr lang="es-419" sz="1200" b="0" i="0" u="none" strike="noStrike">
                          <a:solidFill>
                            <a:srgbClr val="000000"/>
                          </a:solidFill>
                          <a:effectLst/>
                          <a:latin typeface="+mn-lt"/>
                        </a:rPr>
                        <a:t>Enlaces</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ligas está activo para la regla de permiso de sobrepaso de inscripción.</a:t>
                      </a:r>
                    </a:p>
                  </a:txBody>
                  <a:tcPr marL="0" marR="0" marT="0" marB="0" anchor="ctr"/>
                </a:tc>
                <a:extLst>
                  <a:ext uri="{0D108BD9-81ED-4DB2-BD59-A6C34878D82A}">
                    <a16:rowId xmlns:a16="http://schemas.microsoft.com/office/drawing/2014/main" val="580853560"/>
                  </a:ext>
                </a:extLst>
              </a:tr>
              <a:tr h="429590">
                <a:tc>
                  <a:txBody>
                    <a:bodyPr/>
                    <a:lstStyle/>
                    <a:p>
                      <a:pPr algn="ctr" fontAlgn="ctr"/>
                      <a:r>
                        <a:rPr lang="es-419" sz="1200" b="0" i="0" u="none" strike="noStrike" dirty="0">
                          <a:solidFill>
                            <a:srgbClr val="000000"/>
                          </a:solidFill>
                          <a:effectLst/>
                          <a:latin typeface="+mn-lt"/>
                        </a:rPr>
                        <a:t>Correquisito</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correquisito está activo para la regla de permiso de sobrepaso de inscripción.</a:t>
                      </a:r>
                    </a:p>
                  </a:txBody>
                  <a:tcPr marL="0" marR="0" marT="0" marB="0" anchor="ctr"/>
                </a:tc>
                <a:extLst>
                  <a:ext uri="{0D108BD9-81ED-4DB2-BD59-A6C34878D82A}">
                    <a16:rowId xmlns:a16="http://schemas.microsoft.com/office/drawing/2014/main" val="3452798"/>
                  </a:ext>
                </a:extLst>
              </a:tr>
              <a:tr h="429590">
                <a:tc>
                  <a:txBody>
                    <a:bodyPr/>
                    <a:lstStyle/>
                    <a:p>
                      <a:pPr algn="ctr" fontAlgn="ctr"/>
                      <a:r>
                        <a:rPr lang="es-419" sz="1200" b="0" i="0" u="none" strike="noStrike">
                          <a:solidFill>
                            <a:srgbClr val="000000"/>
                          </a:solidFill>
                          <a:effectLst/>
                          <a:latin typeface="+mn-lt"/>
                        </a:rPr>
                        <a:t>Prerrequisito</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prerrequisito está activo para la regla de permiso de sobrepaso de inscripción.</a:t>
                      </a:r>
                    </a:p>
                  </a:txBody>
                  <a:tcPr marL="0" marR="0" marT="0" marB="0" anchor="ctr"/>
                </a:tc>
                <a:extLst>
                  <a:ext uri="{0D108BD9-81ED-4DB2-BD59-A6C34878D82A}">
                    <a16:rowId xmlns:a16="http://schemas.microsoft.com/office/drawing/2014/main" val="2785379510"/>
                  </a:ext>
                </a:extLst>
              </a:tr>
              <a:tr h="491464">
                <a:tc>
                  <a:txBody>
                    <a:bodyPr/>
                    <a:lstStyle/>
                    <a:p>
                      <a:pPr algn="ctr" fontAlgn="ctr"/>
                      <a:r>
                        <a:rPr lang="es-419" sz="1200" b="0" i="0" u="none" strike="noStrike">
                          <a:solidFill>
                            <a:srgbClr val="000000"/>
                          </a:solidFill>
                          <a:effectLst/>
                          <a:latin typeface="+mn-lt"/>
                        </a:rPr>
                        <a:t>Hora</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hora está activo para la regla de permiso de sobrepaso de inscripción.</a:t>
                      </a:r>
                    </a:p>
                  </a:txBody>
                  <a:tcPr marL="0" marR="0" marT="0" marB="0" anchor="ctr"/>
                </a:tc>
                <a:extLst>
                  <a:ext uri="{0D108BD9-81ED-4DB2-BD59-A6C34878D82A}">
                    <a16:rowId xmlns:a16="http://schemas.microsoft.com/office/drawing/2014/main" val="41993088"/>
                  </a:ext>
                </a:extLst>
              </a:tr>
              <a:tr h="429590">
                <a:tc>
                  <a:txBody>
                    <a:bodyPr/>
                    <a:lstStyle/>
                    <a:p>
                      <a:pPr algn="ctr" fontAlgn="ctr"/>
                      <a:r>
                        <a:rPr lang="es-419" sz="1200" b="0" i="0" u="none" strike="noStrike">
                          <a:solidFill>
                            <a:srgbClr val="000000"/>
                          </a:solidFill>
                          <a:effectLst/>
                          <a:latin typeface="+mn-lt"/>
                        </a:rPr>
                        <a:t>Exclusión mutua</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la exclusión mutua está activo para la regla se permiso de sobrepaso de inscripción.</a:t>
                      </a:r>
                    </a:p>
                  </a:txBody>
                  <a:tcPr marL="0" marR="0" marT="0" marB="0" anchor="ctr"/>
                </a:tc>
                <a:extLst>
                  <a:ext uri="{0D108BD9-81ED-4DB2-BD59-A6C34878D82A}">
                    <a16:rowId xmlns:a16="http://schemas.microsoft.com/office/drawing/2014/main" val="2183416493"/>
                  </a:ext>
                </a:extLst>
              </a:tr>
              <a:tr h="429590">
                <a:tc>
                  <a:txBody>
                    <a:bodyPr/>
                    <a:lstStyle/>
                    <a:p>
                      <a:pPr algn="ctr" fontAlgn="ctr"/>
                      <a:r>
                        <a:rPr lang="es-419" sz="1200" b="0" i="0" u="none" strike="noStrike" dirty="0">
                          <a:solidFill>
                            <a:srgbClr val="000000"/>
                          </a:solidFill>
                          <a:effectLst/>
                          <a:latin typeface="+mn-lt"/>
                        </a:rPr>
                        <a:t>Aprobación especial</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aprobación especial está activo para la regla se permiso de sobrepaso de inscripción.</a:t>
                      </a:r>
                    </a:p>
                  </a:txBody>
                  <a:tcPr marL="0" marR="0" marT="0" marB="0" anchor="ctr"/>
                </a:tc>
                <a:extLst>
                  <a:ext uri="{0D108BD9-81ED-4DB2-BD59-A6C34878D82A}">
                    <a16:rowId xmlns:a16="http://schemas.microsoft.com/office/drawing/2014/main" val="397777445"/>
                  </a:ext>
                </a:extLst>
              </a:tr>
              <a:tr h="540931">
                <a:tc>
                  <a:txBody>
                    <a:bodyPr/>
                    <a:lstStyle/>
                    <a:p>
                      <a:pPr algn="ctr" fontAlgn="ctr"/>
                      <a:r>
                        <a:rPr lang="es-419" sz="1200" b="0" i="0" u="none" strike="noStrike" dirty="0">
                          <a:solidFill>
                            <a:srgbClr val="000000"/>
                          </a:solidFill>
                          <a:effectLst/>
                          <a:latin typeface="+mn-lt"/>
                        </a:rPr>
                        <a:t>Capacidad</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capacidad está activo para la regla de permiso de sobrepaso de inscripción.</a:t>
                      </a:r>
                    </a:p>
                  </a:txBody>
                  <a:tcPr marL="0" marR="0" marT="0" marB="0" anchor="ctr"/>
                </a:tc>
                <a:extLst>
                  <a:ext uri="{0D108BD9-81ED-4DB2-BD59-A6C34878D82A}">
                    <a16:rowId xmlns:a16="http://schemas.microsoft.com/office/drawing/2014/main" val="1301163987"/>
                  </a:ext>
                </a:extLst>
              </a:tr>
              <a:tr h="433630">
                <a:tc>
                  <a:txBody>
                    <a:bodyPr/>
                    <a:lstStyle/>
                    <a:p>
                      <a:pPr algn="ctr" fontAlgn="ctr"/>
                      <a:r>
                        <a:rPr lang="es-419" sz="1200" b="0" i="0" u="none" strike="noStrike" dirty="0">
                          <a:solidFill>
                            <a:srgbClr val="000000"/>
                          </a:solidFill>
                          <a:effectLst/>
                          <a:latin typeface="+mn-lt"/>
                        </a:rPr>
                        <a:t>Horas repetidas</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horas repetidas está activo para la regla se permiso de sobrepaso de inscripción.</a:t>
                      </a:r>
                    </a:p>
                  </a:txBody>
                  <a:tcPr marL="0" marR="0" marT="0" marB="0" anchor="ctr"/>
                </a:tc>
                <a:extLst>
                  <a:ext uri="{0D108BD9-81ED-4DB2-BD59-A6C34878D82A}">
                    <a16:rowId xmlns:a16="http://schemas.microsoft.com/office/drawing/2014/main" val="1226137608"/>
                  </a:ext>
                </a:extLst>
              </a:tr>
              <a:tr h="433630">
                <a:tc>
                  <a:txBody>
                    <a:bodyPr/>
                    <a:lstStyle/>
                    <a:p>
                      <a:pPr algn="ctr" fontAlgn="ctr"/>
                      <a:r>
                        <a:rPr lang="es-419" sz="1200" b="0" i="0" u="none" strike="noStrike" dirty="0">
                          <a:solidFill>
                            <a:srgbClr val="000000"/>
                          </a:solidFill>
                          <a:effectLst/>
                          <a:latin typeface="+mn-lt"/>
                        </a:rPr>
                        <a:t>Límite de repetición</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límite de repetición está activo para la regla se permiso de sobrepaso de inscripción.</a:t>
                      </a:r>
                    </a:p>
                  </a:txBody>
                  <a:tcPr marL="0" marR="0" marT="0" marB="0" anchor="ctr"/>
                </a:tc>
                <a:extLst>
                  <a:ext uri="{0D108BD9-81ED-4DB2-BD59-A6C34878D82A}">
                    <a16:rowId xmlns:a16="http://schemas.microsoft.com/office/drawing/2014/main" val="4216562836"/>
                  </a:ext>
                </a:extLst>
              </a:tr>
            </a:tbl>
          </a:graphicData>
        </a:graphic>
      </p:graphicFrame>
    </p:spTree>
    <p:extLst>
      <p:ext uri="{BB962C8B-B14F-4D97-AF65-F5344CB8AC3E}">
        <p14:creationId xmlns:p14="http://schemas.microsoft.com/office/powerpoint/2010/main" val="22383872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E30E7-4550-3BA9-FAAD-8B6145747D83}"/>
            </a:ext>
          </a:extLst>
        </p:cNvPr>
        <p:cNvGrpSpPr/>
        <p:nvPr/>
      </p:nvGrpSpPr>
      <p:grpSpPr>
        <a:xfrm>
          <a:off x="0" y="0"/>
          <a:ext cx="0" cy="0"/>
          <a:chOff x="0" y="0"/>
          <a:chExt cx="0" cy="0"/>
        </a:xfrm>
      </p:grpSpPr>
      <p:sp>
        <p:nvSpPr>
          <p:cNvPr id="2" name="Marcador de texto vertical 1">
            <a:extLst>
              <a:ext uri="{FF2B5EF4-FFF2-40B4-BE49-F238E27FC236}">
                <a16:creationId xmlns:a16="http://schemas.microsoft.com/office/drawing/2014/main" id="{32C11A58-9F80-1F3D-E9B8-7B3A639FF122}"/>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3E6DAE9A-0F85-276E-4FF2-7996E2D365B1}"/>
              </a:ext>
            </a:extLst>
          </p:cNvPr>
          <p:cNvSpPr>
            <a:spLocks noGrp="1"/>
          </p:cNvSpPr>
          <p:nvPr>
            <p:ph type="title"/>
          </p:nvPr>
        </p:nvSpPr>
        <p:spPr>
          <a:xfrm>
            <a:off x="938996" y="304614"/>
            <a:ext cx="10477497" cy="898555"/>
          </a:xfrm>
        </p:spPr>
        <p:txBody>
          <a:bodyPr/>
          <a:lstStyle/>
          <a:p>
            <a:r>
              <a:rPr lang="es-419" dirty="0">
                <a:solidFill>
                  <a:schemeClr val="tx2"/>
                </a:solidFill>
              </a:rPr>
              <a:t>Control de permiso-sobrepaso de inscripción (SFAROVR)</a:t>
            </a:r>
            <a:endParaRPr lang="es-ES_tradnl" b="0" dirty="0"/>
          </a:p>
        </p:txBody>
      </p:sp>
      <p:graphicFrame>
        <p:nvGraphicFramePr>
          <p:cNvPr id="5" name="Tabla 4">
            <a:extLst>
              <a:ext uri="{FF2B5EF4-FFF2-40B4-BE49-F238E27FC236}">
                <a16:creationId xmlns:a16="http://schemas.microsoft.com/office/drawing/2014/main" id="{F54561C6-DB72-727C-2B83-8BB9A982F44B}"/>
              </a:ext>
            </a:extLst>
          </p:cNvPr>
          <p:cNvGraphicFramePr>
            <a:graphicFrameLocks noGrp="1"/>
          </p:cNvGraphicFramePr>
          <p:nvPr>
            <p:extLst>
              <p:ext uri="{D42A27DB-BD31-4B8C-83A1-F6EECF244321}">
                <p14:modId xmlns:p14="http://schemas.microsoft.com/office/powerpoint/2010/main" val="2503170142"/>
              </p:ext>
            </p:extLst>
          </p:nvPr>
        </p:nvGraphicFramePr>
        <p:xfrm>
          <a:off x="1504653" y="1401580"/>
          <a:ext cx="9041381" cy="4914604"/>
        </p:xfrm>
        <a:graphic>
          <a:graphicData uri="http://schemas.openxmlformats.org/drawingml/2006/table">
            <a:tbl>
              <a:tblPr firstRow="1" bandRow="1">
                <a:tableStyleId>{5C22544A-7EE6-4342-B048-85BDC9FD1C3A}</a:tableStyleId>
              </a:tblPr>
              <a:tblGrid>
                <a:gridCol w="1591615">
                  <a:extLst>
                    <a:ext uri="{9D8B030D-6E8A-4147-A177-3AD203B41FA5}">
                      <a16:colId xmlns:a16="http://schemas.microsoft.com/office/drawing/2014/main" val="3671970364"/>
                    </a:ext>
                  </a:extLst>
                </a:gridCol>
                <a:gridCol w="7449766">
                  <a:extLst>
                    <a:ext uri="{9D8B030D-6E8A-4147-A177-3AD203B41FA5}">
                      <a16:colId xmlns:a16="http://schemas.microsoft.com/office/drawing/2014/main" val="1822289275"/>
                    </a:ext>
                  </a:extLst>
                </a:gridCol>
              </a:tblGrid>
              <a:tr h="437409">
                <a:tc>
                  <a:txBody>
                    <a:bodyPr/>
                    <a:lstStyle/>
                    <a:p>
                      <a:pPr marL="0" algn="ctr" defTabSz="914400" rtl="0" eaLnBrk="1" fontAlgn="ctr" latinLnBrk="0" hangingPunct="1"/>
                      <a:r>
                        <a:rPr lang="es-CL" sz="1200" b="1" u="none" strike="noStrike" kern="1200" noProof="0" dirty="0">
                          <a:solidFill>
                            <a:schemeClr val="lt1"/>
                          </a:solidFill>
                          <a:effectLst/>
                          <a:latin typeface="+mn-lt"/>
                          <a:ea typeface="+mn-ea"/>
                          <a:cs typeface="+mn-cs"/>
                        </a:rPr>
                        <a:t>Campo</a:t>
                      </a:r>
                      <a:endParaRPr lang="es-419" sz="1200" b="1" u="none" strike="noStrike" kern="1200" noProof="0" dirty="0">
                        <a:solidFill>
                          <a:schemeClr val="lt1"/>
                        </a:solidFill>
                        <a:effectLst/>
                        <a:latin typeface="+mn-lt"/>
                        <a:ea typeface="+mn-ea"/>
                        <a:cs typeface="+mn-cs"/>
                      </a:endParaRPr>
                    </a:p>
                  </a:txBody>
                  <a:tcPr marL="0" marR="0" marT="0" marB="0" anchor="ctr"/>
                </a:tc>
                <a:tc>
                  <a:txBody>
                    <a:bodyPr/>
                    <a:lstStyle/>
                    <a:p>
                      <a:pPr marL="0" algn="ctr" defTabSz="914400" rtl="0" eaLnBrk="1" fontAlgn="ctr" latinLnBrk="0" hangingPunct="1"/>
                      <a:r>
                        <a:rPr lang="es-419" sz="1200" b="1" u="none" strike="noStrike" kern="1200" noProof="0" dirty="0">
                          <a:solidFill>
                            <a:schemeClr val="lt1"/>
                          </a:solidFill>
                          <a:effectLst/>
                          <a:latin typeface="+mn-lt"/>
                          <a:ea typeface="+mn-ea"/>
                          <a:cs typeface="+mn-cs"/>
                        </a:rPr>
                        <a:t>Descripción</a:t>
                      </a:r>
                    </a:p>
                  </a:txBody>
                  <a:tcPr marL="0" marR="0" marT="0" marB="0" anchor="ctr"/>
                </a:tc>
                <a:extLst>
                  <a:ext uri="{0D108BD9-81ED-4DB2-BD59-A6C34878D82A}">
                    <a16:rowId xmlns:a16="http://schemas.microsoft.com/office/drawing/2014/main" val="1600408903"/>
                  </a:ext>
                </a:extLst>
              </a:tr>
              <a:tr h="429590">
                <a:tc>
                  <a:txBody>
                    <a:bodyPr/>
                    <a:lstStyle/>
                    <a:p>
                      <a:pPr algn="ctr" fontAlgn="ctr"/>
                      <a:r>
                        <a:rPr lang="es-419" sz="1200" b="0" i="0" u="none" strike="noStrike">
                          <a:solidFill>
                            <a:srgbClr val="000000"/>
                          </a:solidFill>
                          <a:effectLst/>
                          <a:latin typeface="+mn-lt"/>
                        </a:rPr>
                        <a:t>Departamento</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departamento está activo para la regla de permiso de sobrepaso de inscripción.</a:t>
                      </a:r>
                    </a:p>
                  </a:txBody>
                  <a:tcPr marL="0" marR="0" marT="0" marB="0" anchor="ctr"/>
                </a:tc>
                <a:extLst>
                  <a:ext uri="{0D108BD9-81ED-4DB2-BD59-A6C34878D82A}">
                    <a16:rowId xmlns:a16="http://schemas.microsoft.com/office/drawing/2014/main" val="3807490090"/>
                  </a:ext>
                </a:extLst>
              </a:tr>
              <a:tr h="429590">
                <a:tc>
                  <a:txBody>
                    <a:bodyPr/>
                    <a:lstStyle/>
                    <a:p>
                      <a:pPr algn="ctr" fontAlgn="ctr"/>
                      <a:r>
                        <a:rPr lang="es-419" sz="1200" b="0" i="0" u="none" strike="noStrike">
                          <a:solidFill>
                            <a:srgbClr val="000000"/>
                          </a:solidFill>
                          <a:effectLst/>
                          <a:latin typeface="+mn-lt"/>
                        </a:rPr>
                        <a:t>Campo de estudio</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campo de estudio está activo para la regla se permiso de sobrepaso de inscripción.</a:t>
                      </a:r>
                    </a:p>
                  </a:txBody>
                  <a:tcPr marL="0" marR="0" marT="0" marB="0" anchor="ctr"/>
                </a:tc>
                <a:extLst>
                  <a:ext uri="{0D108BD9-81ED-4DB2-BD59-A6C34878D82A}">
                    <a16:rowId xmlns:a16="http://schemas.microsoft.com/office/drawing/2014/main" val="580853560"/>
                  </a:ext>
                </a:extLst>
              </a:tr>
              <a:tr h="429590">
                <a:tc>
                  <a:txBody>
                    <a:bodyPr/>
                    <a:lstStyle/>
                    <a:p>
                      <a:pPr algn="ctr" fontAlgn="ctr"/>
                      <a:r>
                        <a:rPr lang="es-419" sz="1200" b="0" i="0" u="none" strike="noStrike" dirty="0">
                          <a:solidFill>
                            <a:srgbClr val="000000"/>
                          </a:solidFill>
                          <a:effectLst/>
                          <a:latin typeface="+mn-lt"/>
                        </a:rPr>
                        <a:t>Escuela</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escuela está activo para la regla de permiso de sobrepaso de inscripción.</a:t>
                      </a:r>
                    </a:p>
                  </a:txBody>
                  <a:tcPr marL="0" marR="0" marT="0" marB="0" anchor="ctr"/>
                </a:tc>
                <a:extLst>
                  <a:ext uri="{0D108BD9-81ED-4DB2-BD59-A6C34878D82A}">
                    <a16:rowId xmlns:a16="http://schemas.microsoft.com/office/drawing/2014/main" val="3452798"/>
                  </a:ext>
                </a:extLst>
              </a:tr>
              <a:tr h="429590">
                <a:tc>
                  <a:txBody>
                    <a:bodyPr/>
                    <a:lstStyle/>
                    <a:p>
                      <a:pPr algn="ctr" fontAlgn="ctr"/>
                      <a:r>
                        <a:rPr lang="es-419" sz="1200" b="0" i="0" u="none" strike="noStrike">
                          <a:solidFill>
                            <a:srgbClr val="000000"/>
                          </a:solidFill>
                          <a:effectLst/>
                          <a:latin typeface="+mn-lt"/>
                        </a:rPr>
                        <a:t>Nivel</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nivel está activo para la regla de permiso de sobrepaso de inscripción.</a:t>
                      </a:r>
                    </a:p>
                  </a:txBody>
                  <a:tcPr marL="0" marR="0" marT="0" marB="0" anchor="ctr"/>
                </a:tc>
                <a:extLst>
                  <a:ext uri="{0D108BD9-81ED-4DB2-BD59-A6C34878D82A}">
                    <a16:rowId xmlns:a16="http://schemas.microsoft.com/office/drawing/2014/main" val="2785379510"/>
                  </a:ext>
                </a:extLst>
              </a:tr>
              <a:tr h="491464">
                <a:tc>
                  <a:txBody>
                    <a:bodyPr/>
                    <a:lstStyle/>
                    <a:p>
                      <a:pPr algn="ctr" fontAlgn="ctr"/>
                      <a:r>
                        <a:rPr lang="es-419" sz="1200" b="0" i="0" u="none" strike="noStrike">
                          <a:solidFill>
                            <a:srgbClr val="000000"/>
                          </a:solidFill>
                          <a:effectLst/>
                          <a:latin typeface="+mn-lt"/>
                        </a:rPr>
                        <a:t>Clase</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clase está activo para la regla de permiso de sobrepaso de inscripción.</a:t>
                      </a:r>
                    </a:p>
                  </a:txBody>
                  <a:tcPr marL="0" marR="0" marT="0" marB="0" anchor="ctr"/>
                </a:tc>
                <a:extLst>
                  <a:ext uri="{0D108BD9-81ED-4DB2-BD59-A6C34878D82A}">
                    <a16:rowId xmlns:a16="http://schemas.microsoft.com/office/drawing/2014/main" val="41993088"/>
                  </a:ext>
                </a:extLst>
              </a:tr>
              <a:tr h="429590">
                <a:tc>
                  <a:txBody>
                    <a:bodyPr/>
                    <a:lstStyle/>
                    <a:p>
                      <a:pPr algn="ctr" fontAlgn="ctr"/>
                      <a:r>
                        <a:rPr lang="es-419" sz="1200" b="0" i="0" u="none" strike="noStrike">
                          <a:solidFill>
                            <a:srgbClr val="000000"/>
                          </a:solidFill>
                          <a:effectLst/>
                          <a:latin typeface="+mn-lt"/>
                        </a:rPr>
                        <a:t>Campus</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campus está activo para la regla de permiso de sobrepaso de inscripción.</a:t>
                      </a:r>
                    </a:p>
                  </a:txBody>
                  <a:tcPr marL="0" marR="0" marT="0" marB="0" anchor="ctr"/>
                </a:tc>
                <a:extLst>
                  <a:ext uri="{0D108BD9-81ED-4DB2-BD59-A6C34878D82A}">
                    <a16:rowId xmlns:a16="http://schemas.microsoft.com/office/drawing/2014/main" val="2183416493"/>
                  </a:ext>
                </a:extLst>
              </a:tr>
              <a:tr h="429590">
                <a:tc>
                  <a:txBody>
                    <a:bodyPr/>
                    <a:lstStyle/>
                    <a:p>
                      <a:pPr algn="ctr" fontAlgn="ctr"/>
                      <a:r>
                        <a:rPr lang="es-419" sz="1200" b="0" i="0" u="none" strike="noStrike">
                          <a:solidFill>
                            <a:srgbClr val="000000"/>
                          </a:solidFill>
                          <a:effectLst/>
                          <a:latin typeface="+mn-lt"/>
                        </a:rPr>
                        <a:t>Grado</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grado está activo para la regla de permiso de sobrepaso de inscripción.</a:t>
                      </a:r>
                    </a:p>
                  </a:txBody>
                  <a:tcPr marL="0" marR="0" marT="0" marB="0" anchor="ctr"/>
                </a:tc>
                <a:extLst>
                  <a:ext uri="{0D108BD9-81ED-4DB2-BD59-A6C34878D82A}">
                    <a16:rowId xmlns:a16="http://schemas.microsoft.com/office/drawing/2014/main" val="397777445"/>
                  </a:ext>
                </a:extLst>
              </a:tr>
              <a:tr h="540931">
                <a:tc>
                  <a:txBody>
                    <a:bodyPr/>
                    <a:lstStyle/>
                    <a:p>
                      <a:pPr algn="ctr" fontAlgn="ctr"/>
                      <a:r>
                        <a:rPr lang="es-419" sz="1200" b="0" i="0" u="none" strike="noStrike" dirty="0">
                          <a:solidFill>
                            <a:srgbClr val="000000"/>
                          </a:solidFill>
                          <a:effectLst/>
                          <a:latin typeface="+mn-lt"/>
                        </a:rPr>
                        <a:t>Programa</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programa está activo para la regla de permiso de sobrepaso de inscripción.</a:t>
                      </a:r>
                    </a:p>
                  </a:txBody>
                  <a:tcPr marL="0" marR="0" marT="0" marB="0" anchor="ctr"/>
                </a:tc>
                <a:extLst>
                  <a:ext uri="{0D108BD9-81ED-4DB2-BD59-A6C34878D82A}">
                    <a16:rowId xmlns:a16="http://schemas.microsoft.com/office/drawing/2014/main" val="1301163987"/>
                  </a:ext>
                </a:extLst>
              </a:tr>
              <a:tr h="433630">
                <a:tc>
                  <a:txBody>
                    <a:bodyPr/>
                    <a:lstStyle/>
                    <a:p>
                      <a:pPr algn="ctr" fontAlgn="ctr"/>
                      <a:r>
                        <a:rPr lang="es-419" sz="1200" b="0" i="0" u="none" strike="noStrike">
                          <a:solidFill>
                            <a:srgbClr val="000000"/>
                          </a:solidFill>
                          <a:effectLst/>
                          <a:latin typeface="+mn-lt"/>
                        </a:rPr>
                        <a:t>Atributo del alumno</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atributo de alumno está activo para la regla se permiso de sobrepaso de inscripción.</a:t>
                      </a:r>
                    </a:p>
                  </a:txBody>
                  <a:tcPr marL="0" marR="0" marT="0" marB="0" anchor="ctr"/>
                </a:tc>
                <a:extLst>
                  <a:ext uri="{0D108BD9-81ED-4DB2-BD59-A6C34878D82A}">
                    <a16:rowId xmlns:a16="http://schemas.microsoft.com/office/drawing/2014/main" val="1226137608"/>
                  </a:ext>
                </a:extLst>
              </a:tr>
              <a:tr h="433630">
                <a:tc>
                  <a:txBody>
                    <a:bodyPr/>
                    <a:lstStyle/>
                    <a:p>
                      <a:pPr algn="ctr" fontAlgn="ctr"/>
                      <a:r>
                        <a:rPr lang="es-419" sz="1200" b="0" i="0" u="none" strike="noStrike" dirty="0">
                          <a:solidFill>
                            <a:srgbClr val="000000"/>
                          </a:solidFill>
                          <a:effectLst/>
                          <a:latin typeface="+mn-lt"/>
                        </a:rPr>
                        <a:t>Cohorte</a:t>
                      </a:r>
                    </a:p>
                  </a:txBody>
                  <a:tcPr marL="0" marR="0" marT="0" marB="0" anchor="ctr"/>
                </a:tc>
                <a:tc>
                  <a:txBody>
                    <a:bodyPr/>
                    <a:lstStyle/>
                    <a:p>
                      <a:pPr algn="l" fontAlgn="ctr"/>
                      <a:r>
                        <a:rPr lang="es-419" sz="1200" b="0" i="0" u="none" strike="noStrike" dirty="0">
                          <a:solidFill>
                            <a:srgbClr val="000000"/>
                          </a:solidFill>
                          <a:effectLst/>
                          <a:latin typeface="+mn-lt"/>
                        </a:rPr>
                        <a:t>Casilla usada para indicar que el sobrepaso de cohorte está activo para la regla de permiso de sobrepaso de inscripción.</a:t>
                      </a:r>
                    </a:p>
                  </a:txBody>
                  <a:tcPr marL="0" marR="0" marT="0" marB="0" anchor="ctr"/>
                </a:tc>
                <a:extLst>
                  <a:ext uri="{0D108BD9-81ED-4DB2-BD59-A6C34878D82A}">
                    <a16:rowId xmlns:a16="http://schemas.microsoft.com/office/drawing/2014/main" val="4216562836"/>
                  </a:ext>
                </a:extLst>
              </a:tr>
            </a:tbl>
          </a:graphicData>
        </a:graphic>
      </p:graphicFrame>
    </p:spTree>
    <p:extLst>
      <p:ext uri="{BB962C8B-B14F-4D97-AF65-F5344CB8AC3E}">
        <p14:creationId xmlns:p14="http://schemas.microsoft.com/office/powerpoint/2010/main" val="26509277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E617D-B69E-76DD-142E-1EECEFAE582A}"/>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903006ED-AF28-E471-67C0-DFD223E165E8}"/>
              </a:ext>
            </a:extLst>
          </p:cNvPr>
          <p:cNvSpPr>
            <a:spLocks noGrp="1"/>
          </p:cNvSpPr>
          <p:nvPr>
            <p:ph type="body" orient="vert" sz="quarter" idx="10"/>
          </p:nvPr>
        </p:nvSpPr>
        <p:spPr/>
        <p:txBody>
          <a:bodyPr/>
          <a:lstStyle/>
          <a:p>
            <a:r>
              <a:rPr lang="es-419" sz="1200" dirty="0"/>
              <a:t>Gestionar los sobrepasos de inscripción</a:t>
            </a:r>
            <a:endParaRPr lang="es-419" dirty="0"/>
          </a:p>
        </p:txBody>
      </p:sp>
      <p:sp>
        <p:nvSpPr>
          <p:cNvPr id="16" name="Title 15">
            <a:extLst>
              <a:ext uri="{FF2B5EF4-FFF2-40B4-BE49-F238E27FC236}">
                <a16:creationId xmlns:a16="http://schemas.microsoft.com/office/drawing/2014/main" id="{817B7ADD-E333-08B9-0D06-89A394B7566D}"/>
              </a:ext>
            </a:extLst>
          </p:cNvPr>
          <p:cNvSpPr>
            <a:spLocks noGrp="1"/>
          </p:cNvSpPr>
          <p:nvPr>
            <p:ph type="title"/>
          </p:nvPr>
        </p:nvSpPr>
        <p:spPr/>
        <p:txBody>
          <a:bodyPr/>
          <a:lstStyle/>
          <a:p>
            <a:r>
              <a:rPr lang="es-419" sz="3200" b="1" dirty="0">
                <a:solidFill>
                  <a:schemeClr val="bg1"/>
                </a:solidFill>
              </a:rPr>
              <a:t>Gestionar los sobrepasos de inscripción</a:t>
            </a:r>
          </a:p>
        </p:txBody>
      </p:sp>
      <p:sp>
        <p:nvSpPr>
          <p:cNvPr id="17" name="Text Placeholder 16">
            <a:extLst>
              <a:ext uri="{FF2B5EF4-FFF2-40B4-BE49-F238E27FC236}">
                <a16:creationId xmlns:a16="http://schemas.microsoft.com/office/drawing/2014/main" id="{75262357-F17D-6E88-FFF9-CA747CE558F0}"/>
              </a:ext>
            </a:extLst>
          </p:cNvPr>
          <p:cNvSpPr>
            <a:spLocks noGrp="1"/>
          </p:cNvSpPr>
          <p:nvPr>
            <p:ph type="body" sz="quarter" idx="18"/>
          </p:nvPr>
        </p:nvSpPr>
        <p:spPr>
          <a:xfrm>
            <a:off x="962494" y="3577587"/>
            <a:ext cx="7092820" cy="774441"/>
          </a:xfrm>
        </p:spPr>
        <p:txBody>
          <a:bodyPr/>
          <a:lstStyle/>
          <a:p>
            <a:endParaRPr lang="en-US" dirty="0"/>
          </a:p>
        </p:txBody>
      </p:sp>
    </p:spTree>
    <p:extLst>
      <p:ext uri="{BB962C8B-B14F-4D97-AF65-F5344CB8AC3E}">
        <p14:creationId xmlns:p14="http://schemas.microsoft.com/office/powerpoint/2010/main" val="3744597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697AE-DFC6-16E2-2C5C-E4630C25F456}"/>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618A1CC5-26B1-D77F-7915-B860EF34999A}"/>
              </a:ext>
            </a:extLst>
          </p:cNvPr>
          <p:cNvSpPr>
            <a:spLocks noGrp="1"/>
          </p:cNvSpPr>
          <p:nvPr>
            <p:ph type="body" sz="quarter" idx="10"/>
          </p:nvPr>
        </p:nvSpPr>
        <p:spPr/>
        <p:txBody>
          <a:bodyPr/>
          <a:lstStyle/>
          <a:p>
            <a:r>
              <a:rPr lang="es-419" dirty="0"/>
              <a:t>Permisos-Sobrepaso de inscripción por autoservicios </a:t>
            </a:r>
          </a:p>
        </p:txBody>
      </p:sp>
      <p:sp>
        <p:nvSpPr>
          <p:cNvPr id="2" name="Marcador de texto vertical 1">
            <a:extLst>
              <a:ext uri="{FF2B5EF4-FFF2-40B4-BE49-F238E27FC236}">
                <a16:creationId xmlns:a16="http://schemas.microsoft.com/office/drawing/2014/main" id="{FCF0BCAA-90F0-EC38-13B8-2CE3013BBDD5}"/>
              </a:ext>
            </a:extLst>
          </p:cNvPr>
          <p:cNvSpPr>
            <a:spLocks noGrp="1"/>
          </p:cNvSpPr>
          <p:nvPr>
            <p:ph type="body" sz="quarter" idx="11"/>
          </p:nvPr>
        </p:nvSpPr>
        <p:spPr/>
        <p:txBody>
          <a:bodyPr vert="horz" lIns="0" tIns="0" rIns="0" bIns="0" rtlCol="0">
            <a:spAutoFit/>
          </a:bodyPr>
          <a:lstStyle/>
          <a:p>
            <a:r>
              <a:rPr lang="es-419" dirty="0"/>
              <a:t>Gestionar los sobrepasos de inscripción</a:t>
            </a:r>
          </a:p>
        </p:txBody>
      </p:sp>
    </p:spTree>
    <p:extLst>
      <p:ext uri="{BB962C8B-B14F-4D97-AF65-F5344CB8AC3E}">
        <p14:creationId xmlns:p14="http://schemas.microsoft.com/office/powerpoint/2010/main" val="32318227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2D9F3-214C-0D98-E9F9-1EDAC3152E29}"/>
            </a:ext>
          </a:extLst>
        </p:cNvPr>
        <p:cNvGrpSpPr/>
        <p:nvPr/>
      </p:nvGrpSpPr>
      <p:grpSpPr>
        <a:xfrm>
          <a:off x="0" y="0"/>
          <a:ext cx="0" cy="0"/>
          <a:chOff x="0" y="0"/>
          <a:chExt cx="0" cy="0"/>
        </a:xfrm>
      </p:grpSpPr>
      <p:pic>
        <p:nvPicPr>
          <p:cNvPr id="7" name="Imagen 6">
            <a:extLst>
              <a:ext uri="{FF2B5EF4-FFF2-40B4-BE49-F238E27FC236}">
                <a16:creationId xmlns:a16="http://schemas.microsoft.com/office/drawing/2014/main" id="{21F24BA8-3AD5-BDDA-C6BE-EAF669355953}"/>
              </a:ext>
            </a:extLst>
          </p:cNvPr>
          <p:cNvPicPr>
            <a:picLocks noChangeAspect="1"/>
          </p:cNvPicPr>
          <p:nvPr/>
        </p:nvPicPr>
        <p:blipFill>
          <a:blip r:embed="rId3"/>
          <a:stretch>
            <a:fillRect/>
          </a:stretch>
        </p:blipFill>
        <p:spPr>
          <a:xfrm>
            <a:off x="766492" y="1334994"/>
            <a:ext cx="11370502" cy="981089"/>
          </a:xfrm>
          <a:prstGeom prst="rect">
            <a:avLst/>
          </a:prstGeom>
        </p:spPr>
      </p:pic>
      <p:sp>
        <p:nvSpPr>
          <p:cNvPr id="2" name="Marcador de texto vertical 1">
            <a:extLst>
              <a:ext uri="{FF2B5EF4-FFF2-40B4-BE49-F238E27FC236}">
                <a16:creationId xmlns:a16="http://schemas.microsoft.com/office/drawing/2014/main" id="{48038EDF-0CA5-D958-ABF8-150D45443510}"/>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1BCC9BD1-4700-D9CD-16E3-D609E253319F}"/>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Permisos-Sobrepaso de inscripción de alumno (SFASRPO)</a:t>
            </a:r>
            <a:endParaRPr lang="es-ES_tradnl" dirty="0">
              <a:solidFill>
                <a:schemeClr val="tx2"/>
              </a:solidFill>
            </a:endParaRPr>
          </a:p>
        </p:txBody>
      </p:sp>
      <p:sp>
        <p:nvSpPr>
          <p:cNvPr id="5" name="Rectángulo: esquinas redondeadas 4">
            <a:extLst>
              <a:ext uri="{FF2B5EF4-FFF2-40B4-BE49-F238E27FC236}">
                <a16:creationId xmlns:a16="http://schemas.microsoft.com/office/drawing/2014/main" id="{6DC7AFF8-A4A0-AC64-13B9-B7317D209CEC}"/>
              </a:ext>
            </a:extLst>
          </p:cNvPr>
          <p:cNvSpPr/>
          <p:nvPr/>
        </p:nvSpPr>
        <p:spPr>
          <a:xfrm>
            <a:off x="2690959" y="3428999"/>
            <a:ext cx="7176942" cy="12192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En SFASRPO podemos asignar una condición de sobrepaso a un estudiante para un periodo académico determinado en función a lo configurado en SFAROVR. Para ello:</a:t>
            </a:r>
          </a:p>
          <a:p>
            <a:endParaRPr lang="es-ES_tradnl" sz="1200" dirty="0"/>
          </a:p>
          <a:p>
            <a:pPr marL="228600" indent="-228600">
              <a:buFont typeface="+mj-lt"/>
              <a:buAutoNum type="arabicPeriod"/>
            </a:pPr>
            <a:r>
              <a:rPr lang="es-ES_tradnl" sz="1200" dirty="0"/>
              <a:t>Ingrese en ID del estudiante</a:t>
            </a:r>
          </a:p>
          <a:p>
            <a:pPr marL="228600" indent="-228600">
              <a:buFont typeface="+mj-lt"/>
              <a:buAutoNum type="arabicPeriod"/>
            </a:pPr>
            <a:r>
              <a:rPr lang="es-ES_tradnl" sz="1200" dirty="0"/>
              <a:t>Ingrese o seleccione el período académico en el cual se le asignará el sobrepaso</a:t>
            </a:r>
          </a:p>
          <a:p>
            <a:pPr marL="228600" indent="-228600">
              <a:buFont typeface="+mj-lt"/>
              <a:buAutoNum type="arabicPeriod"/>
            </a:pPr>
            <a:r>
              <a:rPr lang="es-ES_tradnl" sz="1200" dirty="0"/>
              <a:t>Presione el botón ‘Ir’</a:t>
            </a:r>
          </a:p>
        </p:txBody>
      </p:sp>
      <p:sp>
        <p:nvSpPr>
          <p:cNvPr id="6" name="Rectángulo 5">
            <a:extLst>
              <a:ext uri="{FF2B5EF4-FFF2-40B4-BE49-F238E27FC236}">
                <a16:creationId xmlns:a16="http://schemas.microsoft.com/office/drawing/2014/main" id="{77E5FE97-AE6E-502E-2F57-5040FD80D78C}"/>
              </a:ext>
            </a:extLst>
          </p:cNvPr>
          <p:cNvSpPr/>
          <p:nvPr/>
        </p:nvSpPr>
        <p:spPr>
          <a:xfrm>
            <a:off x="11759188" y="1747636"/>
            <a:ext cx="411582" cy="2593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56948912-D652-1270-979B-B6529FA91ADC}"/>
              </a:ext>
            </a:extLst>
          </p:cNvPr>
          <p:cNvSpPr/>
          <p:nvPr/>
        </p:nvSpPr>
        <p:spPr>
          <a:xfrm>
            <a:off x="11518340" y="198971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9" name="Rectángulo 8">
            <a:extLst>
              <a:ext uri="{FF2B5EF4-FFF2-40B4-BE49-F238E27FC236}">
                <a16:creationId xmlns:a16="http://schemas.microsoft.com/office/drawing/2014/main" id="{84836BB2-3B79-EB89-84B6-4AB8AF521598}"/>
              </a:ext>
            </a:extLst>
          </p:cNvPr>
          <p:cNvSpPr/>
          <p:nvPr/>
        </p:nvSpPr>
        <p:spPr>
          <a:xfrm>
            <a:off x="1458090" y="1735486"/>
            <a:ext cx="1818510" cy="2593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0" name="Rectángulo redondeado 15">
            <a:extLst>
              <a:ext uri="{FF2B5EF4-FFF2-40B4-BE49-F238E27FC236}">
                <a16:creationId xmlns:a16="http://schemas.microsoft.com/office/drawing/2014/main" id="{7220AD7E-C6A0-F3A3-A7B3-9F51896BA930}"/>
              </a:ext>
            </a:extLst>
          </p:cNvPr>
          <p:cNvSpPr/>
          <p:nvPr/>
        </p:nvSpPr>
        <p:spPr>
          <a:xfrm>
            <a:off x="3339295" y="209323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a:t>
            </a:r>
            <a:endParaRPr lang="es-419" sz="1100" noProof="0" dirty="0"/>
          </a:p>
        </p:txBody>
      </p:sp>
      <p:sp>
        <p:nvSpPr>
          <p:cNvPr id="15" name="Rectángulo 14">
            <a:extLst>
              <a:ext uri="{FF2B5EF4-FFF2-40B4-BE49-F238E27FC236}">
                <a16:creationId xmlns:a16="http://schemas.microsoft.com/office/drawing/2014/main" id="{AB0C270C-7AF7-A389-CA92-E255857AF6A8}"/>
              </a:ext>
            </a:extLst>
          </p:cNvPr>
          <p:cNvSpPr/>
          <p:nvPr/>
        </p:nvSpPr>
        <p:spPr>
          <a:xfrm>
            <a:off x="6196395" y="1735486"/>
            <a:ext cx="1818510" cy="259373"/>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2" name="Rectángulo redondeado 15">
            <a:extLst>
              <a:ext uri="{FF2B5EF4-FFF2-40B4-BE49-F238E27FC236}">
                <a16:creationId xmlns:a16="http://schemas.microsoft.com/office/drawing/2014/main" id="{905A5131-5FC9-7211-0B36-66C5215AE3CB}"/>
              </a:ext>
            </a:extLst>
          </p:cNvPr>
          <p:cNvSpPr/>
          <p:nvPr/>
        </p:nvSpPr>
        <p:spPr>
          <a:xfrm>
            <a:off x="8077600" y="209323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a:t>
            </a:r>
            <a:endParaRPr lang="es-419" sz="1100" noProof="0" dirty="0"/>
          </a:p>
        </p:txBody>
      </p:sp>
    </p:spTree>
    <p:extLst>
      <p:ext uri="{BB962C8B-B14F-4D97-AF65-F5344CB8AC3E}">
        <p14:creationId xmlns:p14="http://schemas.microsoft.com/office/powerpoint/2010/main" val="420129552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E99ED-ED24-96B7-6BFB-FAEAE7106612}"/>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CC0A8B5-013C-3149-B5D3-EBB9879CAB28}"/>
              </a:ext>
            </a:extLst>
          </p:cNvPr>
          <p:cNvPicPr>
            <a:picLocks noChangeAspect="1"/>
          </p:cNvPicPr>
          <p:nvPr/>
        </p:nvPicPr>
        <p:blipFill>
          <a:blip r:embed="rId3"/>
          <a:stretch>
            <a:fillRect/>
          </a:stretch>
        </p:blipFill>
        <p:spPr>
          <a:xfrm>
            <a:off x="775507" y="1094527"/>
            <a:ext cx="11116573" cy="4928444"/>
          </a:xfrm>
          <a:prstGeom prst="rect">
            <a:avLst/>
          </a:prstGeom>
        </p:spPr>
      </p:pic>
      <p:sp>
        <p:nvSpPr>
          <p:cNvPr id="2" name="Marcador de texto vertical 1">
            <a:extLst>
              <a:ext uri="{FF2B5EF4-FFF2-40B4-BE49-F238E27FC236}">
                <a16:creationId xmlns:a16="http://schemas.microsoft.com/office/drawing/2014/main" id="{D4230917-974F-DDEA-E5D9-C521A702E0AB}"/>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28020367-757B-EF93-268A-94ECDA7E4272}"/>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Permisos-Sobrepaso de inscripción de alumno (SFASRPO)</a:t>
            </a:r>
            <a:endParaRPr lang="es-ES_tradnl" dirty="0">
              <a:solidFill>
                <a:schemeClr val="tx2"/>
              </a:solidFill>
            </a:endParaRPr>
          </a:p>
        </p:txBody>
      </p:sp>
      <p:sp>
        <p:nvSpPr>
          <p:cNvPr id="5" name="Rectángulo: esquinas redondeadas 4">
            <a:extLst>
              <a:ext uri="{FF2B5EF4-FFF2-40B4-BE49-F238E27FC236}">
                <a16:creationId xmlns:a16="http://schemas.microsoft.com/office/drawing/2014/main" id="{C44962BA-1451-E3DC-6A38-9EEFBDEEE0CD}"/>
              </a:ext>
            </a:extLst>
          </p:cNvPr>
          <p:cNvSpPr/>
          <p:nvPr/>
        </p:nvSpPr>
        <p:spPr>
          <a:xfrm>
            <a:off x="2271859" y="4253541"/>
            <a:ext cx="7176942" cy="12192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Al ingresar a la página administrativa, en la sección de información ‘Permisos de sobrepaso de alumno’ se podrá visualizar todos los sobrepasos que pudiera tener el estudiante asignado. </a:t>
            </a:r>
          </a:p>
          <a:p>
            <a:r>
              <a:rPr lang="es-ES_tradnl" sz="1200" dirty="0"/>
              <a:t>En la sección de información ‘Horario de Alumno’ se visualizarían los NRC que a la fecha estuvieran inscritos, siendo solo de carácter informativo.</a:t>
            </a:r>
          </a:p>
        </p:txBody>
      </p:sp>
      <p:sp>
        <p:nvSpPr>
          <p:cNvPr id="9" name="Rectángulo 8">
            <a:extLst>
              <a:ext uri="{FF2B5EF4-FFF2-40B4-BE49-F238E27FC236}">
                <a16:creationId xmlns:a16="http://schemas.microsoft.com/office/drawing/2014/main" id="{D0385EE5-1967-511D-7B30-C9EF698B6248}"/>
              </a:ext>
            </a:extLst>
          </p:cNvPr>
          <p:cNvSpPr/>
          <p:nvPr/>
        </p:nvSpPr>
        <p:spPr>
          <a:xfrm>
            <a:off x="825500" y="1887887"/>
            <a:ext cx="10730212" cy="62671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B4847499-C7C0-49C2-D12D-DD8DB3105CC9}"/>
              </a:ext>
            </a:extLst>
          </p:cNvPr>
          <p:cNvSpPr/>
          <p:nvPr/>
        </p:nvSpPr>
        <p:spPr>
          <a:xfrm>
            <a:off x="825500" y="2577952"/>
            <a:ext cx="10730212" cy="121920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9474366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2B9A2-0B41-D8C7-7E98-F6ABD0F73A2B}"/>
            </a:ext>
          </a:extLst>
        </p:cNvPr>
        <p:cNvGrpSpPr/>
        <p:nvPr/>
      </p:nvGrpSpPr>
      <p:grpSpPr>
        <a:xfrm>
          <a:off x="0" y="0"/>
          <a:ext cx="0" cy="0"/>
          <a:chOff x="0" y="0"/>
          <a:chExt cx="0" cy="0"/>
        </a:xfrm>
      </p:grpSpPr>
      <p:pic>
        <p:nvPicPr>
          <p:cNvPr id="12" name="Imagen 11">
            <a:extLst>
              <a:ext uri="{FF2B5EF4-FFF2-40B4-BE49-F238E27FC236}">
                <a16:creationId xmlns:a16="http://schemas.microsoft.com/office/drawing/2014/main" id="{9706145A-AC2D-07F6-A36A-B0916D195025}"/>
              </a:ext>
            </a:extLst>
          </p:cNvPr>
          <p:cNvPicPr>
            <a:picLocks noChangeAspect="1"/>
          </p:cNvPicPr>
          <p:nvPr/>
        </p:nvPicPr>
        <p:blipFill>
          <a:blip r:embed="rId3"/>
          <a:stretch>
            <a:fillRect/>
          </a:stretch>
        </p:blipFill>
        <p:spPr>
          <a:xfrm>
            <a:off x="842142" y="1435100"/>
            <a:ext cx="10823771" cy="4798633"/>
          </a:xfrm>
          <a:prstGeom prst="rect">
            <a:avLst/>
          </a:prstGeom>
        </p:spPr>
      </p:pic>
      <p:sp>
        <p:nvSpPr>
          <p:cNvPr id="2" name="Marcador de texto vertical 1">
            <a:extLst>
              <a:ext uri="{FF2B5EF4-FFF2-40B4-BE49-F238E27FC236}">
                <a16:creationId xmlns:a16="http://schemas.microsoft.com/office/drawing/2014/main" id="{7AE70E0A-635B-BDE7-BF2C-99C81320EA57}"/>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0BB8EEC7-FD90-76B7-6C96-727307751936}"/>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Permisos-Sobrepaso de inscripción de alumno (SFASRPO)</a:t>
            </a:r>
            <a:endParaRPr lang="es-ES_tradnl" dirty="0">
              <a:solidFill>
                <a:schemeClr val="tx2"/>
              </a:solidFill>
            </a:endParaRPr>
          </a:p>
        </p:txBody>
      </p:sp>
      <p:sp>
        <p:nvSpPr>
          <p:cNvPr id="5" name="Rectángulo: esquinas redondeadas 4">
            <a:extLst>
              <a:ext uri="{FF2B5EF4-FFF2-40B4-BE49-F238E27FC236}">
                <a16:creationId xmlns:a16="http://schemas.microsoft.com/office/drawing/2014/main" id="{9F9490AD-9C72-A0DD-E97A-7595DF770806}"/>
              </a:ext>
            </a:extLst>
          </p:cNvPr>
          <p:cNvSpPr/>
          <p:nvPr/>
        </p:nvSpPr>
        <p:spPr>
          <a:xfrm>
            <a:off x="2271858" y="4253541"/>
            <a:ext cx="7964341" cy="116935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419" sz="1200" dirty="0"/>
              <a:t>Ingrese o seleccione el código de permiso que se asignará al estudiante en el campo Permitir.</a:t>
            </a:r>
          </a:p>
          <a:p>
            <a:pPr marL="228600" indent="-228600">
              <a:buFont typeface="+mj-lt"/>
              <a:buAutoNum type="arabicPeriod" startAt="4"/>
            </a:pPr>
            <a:r>
              <a:rPr lang="es-419" sz="1200" dirty="0"/>
              <a:t>Se requiere definir si dicho sobrepaso aplica para un NRC en particular (con lo cual se llenarán los campos Materia y Curso) o para una asignatura en general (implica que el sobrepaso aplica para cualquier NRC de esa asignatura), para ello se han de completar los campos ‘NRC’ o ‘Materia’ y ‘Número de Curso’ según corresponda</a:t>
            </a:r>
            <a:r>
              <a:rPr lang="es-ES_tradnl" sz="1200" dirty="0"/>
              <a:t>.</a:t>
            </a:r>
          </a:p>
          <a:p>
            <a:pPr marL="228600" indent="-228600">
              <a:buFont typeface="+mj-lt"/>
              <a:buAutoNum type="arabicPeriod" startAt="4"/>
            </a:pPr>
            <a:r>
              <a:rPr lang="es-ES_tradnl" sz="1200" dirty="0"/>
              <a:t>Guarde la información</a:t>
            </a:r>
          </a:p>
          <a:p>
            <a:pPr marL="228600" indent="-228600">
              <a:buFont typeface="+mj-lt"/>
              <a:buAutoNum type="arabicPeriod" startAt="4"/>
            </a:pPr>
            <a:r>
              <a:rPr lang="es-ES_tradnl" sz="1200" dirty="0"/>
              <a:t>Se puede asignar más de un permiso</a:t>
            </a:r>
          </a:p>
        </p:txBody>
      </p:sp>
      <p:sp>
        <p:nvSpPr>
          <p:cNvPr id="9" name="Rectángulo 8">
            <a:extLst>
              <a:ext uri="{FF2B5EF4-FFF2-40B4-BE49-F238E27FC236}">
                <a16:creationId xmlns:a16="http://schemas.microsoft.com/office/drawing/2014/main" id="{F8AFE558-3829-29AD-753E-76E1F739F5A8}"/>
              </a:ext>
            </a:extLst>
          </p:cNvPr>
          <p:cNvSpPr/>
          <p:nvPr/>
        </p:nvSpPr>
        <p:spPr>
          <a:xfrm>
            <a:off x="825500" y="2184400"/>
            <a:ext cx="1257300" cy="2391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125C81AF-960D-057F-F444-27DF98F080A4}"/>
              </a:ext>
            </a:extLst>
          </p:cNvPr>
          <p:cNvSpPr/>
          <p:nvPr/>
        </p:nvSpPr>
        <p:spPr>
          <a:xfrm flipV="1">
            <a:off x="4838700" y="2184400"/>
            <a:ext cx="3568700" cy="23914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49A27D44-04AD-24C3-B516-55835B771FF1}"/>
              </a:ext>
            </a:extLst>
          </p:cNvPr>
          <p:cNvSpPr/>
          <p:nvPr/>
        </p:nvSpPr>
        <p:spPr>
          <a:xfrm>
            <a:off x="8407400" y="2487004"/>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5</a:t>
            </a:r>
            <a:endParaRPr lang="es-419" sz="1100" noProof="0" dirty="0"/>
          </a:p>
        </p:txBody>
      </p:sp>
      <p:sp>
        <p:nvSpPr>
          <p:cNvPr id="4" name="Rectángulo redondeado 15">
            <a:extLst>
              <a:ext uri="{FF2B5EF4-FFF2-40B4-BE49-F238E27FC236}">
                <a16:creationId xmlns:a16="http://schemas.microsoft.com/office/drawing/2014/main" id="{5CFA0835-CF06-6206-3DBB-DB888ADBEF6A}"/>
              </a:ext>
            </a:extLst>
          </p:cNvPr>
          <p:cNvSpPr/>
          <p:nvPr/>
        </p:nvSpPr>
        <p:spPr>
          <a:xfrm>
            <a:off x="2142724" y="2443645"/>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6" name="Rectángulo 5">
            <a:extLst>
              <a:ext uri="{FF2B5EF4-FFF2-40B4-BE49-F238E27FC236}">
                <a16:creationId xmlns:a16="http://schemas.microsoft.com/office/drawing/2014/main" id="{8FDACA9A-24A6-5CCB-0671-3DB7603AAB5B}"/>
              </a:ext>
            </a:extLst>
          </p:cNvPr>
          <p:cNvSpPr/>
          <p:nvPr/>
        </p:nvSpPr>
        <p:spPr>
          <a:xfrm>
            <a:off x="11081900" y="5991522"/>
            <a:ext cx="669186" cy="24963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4A711E61-FF11-2DA9-19C3-C776EDC9C3A8}"/>
              </a:ext>
            </a:extLst>
          </p:cNvPr>
          <p:cNvSpPr/>
          <p:nvPr/>
        </p:nvSpPr>
        <p:spPr>
          <a:xfrm>
            <a:off x="10701776" y="588443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Tree>
    <p:extLst>
      <p:ext uri="{BB962C8B-B14F-4D97-AF65-F5344CB8AC3E}">
        <p14:creationId xmlns:p14="http://schemas.microsoft.com/office/powerpoint/2010/main" val="17736323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5D152-046D-2E8A-627C-29882D1794AA}"/>
            </a:ext>
          </a:extLst>
        </p:cNvPr>
        <p:cNvGrpSpPr/>
        <p:nvPr/>
      </p:nvGrpSpPr>
      <p:grpSpPr>
        <a:xfrm>
          <a:off x="0" y="0"/>
          <a:ext cx="0" cy="0"/>
          <a:chOff x="0" y="0"/>
          <a:chExt cx="0" cy="0"/>
        </a:xfrm>
      </p:grpSpPr>
      <p:pic>
        <p:nvPicPr>
          <p:cNvPr id="10" name="Imagen 9">
            <a:extLst>
              <a:ext uri="{FF2B5EF4-FFF2-40B4-BE49-F238E27FC236}">
                <a16:creationId xmlns:a16="http://schemas.microsoft.com/office/drawing/2014/main" id="{17E9EBFD-4601-D670-57C8-03EB17BBF203}"/>
              </a:ext>
            </a:extLst>
          </p:cNvPr>
          <p:cNvPicPr>
            <a:picLocks noChangeAspect="1"/>
          </p:cNvPicPr>
          <p:nvPr/>
        </p:nvPicPr>
        <p:blipFill>
          <a:blip r:embed="rId3"/>
          <a:stretch>
            <a:fillRect/>
          </a:stretch>
        </p:blipFill>
        <p:spPr>
          <a:xfrm>
            <a:off x="938996" y="946989"/>
            <a:ext cx="10852087" cy="5193622"/>
          </a:xfrm>
          <a:prstGeom prst="rect">
            <a:avLst/>
          </a:prstGeom>
        </p:spPr>
      </p:pic>
      <p:sp>
        <p:nvSpPr>
          <p:cNvPr id="2" name="Marcador de texto vertical 1">
            <a:extLst>
              <a:ext uri="{FF2B5EF4-FFF2-40B4-BE49-F238E27FC236}">
                <a16:creationId xmlns:a16="http://schemas.microsoft.com/office/drawing/2014/main" id="{FED677FA-4683-7F5F-430C-8DA42EE28954}"/>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03C09A2E-E24C-9328-83EE-10CD50C7431C}"/>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Autoservicio – Estudiante sin sobrepaso</a:t>
            </a:r>
            <a:endParaRPr lang="es-ES_tradnl" dirty="0">
              <a:solidFill>
                <a:schemeClr val="tx2"/>
              </a:solidFill>
            </a:endParaRPr>
          </a:p>
        </p:txBody>
      </p:sp>
      <p:sp>
        <p:nvSpPr>
          <p:cNvPr id="5" name="Rectángulo: esquinas redondeadas 4">
            <a:extLst>
              <a:ext uri="{FF2B5EF4-FFF2-40B4-BE49-F238E27FC236}">
                <a16:creationId xmlns:a16="http://schemas.microsoft.com/office/drawing/2014/main" id="{94980009-5967-A2FA-B375-374E4C3B9E59}"/>
              </a:ext>
            </a:extLst>
          </p:cNvPr>
          <p:cNvSpPr/>
          <p:nvPr/>
        </p:nvSpPr>
        <p:spPr>
          <a:xfrm>
            <a:off x="2018361" y="3829616"/>
            <a:ext cx="7964341" cy="96524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Si el estudiante no tiene sobrepasos, al ingresar el NRC aparece el mensaje de Restricción de nivel</a:t>
            </a:r>
          </a:p>
          <a:p>
            <a:pPr marL="228600" indent="-228600">
              <a:buAutoNum type="arabicPeriod"/>
            </a:pPr>
            <a:r>
              <a:rPr lang="es-ES_tradnl" sz="1200" dirty="0"/>
              <a:t>En la sección de resumen aparece el mensaje de ‘</a:t>
            </a:r>
            <a:r>
              <a:rPr lang="es-ES_tradnl" sz="1200" b="1" dirty="0"/>
              <a:t>Errores impiden la inscripción</a:t>
            </a:r>
            <a:r>
              <a:rPr lang="es-ES_tradnl" sz="1200" dirty="0"/>
              <a:t>’</a:t>
            </a:r>
          </a:p>
        </p:txBody>
      </p:sp>
      <p:sp>
        <p:nvSpPr>
          <p:cNvPr id="9" name="Rectángulo 8">
            <a:extLst>
              <a:ext uri="{FF2B5EF4-FFF2-40B4-BE49-F238E27FC236}">
                <a16:creationId xmlns:a16="http://schemas.microsoft.com/office/drawing/2014/main" id="{EDF84BF4-59FC-BF0F-79B1-FF3199E1A16C}"/>
              </a:ext>
            </a:extLst>
          </p:cNvPr>
          <p:cNvSpPr/>
          <p:nvPr/>
        </p:nvSpPr>
        <p:spPr>
          <a:xfrm>
            <a:off x="1014558" y="1014293"/>
            <a:ext cx="2778844" cy="3256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E9162938-A07A-1E87-713D-5A9E1525DA05}"/>
              </a:ext>
            </a:extLst>
          </p:cNvPr>
          <p:cNvSpPr/>
          <p:nvPr/>
        </p:nvSpPr>
        <p:spPr>
          <a:xfrm flipV="1">
            <a:off x="9361283" y="5301132"/>
            <a:ext cx="2218100" cy="24963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A24967D6-D7A6-9126-36EF-3F595C1759ED}"/>
              </a:ext>
            </a:extLst>
          </p:cNvPr>
          <p:cNvSpPr/>
          <p:nvPr/>
        </p:nvSpPr>
        <p:spPr>
          <a:xfrm>
            <a:off x="9020448" y="538732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4" name="Rectángulo redondeado 15">
            <a:extLst>
              <a:ext uri="{FF2B5EF4-FFF2-40B4-BE49-F238E27FC236}">
                <a16:creationId xmlns:a16="http://schemas.microsoft.com/office/drawing/2014/main" id="{24848DE0-A273-A2B3-6EE3-8BDDE77BA893}"/>
              </a:ext>
            </a:extLst>
          </p:cNvPr>
          <p:cNvSpPr/>
          <p:nvPr/>
        </p:nvSpPr>
        <p:spPr>
          <a:xfrm>
            <a:off x="3868964" y="103032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6" name="Rectángulo 5">
            <a:extLst>
              <a:ext uri="{FF2B5EF4-FFF2-40B4-BE49-F238E27FC236}">
                <a16:creationId xmlns:a16="http://schemas.microsoft.com/office/drawing/2014/main" id="{75F8E292-2C52-FA32-A32C-009E0C3F1AF3}"/>
              </a:ext>
            </a:extLst>
          </p:cNvPr>
          <p:cNvSpPr/>
          <p:nvPr/>
        </p:nvSpPr>
        <p:spPr>
          <a:xfrm>
            <a:off x="11081900" y="5991522"/>
            <a:ext cx="669186" cy="24963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8" name="Rectángulo redondeado 15">
            <a:extLst>
              <a:ext uri="{FF2B5EF4-FFF2-40B4-BE49-F238E27FC236}">
                <a16:creationId xmlns:a16="http://schemas.microsoft.com/office/drawing/2014/main" id="{111F4061-4E26-7959-BC2B-95248E763C57}"/>
              </a:ext>
            </a:extLst>
          </p:cNvPr>
          <p:cNvSpPr/>
          <p:nvPr/>
        </p:nvSpPr>
        <p:spPr>
          <a:xfrm>
            <a:off x="10701776" y="588443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Tree>
    <p:extLst>
      <p:ext uri="{BB962C8B-B14F-4D97-AF65-F5344CB8AC3E}">
        <p14:creationId xmlns:p14="http://schemas.microsoft.com/office/powerpoint/2010/main" val="36877515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88BDE3-A9B6-52E5-D826-FD3204E5253D}"/>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7CBABF34-19DF-F79F-995A-A97C3BFE6D92}"/>
              </a:ext>
            </a:extLst>
          </p:cNvPr>
          <p:cNvPicPr>
            <a:picLocks noChangeAspect="1"/>
          </p:cNvPicPr>
          <p:nvPr/>
        </p:nvPicPr>
        <p:blipFill>
          <a:blip r:embed="rId3"/>
          <a:stretch>
            <a:fillRect/>
          </a:stretch>
        </p:blipFill>
        <p:spPr>
          <a:xfrm>
            <a:off x="948049" y="5652615"/>
            <a:ext cx="10812090" cy="614322"/>
          </a:xfrm>
          <a:prstGeom prst="rect">
            <a:avLst/>
          </a:prstGeom>
        </p:spPr>
      </p:pic>
      <p:pic>
        <p:nvPicPr>
          <p:cNvPr id="12" name="Imagen 11">
            <a:extLst>
              <a:ext uri="{FF2B5EF4-FFF2-40B4-BE49-F238E27FC236}">
                <a16:creationId xmlns:a16="http://schemas.microsoft.com/office/drawing/2014/main" id="{12012620-D005-C880-3FA1-B7E1AB5C77DC}"/>
              </a:ext>
            </a:extLst>
          </p:cNvPr>
          <p:cNvPicPr>
            <a:picLocks noChangeAspect="1"/>
          </p:cNvPicPr>
          <p:nvPr/>
        </p:nvPicPr>
        <p:blipFill>
          <a:blip r:embed="rId4"/>
          <a:stretch>
            <a:fillRect/>
          </a:stretch>
        </p:blipFill>
        <p:spPr>
          <a:xfrm>
            <a:off x="1014558" y="879374"/>
            <a:ext cx="10635756" cy="4948306"/>
          </a:xfrm>
          <a:prstGeom prst="rect">
            <a:avLst/>
          </a:prstGeom>
        </p:spPr>
      </p:pic>
      <p:sp>
        <p:nvSpPr>
          <p:cNvPr id="2" name="Marcador de texto vertical 1">
            <a:extLst>
              <a:ext uri="{FF2B5EF4-FFF2-40B4-BE49-F238E27FC236}">
                <a16:creationId xmlns:a16="http://schemas.microsoft.com/office/drawing/2014/main" id="{DB12CD45-EDAE-C9F8-2158-9BD5EEA7D892}"/>
              </a:ext>
            </a:extLst>
          </p:cNvPr>
          <p:cNvSpPr>
            <a:spLocks noGrp="1"/>
          </p:cNvSpPr>
          <p:nvPr>
            <p:ph type="body" orient="vert" sz="quarter" idx="17"/>
          </p:nvPr>
        </p:nvSpPr>
        <p:spPr/>
        <p:txBody>
          <a:bodyPr/>
          <a:lstStyle/>
          <a:p>
            <a:r>
              <a:rPr lang="es-419" sz="1200" dirty="0"/>
              <a:t>Gestionar los sobrepasos de inscripción</a:t>
            </a:r>
          </a:p>
        </p:txBody>
      </p:sp>
      <p:sp>
        <p:nvSpPr>
          <p:cNvPr id="13" name="Title 12">
            <a:extLst>
              <a:ext uri="{FF2B5EF4-FFF2-40B4-BE49-F238E27FC236}">
                <a16:creationId xmlns:a16="http://schemas.microsoft.com/office/drawing/2014/main" id="{89B55693-473A-78DA-DC00-0C9C8C2C1C48}"/>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Autoservicio – Estudiante con sobrepaso</a:t>
            </a:r>
            <a:endParaRPr lang="es-ES_tradnl" dirty="0">
              <a:solidFill>
                <a:schemeClr val="tx2"/>
              </a:solidFill>
            </a:endParaRPr>
          </a:p>
        </p:txBody>
      </p:sp>
      <p:sp>
        <p:nvSpPr>
          <p:cNvPr id="5" name="Rectángulo: esquinas redondeadas 4">
            <a:extLst>
              <a:ext uri="{FF2B5EF4-FFF2-40B4-BE49-F238E27FC236}">
                <a16:creationId xmlns:a16="http://schemas.microsoft.com/office/drawing/2014/main" id="{9C921E0D-7834-2185-5D2C-92CC376C96F7}"/>
              </a:ext>
            </a:extLst>
          </p:cNvPr>
          <p:cNvSpPr/>
          <p:nvPr/>
        </p:nvSpPr>
        <p:spPr>
          <a:xfrm>
            <a:off x="2195573" y="2550178"/>
            <a:ext cx="7964341" cy="96524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AutoNum type="arabicPeriod"/>
            </a:pPr>
            <a:r>
              <a:rPr lang="es-ES_tradnl" sz="1200" dirty="0"/>
              <a:t>Al dar ENVIAR</a:t>
            </a:r>
          </a:p>
          <a:p>
            <a:pPr marL="228600" indent="-228600">
              <a:buAutoNum type="arabicPeriod"/>
            </a:pPr>
            <a:r>
              <a:rPr lang="es-ES_tradnl" sz="1200" dirty="0"/>
              <a:t>Si el estudiante tiene sobrepasos, el NRC le va aparecer como INSCRITO</a:t>
            </a:r>
          </a:p>
        </p:txBody>
      </p:sp>
      <p:sp>
        <p:nvSpPr>
          <p:cNvPr id="9" name="Rectángulo 8">
            <a:extLst>
              <a:ext uri="{FF2B5EF4-FFF2-40B4-BE49-F238E27FC236}">
                <a16:creationId xmlns:a16="http://schemas.microsoft.com/office/drawing/2014/main" id="{D1DA6C87-244C-52C7-7987-4B7EDE7383DC}"/>
              </a:ext>
            </a:extLst>
          </p:cNvPr>
          <p:cNvSpPr/>
          <p:nvPr/>
        </p:nvSpPr>
        <p:spPr>
          <a:xfrm>
            <a:off x="1014558" y="1014293"/>
            <a:ext cx="2778844" cy="32561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1" name="Rectángulo 10">
            <a:extLst>
              <a:ext uri="{FF2B5EF4-FFF2-40B4-BE49-F238E27FC236}">
                <a16:creationId xmlns:a16="http://schemas.microsoft.com/office/drawing/2014/main" id="{F1D7E9AA-56CD-AEC0-1260-40DC145C1554}"/>
              </a:ext>
            </a:extLst>
          </p:cNvPr>
          <p:cNvSpPr/>
          <p:nvPr/>
        </p:nvSpPr>
        <p:spPr>
          <a:xfrm flipV="1">
            <a:off x="9278718" y="4201746"/>
            <a:ext cx="2218100" cy="24963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3" name="Rectángulo redondeado 15">
            <a:extLst>
              <a:ext uri="{FF2B5EF4-FFF2-40B4-BE49-F238E27FC236}">
                <a16:creationId xmlns:a16="http://schemas.microsoft.com/office/drawing/2014/main" id="{FBEE67A8-40F5-F8BD-D190-25713B4764F3}"/>
              </a:ext>
            </a:extLst>
          </p:cNvPr>
          <p:cNvSpPr/>
          <p:nvPr/>
        </p:nvSpPr>
        <p:spPr>
          <a:xfrm>
            <a:off x="11610630" y="417402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
        <p:nvSpPr>
          <p:cNvPr id="4" name="Rectángulo redondeado 15">
            <a:extLst>
              <a:ext uri="{FF2B5EF4-FFF2-40B4-BE49-F238E27FC236}">
                <a16:creationId xmlns:a16="http://schemas.microsoft.com/office/drawing/2014/main" id="{81F0CF9F-9D84-6110-0DBB-2B00470CAFB3}"/>
              </a:ext>
            </a:extLst>
          </p:cNvPr>
          <p:cNvSpPr/>
          <p:nvPr/>
        </p:nvSpPr>
        <p:spPr>
          <a:xfrm>
            <a:off x="10654406" y="598791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6" name="Rectángulo 5">
            <a:extLst>
              <a:ext uri="{FF2B5EF4-FFF2-40B4-BE49-F238E27FC236}">
                <a16:creationId xmlns:a16="http://schemas.microsoft.com/office/drawing/2014/main" id="{66B30859-6EFA-0AF3-5339-B868FDDB1ABB}"/>
              </a:ext>
            </a:extLst>
          </p:cNvPr>
          <p:cNvSpPr/>
          <p:nvPr/>
        </p:nvSpPr>
        <p:spPr>
          <a:xfrm>
            <a:off x="11081900" y="5991522"/>
            <a:ext cx="669186" cy="24963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7756345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0E173-7EEE-7869-4E4F-AF854CE572EB}"/>
            </a:ext>
          </a:extLst>
        </p:cNvPr>
        <p:cNvGrpSpPr/>
        <p:nvPr/>
      </p:nvGrpSpPr>
      <p:grpSpPr>
        <a:xfrm>
          <a:off x="0" y="0"/>
          <a:ext cx="0" cy="0"/>
          <a:chOff x="0" y="0"/>
          <a:chExt cx="0" cy="0"/>
        </a:xfrm>
      </p:grpSpPr>
      <p:sp>
        <p:nvSpPr>
          <p:cNvPr id="5" name="Marcador de texto 4">
            <a:extLst>
              <a:ext uri="{FF2B5EF4-FFF2-40B4-BE49-F238E27FC236}">
                <a16:creationId xmlns:a16="http://schemas.microsoft.com/office/drawing/2014/main" id="{8D9AF623-E5BD-6660-C8BD-6E42E6406E70}"/>
              </a:ext>
            </a:extLst>
          </p:cNvPr>
          <p:cNvSpPr>
            <a:spLocks noGrp="1"/>
          </p:cNvSpPr>
          <p:nvPr>
            <p:ph type="body" sz="quarter" idx="10"/>
          </p:nvPr>
        </p:nvSpPr>
        <p:spPr>
          <a:xfrm>
            <a:off x="914399" y="2238843"/>
            <a:ext cx="10363202" cy="1333891"/>
          </a:xfrm>
        </p:spPr>
        <p:txBody>
          <a:bodyPr/>
          <a:lstStyle/>
          <a:p>
            <a:r>
              <a:rPr lang="es-419" dirty="0"/>
              <a:t>Sobrepasos en la inscripción </a:t>
            </a:r>
            <a:r>
              <a:rPr lang="es-419" dirty="0" err="1"/>
              <a:t>backoffice</a:t>
            </a:r>
            <a:endParaRPr lang="es-419" dirty="0"/>
          </a:p>
        </p:txBody>
      </p:sp>
      <p:sp>
        <p:nvSpPr>
          <p:cNvPr id="2" name="Marcador de texto vertical 1">
            <a:extLst>
              <a:ext uri="{FF2B5EF4-FFF2-40B4-BE49-F238E27FC236}">
                <a16:creationId xmlns:a16="http://schemas.microsoft.com/office/drawing/2014/main" id="{C278F31F-D2F6-BA95-C1B2-0DEB66C3793A}"/>
              </a:ext>
            </a:extLst>
          </p:cNvPr>
          <p:cNvSpPr>
            <a:spLocks noGrp="1"/>
          </p:cNvSpPr>
          <p:nvPr>
            <p:ph type="body" sz="quarter" idx="11"/>
          </p:nvPr>
        </p:nvSpPr>
        <p:spPr/>
        <p:txBody>
          <a:bodyPr vert="horz" lIns="0" tIns="0" rIns="0" bIns="0" rtlCol="0">
            <a:spAutoFit/>
          </a:bodyPr>
          <a:lstStyle/>
          <a:p>
            <a:r>
              <a:rPr lang="es-419" dirty="0"/>
              <a:t>Gestionar los sobrepasos de inscripción</a:t>
            </a:r>
          </a:p>
        </p:txBody>
      </p:sp>
    </p:spTree>
    <p:extLst>
      <p:ext uri="{BB962C8B-B14F-4D97-AF65-F5344CB8AC3E}">
        <p14:creationId xmlns:p14="http://schemas.microsoft.com/office/powerpoint/2010/main" val="7098369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3985D-88C6-A724-3EBF-F60832E4A728}"/>
            </a:ext>
          </a:extLst>
        </p:cNvPr>
        <p:cNvGrpSpPr/>
        <p:nvPr/>
      </p:nvGrpSpPr>
      <p:grpSpPr>
        <a:xfrm>
          <a:off x="0" y="0"/>
          <a:ext cx="0" cy="0"/>
          <a:chOff x="0" y="0"/>
          <a:chExt cx="0" cy="0"/>
        </a:xfrm>
      </p:grpSpPr>
      <p:pic>
        <p:nvPicPr>
          <p:cNvPr id="8" name="Imagen 7">
            <a:extLst>
              <a:ext uri="{FF2B5EF4-FFF2-40B4-BE49-F238E27FC236}">
                <a16:creationId xmlns:a16="http://schemas.microsoft.com/office/drawing/2014/main" id="{595E6637-C36E-F063-42F3-AA17265217D7}"/>
              </a:ext>
            </a:extLst>
          </p:cNvPr>
          <p:cNvPicPr>
            <a:picLocks noChangeAspect="1"/>
          </p:cNvPicPr>
          <p:nvPr/>
        </p:nvPicPr>
        <p:blipFill>
          <a:blip r:embed="rId3"/>
          <a:stretch>
            <a:fillRect/>
          </a:stretch>
        </p:blipFill>
        <p:spPr>
          <a:xfrm>
            <a:off x="938996" y="1527568"/>
            <a:ext cx="10579904" cy="1760009"/>
          </a:xfrm>
          <a:prstGeom prst="rect">
            <a:avLst/>
          </a:prstGeom>
        </p:spPr>
      </p:pic>
      <p:sp>
        <p:nvSpPr>
          <p:cNvPr id="2" name="Marcador de texto vertical 1">
            <a:extLst>
              <a:ext uri="{FF2B5EF4-FFF2-40B4-BE49-F238E27FC236}">
                <a16:creationId xmlns:a16="http://schemas.microsoft.com/office/drawing/2014/main" id="{C0C4907C-ADDB-0BF8-713B-5D3182CE5734}"/>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F45F9117-A7E8-2586-1C79-9E9AF75B864F}"/>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1A599ABA-88F9-AA7B-AD4D-F6985F15B952}"/>
              </a:ext>
            </a:extLst>
          </p:cNvPr>
          <p:cNvSpPr/>
          <p:nvPr/>
        </p:nvSpPr>
        <p:spPr>
          <a:xfrm>
            <a:off x="1334800" y="1821914"/>
            <a:ext cx="1904329"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28E6A12-60F4-25DC-FD03-1DFE9B1F0AC6}"/>
              </a:ext>
            </a:extLst>
          </p:cNvPr>
          <p:cNvSpPr/>
          <p:nvPr/>
        </p:nvSpPr>
        <p:spPr>
          <a:xfrm>
            <a:off x="3328029" y="2060807"/>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p>
        </p:txBody>
      </p:sp>
      <p:sp>
        <p:nvSpPr>
          <p:cNvPr id="16" name="Rectángulo redondeado 15">
            <a:extLst>
              <a:ext uri="{FF2B5EF4-FFF2-40B4-BE49-F238E27FC236}">
                <a16:creationId xmlns:a16="http://schemas.microsoft.com/office/drawing/2014/main" id="{08DA3152-1484-392D-F703-A4EA6DB05751}"/>
              </a:ext>
            </a:extLst>
          </p:cNvPr>
          <p:cNvSpPr/>
          <p:nvPr/>
        </p:nvSpPr>
        <p:spPr>
          <a:xfrm>
            <a:off x="10930427" y="207174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17" name="Rectángulo 16">
            <a:extLst>
              <a:ext uri="{FF2B5EF4-FFF2-40B4-BE49-F238E27FC236}">
                <a16:creationId xmlns:a16="http://schemas.microsoft.com/office/drawing/2014/main" id="{0EDD4D35-6C45-A190-DDE9-FC846EA7D392}"/>
              </a:ext>
            </a:extLst>
          </p:cNvPr>
          <p:cNvSpPr/>
          <p:nvPr/>
        </p:nvSpPr>
        <p:spPr>
          <a:xfrm>
            <a:off x="11110362" y="1842303"/>
            <a:ext cx="445831"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898C841F-0B85-037E-54B6-2EF32021A578}"/>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r>
              <a:rPr lang="es-ES_tradnl" sz="1200" dirty="0"/>
              <a:t>El proceso de inscripción desde </a:t>
            </a:r>
            <a:r>
              <a:rPr lang="es-ES_tradnl" sz="1200" dirty="0" err="1"/>
              <a:t>backoffice</a:t>
            </a:r>
            <a:r>
              <a:rPr lang="es-ES_tradnl" sz="1200" dirty="0"/>
              <a:t> se realiza por medio de la página administrativa SFAREGS. Para proceder, siga los siguientes pasos:</a:t>
            </a:r>
          </a:p>
          <a:p>
            <a:endParaRPr lang="es-ES_tradnl" sz="1200" dirty="0"/>
          </a:p>
          <a:p>
            <a:pPr marL="228600" indent="-228600">
              <a:buFont typeface="+mj-lt"/>
              <a:buAutoNum type="arabicPeriod"/>
            </a:pPr>
            <a:r>
              <a:rPr lang="es-ES_tradnl" sz="1200" dirty="0"/>
              <a:t>Ingresar el Periodo Académico en el que se realizará la inscripción</a:t>
            </a:r>
          </a:p>
          <a:p>
            <a:pPr marL="228600" indent="-228600">
              <a:buFont typeface="+mj-lt"/>
              <a:buAutoNum type="arabicPeriod"/>
            </a:pPr>
            <a:r>
              <a:rPr lang="es-ES_tradnl" sz="1200" dirty="0"/>
              <a:t>Ingresar el ID del estudiante</a:t>
            </a:r>
          </a:p>
          <a:p>
            <a:pPr marL="228600" indent="-228600">
              <a:buFont typeface="+mj-lt"/>
              <a:buAutoNum type="arabicPeriod"/>
            </a:pPr>
            <a:r>
              <a:rPr lang="es-ES_tradnl" sz="1200" dirty="0"/>
              <a:t>Presionar el botón ‘Ir’.</a:t>
            </a:r>
          </a:p>
        </p:txBody>
      </p:sp>
      <p:sp>
        <p:nvSpPr>
          <p:cNvPr id="19" name="Rectángulo 18">
            <a:extLst>
              <a:ext uri="{FF2B5EF4-FFF2-40B4-BE49-F238E27FC236}">
                <a16:creationId xmlns:a16="http://schemas.microsoft.com/office/drawing/2014/main" id="{E7465A68-671B-D284-8D15-978528379500}"/>
              </a:ext>
            </a:extLst>
          </p:cNvPr>
          <p:cNvSpPr/>
          <p:nvPr/>
        </p:nvSpPr>
        <p:spPr>
          <a:xfrm>
            <a:off x="6316105" y="1790112"/>
            <a:ext cx="1468996" cy="2294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CD66F1F2-11AA-7073-F34E-4E418CE7022A}"/>
              </a:ext>
            </a:extLst>
          </p:cNvPr>
          <p:cNvSpPr/>
          <p:nvPr/>
        </p:nvSpPr>
        <p:spPr>
          <a:xfrm>
            <a:off x="7824594"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a:t>
            </a:r>
          </a:p>
        </p:txBody>
      </p:sp>
    </p:spTree>
    <p:extLst>
      <p:ext uri="{BB962C8B-B14F-4D97-AF65-F5344CB8AC3E}">
        <p14:creationId xmlns:p14="http://schemas.microsoft.com/office/powerpoint/2010/main" val="3204075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DA5B5-BBD2-AE12-8E86-9F0D14B3ED18}"/>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4171F18E-0FBD-3580-B99B-9896FC31F200}"/>
              </a:ext>
            </a:extLst>
          </p:cNvPr>
          <p:cNvPicPr>
            <a:picLocks noChangeAspect="1"/>
          </p:cNvPicPr>
          <p:nvPr/>
        </p:nvPicPr>
        <p:blipFill>
          <a:blip r:embed="rId3"/>
          <a:stretch>
            <a:fillRect/>
          </a:stretch>
        </p:blipFill>
        <p:spPr>
          <a:xfrm>
            <a:off x="938996" y="1234551"/>
            <a:ext cx="10732304" cy="4701260"/>
          </a:xfrm>
          <a:prstGeom prst="rect">
            <a:avLst/>
          </a:prstGeom>
        </p:spPr>
      </p:pic>
      <p:sp>
        <p:nvSpPr>
          <p:cNvPr id="2" name="Marcador de texto vertical 1">
            <a:extLst>
              <a:ext uri="{FF2B5EF4-FFF2-40B4-BE49-F238E27FC236}">
                <a16:creationId xmlns:a16="http://schemas.microsoft.com/office/drawing/2014/main" id="{6F0B395B-0206-4847-C227-EA67E9519F9F}"/>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B8506E6E-3ABC-0917-BC48-9A671CD61930}"/>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6A55C1F3-3981-C1D7-1F11-1EBDC3EE7234}"/>
              </a:ext>
            </a:extLst>
          </p:cNvPr>
          <p:cNvSpPr/>
          <p:nvPr/>
        </p:nvSpPr>
        <p:spPr>
          <a:xfrm>
            <a:off x="1423701" y="2152155"/>
            <a:ext cx="875000" cy="27354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9A4B27DB-54B2-E920-C767-8F75F13A49FB}"/>
              </a:ext>
            </a:extLst>
          </p:cNvPr>
          <p:cNvSpPr/>
          <p:nvPr/>
        </p:nvSpPr>
        <p:spPr>
          <a:xfrm>
            <a:off x="1052214" y="2212173"/>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6" name="Rectángulo redondeado 15">
            <a:extLst>
              <a:ext uri="{FF2B5EF4-FFF2-40B4-BE49-F238E27FC236}">
                <a16:creationId xmlns:a16="http://schemas.microsoft.com/office/drawing/2014/main" id="{10E39B83-32B4-FA08-E8BC-D56B5F9E1D46}"/>
              </a:ext>
            </a:extLst>
          </p:cNvPr>
          <p:cNvSpPr/>
          <p:nvPr/>
        </p:nvSpPr>
        <p:spPr>
          <a:xfrm>
            <a:off x="1090564" y="5886786"/>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6</a:t>
            </a:r>
          </a:p>
        </p:txBody>
      </p:sp>
      <p:sp>
        <p:nvSpPr>
          <p:cNvPr id="17" name="Rectángulo 16">
            <a:extLst>
              <a:ext uri="{FF2B5EF4-FFF2-40B4-BE49-F238E27FC236}">
                <a16:creationId xmlns:a16="http://schemas.microsoft.com/office/drawing/2014/main" id="{EBBEF3EC-3ECA-F2B5-0305-57B1F3F67DD1}"/>
              </a:ext>
            </a:extLst>
          </p:cNvPr>
          <p:cNvSpPr/>
          <p:nvPr/>
        </p:nvSpPr>
        <p:spPr>
          <a:xfrm>
            <a:off x="1206750" y="5555613"/>
            <a:ext cx="407730" cy="27354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D15AE4E1-A645-B622-9BD1-60BC58B567AB}"/>
              </a:ext>
            </a:extLst>
          </p:cNvPr>
          <p:cNvSpPr/>
          <p:nvPr/>
        </p:nvSpPr>
        <p:spPr>
          <a:xfrm>
            <a:off x="1477247" y="4251848"/>
            <a:ext cx="9237506" cy="1371601"/>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4"/>
            </a:pPr>
            <a:r>
              <a:rPr lang="es-ES_tradnl" sz="1200" dirty="0"/>
              <a:t>En el campo ‘Estatus’ de la sección ‘Información de ingreso’  debe ingresar el estatus Elegible (EL).</a:t>
            </a:r>
          </a:p>
          <a:p>
            <a:pPr marL="228600" indent="-228600">
              <a:buFont typeface="+mj-lt"/>
              <a:buAutoNum type="arabicPeriod" startAt="4"/>
            </a:pPr>
            <a:r>
              <a:rPr lang="es-ES_tradnl" sz="1200" dirty="0"/>
              <a:t>En los campos Mínimas y Máximas, se heredan los valores definidos en SFAMHRS. Estos valores pueden ser modificados por el usuario que está inscribiendo desde </a:t>
            </a:r>
            <a:r>
              <a:rPr lang="es-ES_tradnl" sz="1200" dirty="0" err="1"/>
              <a:t>backoffice</a:t>
            </a:r>
            <a:r>
              <a:rPr lang="es-ES_tradnl" sz="1200" dirty="0"/>
              <a:t>.</a:t>
            </a:r>
          </a:p>
          <a:p>
            <a:pPr marL="228600" indent="-228600">
              <a:buFont typeface="+mj-lt"/>
              <a:buAutoNum type="arabicPeriod" startAt="4"/>
            </a:pPr>
            <a:r>
              <a:rPr lang="es-ES_tradnl" sz="1200" dirty="0"/>
              <a:t>Pase al siguiente bloque.</a:t>
            </a:r>
          </a:p>
          <a:p>
            <a:pPr marL="228600" indent="-228600">
              <a:buFont typeface="+mj-lt"/>
              <a:buAutoNum type="arabicPeriod" startAt="4"/>
            </a:pPr>
            <a:endParaRPr lang="es-ES_tradnl" sz="1200" dirty="0"/>
          </a:p>
        </p:txBody>
      </p:sp>
      <p:sp>
        <p:nvSpPr>
          <p:cNvPr id="19" name="Rectángulo 18">
            <a:extLst>
              <a:ext uri="{FF2B5EF4-FFF2-40B4-BE49-F238E27FC236}">
                <a16:creationId xmlns:a16="http://schemas.microsoft.com/office/drawing/2014/main" id="{D91DE84F-2B1B-9E9C-6357-9F3B7684020F}"/>
              </a:ext>
            </a:extLst>
          </p:cNvPr>
          <p:cNvSpPr/>
          <p:nvPr/>
        </p:nvSpPr>
        <p:spPr>
          <a:xfrm>
            <a:off x="8412258" y="2196255"/>
            <a:ext cx="2035565" cy="40989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20" name="Rectángulo redondeado 15">
            <a:extLst>
              <a:ext uri="{FF2B5EF4-FFF2-40B4-BE49-F238E27FC236}">
                <a16:creationId xmlns:a16="http://schemas.microsoft.com/office/drawing/2014/main" id="{36CEF271-50FB-A5B8-26DB-3CC9C74B3CC6}"/>
              </a:ext>
            </a:extLst>
          </p:cNvPr>
          <p:cNvSpPr/>
          <p:nvPr/>
        </p:nvSpPr>
        <p:spPr>
          <a:xfrm>
            <a:off x="8082863" y="2051359"/>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Tree>
    <p:extLst>
      <p:ext uri="{BB962C8B-B14F-4D97-AF65-F5344CB8AC3E}">
        <p14:creationId xmlns:p14="http://schemas.microsoft.com/office/powerpoint/2010/main" val="206706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E870AA-A84D-C95C-BF93-D6D7259DBB1F}"/>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62881CB7-F751-CE60-F524-947D3144C828}"/>
              </a:ext>
            </a:extLst>
          </p:cNvPr>
          <p:cNvPicPr>
            <a:picLocks noChangeAspect="1"/>
          </p:cNvPicPr>
          <p:nvPr/>
        </p:nvPicPr>
        <p:blipFill>
          <a:blip r:embed="rId3"/>
          <a:stretch>
            <a:fillRect/>
          </a:stretch>
        </p:blipFill>
        <p:spPr>
          <a:xfrm>
            <a:off x="938996" y="1203169"/>
            <a:ext cx="10753476" cy="4683617"/>
          </a:xfrm>
          <a:prstGeom prst="rect">
            <a:avLst/>
          </a:prstGeom>
        </p:spPr>
      </p:pic>
      <p:sp>
        <p:nvSpPr>
          <p:cNvPr id="2" name="Marcador de texto vertical 1">
            <a:extLst>
              <a:ext uri="{FF2B5EF4-FFF2-40B4-BE49-F238E27FC236}">
                <a16:creationId xmlns:a16="http://schemas.microsoft.com/office/drawing/2014/main" id="{FB5D008B-521C-9CDD-A2B0-7796D5A773A2}"/>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006F61C9-F4E5-ED5E-63AF-8574240D5AB9}"/>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7563E4AC-B07A-BD0F-5874-00D0BC9A59B3}"/>
              </a:ext>
            </a:extLst>
          </p:cNvPr>
          <p:cNvSpPr/>
          <p:nvPr/>
        </p:nvSpPr>
        <p:spPr>
          <a:xfrm>
            <a:off x="938996" y="2874265"/>
            <a:ext cx="10753476" cy="33099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32337675-47E5-F70A-D203-D154762C9824}"/>
              </a:ext>
            </a:extLst>
          </p:cNvPr>
          <p:cNvSpPr/>
          <p:nvPr/>
        </p:nvSpPr>
        <p:spPr>
          <a:xfrm>
            <a:off x="666390" y="2713451"/>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7</a:t>
            </a:r>
            <a:endParaRPr lang="es-419" sz="1100" noProof="0" dirty="0"/>
          </a:p>
        </p:txBody>
      </p:sp>
      <p:sp>
        <p:nvSpPr>
          <p:cNvPr id="16" name="Rectángulo redondeado 15">
            <a:extLst>
              <a:ext uri="{FF2B5EF4-FFF2-40B4-BE49-F238E27FC236}">
                <a16:creationId xmlns:a16="http://schemas.microsoft.com/office/drawing/2014/main" id="{55D56715-C4E9-81C0-D07D-05FC9F27BE61}"/>
              </a:ext>
            </a:extLst>
          </p:cNvPr>
          <p:cNvSpPr/>
          <p:nvPr/>
        </p:nvSpPr>
        <p:spPr>
          <a:xfrm>
            <a:off x="10994734" y="5318598"/>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Rectángulo 16">
            <a:extLst>
              <a:ext uri="{FF2B5EF4-FFF2-40B4-BE49-F238E27FC236}">
                <a16:creationId xmlns:a16="http://schemas.microsoft.com/office/drawing/2014/main" id="{8E843C44-1037-307D-1AC0-A8BA343C2CFB}"/>
              </a:ext>
            </a:extLst>
          </p:cNvPr>
          <p:cNvSpPr/>
          <p:nvPr/>
        </p:nvSpPr>
        <p:spPr>
          <a:xfrm>
            <a:off x="11174420" y="5530212"/>
            <a:ext cx="530752" cy="30577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8" name="Rectángulo: esquinas redondeadas 17">
            <a:extLst>
              <a:ext uri="{FF2B5EF4-FFF2-40B4-BE49-F238E27FC236}">
                <a16:creationId xmlns:a16="http://schemas.microsoft.com/office/drawing/2014/main" id="{E015053C-5BDC-00AB-FD69-7CA97B34AD05}"/>
              </a:ext>
            </a:extLst>
          </p:cNvPr>
          <p:cNvSpPr/>
          <p:nvPr/>
        </p:nvSpPr>
        <p:spPr>
          <a:xfrm>
            <a:off x="1375647" y="3816611"/>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7"/>
            </a:pPr>
            <a:r>
              <a:rPr lang="es-ES_tradnl" sz="1200" dirty="0"/>
              <a:t>En la Sección Plan de estudios de ingreso, para cada Plan de estudios que tenga el estudiante se debe ingresar un registro con el estatus EL.</a:t>
            </a:r>
          </a:p>
          <a:p>
            <a:pPr marL="228600" indent="-228600">
              <a:buFont typeface="+mj-lt"/>
              <a:buAutoNum type="arabicPeriod" startAt="7"/>
            </a:pPr>
            <a:r>
              <a:rPr lang="es-ES_tradnl" sz="1200" dirty="0"/>
              <a:t>Guarde la información</a:t>
            </a:r>
          </a:p>
        </p:txBody>
      </p:sp>
    </p:spTree>
    <p:extLst>
      <p:ext uri="{BB962C8B-B14F-4D97-AF65-F5344CB8AC3E}">
        <p14:creationId xmlns:p14="http://schemas.microsoft.com/office/powerpoint/2010/main" val="33657137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F0A16-3E8C-EBF4-B66C-528B3FF12485}"/>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30480A7B-5B42-127E-305F-3AAB33C07569}"/>
              </a:ext>
            </a:extLst>
          </p:cNvPr>
          <p:cNvPicPr>
            <a:picLocks noChangeAspect="1"/>
          </p:cNvPicPr>
          <p:nvPr/>
        </p:nvPicPr>
        <p:blipFill>
          <a:blip r:embed="rId3"/>
          <a:stretch>
            <a:fillRect/>
          </a:stretch>
        </p:blipFill>
        <p:spPr>
          <a:xfrm>
            <a:off x="938996" y="1167005"/>
            <a:ext cx="10742015" cy="4668981"/>
          </a:xfrm>
          <a:prstGeom prst="rect">
            <a:avLst/>
          </a:prstGeom>
        </p:spPr>
      </p:pic>
      <p:sp>
        <p:nvSpPr>
          <p:cNvPr id="2" name="Marcador de texto vertical 1">
            <a:extLst>
              <a:ext uri="{FF2B5EF4-FFF2-40B4-BE49-F238E27FC236}">
                <a16:creationId xmlns:a16="http://schemas.microsoft.com/office/drawing/2014/main" id="{63895C28-9F4A-93D1-F48D-A226B4AF79AF}"/>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D2C69E8D-B757-425E-4D63-6756D3CF705D}"/>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7DACAE0A-9CE6-F74B-4C19-CD2287E60B98}"/>
              </a:ext>
            </a:extLst>
          </p:cNvPr>
          <p:cNvSpPr/>
          <p:nvPr/>
        </p:nvSpPr>
        <p:spPr>
          <a:xfrm>
            <a:off x="914835" y="3766914"/>
            <a:ext cx="562412" cy="33518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C6FBDA44-41FA-A23F-736A-E3E5F4C42EC4}"/>
              </a:ext>
            </a:extLst>
          </p:cNvPr>
          <p:cNvSpPr/>
          <p:nvPr/>
        </p:nvSpPr>
        <p:spPr>
          <a:xfrm>
            <a:off x="680726" y="3593400"/>
            <a:ext cx="258270" cy="160814"/>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9</a:t>
            </a:r>
            <a:endParaRPr lang="es-419" sz="1100" noProof="0" dirty="0"/>
          </a:p>
        </p:txBody>
      </p:sp>
      <p:sp>
        <p:nvSpPr>
          <p:cNvPr id="18" name="Rectángulo: esquinas redondeadas 17">
            <a:extLst>
              <a:ext uri="{FF2B5EF4-FFF2-40B4-BE49-F238E27FC236}">
                <a16:creationId xmlns:a16="http://schemas.microsoft.com/office/drawing/2014/main" id="{2D8849A5-86F3-DAB1-9E85-272E51B2206D}"/>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9"/>
            </a:pPr>
            <a:r>
              <a:rPr lang="es-ES_tradnl" sz="1200" dirty="0"/>
              <a:t>En la sección ‘Información de Curso’ se debe ingresar el NRC en el primer campo de información requerido, esto puede ser realizado directamente en el campo o bien presionando el  botón de búsqueda de los NRC.</a:t>
            </a:r>
          </a:p>
        </p:txBody>
      </p:sp>
    </p:spTree>
    <p:extLst>
      <p:ext uri="{BB962C8B-B14F-4D97-AF65-F5344CB8AC3E}">
        <p14:creationId xmlns:p14="http://schemas.microsoft.com/office/powerpoint/2010/main" val="32491467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0EB31-F59C-B86A-D3FD-10419B98FD23}"/>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596F4108-59E4-14B4-886E-28AAEFE1AD7C}"/>
              </a:ext>
            </a:extLst>
          </p:cNvPr>
          <p:cNvPicPr>
            <a:picLocks noChangeAspect="1"/>
          </p:cNvPicPr>
          <p:nvPr/>
        </p:nvPicPr>
        <p:blipFill>
          <a:blip r:embed="rId3"/>
          <a:stretch>
            <a:fillRect/>
          </a:stretch>
        </p:blipFill>
        <p:spPr>
          <a:xfrm>
            <a:off x="914835" y="1100032"/>
            <a:ext cx="10742014" cy="4695852"/>
          </a:xfrm>
          <a:prstGeom prst="rect">
            <a:avLst/>
          </a:prstGeom>
        </p:spPr>
      </p:pic>
      <p:sp>
        <p:nvSpPr>
          <p:cNvPr id="2" name="Marcador de texto vertical 1">
            <a:extLst>
              <a:ext uri="{FF2B5EF4-FFF2-40B4-BE49-F238E27FC236}">
                <a16:creationId xmlns:a16="http://schemas.microsoft.com/office/drawing/2014/main" id="{857A04A6-38ED-69B5-9D69-AC0F1F34D251}"/>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6D2CD468-F298-F55C-83F8-299094186185}"/>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0" name="Rectángulo 9">
            <a:extLst>
              <a:ext uri="{FF2B5EF4-FFF2-40B4-BE49-F238E27FC236}">
                <a16:creationId xmlns:a16="http://schemas.microsoft.com/office/drawing/2014/main" id="{B6167FAE-B30D-5FCC-2E3C-CC1BFAA69144}"/>
              </a:ext>
            </a:extLst>
          </p:cNvPr>
          <p:cNvSpPr/>
          <p:nvPr/>
        </p:nvSpPr>
        <p:spPr>
          <a:xfrm>
            <a:off x="924360" y="3595311"/>
            <a:ext cx="10742014" cy="44329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15" name="Rectángulo redondeado 15">
            <a:extLst>
              <a:ext uri="{FF2B5EF4-FFF2-40B4-BE49-F238E27FC236}">
                <a16:creationId xmlns:a16="http://schemas.microsoft.com/office/drawing/2014/main" id="{8DDC8A8F-35FA-8A6B-7353-9C1E5BF50A4E}"/>
              </a:ext>
            </a:extLst>
          </p:cNvPr>
          <p:cNvSpPr/>
          <p:nvPr/>
        </p:nvSpPr>
        <p:spPr>
          <a:xfrm>
            <a:off x="11068130" y="4131524"/>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8" name="Rectángulo: esquinas redondeadas 17">
            <a:extLst>
              <a:ext uri="{FF2B5EF4-FFF2-40B4-BE49-F238E27FC236}">
                <a16:creationId xmlns:a16="http://schemas.microsoft.com/office/drawing/2014/main" id="{67EC6C94-B760-0165-A52D-ED70E76140F2}"/>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a:pPr>
            <a:r>
              <a:rPr lang="es-ES_tradnl" sz="1200" dirty="0"/>
              <a:t>Cargado el NRC, automáticamente se cargarían los demás campos de información, exceptuando el campo ‘Plan de estudios’ el cual debe ser completado con el plan de estudios del estudiante al cual estaría asociada la inscripción del NRC. Adicionalmente se debe ratificar si el Estatus de Inscripción con el cual se desee registrar el NRC será ‘RE’ o cualquier otro estatus que se encuentre habilitado según la configuración de SFARSTS.</a:t>
            </a:r>
          </a:p>
        </p:txBody>
      </p:sp>
      <p:sp>
        <p:nvSpPr>
          <p:cNvPr id="6" name="Rectángulo 5">
            <a:extLst>
              <a:ext uri="{FF2B5EF4-FFF2-40B4-BE49-F238E27FC236}">
                <a16:creationId xmlns:a16="http://schemas.microsoft.com/office/drawing/2014/main" id="{835668D7-DEA2-A031-4ED8-B1B2825E8B82}"/>
              </a:ext>
            </a:extLst>
          </p:cNvPr>
          <p:cNvSpPr/>
          <p:nvPr/>
        </p:nvSpPr>
        <p:spPr>
          <a:xfrm>
            <a:off x="11107316" y="3792952"/>
            <a:ext cx="549533" cy="1821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5" name="Rectángulo 4">
            <a:extLst>
              <a:ext uri="{FF2B5EF4-FFF2-40B4-BE49-F238E27FC236}">
                <a16:creationId xmlns:a16="http://schemas.microsoft.com/office/drawing/2014/main" id="{51CAECE3-B407-BE0D-1896-61ED36254B8C}"/>
              </a:ext>
            </a:extLst>
          </p:cNvPr>
          <p:cNvSpPr/>
          <p:nvPr/>
        </p:nvSpPr>
        <p:spPr>
          <a:xfrm>
            <a:off x="7094116" y="3816956"/>
            <a:ext cx="549533" cy="182150"/>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7872227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873E-7619-9D1D-79E2-489A6155B6A2}"/>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FCA1B73A-79EB-FD9D-D6DB-D84FD4D328E8}"/>
              </a:ext>
            </a:extLst>
          </p:cNvPr>
          <p:cNvPicPr>
            <a:picLocks noChangeAspect="1"/>
          </p:cNvPicPr>
          <p:nvPr/>
        </p:nvPicPr>
        <p:blipFill>
          <a:blip r:embed="rId3"/>
          <a:stretch>
            <a:fillRect/>
          </a:stretch>
        </p:blipFill>
        <p:spPr>
          <a:xfrm>
            <a:off x="871318" y="1081072"/>
            <a:ext cx="10750677" cy="4695853"/>
          </a:xfrm>
          <a:prstGeom prst="rect">
            <a:avLst/>
          </a:prstGeom>
        </p:spPr>
      </p:pic>
      <p:sp>
        <p:nvSpPr>
          <p:cNvPr id="2" name="Marcador de texto vertical 1">
            <a:extLst>
              <a:ext uri="{FF2B5EF4-FFF2-40B4-BE49-F238E27FC236}">
                <a16:creationId xmlns:a16="http://schemas.microsoft.com/office/drawing/2014/main" id="{7DD622E2-75E6-9AF2-A11A-30C3AC598758}"/>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4B42CD3D-A443-C45E-B2DE-D8A028E409A6}"/>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6AFC7597-0C6F-0CBF-B061-A28C1E4653B3}"/>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1"/>
            </a:pPr>
            <a:r>
              <a:rPr lang="es-ES_tradnl" sz="1200" dirty="0"/>
              <a:t>Cargados los NRC que desea inscribirle al alumno y el plan de estudios que le corresponde a cada uno, se deberá presionar el botón ‘Guardar’, siendo este el instante donde Banner verificará los posibles errores de inscripción que pudiera tener la asociación del NRC.</a:t>
            </a:r>
          </a:p>
        </p:txBody>
      </p:sp>
      <p:sp>
        <p:nvSpPr>
          <p:cNvPr id="6" name="Rectángulo 5">
            <a:extLst>
              <a:ext uri="{FF2B5EF4-FFF2-40B4-BE49-F238E27FC236}">
                <a16:creationId xmlns:a16="http://schemas.microsoft.com/office/drawing/2014/main" id="{37E0D42D-E3CF-001C-47EA-27AC3319B28F}"/>
              </a:ext>
            </a:extLst>
          </p:cNvPr>
          <p:cNvSpPr/>
          <p:nvPr/>
        </p:nvSpPr>
        <p:spPr>
          <a:xfrm>
            <a:off x="10997901" y="5384800"/>
            <a:ext cx="697048" cy="318895"/>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B05F23FD-2FB7-525E-1724-1E482D46A799}"/>
              </a:ext>
            </a:extLst>
          </p:cNvPr>
          <p:cNvSpPr/>
          <p:nvPr/>
        </p:nvSpPr>
        <p:spPr>
          <a:xfrm>
            <a:off x="11288189" y="5139870"/>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11</a:t>
            </a:r>
            <a:endParaRPr lang="es-419" sz="1100" noProof="0" dirty="0"/>
          </a:p>
        </p:txBody>
      </p:sp>
    </p:spTree>
    <p:extLst>
      <p:ext uri="{BB962C8B-B14F-4D97-AF65-F5344CB8AC3E}">
        <p14:creationId xmlns:p14="http://schemas.microsoft.com/office/powerpoint/2010/main" val="7845728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2A842-79E9-FCC9-384A-E3D89056004B}"/>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C23A2265-8AE1-127C-65A2-E76E195C50A6}"/>
              </a:ext>
            </a:extLst>
          </p:cNvPr>
          <p:cNvPicPr>
            <a:picLocks noChangeAspect="1"/>
          </p:cNvPicPr>
          <p:nvPr/>
        </p:nvPicPr>
        <p:blipFill>
          <a:blip r:embed="rId3"/>
          <a:stretch>
            <a:fillRect/>
          </a:stretch>
        </p:blipFill>
        <p:spPr>
          <a:xfrm>
            <a:off x="871318" y="1009657"/>
            <a:ext cx="10750677" cy="4652576"/>
          </a:xfrm>
          <a:prstGeom prst="rect">
            <a:avLst/>
          </a:prstGeom>
        </p:spPr>
      </p:pic>
      <p:sp>
        <p:nvSpPr>
          <p:cNvPr id="2" name="Marcador de texto vertical 1">
            <a:extLst>
              <a:ext uri="{FF2B5EF4-FFF2-40B4-BE49-F238E27FC236}">
                <a16:creationId xmlns:a16="http://schemas.microsoft.com/office/drawing/2014/main" id="{60099161-9675-A42A-5D9F-183B1A3C3F13}"/>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5AC3E666-45A5-3227-6E3C-60E3F8715C38}"/>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5B67B471-5B0B-57E2-8440-32731FF98B82}"/>
              </a:ext>
            </a:extLst>
          </p:cNvPr>
          <p:cNvSpPr/>
          <p:nvPr/>
        </p:nvSpPr>
        <p:spPr>
          <a:xfrm>
            <a:off x="1477247" y="45887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2"/>
            </a:pPr>
            <a:r>
              <a:rPr lang="es-ES_tradnl" sz="1200" dirty="0"/>
              <a:t>Si algunos de los </a:t>
            </a:r>
            <a:r>
              <a:rPr lang="es-ES_tradnl" sz="1200" dirty="0" err="1"/>
              <a:t>NRCs</a:t>
            </a:r>
            <a:r>
              <a:rPr lang="es-ES_tradnl" sz="1200" dirty="0"/>
              <a:t> poseen algún error de inscripción fatal, se desplegará una ventana de notificación en la sección superior derecha de SFAREGS indicando el error detectado. Adicionalmente en la sección “Información de Curso” se habilitará un nuevo campo de información llamado ‘Mensaje’ en el cual se describirá el error identificado en el o los NRC afectados</a:t>
            </a:r>
          </a:p>
        </p:txBody>
      </p:sp>
      <p:sp>
        <p:nvSpPr>
          <p:cNvPr id="7" name="Rectángulo redondeado 15">
            <a:extLst>
              <a:ext uri="{FF2B5EF4-FFF2-40B4-BE49-F238E27FC236}">
                <a16:creationId xmlns:a16="http://schemas.microsoft.com/office/drawing/2014/main" id="{C5551580-06B4-BF45-E788-BF61A0699FCB}"/>
              </a:ext>
            </a:extLst>
          </p:cNvPr>
          <p:cNvSpPr/>
          <p:nvPr/>
        </p:nvSpPr>
        <p:spPr>
          <a:xfrm>
            <a:off x="3176768" y="3556001"/>
            <a:ext cx="387710" cy="18365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12</a:t>
            </a:r>
            <a:endParaRPr lang="es-419" sz="1100" noProof="0" dirty="0"/>
          </a:p>
        </p:txBody>
      </p:sp>
      <p:sp>
        <p:nvSpPr>
          <p:cNvPr id="8" name="Rectángulo 7">
            <a:extLst>
              <a:ext uri="{FF2B5EF4-FFF2-40B4-BE49-F238E27FC236}">
                <a16:creationId xmlns:a16="http://schemas.microsoft.com/office/drawing/2014/main" id="{CA404F4D-3AB1-D5B0-0A07-00B386527F06}"/>
              </a:ext>
            </a:extLst>
          </p:cNvPr>
          <p:cNvSpPr/>
          <p:nvPr/>
        </p:nvSpPr>
        <p:spPr>
          <a:xfrm>
            <a:off x="3856578" y="3791889"/>
            <a:ext cx="1731422" cy="444336"/>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237651257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A659A-B50A-B781-C57B-DD21E4025B3F}"/>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D1226E04-C1DB-6A37-E0D2-F535CE8934CC}"/>
              </a:ext>
            </a:extLst>
          </p:cNvPr>
          <p:cNvPicPr>
            <a:picLocks noChangeAspect="1"/>
          </p:cNvPicPr>
          <p:nvPr/>
        </p:nvPicPr>
        <p:blipFill>
          <a:blip r:embed="rId3"/>
          <a:stretch>
            <a:fillRect/>
          </a:stretch>
        </p:blipFill>
        <p:spPr>
          <a:xfrm>
            <a:off x="871318" y="1009657"/>
            <a:ext cx="10737230" cy="4652576"/>
          </a:xfrm>
          <a:prstGeom prst="rect">
            <a:avLst/>
          </a:prstGeom>
        </p:spPr>
      </p:pic>
      <p:sp>
        <p:nvSpPr>
          <p:cNvPr id="2" name="Marcador de texto vertical 1">
            <a:extLst>
              <a:ext uri="{FF2B5EF4-FFF2-40B4-BE49-F238E27FC236}">
                <a16:creationId xmlns:a16="http://schemas.microsoft.com/office/drawing/2014/main" id="{238A4CC7-17CE-FCAA-61E9-2A170A2FC722}"/>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28457CC9-4FC1-426E-E71A-B80390BD18F0}"/>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FA466C91-1F6B-507D-BEE0-1F9ABB3C4E05}"/>
              </a:ext>
            </a:extLst>
          </p:cNvPr>
          <p:cNvSpPr/>
          <p:nvPr/>
        </p:nvSpPr>
        <p:spPr>
          <a:xfrm>
            <a:off x="1283392" y="4746094"/>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3"/>
            </a:pPr>
            <a:r>
              <a:rPr lang="es-ES_tradnl" sz="1200" dirty="0"/>
              <a:t>Si aún con el error identificado se desea inscribir el NRC, el administrativo puede utilizar el campo ‘Sobrepasar’ para asignarle al registro del NRC un sobrepaso que pudiera validar el error identificado (Opción ‘Sí’) o bien un sobrepaso general que sea capaza de sobrepasar cualquier error que se fuera a identificar para el NRC (Opción ‘Todo’).</a:t>
            </a:r>
          </a:p>
        </p:txBody>
      </p:sp>
      <p:sp>
        <p:nvSpPr>
          <p:cNvPr id="7" name="Rectángulo redondeado 15">
            <a:extLst>
              <a:ext uri="{FF2B5EF4-FFF2-40B4-BE49-F238E27FC236}">
                <a16:creationId xmlns:a16="http://schemas.microsoft.com/office/drawing/2014/main" id="{B2DA1B93-1054-0D8A-B280-6F160BBBC750}"/>
              </a:ext>
            </a:extLst>
          </p:cNvPr>
          <p:cNvSpPr/>
          <p:nvPr/>
        </p:nvSpPr>
        <p:spPr>
          <a:xfrm>
            <a:off x="10520898" y="4376334"/>
            <a:ext cx="387710" cy="18365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13</a:t>
            </a:r>
            <a:endParaRPr lang="es-419" sz="1100" noProof="0" dirty="0"/>
          </a:p>
        </p:txBody>
      </p:sp>
      <p:sp>
        <p:nvSpPr>
          <p:cNvPr id="8" name="Rectángulo 7">
            <a:extLst>
              <a:ext uri="{FF2B5EF4-FFF2-40B4-BE49-F238E27FC236}">
                <a16:creationId xmlns:a16="http://schemas.microsoft.com/office/drawing/2014/main" id="{43038F1C-ABBE-D1D5-F22C-A2A654121010}"/>
              </a:ext>
            </a:extLst>
          </p:cNvPr>
          <p:cNvSpPr/>
          <p:nvPr/>
        </p:nvSpPr>
        <p:spPr>
          <a:xfrm>
            <a:off x="10998200" y="4021182"/>
            <a:ext cx="610348" cy="567564"/>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30296713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B35EB7-7743-2BBF-2F4A-9A7BB031F795}"/>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CD25BD4-640D-722B-8713-21F81B2C4195}"/>
              </a:ext>
            </a:extLst>
          </p:cNvPr>
          <p:cNvPicPr>
            <a:picLocks noChangeAspect="1"/>
          </p:cNvPicPr>
          <p:nvPr/>
        </p:nvPicPr>
        <p:blipFill>
          <a:blip r:embed="rId3"/>
          <a:stretch>
            <a:fillRect/>
          </a:stretch>
        </p:blipFill>
        <p:spPr>
          <a:xfrm>
            <a:off x="807819" y="1009657"/>
            <a:ext cx="10800729" cy="4683921"/>
          </a:xfrm>
          <a:prstGeom prst="rect">
            <a:avLst/>
          </a:prstGeom>
        </p:spPr>
      </p:pic>
      <p:sp>
        <p:nvSpPr>
          <p:cNvPr id="2" name="Marcador de texto vertical 1">
            <a:extLst>
              <a:ext uri="{FF2B5EF4-FFF2-40B4-BE49-F238E27FC236}">
                <a16:creationId xmlns:a16="http://schemas.microsoft.com/office/drawing/2014/main" id="{3262E4DF-8DAE-F81F-09BF-3153A5422DF6}"/>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C91D125C-C77A-78D2-B510-C647D9CE3E2A}"/>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972D1528-FA14-3A59-AFAD-56B3C3EE7E5B}"/>
              </a:ext>
            </a:extLst>
          </p:cNvPr>
          <p:cNvSpPr/>
          <p:nvPr/>
        </p:nvSpPr>
        <p:spPr>
          <a:xfrm>
            <a:off x="2938279" y="4727479"/>
            <a:ext cx="6539808" cy="727606"/>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4"/>
            </a:pPr>
            <a:r>
              <a:rPr lang="es-ES_tradnl" sz="1200" dirty="0"/>
              <a:t>Asignado el sobrepaso al NRC con error identificado, se procede a guardar el registro</a:t>
            </a:r>
          </a:p>
        </p:txBody>
      </p:sp>
      <p:sp>
        <p:nvSpPr>
          <p:cNvPr id="8" name="Rectángulo 7">
            <a:extLst>
              <a:ext uri="{FF2B5EF4-FFF2-40B4-BE49-F238E27FC236}">
                <a16:creationId xmlns:a16="http://schemas.microsoft.com/office/drawing/2014/main" id="{4CB3406F-01C2-17A9-F4B4-FBE60052D421}"/>
              </a:ext>
            </a:extLst>
          </p:cNvPr>
          <p:cNvSpPr/>
          <p:nvPr/>
        </p:nvSpPr>
        <p:spPr>
          <a:xfrm>
            <a:off x="10998200" y="4021182"/>
            <a:ext cx="610348" cy="2587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6" name="Rectángulo redondeado 15">
            <a:extLst>
              <a:ext uri="{FF2B5EF4-FFF2-40B4-BE49-F238E27FC236}">
                <a16:creationId xmlns:a16="http://schemas.microsoft.com/office/drawing/2014/main" id="{0B1DAC1F-7F01-3783-E9DC-6E35956ADB56}"/>
              </a:ext>
            </a:extLst>
          </p:cNvPr>
          <p:cNvSpPr/>
          <p:nvPr/>
        </p:nvSpPr>
        <p:spPr>
          <a:xfrm>
            <a:off x="10608761" y="5601753"/>
            <a:ext cx="387710" cy="18365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14</a:t>
            </a:r>
            <a:endParaRPr lang="es-419" sz="1100" noProof="0" dirty="0"/>
          </a:p>
        </p:txBody>
      </p:sp>
      <p:sp>
        <p:nvSpPr>
          <p:cNvPr id="9" name="Rectángulo 8">
            <a:extLst>
              <a:ext uri="{FF2B5EF4-FFF2-40B4-BE49-F238E27FC236}">
                <a16:creationId xmlns:a16="http://schemas.microsoft.com/office/drawing/2014/main" id="{381F66CB-F997-EA8B-B9A1-49DFF803C3CF}"/>
              </a:ext>
            </a:extLst>
          </p:cNvPr>
          <p:cNvSpPr/>
          <p:nvPr/>
        </p:nvSpPr>
        <p:spPr>
          <a:xfrm>
            <a:off x="11022908" y="5325726"/>
            <a:ext cx="610348" cy="258718"/>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Tree>
    <p:extLst>
      <p:ext uri="{BB962C8B-B14F-4D97-AF65-F5344CB8AC3E}">
        <p14:creationId xmlns:p14="http://schemas.microsoft.com/office/powerpoint/2010/main" val="19354658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008BE-6D7B-F3AE-F3F4-C651BFE12E5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24A450FA-FE26-0503-70F9-54401DF5C9CE}"/>
              </a:ext>
            </a:extLst>
          </p:cNvPr>
          <p:cNvPicPr>
            <a:picLocks noChangeAspect="1"/>
          </p:cNvPicPr>
          <p:nvPr/>
        </p:nvPicPr>
        <p:blipFill>
          <a:blip r:embed="rId3"/>
          <a:stretch>
            <a:fillRect/>
          </a:stretch>
        </p:blipFill>
        <p:spPr>
          <a:xfrm>
            <a:off x="871318" y="1073507"/>
            <a:ext cx="10769894" cy="4710986"/>
          </a:xfrm>
          <a:prstGeom prst="rect">
            <a:avLst/>
          </a:prstGeom>
        </p:spPr>
      </p:pic>
      <p:sp>
        <p:nvSpPr>
          <p:cNvPr id="2" name="Marcador de texto vertical 1">
            <a:extLst>
              <a:ext uri="{FF2B5EF4-FFF2-40B4-BE49-F238E27FC236}">
                <a16:creationId xmlns:a16="http://schemas.microsoft.com/office/drawing/2014/main" id="{1C6ABFB3-73A7-4803-78C8-DBC499E8DEB8}"/>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3" name="Title 12">
            <a:extLst>
              <a:ext uri="{FF2B5EF4-FFF2-40B4-BE49-F238E27FC236}">
                <a16:creationId xmlns:a16="http://schemas.microsoft.com/office/drawing/2014/main" id="{3D9CE4BD-57CA-6535-3625-3BF9779912A1}"/>
              </a:ext>
            </a:extLst>
          </p:cNvPr>
          <p:cNvSpPr>
            <a:spLocks noGrp="1"/>
          </p:cNvSpPr>
          <p:nvPr>
            <p:ph type="title"/>
          </p:nvPr>
        </p:nvSpPr>
        <p:spPr>
          <a:xfrm>
            <a:off x="938996" y="304614"/>
            <a:ext cx="10477497" cy="898555"/>
          </a:xfrm>
        </p:spPr>
        <p:txBody>
          <a:bodyPr vert="horz" lIns="0" tIns="0" rIns="0" bIns="0" rtlCol="0" anchor="t" anchorCtr="0">
            <a:noAutofit/>
          </a:bodyPr>
          <a:lstStyle/>
          <a:p>
            <a:r>
              <a:rPr lang="es-419" dirty="0">
                <a:solidFill>
                  <a:schemeClr val="tx2"/>
                </a:solidFill>
              </a:rPr>
              <a:t>Inscripción de curso del alumno (SFAREGS)</a:t>
            </a:r>
            <a:endParaRPr lang="es-ES_tradnl" dirty="0">
              <a:solidFill>
                <a:schemeClr val="tx2"/>
              </a:solidFill>
            </a:endParaRPr>
          </a:p>
        </p:txBody>
      </p:sp>
      <p:sp>
        <p:nvSpPr>
          <p:cNvPr id="18" name="Rectángulo: esquinas redondeadas 17">
            <a:extLst>
              <a:ext uri="{FF2B5EF4-FFF2-40B4-BE49-F238E27FC236}">
                <a16:creationId xmlns:a16="http://schemas.microsoft.com/office/drawing/2014/main" id="{600F808E-D5D7-A9EF-1EFF-65B22023A098}"/>
              </a:ext>
            </a:extLst>
          </p:cNvPr>
          <p:cNvSpPr/>
          <p:nvPr/>
        </p:nvSpPr>
        <p:spPr>
          <a:xfrm>
            <a:off x="1760395" y="3140946"/>
            <a:ext cx="9237506" cy="1102249"/>
          </a:xfrm>
          <a:prstGeom prst="roundRect">
            <a:avLst>
              <a:gd name="adj" fmla="val 14466"/>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lIns="91440" tIns="45720" rIns="91440" bIns="45720" rtlCol="0" anchor="ctr"/>
          <a:lstStyle/>
          <a:p>
            <a:pPr marL="228600" indent="-228600">
              <a:buFont typeface="+mj-lt"/>
              <a:buAutoNum type="arabicPeriod" startAt="15"/>
            </a:pPr>
            <a:r>
              <a:rPr lang="es-ES_tradnl" sz="1200" dirty="0"/>
              <a:t>Si  no hay errores en la inscripción, el sistema permite continuar hasta el bloque “Total de ingreso”, en donde se hereda la configuración que en SOATERM se tenga para el cálculo de la cuenta corriente del estudiante.</a:t>
            </a:r>
          </a:p>
          <a:p>
            <a:pPr marL="228600" indent="-228600">
              <a:buFont typeface="+mj-lt"/>
              <a:buAutoNum type="arabicPeriod" startAt="15"/>
            </a:pPr>
            <a:r>
              <a:rPr lang="es-ES_tradnl" sz="1200" dirty="0"/>
              <a:t> Presione, nuevamente, el botón Guardar.</a:t>
            </a:r>
          </a:p>
        </p:txBody>
      </p:sp>
      <p:sp>
        <p:nvSpPr>
          <p:cNvPr id="6" name="Rectángulo 5">
            <a:extLst>
              <a:ext uri="{FF2B5EF4-FFF2-40B4-BE49-F238E27FC236}">
                <a16:creationId xmlns:a16="http://schemas.microsoft.com/office/drawing/2014/main" id="{39CEA106-BCD4-AA98-D351-92C3E776476F}"/>
              </a:ext>
            </a:extLst>
          </p:cNvPr>
          <p:cNvSpPr/>
          <p:nvPr/>
        </p:nvSpPr>
        <p:spPr>
          <a:xfrm>
            <a:off x="1376414" y="4800911"/>
            <a:ext cx="1709686" cy="182149"/>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7" name="Rectángulo redondeado 15">
            <a:extLst>
              <a:ext uri="{FF2B5EF4-FFF2-40B4-BE49-F238E27FC236}">
                <a16:creationId xmlns:a16="http://schemas.microsoft.com/office/drawing/2014/main" id="{9BAC0D9E-DBB9-D3FF-2733-C761702DD509}"/>
              </a:ext>
            </a:extLst>
          </p:cNvPr>
          <p:cNvSpPr/>
          <p:nvPr/>
        </p:nvSpPr>
        <p:spPr>
          <a:xfrm>
            <a:off x="3022334" y="5012088"/>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15</a:t>
            </a:r>
          </a:p>
        </p:txBody>
      </p:sp>
      <p:sp>
        <p:nvSpPr>
          <p:cNvPr id="3" name="Rectángulo 2">
            <a:extLst>
              <a:ext uri="{FF2B5EF4-FFF2-40B4-BE49-F238E27FC236}">
                <a16:creationId xmlns:a16="http://schemas.microsoft.com/office/drawing/2014/main" id="{989C745E-DD48-F527-4BB4-0CAC61091F94}"/>
              </a:ext>
            </a:extLst>
          </p:cNvPr>
          <p:cNvSpPr/>
          <p:nvPr/>
        </p:nvSpPr>
        <p:spPr>
          <a:xfrm>
            <a:off x="11087100" y="5460662"/>
            <a:ext cx="617878" cy="211177"/>
          </a:xfrm>
          <a:prstGeom prst="rect">
            <a:avLst/>
          </a:prstGeom>
          <a:no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ln>
                <a:solidFill>
                  <a:schemeClr val="accent1"/>
                </a:solidFill>
              </a:ln>
              <a:noFill/>
            </a:endParaRPr>
          </a:p>
        </p:txBody>
      </p:sp>
      <p:sp>
        <p:nvSpPr>
          <p:cNvPr id="4" name="Rectángulo redondeado 15">
            <a:extLst>
              <a:ext uri="{FF2B5EF4-FFF2-40B4-BE49-F238E27FC236}">
                <a16:creationId xmlns:a16="http://schemas.microsoft.com/office/drawing/2014/main" id="{015EAC90-1F4F-029E-420A-65F64EBDC4FD}"/>
              </a:ext>
            </a:extLst>
          </p:cNvPr>
          <p:cNvSpPr/>
          <p:nvPr/>
        </p:nvSpPr>
        <p:spPr>
          <a:xfrm>
            <a:off x="10804046" y="5256933"/>
            <a:ext cx="387710" cy="1821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16</a:t>
            </a:r>
            <a:endParaRPr lang="es-419" sz="1100" noProof="0" dirty="0"/>
          </a:p>
        </p:txBody>
      </p:sp>
    </p:spTree>
    <p:extLst>
      <p:ext uri="{BB962C8B-B14F-4D97-AF65-F5344CB8AC3E}">
        <p14:creationId xmlns:p14="http://schemas.microsoft.com/office/powerpoint/2010/main" val="38776680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B2511-EBB9-4130-E949-689C16F0C3DF}"/>
            </a:ext>
          </a:extLst>
        </p:cNvPr>
        <p:cNvGrpSpPr/>
        <p:nvPr/>
      </p:nvGrpSpPr>
      <p:grpSpPr>
        <a:xfrm>
          <a:off x="0" y="0"/>
          <a:ext cx="0" cy="0"/>
          <a:chOff x="0" y="0"/>
          <a:chExt cx="0" cy="0"/>
        </a:xfrm>
      </p:grpSpPr>
      <p:sp>
        <p:nvSpPr>
          <p:cNvPr id="10" name="Vertical Text Placeholder 9">
            <a:extLst>
              <a:ext uri="{FF2B5EF4-FFF2-40B4-BE49-F238E27FC236}">
                <a16:creationId xmlns:a16="http://schemas.microsoft.com/office/drawing/2014/main" id="{D77EE57B-381E-14F6-6022-4D2673C9EC34}"/>
              </a:ext>
            </a:extLst>
          </p:cNvPr>
          <p:cNvSpPr>
            <a:spLocks noGrp="1"/>
          </p:cNvSpPr>
          <p:nvPr>
            <p:ph type="body" orient="vert" sz="quarter" idx="10"/>
          </p:nvPr>
        </p:nvSpPr>
        <p:spPr/>
        <p:txBody>
          <a:bodyPr/>
          <a:lstStyle/>
          <a:p>
            <a:r>
              <a:rPr lang="es-419" sz="1200" dirty="0"/>
              <a:t>Gestionar los sobrepasos de inscripción</a:t>
            </a:r>
            <a:endParaRPr lang="es-419" dirty="0"/>
          </a:p>
        </p:txBody>
      </p:sp>
      <p:sp>
        <p:nvSpPr>
          <p:cNvPr id="16" name="Title 15">
            <a:extLst>
              <a:ext uri="{FF2B5EF4-FFF2-40B4-BE49-F238E27FC236}">
                <a16:creationId xmlns:a16="http://schemas.microsoft.com/office/drawing/2014/main" id="{0C005CB2-58D6-99E6-CA4A-87AD112AD8A1}"/>
              </a:ext>
            </a:extLst>
          </p:cNvPr>
          <p:cNvSpPr>
            <a:spLocks noGrp="1"/>
          </p:cNvSpPr>
          <p:nvPr>
            <p:ph type="title"/>
          </p:nvPr>
        </p:nvSpPr>
        <p:spPr>
          <a:xfrm>
            <a:off x="1104900" y="1452134"/>
            <a:ext cx="7092820" cy="1520131"/>
          </a:xfrm>
        </p:spPr>
        <p:txBody>
          <a:bodyPr/>
          <a:lstStyle/>
          <a:p>
            <a:r>
              <a:rPr lang="en-US" sz="3600" dirty="0"/>
              <a:t>RESUMEN</a:t>
            </a:r>
          </a:p>
        </p:txBody>
      </p:sp>
      <p:sp>
        <p:nvSpPr>
          <p:cNvPr id="4" name="Marcador de texto 3">
            <a:extLst>
              <a:ext uri="{FF2B5EF4-FFF2-40B4-BE49-F238E27FC236}">
                <a16:creationId xmlns:a16="http://schemas.microsoft.com/office/drawing/2014/main" id="{8ABBF1D9-D82B-7B59-B689-5A11DCF8C6FF}"/>
              </a:ext>
            </a:extLst>
          </p:cNvPr>
          <p:cNvSpPr>
            <a:spLocks noGrp="1"/>
          </p:cNvSpPr>
          <p:nvPr>
            <p:ph type="body" sz="quarter" idx="18"/>
          </p:nvPr>
        </p:nvSpPr>
        <p:spPr/>
        <p:txBody>
          <a:bodyPr/>
          <a:lstStyle/>
          <a:p>
            <a:endParaRPr lang="es-419"/>
          </a:p>
        </p:txBody>
      </p:sp>
    </p:spTree>
    <p:extLst>
      <p:ext uri="{BB962C8B-B14F-4D97-AF65-F5344CB8AC3E}">
        <p14:creationId xmlns:p14="http://schemas.microsoft.com/office/powerpoint/2010/main" val="1081191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C8891-8995-66B5-4204-40FB469A8294}"/>
            </a:ext>
          </a:extLst>
        </p:cNvPr>
        <p:cNvGrpSpPr/>
        <p:nvPr/>
      </p:nvGrpSpPr>
      <p:grpSpPr>
        <a:xfrm>
          <a:off x="0" y="0"/>
          <a:ext cx="0" cy="0"/>
          <a:chOff x="0" y="0"/>
          <a:chExt cx="0" cy="0"/>
        </a:xfrm>
      </p:grpSpPr>
      <p:sp>
        <p:nvSpPr>
          <p:cNvPr id="2" name="Text Placeholder 4">
            <a:extLst>
              <a:ext uri="{FF2B5EF4-FFF2-40B4-BE49-F238E27FC236}">
                <a16:creationId xmlns:a16="http://schemas.microsoft.com/office/drawing/2014/main" id="{E147B28F-B3D5-B03D-704D-CDFCF4CFDEDC}"/>
              </a:ext>
            </a:extLst>
          </p:cNvPr>
          <p:cNvSpPr>
            <a:spLocks noGrp="1"/>
          </p:cNvSpPr>
          <p:nvPr>
            <p:ph type="body" sz="quarter" idx="18"/>
          </p:nvPr>
        </p:nvSpPr>
        <p:spPr/>
        <p:txBody>
          <a:bodyPr/>
          <a:lstStyle/>
          <a:p>
            <a:pPr algn="just">
              <a:buClr>
                <a:schemeClr val="tx1"/>
              </a:buClr>
              <a:buFont typeface="Wingdings" panose="05000000000000000000" pitchFamily="2" charset="2"/>
              <a:buChar char="v"/>
            </a:pPr>
            <a:r>
              <a:rPr lang="es-419" sz="2000" dirty="0"/>
              <a:t>Durante el proceso de inscripción se pueden asignar a un estudiante propiedades de sobrepaso que le permitan inscribir NRCs que anteriormente estuvieran impedidos por uno o varios errores. Esta asignación de sobrepaso puede ser asociada directamente a un NRC o a una asignatura (Materia-Curso).</a:t>
            </a:r>
          </a:p>
          <a:p>
            <a:pPr algn="just">
              <a:buClr>
                <a:schemeClr val="tx1"/>
              </a:buClr>
              <a:buFont typeface="Wingdings" panose="05000000000000000000" pitchFamily="2" charset="2"/>
              <a:buChar char="v"/>
            </a:pPr>
            <a:r>
              <a:rPr lang="es-419" sz="2000" dirty="0"/>
              <a:t>De igual forma en el proceso de inscripción por BackOffice el funcional administrativo tiene la facultad de asignar sobrepasos a los NRC que hayan presentado algún tipo de error en el momento de inscripción por SFAREGS, pudiendo ser de carácter específico (‘Sí’) o general (‘Todos’).</a:t>
            </a:r>
          </a:p>
          <a:p>
            <a:pPr algn="just">
              <a:buClr>
                <a:schemeClr val="tx1"/>
              </a:buClr>
              <a:buFont typeface="Wingdings" panose="05000000000000000000" pitchFamily="2" charset="2"/>
              <a:buChar char="v"/>
            </a:pPr>
            <a:r>
              <a:rPr lang="es-419" sz="2000" dirty="0"/>
              <a:t>Los sobrepasos son aplicados tras la identificación de un error con severidad Fatal dentro de los criterios de verificación configurados en SOATERM</a:t>
            </a:r>
          </a:p>
        </p:txBody>
      </p:sp>
      <p:sp>
        <p:nvSpPr>
          <p:cNvPr id="10" name="Vertical Text Placeholder 9">
            <a:extLst>
              <a:ext uri="{FF2B5EF4-FFF2-40B4-BE49-F238E27FC236}">
                <a16:creationId xmlns:a16="http://schemas.microsoft.com/office/drawing/2014/main" id="{C6B42CC9-82B5-CD18-7360-D7B35641A76E}"/>
              </a:ext>
            </a:extLst>
          </p:cNvPr>
          <p:cNvSpPr>
            <a:spLocks noGrp="1"/>
          </p:cNvSpPr>
          <p:nvPr>
            <p:ph type="body" orient="vert" sz="quarter" idx="17"/>
          </p:nvPr>
        </p:nvSpPr>
        <p:spPr/>
        <p:txBody>
          <a:bodyPr/>
          <a:lstStyle/>
          <a:p>
            <a:r>
              <a:rPr lang="es-419" sz="1200" dirty="0"/>
              <a:t>Gestionar los sobrepasos de inscripción</a:t>
            </a:r>
            <a:endParaRPr lang="es-419" dirty="0"/>
          </a:p>
        </p:txBody>
      </p:sp>
      <p:sp>
        <p:nvSpPr>
          <p:cNvPr id="16" name="Title 15">
            <a:extLst>
              <a:ext uri="{FF2B5EF4-FFF2-40B4-BE49-F238E27FC236}">
                <a16:creationId xmlns:a16="http://schemas.microsoft.com/office/drawing/2014/main" id="{DF620D0A-9EB3-3090-05A6-BE6D5738E4E5}"/>
              </a:ext>
            </a:extLst>
          </p:cNvPr>
          <p:cNvSpPr>
            <a:spLocks noGrp="1"/>
          </p:cNvSpPr>
          <p:nvPr>
            <p:ph type="title"/>
          </p:nvPr>
        </p:nvSpPr>
        <p:spPr/>
        <p:txBody>
          <a:bodyPr/>
          <a:lstStyle/>
          <a:p>
            <a:r>
              <a:rPr lang="en-US" dirty="0">
                <a:solidFill>
                  <a:schemeClr val="tx2"/>
                </a:solidFill>
              </a:rPr>
              <a:t>RESUMEN</a:t>
            </a:r>
          </a:p>
        </p:txBody>
      </p:sp>
    </p:spTree>
    <p:extLst>
      <p:ext uri="{BB962C8B-B14F-4D97-AF65-F5344CB8AC3E}">
        <p14:creationId xmlns:p14="http://schemas.microsoft.com/office/powerpoint/2010/main" val="19238528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Marcador de texto 12">
            <a:extLst>
              <a:ext uri="{FF2B5EF4-FFF2-40B4-BE49-F238E27FC236}">
                <a16:creationId xmlns:a16="http://schemas.microsoft.com/office/drawing/2014/main" id="{A4B0D3FF-2F8B-8FC5-7AC2-84CC61ED8977}"/>
              </a:ext>
            </a:extLst>
          </p:cNvPr>
          <p:cNvSpPr>
            <a:spLocks noGrp="1"/>
          </p:cNvSpPr>
          <p:nvPr>
            <p:ph type="body" sz="quarter" idx="10"/>
          </p:nvPr>
        </p:nvSpPr>
        <p:spPr>
          <a:xfrm>
            <a:off x="914399" y="2238843"/>
            <a:ext cx="10363202" cy="669094"/>
          </a:xfrm>
        </p:spPr>
        <p:txBody>
          <a:bodyPr/>
          <a:lstStyle/>
          <a:p>
            <a:r>
              <a:rPr lang="es-419" dirty="0"/>
              <a:t>MUCHAS GRACIAS</a:t>
            </a:r>
          </a:p>
        </p:txBody>
      </p:sp>
      <p:sp>
        <p:nvSpPr>
          <p:cNvPr id="5" name="Marcador de texto 4">
            <a:extLst>
              <a:ext uri="{FF2B5EF4-FFF2-40B4-BE49-F238E27FC236}">
                <a16:creationId xmlns:a16="http://schemas.microsoft.com/office/drawing/2014/main" id="{826401A9-DE11-DDDF-9F42-FAAE12FE6B9F}"/>
              </a:ext>
            </a:extLst>
          </p:cNvPr>
          <p:cNvSpPr>
            <a:spLocks noGrp="1"/>
          </p:cNvSpPr>
          <p:nvPr>
            <p:ph type="body" sz="quarter" idx="11"/>
          </p:nvPr>
        </p:nvSpPr>
        <p:spPr>
          <a:xfrm>
            <a:off x="1229043" y="4584074"/>
            <a:ext cx="10363202" cy="324961"/>
          </a:xfrm>
        </p:spPr>
        <p:txBody>
          <a:bodyPr/>
          <a:lstStyle/>
          <a:p>
            <a:pPr algn="l"/>
            <a:r>
              <a:rPr lang="es-419" sz="2000" dirty="0"/>
              <a:t>Nidia Beltran</a:t>
            </a:r>
          </a:p>
        </p:txBody>
      </p:sp>
      <p:pic>
        <p:nvPicPr>
          <p:cNvPr id="8" name="Graphic 7" descr="User with solid fill">
            <a:extLst>
              <a:ext uri="{FF2B5EF4-FFF2-40B4-BE49-F238E27FC236}">
                <a16:creationId xmlns:a16="http://schemas.microsoft.com/office/drawing/2014/main" id="{C726B198-B5C8-1C5D-4D10-BFFD13AADE3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54490" y="4609395"/>
            <a:ext cx="274320" cy="274320"/>
          </a:xfrm>
          <a:prstGeom prst="rect">
            <a:avLst/>
          </a:prstGeom>
        </p:spPr>
      </p:pic>
      <p:pic>
        <p:nvPicPr>
          <p:cNvPr id="9" name="Graphic 8" descr="Email with solid fill">
            <a:extLst>
              <a:ext uri="{FF2B5EF4-FFF2-40B4-BE49-F238E27FC236}">
                <a16:creationId xmlns:a16="http://schemas.microsoft.com/office/drawing/2014/main" id="{DD7F5D3F-15A6-F216-AF41-EA0DCDE6B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3543" y="4985033"/>
            <a:ext cx="274320" cy="274320"/>
          </a:xfrm>
          <a:prstGeom prst="rect">
            <a:avLst/>
          </a:prstGeom>
        </p:spPr>
      </p:pic>
      <p:sp>
        <p:nvSpPr>
          <p:cNvPr id="11" name="Marcador de texto 4">
            <a:extLst>
              <a:ext uri="{FF2B5EF4-FFF2-40B4-BE49-F238E27FC236}">
                <a16:creationId xmlns:a16="http://schemas.microsoft.com/office/drawing/2014/main" id="{88780A86-7F59-00BD-9B1E-C1DFAC865719}"/>
              </a:ext>
            </a:extLst>
          </p:cNvPr>
          <p:cNvSpPr txBox="1">
            <a:spLocks/>
          </p:cNvSpPr>
          <p:nvPr/>
        </p:nvSpPr>
        <p:spPr>
          <a:xfrm>
            <a:off x="1229043" y="4959712"/>
            <a:ext cx="5334046" cy="324961"/>
          </a:xfrm>
          <a:prstGeom prst="rect">
            <a:avLst/>
          </a:prstGeom>
        </p:spPr>
        <p:txBody>
          <a:bodyPr vert="horz" wrap="square" lIns="0" tIns="0" rIns="0" bIns="0" rtlCol="0">
            <a:spAutoFit/>
          </a:bodyPr>
          <a:lstStyle>
            <a:lvl1pPr marL="0" indent="0" algn="l" defTabSz="914400" rtl="0" eaLnBrk="1" latinLnBrk="0" hangingPunct="1">
              <a:lnSpc>
                <a:spcPct val="110000"/>
              </a:lnSpc>
              <a:spcBef>
                <a:spcPts val="0"/>
              </a:spcBef>
              <a:spcAft>
                <a:spcPts val="600"/>
              </a:spcAft>
              <a:buFont typeface="Arial" panose="020B0604020202020204" pitchFamily="34" charset="0"/>
              <a:buNone/>
              <a:defRPr sz="2000" b="0" kern="1200">
                <a:solidFill>
                  <a:schemeClr val="bg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419" dirty="0"/>
              <a:t>Nidia.beltran@ellucian.com</a:t>
            </a:r>
          </a:p>
        </p:txBody>
      </p:sp>
    </p:spTree>
    <p:extLst>
      <p:ext uri="{BB962C8B-B14F-4D97-AF65-F5344CB8AC3E}">
        <p14:creationId xmlns:p14="http://schemas.microsoft.com/office/powerpoint/2010/main" val="3192274581"/>
      </p:ext>
    </p:extLst>
  </p:cSld>
  <p:clrMapOvr>
    <a:masterClrMapping/>
  </p:clrMapOvr>
</p:sld>
</file>

<file path=ppt/theme/theme1.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2.xml><?xml version="1.0" encoding="utf-8"?>
<a:theme xmlns:a="http://schemas.openxmlformats.org/drawingml/2006/main" name="Ellucian Blank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PPT-Template-2025-V5" id="{A599B5A2-9FB4-43D0-8DD2-7AE7CFBE6EE5}" vid="{5FE6AC23-0F88-4612-B1AD-D84E4AF262DE}"/>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Ellucian_April 2025</Template>
  <TotalTime>11639</TotalTime>
  <Words>2430</Words>
  <Application>Microsoft Office PowerPoint</Application>
  <PresentationFormat>Panorámica</PresentationFormat>
  <Paragraphs>274</Paragraphs>
  <Slides>43</Slides>
  <Notes>22</Notes>
  <HiddenSlides>0</HiddenSlides>
  <MMClips>0</MMClips>
  <ScaleCrop>false</ScaleCrop>
  <HeadingPairs>
    <vt:vector size="6" baseType="variant">
      <vt:variant>
        <vt:lpstr>Fuentes usadas</vt:lpstr>
      </vt:variant>
      <vt:variant>
        <vt:i4>7</vt:i4>
      </vt:variant>
      <vt:variant>
        <vt:lpstr>Tema</vt:lpstr>
      </vt:variant>
      <vt:variant>
        <vt:i4>2</vt:i4>
      </vt:variant>
      <vt:variant>
        <vt:lpstr>Títulos de diapositiva</vt:lpstr>
      </vt:variant>
      <vt:variant>
        <vt:i4>43</vt:i4>
      </vt:variant>
    </vt:vector>
  </HeadingPairs>
  <TitlesOfParts>
    <vt:vector size="52" baseType="lpstr">
      <vt:lpstr>Aptos</vt:lpstr>
      <vt:lpstr>Aptos Display</vt:lpstr>
      <vt:lpstr>Arial</vt:lpstr>
      <vt:lpstr>Calibri</vt:lpstr>
      <vt:lpstr>Courier New</vt:lpstr>
      <vt:lpstr>Helvetica Neue</vt:lpstr>
      <vt:lpstr>Wingdings</vt:lpstr>
      <vt:lpstr>Ellucian_April 2025</vt:lpstr>
      <vt:lpstr>Ellucian Blank Layouts</vt:lpstr>
      <vt:lpstr>Presentación de PowerPoint</vt:lpstr>
      <vt:lpstr>Presentación de PowerPoint</vt:lpstr>
      <vt:lpstr>Overview</vt:lpstr>
      <vt:lpstr>Overview: Mapa de capacidades</vt:lpstr>
      <vt:lpstr>Overview: Capacidad operativa Gestionar la inscripción de cursos</vt:lpstr>
      <vt:lpstr>Overview: Capacidad operativa Gestionar la inscripción de cursos</vt:lpstr>
      <vt:lpstr>Presentación de PowerPoint</vt:lpstr>
      <vt:lpstr>Presentación de PowerPoint</vt:lpstr>
      <vt:lpstr>Presentación de PowerPoint</vt:lpstr>
      <vt:lpstr>Presentación de PowerPoint</vt:lpstr>
      <vt:lpstr>Presentación de PowerPoint</vt:lpstr>
      <vt:lpstr>CONFIGURACIONES</vt:lpstr>
      <vt:lpstr>Presentación de PowerPoint</vt:lpstr>
      <vt:lpstr>Control de periodo (SOATERM)</vt:lpstr>
      <vt:lpstr>Presentación de PowerPoint</vt:lpstr>
      <vt:lpstr>Validación de código de permiso-sobrepaso de inscripción (STVROVR) </vt:lpstr>
      <vt:lpstr>Validación de código de permiso-sobrepaso de inscripción (STVROVR) </vt:lpstr>
      <vt:lpstr>Presentación de PowerPoint</vt:lpstr>
      <vt:lpstr>Control de permiso-sobrepaso de inscripción (SFAROVR)</vt:lpstr>
      <vt:lpstr>Control de permiso-sobrepaso de inscripción (SFAROVR)</vt:lpstr>
      <vt:lpstr>Control de permiso-sobrepaso de inscripción (SFAROVR)</vt:lpstr>
      <vt:lpstr>Control de permiso-sobrepaso de inscripción (SFAROVR)</vt:lpstr>
      <vt:lpstr>Gestionar los sobrepasos de inscripción</vt:lpstr>
      <vt:lpstr>Presentación de PowerPoint</vt:lpstr>
      <vt:lpstr>Permisos-Sobrepaso de inscripción de alumno (SFASRPO)</vt:lpstr>
      <vt:lpstr>Permisos-Sobrepaso de inscripción de alumno (SFASRPO)</vt:lpstr>
      <vt:lpstr>Permisos-Sobrepaso de inscripción de alumno (SFASRPO)</vt:lpstr>
      <vt:lpstr>Autoservicio – Estudiante sin sobrepaso</vt:lpstr>
      <vt:lpstr>Autoservicio – Estudiante con sobrepaso</vt:lpstr>
      <vt:lpstr>Presentación de PowerPoint</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Inscripción de curso del alumno (SFAREGS)</vt:lpstr>
      <vt:lpstr>RESUMEN</vt:lpstr>
      <vt:lpstr>RESUMEN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Gestionar conceptos de cobro y pago</dc:title>
  <dc:creator>Mardones, Francisco</dc:creator>
  <cp:lastModifiedBy>Beltran, Nidia</cp:lastModifiedBy>
  <cp:revision>272</cp:revision>
  <dcterms:created xsi:type="dcterms:W3CDTF">2023-07-17T20:07:38Z</dcterms:created>
  <dcterms:modified xsi:type="dcterms:W3CDTF">2026-07-08T20:29:58Z</dcterms:modified>
</cp:coreProperties>
</file>
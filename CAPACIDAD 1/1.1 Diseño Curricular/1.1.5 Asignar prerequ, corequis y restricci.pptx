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1" r:id="rId2"/>
  </p:sldMasterIdLst>
  <p:notesMasterIdLst>
    <p:notesMasterId r:id="rId32"/>
  </p:notesMasterIdLst>
  <p:sldIdLst>
    <p:sldId id="511" r:id="rId3"/>
    <p:sldId id="423" r:id="rId4"/>
    <p:sldId id="260" r:id="rId5"/>
    <p:sldId id="349" r:id="rId6"/>
    <p:sldId id="350" r:id="rId7"/>
    <p:sldId id="421" r:id="rId8"/>
    <p:sldId id="261" r:id="rId9"/>
    <p:sldId id="353" r:id="rId10"/>
    <p:sldId id="343" r:id="rId11"/>
    <p:sldId id="493" r:id="rId12"/>
    <p:sldId id="475" r:id="rId13"/>
    <p:sldId id="505" r:id="rId14"/>
    <p:sldId id="506" r:id="rId15"/>
    <p:sldId id="478" r:id="rId16"/>
    <p:sldId id="476" r:id="rId17"/>
    <p:sldId id="469" r:id="rId18"/>
    <p:sldId id="470" r:id="rId19"/>
    <p:sldId id="496" r:id="rId20"/>
    <p:sldId id="507" r:id="rId21"/>
    <p:sldId id="499" r:id="rId22"/>
    <p:sldId id="500" r:id="rId23"/>
    <p:sldId id="498" r:id="rId24"/>
    <p:sldId id="497" r:id="rId25"/>
    <p:sldId id="501" r:id="rId26"/>
    <p:sldId id="502" r:id="rId27"/>
    <p:sldId id="503" r:id="rId28"/>
    <p:sldId id="504" r:id="rId29"/>
    <p:sldId id="345" r:id="rId30"/>
    <p:sldId id="51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416E175-DBF2-5D32-C99F-B02AC2F0EE52}" name="Varela, Sebastian" initials="SV" userId="S::Sebastian.Varela@ellucian.com::16250e6a-a338-4857-9a94-0eee2cbe604f" providerId="AD"/>
  <p188:author id="{94B06FD8-FBF7-48A6-EC94-7EAC12BBF7D7}" name="Mardones, Francisco" initials="MF" userId="S::Francisco.Mardones@ellucian.com::216dec8c-35d0-45c5-a341-2c26a655750e" providerId="AD"/>
  <p188:author id="{D73767EC-4945-F044-2966-C3C4FBC8CEFC}" name="Diana Carolina Varón Díaz" initials="DV" userId="S::cvaron@cesa.edu.co::57d2fcd7-20f5-4803-8ac1-d7a2b9cde4e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1B79"/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BD2B74-6694-43A4-8C38-2659A8D8727D}" v="9" dt="2024-10-30T21:54:02.503"/>
    <p1510:client id="{10753B0A-D131-46B2-8F06-7BC1854149C2}" v="8" dt="2024-10-31T16:20:37.8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32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8/10/relationships/authors" Target="authors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 CAROLINA VARON DIAZ" userId="F3WulOO1zdW9+LORcwUsQgtHX8O05KiAsqyo1/aqNxE=" providerId="None" clId="Web-{05BD2B74-6694-43A4-8C38-2659A8D8727D}"/>
    <pc:docChg chg="modSld">
      <pc:chgData name="DIANA CAROLINA VARON DIAZ" userId="F3WulOO1zdW9+LORcwUsQgtHX8O05KiAsqyo1/aqNxE=" providerId="None" clId="Web-{05BD2B74-6694-43A4-8C38-2659A8D8727D}" dt="2024-10-30T21:54:02.503" v="7" actId="14100"/>
      <pc:docMkLst>
        <pc:docMk/>
      </pc:docMkLst>
      <pc:sldChg chg="addSp delSp modSp">
        <pc:chgData name="DIANA CAROLINA VARON DIAZ" userId="F3WulOO1zdW9+LORcwUsQgtHX8O05KiAsqyo1/aqNxE=" providerId="None" clId="Web-{05BD2B74-6694-43A4-8C38-2659A8D8727D}" dt="2024-10-30T21:52:41.044" v="4" actId="14100"/>
        <pc:sldMkLst>
          <pc:docMk/>
          <pc:sldMk cId="2428738355" sldId="478"/>
        </pc:sldMkLst>
        <pc:picChg chg="add mod ord">
          <ac:chgData name="DIANA CAROLINA VARON DIAZ" userId="F3WulOO1zdW9+LORcwUsQgtHX8O05KiAsqyo1/aqNxE=" providerId="None" clId="Web-{05BD2B74-6694-43A4-8C38-2659A8D8727D}" dt="2024-10-30T21:52:41.044" v="4" actId="14100"/>
          <ac:picMkLst>
            <pc:docMk/>
            <pc:sldMk cId="2428738355" sldId="478"/>
            <ac:picMk id="2" creationId="{025D30BC-81BB-1A0A-A27C-A150E1A35839}"/>
          </ac:picMkLst>
        </pc:picChg>
        <pc:picChg chg="del">
          <ac:chgData name="DIANA CAROLINA VARON DIAZ" userId="F3WulOO1zdW9+LORcwUsQgtHX8O05KiAsqyo1/aqNxE=" providerId="None" clId="Web-{05BD2B74-6694-43A4-8C38-2659A8D8727D}" dt="2024-10-30T21:52:30.466" v="0"/>
          <ac:picMkLst>
            <pc:docMk/>
            <pc:sldMk cId="2428738355" sldId="478"/>
            <ac:picMk id="11" creationId="{C5FC7409-C6D4-A028-C332-E4B50E946BE4}"/>
          </ac:picMkLst>
        </pc:picChg>
      </pc:sldChg>
      <pc:sldChg chg="modSp">
        <pc:chgData name="DIANA CAROLINA VARON DIAZ" userId="F3WulOO1zdW9+LORcwUsQgtHX8O05KiAsqyo1/aqNxE=" providerId="None" clId="Web-{05BD2B74-6694-43A4-8C38-2659A8D8727D}" dt="2024-10-30T21:54:02.503" v="7" actId="14100"/>
        <pc:sldMkLst>
          <pc:docMk/>
          <pc:sldMk cId="2686792231" sldId="508"/>
        </pc:sldMkLst>
        <pc:spChg chg="mod">
          <ac:chgData name="DIANA CAROLINA VARON DIAZ" userId="F3WulOO1zdW9+LORcwUsQgtHX8O05KiAsqyo1/aqNxE=" providerId="None" clId="Web-{05BD2B74-6694-43A4-8C38-2659A8D8727D}" dt="2024-10-30T21:54:02.503" v="7" actId="14100"/>
          <ac:spMkLst>
            <pc:docMk/>
            <pc:sldMk cId="2686792231" sldId="508"/>
            <ac:spMk id="6" creationId="{E6D98046-D39E-9E22-D665-1F7A26E1684A}"/>
          </ac:spMkLst>
        </pc:spChg>
      </pc:sldChg>
    </pc:docChg>
  </pc:docChgLst>
  <pc:docChgLst>
    <pc:chgData name="DIANA CAROLINA VARON DIAZ" userId="F3WulOO1zdW9+LORcwUsQgtHX8O05KiAsqyo1/aqNxE=" providerId="None" clId="Web-{10753B0A-D131-46B2-8F06-7BC1854149C2}"/>
    <pc:docChg chg="modSld">
      <pc:chgData name="DIANA CAROLINA VARON DIAZ" userId="F3WulOO1zdW9+LORcwUsQgtHX8O05KiAsqyo1/aqNxE=" providerId="None" clId="Web-{10753B0A-D131-46B2-8F06-7BC1854149C2}" dt="2024-10-31T16:20:37.658" v="6" actId="1076"/>
      <pc:docMkLst>
        <pc:docMk/>
      </pc:docMkLst>
      <pc:sldChg chg="modSp">
        <pc:chgData name="DIANA CAROLINA VARON DIAZ" userId="F3WulOO1zdW9+LORcwUsQgtHX8O05KiAsqyo1/aqNxE=" providerId="None" clId="Web-{10753B0A-D131-46B2-8F06-7BC1854149C2}" dt="2024-10-31T16:20:19.532" v="2"/>
        <pc:sldMkLst>
          <pc:docMk/>
          <pc:sldMk cId="1476980462" sldId="509"/>
        </pc:sldMkLst>
        <pc:spChg chg="mod">
          <ac:chgData name="DIANA CAROLINA VARON DIAZ" userId="F3WulOO1zdW9+LORcwUsQgtHX8O05KiAsqyo1/aqNxE=" providerId="None" clId="Web-{10753B0A-D131-46B2-8F06-7BC1854149C2}" dt="2024-10-31T16:20:19.532" v="2"/>
          <ac:spMkLst>
            <pc:docMk/>
            <pc:sldMk cId="1476980462" sldId="509"/>
            <ac:spMk id="5" creationId="{EE6632E4-D94C-53D6-D157-CD7200C25F74}"/>
          </ac:spMkLst>
        </pc:spChg>
      </pc:sldChg>
      <pc:sldChg chg="modSp">
        <pc:chgData name="DIANA CAROLINA VARON DIAZ" userId="F3WulOO1zdW9+LORcwUsQgtHX8O05KiAsqyo1/aqNxE=" providerId="None" clId="Web-{10753B0A-D131-46B2-8F06-7BC1854149C2}" dt="2024-10-31T16:20:37.658" v="6" actId="1076"/>
        <pc:sldMkLst>
          <pc:docMk/>
          <pc:sldMk cId="3360553215" sldId="510"/>
        </pc:sldMkLst>
        <pc:spChg chg="mod">
          <ac:chgData name="DIANA CAROLINA VARON DIAZ" userId="F3WulOO1zdW9+LORcwUsQgtHX8O05KiAsqyo1/aqNxE=" providerId="None" clId="Web-{10753B0A-D131-46B2-8F06-7BC1854149C2}" dt="2024-10-31T16:20:37.658" v="6" actId="1076"/>
          <ac:spMkLst>
            <pc:docMk/>
            <pc:sldMk cId="3360553215" sldId="510"/>
            <ac:spMk id="5" creationId="{D51A834B-EB76-7192-D006-BCC3197462E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10-06-2026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84567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80436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14557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69977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8449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71376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29538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8170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420153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053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31508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592088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865079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8328848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460839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292630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375000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72765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983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667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937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796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0409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717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4048829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8909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8043067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331917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337985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874604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866310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857537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12955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077480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16327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1928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Slide Light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Vertical Text Placeholder 13">
            <a:extLst>
              <a:ext uri="{FF2B5EF4-FFF2-40B4-BE49-F238E27FC236}">
                <a16:creationId xmlns:a16="http://schemas.microsoft.com/office/drawing/2014/main" id="{57371569-6B56-D5B4-9C07-C05D514AF511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9286F74-32B2-6577-A799-86F791FF7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07036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6629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49852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454651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638514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639955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808198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622697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766712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895090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184340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009387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98947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4782670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9225092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714341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72826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6165905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2550124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346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6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56226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  <p:sldLayoutId id="2147483749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508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  <p:sldLayoutId id="2147483770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75F30-4948-8625-4D18-95EE2803BD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s-419" sz="4400" dirty="0"/>
              <a:t>Asignar </a:t>
            </a:r>
            <a:r>
              <a:rPr lang="es-419" sz="4400" dirty="0" err="1"/>
              <a:t>prerequisitos</a:t>
            </a:r>
            <a:r>
              <a:rPr lang="es-419" sz="4400" dirty="0"/>
              <a:t>, </a:t>
            </a:r>
            <a:r>
              <a:rPr lang="es-419" sz="4400" dirty="0" err="1"/>
              <a:t>corequisitos</a:t>
            </a:r>
            <a:r>
              <a:rPr lang="es-419" sz="4400" dirty="0"/>
              <a:t> y restricciones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wrap="square">
            <a:normAutofit/>
          </a:bodyPr>
          <a:lstStyle/>
          <a:p>
            <a:r>
              <a:rPr lang="es-CL" dirty="0"/>
              <a:t>Instructivo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1058994-14DF-8FFD-FA01-FFA4BBFEC0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609784"/>
            <a:ext cx="3032274" cy="194925"/>
          </a:xfrm>
        </p:spPr>
        <p:txBody>
          <a:bodyPr/>
          <a:lstStyle/>
          <a:p>
            <a:r>
              <a:rPr lang="es-CL" dirty="0"/>
              <a:t>USSIPAN-Perú</a:t>
            </a:r>
          </a:p>
        </p:txBody>
      </p:sp>
      <p:pic>
        <p:nvPicPr>
          <p:cNvPr id="8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E56D2DEC-D416-3AB5-1313-E840E25BFD9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>
          <a:xfrm>
            <a:off x="6689725" y="574675"/>
            <a:ext cx="5502275" cy="5710238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BC90C980-F946-78A1-2843-B04BE206F9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Junio, 2026</a:t>
            </a:r>
          </a:p>
        </p:txBody>
      </p:sp>
    </p:spTree>
    <p:extLst>
      <p:ext uri="{BB962C8B-B14F-4D97-AF65-F5344CB8AC3E}">
        <p14:creationId xmlns:p14="http://schemas.microsoft.com/office/powerpoint/2010/main" val="1226147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Asignar pre-requisitos, co-requisitos y restricciones</a:t>
            </a:r>
            <a:endParaRPr lang="en-US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307310"/>
              </p:ext>
            </p:extLst>
          </p:nvPr>
        </p:nvGraphicFramePr>
        <p:xfrm>
          <a:off x="786088" y="1651015"/>
          <a:ext cx="9058128" cy="33874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419" sz="2800" b="1" dirty="0">
                          <a:solidFill>
                            <a:schemeClr val="bg1"/>
                          </a:solidFill>
                        </a:rPr>
                        <a:t>Asignar prerequisitos, corequisitos y restricciones</a:t>
                      </a:r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98E1C91-D53E-9F97-C485-8462857838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515" y="361822"/>
            <a:ext cx="11122188" cy="446084"/>
          </a:xfrm>
        </p:spPr>
        <p:txBody>
          <a:bodyPr/>
          <a:lstStyle/>
          <a:p>
            <a:r>
              <a:rPr lang="en-US" dirty="0"/>
              <a:t>Overview: </a:t>
            </a:r>
            <a:r>
              <a:rPr lang="en-US" b="0" dirty="0"/>
              <a:t>Mapa de </a:t>
            </a:r>
            <a:r>
              <a:rPr lang="en-US" b="0" dirty="0" err="1"/>
              <a:t>capacidades</a:t>
            </a:r>
            <a:endParaRPr lang="es-419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5E5532-A998-508F-D976-B5AB9A86C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5525"/>
            <a:ext cx="12192000" cy="480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330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D552BA8-E40D-BE5E-B33E-255C974B1B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2103120"/>
            <a:ext cx="9698935" cy="1261872"/>
          </a:xfrm>
        </p:spPr>
        <p:txBody>
          <a:bodyPr anchor="ctr"/>
          <a:lstStyle/>
          <a:p>
            <a:pPr marL="285750" lvl="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CO" sz="2400" b="1" dirty="0">
                <a:solidFill>
                  <a:srgbClr val="7030A0"/>
                </a:solidFill>
              </a:rPr>
              <a:t>Gestionar el catálogo de cursos</a:t>
            </a:r>
          </a:p>
          <a:p>
            <a:pPr marL="0" lvl="0" indent="0">
              <a:buClr>
                <a:srgbClr val="0CB4B4"/>
              </a:buClr>
              <a:buNone/>
            </a:pPr>
            <a:endParaRPr lang="es-CO" sz="24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pre-requisitos, co-requisitos y restricciones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</a:t>
            </a:r>
            <a:r>
              <a:rPr lang="es-ES_tradnl" sz="3200" b="1" dirty="0"/>
              <a:t>Procesos de </a:t>
            </a:r>
            <a:r>
              <a:rPr lang="es-419" sz="3200" b="1" dirty="0"/>
              <a:t>Asignar pre-requisitos, co-requisitos y restricciones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04878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1789044"/>
            <a:ext cx="10136257" cy="4472608"/>
          </a:xfrm>
        </p:spPr>
        <p:txBody>
          <a:bodyPr/>
          <a:lstStyle/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ES_tradnl" sz="2000" dirty="0"/>
              <a:t>La inscripción de un curso puede estar condicionada por una o más asignaturas que deben haber sido cursadas y/o aprobadas antes de inscribirlos</a:t>
            </a:r>
            <a:r>
              <a:rPr lang="es-ES" sz="2000" dirty="0"/>
              <a:t>.</a:t>
            </a:r>
          </a:p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ES_tradnl" sz="2000" dirty="0"/>
              <a:t>Puede haber cursos que se deben cursar simultáneamente</a:t>
            </a:r>
            <a:r>
              <a:rPr lang="es-ES" sz="2000" dirty="0"/>
              <a:t>.</a:t>
            </a:r>
          </a:p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ES_tradnl" sz="2000" dirty="0"/>
              <a:t>Se puede restringir la inscripción de un curso, indicando que solo pueden inscribirlo los alumnos que cumplan con ciertas características a nivel de: escuela, programa, atributo, campus, nivel académico, carrera, cohorte, departamento</a:t>
            </a:r>
            <a:endParaRPr lang="es-419" sz="2000" dirty="0"/>
          </a:p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ES_tradnl" sz="2000" dirty="0"/>
              <a:t>Para poder definir las restricciones de los cursos, deberán haberse creado los Programas y campos de estudio (carreras y concentraciones).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pre-requisitos, co-requisitos y restricciones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</a:t>
            </a:r>
            <a:r>
              <a:rPr lang="es-ES_tradnl" sz="3200" b="1" dirty="0"/>
              <a:t>Proceso de </a:t>
            </a:r>
            <a:r>
              <a:rPr lang="es-419" sz="3200" b="1" dirty="0"/>
              <a:t>Asignar pre-requisitos, co-requisitos y restricciones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pre-requisitos, co-requisitos y restricciones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860" y="259264"/>
            <a:ext cx="10483297" cy="528791"/>
          </a:xfrm>
        </p:spPr>
        <p:txBody>
          <a:bodyPr/>
          <a:lstStyle/>
          <a:p>
            <a:r>
              <a:rPr lang="es-ES_tradnl" sz="3000" dirty="0">
                <a:solidFill>
                  <a:schemeClr val="tx2"/>
                </a:solidFill>
              </a:rPr>
              <a:t>Overview: </a:t>
            </a:r>
            <a:r>
              <a:rPr lang="es-ES_tradnl" sz="3000" b="1" dirty="0"/>
              <a:t>Procesos </a:t>
            </a:r>
            <a:r>
              <a:rPr lang="es-ES_tradnl" sz="2800" b="1" dirty="0"/>
              <a:t>de </a:t>
            </a:r>
            <a:r>
              <a:rPr lang="es-419" sz="2800" b="1" dirty="0"/>
              <a:t>Asignar pre-requisitos, co-requisitos y restricciones</a:t>
            </a:r>
            <a:endParaRPr lang="es-CL" sz="3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13C992-7DCD-9C2F-228E-F5A223096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604" y="2454386"/>
            <a:ext cx="9166411" cy="21074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5546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F9F5-4D73-0F95-7678-0AE0FCC4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F9B5C96-8DBC-65FF-FAE3-4F645679D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515" y="361822"/>
            <a:ext cx="11122188" cy="446084"/>
          </a:xfrm>
        </p:spPr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Región donde aplica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F52F2A-F8BB-F72D-A754-DB9173333620}"/>
              </a:ext>
            </a:extLst>
          </p:cNvPr>
          <p:cNvSpPr txBox="1"/>
          <p:nvPr/>
        </p:nvSpPr>
        <p:spPr>
          <a:xfrm>
            <a:off x="8400287" y="3429000"/>
            <a:ext cx="119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Todo LAC</a:t>
            </a:r>
          </a:p>
        </p:txBody>
      </p:sp>
      <p:pic>
        <p:nvPicPr>
          <p:cNvPr id="10" name="Picture 9" descr="A purple map of south america&#10;&#10;AI-generated content may be incorrect.">
            <a:extLst>
              <a:ext uri="{FF2B5EF4-FFF2-40B4-BE49-F238E27FC236}">
                <a16:creationId xmlns:a16="http://schemas.microsoft.com/office/drawing/2014/main" id="{BC199AD4-C762-DD9E-693C-C0737DFB4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972" y="807906"/>
            <a:ext cx="5780314" cy="578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67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pre-requisitos, co-requisitos y restricciones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09" y="536868"/>
            <a:ext cx="9609373" cy="898555"/>
          </a:xfrm>
        </p:spPr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</a:t>
            </a:r>
            <a:r>
              <a:rPr lang="es-ES_tradnl" sz="3200" b="1" dirty="0"/>
              <a:t>Proceso de </a:t>
            </a:r>
            <a:r>
              <a:rPr lang="es-419" sz="3200" b="1" dirty="0"/>
              <a:t>Asignar pre-requisitos, co-requisitos y restricciones</a:t>
            </a:r>
            <a:endParaRPr lang="es-CL" dirty="0"/>
          </a:p>
        </p:txBody>
      </p:sp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C0E5E4D0-6C0B-7B86-A04E-A985621B0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415022"/>
              </p:ext>
            </p:extLst>
          </p:nvPr>
        </p:nvGraphicFramePr>
        <p:xfrm>
          <a:off x="1044009" y="1512390"/>
          <a:ext cx="10114504" cy="371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8010">
                  <a:extLst>
                    <a:ext uri="{9D8B030D-6E8A-4147-A177-3AD203B41FA5}">
                      <a16:colId xmlns:a16="http://schemas.microsoft.com/office/drawing/2014/main" val="2298581278"/>
                    </a:ext>
                  </a:extLst>
                </a:gridCol>
                <a:gridCol w="8256494">
                  <a:extLst>
                    <a:ext uri="{9D8B030D-6E8A-4147-A177-3AD203B41FA5}">
                      <a16:colId xmlns:a16="http://schemas.microsoft.com/office/drawing/2014/main" val="1504358611"/>
                    </a:ext>
                  </a:extLst>
                </a:gridCol>
              </a:tblGrid>
              <a:tr h="4852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Concepto</a:t>
                      </a:r>
                      <a:endParaRPr lang="es-CO" sz="20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Descripción</a:t>
                      </a:r>
                      <a:endParaRPr lang="es-CO" sz="20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631455631"/>
                  </a:ext>
                </a:extLst>
              </a:tr>
              <a:tr h="537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 requisitos</a:t>
                      </a: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/>
                        <a:t>Cursos que deben ser matriculados en un orden específico de acuerdo con los conocimientos que se van adquiriendo, de los cursos básicos a los más especializados</a:t>
                      </a:r>
                      <a:endParaRPr lang="es-ES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674607535"/>
                  </a:ext>
                </a:extLst>
              </a:tr>
              <a:tr h="4672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Examen de curso</a:t>
                      </a: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/>
                        <a:t>Elemento que no es un curso pero que se constituye como prerequisito de una asignatura. Por ejemplo: suficiencia en idioma.</a:t>
                      </a:r>
                      <a:endParaRPr lang="es-ES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579196519"/>
                  </a:ext>
                </a:extLst>
              </a:tr>
              <a:tr h="770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 requisitos</a:t>
                      </a:r>
                      <a:endParaRPr lang="es-ES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/>
                        <a:t>Cursos que deben ser matriculados en el mismo período académico, sin posibilidad de que se tome uno y en otro período académico otro</a:t>
                      </a:r>
                      <a:r>
                        <a:rPr lang="es-ES" sz="1600" dirty="0">
                          <a:effectLst/>
                        </a:rPr>
                        <a:t>.</a:t>
                      </a:r>
                      <a:endParaRPr lang="es-CO" sz="20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959410008"/>
                  </a:ext>
                </a:extLst>
              </a:tr>
              <a:tr h="770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Restricciones</a:t>
                      </a: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600" dirty="0"/>
                        <a:t>Caracterización de los cursos que determinan si un estudiante puede o no inscribirlo</a:t>
                      </a:r>
                      <a:endParaRPr lang="es-CO" sz="20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205674216"/>
                  </a:ext>
                </a:extLst>
              </a:tr>
              <a:tr h="537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Atributo</a:t>
                      </a: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Propiedades del curso que podrían usarse para modelar los requerimientos de las mallas curriculares</a:t>
                      </a:r>
                      <a:r>
                        <a:rPr lang="es-MX" sz="1600" dirty="0"/>
                        <a:t>.</a:t>
                      </a:r>
                      <a:endParaRPr lang="es-CO" sz="20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893119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73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Asignar pre-requisitos, co-requisitos y restricciones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CONFIGURACIONES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O" dirty="0"/>
              <a:t>Tablas de validación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389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0C28EDD-C5A0-C6BE-0DE2-4AAE95013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96" y="1563531"/>
            <a:ext cx="10592322" cy="468187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pre-requisitos, co-requisitos y restricciones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STVTESC</a:t>
            </a:r>
            <a:r>
              <a:rPr lang="es-ES_tradnl" sz="3000" b="1" dirty="0"/>
              <a:t> Validación de código de examen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1224137" y="4114799"/>
            <a:ext cx="10326097" cy="1819275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de los métodos educativos, la forma como se impartirán los cursos y se verán vinculados a cada tipo de horario, el proceso de creación y actualización es el siguiente:</a:t>
            </a:r>
          </a:p>
          <a:p>
            <a:r>
              <a:rPr lang="es-ES_tradnl" sz="1100" dirty="0"/>
              <a:t>1. Debe presionar insertar la para la creación del nuevo registro.</a:t>
            </a:r>
            <a:endParaRPr lang="es-ES" sz="1100" dirty="0"/>
          </a:p>
          <a:p>
            <a:r>
              <a:rPr lang="es-ES" sz="1100" dirty="0"/>
              <a:t>2. Código: Código alfanumérico de 06 caracteres que representa el código del examen</a:t>
            </a:r>
          </a:p>
          <a:p>
            <a:r>
              <a:rPr lang="es-ES" sz="1100" dirty="0"/>
              <a:t>3. </a:t>
            </a:r>
            <a:r>
              <a:rPr lang="es-CL" sz="1100" dirty="0"/>
              <a:t>Descripción: Campo alfanumérico de hasta 30 caracteres que representa la descripción del examen</a:t>
            </a:r>
          </a:p>
          <a:p>
            <a:r>
              <a:rPr lang="es-CL" sz="1100" dirty="0"/>
              <a:t>4. Número de posiciones: Número de posiciones requeridas para el puntaje</a:t>
            </a:r>
          </a:p>
          <a:p>
            <a:r>
              <a:rPr lang="es-CL" sz="1100" dirty="0"/>
              <a:t>5. Tipo de datos: se marca si es número</a:t>
            </a:r>
          </a:p>
          <a:p>
            <a:r>
              <a:rPr lang="es-CL" sz="1100" dirty="0"/>
              <a:t>6. Puntaje mínimo y Máximo que se puede obtener en el examen</a:t>
            </a:r>
          </a:p>
          <a:p>
            <a:r>
              <a:rPr lang="es-CL" sz="1100" dirty="0"/>
              <a:t>7. </a:t>
            </a:r>
            <a:r>
              <a:rPr lang="es-ES_tradnl" sz="1100" dirty="0"/>
              <a:t>Finalmente se deben guardar todos los registros creados.</a:t>
            </a:r>
            <a:br>
              <a:rPr lang="es-CL" sz="1100" dirty="0"/>
            </a:br>
            <a:endParaRPr lang="es-CL" sz="1100" dirty="0"/>
          </a:p>
        </p:txBody>
      </p:sp>
      <p:sp>
        <p:nvSpPr>
          <p:cNvPr id="10" name="Rectángulo redondeado 23">
            <a:extLst>
              <a:ext uri="{FF2B5EF4-FFF2-40B4-BE49-F238E27FC236}">
                <a16:creationId xmlns:a16="http://schemas.microsoft.com/office/drawing/2014/main" id="{8A798CB6-781B-640E-36BB-2E63E28A962F}"/>
              </a:ext>
            </a:extLst>
          </p:cNvPr>
          <p:cNvSpPr/>
          <p:nvPr/>
        </p:nvSpPr>
        <p:spPr>
          <a:xfrm>
            <a:off x="1315577" y="2521312"/>
            <a:ext cx="189023" cy="22188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3" name="Rectángulo redondeado 23">
            <a:extLst>
              <a:ext uri="{FF2B5EF4-FFF2-40B4-BE49-F238E27FC236}">
                <a16:creationId xmlns:a16="http://schemas.microsoft.com/office/drawing/2014/main" id="{8F05D6FE-B3D2-67F9-4717-013BA9C2FEBF}"/>
              </a:ext>
            </a:extLst>
          </p:cNvPr>
          <p:cNvSpPr/>
          <p:nvPr/>
        </p:nvSpPr>
        <p:spPr>
          <a:xfrm>
            <a:off x="5498132" y="2299423"/>
            <a:ext cx="189023" cy="22188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15" name="Rectángulo redondeado 23">
            <a:extLst>
              <a:ext uri="{FF2B5EF4-FFF2-40B4-BE49-F238E27FC236}">
                <a16:creationId xmlns:a16="http://schemas.microsoft.com/office/drawing/2014/main" id="{7B56E7A9-50A9-97FB-E4B5-74BDC2EC32D7}"/>
              </a:ext>
            </a:extLst>
          </p:cNvPr>
          <p:cNvSpPr/>
          <p:nvPr/>
        </p:nvSpPr>
        <p:spPr>
          <a:xfrm>
            <a:off x="4394485" y="2039143"/>
            <a:ext cx="189023" cy="22188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16" name="Rectángulo redondeado 23">
            <a:extLst>
              <a:ext uri="{FF2B5EF4-FFF2-40B4-BE49-F238E27FC236}">
                <a16:creationId xmlns:a16="http://schemas.microsoft.com/office/drawing/2014/main" id="{8AA58A1D-AEEE-0123-8BE8-076AE490F104}"/>
              </a:ext>
            </a:extLst>
          </p:cNvPr>
          <p:cNvSpPr/>
          <p:nvPr/>
        </p:nvSpPr>
        <p:spPr>
          <a:xfrm>
            <a:off x="3605053" y="2521312"/>
            <a:ext cx="189023" cy="22188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7" name="Rectángulo redondeado 23">
            <a:extLst>
              <a:ext uri="{FF2B5EF4-FFF2-40B4-BE49-F238E27FC236}">
                <a16:creationId xmlns:a16="http://schemas.microsoft.com/office/drawing/2014/main" id="{913B7B8B-C887-335A-6608-E2B4A1BD1F45}"/>
              </a:ext>
            </a:extLst>
          </p:cNvPr>
          <p:cNvSpPr/>
          <p:nvPr/>
        </p:nvSpPr>
        <p:spPr>
          <a:xfrm>
            <a:off x="2385472" y="2521312"/>
            <a:ext cx="189023" cy="22188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8" name="Rectángulo redondeado 23">
            <a:extLst>
              <a:ext uri="{FF2B5EF4-FFF2-40B4-BE49-F238E27FC236}">
                <a16:creationId xmlns:a16="http://schemas.microsoft.com/office/drawing/2014/main" id="{B919CBD0-8F90-C139-4705-EC495C403A91}"/>
              </a:ext>
            </a:extLst>
          </p:cNvPr>
          <p:cNvSpPr/>
          <p:nvPr/>
        </p:nvSpPr>
        <p:spPr>
          <a:xfrm>
            <a:off x="10842163" y="1837363"/>
            <a:ext cx="189023" cy="22188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9" name="Rectángulo redondeado 23">
            <a:extLst>
              <a:ext uri="{FF2B5EF4-FFF2-40B4-BE49-F238E27FC236}">
                <a16:creationId xmlns:a16="http://schemas.microsoft.com/office/drawing/2014/main" id="{36AC2F36-D4CB-5C5B-EA96-3295A13D171F}"/>
              </a:ext>
            </a:extLst>
          </p:cNvPr>
          <p:cNvSpPr/>
          <p:nvPr/>
        </p:nvSpPr>
        <p:spPr>
          <a:xfrm>
            <a:off x="10893107" y="6134460"/>
            <a:ext cx="189023" cy="22188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7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D6E827F-0994-DC0A-3039-67A50183DCB9}"/>
              </a:ext>
            </a:extLst>
          </p:cNvPr>
          <p:cNvSpPr/>
          <p:nvPr/>
        </p:nvSpPr>
        <p:spPr>
          <a:xfrm>
            <a:off x="10873351" y="2123927"/>
            <a:ext cx="189023" cy="19859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19AE0AB-21A5-61F9-D01C-EDDD5A2C8EE1}"/>
              </a:ext>
            </a:extLst>
          </p:cNvPr>
          <p:cNvSpPr/>
          <p:nvPr/>
        </p:nvSpPr>
        <p:spPr>
          <a:xfrm>
            <a:off x="11158818" y="6123709"/>
            <a:ext cx="495300" cy="22188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0037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2F9DEA1C-5A24-38AD-C71F-61EE320EC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853" y="1447777"/>
            <a:ext cx="10372592" cy="466956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pre-requisitos, co-requisitos y restricciones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b="1" dirty="0"/>
              <a:t>STVCOLL Validación de </a:t>
            </a:r>
            <a:r>
              <a:rPr lang="es-ES_tradnl" sz="3000" dirty="0"/>
              <a:t>código de escuela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1135240" y="4062525"/>
            <a:ext cx="10296036" cy="1408702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de las escuelas que ofrecen los programas académicos, el proceso de creación y actualización es el siguiente:</a:t>
            </a:r>
            <a:br>
              <a:rPr lang="es-ES" sz="1100" dirty="0"/>
            </a:br>
            <a:r>
              <a:rPr lang="es-ES_tradnl" sz="1100" dirty="0"/>
              <a:t>1. Debe presionar insertar la para la creación del nuevo registro.</a:t>
            </a:r>
            <a:endParaRPr lang="es-ES" sz="1100" dirty="0"/>
          </a:p>
          <a:p>
            <a:r>
              <a:rPr lang="es-ES" sz="1100" dirty="0"/>
              <a:t>2. Código: Código alfanumérico de 02 caracteres que representa el código definido para  las escuelas</a:t>
            </a:r>
          </a:p>
          <a:p>
            <a:pPr algn="just"/>
            <a:r>
              <a:rPr lang="es-CL" sz="1100" dirty="0"/>
              <a:t>3. Descripción: Campo alfanumérico de hasta 30 caracteres que representa el nombre de la escuela señalada anteriormente.</a:t>
            </a:r>
          </a:p>
          <a:p>
            <a:pPr algn="just"/>
            <a:r>
              <a:rPr lang="es-CL" sz="1100" dirty="0"/>
              <a:t>4. Requerido por el sistema: Solo se marca para aquellos códigos que son requeridos para el funcionamiento del sistema. En este caso 00 y 99.</a:t>
            </a:r>
          </a:p>
          <a:p>
            <a:pPr algn="just"/>
            <a:r>
              <a:rPr lang="es-CL" sz="1100" dirty="0"/>
              <a:t>5. Distrito MIS: Depende de la tabla GTVDICD y corresponde al distrito/división. Este campo es opcional</a:t>
            </a:r>
          </a:p>
          <a:p>
            <a:pPr algn="just"/>
            <a:r>
              <a:rPr lang="es-CL" sz="1100" dirty="0"/>
              <a:t>6. </a:t>
            </a:r>
            <a:r>
              <a:rPr lang="es-ES_tradnl" sz="1100" dirty="0"/>
              <a:t>Finalmente se deben guardar todos los registros creados.</a:t>
            </a:r>
            <a:endParaRPr lang="es-C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28F2DADD-97C2-C0BF-73FE-C1FF2A686236}"/>
              </a:ext>
            </a:extLst>
          </p:cNvPr>
          <p:cNvSpPr/>
          <p:nvPr/>
        </p:nvSpPr>
        <p:spPr>
          <a:xfrm>
            <a:off x="4092179" y="2363455"/>
            <a:ext cx="231280" cy="1892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8" name="Rectángulo redondeado 23">
            <a:extLst>
              <a:ext uri="{FF2B5EF4-FFF2-40B4-BE49-F238E27FC236}">
                <a16:creationId xmlns:a16="http://schemas.microsoft.com/office/drawing/2014/main" id="{1E601D93-F563-68B5-66F4-6EDFD0589A45}"/>
              </a:ext>
            </a:extLst>
          </p:cNvPr>
          <p:cNvSpPr/>
          <p:nvPr/>
        </p:nvSpPr>
        <p:spPr>
          <a:xfrm>
            <a:off x="1447800" y="2363453"/>
            <a:ext cx="231280" cy="1892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9" name="Rectángulo redondeado 29">
            <a:extLst>
              <a:ext uri="{FF2B5EF4-FFF2-40B4-BE49-F238E27FC236}">
                <a16:creationId xmlns:a16="http://schemas.microsoft.com/office/drawing/2014/main" id="{1315626C-0FC4-0EF2-0327-CD8C45D57F73}"/>
              </a:ext>
            </a:extLst>
          </p:cNvPr>
          <p:cNvSpPr/>
          <p:nvPr/>
        </p:nvSpPr>
        <p:spPr>
          <a:xfrm>
            <a:off x="6951979" y="2363454"/>
            <a:ext cx="231280" cy="1892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1" name="Rectángulo redondeado 23">
            <a:extLst>
              <a:ext uri="{FF2B5EF4-FFF2-40B4-BE49-F238E27FC236}">
                <a16:creationId xmlns:a16="http://schemas.microsoft.com/office/drawing/2014/main" id="{46E3D7B1-9C3A-9A73-7DAC-3CC25B67C6A1}"/>
              </a:ext>
            </a:extLst>
          </p:cNvPr>
          <p:cNvSpPr/>
          <p:nvPr/>
        </p:nvSpPr>
        <p:spPr>
          <a:xfrm>
            <a:off x="9983906" y="2363452"/>
            <a:ext cx="231280" cy="1892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10" name="Rectángulo redondeado 23">
            <a:extLst>
              <a:ext uri="{FF2B5EF4-FFF2-40B4-BE49-F238E27FC236}">
                <a16:creationId xmlns:a16="http://schemas.microsoft.com/office/drawing/2014/main" id="{EC932E7B-400A-4084-7140-8A93FC4F0A21}"/>
              </a:ext>
            </a:extLst>
          </p:cNvPr>
          <p:cNvSpPr/>
          <p:nvPr/>
        </p:nvSpPr>
        <p:spPr>
          <a:xfrm>
            <a:off x="10532547" y="1711562"/>
            <a:ext cx="231280" cy="1892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2" name="Rectángulo redondeado 23">
            <a:extLst>
              <a:ext uri="{FF2B5EF4-FFF2-40B4-BE49-F238E27FC236}">
                <a16:creationId xmlns:a16="http://schemas.microsoft.com/office/drawing/2014/main" id="{E7FE5BC0-997F-C459-62EE-2906DCE47426}"/>
              </a:ext>
            </a:extLst>
          </p:cNvPr>
          <p:cNvSpPr/>
          <p:nvPr/>
        </p:nvSpPr>
        <p:spPr>
          <a:xfrm>
            <a:off x="10482521" y="5835432"/>
            <a:ext cx="231280" cy="1892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A298B4C-3DA0-DA70-F611-157146787D93}"/>
              </a:ext>
            </a:extLst>
          </p:cNvPr>
          <p:cNvSpPr/>
          <p:nvPr/>
        </p:nvSpPr>
        <p:spPr>
          <a:xfrm>
            <a:off x="10552175" y="1971528"/>
            <a:ext cx="192025" cy="23217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A92BA0B-3899-B71B-D350-414E70F06121}"/>
              </a:ext>
            </a:extLst>
          </p:cNvPr>
          <p:cNvSpPr/>
          <p:nvPr/>
        </p:nvSpPr>
        <p:spPr>
          <a:xfrm>
            <a:off x="10922145" y="5835432"/>
            <a:ext cx="495300" cy="22188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4333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A5CCC139-2C79-8B55-47C6-E48A8AB33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74" y="1511444"/>
            <a:ext cx="10729227" cy="482787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</a:t>
            </a:r>
            <a:r>
              <a:rPr lang="es-419" sz="1200" dirty="0" err="1"/>
              <a:t>pre-requisitos</a:t>
            </a:r>
            <a:r>
              <a:rPr lang="es-419" sz="1200" dirty="0"/>
              <a:t>, </a:t>
            </a:r>
            <a:r>
              <a:rPr lang="es-419" sz="1200" dirty="0" err="1"/>
              <a:t>co-requisitos</a:t>
            </a:r>
            <a:r>
              <a:rPr lang="es-419" sz="1200" dirty="0"/>
              <a:t> y restricciones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b="1" dirty="0"/>
              <a:t>STVD</a:t>
            </a:r>
            <a:r>
              <a:rPr lang="es-ES_tradnl" sz="3000" dirty="0"/>
              <a:t>EPT</a:t>
            </a:r>
            <a:r>
              <a:rPr lang="es-ES_tradnl" sz="3000" b="1" dirty="0"/>
              <a:t> Validación de </a:t>
            </a:r>
            <a:r>
              <a:rPr lang="es-ES_tradnl" sz="3000" dirty="0"/>
              <a:t>código de departamento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7" y="3956283"/>
            <a:ext cx="10843871" cy="1920641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o </a:t>
            </a:r>
            <a:r>
              <a:rPr lang="es-MX" sz="1100" dirty="0"/>
              <a:t>actualizar los códigos de departamento tales como departamento de Historia o departamento no declarado, etc. Para el caso de CESA en la descripción se ocupa el prefijo “</a:t>
            </a:r>
            <a:r>
              <a:rPr lang="es-MX" sz="1100" dirty="0" err="1"/>
              <a:t>Area</a:t>
            </a:r>
            <a:r>
              <a:rPr lang="es-MX" sz="1100" dirty="0"/>
              <a:t> de” </a:t>
            </a:r>
            <a:r>
              <a:rPr lang="es-ES" sz="1100" dirty="0"/>
              <a:t>para identificar los departamentos que ofrecen los programas o que pueden estar asociados a un programa, curso, docente o área interna. El proceso de ingreso es el siguiente:</a:t>
            </a:r>
          </a:p>
          <a:p>
            <a:br>
              <a:rPr lang="es-ES" sz="1100" dirty="0"/>
            </a:br>
            <a:r>
              <a:rPr lang="es-ES" sz="1100" dirty="0"/>
              <a:t>1. </a:t>
            </a:r>
            <a:r>
              <a:rPr lang="es-ES_tradnl" sz="1100" dirty="0"/>
              <a:t>Debe presionar insertar la para la creación del nuevo registro</a:t>
            </a:r>
            <a:br>
              <a:rPr lang="es-ES" sz="1100" dirty="0"/>
            </a:br>
            <a:r>
              <a:rPr lang="es-ES" sz="1100" dirty="0"/>
              <a:t>2. Código: Código alfanumérico de 06 caracteres que representa el código definido al departamento</a:t>
            </a:r>
          </a:p>
          <a:p>
            <a:pPr algn="just"/>
            <a:r>
              <a:rPr lang="es-CL" sz="1100" dirty="0"/>
              <a:t>3. Descripción: Campo alfanumérico de hasta 30 caracteres que representa el nombre del departamento definido anteriormente.</a:t>
            </a:r>
          </a:p>
          <a:p>
            <a:pPr algn="just"/>
            <a:r>
              <a:rPr lang="es-CL" sz="1100" dirty="0"/>
              <a:t>4. Requerido por el sistema: Debe estar marcado para el código 0000.</a:t>
            </a:r>
          </a:p>
          <a:p>
            <a:r>
              <a:rPr lang="es-CL" sz="1100" dirty="0"/>
              <a:t>5. Número de mensaje de RV</a:t>
            </a:r>
            <a:r>
              <a:rPr lang="es-419" sz="1100" dirty="0"/>
              <a:t>: Funcionalidad asociada a usar Banner integrado con un sistema de telefonía IP. No aplica</a:t>
            </a:r>
          </a:p>
          <a:p>
            <a:r>
              <a:rPr lang="es-419" sz="1100" dirty="0"/>
              <a:t>6. </a:t>
            </a:r>
            <a:r>
              <a:rPr lang="es-ES_tradnl" sz="1100" dirty="0"/>
              <a:t>Finalmente se deben guardar todos los registros creados.</a:t>
            </a:r>
            <a:endParaRPr lang="es-C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6F8AC7DF-05D8-7E68-1637-7A1ABF132DDE}"/>
              </a:ext>
            </a:extLst>
          </p:cNvPr>
          <p:cNvSpPr/>
          <p:nvPr/>
        </p:nvSpPr>
        <p:spPr>
          <a:xfrm>
            <a:off x="10267930" y="6046574"/>
            <a:ext cx="169208" cy="17552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18E9781F-9435-BCF7-6FBB-3DAFB5B4F692}"/>
              </a:ext>
            </a:extLst>
          </p:cNvPr>
          <p:cNvSpPr/>
          <p:nvPr/>
        </p:nvSpPr>
        <p:spPr>
          <a:xfrm>
            <a:off x="1002182" y="2436152"/>
            <a:ext cx="169208" cy="17552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D41D1C3E-3748-F7A9-B80B-2E708389AC5C}"/>
              </a:ext>
            </a:extLst>
          </p:cNvPr>
          <p:cNvSpPr/>
          <p:nvPr/>
        </p:nvSpPr>
        <p:spPr>
          <a:xfrm>
            <a:off x="3164571" y="2436152"/>
            <a:ext cx="169208" cy="17552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0F33BB6D-C93A-AF57-DF4C-E02BF452CFCF}"/>
              </a:ext>
            </a:extLst>
          </p:cNvPr>
          <p:cNvSpPr/>
          <p:nvPr/>
        </p:nvSpPr>
        <p:spPr>
          <a:xfrm>
            <a:off x="8298137" y="2470575"/>
            <a:ext cx="169208" cy="17552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3" name="Rectángulo redondeado 15">
            <a:extLst>
              <a:ext uri="{FF2B5EF4-FFF2-40B4-BE49-F238E27FC236}">
                <a16:creationId xmlns:a16="http://schemas.microsoft.com/office/drawing/2014/main" id="{AFE1C8DF-4140-774C-5AF5-F654CD31FE37}"/>
              </a:ext>
            </a:extLst>
          </p:cNvPr>
          <p:cNvSpPr/>
          <p:nvPr/>
        </p:nvSpPr>
        <p:spPr>
          <a:xfrm>
            <a:off x="10498170" y="1825830"/>
            <a:ext cx="169208" cy="17552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4" name="Rectángulo redondeado 15">
            <a:extLst>
              <a:ext uri="{FF2B5EF4-FFF2-40B4-BE49-F238E27FC236}">
                <a16:creationId xmlns:a16="http://schemas.microsoft.com/office/drawing/2014/main" id="{68F4B0FE-5B2F-A844-35A8-3A6121346C6D}"/>
              </a:ext>
            </a:extLst>
          </p:cNvPr>
          <p:cNvSpPr/>
          <p:nvPr/>
        </p:nvSpPr>
        <p:spPr>
          <a:xfrm>
            <a:off x="9957017" y="2470575"/>
            <a:ext cx="169208" cy="17552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40FD90F-47DE-DC74-4E7F-D1BE412B1824}"/>
              </a:ext>
            </a:extLst>
          </p:cNvPr>
          <p:cNvSpPr/>
          <p:nvPr/>
        </p:nvSpPr>
        <p:spPr>
          <a:xfrm>
            <a:off x="10503347" y="2086181"/>
            <a:ext cx="169209" cy="21258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91BCE62-4F1D-DFCA-AE37-F9339D4BEF00}"/>
              </a:ext>
            </a:extLst>
          </p:cNvPr>
          <p:cNvSpPr/>
          <p:nvPr/>
        </p:nvSpPr>
        <p:spPr>
          <a:xfrm>
            <a:off x="10824314" y="6046574"/>
            <a:ext cx="515631" cy="243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34473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8DE7BEEE-88DF-2491-BB07-F68ACDD58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50" y="1556916"/>
            <a:ext cx="10467236" cy="473647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</a:t>
            </a:r>
            <a:r>
              <a:rPr lang="es-419" sz="1200" dirty="0" err="1"/>
              <a:t>pre-requisitos</a:t>
            </a:r>
            <a:r>
              <a:rPr lang="es-419" sz="1200" dirty="0"/>
              <a:t>, </a:t>
            </a:r>
            <a:r>
              <a:rPr lang="es-419" sz="1200" dirty="0" err="1"/>
              <a:t>co-requisitos</a:t>
            </a:r>
            <a:r>
              <a:rPr lang="es-419" sz="1200" dirty="0"/>
              <a:t> y restricciones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853" y="315778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b="1" dirty="0"/>
              <a:t>STVLEVL Validación de </a:t>
            </a:r>
            <a:r>
              <a:rPr lang="es-ES_tradnl" sz="3000" dirty="0"/>
              <a:t>código de nivel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905121" y="4346762"/>
            <a:ext cx="10843871" cy="1462490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de los niveles que se asociarán a los programas y asignaturas, los niveles son Pregrado, Posgrado, Educación Continua por nombrar algunos ejemplos</a:t>
            </a:r>
            <a:br>
              <a:rPr lang="es-ES" sz="1100" dirty="0"/>
            </a:br>
            <a:r>
              <a:rPr lang="es-ES" sz="1100" dirty="0"/>
              <a:t>1. </a:t>
            </a:r>
            <a:r>
              <a:rPr lang="es-ES_tradnl" sz="1100" dirty="0"/>
              <a:t>Debe presionar insertar la para la creación del nuevo registro.</a:t>
            </a:r>
            <a:br>
              <a:rPr lang="es-ES" sz="1100" dirty="0"/>
            </a:br>
            <a:r>
              <a:rPr lang="es-ES" sz="1100" dirty="0"/>
              <a:t>2. Código de nivel: Código alfanumérico de 2 caracteres que representa el código definido para el nivel académico.</a:t>
            </a:r>
          </a:p>
          <a:p>
            <a:pPr algn="just"/>
            <a:r>
              <a:rPr lang="es-CL" sz="1100" dirty="0"/>
              <a:t>3. Descripción: Campo alfanumérico de hasta 30 caracteres que representa el nombre del nivel definido anteriormente.</a:t>
            </a:r>
          </a:p>
          <a:p>
            <a:pPr algn="just"/>
            <a:r>
              <a:rPr lang="es-CL" sz="1100" dirty="0"/>
              <a:t>4. Requerido por el sistema: Aplica para aquellos registros requeridos por el sistema.  En este caso aplica para el 00.</a:t>
            </a:r>
          </a:p>
          <a:p>
            <a:r>
              <a:rPr lang="es-CL" sz="1100" dirty="0"/>
              <a:t>5. </a:t>
            </a:r>
            <a:r>
              <a:rPr lang="es-ES_tradnl" sz="1100" dirty="0"/>
              <a:t>Finalmente se deben guardar todos los registros creados.</a:t>
            </a:r>
            <a:br>
              <a:rPr lang="es-CL" sz="1100" dirty="0"/>
            </a:br>
            <a:endParaRPr lang="es-C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7AC54D1C-226F-8696-7872-BB099C9AC58B}"/>
              </a:ext>
            </a:extLst>
          </p:cNvPr>
          <p:cNvSpPr/>
          <p:nvPr/>
        </p:nvSpPr>
        <p:spPr>
          <a:xfrm>
            <a:off x="10369296" y="1831034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5641E9CE-FF95-96EB-7633-FCEE6AA71531}"/>
              </a:ext>
            </a:extLst>
          </p:cNvPr>
          <p:cNvSpPr/>
          <p:nvPr/>
        </p:nvSpPr>
        <p:spPr>
          <a:xfrm>
            <a:off x="1304300" y="2408516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AC1958A6-4795-E2C5-0875-FC85476A4216}"/>
              </a:ext>
            </a:extLst>
          </p:cNvPr>
          <p:cNvSpPr/>
          <p:nvPr/>
        </p:nvSpPr>
        <p:spPr>
          <a:xfrm>
            <a:off x="10216271" y="2464886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DF264293-27B5-DCE1-E5BB-5B9EBCC196AE}"/>
              </a:ext>
            </a:extLst>
          </p:cNvPr>
          <p:cNvSpPr/>
          <p:nvPr/>
        </p:nvSpPr>
        <p:spPr>
          <a:xfrm>
            <a:off x="3199982" y="2469301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51819B1B-4AAC-2CBB-54AC-FB1A935BE7DB}"/>
              </a:ext>
            </a:extLst>
          </p:cNvPr>
          <p:cNvSpPr/>
          <p:nvPr/>
        </p:nvSpPr>
        <p:spPr>
          <a:xfrm>
            <a:off x="10271522" y="5990779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65C2FF4-530B-364C-5217-CEA283953BCB}"/>
              </a:ext>
            </a:extLst>
          </p:cNvPr>
          <p:cNvSpPr/>
          <p:nvPr/>
        </p:nvSpPr>
        <p:spPr>
          <a:xfrm>
            <a:off x="10369296" y="2168677"/>
            <a:ext cx="292742" cy="19903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04CF3A3-9143-BF4F-10C0-9A98010B8814}"/>
              </a:ext>
            </a:extLst>
          </p:cNvPr>
          <p:cNvSpPr/>
          <p:nvPr/>
        </p:nvSpPr>
        <p:spPr>
          <a:xfrm>
            <a:off x="10749181" y="5979580"/>
            <a:ext cx="507805" cy="21664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1661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E99E6ACF-253B-3B7C-B32A-34690530F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74" y="1327978"/>
            <a:ext cx="10310514" cy="463030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pre-requisitos, co-requisitos y restricciones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STVCHRT</a:t>
            </a:r>
            <a:r>
              <a:rPr lang="es-ES_tradnl" sz="3000" b="1" dirty="0"/>
              <a:t> Validación de código de cohorte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1186947" y="4096361"/>
            <a:ext cx="10310514" cy="1402966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del</a:t>
            </a:r>
            <a:r>
              <a:rPr lang="es-419" sz="1100" dirty="0"/>
              <a:t> cohorte. </a:t>
            </a:r>
            <a:r>
              <a:rPr lang="es-MX" sz="1100" dirty="0"/>
              <a:t>Estos códigos representan las agrupaciones de cohorte asignadas a los alumnos basados en el criterio definido por CESA, estos códigos proveen un mecanismo de seguimiento para el reporte de Información Accesible al Alumno, </a:t>
            </a:r>
            <a:r>
              <a:rPr lang="es-ES" sz="1100" dirty="0"/>
              <a:t>el proceso de ingreso es el siguiente:</a:t>
            </a:r>
            <a:br>
              <a:rPr lang="es-ES" sz="1100" b="1" dirty="0"/>
            </a:br>
            <a:r>
              <a:rPr lang="es-ES" sz="1100" dirty="0"/>
              <a:t>1. </a:t>
            </a:r>
            <a:r>
              <a:rPr lang="es-ES_tradnl" sz="1100" dirty="0"/>
              <a:t>Debe presionar insertar la para la creación del nuevo registro.</a:t>
            </a:r>
            <a:br>
              <a:rPr lang="es-ES" sz="1100" dirty="0"/>
            </a:br>
            <a:r>
              <a:rPr lang="es-ES" sz="1100" dirty="0"/>
              <a:t>2</a:t>
            </a:r>
            <a:r>
              <a:rPr lang="es-ES" sz="1100" b="1" dirty="0"/>
              <a:t>. Código: </a:t>
            </a:r>
            <a:r>
              <a:rPr lang="es-ES" sz="1100" dirty="0"/>
              <a:t>Código que representa el código de la cohorte</a:t>
            </a:r>
          </a:p>
          <a:p>
            <a:pPr algn="just"/>
            <a:r>
              <a:rPr lang="es-CL" sz="1100" b="1" dirty="0"/>
              <a:t>3. Descripción: </a:t>
            </a:r>
            <a:r>
              <a:rPr lang="es-CL" sz="1100" dirty="0"/>
              <a:t>Campo alfanumérico de hasta 30 caracteres que representa a la descripción de la cohorte.</a:t>
            </a:r>
          </a:p>
          <a:p>
            <a:r>
              <a:rPr lang="es-ES" sz="1100" b="1" dirty="0"/>
              <a:t>4. Período de inicio y fin</a:t>
            </a:r>
            <a:r>
              <a:rPr lang="es-CL" sz="1100" b="1" dirty="0"/>
              <a:t>:</a:t>
            </a:r>
            <a:r>
              <a:rPr lang="es-CL" sz="1100" dirty="0"/>
              <a:t> Se mantiene el mismo valor</a:t>
            </a:r>
            <a:br>
              <a:rPr lang="es-CL" sz="1100" dirty="0"/>
            </a:br>
            <a:r>
              <a:rPr lang="es-419" sz="1100" dirty="0"/>
              <a:t>5. </a:t>
            </a:r>
            <a:r>
              <a:rPr lang="es-ES_tradnl" sz="1100" dirty="0"/>
              <a:t>Finalmente se deben guardar todos los registros creados.</a:t>
            </a:r>
            <a:endParaRPr lang="es-CL" sz="1100" dirty="0"/>
          </a:p>
          <a:p>
            <a:endParaRPr lang="es-CL" sz="1100" dirty="0"/>
          </a:p>
        </p:txBody>
      </p:sp>
      <p:sp>
        <p:nvSpPr>
          <p:cNvPr id="19" name="Rectángulo redondeado 23">
            <a:extLst>
              <a:ext uri="{FF2B5EF4-FFF2-40B4-BE49-F238E27FC236}">
                <a16:creationId xmlns:a16="http://schemas.microsoft.com/office/drawing/2014/main" id="{B51DDA79-55E5-254D-3CC7-C1A4FAC6317A}"/>
              </a:ext>
            </a:extLst>
          </p:cNvPr>
          <p:cNvSpPr/>
          <p:nvPr/>
        </p:nvSpPr>
        <p:spPr>
          <a:xfrm>
            <a:off x="10286429" y="1621386"/>
            <a:ext cx="183070" cy="1952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20" name="Rectángulo redondeado 23">
            <a:extLst>
              <a:ext uri="{FF2B5EF4-FFF2-40B4-BE49-F238E27FC236}">
                <a16:creationId xmlns:a16="http://schemas.microsoft.com/office/drawing/2014/main" id="{6024C47E-9482-520D-E82E-7688C0D96299}"/>
              </a:ext>
            </a:extLst>
          </p:cNvPr>
          <p:cNvSpPr/>
          <p:nvPr/>
        </p:nvSpPr>
        <p:spPr>
          <a:xfrm>
            <a:off x="1515428" y="2266800"/>
            <a:ext cx="183070" cy="1952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21" name="Rectángulo redondeado 23">
            <a:extLst>
              <a:ext uri="{FF2B5EF4-FFF2-40B4-BE49-F238E27FC236}">
                <a16:creationId xmlns:a16="http://schemas.microsoft.com/office/drawing/2014/main" id="{7F32BE00-19F0-2A71-1080-F3B2B7C87139}"/>
              </a:ext>
            </a:extLst>
          </p:cNvPr>
          <p:cNvSpPr/>
          <p:nvPr/>
        </p:nvSpPr>
        <p:spPr>
          <a:xfrm>
            <a:off x="3665030" y="2266800"/>
            <a:ext cx="183070" cy="1952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22" name="Rectángulo redondeado 23">
            <a:extLst>
              <a:ext uri="{FF2B5EF4-FFF2-40B4-BE49-F238E27FC236}">
                <a16:creationId xmlns:a16="http://schemas.microsoft.com/office/drawing/2014/main" id="{0EB29268-5E15-CFE0-6498-22AF03195EB6}"/>
              </a:ext>
            </a:extLst>
          </p:cNvPr>
          <p:cNvSpPr/>
          <p:nvPr/>
        </p:nvSpPr>
        <p:spPr>
          <a:xfrm>
            <a:off x="6159134" y="2266800"/>
            <a:ext cx="183070" cy="1952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23" name="Rectángulo redondeado 23">
            <a:extLst>
              <a:ext uri="{FF2B5EF4-FFF2-40B4-BE49-F238E27FC236}">
                <a16:creationId xmlns:a16="http://schemas.microsoft.com/office/drawing/2014/main" id="{D9DE5904-41F0-BC38-AB6C-24BF0E1B516C}"/>
              </a:ext>
            </a:extLst>
          </p:cNvPr>
          <p:cNvSpPr/>
          <p:nvPr/>
        </p:nvSpPr>
        <p:spPr>
          <a:xfrm>
            <a:off x="8160832" y="2266800"/>
            <a:ext cx="183070" cy="1952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9E68C5BD-E08F-BED4-20DD-2406FC20A27A}"/>
              </a:ext>
            </a:extLst>
          </p:cNvPr>
          <p:cNvSpPr/>
          <p:nvPr/>
        </p:nvSpPr>
        <p:spPr>
          <a:xfrm>
            <a:off x="10249730" y="5727405"/>
            <a:ext cx="183070" cy="1952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F5F480E-80B2-521F-319D-05E87A70D0C5}"/>
              </a:ext>
            </a:extLst>
          </p:cNvPr>
          <p:cNvSpPr/>
          <p:nvPr/>
        </p:nvSpPr>
        <p:spPr>
          <a:xfrm>
            <a:off x="10286429" y="1910979"/>
            <a:ext cx="292742" cy="19903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C4AFE8A-35F8-AFF9-1195-8A5ECEB0BA7A}"/>
              </a:ext>
            </a:extLst>
          </p:cNvPr>
          <p:cNvSpPr/>
          <p:nvPr/>
        </p:nvSpPr>
        <p:spPr>
          <a:xfrm>
            <a:off x="10579170" y="5691746"/>
            <a:ext cx="594797" cy="26654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28738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0C2AAE34-032D-2CA3-CAE8-0DBCD4BF7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062400"/>
            <a:ext cx="10372866" cy="236659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pre-requisitos, co-requisitos y restricciones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b="1" dirty="0"/>
              <a:t>STVATTR Validación de </a:t>
            </a:r>
            <a:r>
              <a:rPr lang="es-ES_tradnl" sz="3000" dirty="0"/>
              <a:t>atributo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8" y="5276850"/>
            <a:ext cx="10610228" cy="100865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de los  atributos</a:t>
            </a:r>
            <a:br>
              <a:rPr lang="es-ES" sz="1100" b="1" dirty="0"/>
            </a:br>
            <a:br>
              <a:rPr lang="es-ES" sz="1100" b="1" dirty="0"/>
            </a:br>
            <a:r>
              <a:rPr lang="es-ES" sz="1100" b="1" dirty="0"/>
              <a:t>1.   Código: </a:t>
            </a:r>
            <a:r>
              <a:rPr lang="es-ES" sz="1100" dirty="0"/>
              <a:t>Código alfanumérico de 04 caracteres que representa el tipo de horario</a:t>
            </a:r>
          </a:p>
          <a:p>
            <a:pPr algn="just"/>
            <a:r>
              <a:rPr lang="es-CL" sz="1100" b="1" dirty="0"/>
              <a:t>2.   Descripción: </a:t>
            </a:r>
            <a:r>
              <a:rPr lang="es-CL" sz="1100" dirty="0"/>
              <a:t>Campo alfanumérico de hasta 30 caracteres que representa el nombre del tipo de horario.</a:t>
            </a:r>
            <a:r>
              <a:rPr lang="es-ES" sz="1100" dirty="0"/>
              <a:t>Y</a:t>
            </a:r>
            <a:endParaRPr lang="es-CL" sz="1100" dirty="0"/>
          </a:p>
          <a:p>
            <a:br>
              <a:rPr lang="es-CL" sz="1100" dirty="0"/>
            </a:br>
            <a:endParaRPr lang="es-C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D3FF9C72-263D-4A7A-7B89-EDF1923D7FAA}"/>
              </a:ext>
            </a:extLst>
          </p:cNvPr>
          <p:cNvSpPr/>
          <p:nvPr/>
        </p:nvSpPr>
        <p:spPr>
          <a:xfrm>
            <a:off x="3605231" y="2007868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6" name="Rectángulo redondeado 23">
            <a:extLst>
              <a:ext uri="{FF2B5EF4-FFF2-40B4-BE49-F238E27FC236}">
                <a16:creationId xmlns:a16="http://schemas.microsoft.com/office/drawing/2014/main" id="{162CD69C-A9F2-25A8-6E22-876EE5DD78B0}"/>
              </a:ext>
            </a:extLst>
          </p:cNvPr>
          <p:cNvSpPr/>
          <p:nvPr/>
        </p:nvSpPr>
        <p:spPr>
          <a:xfrm>
            <a:off x="1394766" y="2007868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89511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Asignar pre-requisitos, co-requisitos y restricciones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b="1" dirty="0">
                <a:solidFill>
                  <a:schemeClr val="bg1"/>
                </a:solidFill>
              </a:rPr>
              <a:t>Asignar </a:t>
            </a:r>
            <a:r>
              <a:rPr lang="es-419" sz="3200" b="1" dirty="0" err="1">
                <a:solidFill>
                  <a:schemeClr val="bg1"/>
                </a:solidFill>
              </a:rPr>
              <a:t>prerequisitos</a:t>
            </a:r>
            <a:r>
              <a:rPr lang="es-419" sz="3200" b="1" dirty="0">
                <a:solidFill>
                  <a:schemeClr val="bg1"/>
                </a:solidFill>
              </a:rPr>
              <a:t>, </a:t>
            </a:r>
            <a:r>
              <a:rPr lang="es-419" sz="3200" b="1" dirty="0" err="1">
                <a:solidFill>
                  <a:schemeClr val="bg1"/>
                </a:solidFill>
              </a:rPr>
              <a:t>corequisitos</a:t>
            </a:r>
            <a:r>
              <a:rPr lang="es-419" sz="3200" b="1" dirty="0">
                <a:solidFill>
                  <a:schemeClr val="bg1"/>
                </a:solidFill>
              </a:rPr>
              <a:t> y restricciones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dirty="0"/>
              <a:t>Definir prerequisitos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636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830512CA-7FED-98E3-0199-406EF48FA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97" y="1955497"/>
            <a:ext cx="11036808" cy="182602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419" sz="1200" dirty="0"/>
              <a:t>Asignar pre-requisitos, co-requisitos y restricciones</a:t>
            </a:r>
            <a:endParaRPr lang="en-US" dirty="0"/>
          </a:p>
          <a:p>
            <a:endParaRPr lang="es-CL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997" y="372717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SCAPREQ</a:t>
            </a:r>
            <a:r>
              <a:rPr lang="es-ES_tradnl" sz="3000" b="1" dirty="0"/>
              <a:t> Restricciones de puntaje examen y prerrequisitos de catálogo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900423" y="4608396"/>
            <a:ext cx="10715003" cy="110807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100" dirty="0"/>
              <a:t>Para acceder a las restricciones se ingresan:</a:t>
            </a:r>
          </a:p>
          <a:p>
            <a:r>
              <a:rPr lang="es-CL" sz="1100" dirty="0"/>
              <a:t>1.- La materia.</a:t>
            </a:r>
          </a:p>
          <a:p>
            <a:r>
              <a:rPr lang="es-CL" sz="1100" dirty="0"/>
              <a:t>2.- El curso. </a:t>
            </a:r>
          </a:p>
          <a:p>
            <a:r>
              <a:rPr lang="es-CL" sz="1100" dirty="0"/>
              <a:t>3.- El periodo </a:t>
            </a:r>
          </a:p>
          <a:p>
            <a:r>
              <a:rPr lang="es-CL" sz="1100" dirty="0"/>
              <a:t>Para el curso al cual se van a generar las restricciones. Finalmente se presiona “Ir”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DD77B3AF-61A7-3748-C3B7-C371F2E427CD}"/>
              </a:ext>
            </a:extLst>
          </p:cNvPr>
          <p:cNvSpPr/>
          <p:nvPr/>
        </p:nvSpPr>
        <p:spPr>
          <a:xfrm>
            <a:off x="5902754" y="2602214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6" name="Rectángulo redondeado 23">
            <a:extLst>
              <a:ext uri="{FF2B5EF4-FFF2-40B4-BE49-F238E27FC236}">
                <a16:creationId xmlns:a16="http://schemas.microsoft.com/office/drawing/2014/main" id="{22EE69D1-8862-9F5A-6D79-F2E52B33A46F}"/>
              </a:ext>
            </a:extLst>
          </p:cNvPr>
          <p:cNvSpPr/>
          <p:nvPr/>
        </p:nvSpPr>
        <p:spPr>
          <a:xfrm>
            <a:off x="900423" y="2602215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9" name="Rectángulo redondeado 29">
            <a:extLst>
              <a:ext uri="{FF2B5EF4-FFF2-40B4-BE49-F238E27FC236}">
                <a16:creationId xmlns:a16="http://schemas.microsoft.com/office/drawing/2014/main" id="{A615394E-62C9-96A2-34BA-A43BE2105B86}"/>
              </a:ext>
            </a:extLst>
          </p:cNvPr>
          <p:cNvSpPr/>
          <p:nvPr/>
        </p:nvSpPr>
        <p:spPr>
          <a:xfrm>
            <a:off x="900423" y="2793004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1784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A6B9A37B-6DF7-F0AE-4162-55FB7C33B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72" y="1505820"/>
            <a:ext cx="10703238" cy="279870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419" sz="1200" dirty="0"/>
              <a:t>Asignar pre-requisitos, co-requisitos y restricciones</a:t>
            </a:r>
            <a:endParaRPr lang="en-US" dirty="0"/>
          </a:p>
          <a:p>
            <a:endParaRPr lang="es-CL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572" y="444436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SCAPREQ</a:t>
            </a:r>
            <a:r>
              <a:rPr lang="es-ES_tradnl" sz="3000" b="1" dirty="0"/>
              <a:t> Restricciones de puntaje examen y prerrequisitos de catálogo</a:t>
            </a:r>
            <a:br>
              <a:rPr lang="es-CL" sz="2800" b="1" dirty="0">
                <a:effectLst/>
              </a:rPr>
            </a:b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926788" y="4943475"/>
            <a:ext cx="10703238" cy="1157006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</a:t>
            </a:r>
            <a:r>
              <a:rPr lang="es-419" sz="1100" dirty="0"/>
              <a:t> y configuración de todos los prerrequisitos que puede tener un curso </a:t>
            </a:r>
            <a:br>
              <a:rPr lang="es-ES" sz="1100" b="1" dirty="0"/>
            </a:br>
            <a:br>
              <a:rPr lang="es-ES" sz="1100" b="1" dirty="0"/>
            </a:br>
            <a:r>
              <a:rPr lang="es-ES" sz="1100" b="1" dirty="0"/>
              <a:t>1. código examen: </a:t>
            </a:r>
            <a:r>
              <a:rPr lang="es-ES" sz="1100" dirty="0"/>
              <a:t>Se ingresa el examen y el puntaje que es requisitos </a:t>
            </a:r>
          </a:p>
          <a:p>
            <a:r>
              <a:rPr lang="es-ES" sz="1100" b="1" dirty="0"/>
              <a:t>2. Materia Curso: </a:t>
            </a:r>
            <a:r>
              <a:rPr lang="es-ES" sz="1100" dirty="0"/>
              <a:t>Se ingresan los datos de materia curso que son restricciones</a:t>
            </a:r>
          </a:p>
          <a:p>
            <a:r>
              <a:rPr lang="es-ES" sz="1100" b="1" dirty="0"/>
              <a:t>3. </a:t>
            </a:r>
            <a:r>
              <a:rPr lang="es-ES" sz="1100" dirty="0"/>
              <a:t>Se ingresa la </a:t>
            </a:r>
            <a:r>
              <a:rPr lang="es-ES" sz="1100" b="1" dirty="0"/>
              <a:t>calificación de prerrequisitos</a:t>
            </a:r>
            <a:br>
              <a:rPr lang="es-ES" sz="1100" dirty="0"/>
            </a:br>
            <a:r>
              <a:rPr lang="es-ES" sz="1100" dirty="0"/>
              <a:t>4. Se utiliza </a:t>
            </a:r>
            <a:r>
              <a:rPr lang="es-ES" sz="1100" b="1" dirty="0"/>
              <a:t>Y/O </a:t>
            </a:r>
            <a:r>
              <a:rPr lang="es-ES" sz="1100" dirty="0"/>
              <a:t>para establecer la relación entre varios requisitos</a:t>
            </a:r>
            <a:endParaRPr lang="es-C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57E30719-3CC6-6EE2-3A4E-DDAD65A0C505}"/>
              </a:ext>
            </a:extLst>
          </p:cNvPr>
          <p:cNvSpPr/>
          <p:nvPr/>
        </p:nvSpPr>
        <p:spPr>
          <a:xfrm>
            <a:off x="4456690" y="3097705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8" name="Rectángulo redondeado 23">
            <a:extLst>
              <a:ext uri="{FF2B5EF4-FFF2-40B4-BE49-F238E27FC236}">
                <a16:creationId xmlns:a16="http://schemas.microsoft.com/office/drawing/2014/main" id="{A332E154-EE85-BAD4-CA45-D902B38594EE}"/>
              </a:ext>
            </a:extLst>
          </p:cNvPr>
          <p:cNvSpPr/>
          <p:nvPr/>
        </p:nvSpPr>
        <p:spPr>
          <a:xfrm>
            <a:off x="2466603" y="3111300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9" name="Rectángulo redondeado 29">
            <a:extLst>
              <a:ext uri="{FF2B5EF4-FFF2-40B4-BE49-F238E27FC236}">
                <a16:creationId xmlns:a16="http://schemas.microsoft.com/office/drawing/2014/main" id="{597C6F4E-6076-C74F-0E05-2CFA157C1D98}"/>
              </a:ext>
            </a:extLst>
          </p:cNvPr>
          <p:cNvSpPr/>
          <p:nvPr/>
        </p:nvSpPr>
        <p:spPr>
          <a:xfrm>
            <a:off x="9068276" y="3088560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0" name="Rectángulo redondeado 29">
            <a:extLst>
              <a:ext uri="{FF2B5EF4-FFF2-40B4-BE49-F238E27FC236}">
                <a16:creationId xmlns:a16="http://schemas.microsoft.com/office/drawing/2014/main" id="{F85C9305-5E1D-E5A7-E03F-2D4B117AE7BB}"/>
              </a:ext>
            </a:extLst>
          </p:cNvPr>
          <p:cNvSpPr/>
          <p:nvPr/>
        </p:nvSpPr>
        <p:spPr>
          <a:xfrm>
            <a:off x="743572" y="2999459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1585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88423FCA-E780-AF22-482A-A3EDDC0A102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419" sz="1200" dirty="0"/>
              <a:t>Asignar </a:t>
            </a:r>
            <a:r>
              <a:rPr lang="es-419" sz="1200" dirty="0" err="1"/>
              <a:t>pre-requisitos</a:t>
            </a:r>
            <a:r>
              <a:rPr lang="es-419" sz="1200" dirty="0"/>
              <a:t>, </a:t>
            </a:r>
            <a:r>
              <a:rPr lang="es-419" sz="1200" dirty="0" err="1"/>
              <a:t>co-requisitos</a:t>
            </a:r>
            <a:r>
              <a:rPr lang="es-419" sz="1200" dirty="0"/>
              <a:t> y restricciones</a:t>
            </a:r>
            <a:endParaRPr lang="en-US" dirty="0"/>
          </a:p>
          <a:p>
            <a:endParaRPr lang="es-CO" dirty="0"/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6C0C5CC4-FA7F-7E28-49DB-03098435A7B2}"/>
              </a:ext>
            </a:extLst>
          </p:cNvPr>
          <p:cNvSpPr txBox="1">
            <a:spLocks/>
          </p:cNvSpPr>
          <p:nvPr/>
        </p:nvSpPr>
        <p:spPr>
          <a:xfrm>
            <a:off x="743572" y="301000"/>
            <a:ext cx="10271883" cy="62616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/>
              <a:t>Configuraciones: </a:t>
            </a:r>
            <a:r>
              <a:rPr lang="es-ES_tradnl" sz="3000" dirty="0"/>
              <a:t>SCAPREQ</a:t>
            </a:r>
            <a:r>
              <a:rPr lang="es-ES_tradnl" sz="3000" b="1" dirty="0"/>
              <a:t> Restricciones de puntaje examen y prerrequisitos de catálogo</a:t>
            </a:r>
            <a:br>
              <a:rPr lang="es-CL" sz="2800" b="1" dirty="0"/>
            </a:br>
            <a:br>
              <a:rPr lang="es-CL" b="1" dirty="0"/>
            </a:br>
            <a:endParaRPr lang="es-CL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6D79D50-B8AF-452F-BBE0-50118A7D287C}"/>
              </a:ext>
            </a:extLst>
          </p:cNvPr>
          <p:cNvSpPr/>
          <p:nvPr/>
        </p:nvSpPr>
        <p:spPr>
          <a:xfrm>
            <a:off x="2241823" y="4669780"/>
            <a:ext cx="7275380" cy="1157006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</a:t>
            </a:r>
            <a:r>
              <a:rPr lang="es-419" sz="1100" dirty="0"/>
              <a:t> y configuración de todos los prerrequisitos que puede tener un curso.</a:t>
            </a:r>
          </a:p>
          <a:p>
            <a:r>
              <a:rPr lang="es-ES_tradnl" sz="1100" dirty="0"/>
              <a:t>Si los pre requisitos son más de uno, se debe indicar </a:t>
            </a:r>
            <a:r>
              <a:rPr lang="es-419" sz="1100" dirty="0"/>
              <a:t>la </a:t>
            </a:r>
            <a:r>
              <a:rPr lang="es-CO" sz="1100" dirty="0"/>
              <a:t>lógica “y” / “o” según corresponda entre registros.</a:t>
            </a:r>
            <a:endParaRPr lang="es-ES_tradnl" sz="1100" dirty="0"/>
          </a:p>
          <a:p>
            <a:r>
              <a:rPr lang="es-419" sz="1100" dirty="0"/>
              <a:t>Utilice los campos “(“ y “)” para iniciar y finalizar una agrupación de </a:t>
            </a:r>
            <a:r>
              <a:rPr lang="es-419" sz="1100" dirty="0" err="1"/>
              <a:t>prerequisitos</a:t>
            </a:r>
            <a:r>
              <a:rPr lang="es-419" sz="1100" dirty="0"/>
              <a:t>.</a:t>
            </a:r>
            <a:endParaRPr lang="es-ES_tradnl" sz="11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FE5828D-6810-D83D-3BEC-60D63037C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788" y="1787279"/>
            <a:ext cx="10703238" cy="288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577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Asignar pre-requisitos, co-requisitos y restricciones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b="1" dirty="0">
                <a:solidFill>
                  <a:schemeClr val="bg1"/>
                </a:solidFill>
              </a:rPr>
              <a:t>Asignar </a:t>
            </a:r>
            <a:r>
              <a:rPr lang="es-419" sz="3200" b="1" dirty="0" err="1">
                <a:solidFill>
                  <a:schemeClr val="bg1"/>
                </a:solidFill>
              </a:rPr>
              <a:t>prerequisitos</a:t>
            </a:r>
            <a:r>
              <a:rPr lang="es-419" sz="3200" b="1" dirty="0">
                <a:solidFill>
                  <a:schemeClr val="bg1"/>
                </a:solidFill>
              </a:rPr>
              <a:t>, </a:t>
            </a:r>
            <a:r>
              <a:rPr lang="es-419" sz="3200" b="1" dirty="0" err="1">
                <a:solidFill>
                  <a:schemeClr val="bg1"/>
                </a:solidFill>
              </a:rPr>
              <a:t>corequisitos</a:t>
            </a:r>
            <a:r>
              <a:rPr lang="es-419" sz="3200" b="1" dirty="0">
                <a:solidFill>
                  <a:schemeClr val="bg1"/>
                </a:solidFill>
              </a:rPr>
              <a:t> y restricciones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dirty="0"/>
              <a:t>Definir equivalencias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866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72ABDF0D-3108-AE64-11C9-7937B8694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6" y="1461965"/>
            <a:ext cx="10695954" cy="267678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419" sz="1200" dirty="0"/>
              <a:t>Asignar pre-requisitos, co-requisitos y restricciones</a:t>
            </a:r>
            <a:endParaRPr lang="en-US" dirty="0"/>
          </a:p>
          <a:p>
            <a:endParaRPr lang="es-CL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SCADETL</a:t>
            </a:r>
            <a:r>
              <a:rPr lang="es-ES_tradnl" sz="3000" b="1" dirty="0"/>
              <a:t> </a:t>
            </a:r>
            <a:r>
              <a:rPr lang="es-ES_tradnl" sz="3000" dirty="0"/>
              <a:t>Información detallada del curso </a:t>
            </a:r>
            <a:br>
              <a:rPr lang="es-CL" sz="2800" b="1" dirty="0">
                <a:effectLst/>
              </a:rPr>
            </a:b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926787" y="4646561"/>
            <a:ext cx="10579413" cy="86365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</a:t>
            </a:r>
            <a:r>
              <a:rPr lang="es-419" sz="1100" dirty="0"/>
              <a:t>estaña correquisitos y equivalentes:</a:t>
            </a:r>
            <a:br>
              <a:rPr lang="es-419" sz="1100" dirty="0"/>
            </a:br>
            <a:br>
              <a:rPr lang="es-419" sz="1100" dirty="0"/>
            </a:br>
            <a:r>
              <a:rPr lang="es-419" sz="1100" b="1" dirty="0"/>
              <a:t>1. Materia</a:t>
            </a:r>
            <a:r>
              <a:rPr lang="es-419" sz="1100" dirty="0"/>
              <a:t> (Correquisito): Se ingresan los cursos que son correquisitos o simultáneos</a:t>
            </a:r>
            <a:br>
              <a:rPr lang="es-ES" sz="1100" b="1" dirty="0"/>
            </a:br>
            <a:r>
              <a:rPr lang="es-ES" sz="1100" b="1" dirty="0"/>
              <a:t>2 .Materia </a:t>
            </a:r>
            <a:r>
              <a:rPr lang="es-ES" sz="1100" dirty="0"/>
              <a:t>(Equivalente):</a:t>
            </a:r>
            <a:r>
              <a:rPr lang="es-ES" sz="1100" b="1" dirty="0"/>
              <a:t> </a:t>
            </a:r>
            <a:r>
              <a:rPr lang="es-ES" sz="1100" dirty="0"/>
              <a:t>Se ingresa la materia curso que es equivalente</a:t>
            </a:r>
            <a:endParaRPr lang="es-C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210F24C7-952B-D632-6AEB-42B584D337FD}"/>
              </a:ext>
            </a:extLst>
          </p:cNvPr>
          <p:cNvSpPr/>
          <p:nvPr/>
        </p:nvSpPr>
        <p:spPr>
          <a:xfrm>
            <a:off x="1291401" y="3841438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6" name="Rectángulo redondeado 23">
            <a:extLst>
              <a:ext uri="{FF2B5EF4-FFF2-40B4-BE49-F238E27FC236}">
                <a16:creationId xmlns:a16="http://schemas.microsoft.com/office/drawing/2014/main" id="{F1B8F93F-A5F1-9512-5A61-D7BE6081FE08}"/>
              </a:ext>
            </a:extLst>
          </p:cNvPr>
          <p:cNvSpPr/>
          <p:nvPr/>
        </p:nvSpPr>
        <p:spPr>
          <a:xfrm>
            <a:off x="1291401" y="2984387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6725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Asignar pre-requisitos, co-requisitos y restricciones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b="1" dirty="0">
                <a:solidFill>
                  <a:schemeClr val="bg1"/>
                </a:solidFill>
              </a:rPr>
              <a:t>Asignar </a:t>
            </a:r>
            <a:r>
              <a:rPr lang="es-419" sz="3200" b="1" dirty="0" err="1">
                <a:solidFill>
                  <a:schemeClr val="bg1"/>
                </a:solidFill>
              </a:rPr>
              <a:t>prerequisitos</a:t>
            </a:r>
            <a:r>
              <a:rPr lang="es-419" sz="3200" b="1" dirty="0">
                <a:solidFill>
                  <a:schemeClr val="bg1"/>
                </a:solidFill>
              </a:rPr>
              <a:t>, </a:t>
            </a:r>
            <a:r>
              <a:rPr lang="es-419" sz="3200" b="1" dirty="0" err="1">
                <a:solidFill>
                  <a:schemeClr val="bg1"/>
                </a:solidFill>
              </a:rPr>
              <a:t>corequisitos</a:t>
            </a:r>
            <a:r>
              <a:rPr lang="es-419" sz="3200" b="1" dirty="0">
                <a:solidFill>
                  <a:schemeClr val="bg1"/>
                </a:solidFill>
              </a:rPr>
              <a:t> y restricciones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dirty="0"/>
              <a:t>Definir restricciones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535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480C823C-17B7-A078-6894-47C02FDB2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54" y="1211888"/>
            <a:ext cx="10204704" cy="309718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419" sz="1200" dirty="0"/>
              <a:t>Asignar pre-requisitos, co-requisitos y restricciones</a:t>
            </a:r>
            <a:endParaRPr lang="en-US" dirty="0"/>
          </a:p>
          <a:p>
            <a:endParaRPr lang="es-CL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8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SCARRES</a:t>
            </a:r>
            <a:r>
              <a:rPr lang="es-ES_tradnl" sz="3000" b="1" dirty="0"/>
              <a:t> </a:t>
            </a:r>
            <a:r>
              <a:rPr lang="es-ES_tradnl" sz="3000" dirty="0"/>
              <a:t>Restricciones de inscripción a curso - </a:t>
            </a:r>
            <a:br>
              <a:rPr lang="es-CL" sz="2800" b="1" dirty="0">
                <a:effectLst/>
              </a:rPr>
            </a:b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55354" y="4875159"/>
            <a:ext cx="10812772" cy="159065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419" sz="1100" b="1" dirty="0"/>
          </a:p>
          <a:p>
            <a:r>
              <a:rPr lang="es-419" sz="1100" b="1" dirty="0"/>
              <a:t>Departamento y campo de estudio</a:t>
            </a:r>
          </a:p>
          <a:p>
            <a:r>
              <a:rPr lang="es-419" sz="1100" b="1" dirty="0"/>
              <a:t>RESTRICCIONES DE DEPARTAMENTO</a:t>
            </a:r>
          </a:p>
          <a:p>
            <a:r>
              <a:rPr lang="es-419" sz="1100" dirty="0"/>
              <a:t>1.1 Incluir/Excluir: Según necesidad de la institución.</a:t>
            </a:r>
          </a:p>
          <a:p>
            <a:r>
              <a:rPr lang="es-419" sz="1100" dirty="0"/>
              <a:t>1.2- Departamento y descripción: Se incluye o excluye los departamentos que pueden inscribir los cursos programados en este NRC. Viene de tabla STVDEPT</a:t>
            </a:r>
          </a:p>
          <a:p>
            <a:endParaRPr lang="es-419" sz="1100" dirty="0"/>
          </a:p>
          <a:p>
            <a:r>
              <a:rPr lang="es-419" sz="1100" b="1" dirty="0"/>
              <a:t>RESTRICCIONES DE CAMPO DE ESTUDIO</a:t>
            </a:r>
          </a:p>
          <a:p>
            <a:r>
              <a:rPr lang="es-419" sz="1100" dirty="0"/>
              <a:t>2.1 Incluir/Excluir: Según necesidad de la institución.</a:t>
            </a:r>
          </a:p>
          <a:p>
            <a:r>
              <a:rPr lang="es-419" sz="1100" dirty="0"/>
              <a:t>2.2- Código y descripción: Se incluye o excluye los campos que pueden inscribir los cursos programados en este NRC. Viene de tabla STVMAJR</a:t>
            </a:r>
          </a:p>
          <a:p>
            <a:endParaRPr lang="es-419" sz="1100" dirty="0"/>
          </a:p>
          <a:p>
            <a:endParaRPr lang="es-C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A71A492F-42BF-7666-75A9-71CF208FE649}"/>
              </a:ext>
            </a:extLst>
          </p:cNvPr>
          <p:cNvSpPr/>
          <p:nvPr/>
        </p:nvSpPr>
        <p:spPr>
          <a:xfrm>
            <a:off x="1291401" y="4127583"/>
            <a:ext cx="413574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2.2</a:t>
            </a:r>
          </a:p>
        </p:txBody>
      </p:sp>
      <p:sp>
        <p:nvSpPr>
          <p:cNvPr id="8" name="Rectángulo redondeado 23">
            <a:extLst>
              <a:ext uri="{FF2B5EF4-FFF2-40B4-BE49-F238E27FC236}">
                <a16:creationId xmlns:a16="http://schemas.microsoft.com/office/drawing/2014/main" id="{CF462AE5-AE4A-621D-06F9-D380958CF953}"/>
              </a:ext>
            </a:extLst>
          </p:cNvPr>
          <p:cNvSpPr/>
          <p:nvPr/>
        </p:nvSpPr>
        <p:spPr>
          <a:xfrm>
            <a:off x="1291401" y="2878871"/>
            <a:ext cx="413574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1.2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2720DA84-0138-2A5B-FAE6-58764608EB6D}"/>
              </a:ext>
            </a:extLst>
          </p:cNvPr>
          <p:cNvSpPr/>
          <p:nvPr/>
        </p:nvSpPr>
        <p:spPr>
          <a:xfrm>
            <a:off x="563523" y="3519326"/>
            <a:ext cx="398501" cy="15513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2.1</a:t>
            </a: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77C1B711-3238-0A81-47B3-5C207CF8370E}"/>
              </a:ext>
            </a:extLst>
          </p:cNvPr>
          <p:cNvSpPr/>
          <p:nvPr/>
        </p:nvSpPr>
        <p:spPr>
          <a:xfrm>
            <a:off x="546013" y="2528628"/>
            <a:ext cx="398501" cy="15513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1.1</a:t>
            </a:r>
          </a:p>
        </p:txBody>
      </p:sp>
    </p:spTree>
    <p:extLst>
      <p:ext uri="{BB962C8B-B14F-4D97-AF65-F5344CB8AC3E}">
        <p14:creationId xmlns:p14="http://schemas.microsoft.com/office/powerpoint/2010/main" val="3978245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04617CCF-AF42-C71E-0C4E-16C5A422E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388" y="1270579"/>
            <a:ext cx="10883598" cy="311932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419" sz="1200" dirty="0"/>
              <a:t>Asignar pre-requisitos, co-requisitos y restricciones</a:t>
            </a:r>
            <a:endParaRPr lang="en-US" dirty="0"/>
          </a:p>
          <a:p>
            <a:endParaRPr lang="es-CL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570" y="372717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SCARRES</a:t>
            </a:r>
            <a:r>
              <a:rPr lang="es-ES_tradnl" sz="3000" b="1" dirty="0"/>
              <a:t> </a:t>
            </a:r>
            <a:r>
              <a:rPr lang="es-ES_tradnl" sz="3000" dirty="0"/>
              <a:t>Restricciones de inscripción a curso </a:t>
            </a:r>
            <a:br>
              <a:rPr lang="es-CL" sz="2800" b="1" dirty="0">
                <a:effectLst/>
              </a:rPr>
            </a:b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7" y="4661600"/>
            <a:ext cx="10705477" cy="151059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100" b="1" dirty="0"/>
              <a:t>RESTRICCIONES DE CLASE</a:t>
            </a:r>
            <a:br>
              <a:rPr lang="es-419" sz="1100" dirty="0"/>
            </a:br>
            <a:r>
              <a:rPr lang="es-419" sz="1100" dirty="0"/>
              <a:t>1.1 Incluir/Excluir: Según necesidad de la institución.</a:t>
            </a:r>
          </a:p>
          <a:p>
            <a:r>
              <a:rPr lang="es-419" sz="1100" dirty="0"/>
              <a:t>1.2 Clase y Descripción: Se incluye o excluye los estudiantes que tengan la clase configurada  Viene de tabla STVCLAS</a:t>
            </a:r>
          </a:p>
          <a:p>
            <a:endParaRPr lang="es-419" sz="1100" dirty="0"/>
          </a:p>
          <a:p>
            <a:r>
              <a:rPr lang="es-419" sz="1100" b="1" dirty="0"/>
              <a:t>RESTRICCIONES DE NIVEL</a:t>
            </a:r>
            <a:br>
              <a:rPr lang="es-419" sz="1100" dirty="0"/>
            </a:br>
            <a:r>
              <a:rPr lang="es-419" sz="1100" dirty="0"/>
              <a:t>2.1 Incluir/Excluir: Según necesidad de la institución.</a:t>
            </a:r>
          </a:p>
          <a:p>
            <a:r>
              <a:rPr lang="es-419" sz="1100" dirty="0"/>
              <a:t>2.2Nivel y Descripción: Se incluye o excluye los estudiantes que tengan el nivel configurado. Viene de tabla STVLEVL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4C6E7B2A-C58C-4EBF-8FE8-BAAA29037E05}"/>
              </a:ext>
            </a:extLst>
          </p:cNvPr>
          <p:cNvSpPr/>
          <p:nvPr/>
        </p:nvSpPr>
        <p:spPr>
          <a:xfrm>
            <a:off x="1487034" y="4179514"/>
            <a:ext cx="413574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2.2</a:t>
            </a:r>
          </a:p>
        </p:txBody>
      </p:sp>
      <p:sp>
        <p:nvSpPr>
          <p:cNvPr id="10" name="Rectángulo redondeado 23">
            <a:extLst>
              <a:ext uri="{FF2B5EF4-FFF2-40B4-BE49-F238E27FC236}">
                <a16:creationId xmlns:a16="http://schemas.microsoft.com/office/drawing/2014/main" id="{2155DD0B-BE28-BE01-1931-C144A06836EE}"/>
              </a:ext>
            </a:extLst>
          </p:cNvPr>
          <p:cNvSpPr/>
          <p:nvPr/>
        </p:nvSpPr>
        <p:spPr>
          <a:xfrm>
            <a:off x="1487034" y="3085122"/>
            <a:ext cx="413574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1.2</a:t>
            </a:r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39A11772-59F8-FCAA-CDFB-2CB1C7E7A144}"/>
              </a:ext>
            </a:extLst>
          </p:cNvPr>
          <p:cNvSpPr/>
          <p:nvPr/>
        </p:nvSpPr>
        <p:spPr>
          <a:xfrm>
            <a:off x="683860" y="3693304"/>
            <a:ext cx="398501" cy="15513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2.1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B6F64AE0-CE1B-8EBA-253A-0B7A877870C0}"/>
              </a:ext>
            </a:extLst>
          </p:cNvPr>
          <p:cNvSpPr/>
          <p:nvPr/>
        </p:nvSpPr>
        <p:spPr>
          <a:xfrm>
            <a:off x="720138" y="2675105"/>
            <a:ext cx="398501" cy="15513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1.1</a:t>
            </a:r>
          </a:p>
        </p:txBody>
      </p:sp>
    </p:spTree>
    <p:extLst>
      <p:ext uri="{BB962C8B-B14F-4D97-AF65-F5344CB8AC3E}">
        <p14:creationId xmlns:p14="http://schemas.microsoft.com/office/powerpoint/2010/main" val="2524634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BBAAFEB-8F2B-D5D5-8498-70DA934B5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38" y="1085515"/>
            <a:ext cx="10650113" cy="306114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419" sz="1200" dirty="0"/>
              <a:t>Asignar pre-requisitos, co-requisitos y restricciones</a:t>
            </a:r>
            <a:endParaRPr lang="en-US" dirty="0"/>
          </a:p>
          <a:p>
            <a:endParaRPr lang="es-CL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472" y="327991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SCARRES</a:t>
            </a:r>
            <a:r>
              <a:rPr lang="es-ES_tradnl" sz="3000" b="1" dirty="0"/>
              <a:t> </a:t>
            </a:r>
            <a:r>
              <a:rPr lang="es-ES_tradnl" sz="3000" dirty="0"/>
              <a:t>Restricciones de inscripción a curso </a:t>
            </a:r>
            <a:br>
              <a:rPr lang="es-CL" sz="2800" b="1" dirty="0">
                <a:effectLst/>
              </a:rPr>
            </a:b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724211" y="4884556"/>
            <a:ext cx="10743578" cy="150494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419" sz="1100" b="1" dirty="0"/>
          </a:p>
          <a:p>
            <a:r>
              <a:rPr lang="es-419" sz="1100" b="1" dirty="0"/>
              <a:t>RESTRICCIONES DE GRADO</a:t>
            </a:r>
            <a:br>
              <a:rPr lang="es-419" sz="1100" dirty="0"/>
            </a:br>
            <a:r>
              <a:rPr lang="es-419" sz="1100" dirty="0"/>
              <a:t>1.1 Incluir/Excluir: Según necesidad de la institución.</a:t>
            </a:r>
          </a:p>
          <a:p>
            <a:r>
              <a:rPr lang="es-419" sz="1100" dirty="0"/>
              <a:t>1.2 Grado y Descripción: Se incluye o excluye los estudiantes que tengan el grado configurado. Viene de tabla STVDEGC</a:t>
            </a:r>
          </a:p>
          <a:p>
            <a:endParaRPr lang="es-419" sz="1100" b="1" dirty="0"/>
          </a:p>
          <a:p>
            <a:r>
              <a:rPr lang="es-419" sz="1100" b="1" dirty="0"/>
              <a:t>RESTRICCIONES DE PROGRAMA</a:t>
            </a:r>
            <a:br>
              <a:rPr lang="es-419" sz="1100" dirty="0"/>
            </a:br>
            <a:r>
              <a:rPr lang="es-419" sz="1100" dirty="0"/>
              <a:t>2.1 Incluir/Excluir: Según necesidad de la institución.</a:t>
            </a:r>
          </a:p>
          <a:p>
            <a:r>
              <a:rPr lang="es-419" sz="1100" dirty="0"/>
              <a:t>2.2 Programa y Descripción: Se incluye o excluye los estudiantes que tengan el programa configurado.. Viene de tabla SMAPRLE</a:t>
            </a:r>
          </a:p>
          <a:p>
            <a:endParaRPr lang="es-419" sz="1100" dirty="0"/>
          </a:p>
          <a:p>
            <a:endParaRPr lang="es-CL" sz="1100" dirty="0"/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79521BF8-0560-687A-8F6D-28FA343F1469}"/>
              </a:ext>
            </a:extLst>
          </p:cNvPr>
          <p:cNvSpPr/>
          <p:nvPr/>
        </p:nvSpPr>
        <p:spPr>
          <a:xfrm>
            <a:off x="1366826" y="3854855"/>
            <a:ext cx="413574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2.2</a:t>
            </a:r>
          </a:p>
        </p:txBody>
      </p:sp>
      <p:sp>
        <p:nvSpPr>
          <p:cNvPr id="12" name="Rectángulo redondeado 23">
            <a:extLst>
              <a:ext uri="{FF2B5EF4-FFF2-40B4-BE49-F238E27FC236}">
                <a16:creationId xmlns:a16="http://schemas.microsoft.com/office/drawing/2014/main" id="{35936219-7E92-76A0-431A-46B9A5E03BD1}"/>
              </a:ext>
            </a:extLst>
          </p:cNvPr>
          <p:cNvSpPr/>
          <p:nvPr/>
        </p:nvSpPr>
        <p:spPr>
          <a:xfrm>
            <a:off x="1366826" y="2846795"/>
            <a:ext cx="413574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1.2</a:t>
            </a:r>
          </a:p>
        </p:txBody>
      </p:sp>
      <p:sp>
        <p:nvSpPr>
          <p:cNvPr id="13" name="Rectángulo redondeado 15">
            <a:extLst>
              <a:ext uri="{FF2B5EF4-FFF2-40B4-BE49-F238E27FC236}">
                <a16:creationId xmlns:a16="http://schemas.microsoft.com/office/drawing/2014/main" id="{F24E4928-0B3C-79FE-7EED-AD3458670600}"/>
              </a:ext>
            </a:extLst>
          </p:cNvPr>
          <p:cNvSpPr/>
          <p:nvPr/>
        </p:nvSpPr>
        <p:spPr>
          <a:xfrm>
            <a:off x="638948" y="3507987"/>
            <a:ext cx="398501" cy="15513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2.1</a:t>
            </a:r>
          </a:p>
        </p:txBody>
      </p:sp>
      <p:sp>
        <p:nvSpPr>
          <p:cNvPr id="14" name="Rectángulo redondeado 15">
            <a:extLst>
              <a:ext uri="{FF2B5EF4-FFF2-40B4-BE49-F238E27FC236}">
                <a16:creationId xmlns:a16="http://schemas.microsoft.com/office/drawing/2014/main" id="{2ADE1D2C-0C10-0662-B055-956738398477}"/>
              </a:ext>
            </a:extLst>
          </p:cNvPr>
          <p:cNvSpPr/>
          <p:nvPr/>
        </p:nvSpPr>
        <p:spPr>
          <a:xfrm>
            <a:off x="638948" y="2441688"/>
            <a:ext cx="398501" cy="15513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1.1</a:t>
            </a:r>
          </a:p>
        </p:txBody>
      </p:sp>
    </p:spTree>
    <p:extLst>
      <p:ext uri="{BB962C8B-B14F-4D97-AF65-F5344CB8AC3E}">
        <p14:creationId xmlns:p14="http://schemas.microsoft.com/office/powerpoint/2010/main" val="735415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6614CC5-9AE7-D3CE-FADD-D3C1512EA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28" y="1486501"/>
            <a:ext cx="10631144" cy="305492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419" sz="1200" dirty="0"/>
              <a:t>Asignar pre-requisitos, co-requisitos y restricciones</a:t>
            </a:r>
            <a:endParaRPr lang="en-US" dirty="0"/>
          </a:p>
          <a:p>
            <a:endParaRPr lang="es-CL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SCARRES</a:t>
            </a:r>
            <a:r>
              <a:rPr lang="es-ES_tradnl" sz="3000" b="1" dirty="0"/>
              <a:t> </a:t>
            </a:r>
            <a:r>
              <a:rPr lang="es-ES_tradnl" sz="3000" dirty="0"/>
              <a:t>Restricciones de inscripción a curso </a:t>
            </a:r>
            <a:br>
              <a:rPr lang="es-CL" sz="2800" b="1" dirty="0">
                <a:effectLst/>
              </a:rPr>
            </a:b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7" y="4648437"/>
            <a:ext cx="10601325" cy="170791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419" sz="1100" b="1" dirty="0"/>
          </a:p>
          <a:p>
            <a:r>
              <a:rPr lang="es-419" sz="1100" b="1" dirty="0"/>
              <a:t>RESTRICCIONES DE CAMPUS</a:t>
            </a:r>
            <a:br>
              <a:rPr lang="es-419" sz="1100" dirty="0"/>
            </a:br>
            <a:r>
              <a:rPr lang="es-419" sz="1100" dirty="0"/>
              <a:t>1.1 Incluir/Excluir: Según necesidad de la institución.</a:t>
            </a:r>
          </a:p>
          <a:p>
            <a:r>
              <a:rPr lang="es-419" sz="1100" dirty="0"/>
              <a:t>1.2 Campus y Descripción: Se incluye o excluye los estudiantes que tengan campus configurado. Viene de tabla STVCAMP</a:t>
            </a:r>
          </a:p>
          <a:p>
            <a:endParaRPr lang="es-419" sz="1100" b="1" dirty="0"/>
          </a:p>
          <a:p>
            <a:r>
              <a:rPr lang="es-419" sz="1100" b="1" dirty="0"/>
              <a:t>RESTRICCIONES DE ESCUELA</a:t>
            </a:r>
            <a:br>
              <a:rPr lang="es-419" sz="1100" dirty="0"/>
            </a:br>
            <a:r>
              <a:rPr lang="es-419" sz="1100" dirty="0"/>
              <a:t>2.1 Incluir/Excluir: Según necesidad de la institución.</a:t>
            </a:r>
          </a:p>
          <a:p>
            <a:r>
              <a:rPr lang="es-419" sz="1100" dirty="0"/>
              <a:t>2.2 Escuela y Descripción: Se incluye o excluye los estudiantes que tengan la escuela configurada. Viene de tabla STVCOLL</a:t>
            </a:r>
          </a:p>
          <a:p>
            <a:endParaRPr lang="es-CL" sz="1100" dirty="0"/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EC591376-D6FD-2E5A-CC00-0603509E7921}"/>
              </a:ext>
            </a:extLst>
          </p:cNvPr>
          <p:cNvSpPr/>
          <p:nvPr/>
        </p:nvSpPr>
        <p:spPr>
          <a:xfrm>
            <a:off x="1243001" y="4283406"/>
            <a:ext cx="413574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2.2</a:t>
            </a:r>
          </a:p>
        </p:txBody>
      </p:sp>
      <p:sp>
        <p:nvSpPr>
          <p:cNvPr id="10" name="Rectángulo redondeado 23">
            <a:extLst>
              <a:ext uri="{FF2B5EF4-FFF2-40B4-BE49-F238E27FC236}">
                <a16:creationId xmlns:a16="http://schemas.microsoft.com/office/drawing/2014/main" id="{0E53AF17-3674-5602-AD0A-82AD7C3872DC}"/>
              </a:ext>
            </a:extLst>
          </p:cNvPr>
          <p:cNvSpPr/>
          <p:nvPr/>
        </p:nvSpPr>
        <p:spPr>
          <a:xfrm>
            <a:off x="1243001" y="3190040"/>
            <a:ext cx="413574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1.2</a:t>
            </a:r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89697D53-599A-CC07-8960-61D803042E50}"/>
              </a:ext>
            </a:extLst>
          </p:cNvPr>
          <p:cNvSpPr/>
          <p:nvPr/>
        </p:nvSpPr>
        <p:spPr>
          <a:xfrm>
            <a:off x="510674" y="3922218"/>
            <a:ext cx="398501" cy="15513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2.1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998EC28A-ABE9-645B-C4F5-CC0F59899A12}"/>
              </a:ext>
            </a:extLst>
          </p:cNvPr>
          <p:cNvSpPr/>
          <p:nvPr/>
        </p:nvSpPr>
        <p:spPr>
          <a:xfrm>
            <a:off x="476086" y="2831825"/>
            <a:ext cx="398501" cy="15513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1.1</a:t>
            </a:r>
          </a:p>
        </p:txBody>
      </p:sp>
    </p:spTree>
    <p:extLst>
      <p:ext uri="{BB962C8B-B14F-4D97-AF65-F5344CB8AC3E}">
        <p14:creationId xmlns:p14="http://schemas.microsoft.com/office/powerpoint/2010/main" val="856950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C86E2402-41B4-3644-1399-4A4ED2911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1" y="1294659"/>
            <a:ext cx="11009506" cy="317835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419" sz="1200" dirty="0"/>
              <a:t>Asignar pre-requisitos, co-requisitos y restricciones</a:t>
            </a:r>
            <a:endParaRPr lang="en-US" dirty="0"/>
          </a:p>
          <a:p>
            <a:endParaRPr lang="es-CL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570" y="2898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SCARRES</a:t>
            </a:r>
            <a:r>
              <a:rPr lang="es-ES_tradnl" sz="3000" b="1" dirty="0"/>
              <a:t> </a:t>
            </a:r>
            <a:r>
              <a:rPr lang="es-ES_tradnl" sz="3000" dirty="0"/>
              <a:t>Restricciones de inscripción a curso </a:t>
            </a:r>
            <a:br>
              <a:rPr lang="es-CL" sz="2800" b="1" dirty="0">
                <a:effectLst/>
              </a:rPr>
            </a:b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690873" y="4571693"/>
            <a:ext cx="11072502" cy="1600506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419" sz="1100" b="1" dirty="0"/>
          </a:p>
          <a:p>
            <a:r>
              <a:rPr lang="es-419" sz="1100" b="1" dirty="0"/>
              <a:t>RESTRICCIONES ATRIBUTO</a:t>
            </a:r>
            <a:br>
              <a:rPr lang="es-419" sz="1100" dirty="0"/>
            </a:br>
            <a:r>
              <a:rPr lang="es-419" sz="1100" dirty="0"/>
              <a:t>1.1 Incluir/Excluir: Según necesidad de la institución.</a:t>
            </a:r>
          </a:p>
          <a:p>
            <a:r>
              <a:rPr lang="es-419" sz="1100" dirty="0"/>
              <a:t>1.2 Atributo y Descripción: Se incluye o excluye los estudiantes que tengan el atributo configurado. Viene de tabla STVATTS</a:t>
            </a:r>
          </a:p>
          <a:p>
            <a:endParaRPr lang="es-419" sz="1100" b="1" dirty="0"/>
          </a:p>
          <a:p>
            <a:r>
              <a:rPr lang="es-419" sz="1100" b="1" dirty="0"/>
              <a:t>RESTRICCIONES DE COHORTE</a:t>
            </a:r>
            <a:br>
              <a:rPr lang="es-419" sz="1100" dirty="0"/>
            </a:br>
            <a:r>
              <a:rPr lang="es-419" sz="1100" dirty="0"/>
              <a:t>2.1 Incluir/Excluir: Según necesidad de la institución.</a:t>
            </a:r>
          </a:p>
          <a:p>
            <a:r>
              <a:rPr lang="es-419" sz="1100" dirty="0"/>
              <a:t>2.2 Cohorte y Descripción: Se incluye o excluye los estudiantes que tengan la cohorte ingresada en la configuración. Viene de tabla STVCHRT</a:t>
            </a:r>
          </a:p>
          <a:p>
            <a:endParaRPr lang="es-CL" sz="1100" dirty="0"/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ACA30C02-63CD-F8ED-58B7-B3D74B21BEAC}"/>
              </a:ext>
            </a:extLst>
          </p:cNvPr>
          <p:cNvSpPr/>
          <p:nvPr/>
        </p:nvSpPr>
        <p:spPr>
          <a:xfrm>
            <a:off x="1177126" y="4182218"/>
            <a:ext cx="413574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2.2</a:t>
            </a:r>
          </a:p>
        </p:txBody>
      </p:sp>
      <p:sp>
        <p:nvSpPr>
          <p:cNvPr id="10" name="Rectángulo redondeado 23">
            <a:extLst>
              <a:ext uri="{FF2B5EF4-FFF2-40B4-BE49-F238E27FC236}">
                <a16:creationId xmlns:a16="http://schemas.microsoft.com/office/drawing/2014/main" id="{F654E05C-2520-C65D-E20D-2AF6AFC5E530}"/>
              </a:ext>
            </a:extLst>
          </p:cNvPr>
          <p:cNvSpPr/>
          <p:nvPr/>
        </p:nvSpPr>
        <p:spPr>
          <a:xfrm>
            <a:off x="1177126" y="3064365"/>
            <a:ext cx="413574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1.2</a:t>
            </a:r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1CCE2796-2276-6581-4666-29D19E8A8071}"/>
              </a:ext>
            </a:extLst>
          </p:cNvPr>
          <p:cNvSpPr/>
          <p:nvPr/>
        </p:nvSpPr>
        <p:spPr>
          <a:xfrm>
            <a:off x="443746" y="3788619"/>
            <a:ext cx="398501" cy="15513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2.1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0A487536-FD81-6DA5-DA95-71AFAC4D9293}"/>
              </a:ext>
            </a:extLst>
          </p:cNvPr>
          <p:cNvSpPr/>
          <p:nvPr/>
        </p:nvSpPr>
        <p:spPr>
          <a:xfrm>
            <a:off x="443746" y="2728702"/>
            <a:ext cx="398501" cy="15513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1.1</a:t>
            </a:r>
          </a:p>
        </p:txBody>
      </p:sp>
    </p:spTree>
    <p:extLst>
      <p:ext uri="{BB962C8B-B14F-4D97-AF65-F5344CB8AC3E}">
        <p14:creationId xmlns:p14="http://schemas.microsoft.com/office/powerpoint/2010/main" val="14449670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Asignar pre-requisitos, co-requisitos y restricciones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27" y="258335"/>
            <a:ext cx="7092820" cy="1628192"/>
          </a:xfrm>
        </p:spPr>
        <p:txBody>
          <a:bodyPr/>
          <a:lstStyle/>
          <a:p>
            <a:r>
              <a:rPr lang="en-US" sz="3600" dirty="0"/>
              <a:t>RESUMEN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636CD3-9D55-E7D6-7F08-EB5DED1D28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4826" y="2008765"/>
            <a:ext cx="10624467" cy="3979659"/>
          </a:xfrm>
        </p:spPr>
        <p:txBody>
          <a:bodyPr/>
          <a:lstStyle/>
          <a:p>
            <a:pPr marL="0" indent="0">
              <a:buNone/>
            </a:pPr>
            <a:r>
              <a:rPr lang="es-419" sz="2000" b="1" dirty="0"/>
              <a:t>Asignar pre-requisitos, co-requisitos y restricciones</a:t>
            </a:r>
            <a:endParaRPr lang="es-419" sz="2000" dirty="0"/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Los cursos que son pre requisitos para la inscripción de una asignatura se cargan a través de la página SCAPREQ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Si los cursos deben inscribirse simultáneamente, se catalogarán como </a:t>
            </a:r>
            <a:r>
              <a:rPr lang="es-ES_tradnl" dirty="0" err="1"/>
              <a:t>co</a:t>
            </a:r>
            <a:r>
              <a:rPr lang="es-ES_tradnl" dirty="0"/>
              <a:t> requisitos en la página SCADETL.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Las restricciones de inscripción de cursos pueden definirse bajo criterios de inclusión o exclusión de alumnos que pertenezcan a determinados elementos como: escuela, programa, atributo, campus, nivel, carrera, cohorte, departamento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13485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084689-227B-A2E5-EA69-DF2CD64C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MUCHAS GRACIAS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EF50E-22E9-2C0A-4970-41D2FFEB26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Claudio Paredes Davis</a:t>
            </a:r>
          </a:p>
          <a:p>
            <a:r>
              <a:rPr lang="en-US" dirty="0"/>
              <a:t>claudio.paredes@ellucian.com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90" y="3652538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090" y="4039758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69019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CEA309A8-FD57-42A7-831A-1C6DF3BE5D5A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B53508D9-7D69-489E-B75B-7682E6255525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EBP 01 - 4.1.6.2 Programar el inicio y finalizacion de Per.Acad.Regulares</Template>
  <TotalTime>4213</TotalTime>
  <Words>2096</Words>
  <Application>Microsoft Office PowerPoint</Application>
  <PresentationFormat>Widescreen</PresentationFormat>
  <Paragraphs>252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 Main Layouts</vt:lpstr>
      <vt:lpstr>Ellucian Blank Layouts</vt:lpstr>
      <vt:lpstr>PowerPoint Presentation</vt:lpstr>
      <vt:lpstr>PowerPoint Presentation</vt:lpstr>
      <vt:lpstr>PowerPoint Presentation</vt:lpstr>
      <vt:lpstr>Overview: Procesos de Asignar pre-requisitos, co-requisitos y restricciones</vt:lpstr>
      <vt:lpstr>Overview: Proceso de Asignar pre-requisitos, co-requisitos y restricciones</vt:lpstr>
      <vt:lpstr>Overview: Procesos de Asignar pre-requisitos, co-requisitos y restricciones</vt:lpstr>
      <vt:lpstr>PowerPoint Presentation</vt:lpstr>
      <vt:lpstr>Overview: Proceso de Asignar pre-requisitos, co-requisitos y restricciones</vt:lpstr>
      <vt:lpstr>CONFIGURACIONES</vt:lpstr>
      <vt:lpstr>Configuraciones: STVTESC Validación de código de examen </vt:lpstr>
      <vt:lpstr>Configuraciones: STVCOLL Validación de código de escuela </vt:lpstr>
      <vt:lpstr>Configuraciones: STVDEPT Validación de código de departamento </vt:lpstr>
      <vt:lpstr>Configuraciones: STVLEVL Validación de código de nivel </vt:lpstr>
      <vt:lpstr>Configuraciones: STVCHRT Validación de código de cohorte </vt:lpstr>
      <vt:lpstr>Configuraciones: STVATTR Validación de atributo </vt:lpstr>
      <vt:lpstr>Asignar prerequisitos, corequisitos y restricciones</vt:lpstr>
      <vt:lpstr>Configuraciones: SCAPREQ Restricciones de puntaje examen y prerrequisitos de catálogo </vt:lpstr>
      <vt:lpstr>Configuraciones: SCAPREQ Restricciones de puntaje examen y prerrequisitos de catálogo  </vt:lpstr>
      <vt:lpstr>PowerPoint Presentation</vt:lpstr>
      <vt:lpstr>Asignar prerequisitos, corequisitos y restricciones</vt:lpstr>
      <vt:lpstr>Configuraciones: SCADETL Información detallada del curso   </vt:lpstr>
      <vt:lpstr>Asignar prerequisitos, corequisitos y restricciones</vt:lpstr>
      <vt:lpstr>Configuraciones: SCARRES Restricciones de inscripción a curso -   </vt:lpstr>
      <vt:lpstr>Configuraciones: SCARRES Restricciones de inscripción a curso   </vt:lpstr>
      <vt:lpstr>Configuraciones: SCARRES Restricciones de inscripción a curso   </vt:lpstr>
      <vt:lpstr>Configuraciones: SCARRES Restricciones de inscripción a curso   </vt:lpstr>
      <vt:lpstr>Configuraciones: SCARRES Restricciones de inscripción a curso   </vt:lpstr>
      <vt:lpstr>RESUMEN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Molina, Sergio</cp:lastModifiedBy>
  <cp:revision>566</cp:revision>
  <dcterms:created xsi:type="dcterms:W3CDTF">2023-07-17T20:07:38Z</dcterms:created>
  <dcterms:modified xsi:type="dcterms:W3CDTF">2026-06-10T23:42:33Z</dcterms:modified>
</cp:coreProperties>
</file>
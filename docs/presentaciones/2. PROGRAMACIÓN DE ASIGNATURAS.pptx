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3.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5" r:id="rId3"/>
    <p:sldMasterId id="2147483735" r:id="rId4"/>
  </p:sldMasterIdLst>
  <p:notesMasterIdLst>
    <p:notesMasterId r:id="rId55"/>
  </p:notesMasterIdLst>
  <p:sldIdLst>
    <p:sldId id="257" r:id="rId5"/>
    <p:sldId id="263" r:id="rId6"/>
    <p:sldId id="560" r:id="rId7"/>
    <p:sldId id="559" r:id="rId8"/>
    <p:sldId id="561" r:id="rId9"/>
    <p:sldId id="279" r:id="rId10"/>
    <p:sldId id="280" r:id="rId11"/>
    <p:sldId id="562" r:id="rId12"/>
    <p:sldId id="563" r:id="rId13"/>
    <p:sldId id="564" r:id="rId14"/>
    <p:sldId id="565" r:id="rId15"/>
    <p:sldId id="566" r:id="rId16"/>
    <p:sldId id="567" r:id="rId17"/>
    <p:sldId id="568" r:id="rId18"/>
    <p:sldId id="569" r:id="rId19"/>
    <p:sldId id="570" r:id="rId20"/>
    <p:sldId id="571" r:id="rId21"/>
    <p:sldId id="572" r:id="rId22"/>
    <p:sldId id="573" r:id="rId23"/>
    <p:sldId id="574" r:id="rId24"/>
    <p:sldId id="575" r:id="rId25"/>
    <p:sldId id="576" r:id="rId26"/>
    <p:sldId id="578" r:id="rId27"/>
    <p:sldId id="581" r:id="rId28"/>
    <p:sldId id="580" r:id="rId29"/>
    <p:sldId id="579" r:id="rId30"/>
    <p:sldId id="582" r:id="rId31"/>
    <p:sldId id="583" r:id="rId32"/>
    <p:sldId id="584" r:id="rId33"/>
    <p:sldId id="585" r:id="rId34"/>
    <p:sldId id="586" r:id="rId35"/>
    <p:sldId id="594" r:id="rId36"/>
    <p:sldId id="595" r:id="rId37"/>
    <p:sldId id="596" r:id="rId38"/>
    <p:sldId id="597" r:id="rId39"/>
    <p:sldId id="598" r:id="rId40"/>
    <p:sldId id="600" r:id="rId41"/>
    <p:sldId id="599" r:id="rId42"/>
    <p:sldId id="601" r:id="rId43"/>
    <p:sldId id="602" r:id="rId44"/>
    <p:sldId id="603" r:id="rId45"/>
    <p:sldId id="604" r:id="rId46"/>
    <p:sldId id="605" r:id="rId47"/>
    <p:sldId id="606" r:id="rId48"/>
    <p:sldId id="607" r:id="rId49"/>
    <p:sldId id="608" r:id="rId50"/>
    <p:sldId id="610" r:id="rId51"/>
    <p:sldId id="611" r:id="rId52"/>
    <p:sldId id="612" r:id="rId53"/>
    <p:sldId id="258" r:id="rId54"/>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2193"/>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6247"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C4D4F-02F1-4128-82AF-F7679EB9D8E5}" type="datetimeFigureOut">
              <a:rPr lang="es-PE" smtClean="0"/>
              <a:t>12/10/2026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498818-1391-4805-9C29-F0662F4A7854}" type="slidenum">
              <a:rPr lang="es-PE" smtClean="0"/>
              <a:t>‹Nº›</a:t>
            </a:fld>
            <a:endParaRPr lang="es-PE"/>
          </a:p>
        </p:txBody>
      </p:sp>
    </p:spTree>
    <p:extLst>
      <p:ext uri="{BB962C8B-B14F-4D97-AF65-F5344CB8AC3E}">
        <p14:creationId xmlns:p14="http://schemas.microsoft.com/office/powerpoint/2010/main" val="172101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13</a:t>
            </a:fld>
            <a:endParaRPr lang="es-PE"/>
          </a:p>
        </p:txBody>
      </p:sp>
    </p:spTree>
    <p:extLst>
      <p:ext uri="{BB962C8B-B14F-4D97-AF65-F5344CB8AC3E}">
        <p14:creationId xmlns:p14="http://schemas.microsoft.com/office/powerpoint/2010/main" val="177792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14</a:t>
            </a:fld>
            <a:endParaRPr lang="es-PE"/>
          </a:p>
        </p:txBody>
      </p:sp>
    </p:spTree>
    <p:extLst>
      <p:ext uri="{BB962C8B-B14F-4D97-AF65-F5344CB8AC3E}">
        <p14:creationId xmlns:p14="http://schemas.microsoft.com/office/powerpoint/2010/main" val="73941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15</a:t>
            </a:fld>
            <a:endParaRPr lang="es-PE"/>
          </a:p>
        </p:txBody>
      </p:sp>
    </p:spTree>
    <p:extLst>
      <p:ext uri="{BB962C8B-B14F-4D97-AF65-F5344CB8AC3E}">
        <p14:creationId xmlns:p14="http://schemas.microsoft.com/office/powerpoint/2010/main" val="2154033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16</a:t>
            </a:fld>
            <a:endParaRPr lang="es-PE"/>
          </a:p>
        </p:txBody>
      </p:sp>
    </p:spTree>
    <p:extLst>
      <p:ext uri="{BB962C8B-B14F-4D97-AF65-F5344CB8AC3E}">
        <p14:creationId xmlns:p14="http://schemas.microsoft.com/office/powerpoint/2010/main" val="3701128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17</a:t>
            </a:fld>
            <a:endParaRPr lang="es-PE"/>
          </a:p>
        </p:txBody>
      </p:sp>
    </p:spTree>
    <p:extLst>
      <p:ext uri="{BB962C8B-B14F-4D97-AF65-F5344CB8AC3E}">
        <p14:creationId xmlns:p14="http://schemas.microsoft.com/office/powerpoint/2010/main" val="1063846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18</a:t>
            </a:fld>
            <a:endParaRPr lang="es-PE"/>
          </a:p>
        </p:txBody>
      </p:sp>
    </p:spTree>
    <p:extLst>
      <p:ext uri="{BB962C8B-B14F-4D97-AF65-F5344CB8AC3E}">
        <p14:creationId xmlns:p14="http://schemas.microsoft.com/office/powerpoint/2010/main" val="1765081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19</a:t>
            </a:fld>
            <a:endParaRPr lang="es-PE"/>
          </a:p>
        </p:txBody>
      </p:sp>
    </p:spTree>
    <p:extLst>
      <p:ext uri="{BB962C8B-B14F-4D97-AF65-F5344CB8AC3E}">
        <p14:creationId xmlns:p14="http://schemas.microsoft.com/office/powerpoint/2010/main" val="288037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20</a:t>
            </a:fld>
            <a:endParaRPr lang="es-PE"/>
          </a:p>
        </p:txBody>
      </p:sp>
    </p:spTree>
    <p:extLst>
      <p:ext uri="{BB962C8B-B14F-4D97-AF65-F5344CB8AC3E}">
        <p14:creationId xmlns:p14="http://schemas.microsoft.com/office/powerpoint/2010/main" val="157342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21</a:t>
            </a:fld>
            <a:endParaRPr lang="es-PE"/>
          </a:p>
        </p:txBody>
      </p:sp>
    </p:spTree>
    <p:extLst>
      <p:ext uri="{BB962C8B-B14F-4D97-AF65-F5344CB8AC3E}">
        <p14:creationId xmlns:p14="http://schemas.microsoft.com/office/powerpoint/2010/main" val="1781786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22</a:t>
            </a:fld>
            <a:endParaRPr lang="es-PE"/>
          </a:p>
        </p:txBody>
      </p:sp>
    </p:spTree>
    <p:extLst>
      <p:ext uri="{BB962C8B-B14F-4D97-AF65-F5344CB8AC3E}">
        <p14:creationId xmlns:p14="http://schemas.microsoft.com/office/powerpoint/2010/main" val="3880683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23</a:t>
            </a:fld>
            <a:endParaRPr lang="es-PE"/>
          </a:p>
        </p:txBody>
      </p:sp>
    </p:spTree>
    <p:extLst>
      <p:ext uri="{BB962C8B-B14F-4D97-AF65-F5344CB8AC3E}">
        <p14:creationId xmlns:p14="http://schemas.microsoft.com/office/powerpoint/2010/main" val="2385206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24</a:t>
            </a:fld>
            <a:endParaRPr lang="es-PE"/>
          </a:p>
        </p:txBody>
      </p:sp>
    </p:spTree>
    <p:extLst>
      <p:ext uri="{BB962C8B-B14F-4D97-AF65-F5344CB8AC3E}">
        <p14:creationId xmlns:p14="http://schemas.microsoft.com/office/powerpoint/2010/main" val="118038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25</a:t>
            </a:fld>
            <a:endParaRPr lang="es-PE"/>
          </a:p>
        </p:txBody>
      </p:sp>
    </p:spTree>
    <p:extLst>
      <p:ext uri="{BB962C8B-B14F-4D97-AF65-F5344CB8AC3E}">
        <p14:creationId xmlns:p14="http://schemas.microsoft.com/office/powerpoint/2010/main" val="3072789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26</a:t>
            </a:fld>
            <a:endParaRPr lang="es-PE"/>
          </a:p>
        </p:txBody>
      </p:sp>
    </p:spTree>
    <p:extLst>
      <p:ext uri="{BB962C8B-B14F-4D97-AF65-F5344CB8AC3E}">
        <p14:creationId xmlns:p14="http://schemas.microsoft.com/office/powerpoint/2010/main" val="4184219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27</a:t>
            </a:fld>
            <a:endParaRPr lang="es-PE"/>
          </a:p>
        </p:txBody>
      </p:sp>
    </p:spTree>
    <p:extLst>
      <p:ext uri="{BB962C8B-B14F-4D97-AF65-F5344CB8AC3E}">
        <p14:creationId xmlns:p14="http://schemas.microsoft.com/office/powerpoint/2010/main" val="2211573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28</a:t>
            </a:fld>
            <a:endParaRPr lang="es-PE"/>
          </a:p>
        </p:txBody>
      </p:sp>
    </p:spTree>
    <p:extLst>
      <p:ext uri="{BB962C8B-B14F-4D97-AF65-F5344CB8AC3E}">
        <p14:creationId xmlns:p14="http://schemas.microsoft.com/office/powerpoint/2010/main" val="4105748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34</a:t>
            </a:fld>
            <a:endParaRPr lang="es-PE"/>
          </a:p>
        </p:txBody>
      </p:sp>
    </p:spTree>
    <p:extLst>
      <p:ext uri="{BB962C8B-B14F-4D97-AF65-F5344CB8AC3E}">
        <p14:creationId xmlns:p14="http://schemas.microsoft.com/office/powerpoint/2010/main" val="4215770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35</a:t>
            </a:fld>
            <a:endParaRPr lang="es-PE"/>
          </a:p>
        </p:txBody>
      </p:sp>
    </p:spTree>
    <p:extLst>
      <p:ext uri="{BB962C8B-B14F-4D97-AF65-F5344CB8AC3E}">
        <p14:creationId xmlns:p14="http://schemas.microsoft.com/office/powerpoint/2010/main" val="558295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36</a:t>
            </a:fld>
            <a:endParaRPr lang="es-PE"/>
          </a:p>
        </p:txBody>
      </p:sp>
    </p:spTree>
    <p:extLst>
      <p:ext uri="{BB962C8B-B14F-4D97-AF65-F5344CB8AC3E}">
        <p14:creationId xmlns:p14="http://schemas.microsoft.com/office/powerpoint/2010/main" val="3319959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37</a:t>
            </a:fld>
            <a:endParaRPr lang="es-PE"/>
          </a:p>
        </p:txBody>
      </p:sp>
    </p:spTree>
    <p:extLst>
      <p:ext uri="{BB962C8B-B14F-4D97-AF65-F5344CB8AC3E}">
        <p14:creationId xmlns:p14="http://schemas.microsoft.com/office/powerpoint/2010/main" val="1106692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38</a:t>
            </a:fld>
            <a:endParaRPr lang="es-PE"/>
          </a:p>
        </p:txBody>
      </p:sp>
    </p:spTree>
    <p:extLst>
      <p:ext uri="{BB962C8B-B14F-4D97-AF65-F5344CB8AC3E}">
        <p14:creationId xmlns:p14="http://schemas.microsoft.com/office/powerpoint/2010/main" val="1176763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39</a:t>
            </a:fld>
            <a:endParaRPr lang="es-PE"/>
          </a:p>
        </p:txBody>
      </p:sp>
    </p:spTree>
    <p:extLst>
      <p:ext uri="{BB962C8B-B14F-4D97-AF65-F5344CB8AC3E}">
        <p14:creationId xmlns:p14="http://schemas.microsoft.com/office/powerpoint/2010/main" val="506339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40</a:t>
            </a:fld>
            <a:endParaRPr lang="es-PE"/>
          </a:p>
        </p:txBody>
      </p:sp>
    </p:spTree>
    <p:extLst>
      <p:ext uri="{BB962C8B-B14F-4D97-AF65-F5344CB8AC3E}">
        <p14:creationId xmlns:p14="http://schemas.microsoft.com/office/powerpoint/2010/main" val="35858829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41</a:t>
            </a:fld>
            <a:endParaRPr lang="es-PE"/>
          </a:p>
        </p:txBody>
      </p:sp>
    </p:spTree>
    <p:extLst>
      <p:ext uri="{BB962C8B-B14F-4D97-AF65-F5344CB8AC3E}">
        <p14:creationId xmlns:p14="http://schemas.microsoft.com/office/powerpoint/2010/main" val="5858790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42</a:t>
            </a:fld>
            <a:endParaRPr lang="es-PE"/>
          </a:p>
        </p:txBody>
      </p:sp>
    </p:spTree>
    <p:extLst>
      <p:ext uri="{BB962C8B-B14F-4D97-AF65-F5344CB8AC3E}">
        <p14:creationId xmlns:p14="http://schemas.microsoft.com/office/powerpoint/2010/main" val="7813955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44</a:t>
            </a:fld>
            <a:endParaRPr lang="es-PE"/>
          </a:p>
        </p:txBody>
      </p:sp>
    </p:spTree>
    <p:extLst>
      <p:ext uri="{BB962C8B-B14F-4D97-AF65-F5344CB8AC3E}">
        <p14:creationId xmlns:p14="http://schemas.microsoft.com/office/powerpoint/2010/main" val="18066147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45</a:t>
            </a:fld>
            <a:endParaRPr lang="es-PE"/>
          </a:p>
        </p:txBody>
      </p:sp>
    </p:spTree>
    <p:extLst>
      <p:ext uri="{BB962C8B-B14F-4D97-AF65-F5344CB8AC3E}">
        <p14:creationId xmlns:p14="http://schemas.microsoft.com/office/powerpoint/2010/main" val="3528011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46</a:t>
            </a:fld>
            <a:endParaRPr lang="es-PE"/>
          </a:p>
        </p:txBody>
      </p:sp>
    </p:spTree>
    <p:extLst>
      <p:ext uri="{BB962C8B-B14F-4D97-AF65-F5344CB8AC3E}">
        <p14:creationId xmlns:p14="http://schemas.microsoft.com/office/powerpoint/2010/main" val="1495942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47</a:t>
            </a:fld>
            <a:endParaRPr lang="es-PE"/>
          </a:p>
        </p:txBody>
      </p:sp>
    </p:spTree>
    <p:extLst>
      <p:ext uri="{BB962C8B-B14F-4D97-AF65-F5344CB8AC3E}">
        <p14:creationId xmlns:p14="http://schemas.microsoft.com/office/powerpoint/2010/main" val="3462763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48</a:t>
            </a:fld>
            <a:endParaRPr lang="es-PE"/>
          </a:p>
        </p:txBody>
      </p:sp>
    </p:spTree>
    <p:extLst>
      <p:ext uri="{BB962C8B-B14F-4D97-AF65-F5344CB8AC3E}">
        <p14:creationId xmlns:p14="http://schemas.microsoft.com/office/powerpoint/2010/main" val="356019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1D498818-1391-4805-9C29-F0662F4A7854}" type="slidenum">
              <a:rPr lang="es-PE" smtClean="0"/>
              <a:t>49</a:t>
            </a:fld>
            <a:endParaRPr lang="es-PE"/>
          </a:p>
        </p:txBody>
      </p:sp>
    </p:spTree>
    <p:extLst>
      <p:ext uri="{BB962C8B-B14F-4D97-AF65-F5344CB8AC3E}">
        <p14:creationId xmlns:p14="http://schemas.microsoft.com/office/powerpoint/2010/main" val="1498341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1.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3.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17.svg"/><Relationship Id="rId4" Type="http://schemas.openxmlformats.org/officeDocument/2006/relationships/image" Target="../media/image11.pn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18.svg"/><Relationship Id="rId4" Type="http://schemas.openxmlformats.org/officeDocument/2006/relationships/image" Target="../media/image13.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A9044-76B1-D660-8DBF-F2F16B0118C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AD94A282-AB81-AF53-998D-8FAB02409D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5E54205B-C876-F8C4-D883-9E68781ED40D}"/>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5" name="Marcador de pie de página 4">
            <a:extLst>
              <a:ext uri="{FF2B5EF4-FFF2-40B4-BE49-F238E27FC236}">
                <a16:creationId xmlns:a16="http://schemas.microsoft.com/office/drawing/2014/main" id="{47E94D33-FDE8-6449-705F-E556EF1EF07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D630CF9-CD55-3BD0-79C3-E70AAAEA76E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714775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559199-D081-4689-6C0F-26C081480CD8}"/>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98B26484-A586-DE59-81DA-9AE0971899B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3DB8B84-50E3-3680-51B0-E997DAC402B4}"/>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5" name="Marcador de pie de página 4">
            <a:extLst>
              <a:ext uri="{FF2B5EF4-FFF2-40B4-BE49-F238E27FC236}">
                <a16:creationId xmlns:a16="http://schemas.microsoft.com/office/drawing/2014/main" id="{475AA40F-A1AE-4DAB-8F62-65858B29BBF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3D72374-BF0D-9199-0AE2-B02EF3813454}"/>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475233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549AF9-55EC-C5C1-42C9-7D227AAF629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CAA2B32A-2C66-856E-7956-ED257F397B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D82117E-953F-4F70-D94A-C0F2B9F3081D}"/>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5" name="Marcador de pie de página 4">
            <a:extLst>
              <a:ext uri="{FF2B5EF4-FFF2-40B4-BE49-F238E27FC236}">
                <a16:creationId xmlns:a16="http://schemas.microsoft.com/office/drawing/2014/main" id="{5315B6E9-B354-9D39-F8CC-2B3721A2A1A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3A96CAC-C276-2C6D-50E0-118D678FF43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8257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B5609-CFF7-FE91-93A8-017ADAC9165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C2E964A9-F609-80F6-2CBA-3D02F425D17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222AF759-B10E-0B24-F52D-720377E5AED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DAA4FDCD-1E3B-1A51-8F25-3FF6CE7F3BB3}"/>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6" name="Marcador de pie de página 5">
            <a:extLst>
              <a:ext uri="{FF2B5EF4-FFF2-40B4-BE49-F238E27FC236}">
                <a16:creationId xmlns:a16="http://schemas.microsoft.com/office/drawing/2014/main" id="{A56B8827-6190-F9CB-340C-17290B494B7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AB46404-8C78-05E7-B250-ECAE370917FD}"/>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4170132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749292-F847-1D24-4FD9-AD41568A7C2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DAF671E2-D3A4-0F45-2A09-B8DADE12C0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0FFBD18-2BF9-678E-0AC8-52B223120AD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A3527B7E-E0F5-0A56-6D7C-76242207D8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C8E62F8-AF94-079C-EF69-A765CB01435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0A648DA9-9673-35CC-FD69-59F6BD799F8E}"/>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8" name="Marcador de pie de página 7">
            <a:extLst>
              <a:ext uri="{FF2B5EF4-FFF2-40B4-BE49-F238E27FC236}">
                <a16:creationId xmlns:a16="http://schemas.microsoft.com/office/drawing/2014/main" id="{A5DE94D9-8533-ED00-B05C-81DE14EF0CD2}"/>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14212A43-66F9-51AD-4D2C-731C9E48C57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806403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3CED7A-3158-77DF-D71C-35AEE7E2499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B478F852-120E-6806-DC0E-4922223E549C}"/>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4" name="Marcador de pie de página 3">
            <a:extLst>
              <a:ext uri="{FF2B5EF4-FFF2-40B4-BE49-F238E27FC236}">
                <a16:creationId xmlns:a16="http://schemas.microsoft.com/office/drawing/2014/main" id="{37D40898-4A83-C494-208C-3BB983CA1B3C}"/>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59B7A564-709D-A9B1-4784-A78D03A309C6}"/>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674704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61ACFAF-7441-8EC2-04CF-09CD9E8337D3}"/>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3" name="Marcador de pie de página 2">
            <a:extLst>
              <a:ext uri="{FF2B5EF4-FFF2-40B4-BE49-F238E27FC236}">
                <a16:creationId xmlns:a16="http://schemas.microsoft.com/office/drawing/2014/main" id="{14FA7E49-6B88-6BC2-8C6D-9A071DBA32A1}"/>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1A044BFD-EAF6-FB9F-F2A0-61F098F34A1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096133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1A3095-751F-EE63-B505-F34F4EEBCD0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1059669-42C4-B318-496D-C5C68D2BED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0C890E18-79BE-170F-7FA5-0734B2427D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167D11A-ADB7-ACDC-6832-617038691D28}"/>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6" name="Marcador de pie de página 5">
            <a:extLst>
              <a:ext uri="{FF2B5EF4-FFF2-40B4-BE49-F238E27FC236}">
                <a16:creationId xmlns:a16="http://schemas.microsoft.com/office/drawing/2014/main" id="{2777EE52-07B8-7502-695C-6DF8A78DF43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CE3460CC-A376-5637-5998-D11D83D19CFA}"/>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4251235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8F389F-3435-A3CA-D8B5-31A600F7231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9433BEFD-867B-5487-68C5-3F9B60292F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434278E2-9BED-AFAC-E024-EA1282F7B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DF14C5-21E9-B1BB-FAEB-95E5A017C8C0}"/>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6" name="Marcador de pie de página 5">
            <a:extLst>
              <a:ext uri="{FF2B5EF4-FFF2-40B4-BE49-F238E27FC236}">
                <a16:creationId xmlns:a16="http://schemas.microsoft.com/office/drawing/2014/main" id="{AC448983-4ED4-A1F6-ABA9-CD9634DF3784}"/>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7065E54-4AF9-87DF-9439-3998BE78920B}"/>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982214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E92D63-E499-03F7-FB4D-93474D0C71E1}"/>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2F4D4A8B-B230-AB87-D28F-47E1EF7566B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804D0E4-B7E8-F53F-6E2B-AC40634D2FDC}"/>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5" name="Marcador de pie de página 4">
            <a:extLst>
              <a:ext uri="{FF2B5EF4-FFF2-40B4-BE49-F238E27FC236}">
                <a16:creationId xmlns:a16="http://schemas.microsoft.com/office/drawing/2014/main" id="{470558D2-1230-7AE6-C0AB-8C24ADE1D2E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B0E8A289-C61E-F62D-8E83-FAFD442204F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85974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DD465E1-F8B5-FF8A-28AB-8CEAEC420DC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5DBD6A3E-9027-3D05-9863-50913A2D897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8397731-A82C-21F2-2C4D-A190BB9F2693}"/>
              </a:ext>
            </a:extLst>
          </p:cNvPr>
          <p:cNvSpPr>
            <a:spLocks noGrp="1"/>
          </p:cNvSpPr>
          <p:nvPr>
            <p:ph type="dt" sz="half" idx="10"/>
          </p:nvPr>
        </p:nvSpPr>
        <p:spPr/>
        <p:txBody>
          <a:bodyPr/>
          <a:lstStyle/>
          <a:p>
            <a:fld id="{4728B04F-4F73-48C2-9E46-704F64527F32}" type="datetimeFigureOut">
              <a:rPr lang="es-PE" smtClean="0"/>
              <a:t>12/10/2026</a:t>
            </a:fld>
            <a:endParaRPr lang="es-PE"/>
          </a:p>
        </p:txBody>
      </p:sp>
      <p:sp>
        <p:nvSpPr>
          <p:cNvPr id="5" name="Marcador de pie de página 4">
            <a:extLst>
              <a:ext uri="{FF2B5EF4-FFF2-40B4-BE49-F238E27FC236}">
                <a16:creationId xmlns:a16="http://schemas.microsoft.com/office/drawing/2014/main" id="{57838474-DFAA-E728-D9B9-DEFD399793B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E1089AF1-2426-4CC7-C36C-58F4C5A1794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758438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80142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445081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18918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63422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77268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55331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42739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3201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3387971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4300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3151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899025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88277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88066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4492267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907843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921880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3632089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0386374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104215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74429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616281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847476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408225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26432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368718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42968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783121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8263810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64826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060798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3786742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017176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425993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239935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632979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543314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741595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51568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741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2842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60168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8809703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0794212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3605218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721823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211374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519923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5306485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644004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084409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557769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223913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794942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625577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09048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43852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5593398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4149884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4694611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30636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42173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7097550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691547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6739749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4967650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572094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12-10-2026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71892588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152941139"/>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92309472"/>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565288315"/>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90934505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501003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8643638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297912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000957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1478736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0110297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00752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1958591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3034148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2543165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749789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631561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91782741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70003420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4706941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8331499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884337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9358726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0852753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9119859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1207690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9460693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0857008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15757675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59446216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5402841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0596028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6900505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0137237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0861969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8818211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9181314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693629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12-10-2026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261193289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06194776"/>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760162414"/>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291672485"/>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01557828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image" Target="../media/image2.sv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theme" Target="../theme/theme3.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29" Type="http://schemas.openxmlformats.org/officeDocument/2006/relationships/slideLayout" Target="../slideLayouts/slideLayout74.xml"/><Relationship Id="rId41" Type="http://schemas.openxmlformats.org/officeDocument/2006/relationships/image" Target="../media/image2.sv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image" Target="../media/image1.png"/><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8" Type="http://schemas.openxmlformats.org/officeDocument/2006/relationships/slideLayout" Target="../slideLayouts/slideLayout53.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9" Type="http://schemas.openxmlformats.org/officeDocument/2006/relationships/theme" Target="../theme/theme4.xml"/><Relationship Id="rId21" Type="http://schemas.openxmlformats.org/officeDocument/2006/relationships/slideLayout" Target="../slideLayouts/slideLayout104.xml"/><Relationship Id="rId34" Type="http://schemas.openxmlformats.org/officeDocument/2006/relationships/slideLayout" Target="../slideLayouts/slideLayout117.xml"/><Relationship Id="rId7" Type="http://schemas.openxmlformats.org/officeDocument/2006/relationships/slideLayout" Target="../slideLayouts/slideLayout90.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41" Type="http://schemas.openxmlformats.org/officeDocument/2006/relationships/image" Target="../media/image2.svg"/><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slideLayout" Target="../slideLayouts/slideLayout115.xml"/><Relationship Id="rId37" Type="http://schemas.openxmlformats.org/officeDocument/2006/relationships/slideLayout" Target="../slideLayouts/slideLayout120.xml"/><Relationship Id="rId40"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36" Type="http://schemas.openxmlformats.org/officeDocument/2006/relationships/slideLayout" Target="../slideLayouts/slideLayout119.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slideLayout" Target="../slideLayouts/slideLayout114.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35" Type="http://schemas.openxmlformats.org/officeDocument/2006/relationships/slideLayout" Target="../slideLayouts/slideLayout118.xml"/><Relationship Id="rId8" Type="http://schemas.openxmlformats.org/officeDocument/2006/relationships/slideLayout" Target="../slideLayouts/slideLayout91.xml"/><Relationship Id="rId3" Type="http://schemas.openxmlformats.org/officeDocument/2006/relationships/slideLayout" Target="../slideLayouts/slideLayout86.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slideLayout" Target="../slideLayouts/slideLayout116.xml"/><Relationship Id="rId38" Type="http://schemas.openxmlformats.org/officeDocument/2006/relationships/slideLayout" Target="../slideLayouts/slideLayout1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E123625-4177-94C5-071F-B877E4893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E5CC5A60-722C-D5E0-88E8-5BB4ECA798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707A37D-85C7-5674-D2C3-ADB9632C5B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28B04F-4F73-48C2-9E46-704F64527F32}" type="datetimeFigureOut">
              <a:rPr lang="es-PE" smtClean="0"/>
              <a:t>12/10/2026</a:t>
            </a:fld>
            <a:endParaRPr lang="es-PE"/>
          </a:p>
        </p:txBody>
      </p:sp>
      <p:sp>
        <p:nvSpPr>
          <p:cNvPr id="5" name="Marcador de pie de página 4">
            <a:extLst>
              <a:ext uri="{FF2B5EF4-FFF2-40B4-BE49-F238E27FC236}">
                <a16:creationId xmlns:a16="http://schemas.microsoft.com/office/drawing/2014/main" id="{6E0165AA-F759-5A1E-FB29-109C5E328E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20FB6A20-3F4D-79CB-E2F3-BEEDBBCD8C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4433A7-2339-439A-AF51-9EFDA9A6041C}" type="slidenum">
              <a:rPr lang="es-PE" smtClean="0"/>
              <a:t>‹Nº›</a:t>
            </a:fld>
            <a:endParaRPr lang="es-PE"/>
          </a:p>
        </p:txBody>
      </p:sp>
    </p:spTree>
    <p:extLst>
      <p:ext uri="{BB962C8B-B14F-4D97-AF65-F5344CB8AC3E}">
        <p14:creationId xmlns:p14="http://schemas.microsoft.com/office/powerpoint/2010/main" val="2790675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10626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6314850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3" r:id="rId37"/>
    <p:sldLayoutId id="2147483734"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9001218"/>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4"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850909" y="0"/>
            <a:ext cx="3744190" cy="1965700"/>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96901" y="418320"/>
            <a:ext cx="4053898" cy="954256"/>
          </a:xfrm>
          <a:prstGeom prst="rect">
            <a:avLst/>
          </a:prstGeom>
        </p:spPr>
      </p:pic>
      <p:pic>
        <p:nvPicPr>
          <p:cNvPr id="4" name="Imagen 3">
            <a:extLst>
              <a:ext uri="{FF2B5EF4-FFF2-40B4-BE49-F238E27FC236}">
                <a16:creationId xmlns:a16="http://schemas.microsoft.com/office/drawing/2014/main" id="{BAA2A2A2-E239-B191-EB4C-97728C5FB3E3}"/>
              </a:ext>
            </a:extLst>
          </p:cNvPr>
          <p:cNvPicPr>
            <a:picLocks noChangeAspect="1"/>
          </p:cNvPicPr>
          <p:nvPr/>
        </p:nvPicPr>
        <p:blipFill>
          <a:blip r:embed="rId5">
            <a:extLst>
              <a:ext uri="{28A0092B-C50C-407E-A947-70E740481C1C}">
                <a14:useLocalDpi xmlns:a14="http://schemas.microsoft.com/office/drawing/2010/main" val="0"/>
              </a:ext>
            </a:extLst>
          </a:blip>
          <a:srcRect l="6842" r="6842"/>
          <a:stretch/>
        </p:blipFill>
        <p:spPr>
          <a:xfrm>
            <a:off x="6096000" y="1870726"/>
            <a:ext cx="6096000" cy="4719037"/>
          </a:xfrm>
          <a:custGeom>
            <a:avLst/>
            <a:gdLst>
              <a:gd name="connsiteX0" fmla="*/ 1 w 6096000"/>
              <a:gd name="connsiteY0" fmla="*/ 0 h 4719037"/>
              <a:gd name="connsiteX1" fmla="*/ 6096000 w 6096000"/>
              <a:gd name="connsiteY1" fmla="*/ 0 h 4719037"/>
              <a:gd name="connsiteX2" fmla="*/ 6096000 w 6096000"/>
              <a:gd name="connsiteY2" fmla="*/ 1326306 h 4719037"/>
              <a:gd name="connsiteX3" fmla="*/ 1340479 w 6096000"/>
              <a:gd name="connsiteY3" fmla="*/ 1326306 h 4719037"/>
              <a:gd name="connsiteX4" fmla="*/ 1340479 w 6096000"/>
              <a:gd name="connsiteY4" fmla="*/ 1682193 h 4719037"/>
              <a:gd name="connsiteX5" fmla="*/ 5574890 w 6096000"/>
              <a:gd name="connsiteY5" fmla="*/ 1682193 h 4719037"/>
              <a:gd name="connsiteX6" fmla="*/ 5574890 w 6096000"/>
              <a:gd name="connsiteY6" fmla="*/ 3022672 h 4719037"/>
              <a:gd name="connsiteX7" fmla="*/ 1340479 w 6096000"/>
              <a:gd name="connsiteY7" fmla="*/ 3022671 h 4719037"/>
              <a:gd name="connsiteX8" fmla="*/ 1340479 w 6096000"/>
              <a:gd name="connsiteY8" fmla="*/ 3378558 h 4719037"/>
              <a:gd name="connsiteX9" fmla="*/ 6095999 w 6096000"/>
              <a:gd name="connsiteY9" fmla="*/ 3378559 h 4719037"/>
              <a:gd name="connsiteX10" fmla="*/ 6095999 w 6096000"/>
              <a:gd name="connsiteY10" fmla="*/ 4719037 h 4719037"/>
              <a:gd name="connsiteX11" fmla="*/ 1340479 w 6096000"/>
              <a:gd name="connsiteY11" fmla="*/ 4719037 h 4719037"/>
              <a:gd name="connsiteX12" fmla="*/ 0 w 6096000"/>
              <a:gd name="connsiteY12" fmla="*/ 4719037 h 4719037"/>
              <a:gd name="connsiteX13" fmla="*/ 0 w 6096000"/>
              <a:gd name="connsiteY13" fmla="*/ 1 h 4719037"/>
              <a:gd name="connsiteX14" fmla="*/ 1 w 6096000"/>
              <a:gd name="connsiteY14" fmla="*/ 1 h 471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96000" h="4719037">
                <a:moveTo>
                  <a:pt x="1" y="0"/>
                </a:moveTo>
                <a:lnTo>
                  <a:pt x="6096000" y="0"/>
                </a:lnTo>
                <a:lnTo>
                  <a:pt x="6096000" y="1326306"/>
                </a:lnTo>
                <a:lnTo>
                  <a:pt x="1340479" y="1326306"/>
                </a:lnTo>
                <a:lnTo>
                  <a:pt x="1340479" y="1682193"/>
                </a:lnTo>
                <a:lnTo>
                  <a:pt x="5574890" y="1682193"/>
                </a:lnTo>
                <a:lnTo>
                  <a:pt x="5574890" y="3022672"/>
                </a:lnTo>
                <a:lnTo>
                  <a:pt x="1340479" y="3022671"/>
                </a:lnTo>
                <a:lnTo>
                  <a:pt x="1340479" y="3378558"/>
                </a:lnTo>
                <a:lnTo>
                  <a:pt x="6095999" y="3378559"/>
                </a:lnTo>
                <a:lnTo>
                  <a:pt x="6095999" y="4719037"/>
                </a:lnTo>
                <a:lnTo>
                  <a:pt x="1340479" y="4719037"/>
                </a:lnTo>
                <a:lnTo>
                  <a:pt x="0" y="4719037"/>
                </a:lnTo>
                <a:lnTo>
                  <a:pt x="0" y="1"/>
                </a:lnTo>
                <a:lnTo>
                  <a:pt x="1" y="1"/>
                </a:lnTo>
                <a:close/>
              </a:path>
            </a:pathLst>
          </a:cu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481781" y="2847728"/>
            <a:ext cx="5525729" cy="2215991"/>
          </a:xfrm>
          <a:prstGeom prst="rect">
            <a:avLst/>
          </a:prstGeom>
          <a:noFill/>
        </p:spPr>
        <p:txBody>
          <a:bodyPr wrap="square" rtlCol="0">
            <a:spAutoFit/>
          </a:bodyPr>
          <a:lstStyle/>
          <a:p>
            <a:r>
              <a:rPr lang="es-ES" sz="4600" b="1" dirty="0">
                <a:solidFill>
                  <a:schemeClr val="accent3">
                    <a:lumMod val="60000"/>
                    <a:lumOff val="40000"/>
                  </a:schemeClr>
                </a:solidFill>
                <a:latin typeface="Montserrat" pitchFamily="2" charset="0"/>
              </a:rPr>
              <a:t>PROGRAMACIÓN DE ASGINATURAS</a:t>
            </a:r>
            <a:endParaRPr lang="es-PE" sz="4600" b="1" dirty="0">
              <a:solidFill>
                <a:schemeClr val="accent3">
                  <a:lumMod val="60000"/>
                  <a:lumOff val="40000"/>
                </a:schemeClr>
              </a:solidFill>
              <a:latin typeface="Montserrat" pitchFamily="2" charset="0"/>
            </a:endParaRPr>
          </a:p>
        </p:txBody>
      </p:sp>
      <p:sp>
        <p:nvSpPr>
          <p:cNvPr id="2" name="CuadroTexto 1">
            <a:extLst>
              <a:ext uri="{FF2B5EF4-FFF2-40B4-BE49-F238E27FC236}">
                <a16:creationId xmlns:a16="http://schemas.microsoft.com/office/drawing/2014/main" id="{CDF3A99F-357C-A6F7-37E7-45E55D8F10F5}"/>
              </a:ext>
            </a:extLst>
          </p:cNvPr>
          <p:cNvSpPr txBox="1"/>
          <p:nvPr/>
        </p:nvSpPr>
        <p:spPr>
          <a:xfrm>
            <a:off x="596901" y="6322596"/>
            <a:ext cx="3134128" cy="276999"/>
          </a:xfrm>
          <a:prstGeom prst="rect">
            <a:avLst/>
          </a:prstGeom>
          <a:noFill/>
        </p:spPr>
        <p:txBody>
          <a:bodyPr wrap="none" rtlCol="0">
            <a:spAutoFit/>
          </a:bodyPr>
          <a:lstStyle/>
          <a:p>
            <a:r>
              <a:rPr lang="es-ES" sz="1200" i="1" dirty="0">
                <a:solidFill>
                  <a:schemeClr val="bg1"/>
                </a:solidFill>
              </a:rPr>
              <a:t>Elaborado por: Ing. Liliana Ocampo Moreno</a:t>
            </a:r>
            <a:endParaRPr lang="es-PE" sz="1200" i="1" dirty="0">
              <a:solidFill>
                <a:schemeClr val="bg1"/>
              </a:solidFill>
            </a:endParaRPr>
          </a:p>
        </p:txBody>
      </p:sp>
    </p:spTree>
    <p:extLst>
      <p:ext uri="{BB962C8B-B14F-4D97-AF65-F5344CB8AC3E}">
        <p14:creationId xmlns:p14="http://schemas.microsoft.com/office/powerpoint/2010/main" val="248736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5F046F4F-DB6A-C646-3CFC-7D9F9B79A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2447365" y="2828835"/>
            <a:ext cx="7297270" cy="1200329"/>
          </a:xfrm>
          <a:prstGeom prst="rect">
            <a:avLst/>
          </a:prstGeom>
          <a:noFill/>
        </p:spPr>
        <p:txBody>
          <a:bodyPr wrap="square" rtlCol="0">
            <a:spAutoFit/>
          </a:bodyPr>
          <a:lstStyle/>
          <a:p>
            <a:r>
              <a:rPr lang="es-ES" sz="7200" b="1" dirty="0">
                <a:solidFill>
                  <a:schemeClr val="accent3">
                    <a:lumMod val="60000"/>
                    <a:lumOff val="40000"/>
                  </a:schemeClr>
                </a:solidFill>
                <a:latin typeface="Montserrat" pitchFamily="2" charset="0"/>
              </a:rPr>
              <a:t>DEFINICIONES</a:t>
            </a:r>
            <a:endParaRPr lang="es-PE" sz="7200" b="1" dirty="0">
              <a:solidFill>
                <a:schemeClr val="accent3">
                  <a:lumMod val="60000"/>
                  <a:lumOff val="40000"/>
                </a:schemeClr>
              </a:solidFill>
              <a:latin typeface="Montserrat" pitchFamily="2" charset="0"/>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r>
              <a:rPr lang="es-ES" sz="1200" i="1" dirty="0">
                <a:solidFill>
                  <a:schemeClr val="bg1"/>
                </a:solidFill>
              </a:rPr>
              <a:t>Elaborado por: Ing. Liliana Ocampo Moreno</a:t>
            </a:r>
            <a:endParaRPr lang="es-PE" sz="1200" i="1" dirty="0">
              <a:solidFill>
                <a:schemeClr val="bg1"/>
              </a:solidFill>
            </a:endParaRPr>
          </a:p>
        </p:txBody>
      </p:sp>
    </p:spTree>
    <p:extLst>
      <p:ext uri="{BB962C8B-B14F-4D97-AF65-F5344CB8AC3E}">
        <p14:creationId xmlns:p14="http://schemas.microsoft.com/office/powerpoint/2010/main" val="90465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8885766" cy="523220"/>
          </a:xfrm>
          <a:prstGeom prst="rect">
            <a:avLst/>
          </a:prstGeom>
          <a:noFill/>
        </p:spPr>
        <p:txBody>
          <a:bodyPr wrap="none" rtlCol="0">
            <a:spAutoFit/>
          </a:bodyPr>
          <a:lstStyle/>
          <a:p>
            <a:r>
              <a:rPr lang="es-ES" sz="2800" b="1" dirty="0">
                <a:latin typeface="Montserrat" pitchFamily="2" charset="0"/>
              </a:rPr>
              <a:t>GESTIÓN DE LA PROGRAMACIÓN ACADÉMICA</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193161" y="241540"/>
            <a:ext cx="299883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CuadroTexto 1">
            <a:extLst>
              <a:ext uri="{FF2B5EF4-FFF2-40B4-BE49-F238E27FC236}">
                <a16:creationId xmlns:a16="http://schemas.microsoft.com/office/drawing/2014/main" id="{D3835BB7-D525-B78D-B54A-137EF0D9EC72}"/>
              </a:ext>
            </a:extLst>
          </p:cNvPr>
          <p:cNvSpPr txBox="1"/>
          <p:nvPr/>
        </p:nvSpPr>
        <p:spPr>
          <a:xfrm>
            <a:off x="431320" y="967304"/>
            <a:ext cx="11298563" cy="5478423"/>
          </a:xfrm>
          <a:prstGeom prst="rect">
            <a:avLst/>
          </a:prstGeom>
          <a:noFill/>
        </p:spPr>
        <p:txBody>
          <a:bodyPr wrap="square" rtlCol="0">
            <a:spAutoFit/>
          </a:bodyPr>
          <a:lstStyle/>
          <a:p>
            <a:pPr marL="0" indent="0" algn="just">
              <a:spcAft>
                <a:spcPts val="1200"/>
              </a:spcAft>
              <a:buClr>
                <a:srgbClr val="0CB4B4"/>
              </a:buClr>
              <a:buNone/>
            </a:pPr>
            <a:r>
              <a:rPr lang="es-CO" sz="1800" dirty="0"/>
              <a:t>Comprende el conjunto de actividades que realiza la institución para organizar y administrar la programación académica de cada periodo. Incluye la </a:t>
            </a:r>
            <a:r>
              <a:rPr lang="es-CO" sz="1800" b="1" dirty="0"/>
              <a:t>asignación de espacios físicos</a:t>
            </a:r>
            <a:r>
              <a:rPr lang="es-CO" sz="1800" dirty="0"/>
              <a:t> destinados a clases, laboratorios, conferencias, seminarios, exámenes y otras actividades académicas, así como la coordinación operativa necesaria para garantizar que dichos recursos estén disponibles y correctamente programados:</a:t>
            </a:r>
          </a:p>
          <a:p>
            <a:pPr marL="285750" indent="-285750" algn="just">
              <a:spcAft>
                <a:spcPts val="1200"/>
              </a:spcAft>
              <a:buClr>
                <a:schemeClr val="accent6"/>
              </a:buClr>
              <a:buFont typeface="Wingdings" panose="05000000000000000000" pitchFamily="2" charset="2"/>
              <a:buChar char="§"/>
            </a:pPr>
            <a:r>
              <a:rPr lang="es-CO" sz="1800" b="1" dirty="0"/>
              <a:t>Características básicas</a:t>
            </a:r>
            <a:r>
              <a:rPr lang="es-CO" sz="1800" dirty="0"/>
              <a:t>: Determinar campus de impartición, fechas de inicio y finalización, modalidad (presencial, virtual, híbrida) y demás atributos relevantes.</a:t>
            </a:r>
          </a:p>
          <a:p>
            <a:pPr marL="285750" indent="-285750" algn="just">
              <a:spcAft>
                <a:spcPts val="1200"/>
              </a:spcAft>
              <a:buClr>
                <a:schemeClr val="accent6"/>
              </a:buClr>
              <a:buFont typeface="Wingdings" panose="05000000000000000000" pitchFamily="2" charset="2"/>
              <a:buChar char="§"/>
            </a:pPr>
            <a:r>
              <a:rPr lang="es-CO" sz="1800" b="1" dirty="0"/>
              <a:t>Cupos disponibles</a:t>
            </a:r>
            <a:r>
              <a:rPr lang="es-CO" sz="1800" dirty="0"/>
              <a:t>: Establecer el número máximo de estudiantes que podrán inscribirse en cada sección.</a:t>
            </a:r>
          </a:p>
          <a:p>
            <a:pPr marL="285750" indent="-285750" algn="just">
              <a:spcAft>
                <a:spcPts val="1200"/>
              </a:spcAft>
              <a:buClr>
                <a:schemeClr val="accent6"/>
              </a:buClr>
              <a:buFont typeface="Wingdings" panose="05000000000000000000" pitchFamily="2" charset="2"/>
              <a:buChar char="§"/>
            </a:pPr>
            <a:r>
              <a:rPr lang="es-CO" sz="1800" b="1" dirty="0"/>
              <a:t>Días y horarios</a:t>
            </a:r>
            <a:r>
              <a:rPr lang="es-CO" sz="1800" dirty="0"/>
              <a:t>: Configurar el calendario semanal de clases, especificando franjas horarias y frecuencia.</a:t>
            </a:r>
          </a:p>
          <a:p>
            <a:pPr marL="285750" indent="-285750" algn="just">
              <a:spcAft>
                <a:spcPts val="1200"/>
              </a:spcAft>
              <a:buClr>
                <a:schemeClr val="accent6"/>
              </a:buClr>
              <a:buFont typeface="Wingdings" panose="05000000000000000000" pitchFamily="2" charset="2"/>
              <a:buChar char="§"/>
            </a:pPr>
            <a:r>
              <a:rPr lang="es-CO" sz="1800" b="1" dirty="0"/>
              <a:t>Prerrequisitos</a:t>
            </a:r>
            <a:r>
              <a:rPr lang="es-CO" sz="1800" dirty="0"/>
              <a:t>: Señalar los cursos o conocimientos previos necesarios para la inscripción.</a:t>
            </a:r>
          </a:p>
          <a:p>
            <a:pPr marL="285750" indent="-285750" algn="just">
              <a:spcAft>
                <a:spcPts val="1200"/>
              </a:spcAft>
              <a:buClr>
                <a:schemeClr val="accent6"/>
              </a:buClr>
              <a:buFont typeface="Wingdings" panose="05000000000000000000" pitchFamily="2" charset="2"/>
              <a:buChar char="§"/>
            </a:pPr>
            <a:r>
              <a:rPr lang="es-CO" sz="1800" b="1" dirty="0"/>
              <a:t>Correquisitos</a:t>
            </a:r>
            <a:r>
              <a:rPr lang="es-CO" sz="1800" dirty="0"/>
              <a:t>: Indicar los cursos que deben ser inscritos simultáneamente.</a:t>
            </a:r>
          </a:p>
          <a:p>
            <a:pPr marL="285750" indent="-285750" algn="just">
              <a:spcAft>
                <a:spcPts val="1200"/>
              </a:spcAft>
              <a:buClr>
                <a:schemeClr val="accent6"/>
              </a:buClr>
              <a:buFont typeface="Wingdings" panose="05000000000000000000" pitchFamily="2" charset="2"/>
              <a:buChar char="§"/>
            </a:pPr>
            <a:r>
              <a:rPr lang="es-CO" sz="1800" b="1" dirty="0"/>
              <a:t>Restricciones de inscripción</a:t>
            </a:r>
            <a:r>
              <a:rPr lang="es-CO" sz="1800" dirty="0"/>
              <a:t>: Establecer limitaciones específicas a nivel de sección (por ejemplo, programas académicos autorizados, niveles de avance).</a:t>
            </a:r>
          </a:p>
          <a:p>
            <a:pPr marL="285750" indent="-285750" algn="just">
              <a:spcAft>
                <a:spcPts val="1200"/>
              </a:spcAft>
              <a:buClr>
                <a:schemeClr val="accent6"/>
              </a:buClr>
              <a:buFont typeface="Wingdings" panose="05000000000000000000" pitchFamily="2" charset="2"/>
              <a:buChar char="§"/>
            </a:pPr>
            <a:r>
              <a:rPr lang="es-CO" sz="1800" b="1" dirty="0"/>
              <a:t>Secciones ligadas y listas cruzadas</a:t>
            </a:r>
            <a:r>
              <a:rPr lang="es-CO" sz="1800" dirty="0"/>
              <a:t>: Configurar vínculos entre secciones que comparten contenidos o que se ofertan de manera conjunta.</a:t>
            </a:r>
          </a:p>
          <a:p>
            <a:pPr>
              <a:spcAft>
                <a:spcPts val="1200"/>
              </a:spcAft>
            </a:pPr>
            <a:endParaRPr lang="es-PE" dirty="0"/>
          </a:p>
        </p:txBody>
      </p:sp>
    </p:spTree>
    <p:extLst>
      <p:ext uri="{BB962C8B-B14F-4D97-AF65-F5344CB8AC3E}">
        <p14:creationId xmlns:p14="http://schemas.microsoft.com/office/powerpoint/2010/main" val="329189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500"/>
                                        <p:tgtEl>
                                          <p:spTgt spid="2">
                                            <p:txEl>
                                              <p:pRg st="0" end="0"/>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500"/>
                                        <p:tgtEl>
                                          <p:spTgt spid="2">
                                            <p:txEl>
                                              <p:pRg st="1" end="1"/>
                                            </p:txEl>
                                          </p:spTgt>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fade">
                                      <p:cBhvr>
                                        <p:cTn id="26" dur="500"/>
                                        <p:tgtEl>
                                          <p:spTgt spid="2">
                                            <p:txEl>
                                              <p:pRg st="3" end="3"/>
                                            </p:txEl>
                                          </p:spTgt>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Effect transition="in" filter="fade">
                                      <p:cBhvr>
                                        <p:cTn id="30" dur="500"/>
                                        <p:tgtEl>
                                          <p:spTgt spid="2">
                                            <p:txEl>
                                              <p:pRg st="4" end="4"/>
                                            </p:txEl>
                                          </p:spTgt>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2">
                                            <p:txEl>
                                              <p:pRg st="5" end="5"/>
                                            </p:txEl>
                                          </p:spTgt>
                                        </p:tgtEl>
                                        <p:attrNameLst>
                                          <p:attrName>style.visibility</p:attrName>
                                        </p:attrNameLst>
                                      </p:cBhvr>
                                      <p:to>
                                        <p:strVal val="visible"/>
                                      </p:to>
                                    </p:set>
                                    <p:animEffect transition="in" filter="fade">
                                      <p:cBhvr>
                                        <p:cTn id="34" dur="500"/>
                                        <p:tgtEl>
                                          <p:spTgt spid="2">
                                            <p:txEl>
                                              <p:pRg st="5" end="5"/>
                                            </p:txEl>
                                          </p:spTgt>
                                        </p:tgtEl>
                                      </p:cBhvr>
                                    </p:animEffect>
                                  </p:childTnLst>
                                </p:cTn>
                              </p:par>
                            </p:childTnLst>
                          </p:cTn>
                        </p:par>
                        <p:par>
                          <p:cTn id="35" fill="hold">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2">
                                            <p:txEl>
                                              <p:pRg st="6" end="6"/>
                                            </p:txEl>
                                          </p:spTgt>
                                        </p:tgtEl>
                                        <p:attrNameLst>
                                          <p:attrName>style.visibility</p:attrName>
                                        </p:attrNameLst>
                                      </p:cBhvr>
                                      <p:to>
                                        <p:strVal val="visible"/>
                                      </p:to>
                                    </p:set>
                                    <p:animEffect transition="in" filter="fade">
                                      <p:cBhvr>
                                        <p:cTn id="38" dur="500"/>
                                        <p:tgtEl>
                                          <p:spTgt spid="2">
                                            <p:txEl>
                                              <p:pRg st="6" end="6"/>
                                            </p:txEl>
                                          </p:spTgt>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026830" cy="523220"/>
          </a:xfrm>
          <a:prstGeom prst="rect">
            <a:avLst/>
          </a:prstGeom>
          <a:noFill/>
        </p:spPr>
        <p:txBody>
          <a:bodyPr wrap="none" rtlCol="0">
            <a:spAutoFit/>
          </a:bodyPr>
          <a:lstStyle/>
          <a:p>
            <a:r>
              <a:rPr lang="es-ES" sz="2800" b="1" dirty="0">
                <a:latin typeface="Montserrat" pitchFamily="2" charset="0"/>
              </a:rPr>
              <a:t>REGISTRAR OFERTA HORARIA DE LOS CURSOS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458150" y="241540"/>
            <a:ext cx="27338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CuadroTexto 1">
            <a:extLst>
              <a:ext uri="{FF2B5EF4-FFF2-40B4-BE49-F238E27FC236}">
                <a16:creationId xmlns:a16="http://schemas.microsoft.com/office/drawing/2014/main" id="{D3835BB7-D525-B78D-B54A-137EF0D9EC72}"/>
              </a:ext>
            </a:extLst>
          </p:cNvPr>
          <p:cNvSpPr txBox="1"/>
          <p:nvPr/>
        </p:nvSpPr>
        <p:spPr>
          <a:xfrm>
            <a:off x="431320" y="1399923"/>
            <a:ext cx="11298563" cy="4031873"/>
          </a:xfrm>
          <a:prstGeom prst="rect">
            <a:avLst/>
          </a:prstGeom>
          <a:noFill/>
        </p:spPr>
        <p:txBody>
          <a:bodyPr wrap="square" rtlCol="0">
            <a:spAutoFit/>
          </a:bodyPr>
          <a:lstStyle/>
          <a:p>
            <a:pPr>
              <a:spcAft>
                <a:spcPts val="1200"/>
              </a:spcAft>
            </a:pPr>
            <a:r>
              <a:rPr lang="es-CO" dirty="0"/>
              <a:t>La creación de secciones de cursos en un periodo académico implica:</a:t>
            </a:r>
          </a:p>
          <a:p>
            <a:pPr marL="285750" indent="-285750">
              <a:spcAft>
                <a:spcPts val="1200"/>
              </a:spcAft>
              <a:buClr>
                <a:schemeClr val="accent6"/>
              </a:buClr>
              <a:buFont typeface="Wingdings" panose="05000000000000000000" pitchFamily="2" charset="2"/>
              <a:buChar char="§"/>
            </a:pPr>
            <a:r>
              <a:rPr lang="es-CO" b="1" dirty="0"/>
              <a:t>Definición de características básicas</a:t>
            </a:r>
            <a:r>
              <a:rPr lang="es-CO" dirty="0"/>
              <a:t>: Campus de impartición, fechas de inicio y finalización, horarios, modalidad, así como prerrequisitos, correquisitos y/o restricciones de inscripción.</a:t>
            </a:r>
          </a:p>
          <a:p>
            <a:pPr marL="285750" indent="-285750">
              <a:spcAft>
                <a:spcPts val="1200"/>
              </a:spcAft>
              <a:buClr>
                <a:schemeClr val="accent6"/>
              </a:buClr>
              <a:buFont typeface="Wingdings" panose="05000000000000000000" pitchFamily="2" charset="2"/>
              <a:buChar char="§"/>
            </a:pPr>
            <a:r>
              <a:rPr lang="es-CO" b="1" dirty="0"/>
              <a:t>Identificación mediante NRC</a:t>
            </a:r>
            <a:r>
              <a:rPr lang="es-CO" dirty="0"/>
              <a:t>: Cada sección se representa por un NRC (Número de Referencia de Curso), valor único dentro del periodo académico que permite identificar la programación de una asignatura específica.</a:t>
            </a:r>
          </a:p>
          <a:p>
            <a:pPr marL="285750" indent="-285750">
              <a:spcAft>
                <a:spcPts val="1200"/>
              </a:spcAft>
              <a:buClr>
                <a:schemeClr val="accent6"/>
              </a:buClr>
              <a:buFont typeface="Wingdings" panose="05000000000000000000" pitchFamily="2" charset="2"/>
              <a:buChar char="§"/>
            </a:pPr>
            <a:r>
              <a:rPr lang="es-CO" b="1" dirty="0"/>
              <a:t>Creación en SSASECT</a:t>
            </a:r>
            <a:r>
              <a:rPr lang="es-CO" dirty="0"/>
              <a:t>: Los NRC se generan en el módulo SSASECT, tomando parámetros preestablecidos desde la configuración del catálogo de cursos. Dichos parámetros pueden ser ajustados en caso de requerirse.</a:t>
            </a:r>
          </a:p>
          <a:p>
            <a:pPr marL="285750" indent="-285750">
              <a:spcAft>
                <a:spcPts val="1200"/>
              </a:spcAft>
              <a:buClr>
                <a:schemeClr val="accent6"/>
              </a:buClr>
              <a:buFont typeface="Wingdings" panose="05000000000000000000" pitchFamily="2" charset="2"/>
              <a:buChar char="§"/>
            </a:pPr>
            <a:r>
              <a:rPr lang="es-CO" b="1" dirty="0"/>
              <a:t>Dependencia del catálogo</a:t>
            </a:r>
            <a:r>
              <a:rPr lang="es-CO" dirty="0"/>
              <a:t>: Los NRC se programan con base en las características vigentes de la asignatura al momento de crear la sección. Si se realizan modificaciones posteriores en el catálogo, los NRC ya programados no se ajustarán automáticamente.</a:t>
            </a:r>
          </a:p>
        </p:txBody>
      </p:sp>
    </p:spTree>
    <p:extLst>
      <p:ext uri="{BB962C8B-B14F-4D97-AF65-F5344CB8AC3E}">
        <p14:creationId xmlns:p14="http://schemas.microsoft.com/office/powerpoint/2010/main" val="406195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026830" cy="523220"/>
          </a:xfrm>
          <a:prstGeom prst="rect">
            <a:avLst/>
          </a:prstGeom>
          <a:noFill/>
        </p:spPr>
        <p:txBody>
          <a:bodyPr wrap="none" rtlCol="0">
            <a:spAutoFit/>
          </a:bodyPr>
          <a:lstStyle/>
          <a:p>
            <a:r>
              <a:rPr lang="es-ES" sz="2800" b="1" dirty="0">
                <a:latin typeface="Montserrat" pitchFamily="2" charset="0"/>
              </a:rPr>
              <a:t>REGISTRAR OFERTA HORARIA DE LOS CURSOS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458150" y="241540"/>
            <a:ext cx="27338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5" name="Elipse 4">
            <a:extLst>
              <a:ext uri="{FF2B5EF4-FFF2-40B4-BE49-F238E27FC236}">
                <a16:creationId xmlns:a16="http://schemas.microsoft.com/office/drawing/2014/main" id="{E0F07226-D7DA-DE59-8B77-881CE02CBB4E}"/>
              </a:ext>
            </a:extLst>
          </p:cNvPr>
          <p:cNvSpPr/>
          <p:nvPr/>
        </p:nvSpPr>
        <p:spPr>
          <a:xfrm>
            <a:off x="549304" y="1339819"/>
            <a:ext cx="492912" cy="523220"/>
          </a:xfrm>
          <a:prstGeom prst="ellipse">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s-PE"/>
          </a:p>
        </p:txBody>
      </p:sp>
      <p:sp>
        <p:nvSpPr>
          <p:cNvPr id="10" name="CuadroTexto 9">
            <a:extLst>
              <a:ext uri="{FF2B5EF4-FFF2-40B4-BE49-F238E27FC236}">
                <a16:creationId xmlns:a16="http://schemas.microsoft.com/office/drawing/2014/main" id="{9E7421CC-95D2-797D-DE18-77D80C0AB019}"/>
              </a:ext>
            </a:extLst>
          </p:cNvPr>
          <p:cNvSpPr txBox="1"/>
          <p:nvPr/>
        </p:nvSpPr>
        <p:spPr>
          <a:xfrm>
            <a:off x="431718" y="1928484"/>
            <a:ext cx="728084" cy="369332"/>
          </a:xfrm>
          <a:prstGeom prst="rect">
            <a:avLst/>
          </a:prstGeom>
          <a:noFill/>
        </p:spPr>
        <p:txBody>
          <a:bodyPr wrap="none" rtlCol="0">
            <a:spAutoFit/>
          </a:bodyPr>
          <a:lstStyle/>
          <a:p>
            <a:r>
              <a:rPr lang="es-ES" dirty="0"/>
              <a:t>Inicio</a:t>
            </a:r>
            <a:endParaRPr lang="es-PE" dirty="0"/>
          </a:p>
        </p:txBody>
      </p:sp>
      <p:sp>
        <p:nvSpPr>
          <p:cNvPr id="11" name="Rectángulo: esquinas redondeadas 10">
            <a:extLst>
              <a:ext uri="{FF2B5EF4-FFF2-40B4-BE49-F238E27FC236}">
                <a16:creationId xmlns:a16="http://schemas.microsoft.com/office/drawing/2014/main" id="{5070D876-635D-7E58-4247-B66AC8D39DC3}"/>
              </a:ext>
            </a:extLst>
          </p:cNvPr>
          <p:cNvSpPr/>
          <p:nvPr/>
        </p:nvSpPr>
        <p:spPr>
          <a:xfrm>
            <a:off x="1995948" y="1130710"/>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cxnSp>
        <p:nvCxnSpPr>
          <p:cNvPr id="13" name="Conector recto de flecha 12">
            <a:extLst>
              <a:ext uri="{FF2B5EF4-FFF2-40B4-BE49-F238E27FC236}">
                <a16:creationId xmlns:a16="http://schemas.microsoft.com/office/drawing/2014/main" id="{11D865E5-4ACE-7456-61C5-D83C7A22FD10}"/>
              </a:ext>
            </a:extLst>
          </p:cNvPr>
          <p:cNvCxnSpPr>
            <a:stCxn id="5" idx="6"/>
            <a:endCxn id="11" idx="1"/>
          </p:cNvCxnSpPr>
          <p:nvPr/>
        </p:nvCxnSpPr>
        <p:spPr>
          <a:xfrm flipV="1">
            <a:off x="1042216" y="1597742"/>
            <a:ext cx="953732" cy="368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4" name="CuadroTexto 13">
            <a:extLst>
              <a:ext uri="{FF2B5EF4-FFF2-40B4-BE49-F238E27FC236}">
                <a16:creationId xmlns:a16="http://schemas.microsoft.com/office/drawing/2014/main" id="{12880EFF-3015-A5E7-8897-958E4498813F}"/>
              </a:ext>
            </a:extLst>
          </p:cNvPr>
          <p:cNvSpPr txBox="1"/>
          <p:nvPr/>
        </p:nvSpPr>
        <p:spPr>
          <a:xfrm>
            <a:off x="2035276" y="1228410"/>
            <a:ext cx="2123767" cy="738664"/>
          </a:xfrm>
          <a:prstGeom prst="rect">
            <a:avLst/>
          </a:prstGeom>
          <a:noFill/>
        </p:spPr>
        <p:txBody>
          <a:bodyPr wrap="square" rtlCol="0">
            <a:spAutoFit/>
          </a:bodyPr>
          <a:lstStyle/>
          <a:p>
            <a:pPr algn="ctr"/>
            <a:r>
              <a:rPr lang="es-ES" sz="1400" dirty="0"/>
              <a:t>Habilitación del periodo de programación académica (</a:t>
            </a:r>
            <a:r>
              <a:rPr lang="es-ES" sz="1400" b="1" dirty="0">
                <a:solidFill>
                  <a:schemeClr val="accent5"/>
                </a:solidFill>
              </a:rPr>
              <a:t>SOATERM</a:t>
            </a:r>
            <a:r>
              <a:rPr lang="es-ES" sz="1400" dirty="0"/>
              <a:t>)</a:t>
            </a:r>
            <a:endParaRPr lang="es-PE" sz="1400" dirty="0"/>
          </a:p>
        </p:txBody>
      </p:sp>
      <p:sp>
        <p:nvSpPr>
          <p:cNvPr id="15" name="CuadroTexto 14">
            <a:extLst>
              <a:ext uri="{FF2B5EF4-FFF2-40B4-BE49-F238E27FC236}">
                <a16:creationId xmlns:a16="http://schemas.microsoft.com/office/drawing/2014/main" id="{1DF2C799-55A4-F25A-7D00-A37895413C06}"/>
              </a:ext>
            </a:extLst>
          </p:cNvPr>
          <p:cNvSpPr txBox="1"/>
          <p:nvPr/>
        </p:nvSpPr>
        <p:spPr>
          <a:xfrm>
            <a:off x="2035275" y="2173406"/>
            <a:ext cx="2123767" cy="461665"/>
          </a:xfrm>
          <a:prstGeom prst="rect">
            <a:avLst/>
          </a:prstGeom>
          <a:noFill/>
        </p:spPr>
        <p:txBody>
          <a:bodyPr wrap="square" rtlCol="0">
            <a:spAutoFit/>
          </a:bodyPr>
          <a:lstStyle/>
          <a:p>
            <a:pPr algn="ctr"/>
            <a:r>
              <a:rPr lang="es-ES" sz="1200" b="1" i="1" dirty="0"/>
              <a:t>Ver Tutorial</a:t>
            </a:r>
          </a:p>
          <a:p>
            <a:pPr algn="ctr"/>
            <a:r>
              <a:rPr lang="es-ES" sz="1200" b="1" i="1" dirty="0"/>
              <a:t>1. Periodos Académicos</a:t>
            </a:r>
            <a:endParaRPr lang="es-PE" sz="1200" b="1" i="1" dirty="0"/>
          </a:p>
        </p:txBody>
      </p:sp>
      <p:sp>
        <p:nvSpPr>
          <p:cNvPr id="16" name="Rectángulo: esquinas redondeadas 15">
            <a:extLst>
              <a:ext uri="{FF2B5EF4-FFF2-40B4-BE49-F238E27FC236}">
                <a16:creationId xmlns:a16="http://schemas.microsoft.com/office/drawing/2014/main" id="{9F539C1C-ACA0-CE88-7625-AE9C4029813A}"/>
              </a:ext>
            </a:extLst>
          </p:cNvPr>
          <p:cNvSpPr/>
          <p:nvPr/>
        </p:nvSpPr>
        <p:spPr>
          <a:xfrm>
            <a:off x="4986657" y="1130710"/>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18" name="Rectángulo: esquinas redondeadas 17">
            <a:extLst>
              <a:ext uri="{FF2B5EF4-FFF2-40B4-BE49-F238E27FC236}">
                <a16:creationId xmlns:a16="http://schemas.microsoft.com/office/drawing/2014/main" id="{7B254C23-7F14-1827-1968-CC4B891577B0}"/>
              </a:ext>
            </a:extLst>
          </p:cNvPr>
          <p:cNvSpPr/>
          <p:nvPr/>
        </p:nvSpPr>
        <p:spPr>
          <a:xfrm>
            <a:off x="7983799" y="1114119"/>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19" name="CuadroTexto 18">
            <a:extLst>
              <a:ext uri="{FF2B5EF4-FFF2-40B4-BE49-F238E27FC236}">
                <a16:creationId xmlns:a16="http://schemas.microsoft.com/office/drawing/2014/main" id="{DD1A0331-4215-D51E-BA51-7206DD1FD1D8}"/>
              </a:ext>
            </a:extLst>
          </p:cNvPr>
          <p:cNvSpPr txBox="1"/>
          <p:nvPr/>
        </p:nvSpPr>
        <p:spPr>
          <a:xfrm>
            <a:off x="7983796" y="1321260"/>
            <a:ext cx="2212258" cy="523220"/>
          </a:xfrm>
          <a:prstGeom prst="rect">
            <a:avLst/>
          </a:prstGeom>
          <a:noFill/>
        </p:spPr>
        <p:txBody>
          <a:bodyPr wrap="square" rtlCol="0">
            <a:spAutoFit/>
          </a:bodyPr>
          <a:lstStyle/>
          <a:p>
            <a:pPr algn="ctr"/>
            <a:r>
              <a:rPr lang="es-ES" sz="1400" dirty="0"/>
              <a:t>Definir cupos disponibles  (</a:t>
            </a:r>
            <a:r>
              <a:rPr lang="es-ES" sz="1400" b="1" dirty="0">
                <a:solidFill>
                  <a:schemeClr val="accent5"/>
                </a:solidFill>
              </a:rPr>
              <a:t>SSASECT</a:t>
            </a:r>
            <a:r>
              <a:rPr lang="es-ES" sz="1400" dirty="0"/>
              <a:t>)</a:t>
            </a:r>
            <a:endParaRPr lang="es-PE" sz="1400" dirty="0"/>
          </a:p>
        </p:txBody>
      </p:sp>
      <p:cxnSp>
        <p:nvCxnSpPr>
          <p:cNvPr id="23" name="Conector recto de flecha 22">
            <a:extLst>
              <a:ext uri="{FF2B5EF4-FFF2-40B4-BE49-F238E27FC236}">
                <a16:creationId xmlns:a16="http://schemas.microsoft.com/office/drawing/2014/main" id="{8BB0030A-6090-4766-78A7-B941D0D3B664}"/>
              </a:ext>
            </a:extLst>
          </p:cNvPr>
          <p:cNvCxnSpPr>
            <a:cxnSpLocks/>
            <a:stCxn id="11" idx="3"/>
            <a:endCxn id="16" idx="1"/>
          </p:cNvCxnSpPr>
          <p:nvPr/>
        </p:nvCxnSpPr>
        <p:spPr>
          <a:xfrm>
            <a:off x="4208206" y="1597742"/>
            <a:ext cx="778451"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5" name="Conector recto de flecha 24">
            <a:extLst>
              <a:ext uri="{FF2B5EF4-FFF2-40B4-BE49-F238E27FC236}">
                <a16:creationId xmlns:a16="http://schemas.microsoft.com/office/drawing/2014/main" id="{BFE3D0FD-BAD0-0753-641C-C9301D64BA01}"/>
              </a:ext>
            </a:extLst>
          </p:cNvPr>
          <p:cNvCxnSpPr>
            <a:cxnSpLocks/>
            <a:stCxn id="16" idx="3"/>
            <a:endCxn id="19" idx="1"/>
          </p:cNvCxnSpPr>
          <p:nvPr/>
        </p:nvCxnSpPr>
        <p:spPr>
          <a:xfrm flipV="1">
            <a:off x="7198915" y="1582870"/>
            <a:ext cx="784881" cy="14872"/>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7" name="CuadroTexto 16">
            <a:extLst>
              <a:ext uri="{FF2B5EF4-FFF2-40B4-BE49-F238E27FC236}">
                <a16:creationId xmlns:a16="http://schemas.microsoft.com/office/drawing/2014/main" id="{D528394E-34DF-ED2C-8365-CF16A198EF88}"/>
              </a:ext>
            </a:extLst>
          </p:cNvPr>
          <p:cNvSpPr txBox="1"/>
          <p:nvPr/>
        </p:nvSpPr>
        <p:spPr>
          <a:xfrm>
            <a:off x="4905899" y="1229649"/>
            <a:ext cx="2360140" cy="738664"/>
          </a:xfrm>
          <a:prstGeom prst="rect">
            <a:avLst/>
          </a:prstGeom>
          <a:noFill/>
        </p:spPr>
        <p:txBody>
          <a:bodyPr wrap="square" rtlCol="0">
            <a:spAutoFit/>
          </a:bodyPr>
          <a:lstStyle/>
          <a:p>
            <a:pPr algn="ctr"/>
            <a:r>
              <a:rPr lang="es-ES" sz="1400" dirty="0"/>
              <a:t>Creación de NRC definiendo características básicas  (</a:t>
            </a:r>
            <a:r>
              <a:rPr lang="es-ES" sz="1400" b="1" dirty="0">
                <a:solidFill>
                  <a:schemeClr val="accent5"/>
                </a:solidFill>
              </a:rPr>
              <a:t>SSASECT</a:t>
            </a:r>
            <a:r>
              <a:rPr lang="es-ES" sz="1400" dirty="0"/>
              <a:t>)</a:t>
            </a:r>
            <a:endParaRPr lang="es-PE" sz="1400" dirty="0"/>
          </a:p>
        </p:txBody>
      </p:sp>
      <p:sp>
        <p:nvSpPr>
          <p:cNvPr id="40" name="Rectángulo: esquinas redondeadas 39">
            <a:extLst>
              <a:ext uri="{FF2B5EF4-FFF2-40B4-BE49-F238E27FC236}">
                <a16:creationId xmlns:a16="http://schemas.microsoft.com/office/drawing/2014/main" id="{0EF220E9-53C1-9E23-0932-95E73BE286DD}"/>
              </a:ext>
            </a:extLst>
          </p:cNvPr>
          <p:cNvSpPr/>
          <p:nvPr/>
        </p:nvSpPr>
        <p:spPr>
          <a:xfrm>
            <a:off x="9458153" y="2864658"/>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41" name="CuadroTexto 40">
            <a:extLst>
              <a:ext uri="{FF2B5EF4-FFF2-40B4-BE49-F238E27FC236}">
                <a16:creationId xmlns:a16="http://schemas.microsoft.com/office/drawing/2014/main" id="{7E1A9658-8C29-4B14-4205-EC14FCA169C1}"/>
              </a:ext>
            </a:extLst>
          </p:cNvPr>
          <p:cNvSpPr txBox="1"/>
          <p:nvPr/>
        </p:nvSpPr>
        <p:spPr>
          <a:xfrm>
            <a:off x="9458150" y="2963647"/>
            <a:ext cx="2212258" cy="738664"/>
          </a:xfrm>
          <a:prstGeom prst="rect">
            <a:avLst/>
          </a:prstGeom>
          <a:noFill/>
        </p:spPr>
        <p:txBody>
          <a:bodyPr wrap="square" rtlCol="0">
            <a:spAutoFit/>
          </a:bodyPr>
          <a:lstStyle/>
          <a:p>
            <a:pPr algn="ctr"/>
            <a:r>
              <a:rPr lang="es-ES" sz="1400" dirty="0"/>
              <a:t>Definir horario de impartición y docente (</a:t>
            </a:r>
            <a:r>
              <a:rPr lang="es-ES" sz="1400" b="1" dirty="0">
                <a:solidFill>
                  <a:schemeClr val="accent5"/>
                </a:solidFill>
              </a:rPr>
              <a:t>SSASECT</a:t>
            </a:r>
            <a:r>
              <a:rPr lang="es-ES" sz="1400" dirty="0"/>
              <a:t>)</a:t>
            </a:r>
            <a:endParaRPr lang="es-PE" sz="1400" dirty="0"/>
          </a:p>
        </p:txBody>
      </p:sp>
      <p:sp>
        <p:nvSpPr>
          <p:cNvPr id="42" name="Rectángulo: esquinas redondeadas 41">
            <a:extLst>
              <a:ext uri="{FF2B5EF4-FFF2-40B4-BE49-F238E27FC236}">
                <a16:creationId xmlns:a16="http://schemas.microsoft.com/office/drawing/2014/main" id="{A3621E49-7181-6D44-7CB7-B088D989E5DB}"/>
              </a:ext>
            </a:extLst>
          </p:cNvPr>
          <p:cNvSpPr/>
          <p:nvPr/>
        </p:nvSpPr>
        <p:spPr>
          <a:xfrm>
            <a:off x="7557076" y="4708694"/>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43" name="CuadroTexto 42">
            <a:extLst>
              <a:ext uri="{FF2B5EF4-FFF2-40B4-BE49-F238E27FC236}">
                <a16:creationId xmlns:a16="http://schemas.microsoft.com/office/drawing/2014/main" id="{03D22F79-0793-A7B5-3818-A6641C1852D7}"/>
              </a:ext>
            </a:extLst>
          </p:cNvPr>
          <p:cNvSpPr txBox="1"/>
          <p:nvPr/>
        </p:nvSpPr>
        <p:spPr>
          <a:xfrm>
            <a:off x="7601321" y="4912397"/>
            <a:ext cx="2123767" cy="523220"/>
          </a:xfrm>
          <a:prstGeom prst="rect">
            <a:avLst/>
          </a:prstGeom>
          <a:noFill/>
        </p:spPr>
        <p:txBody>
          <a:bodyPr wrap="square" rtlCol="0">
            <a:spAutoFit/>
          </a:bodyPr>
          <a:lstStyle/>
          <a:p>
            <a:pPr algn="ctr"/>
            <a:r>
              <a:rPr lang="es-ES" sz="1400" dirty="0"/>
              <a:t>Crear ligas</a:t>
            </a:r>
          </a:p>
          <a:p>
            <a:pPr algn="ctr"/>
            <a:r>
              <a:rPr lang="es-ES" sz="1400" dirty="0"/>
              <a:t> (</a:t>
            </a:r>
            <a:r>
              <a:rPr lang="es-ES" sz="1400" b="1" dirty="0">
                <a:solidFill>
                  <a:schemeClr val="accent5"/>
                </a:solidFill>
              </a:rPr>
              <a:t>SSADETL</a:t>
            </a:r>
            <a:r>
              <a:rPr lang="es-ES" sz="1400" dirty="0"/>
              <a:t>)</a:t>
            </a:r>
            <a:endParaRPr lang="es-PE" sz="1400" dirty="0"/>
          </a:p>
        </p:txBody>
      </p:sp>
      <p:sp>
        <p:nvSpPr>
          <p:cNvPr id="46" name="Rectángulo: esquinas redondeadas 45">
            <a:extLst>
              <a:ext uri="{FF2B5EF4-FFF2-40B4-BE49-F238E27FC236}">
                <a16:creationId xmlns:a16="http://schemas.microsoft.com/office/drawing/2014/main" id="{14C6C3FB-550C-EE74-60BA-A72EE470EC93}"/>
              </a:ext>
            </a:extLst>
          </p:cNvPr>
          <p:cNvSpPr/>
          <p:nvPr/>
        </p:nvSpPr>
        <p:spPr>
          <a:xfrm>
            <a:off x="3303632" y="4709289"/>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47" name="CuadroTexto 46">
            <a:extLst>
              <a:ext uri="{FF2B5EF4-FFF2-40B4-BE49-F238E27FC236}">
                <a16:creationId xmlns:a16="http://schemas.microsoft.com/office/drawing/2014/main" id="{CDB53553-FC90-4F11-B65A-0B59D6816223}"/>
              </a:ext>
            </a:extLst>
          </p:cNvPr>
          <p:cNvSpPr txBox="1"/>
          <p:nvPr/>
        </p:nvSpPr>
        <p:spPr>
          <a:xfrm>
            <a:off x="3342963" y="4808278"/>
            <a:ext cx="2123767" cy="738664"/>
          </a:xfrm>
          <a:prstGeom prst="rect">
            <a:avLst/>
          </a:prstGeom>
          <a:noFill/>
        </p:spPr>
        <p:txBody>
          <a:bodyPr wrap="square" rtlCol="0">
            <a:spAutoFit/>
          </a:bodyPr>
          <a:lstStyle/>
          <a:p>
            <a:pPr algn="ctr"/>
            <a:r>
              <a:rPr lang="es-ES" sz="1400" dirty="0"/>
              <a:t>Definir restricciones de inscripción a nivel de sección (</a:t>
            </a:r>
            <a:r>
              <a:rPr lang="es-ES" sz="1400" b="1" dirty="0">
                <a:solidFill>
                  <a:schemeClr val="accent5"/>
                </a:solidFill>
              </a:rPr>
              <a:t>SSARRES</a:t>
            </a:r>
            <a:r>
              <a:rPr lang="es-ES" sz="1400" dirty="0"/>
              <a:t>)</a:t>
            </a:r>
            <a:endParaRPr lang="es-PE" sz="1400" dirty="0"/>
          </a:p>
        </p:txBody>
      </p:sp>
      <p:sp>
        <p:nvSpPr>
          <p:cNvPr id="48" name="Elipse 47">
            <a:extLst>
              <a:ext uri="{FF2B5EF4-FFF2-40B4-BE49-F238E27FC236}">
                <a16:creationId xmlns:a16="http://schemas.microsoft.com/office/drawing/2014/main" id="{3A987457-B0D7-77C9-3C21-D40B9CC6FB57}"/>
              </a:ext>
            </a:extLst>
          </p:cNvPr>
          <p:cNvSpPr/>
          <p:nvPr/>
        </p:nvSpPr>
        <p:spPr>
          <a:xfrm>
            <a:off x="1860405" y="4908028"/>
            <a:ext cx="492912" cy="523220"/>
          </a:xfrm>
          <a:prstGeom prst="ellipse">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s-PE"/>
          </a:p>
        </p:txBody>
      </p:sp>
      <p:sp>
        <p:nvSpPr>
          <p:cNvPr id="49" name="CuadroTexto 48">
            <a:extLst>
              <a:ext uri="{FF2B5EF4-FFF2-40B4-BE49-F238E27FC236}">
                <a16:creationId xmlns:a16="http://schemas.microsoft.com/office/drawing/2014/main" id="{D4B6E7DB-762E-113C-3073-B187DE1E0EFD}"/>
              </a:ext>
            </a:extLst>
          </p:cNvPr>
          <p:cNvSpPr txBox="1"/>
          <p:nvPr/>
        </p:nvSpPr>
        <p:spPr>
          <a:xfrm>
            <a:off x="1870635" y="5555685"/>
            <a:ext cx="484172" cy="369332"/>
          </a:xfrm>
          <a:prstGeom prst="rect">
            <a:avLst/>
          </a:prstGeom>
          <a:noFill/>
        </p:spPr>
        <p:txBody>
          <a:bodyPr wrap="none" rtlCol="0">
            <a:spAutoFit/>
          </a:bodyPr>
          <a:lstStyle/>
          <a:p>
            <a:r>
              <a:rPr lang="es-ES" dirty="0"/>
              <a:t>Fin</a:t>
            </a:r>
            <a:endParaRPr lang="es-PE" dirty="0"/>
          </a:p>
        </p:txBody>
      </p:sp>
      <p:cxnSp>
        <p:nvCxnSpPr>
          <p:cNvPr id="51" name="Conector: angular 50">
            <a:extLst>
              <a:ext uri="{FF2B5EF4-FFF2-40B4-BE49-F238E27FC236}">
                <a16:creationId xmlns:a16="http://schemas.microsoft.com/office/drawing/2014/main" id="{25688D56-FCB5-97B4-B66A-E54E8570FA1D}"/>
              </a:ext>
            </a:extLst>
          </p:cNvPr>
          <p:cNvCxnSpPr>
            <a:stCxn id="18" idx="3"/>
            <a:endCxn id="40" idx="0"/>
          </p:cNvCxnSpPr>
          <p:nvPr/>
        </p:nvCxnSpPr>
        <p:spPr>
          <a:xfrm>
            <a:off x="10196057" y="1581151"/>
            <a:ext cx="368225" cy="1283507"/>
          </a:xfrm>
          <a:prstGeom prst="bentConnector2">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3" name="Conector: angular 52">
            <a:extLst>
              <a:ext uri="{FF2B5EF4-FFF2-40B4-BE49-F238E27FC236}">
                <a16:creationId xmlns:a16="http://schemas.microsoft.com/office/drawing/2014/main" id="{2499214E-0E69-562C-6C15-81762BAC0EF1}"/>
              </a:ext>
            </a:extLst>
          </p:cNvPr>
          <p:cNvCxnSpPr>
            <a:cxnSpLocks/>
            <a:stCxn id="40" idx="2"/>
            <a:endCxn id="42" idx="3"/>
          </p:cNvCxnSpPr>
          <p:nvPr/>
        </p:nvCxnSpPr>
        <p:spPr>
          <a:xfrm rot="5400000">
            <a:off x="9478306" y="4089750"/>
            <a:ext cx="1377004" cy="794948"/>
          </a:xfrm>
          <a:prstGeom prst="bentConnector2">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6" name="Conector recto de flecha 55">
            <a:extLst>
              <a:ext uri="{FF2B5EF4-FFF2-40B4-BE49-F238E27FC236}">
                <a16:creationId xmlns:a16="http://schemas.microsoft.com/office/drawing/2014/main" id="{AC3BDC73-6872-2E01-0A42-CC3D2781F64B}"/>
              </a:ext>
            </a:extLst>
          </p:cNvPr>
          <p:cNvCxnSpPr>
            <a:cxnSpLocks/>
            <a:stCxn id="42" idx="1"/>
            <a:endCxn id="46" idx="3"/>
          </p:cNvCxnSpPr>
          <p:nvPr/>
        </p:nvCxnSpPr>
        <p:spPr>
          <a:xfrm flipH="1">
            <a:off x="5515890" y="5175726"/>
            <a:ext cx="2041186" cy="59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70" name="Conector recto de flecha 69">
            <a:extLst>
              <a:ext uri="{FF2B5EF4-FFF2-40B4-BE49-F238E27FC236}">
                <a16:creationId xmlns:a16="http://schemas.microsoft.com/office/drawing/2014/main" id="{FCFEF2D9-76D0-DC01-5C00-280704290EF4}"/>
              </a:ext>
            </a:extLst>
          </p:cNvPr>
          <p:cNvCxnSpPr>
            <a:stCxn id="46" idx="1"/>
            <a:endCxn id="48" idx="6"/>
          </p:cNvCxnSpPr>
          <p:nvPr/>
        </p:nvCxnSpPr>
        <p:spPr>
          <a:xfrm flipH="1" flipV="1">
            <a:off x="2353317" y="5169638"/>
            <a:ext cx="950315" cy="668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9" name="Conector: angular 8">
            <a:extLst>
              <a:ext uri="{FF2B5EF4-FFF2-40B4-BE49-F238E27FC236}">
                <a16:creationId xmlns:a16="http://schemas.microsoft.com/office/drawing/2014/main" id="{FCC0824A-0BEF-87D2-818B-AF6979906AA7}"/>
              </a:ext>
            </a:extLst>
          </p:cNvPr>
          <p:cNvCxnSpPr>
            <a:cxnSpLocks/>
          </p:cNvCxnSpPr>
          <p:nvPr/>
        </p:nvCxnSpPr>
        <p:spPr>
          <a:xfrm rot="10800000" flipV="1">
            <a:off x="6813755" y="4286862"/>
            <a:ext cx="3750524" cy="882775"/>
          </a:xfrm>
          <a:prstGeom prst="bentConnector3">
            <a:avLst>
              <a:gd name="adj1" fmla="val 100334"/>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188580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1500"/>
                            </p:stCondLst>
                            <p:childTnLst>
                              <p:par>
                                <p:cTn id="25" presetID="21" presetClass="entr" presetSubtype="1"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heel(1)">
                                      <p:cBhvr>
                                        <p:cTn id="27" dur="10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par>
                          <p:cTn id="31" fill="hold">
                            <p:stCondLst>
                              <p:cond delay="2500"/>
                            </p:stCondLst>
                            <p:childTnLst>
                              <p:par>
                                <p:cTn id="32" presetID="53" presetClass="entr" presetSubtype="16"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p:cTn id="34" dur="500" fill="hold"/>
                                        <p:tgtEl>
                                          <p:spTgt spid="15"/>
                                        </p:tgtEl>
                                        <p:attrNameLst>
                                          <p:attrName>ppt_w</p:attrName>
                                        </p:attrNameLst>
                                      </p:cBhvr>
                                      <p:tavLst>
                                        <p:tav tm="0">
                                          <p:val>
                                            <p:fltVal val="0"/>
                                          </p:val>
                                        </p:tav>
                                        <p:tav tm="100000">
                                          <p:val>
                                            <p:strVal val="#ppt_w"/>
                                          </p:val>
                                        </p:tav>
                                      </p:tavLst>
                                    </p:anim>
                                    <p:anim calcmode="lin" valueType="num">
                                      <p:cBhvr>
                                        <p:cTn id="35" dur="500" fill="hold"/>
                                        <p:tgtEl>
                                          <p:spTgt spid="15"/>
                                        </p:tgtEl>
                                        <p:attrNameLst>
                                          <p:attrName>ppt_h</p:attrName>
                                        </p:attrNameLst>
                                      </p:cBhvr>
                                      <p:tavLst>
                                        <p:tav tm="0">
                                          <p:val>
                                            <p:fltVal val="0"/>
                                          </p:val>
                                        </p:tav>
                                        <p:tav tm="100000">
                                          <p:val>
                                            <p:strVal val="#ppt_h"/>
                                          </p:val>
                                        </p:tav>
                                      </p:tavLst>
                                    </p:anim>
                                    <p:animEffect transition="in" filter="fade">
                                      <p:cBhvr>
                                        <p:cTn id="36" dur="500"/>
                                        <p:tgtEl>
                                          <p:spTgt spid="15"/>
                                        </p:tgtEl>
                                      </p:cBhvr>
                                    </p:animEffect>
                                  </p:childTnLst>
                                </p:cTn>
                              </p:par>
                            </p:childTnLst>
                          </p:cTn>
                        </p:par>
                        <p:par>
                          <p:cTn id="37" fill="hold">
                            <p:stCondLst>
                              <p:cond delay="3000"/>
                            </p:stCondLst>
                            <p:childTnLst>
                              <p:par>
                                <p:cTn id="38" presetID="22" presetClass="entr" presetSubtype="8" fill="hold"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childTnLst>
                          </p:cTn>
                        </p:par>
                        <p:par>
                          <p:cTn id="41" fill="hold">
                            <p:stCondLst>
                              <p:cond delay="3500"/>
                            </p:stCondLst>
                            <p:childTnLst>
                              <p:par>
                                <p:cTn id="42" presetID="21" presetClass="entr" presetSubtype="1"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heel(1)">
                                      <p:cBhvr>
                                        <p:cTn id="44" dur="10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par>
                          <p:cTn id="48" fill="hold">
                            <p:stCondLst>
                              <p:cond delay="4500"/>
                            </p:stCondLst>
                            <p:childTnLst>
                              <p:par>
                                <p:cTn id="49" presetID="22" presetClass="entr" presetSubtype="8"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childTnLst>
                          </p:cTn>
                        </p:par>
                        <p:par>
                          <p:cTn id="52" fill="hold">
                            <p:stCondLst>
                              <p:cond delay="5000"/>
                            </p:stCondLst>
                            <p:childTnLst>
                              <p:par>
                                <p:cTn id="53" presetID="21" presetClass="entr" presetSubtype="1"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heel(1)">
                                      <p:cBhvr>
                                        <p:cTn id="55" dur="10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par>
                          <p:cTn id="59" fill="hold">
                            <p:stCondLst>
                              <p:cond delay="6000"/>
                            </p:stCondLst>
                            <p:childTnLst>
                              <p:par>
                                <p:cTn id="60" presetID="22" presetClass="entr" presetSubtype="1" fill="hold" nodeType="after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wipe(up)">
                                      <p:cBhvr>
                                        <p:cTn id="62" dur="500"/>
                                        <p:tgtEl>
                                          <p:spTgt spid="51"/>
                                        </p:tgtEl>
                                      </p:cBhvr>
                                    </p:animEffect>
                                  </p:childTnLst>
                                </p:cTn>
                              </p:par>
                            </p:childTnLst>
                          </p:cTn>
                        </p:par>
                        <p:par>
                          <p:cTn id="63" fill="hold">
                            <p:stCondLst>
                              <p:cond delay="6500"/>
                            </p:stCondLst>
                            <p:childTnLst>
                              <p:par>
                                <p:cTn id="64" presetID="21" presetClass="entr" presetSubtype="1" fill="hold" grpId="0" nodeType="after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heel(1)">
                                      <p:cBhvr>
                                        <p:cTn id="66" dur="10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500"/>
                                        <p:tgtEl>
                                          <p:spTgt spid="41"/>
                                        </p:tgtEl>
                                      </p:cBhvr>
                                    </p:animEffect>
                                  </p:childTnLst>
                                </p:cTn>
                              </p:par>
                            </p:childTnLst>
                          </p:cTn>
                        </p:par>
                        <p:par>
                          <p:cTn id="70" fill="hold">
                            <p:stCondLst>
                              <p:cond delay="7500"/>
                            </p:stCondLst>
                            <p:childTnLst>
                              <p:par>
                                <p:cTn id="71" presetID="22" presetClass="entr" presetSubtype="1" fill="hold" nodeType="after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wipe(up)">
                                      <p:cBhvr>
                                        <p:cTn id="73" dur="500"/>
                                        <p:tgtEl>
                                          <p:spTgt spid="53"/>
                                        </p:tgtEl>
                                      </p:cBhvr>
                                    </p:animEffect>
                                  </p:childTnLst>
                                </p:cTn>
                              </p:par>
                            </p:childTnLst>
                          </p:cTn>
                        </p:par>
                        <p:par>
                          <p:cTn id="74" fill="hold">
                            <p:stCondLst>
                              <p:cond delay="8000"/>
                            </p:stCondLst>
                            <p:childTnLst>
                              <p:par>
                                <p:cTn id="75" presetID="21" presetClass="entr" presetSubtype="1" fill="hold" grpId="0" nodeType="after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heel(1)">
                                      <p:cBhvr>
                                        <p:cTn id="77" dur="1000"/>
                                        <p:tgtEl>
                                          <p:spTgt spid="4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500"/>
                                        <p:tgtEl>
                                          <p:spTgt spid="43"/>
                                        </p:tgtEl>
                                      </p:cBhvr>
                                    </p:animEffect>
                                  </p:childTnLst>
                                </p:cTn>
                              </p:par>
                            </p:childTnLst>
                          </p:cTn>
                        </p:par>
                        <p:par>
                          <p:cTn id="81" fill="hold">
                            <p:stCondLst>
                              <p:cond delay="9000"/>
                            </p:stCondLst>
                            <p:childTnLst>
                              <p:par>
                                <p:cTn id="82" presetID="22" presetClass="entr" presetSubtype="2" fill="hold" nodeType="afterEffect">
                                  <p:stCondLst>
                                    <p:cond delay="0"/>
                                  </p:stCondLst>
                                  <p:childTnLst>
                                    <p:set>
                                      <p:cBhvr>
                                        <p:cTn id="83" dur="1" fill="hold">
                                          <p:stCondLst>
                                            <p:cond delay="0"/>
                                          </p:stCondLst>
                                        </p:cTn>
                                        <p:tgtEl>
                                          <p:spTgt spid="9"/>
                                        </p:tgtEl>
                                        <p:attrNameLst>
                                          <p:attrName>style.visibility</p:attrName>
                                        </p:attrNameLst>
                                      </p:cBhvr>
                                      <p:to>
                                        <p:strVal val="visible"/>
                                      </p:to>
                                    </p:set>
                                    <p:animEffect transition="in" filter="wipe(right)">
                                      <p:cBhvr>
                                        <p:cTn id="84" dur="500"/>
                                        <p:tgtEl>
                                          <p:spTgt spid="9"/>
                                        </p:tgtEl>
                                      </p:cBhvr>
                                    </p:animEffect>
                                  </p:childTnLst>
                                </p:cTn>
                              </p:par>
                            </p:childTnLst>
                          </p:cTn>
                        </p:par>
                        <p:par>
                          <p:cTn id="85" fill="hold">
                            <p:stCondLst>
                              <p:cond delay="9500"/>
                            </p:stCondLst>
                            <p:childTnLst>
                              <p:par>
                                <p:cTn id="86" presetID="22" presetClass="entr" presetSubtype="2" fill="hold" nodeType="afterEffect">
                                  <p:stCondLst>
                                    <p:cond delay="0"/>
                                  </p:stCondLst>
                                  <p:childTnLst>
                                    <p:set>
                                      <p:cBhvr>
                                        <p:cTn id="87" dur="1" fill="hold">
                                          <p:stCondLst>
                                            <p:cond delay="0"/>
                                          </p:stCondLst>
                                        </p:cTn>
                                        <p:tgtEl>
                                          <p:spTgt spid="56"/>
                                        </p:tgtEl>
                                        <p:attrNameLst>
                                          <p:attrName>style.visibility</p:attrName>
                                        </p:attrNameLst>
                                      </p:cBhvr>
                                      <p:to>
                                        <p:strVal val="visible"/>
                                      </p:to>
                                    </p:set>
                                    <p:animEffect transition="in" filter="wipe(right)">
                                      <p:cBhvr>
                                        <p:cTn id="88" dur="500"/>
                                        <p:tgtEl>
                                          <p:spTgt spid="56"/>
                                        </p:tgtEl>
                                      </p:cBhvr>
                                    </p:animEffect>
                                  </p:childTnLst>
                                </p:cTn>
                              </p:par>
                            </p:childTnLst>
                          </p:cTn>
                        </p:par>
                        <p:par>
                          <p:cTn id="89" fill="hold">
                            <p:stCondLst>
                              <p:cond delay="10000"/>
                            </p:stCondLst>
                            <p:childTnLst>
                              <p:par>
                                <p:cTn id="90" presetID="21" presetClass="entr" presetSubtype="1" fill="hold" grpId="0" nodeType="after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wheel(1)">
                                      <p:cBhvr>
                                        <p:cTn id="92" dur="10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500"/>
                                        <p:tgtEl>
                                          <p:spTgt spid="47"/>
                                        </p:tgtEl>
                                      </p:cBhvr>
                                    </p:animEffect>
                                  </p:childTnLst>
                                </p:cTn>
                              </p:par>
                            </p:childTnLst>
                          </p:cTn>
                        </p:par>
                        <p:par>
                          <p:cTn id="96" fill="hold">
                            <p:stCondLst>
                              <p:cond delay="11000"/>
                            </p:stCondLst>
                            <p:childTnLst>
                              <p:par>
                                <p:cTn id="97" presetID="22" presetClass="entr" presetSubtype="2" fill="hold" nodeType="afterEffect">
                                  <p:stCondLst>
                                    <p:cond delay="0"/>
                                  </p:stCondLst>
                                  <p:childTnLst>
                                    <p:set>
                                      <p:cBhvr>
                                        <p:cTn id="98" dur="1" fill="hold">
                                          <p:stCondLst>
                                            <p:cond delay="0"/>
                                          </p:stCondLst>
                                        </p:cTn>
                                        <p:tgtEl>
                                          <p:spTgt spid="70"/>
                                        </p:tgtEl>
                                        <p:attrNameLst>
                                          <p:attrName>style.visibility</p:attrName>
                                        </p:attrNameLst>
                                      </p:cBhvr>
                                      <p:to>
                                        <p:strVal val="visible"/>
                                      </p:to>
                                    </p:set>
                                    <p:animEffect transition="in" filter="wipe(right)">
                                      <p:cBhvr>
                                        <p:cTn id="99" dur="500"/>
                                        <p:tgtEl>
                                          <p:spTgt spid="70"/>
                                        </p:tgtEl>
                                      </p:cBhvr>
                                    </p:animEffect>
                                  </p:childTnLst>
                                </p:cTn>
                              </p:par>
                            </p:childTnLst>
                          </p:cTn>
                        </p:par>
                        <p:par>
                          <p:cTn id="100" fill="hold">
                            <p:stCondLst>
                              <p:cond delay="11500"/>
                            </p:stCondLst>
                            <p:childTnLst>
                              <p:par>
                                <p:cTn id="101" presetID="53" presetClass="entr" presetSubtype="16" fill="hold" grpId="0" nodeType="afterEffect">
                                  <p:stCondLst>
                                    <p:cond delay="0"/>
                                  </p:stCondLst>
                                  <p:childTnLst>
                                    <p:set>
                                      <p:cBhvr>
                                        <p:cTn id="102" dur="1" fill="hold">
                                          <p:stCondLst>
                                            <p:cond delay="0"/>
                                          </p:stCondLst>
                                        </p:cTn>
                                        <p:tgtEl>
                                          <p:spTgt spid="48"/>
                                        </p:tgtEl>
                                        <p:attrNameLst>
                                          <p:attrName>style.visibility</p:attrName>
                                        </p:attrNameLst>
                                      </p:cBhvr>
                                      <p:to>
                                        <p:strVal val="visible"/>
                                      </p:to>
                                    </p:set>
                                    <p:anim calcmode="lin" valueType="num">
                                      <p:cBhvr>
                                        <p:cTn id="103" dur="500" fill="hold"/>
                                        <p:tgtEl>
                                          <p:spTgt spid="48"/>
                                        </p:tgtEl>
                                        <p:attrNameLst>
                                          <p:attrName>ppt_w</p:attrName>
                                        </p:attrNameLst>
                                      </p:cBhvr>
                                      <p:tavLst>
                                        <p:tav tm="0">
                                          <p:val>
                                            <p:fltVal val="0"/>
                                          </p:val>
                                        </p:tav>
                                        <p:tav tm="100000">
                                          <p:val>
                                            <p:strVal val="#ppt_w"/>
                                          </p:val>
                                        </p:tav>
                                      </p:tavLst>
                                    </p:anim>
                                    <p:anim calcmode="lin" valueType="num">
                                      <p:cBhvr>
                                        <p:cTn id="104" dur="500" fill="hold"/>
                                        <p:tgtEl>
                                          <p:spTgt spid="48"/>
                                        </p:tgtEl>
                                        <p:attrNameLst>
                                          <p:attrName>ppt_h</p:attrName>
                                        </p:attrNameLst>
                                      </p:cBhvr>
                                      <p:tavLst>
                                        <p:tav tm="0">
                                          <p:val>
                                            <p:fltVal val="0"/>
                                          </p:val>
                                        </p:tav>
                                        <p:tav tm="100000">
                                          <p:val>
                                            <p:strVal val="#ppt_h"/>
                                          </p:val>
                                        </p:tav>
                                      </p:tavLst>
                                    </p:anim>
                                    <p:animEffect transition="in" filter="fade">
                                      <p:cBhvr>
                                        <p:cTn id="105" dur="500"/>
                                        <p:tgtEl>
                                          <p:spTgt spid="4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9"/>
                                        </p:tgtEl>
                                        <p:attrNameLst>
                                          <p:attrName>style.visibility</p:attrName>
                                        </p:attrNameLst>
                                      </p:cBhvr>
                                      <p:to>
                                        <p:strVal val="visible"/>
                                      </p:to>
                                    </p:set>
                                    <p:animEffect transition="in" filter="fade">
                                      <p:cBhvr>
                                        <p:cTn id="10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5" grpId="0" animBg="1"/>
      <p:bldP spid="10" grpId="0"/>
      <p:bldP spid="11" grpId="0" animBg="1"/>
      <p:bldP spid="14" grpId="0"/>
      <p:bldP spid="15" grpId="0"/>
      <p:bldP spid="16" grpId="0" animBg="1"/>
      <p:bldP spid="18" grpId="0" animBg="1"/>
      <p:bldP spid="19" grpId="0"/>
      <p:bldP spid="17" grpId="0"/>
      <p:bldP spid="40" grpId="0" animBg="1"/>
      <p:bldP spid="41" grpId="0"/>
      <p:bldP spid="42" grpId="0" animBg="1"/>
      <p:bldP spid="43" grpId="0"/>
      <p:bldP spid="46" grpId="0" animBg="1"/>
      <p:bldP spid="47" grpId="0"/>
      <p:bldP spid="48" grpId="0" animBg="1"/>
      <p:bldP spid="4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C70BD109-175A-E007-EBEF-35BEAC7E6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1000664" y="1907042"/>
            <a:ext cx="1019642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PROGRAMACIÓN DE UNA ASIGNATURA (NRC)</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198406" y="4023437"/>
            <a:ext cx="1019642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white"/>
                </a:solidFill>
                <a:effectLst/>
                <a:uLnTx/>
                <a:uFillTx/>
                <a:latin typeface="Aptos" panose="02110004020202020204"/>
                <a:ea typeface="+mn-ea"/>
                <a:cs typeface="+mn-cs"/>
              </a:rPr>
              <a:t>Permite crear las secciones, configuración de cupos, horario, asignación de docente por periodo académico.</a:t>
            </a:r>
            <a:endParaRPr kumimoji="0" lang="es-PE"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4178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439036" cy="523220"/>
          </a:xfrm>
          <a:prstGeom prst="rect">
            <a:avLst/>
          </a:prstGeom>
          <a:noFill/>
        </p:spPr>
        <p:txBody>
          <a:bodyPr wrap="none" rtlCol="0">
            <a:spAutoFit/>
          </a:bodyPr>
          <a:lstStyle/>
          <a:p>
            <a:r>
              <a:rPr lang="es-ES" sz="2800" b="1" dirty="0">
                <a:latin typeface="Montserrat" pitchFamily="2" charset="0"/>
              </a:rPr>
              <a:t>CREAR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870357" y="241540"/>
            <a:ext cx="7321642"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AE87DF31-065F-D0F5-5915-8145ED564C11}"/>
              </a:ext>
            </a:extLst>
          </p:cNvPr>
          <p:cNvPicPr>
            <a:picLocks noChangeAspect="1"/>
          </p:cNvPicPr>
          <p:nvPr/>
        </p:nvPicPr>
        <p:blipFill>
          <a:blip r:embed="rId4"/>
          <a:stretch>
            <a:fillRect/>
          </a:stretch>
        </p:blipFill>
        <p:spPr>
          <a:xfrm>
            <a:off x="420559" y="1012723"/>
            <a:ext cx="11483600" cy="4889057"/>
          </a:xfrm>
          <a:prstGeom prst="rect">
            <a:avLst/>
          </a:prstGeom>
        </p:spPr>
      </p:pic>
      <p:sp>
        <p:nvSpPr>
          <p:cNvPr id="10" name="Rectángulo 9">
            <a:extLst>
              <a:ext uri="{FF2B5EF4-FFF2-40B4-BE49-F238E27FC236}">
                <a16:creationId xmlns:a16="http://schemas.microsoft.com/office/drawing/2014/main" id="{929677B7-2674-F9F9-C0C7-36D7A3E175F3}"/>
              </a:ext>
            </a:extLst>
          </p:cNvPr>
          <p:cNvSpPr/>
          <p:nvPr/>
        </p:nvSpPr>
        <p:spPr>
          <a:xfrm>
            <a:off x="1358616" y="1360564"/>
            <a:ext cx="1414081" cy="24394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6087F9DE-5056-600E-EAE4-6FD29F2821B5}"/>
              </a:ext>
            </a:extLst>
          </p:cNvPr>
          <p:cNvSpPr/>
          <p:nvPr/>
        </p:nvSpPr>
        <p:spPr>
          <a:xfrm>
            <a:off x="2888368" y="135275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F1ED3B9A-A515-FD76-37E3-C78616EC6A6B}"/>
              </a:ext>
            </a:extLst>
          </p:cNvPr>
          <p:cNvSpPr txBox="1"/>
          <p:nvPr/>
        </p:nvSpPr>
        <p:spPr>
          <a:xfrm>
            <a:off x="3219699" y="1224790"/>
            <a:ext cx="2217540"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a:t>
            </a:r>
            <a:r>
              <a:rPr lang="es-ES" sz="1100" b="1" dirty="0">
                <a:solidFill>
                  <a:srgbClr val="92D050"/>
                </a:solidFill>
              </a:rPr>
              <a:t>Periodo</a:t>
            </a:r>
            <a:r>
              <a:rPr lang="es-ES" sz="1100" dirty="0">
                <a:solidFill>
                  <a:srgbClr val="FFFFFF"/>
                </a:solidFill>
              </a:rPr>
              <a:t>.</a:t>
            </a:r>
          </a:p>
          <a:p>
            <a:pPr algn="ctr"/>
            <a:r>
              <a:rPr lang="es-ES" sz="1100" dirty="0">
                <a:solidFill>
                  <a:srgbClr val="FFFFFF"/>
                </a:solidFill>
              </a:rPr>
              <a:t>(Requerido)</a:t>
            </a:r>
            <a:endParaRPr lang="es-ES" b="0" dirty="0">
              <a:effectLst/>
            </a:endParaRPr>
          </a:p>
        </p:txBody>
      </p:sp>
      <p:sp>
        <p:nvSpPr>
          <p:cNvPr id="13" name="Rectángulo 12">
            <a:extLst>
              <a:ext uri="{FF2B5EF4-FFF2-40B4-BE49-F238E27FC236}">
                <a16:creationId xmlns:a16="http://schemas.microsoft.com/office/drawing/2014/main" id="{A176E24E-7A7C-E03F-B78E-8447E72A127F}"/>
              </a:ext>
            </a:extLst>
          </p:cNvPr>
          <p:cNvSpPr/>
          <p:nvPr/>
        </p:nvSpPr>
        <p:spPr>
          <a:xfrm>
            <a:off x="1107896" y="2061659"/>
            <a:ext cx="1414081" cy="24394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D467E115-6914-0C7A-B8CB-D8B2F1BBF962}"/>
              </a:ext>
            </a:extLst>
          </p:cNvPr>
          <p:cNvSpPr/>
          <p:nvPr/>
        </p:nvSpPr>
        <p:spPr>
          <a:xfrm>
            <a:off x="1663927" y="238376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5" name="CuadroTexto 14">
            <a:extLst>
              <a:ext uri="{FF2B5EF4-FFF2-40B4-BE49-F238E27FC236}">
                <a16:creationId xmlns:a16="http://schemas.microsoft.com/office/drawing/2014/main" id="{3CDA703C-6FF4-EFB0-8547-F1F9E226D701}"/>
              </a:ext>
            </a:extLst>
          </p:cNvPr>
          <p:cNvSpPr txBox="1"/>
          <p:nvPr/>
        </p:nvSpPr>
        <p:spPr>
          <a:xfrm>
            <a:off x="770817" y="2731265"/>
            <a:ext cx="2217540"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Para </a:t>
            </a:r>
            <a:r>
              <a:rPr lang="es-ES" sz="1100" b="1" dirty="0">
                <a:solidFill>
                  <a:srgbClr val="FFFFFF"/>
                </a:solidFill>
              </a:rPr>
              <a:t>crear un nuevo NRC </a:t>
            </a:r>
            <a:r>
              <a:rPr lang="es-ES" sz="1100" dirty="0">
                <a:solidFill>
                  <a:srgbClr val="FFFFFF"/>
                </a:solidFill>
              </a:rPr>
              <a:t>en la programación académica, se </a:t>
            </a:r>
            <a:r>
              <a:rPr lang="es-ES" sz="1100" b="1" dirty="0">
                <a:solidFill>
                  <a:srgbClr val="FFFFFF"/>
                </a:solidFill>
              </a:rPr>
              <a:t>deja en blanco la casilla NRC</a:t>
            </a:r>
            <a:r>
              <a:rPr lang="es-ES" sz="1100" dirty="0">
                <a:solidFill>
                  <a:srgbClr val="FFFFFF"/>
                </a:solidFill>
              </a:rPr>
              <a:t> y se presiona el botón </a:t>
            </a:r>
            <a:r>
              <a:rPr lang="es-ES" sz="1100" b="1" dirty="0">
                <a:solidFill>
                  <a:srgbClr val="92D050"/>
                </a:solidFill>
              </a:rPr>
              <a:t>Crear NRC</a:t>
            </a:r>
            <a:r>
              <a:rPr lang="es-ES" sz="1100" dirty="0">
                <a:solidFill>
                  <a:srgbClr val="FFFFFF"/>
                </a:solidFill>
              </a:rPr>
              <a:t>.</a:t>
            </a:r>
            <a:endParaRPr lang="es-ES" b="0" dirty="0">
              <a:effectLst/>
            </a:endParaRPr>
          </a:p>
        </p:txBody>
      </p:sp>
    </p:spTree>
    <p:extLst>
      <p:ext uri="{BB962C8B-B14F-4D97-AF65-F5344CB8AC3E}">
        <p14:creationId xmlns:p14="http://schemas.microsoft.com/office/powerpoint/2010/main" val="266543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animBg="1"/>
      <p:bldP spid="12" grpId="0" animBg="1"/>
      <p:bldP spid="13"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15628484-4023-B4BF-CB84-E0FE676D0C31}"/>
              </a:ext>
            </a:extLst>
          </p:cNvPr>
          <p:cNvPicPr>
            <a:picLocks noChangeAspect="1"/>
          </p:cNvPicPr>
          <p:nvPr/>
        </p:nvPicPr>
        <p:blipFill>
          <a:blip r:embed="rId2"/>
          <a:srcRect t="540"/>
          <a:stretch/>
        </p:blipFill>
        <p:spPr>
          <a:xfrm>
            <a:off x="370610" y="1012723"/>
            <a:ext cx="11517728" cy="4889058"/>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827784" cy="523220"/>
          </a:xfrm>
          <a:prstGeom prst="rect">
            <a:avLst/>
          </a:prstGeom>
          <a:noFill/>
        </p:spPr>
        <p:txBody>
          <a:bodyPr wrap="none" rtlCol="0">
            <a:spAutoFit/>
          </a:bodyPr>
          <a:lstStyle/>
          <a:p>
            <a:r>
              <a:rPr lang="es-ES" sz="2800" b="1" dirty="0">
                <a:latin typeface="Montserrat" pitchFamily="2" charset="0"/>
              </a:rPr>
              <a:t>CONSULTAR/MODIFICAR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347587" y="241540"/>
            <a:ext cx="384441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929677B7-2674-F9F9-C0C7-36D7A3E175F3}"/>
              </a:ext>
            </a:extLst>
          </p:cNvPr>
          <p:cNvSpPr/>
          <p:nvPr/>
        </p:nvSpPr>
        <p:spPr>
          <a:xfrm>
            <a:off x="1317524" y="1360564"/>
            <a:ext cx="1455174" cy="224287"/>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6087F9DE-5056-600E-EAE4-6FD29F2821B5}"/>
              </a:ext>
            </a:extLst>
          </p:cNvPr>
          <p:cNvSpPr/>
          <p:nvPr/>
        </p:nvSpPr>
        <p:spPr>
          <a:xfrm>
            <a:off x="2888368" y="135275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F1ED3B9A-A515-FD76-37E3-C78616EC6A6B}"/>
              </a:ext>
            </a:extLst>
          </p:cNvPr>
          <p:cNvSpPr txBox="1"/>
          <p:nvPr/>
        </p:nvSpPr>
        <p:spPr>
          <a:xfrm>
            <a:off x="3219699" y="1224790"/>
            <a:ext cx="2217540"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a:t>
            </a:r>
            <a:r>
              <a:rPr lang="es-ES" sz="1100" b="1" dirty="0">
                <a:solidFill>
                  <a:srgbClr val="92D050"/>
                </a:solidFill>
              </a:rPr>
              <a:t>Periodo</a:t>
            </a:r>
            <a:r>
              <a:rPr lang="es-ES" sz="1100" dirty="0">
                <a:solidFill>
                  <a:srgbClr val="FFFFFF"/>
                </a:solidFill>
              </a:rPr>
              <a:t>.</a:t>
            </a:r>
          </a:p>
          <a:p>
            <a:pPr algn="ctr"/>
            <a:r>
              <a:rPr lang="es-ES" sz="1100" dirty="0">
                <a:solidFill>
                  <a:srgbClr val="FFFFFF"/>
                </a:solidFill>
              </a:rPr>
              <a:t>(Requerido)</a:t>
            </a:r>
            <a:endParaRPr lang="es-ES" b="0" dirty="0">
              <a:effectLst/>
            </a:endParaRPr>
          </a:p>
        </p:txBody>
      </p:sp>
      <p:sp>
        <p:nvSpPr>
          <p:cNvPr id="13" name="Rectángulo 12">
            <a:extLst>
              <a:ext uri="{FF2B5EF4-FFF2-40B4-BE49-F238E27FC236}">
                <a16:creationId xmlns:a16="http://schemas.microsoft.com/office/drawing/2014/main" id="{A176E24E-7A7C-E03F-B78E-8447E72A127F}"/>
              </a:ext>
            </a:extLst>
          </p:cNvPr>
          <p:cNvSpPr/>
          <p:nvPr/>
        </p:nvSpPr>
        <p:spPr>
          <a:xfrm>
            <a:off x="6134485" y="1342926"/>
            <a:ext cx="1829644" cy="23411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D467E115-6914-0C7A-B8CB-D8B2F1BBF962}"/>
              </a:ext>
            </a:extLst>
          </p:cNvPr>
          <p:cNvSpPr/>
          <p:nvPr/>
        </p:nvSpPr>
        <p:spPr>
          <a:xfrm>
            <a:off x="8020719" y="133642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5" name="CuadroTexto 14">
            <a:extLst>
              <a:ext uri="{FF2B5EF4-FFF2-40B4-BE49-F238E27FC236}">
                <a16:creationId xmlns:a16="http://schemas.microsoft.com/office/drawing/2014/main" id="{3CDA703C-6FF4-EFB0-8547-F1F9E226D701}"/>
              </a:ext>
            </a:extLst>
          </p:cNvPr>
          <p:cNvSpPr txBox="1"/>
          <p:nvPr/>
        </p:nvSpPr>
        <p:spPr>
          <a:xfrm>
            <a:off x="6375204" y="1672346"/>
            <a:ext cx="2217540"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Si no está creando un NRC si no consultando o desea modificar uno ya creado, debe ingresar el número de </a:t>
            </a:r>
            <a:r>
              <a:rPr lang="es-ES" sz="1100" b="1" dirty="0">
                <a:solidFill>
                  <a:srgbClr val="92D050"/>
                </a:solidFill>
              </a:rPr>
              <a:t>NRC</a:t>
            </a:r>
            <a:r>
              <a:rPr lang="es-ES" sz="1100" dirty="0">
                <a:solidFill>
                  <a:srgbClr val="FFFFFF"/>
                </a:solidFill>
              </a:rPr>
              <a:t> en el campo correspondiente .</a:t>
            </a:r>
            <a:endParaRPr lang="es-ES" b="0" dirty="0">
              <a:effectLst/>
            </a:endParaRPr>
          </a:p>
        </p:txBody>
      </p:sp>
      <p:sp>
        <p:nvSpPr>
          <p:cNvPr id="2" name="Rectángulo 1">
            <a:extLst>
              <a:ext uri="{FF2B5EF4-FFF2-40B4-BE49-F238E27FC236}">
                <a16:creationId xmlns:a16="http://schemas.microsoft.com/office/drawing/2014/main" id="{84054169-053C-7F41-27D7-83F37115C766}"/>
              </a:ext>
            </a:extLst>
          </p:cNvPr>
          <p:cNvSpPr/>
          <p:nvPr/>
        </p:nvSpPr>
        <p:spPr>
          <a:xfrm>
            <a:off x="11431538" y="1369634"/>
            <a:ext cx="442497" cy="27310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35FD20D1-2D48-3FC2-C8AE-3F18C3A13356}"/>
              </a:ext>
            </a:extLst>
          </p:cNvPr>
          <p:cNvSpPr/>
          <p:nvPr/>
        </p:nvSpPr>
        <p:spPr>
          <a:xfrm>
            <a:off x="11519859" y="180083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6" name="CuadroTexto 15">
            <a:extLst>
              <a:ext uri="{FF2B5EF4-FFF2-40B4-BE49-F238E27FC236}">
                <a16:creationId xmlns:a16="http://schemas.microsoft.com/office/drawing/2014/main" id="{62ADC24E-3B7A-53D7-4961-B7C3B29E9B29}"/>
              </a:ext>
            </a:extLst>
          </p:cNvPr>
          <p:cNvSpPr txBox="1"/>
          <p:nvPr/>
        </p:nvSpPr>
        <p:spPr>
          <a:xfrm>
            <a:off x="10159467" y="2159862"/>
            <a:ext cx="1744692" cy="271730"/>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dirty="0">
                <a:solidFill>
                  <a:srgbClr val="FFFFFF"/>
                </a:solidFill>
              </a:rPr>
              <a:t>Seleccionar</a:t>
            </a:r>
            <a:r>
              <a:rPr lang="es-ES" sz="1100" b="0" i="0" u="none" strike="noStrike" dirty="0">
                <a:solidFill>
                  <a:srgbClr val="FFFFFF"/>
                </a:solidFill>
                <a:effectLst/>
              </a:rPr>
              <a:t> </a:t>
            </a:r>
            <a:r>
              <a:rPr lang="es-ES" sz="1100" b="1" dirty="0">
                <a:solidFill>
                  <a:srgbClr val="92D050"/>
                </a:solidFill>
              </a:rPr>
              <a:t>I</a:t>
            </a:r>
            <a:r>
              <a:rPr lang="es-ES" sz="1100" b="1" i="0" u="none" strike="noStrike" dirty="0">
                <a:solidFill>
                  <a:srgbClr val="92D050"/>
                </a:solidFill>
                <a:effectLst/>
              </a:rPr>
              <a:t>r</a:t>
            </a:r>
            <a:endParaRPr lang="es-ES" b="1" dirty="0">
              <a:solidFill>
                <a:srgbClr val="92D050"/>
              </a:solidFill>
              <a:effectLst/>
            </a:endParaRPr>
          </a:p>
        </p:txBody>
      </p:sp>
    </p:spTree>
    <p:extLst>
      <p:ext uri="{BB962C8B-B14F-4D97-AF65-F5344CB8AC3E}">
        <p14:creationId xmlns:p14="http://schemas.microsoft.com/office/powerpoint/2010/main" val="28495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dissolve">
                                      <p:cBhvr>
                                        <p:cTn id="14" dur="500"/>
                                        <p:tgtEl>
                                          <p:spTgt spid="18"/>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heel(1)">
                                      <p:cBhvr>
                                        <p:cTn id="46" dur="2000"/>
                                        <p:tgtEl>
                                          <p:spTgt spid="2"/>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animBg="1"/>
      <p:bldP spid="12" grpId="0" animBg="1"/>
      <p:bldP spid="13" grpId="0" animBg="1"/>
      <p:bldP spid="14" grpId="0" animBg="1"/>
      <p:bldP spid="15" grpId="0" animBg="1"/>
      <p:bldP spid="2" grpId="0" animBg="1"/>
      <p:bldP spid="9"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076B003-91F5-F596-5726-DA5F3D758FFE}"/>
              </a:ext>
            </a:extLst>
          </p:cNvPr>
          <p:cNvPicPr>
            <a:picLocks noChangeAspect="1"/>
          </p:cNvPicPr>
          <p:nvPr/>
        </p:nvPicPr>
        <p:blipFill>
          <a:blip r:embed="rId2"/>
          <a:stretch>
            <a:fillRect/>
          </a:stretch>
        </p:blipFill>
        <p:spPr>
          <a:xfrm>
            <a:off x="415841" y="1006927"/>
            <a:ext cx="11479238" cy="48948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9" name="Rectángulo 18">
            <a:extLst>
              <a:ext uri="{FF2B5EF4-FFF2-40B4-BE49-F238E27FC236}">
                <a16:creationId xmlns:a16="http://schemas.microsoft.com/office/drawing/2014/main" id="{C1F8713B-3F34-E2E3-A42F-816F21A4393B}"/>
              </a:ext>
            </a:extLst>
          </p:cNvPr>
          <p:cNvSpPr/>
          <p:nvPr/>
        </p:nvSpPr>
        <p:spPr>
          <a:xfrm>
            <a:off x="415841" y="1321236"/>
            <a:ext cx="4254481" cy="242094"/>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0" name="CuadroTexto 19">
            <a:extLst>
              <a:ext uri="{FF2B5EF4-FFF2-40B4-BE49-F238E27FC236}">
                <a16:creationId xmlns:a16="http://schemas.microsoft.com/office/drawing/2014/main" id="{3E35C39C-8C34-1F7B-6471-4505808A3090}"/>
              </a:ext>
            </a:extLst>
          </p:cNvPr>
          <p:cNvSpPr txBox="1"/>
          <p:nvPr/>
        </p:nvSpPr>
        <p:spPr>
          <a:xfrm>
            <a:off x="2065588" y="1772080"/>
            <a:ext cx="4118903" cy="1246763"/>
          </a:xfrm>
          <a:prstGeom prst="roundRect">
            <a:avLst>
              <a:gd name="adj" fmla="val 7573"/>
            </a:avLst>
          </a:prstGeom>
          <a:solidFill>
            <a:srgbClr val="7030A0"/>
          </a:solidFill>
        </p:spPr>
        <p:txBody>
          <a:bodyPr wrap="square">
            <a:spAutoFit/>
          </a:bodyPr>
          <a:lstStyle/>
          <a:p>
            <a:pPr algn="ctr"/>
            <a:r>
              <a:rPr lang="es-ES" sz="1200" dirty="0">
                <a:solidFill>
                  <a:srgbClr val="FFFFFF"/>
                </a:solidFill>
              </a:rPr>
              <a:t>Al ingresar al bloque de </a:t>
            </a:r>
            <a:r>
              <a:rPr lang="es-ES" sz="1200" b="1" dirty="0">
                <a:solidFill>
                  <a:srgbClr val="92D050"/>
                </a:solidFill>
              </a:rPr>
              <a:t>Información de sección de curso</a:t>
            </a:r>
            <a:r>
              <a:rPr lang="es-ES" sz="1200" dirty="0">
                <a:solidFill>
                  <a:schemeClr val="bg1"/>
                </a:solidFill>
              </a:rPr>
              <a:t>,</a:t>
            </a:r>
            <a:r>
              <a:rPr lang="es-ES" sz="1200" dirty="0">
                <a:solidFill>
                  <a:srgbClr val="92D050"/>
                </a:solidFill>
              </a:rPr>
              <a:t> </a:t>
            </a:r>
            <a:r>
              <a:rPr lang="es-ES" sz="1200" dirty="0">
                <a:solidFill>
                  <a:srgbClr val="FFFFFF"/>
                </a:solidFill>
              </a:rPr>
              <a:t>si se está creando un </a:t>
            </a:r>
            <a:r>
              <a:rPr lang="es-ES" sz="1200" b="1" dirty="0">
                <a:solidFill>
                  <a:srgbClr val="FFFFFF"/>
                </a:solidFill>
              </a:rPr>
              <a:t>nuevo NRC</a:t>
            </a:r>
            <a:r>
              <a:rPr lang="es-ES" sz="1200" dirty="0">
                <a:solidFill>
                  <a:srgbClr val="FFFFFF"/>
                </a:solidFill>
              </a:rPr>
              <a:t>, se visualizarán una serie de campos en blanco, y en el campo </a:t>
            </a:r>
            <a:r>
              <a:rPr lang="es-ES" sz="1200" b="1" dirty="0">
                <a:solidFill>
                  <a:srgbClr val="92D050"/>
                </a:solidFill>
              </a:rPr>
              <a:t>NRC</a:t>
            </a:r>
            <a:r>
              <a:rPr lang="es-ES" sz="1200" dirty="0">
                <a:solidFill>
                  <a:srgbClr val="FFFFFF"/>
                </a:solidFill>
              </a:rPr>
              <a:t> se mantiene el valor </a:t>
            </a:r>
            <a:r>
              <a:rPr lang="es-ES" sz="1200" b="1" dirty="0">
                <a:solidFill>
                  <a:srgbClr val="92D050"/>
                </a:solidFill>
              </a:rPr>
              <a:t>ADD</a:t>
            </a:r>
            <a:r>
              <a:rPr lang="es-ES" sz="1200" dirty="0">
                <a:solidFill>
                  <a:srgbClr val="FFFFFF"/>
                </a:solidFill>
              </a:rPr>
              <a:t>. Una vez el NRC sea creado, dicho campo adquirirá el valor del número secuencial indicado en SOATERM.</a:t>
            </a:r>
            <a:endParaRPr lang="es-ES" sz="2000" b="0" dirty="0">
              <a:effectLst/>
            </a:endParaRPr>
          </a:p>
        </p:txBody>
      </p:sp>
    </p:spTree>
    <p:extLst>
      <p:ext uri="{BB962C8B-B14F-4D97-AF65-F5344CB8AC3E}">
        <p14:creationId xmlns:p14="http://schemas.microsoft.com/office/powerpoint/2010/main" val="231064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heel(1)">
                                      <p:cBhvr>
                                        <p:cTn id="18" dur="2000"/>
                                        <p:tgtEl>
                                          <p:spTgt spid="19"/>
                                        </p:tgtEl>
                                      </p:cBhvr>
                                    </p:animEffect>
                                  </p:childTnLst>
                                </p:cTn>
                              </p:par>
                            </p:childTnLst>
                          </p:cTn>
                        </p:par>
                        <p:par>
                          <p:cTn id="19" fill="hold">
                            <p:stCondLst>
                              <p:cond delay="3000"/>
                            </p:stCondLst>
                            <p:childTnLst>
                              <p:par>
                                <p:cTn id="20" presetID="10"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5B18039F-FAD8-51C0-920D-BAE201B2EF30}"/>
              </a:ext>
            </a:extLst>
          </p:cNvPr>
          <p:cNvPicPr>
            <a:picLocks noChangeAspect="1"/>
          </p:cNvPicPr>
          <p:nvPr/>
        </p:nvPicPr>
        <p:blipFill>
          <a:blip r:embed="rId2"/>
          <a:stretch>
            <a:fillRect/>
          </a:stretch>
        </p:blipFill>
        <p:spPr>
          <a:xfrm>
            <a:off x="415841" y="1006927"/>
            <a:ext cx="11479238" cy="48948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A9A14CC0-806B-FFA4-779E-36053D176DBB}"/>
              </a:ext>
            </a:extLst>
          </p:cNvPr>
          <p:cNvSpPr/>
          <p:nvPr/>
        </p:nvSpPr>
        <p:spPr>
          <a:xfrm>
            <a:off x="1338809" y="1940668"/>
            <a:ext cx="804623" cy="37974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5" name="Rectángulo: esquinas redondeadas 4">
            <a:extLst>
              <a:ext uri="{FF2B5EF4-FFF2-40B4-BE49-F238E27FC236}">
                <a16:creationId xmlns:a16="http://schemas.microsoft.com/office/drawing/2014/main" id="{CAE4101A-3C94-2ED1-7FA4-49F7296D3D07}"/>
              </a:ext>
            </a:extLst>
          </p:cNvPr>
          <p:cNvSpPr/>
          <p:nvPr/>
        </p:nvSpPr>
        <p:spPr>
          <a:xfrm>
            <a:off x="2259612" y="200964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9" name="CuadroTexto 8">
            <a:extLst>
              <a:ext uri="{FF2B5EF4-FFF2-40B4-BE49-F238E27FC236}">
                <a16:creationId xmlns:a16="http://schemas.microsoft.com/office/drawing/2014/main" id="{ECD2592C-E298-B719-CD9E-60DA127CF850}"/>
              </a:ext>
            </a:extLst>
          </p:cNvPr>
          <p:cNvSpPr txBox="1"/>
          <p:nvPr/>
        </p:nvSpPr>
        <p:spPr>
          <a:xfrm>
            <a:off x="2591452" y="1521206"/>
            <a:ext cx="4310793"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en los campos </a:t>
            </a:r>
            <a:r>
              <a:rPr lang="es-ES" sz="1100" b="1" dirty="0">
                <a:solidFill>
                  <a:srgbClr val="92D050"/>
                </a:solidFill>
              </a:rPr>
              <a:t>Materia</a:t>
            </a:r>
            <a:r>
              <a:rPr lang="es-ES" sz="1100" dirty="0">
                <a:solidFill>
                  <a:srgbClr val="FFFFFF"/>
                </a:solidFill>
              </a:rPr>
              <a:t> y </a:t>
            </a:r>
            <a:r>
              <a:rPr lang="es-ES" sz="1100" b="1" dirty="0">
                <a:solidFill>
                  <a:srgbClr val="92D050"/>
                </a:solidFill>
              </a:rPr>
              <a:t>Número de curso</a:t>
            </a:r>
            <a:r>
              <a:rPr lang="es-ES" sz="1100" dirty="0">
                <a:solidFill>
                  <a:srgbClr val="FFFFFF"/>
                </a:solidFill>
              </a:rPr>
              <a:t> el identificador de la asignatura para la cual desea programar el NRC. (Requerido)</a:t>
            </a:r>
            <a:endParaRPr lang="es-ES" dirty="0"/>
          </a:p>
          <a:p>
            <a:pPr algn="ctr"/>
            <a:r>
              <a:rPr lang="es-ES" sz="1100" dirty="0">
                <a:solidFill>
                  <a:srgbClr val="FFFFFF"/>
                </a:solidFill>
              </a:rPr>
              <a:t>Al ingresar los valores, se despliega el </a:t>
            </a:r>
            <a:r>
              <a:rPr lang="es-ES" sz="1100" b="1" dirty="0">
                <a:solidFill>
                  <a:srgbClr val="92D050"/>
                </a:solidFill>
              </a:rPr>
              <a:t>Título</a:t>
            </a:r>
            <a:r>
              <a:rPr lang="es-ES" sz="1100" dirty="0">
                <a:solidFill>
                  <a:srgbClr val="FFFFFF"/>
                </a:solidFill>
              </a:rPr>
              <a:t> de  la asignatura, según corresponda en el Catálogo de cursos.</a:t>
            </a:r>
          </a:p>
        </p:txBody>
      </p:sp>
      <p:sp>
        <p:nvSpPr>
          <p:cNvPr id="10" name="Rectángulo 9">
            <a:extLst>
              <a:ext uri="{FF2B5EF4-FFF2-40B4-BE49-F238E27FC236}">
                <a16:creationId xmlns:a16="http://schemas.microsoft.com/office/drawing/2014/main" id="{22260EAA-3E9A-662B-AFB6-3A0F21A776E8}"/>
              </a:ext>
            </a:extLst>
          </p:cNvPr>
          <p:cNvSpPr/>
          <p:nvPr/>
        </p:nvSpPr>
        <p:spPr>
          <a:xfrm>
            <a:off x="1338809" y="2653392"/>
            <a:ext cx="920803"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1" name="Rectángulo: esquinas redondeadas 10">
            <a:extLst>
              <a:ext uri="{FF2B5EF4-FFF2-40B4-BE49-F238E27FC236}">
                <a16:creationId xmlns:a16="http://schemas.microsoft.com/office/drawing/2014/main" id="{DE5259FB-2605-3F43-0985-CEFB9FE1DCD1}"/>
              </a:ext>
            </a:extLst>
          </p:cNvPr>
          <p:cNvSpPr/>
          <p:nvPr/>
        </p:nvSpPr>
        <p:spPr>
          <a:xfrm>
            <a:off x="2328438" y="267320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2" name="CuadroTexto 11">
            <a:extLst>
              <a:ext uri="{FF2B5EF4-FFF2-40B4-BE49-F238E27FC236}">
                <a16:creationId xmlns:a16="http://schemas.microsoft.com/office/drawing/2014/main" id="{378C51A8-7435-8EC2-E99C-63B924229D21}"/>
              </a:ext>
            </a:extLst>
          </p:cNvPr>
          <p:cNvSpPr txBox="1"/>
          <p:nvPr/>
        </p:nvSpPr>
        <p:spPr>
          <a:xfrm>
            <a:off x="2620949" y="2613272"/>
            <a:ext cx="6326406" cy="975033"/>
          </a:xfrm>
          <a:prstGeom prst="roundRect">
            <a:avLst>
              <a:gd name="adj" fmla="val 7573"/>
            </a:avLst>
          </a:prstGeom>
          <a:solidFill>
            <a:srgbClr val="7030A0"/>
          </a:solidFill>
        </p:spPr>
        <p:txBody>
          <a:bodyPr wrap="square">
            <a:spAutoFit/>
          </a:bodyPr>
          <a:lstStyle/>
          <a:p>
            <a:pPr marL="171450" indent="-171450">
              <a:buFont typeface="Arial" panose="020B0604020202020204" pitchFamily="34" charset="0"/>
              <a:buChar char="•"/>
            </a:pPr>
            <a:r>
              <a:rPr lang="es-ES" sz="1100" dirty="0">
                <a:solidFill>
                  <a:srgbClr val="FFFFFF"/>
                </a:solidFill>
              </a:rPr>
              <a:t>El campo </a:t>
            </a:r>
            <a:r>
              <a:rPr lang="es-ES" sz="1100" b="1" dirty="0">
                <a:solidFill>
                  <a:srgbClr val="92D050"/>
                </a:solidFill>
              </a:rPr>
              <a:t>Sección</a:t>
            </a:r>
            <a:r>
              <a:rPr lang="es-ES" sz="1100" dirty="0">
                <a:solidFill>
                  <a:srgbClr val="FFFFFF"/>
                </a:solidFill>
              </a:rPr>
              <a:t> es un identificador único a definir considerando que su valor no debe encontrarse ya utilizado para el mismo periodo, materia y curso.</a:t>
            </a:r>
          </a:p>
          <a:p>
            <a:pPr marL="171450" indent="-171450">
              <a:buFont typeface="Arial" panose="020B0604020202020204" pitchFamily="34" charset="0"/>
              <a:buChar char="•"/>
            </a:pPr>
            <a:r>
              <a:rPr lang="es-ES" sz="1100" dirty="0">
                <a:solidFill>
                  <a:srgbClr val="FFFFFF"/>
                </a:solidFill>
              </a:rPr>
              <a:t> En la Universidad se ha definido que la sección será un identificador Alfabético (A, B, AC1, </a:t>
            </a:r>
            <a:r>
              <a:rPr lang="es-ES" sz="1100" dirty="0" err="1">
                <a:solidFill>
                  <a:srgbClr val="FFFFFF"/>
                </a:solidFill>
              </a:rPr>
              <a:t>etc</a:t>
            </a:r>
            <a:r>
              <a:rPr lang="es-ES" sz="1100" dirty="0">
                <a:solidFill>
                  <a:srgbClr val="FFFFFF"/>
                </a:solidFill>
              </a:rPr>
              <a:t>) que identificará los NRC  de un ciclo y paralelo o grupo. (Máximo 3 caracteres)</a:t>
            </a:r>
          </a:p>
          <a:p>
            <a:pPr marL="171450" indent="-171450">
              <a:buFont typeface="Arial" panose="020B0604020202020204" pitchFamily="34" charset="0"/>
              <a:buChar char="•"/>
            </a:pPr>
            <a:r>
              <a:rPr lang="es-ES" sz="1100" dirty="0">
                <a:solidFill>
                  <a:srgbClr val="FFFFFF"/>
                </a:solidFill>
              </a:rPr>
              <a:t>Si desea utilizar el NRC como plantilla para duplicarla en otros NRC, debe dejar la sección en 0.</a:t>
            </a:r>
          </a:p>
        </p:txBody>
      </p:sp>
    </p:spTree>
    <p:extLst>
      <p:ext uri="{BB962C8B-B14F-4D97-AF65-F5344CB8AC3E}">
        <p14:creationId xmlns:p14="http://schemas.microsoft.com/office/powerpoint/2010/main" val="339629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heel(1)">
                                      <p:cBhvr>
                                        <p:cTn id="21" dur="2000"/>
                                        <p:tgtEl>
                                          <p:spTgt spid="10"/>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77368A03-13B3-76E6-47BC-71F0B88C39D3}"/>
              </a:ext>
            </a:extLst>
          </p:cNvPr>
          <p:cNvPicPr>
            <a:picLocks noChangeAspect="1"/>
          </p:cNvPicPr>
          <p:nvPr/>
        </p:nvPicPr>
        <p:blipFill>
          <a:blip r:embed="rId2"/>
          <a:stretch>
            <a:fillRect/>
          </a:stretch>
        </p:blipFill>
        <p:spPr>
          <a:xfrm>
            <a:off x="415841" y="1006927"/>
            <a:ext cx="11479238" cy="48948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3" name="Rectángulo 12">
            <a:extLst>
              <a:ext uri="{FF2B5EF4-FFF2-40B4-BE49-F238E27FC236}">
                <a16:creationId xmlns:a16="http://schemas.microsoft.com/office/drawing/2014/main" id="{0C416E89-211D-4837-338E-96C303A74963}"/>
              </a:ext>
            </a:extLst>
          </p:cNvPr>
          <p:cNvSpPr/>
          <p:nvPr/>
        </p:nvSpPr>
        <p:spPr>
          <a:xfrm>
            <a:off x="4634665" y="1899483"/>
            <a:ext cx="121999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4" name="Rectángulo: esquinas redondeadas 13">
            <a:extLst>
              <a:ext uri="{FF2B5EF4-FFF2-40B4-BE49-F238E27FC236}">
                <a16:creationId xmlns:a16="http://schemas.microsoft.com/office/drawing/2014/main" id="{87FBAF83-2658-6C29-353C-0FF7E0498569}"/>
              </a:ext>
            </a:extLst>
          </p:cNvPr>
          <p:cNvSpPr/>
          <p:nvPr/>
        </p:nvSpPr>
        <p:spPr>
          <a:xfrm>
            <a:off x="5081459" y="16196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5" name="CuadroTexto 14">
            <a:extLst>
              <a:ext uri="{FF2B5EF4-FFF2-40B4-BE49-F238E27FC236}">
                <a16:creationId xmlns:a16="http://schemas.microsoft.com/office/drawing/2014/main" id="{A4553404-B8C7-E65A-BE5A-90F0B17D62D0}"/>
              </a:ext>
            </a:extLst>
          </p:cNvPr>
          <p:cNvSpPr txBox="1"/>
          <p:nvPr/>
        </p:nvSpPr>
        <p:spPr>
          <a:xfrm>
            <a:off x="3549445" y="900186"/>
            <a:ext cx="3293807"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o seleccione el </a:t>
            </a:r>
            <a:r>
              <a:rPr lang="es-ES" sz="1100" b="1" dirty="0">
                <a:solidFill>
                  <a:srgbClr val="92D050"/>
                </a:solidFill>
              </a:rPr>
              <a:t>Campus</a:t>
            </a:r>
            <a:r>
              <a:rPr lang="es-ES" sz="1100" dirty="0">
                <a:solidFill>
                  <a:srgbClr val="FFFFFF"/>
                </a:solidFill>
              </a:rPr>
              <a:t> en el que se impartirá la sección que se está creando. (Requerido)</a:t>
            </a:r>
            <a:endParaRPr lang="es-ES" dirty="0"/>
          </a:p>
        </p:txBody>
      </p:sp>
      <p:sp>
        <p:nvSpPr>
          <p:cNvPr id="16" name="Rectángulo 15">
            <a:extLst>
              <a:ext uri="{FF2B5EF4-FFF2-40B4-BE49-F238E27FC236}">
                <a16:creationId xmlns:a16="http://schemas.microsoft.com/office/drawing/2014/main" id="{C072BE8F-5314-0E2F-0F4A-ECC60BED2F35}"/>
              </a:ext>
            </a:extLst>
          </p:cNvPr>
          <p:cNvSpPr/>
          <p:nvPr/>
        </p:nvSpPr>
        <p:spPr>
          <a:xfrm>
            <a:off x="4634665" y="2111727"/>
            <a:ext cx="121999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8" name="Rectángulo: esquinas redondeadas 17">
            <a:extLst>
              <a:ext uri="{FF2B5EF4-FFF2-40B4-BE49-F238E27FC236}">
                <a16:creationId xmlns:a16="http://schemas.microsoft.com/office/drawing/2014/main" id="{42FFEB47-7681-BF12-C8F0-267D603F4B11}"/>
              </a:ext>
            </a:extLst>
          </p:cNvPr>
          <p:cNvSpPr/>
          <p:nvPr/>
        </p:nvSpPr>
        <p:spPr>
          <a:xfrm>
            <a:off x="5972897" y="210191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19" name="CuadroTexto 18">
            <a:extLst>
              <a:ext uri="{FF2B5EF4-FFF2-40B4-BE49-F238E27FC236}">
                <a16:creationId xmlns:a16="http://schemas.microsoft.com/office/drawing/2014/main" id="{0A5E15CF-1D74-7E8D-8C79-D2F280232081}"/>
              </a:ext>
            </a:extLst>
          </p:cNvPr>
          <p:cNvSpPr txBox="1"/>
          <p:nvPr/>
        </p:nvSpPr>
        <p:spPr>
          <a:xfrm>
            <a:off x="6289604" y="1891374"/>
            <a:ext cx="3293807"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Estatus</a:t>
            </a:r>
            <a:r>
              <a:rPr lang="es-ES" sz="1100" dirty="0">
                <a:solidFill>
                  <a:srgbClr val="FFFFFF"/>
                </a:solidFill>
              </a:rPr>
              <a:t> de la sección que se está creando.</a:t>
            </a:r>
          </a:p>
          <a:p>
            <a:pPr algn="ctr"/>
            <a:r>
              <a:rPr lang="es-ES" sz="1100" dirty="0">
                <a:solidFill>
                  <a:srgbClr val="FFFFFF"/>
                </a:solidFill>
              </a:rPr>
              <a:t>Solamente en los NRC con estatus </a:t>
            </a:r>
            <a:r>
              <a:rPr lang="es-ES" sz="1100" b="1" dirty="0">
                <a:solidFill>
                  <a:srgbClr val="92D050"/>
                </a:solidFill>
              </a:rPr>
              <a:t>Activo</a:t>
            </a:r>
            <a:r>
              <a:rPr lang="es-ES" sz="1100" dirty="0">
                <a:solidFill>
                  <a:srgbClr val="FFFFFF"/>
                </a:solidFill>
              </a:rPr>
              <a:t> se podrán inscribir los estudiantes. (Requerido)</a:t>
            </a:r>
            <a:endParaRPr lang="es-ES" dirty="0"/>
          </a:p>
        </p:txBody>
      </p:sp>
    </p:spTree>
    <p:extLst>
      <p:ext uri="{BB962C8B-B14F-4D97-AF65-F5344CB8AC3E}">
        <p14:creationId xmlns:p14="http://schemas.microsoft.com/office/powerpoint/2010/main" val="405932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1)">
                                      <p:cBhvr>
                                        <p:cTn id="21" dur="2000"/>
                                        <p:tgtEl>
                                          <p:spTgt spid="16"/>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2C57459-CE6C-E1F3-AEF0-CA5AED21A22E}"/>
              </a:ext>
            </a:extLst>
          </p:cNvPr>
          <p:cNvPicPr>
            <a:picLocks noChangeAspect="1"/>
          </p:cNvPicPr>
          <p:nvPr/>
        </p:nvPicPr>
        <p:blipFill>
          <a:blip r:embed="rId2"/>
          <a:stretch>
            <a:fillRect/>
          </a:stretch>
        </p:blipFill>
        <p:spPr>
          <a:xfrm>
            <a:off x="415841" y="1006927"/>
            <a:ext cx="11479238" cy="48948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3" name="Rectángulo 12">
            <a:extLst>
              <a:ext uri="{FF2B5EF4-FFF2-40B4-BE49-F238E27FC236}">
                <a16:creationId xmlns:a16="http://schemas.microsoft.com/office/drawing/2014/main" id="{0C416E89-211D-4837-338E-96C303A74963}"/>
              </a:ext>
            </a:extLst>
          </p:cNvPr>
          <p:cNvSpPr/>
          <p:nvPr/>
        </p:nvSpPr>
        <p:spPr>
          <a:xfrm>
            <a:off x="4634665" y="1899483"/>
            <a:ext cx="121999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4" name="Rectángulo: esquinas redondeadas 13">
            <a:extLst>
              <a:ext uri="{FF2B5EF4-FFF2-40B4-BE49-F238E27FC236}">
                <a16:creationId xmlns:a16="http://schemas.microsoft.com/office/drawing/2014/main" id="{87FBAF83-2658-6C29-353C-0FF7E0498569}"/>
              </a:ext>
            </a:extLst>
          </p:cNvPr>
          <p:cNvSpPr/>
          <p:nvPr/>
        </p:nvSpPr>
        <p:spPr>
          <a:xfrm>
            <a:off x="5081459" y="16196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5" name="CuadroTexto 14">
            <a:extLst>
              <a:ext uri="{FF2B5EF4-FFF2-40B4-BE49-F238E27FC236}">
                <a16:creationId xmlns:a16="http://schemas.microsoft.com/office/drawing/2014/main" id="{A4553404-B8C7-E65A-BE5A-90F0B17D62D0}"/>
              </a:ext>
            </a:extLst>
          </p:cNvPr>
          <p:cNvSpPr txBox="1"/>
          <p:nvPr/>
        </p:nvSpPr>
        <p:spPr>
          <a:xfrm>
            <a:off x="3549445" y="900186"/>
            <a:ext cx="3293807"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o seleccione el </a:t>
            </a:r>
            <a:r>
              <a:rPr lang="es-ES" sz="1100" b="1" dirty="0">
                <a:solidFill>
                  <a:srgbClr val="92D050"/>
                </a:solidFill>
              </a:rPr>
              <a:t>Campus</a:t>
            </a:r>
            <a:r>
              <a:rPr lang="es-ES" sz="1100" dirty="0">
                <a:solidFill>
                  <a:srgbClr val="FFFFFF"/>
                </a:solidFill>
              </a:rPr>
              <a:t> en el que se impartirá la sección que se está creando. (Requerido)</a:t>
            </a:r>
            <a:endParaRPr lang="es-ES" dirty="0"/>
          </a:p>
        </p:txBody>
      </p:sp>
      <p:sp>
        <p:nvSpPr>
          <p:cNvPr id="16" name="Rectángulo 15">
            <a:extLst>
              <a:ext uri="{FF2B5EF4-FFF2-40B4-BE49-F238E27FC236}">
                <a16:creationId xmlns:a16="http://schemas.microsoft.com/office/drawing/2014/main" id="{C072BE8F-5314-0E2F-0F4A-ECC60BED2F35}"/>
              </a:ext>
            </a:extLst>
          </p:cNvPr>
          <p:cNvSpPr/>
          <p:nvPr/>
        </p:nvSpPr>
        <p:spPr>
          <a:xfrm>
            <a:off x="4634665" y="2111727"/>
            <a:ext cx="1219991"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8" name="Rectángulo: esquinas redondeadas 17">
            <a:extLst>
              <a:ext uri="{FF2B5EF4-FFF2-40B4-BE49-F238E27FC236}">
                <a16:creationId xmlns:a16="http://schemas.microsoft.com/office/drawing/2014/main" id="{42FFEB47-7681-BF12-C8F0-267D603F4B11}"/>
              </a:ext>
            </a:extLst>
          </p:cNvPr>
          <p:cNvSpPr/>
          <p:nvPr/>
        </p:nvSpPr>
        <p:spPr>
          <a:xfrm>
            <a:off x="5972897" y="210191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19" name="CuadroTexto 18">
            <a:extLst>
              <a:ext uri="{FF2B5EF4-FFF2-40B4-BE49-F238E27FC236}">
                <a16:creationId xmlns:a16="http://schemas.microsoft.com/office/drawing/2014/main" id="{0A5E15CF-1D74-7E8D-8C79-D2F280232081}"/>
              </a:ext>
            </a:extLst>
          </p:cNvPr>
          <p:cNvSpPr txBox="1"/>
          <p:nvPr/>
        </p:nvSpPr>
        <p:spPr>
          <a:xfrm>
            <a:off x="6289604" y="1891374"/>
            <a:ext cx="3293807"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Estatus</a:t>
            </a:r>
            <a:r>
              <a:rPr lang="es-ES" sz="1100" dirty="0">
                <a:solidFill>
                  <a:srgbClr val="FFFFFF"/>
                </a:solidFill>
              </a:rPr>
              <a:t> de la sección que se está creando.</a:t>
            </a:r>
          </a:p>
          <a:p>
            <a:pPr algn="ctr"/>
            <a:r>
              <a:rPr lang="es-ES" sz="1100" dirty="0">
                <a:solidFill>
                  <a:srgbClr val="FFFFFF"/>
                </a:solidFill>
              </a:rPr>
              <a:t>Solamente en los NRC con estatus </a:t>
            </a:r>
            <a:r>
              <a:rPr lang="es-ES" sz="1100" b="1" dirty="0">
                <a:solidFill>
                  <a:srgbClr val="92D050"/>
                </a:solidFill>
              </a:rPr>
              <a:t>Activo</a:t>
            </a:r>
            <a:r>
              <a:rPr lang="es-ES" sz="1100" dirty="0">
                <a:solidFill>
                  <a:srgbClr val="FFFFFF"/>
                </a:solidFill>
              </a:rPr>
              <a:t> se podrán inscribir los estudiantes. (Requerido)</a:t>
            </a:r>
            <a:endParaRPr lang="es-ES" dirty="0"/>
          </a:p>
        </p:txBody>
      </p:sp>
    </p:spTree>
    <p:extLst>
      <p:ext uri="{BB962C8B-B14F-4D97-AF65-F5344CB8AC3E}">
        <p14:creationId xmlns:p14="http://schemas.microsoft.com/office/powerpoint/2010/main" val="213087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1)">
                                      <p:cBhvr>
                                        <p:cTn id="21" dur="2000"/>
                                        <p:tgtEl>
                                          <p:spTgt spid="16"/>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8" grpId="0" animBg="1"/>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4071FF7-D951-D714-991E-E8A00768150D}"/>
              </a:ext>
            </a:extLst>
          </p:cNvPr>
          <p:cNvPicPr>
            <a:picLocks noChangeAspect="1"/>
          </p:cNvPicPr>
          <p:nvPr/>
        </p:nvPicPr>
        <p:blipFill>
          <a:blip r:embed="rId3"/>
          <a:stretch>
            <a:fillRect/>
          </a:stretch>
        </p:blipFill>
        <p:spPr>
          <a:xfrm>
            <a:off x="415841" y="1036423"/>
            <a:ext cx="11479238" cy="48948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3" name="Rectángulo 12">
            <a:extLst>
              <a:ext uri="{FF2B5EF4-FFF2-40B4-BE49-F238E27FC236}">
                <a16:creationId xmlns:a16="http://schemas.microsoft.com/office/drawing/2014/main" id="{0C416E89-211D-4837-338E-96C303A74963}"/>
              </a:ext>
            </a:extLst>
          </p:cNvPr>
          <p:cNvSpPr/>
          <p:nvPr/>
        </p:nvSpPr>
        <p:spPr>
          <a:xfrm>
            <a:off x="4198375" y="2263278"/>
            <a:ext cx="1528466"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4" name="Rectángulo: esquinas redondeadas 13">
            <a:extLst>
              <a:ext uri="{FF2B5EF4-FFF2-40B4-BE49-F238E27FC236}">
                <a16:creationId xmlns:a16="http://schemas.microsoft.com/office/drawing/2014/main" id="{87FBAF83-2658-6C29-353C-0FF7E0498569}"/>
              </a:ext>
            </a:extLst>
          </p:cNvPr>
          <p:cNvSpPr/>
          <p:nvPr/>
        </p:nvSpPr>
        <p:spPr>
          <a:xfrm>
            <a:off x="4953643" y="198341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5</a:t>
            </a:r>
            <a:endParaRPr lang="es-PE" sz="1100" b="1" dirty="0"/>
          </a:p>
        </p:txBody>
      </p:sp>
      <p:sp>
        <p:nvSpPr>
          <p:cNvPr id="15" name="CuadroTexto 14">
            <a:extLst>
              <a:ext uri="{FF2B5EF4-FFF2-40B4-BE49-F238E27FC236}">
                <a16:creationId xmlns:a16="http://schemas.microsoft.com/office/drawing/2014/main" id="{A4553404-B8C7-E65A-BE5A-90F0B17D62D0}"/>
              </a:ext>
            </a:extLst>
          </p:cNvPr>
          <p:cNvSpPr txBox="1"/>
          <p:nvPr/>
        </p:nvSpPr>
        <p:spPr>
          <a:xfrm>
            <a:off x="2812027" y="1087002"/>
            <a:ext cx="4434349"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Tipo de horario</a:t>
            </a:r>
            <a:r>
              <a:rPr lang="es-ES" sz="1100" dirty="0">
                <a:solidFill>
                  <a:srgbClr val="FFFFFF"/>
                </a:solidFill>
              </a:rPr>
              <a:t> que corresponde a la sección que se está creando. Estos valores vienen definidos según el Catálogo de cursos. (TEO, PRA, </a:t>
            </a:r>
            <a:r>
              <a:rPr lang="es-ES" sz="1100" dirty="0" err="1">
                <a:solidFill>
                  <a:srgbClr val="FFFFFF"/>
                </a:solidFill>
              </a:rPr>
              <a:t>etc</a:t>
            </a:r>
            <a:r>
              <a:rPr lang="es-ES" sz="1100" dirty="0">
                <a:solidFill>
                  <a:srgbClr val="FFFFFF"/>
                </a:solidFill>
              </a:rPr>
              <a:t>). Si la asignatura tiene más de un tipo de horario, seleccione el principal de la asignatura. (Requerido)</a:t>
            </a:r>
            <a:endParaRPr lang="es-ES" dirty="0"/>
          </a:p>
        </p:txBody>
      </p:sp>
      <p:sp>
        <p:nvSpPr>
          <p:cNvPr id="16" name="Rectángulo 15">
            <a:extLst>
              <a:ext uri="{FF2B5EF4-FFF2-40B4-BE49-F238E27FC236}">
                <a16:creationId xmlns:a16="http://schemas.microsoft.com/office/drawing/2014/main" id="{C072BE8F-5314-0E2F-0F4A-ECC60BED2F35}"/>
              </a:ext>
            </a:extLst>
          </p:cNvPr>
          <p:cNvSpPr/>
          <p:nvPr/>
        </p:nvSpPr>
        <p:spPr>
          <a:xfrm>
            <a:off x="4198375" y="2475522"/>
            <a:ext cx="1528466"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8" name="Rectángulo: esquinas redondeadas 17">
            <a:extLst>
              <a:ext uri="{FF2B5EF4-FFF2-40B4-BE49-F238E27FC236}">
                <a16:creationId xmlns:a16="http://schemas.microsoft.com/office/drawing/2014/main" id="{42FFEB47-7681-BF12-C8F0-267D603F4B11}"/>
              </a:ext>
            </a:extLst>
          </p:cNvPr>
          <p:cNvSpPr/>
          <p:nvPr/>
        </p:nvSpPr>
        <p:spPr>
          <a:xfrm>
            <a:off x="5845081" y="246571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6</a:t>
            </a:r>
            <a:endParaRPr lang="es-PE" sz="1100" b="1" dirty="0"/>
          </a:p>
        </p:txBody>
      </p:sp>
      <p:sp>
        <p:nvSpPr>
          <p:cNvPr id="19" name="CuadroTexto 18">
            <a:extLst>
              <a:ext uri="{FF2B5EF4-FFF2-40B4-BE49-F238E27FC236}">
                <a16:creationId xmlns:a16="http://schemas.microsoft.com/office/drawing/2014/main" id="{0A5E15CF-1D74-7E8D-8C79-D2F280232081}"/>
              </a:ext>
            </a:extLst>
          </p:cNvPr>
          <p:cNvSpPr txBox="1"/>
          <p:nvPr/>
        </p:nvSpPr>
        <p:spPr>
          <a:xfrm>
            <a:off x="6161788" y="2156847"/>
            <a:ext cx="3293807"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En el campo </a:t>
            </a:r>
            <a:r>
              <a:rPr lang="es-ES" sz="1100" b="1" dirty="0">
                <a:solidFill>
                  <a:srgbClr val="92D050"/>
                </a:solidFill>
              </a:rPr>
              <a:t>Método educativo</a:t>
            </a:r>
            <a:r>
              <a:rPr lang="es-ES" sz="1100" dirty="0">
                <a:solidFill>
                  <a:srgbClr val="FFFFFF"/>
                </a:solidFill>
              </a:rPr>
              <a:t> se desplegará el método que corresponda al tipo de horario según lo establecido en el catálogo de cursos (VIRT, PRES)</a:t>
            </a:r>
            <a:endParaRPr lang="es-ES" dirty="0"/>
          </a:p>
        </p:txBody>
      </p:sp>
      <p:sp>
        <p:nvSpPr>
          <p:cNvPr id="2" name="Rectángulo 1">
            <a:extLst>
              <a:ext uri="{FF2B5EF4-FFF2-40B4-BE49-F238E27FC236}">
                <a16:creationId xmlns:a16="http://schemas.microsoft.com/office/drawing/2014/main" id="{6CEFF747-F99F-3E1A-7625-740CC47ED317}"/>
              </a:ext>
            </a:extLst>
          </p:cNvPr>
          <p:cNvSpPr/>
          <p:nvPr/>
        </p:nvSpPr>
        <p:spPr>
          <a:xfrm>
            <a:off x="4198375" y="2714286"/>
            <a:ext cx="1528466"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5" name="Rectángulo: esquinas redondeadas 4">
            <a:extLst>
              <a:ext uri="{FF2B5EF4-FFF2-40B4-BE49-F238E27FC236}">
                <a16:creationId xmlns:a16="http://schemas.microsoft.com/office/drawing/2014/main" id="{0FFD603D-4876-FCC4-3B52-23711464D7F1}"/>
              </a:ext>
            </a:extLst>
          </p:cNvPr>
          <p:cNvSpPr/>
          <p:nvPr/>
        </p:nvSpPr>
        <p:spPr>
          <a:xfrm>
            <a:off x="4921371" y="300672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7</a:t>
            </a:r>
            <a:endParaRPr lang="es-PE" sz="1100" b="1" dirty="0"/>
          </a:p>
        </p:txBody>
      </p:sp>
      <p:sp>
        <p:nvSpPr>
          <p:cNvPr id="9" name="CuadroTexto 8">
            <a:extLst>
              <a:ext uri="{FF2B5EF4-FFF2-40B4-BE49-F238E27FC236}">
                <a16:creationId xmlns:a16="http://schemas.microsoft.com/office/drawing/2014/main" id="{999E8B9A-61A6-EFF7-9FBD-EE0650EB650E}"/>
              </a:ext>
            </a:extLst>
          </p:cNvPr>
          <p:cNvSpPr txBox="1"/>
          <p:nvPr/>
        </p:nvSpPr>
        <p:spPr>
          <a:xfrm>
            <a:off x="3657594" y="3269503"/>
            <a:ext cx="2743201"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el </a:t>
            </a:r>
            <a:r>
              <a:rPr lang="es-ES" sz="1100" b="1" dirty="0">
                <a:solidFill>
                  <a:srgbClr val="92D050"/>
                </a:solidFill>
              </a:rPr>
              <a:t>Socio de integración</a:t>
            </a:r>
            <a:r>
              <a:rPr lang="es-ES" sz="1100" dirty="0">
                <a:solidFill>
                  <a:srgbClr val="FFFFFF"/>
                </a:solidFill>
              </a:rPr>
              <a:t> (OPLMS) si desea que el NRC se integre con el </a:t>
            </a:r>
            <a:r>
              <a:rPr lang="es-ES" sz="1100" b="1" dirty="0">
                <a:solidFill>
                  <a:srgbClr val="FFFFFF"/>
                </a:solidFill>
              </a:rPr>
              <a:t>Aula Virtual</a:t>
            </a:r>
            <a:r>
              <a:rPr lang="es-ES" sz="1100" dirty="0">
                <a:solidFill>
                  <a:srgbClr val="FFFFFF"/>
                </a:solidFill>
              </a:rPr>
              <a:t>.</a:t>
            </a:r>
            <a:endParaRPr lang="es-ES" dirty="0"/>
          </a:p>
        </p:txBody>
      </p:sp>
    </p:spTree>
    <p:extLst>
      <p:ext uri="{BB962C8B-B14F-4D97-AF65-F5344CB8AC3E}">
        <p14:creationId xmlns:p14="http://schemas.microsoft.com/office/powerpoint/2010/main" val="408813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1)">
                                      <p:cBhvr>
                                        <p:cTn id="21" dur="2000"/>
                                        <p:tgtEl>
                                          <p:spTgt spid="16"/>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heel(1)">
                                      <p:cBhvr>
                                        <p:cTn id="35" dur="2000"/>
                                        <p:tgtEl>
                                          <p:spTgt spid="2"/>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500" fill="hold"/>
                                        <p:tgtEl>
                                          <p:spTgt spid="5"/>
                                        </p:tgtEl>
                                        <p:attrNameLst>
                                          <p:attrName>ppt_w</p:attrName>
                                        </p:attrNameLst>
                                      </p:cBhvr>
                                      <p:tavLst>
                                        <p:tav tm="0">
                                          <p:val>
                                            <p:fltVal val="0"/>
                                          </p:val>
                                        </p:tav>
                                        <p:tav tm="100000">
                                          <p:val>
                                            <p:strVal val="#ppt_w"/>
                                          </p:val>
                                        </p:tav>
                                      </p:tavLst>
                                    </p:anim>
                                    <p:anim calcmode="lin" valueType="num">
                                      <p:cBhvr>
                                        <p:cTn id="40" dur="500" fill="hold"/>
                                        <p:tgtEl>
                                          <p:spTgt spid="5"/>
                                        </p:tgtEl>
                                        <p:attrNameLst>
                                          <p:attrName>ppt_h</p:attrName>
                                        </p:attrNameLst>
                                      </p:cBhvr>
                                      <p:tavLst>
                                        <p:tav tm="0">
                                          <p:val>
                                            <p:fltVal val="0"/>
                                          </p:val>
                                        </p:tav>
                                        <p:tav tm="100000">
                                          <p:val>
                                            <p:strVal val="#ppt_h"/>
                                          </p:val>
                                        </p:tav>
                                      </p:tavLst>
                                    </p:anim>
                                    <p:animEffect transition="in" filter="fade">
                                      <p:cBhvr>
                                        <p:cTn id="41" dur="500"/>
                                        <p:tgtEl>
                                          <p:spTgt spid="5"/>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8" grpId="0" animBg="1"/>
      <p:bldP spid="19" grpId="0" animBg="1"/>
      <p:bldP spid="2" grpId="0" animBg="1"/>
      <p:bldP spid="5"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BFD0DA6B-DB20-2DC4-8F9D-F8FC14ECDB7D}"/>
              </a:ext>
            </a:extLst>
          </p:cNvPr>
          <p:cNvPicPr>
            <a:picLocks noChangeAspect="1"/>
          </p:cNvPicPr>
          <p:nvPr/>
        </p:nvPicPr>
        <p:blipFill>
          <a:blip r:embed="rId3"/>
          <a:stretch>
            <a:fillRect/>
          </a:stretch>
        </p:blipFill>
        <p:spPr>
          <a:xfrm>
            <a:off x="415841" y="1006927"/>
            <a:ext cx="11479238" cy="48948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E1052D79-40E2-EAFA-D68D-F499233756E6}"/>
              </a:ext>
            </a:extLst>
          </p:cNvPr>
          <p:cNvSpPr/>
          <p:nvPr/>
        </p:nvSpPr>
        <p:spPr>
          <a:xfrm>
            <a:off x="8085799" y="1899483"/>
            <a:ext cx="141216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1" name="Rectángulo: esquinas redondeadas 10">
            <a:extLst>
              <a:ext uri="{FF2B5EF4-FFF2-40B4-BE49-F238E27FC236}">
                <a16:creationId xmlns:a16="http://schemas.microsoft.com/office/drawing/2014/main" id="{2371FED9-ACBC-08AC-64B4-0FAB7647CB6B}"/>
              </a:ext>
            </a:extLst>
          </p:cNvPr>
          <p:cNvSpPr/>
          <p:nvPr/>
        </p:nvSpPr>
        <p:spPr>
          <a:xfrm>
            <a:off x="8532593" y="16196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8</a:t>
            </a:r>
            <a:endParaRPr lang="es-PE" sz="1100" b="1" dirty="0"/>
          </a:p>
        </p:txBody>
      </p:sp>
      <p:sp>
        <p:nvSpPr>
          <p:cNvPr id="12" name="CuadroTexto 11">
            <a:extLst>
              <a:ext uri="{FF2B5EF4-FFF2-40B4-BE49-F238E27FC236}">
                <a16:creationId xmlns:a16="http://schemas.microsoft.com/office/drawing/2014/main" id="{C25B88DA-9849-094A-17C6-AD82BA327777}"/>
              </a:ext>
            </a:extLst>
          </p:cNvPr>
          <p:cNvSpPr txBox="1"/>
          <p:nvPr/>
        </p:nvSpPr>
        <p:spPr>
          <a:xfrm>
            <a:off x="6585486" y="596127"/>
            <a:ext cx="4109873"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o seleccione el </a:t>
            </a:r>
            <a:r>
              <a:rPr lang="es-ES" sz="1100" b="1" dirty="0">
                <a:solidFill>
                  <a:srgbClr val="92D050"/>
                </a:solidFill>
              </a:rPr>
              <a:t>Modo de calificar</a:t>
            </a:r>
            <a:r>
              <a:rPr lang="es-ES" sz="1100" dirty="0">
                <a:solidFill>
                  <a:srgbClr val="FFFFFF"/>
                </a:solidFill>
              </a:rPr>
              <a:t> de la sección. Los posibles valores han sido definidos desde el Catálogo de cursos. Es un campo obligatorio.</a:t>
            </a:r>
          </a:p>
          <a:p>
            <a:pPr algn="ctr"/>
            <a:r>
              <a:rPr lang="es-ES" sz="1100" b="1" dirty="0">
                <a:solidFill>
                  <a:srgbClr val="FFFFFF"/>
                </a:solidFill>
              </a:rPr>
              <a:t>C</a:t>
            </a:r>
            <a:r>
              <a:rPr lang="es-ES" sz="1100" dirty="0">
                <a:solidFill>
                  <a:srgbClr val="FFFFFF"/>
                </a:solidFill>
              </a:rPr>
              <a:t>: Escala Centesimal (idiomas)</a:t>
            </a:r>
            <a:endParaRPr lang="es-ES" dirty="0"/>
          </a:p>
          <a:p>
            <a:pPr algn="ctr"/>
            <a:r>
              <a:rPr lang="es-ES" sz="1100" b="1" dirty="0">
                <a:solidFill>
                  <a:srgbClr val="FFFFFF"/>
                </a:solidFill>
              </a:rPr>
              <a:t>V</a:t>
            </a:r>
            <a:r>
              <a:rPr lang="es-ES" sz="1100" dirty="0">
                <a:solidFill>
                  <a:srgbClr val="FFFFFF"/>
                </a:solidFill>
              </a:rPr>
              <a:t>: Escala Vigesimal Estándar (Computación, Emprendimiento)</a:t>
            </a:r>
          </a:p>
        </p:txBody>
      </p:sp>
      <p:sp>
        <p:nvSpPr>
          <p:cNvPr id="20" name="Rectángulo 19">
            <a:extLst>
              <a:ext uri="{FF2B5EF4-FFF2-40B4-BE49-F238E27FC236}">
                <a16:creationId xmlns:a16="http://schemas.microsoft.com/office/drawing/2014/main" id="{DE501EB0-375E-7930-3C05-05B52124DA8B}"/>
              </a:ext>
            </a:extLst>
          </p:cNvPr>
          <p:cNvSpPr/>
          <p:nvPr/>
        </p:nvSpPr>
        <p:spPr>
          <a:xfrm>
            <a:off x="8085799" y="2111727"/>
            <a:ext cx="141216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21" name="Rectángulo: esquinas redondeadas 20">
            <a:extLst>
              <a:ext uri="{FF2B5EF4-FFF2-40B4-BE49-F238E27FC236}">
                <a16:creationId xmlns:a16="http://schemas.microsoft.com/office/drawing/2014/main" id="{DCE1D74F-DD89-7510-0FD7-9F1491D9B0D3}"/>
              </a:ext>
            </a:extLst>
          </p:cNvPr>
          <p:cNvSpPr/>
          <p:nvPr/>
        </p:nvSpPr>
        <p:spPr>
          <a:xfrm>
            <a:off x="7758635" y="211172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9</a:t>
            </a:r>
            <a:endParaRPr lang="es-PE" sz="1100" b="1" dirty="0"/>
          </a:p>
        </p:txBody>
      </p:sp>
      <p:sp>
        <p:nvSpPr>
          <p:cNvPr id="22" name="CuadroTexto 21">
            <a:extLst>
              <a:ext uri="{FF2B5EF4-FFF2-40B4-BE49-F238E27FC236}">
                <a16:creationId xmlns:a16="http://schemas.microsoft.com/office/drawing/2014/main" id="{5D898119-E835-4946-FB3F-80AF79F8A98F}"/>
              </a:ext>
            </a:extLst>
          </p:cNvPr>
          <p:cNvSpPr txBox="1"/>
          <p:nvPr/>
        </p:nvSpPr>
        <p:spPr>
          <a:xfrm>
            <a:off x="4353324" y="1983909"/>
            <a:ext cx="3293807"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Ingrese la </a:t>
            </a:r>
            <a:r>
              <a:rPr lang="es-ES" sz="1100" b="1" dirty="0">
                <a:solidFill>
                  <a:srgbClr val="92D050"/>
                </a:solidFill>
              </a:rPr>
              <a:t>Sesión</a:t>
            </a:r>
            <a:r>
              <a:rPr lang="es-ES" sz="1100" dirty="0">
                <a:solidFill>
                  <a:srgbClr val="FFFFFF"/>
                </a:solidFill>
              </a:rPr>
              <a:t> o jornada en la que se imparte la sección que se está creando.</a:t>
            </a:r>
          </a:p>
          <a:p>
            <a:pPr algn="ctr"/>
            <a:r>
              <a:rPr lang="es-ES" sz="1100" dirty="0">
                <a:solidFill>
                  <a:srgbClr val="FFFFFF"/>
                </a:solidFill>
              </a:rPr>
              <a:t>M: Mañana</a:t>
            </a:r>
          </a:p>
          <a:p>
            <a:pPr algn="ctr"/>
            <a:r>
              <a:rPr lang="es-ES" sz="1100" dirty="0">
                <a:solidFill>
                  <a:srgbClr val="FFFFFF"/>
                </a:solidFill>
              </a:rPr>
              <a:t>T: Tarde</a:t>
            </a:r>
          </a:p>
          <a:p>
            <a:pPr algn="ctr"/>
            <a:r>
              <a:rPr lang="es-ES" sz="1100" dirty="0">
                <a:solidFill>
                  <a:srgbClr val="FFFFFF"/>
                </a:solidFill>
              </a:rPr>
              <a:t>N: Noche</a:t>
            </a:r>
          </a:p>
        </p:txBody>
      </p:sp>
    </p:spTree>
    <p:extLst>
      <p:ext uri="{BB962C8B-B14F-4D97-AF65-F5344CB8AC3E}">
        <p14:creationId xmlns:p14="http://schemas.microsoft.com/office/powerpoint/2010/main" val="427966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heel(1)">
                                      <p:cBhvr>
                                        <p:cTn id="21" dur="2000"/>
                                        <p:tgtEl>
                                          <p:spTgt spid="20"/>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animEffect transition="in" filter="fade">
                                      <p:cBhvr>
                                        <p:cTn id="27" dur="500"/>
                                        <p:tgtEl>
                                          <p:spTgt spid="21"/>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0"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4281F050-3572-909E-F7E1-E5DD33244922}"/>
              </a:ext>
            </a:extLst>
          </p:cNvPr>
          <p:cNvPicPr>
            <a:picLocks noChangeAspect="1"/>
          </p:cNvPicPr>
          <p:nvPr/>
        </p:nvPicPr>
        <p:blipFill>
          <a:blip r:embed="rId3"/>
          <a:stretch>
            <a:fillRect/>
          </a:stretch>
        </p:blipFill>
        <p:spPr>
          <a:xfrm>
            <a:off x="415841" y="1006927"/>
            <a:ext cx="11479238" cy="48948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D506698B-E84B-C378-5523-E4966B7EE3D0}"/>
              </a:ext>
            </a:extLst>
          </p:cNvPr>
          <p:cNvSpPr/>
          <p:nvPr/>
        </p:nvSpPr>
        <p:spPr>
          <a:xfrm>
            <a:off x="470650" y="3239127"/>
            <a:ext cx="4209505" cy="37974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5" name="Rectángulo: esquinas redondeadas 4">
            <a:extLst>
              <a:ext uri="{FF2B5EF4-FFF2-40B4-BE49-F238E27FC236}">
                <a16:creationId xmlns:a16="http://schemas.microsoft.com/office/drawing/2014/main" id="{FE83A93D-D515-96B4-D698-65853ADAE96A}"/>
              </a:ext>
            </a:extLst>
          </p:cNvPr>
          <p:cNvSpPr/>
          <p:nvPr/>
        </p:nvSpPr>
        <p:spPr>
          <a:xfrm>
            <a:off x="4754095" y="330810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10</a:t>
            </a:r>
          </a:p>
        </p:txBody>
      </p:sp>
      <p:sp>
        <p:nvSpPr>
          <p:cNvPr id="9" name="CuadroTexto 8">
            <a:extLst>
              <a:ext uri="{FF2B5EF4-FFF2-40B4-BE49-F238E27FC236}">
                <a16:creationId xmlns:a16="http://schemas.microsoft.com/office/drawing/2014/main" id="{210A9B12-0DA9-02B2-4933-A4AC1051D5B2}"/>
              </a:ext>
            </a:extLst>
          </p:cNvPr>
          <p:cNvSpPr txBox="1"/>
          <p:nvPr/>
        </p:nvSpPr>
        <p:spPr>
          <a:xfrm>
            <a:off x="5043695" y="3011813"/>
            <a:ext cx="4310793"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requiere asignar al NRC una </a:t>
            </a:r>
            <a:r>
              <a:rPr lang="es-ES" sz="1100" b="1" dirty="0">
                <a:solidFill>
                  <a:srgbClr val="92D050"/>
                </a:solidFill>
              </a:rPr>
              <a:t>parte de periodo</a:t>
            </a:r>
            <a:r>
              <a:rPr lang="es-ES" sz="1100" dirty="0">
                <a:solidFill>
                  <a:srgbClr val="FFFFFF"/>
                </a:solidFill>
              </a:rPr>
              <a:t> en la cual se dictará, Las opciones son aquellas que fueron definidas en la configuración de SOATERM.</a:t>
            </a:r>
          </a:p>
        </p:txBody>
      </p:sp>
      <p:sp>
        <p:nvSpPr>
          <p:cNvPr id="13" name="Flecha: hacia abajo 12">
            <a:extLst>
              <a:ext uri="{FF2B5EF4-FFF2-40B4-BE49-F238E27FC236}">
                <a16:creationId xmlns:a16="http://schemas.microsoft.com/office/drawing/2014/main" id="{1F687D0A-E9D9-0D5C-72CB-645ADA0499A7}"/>
              </a:ext>
            </a:extLst>
          </p:cNvPr>
          <p:cNvSpPr/>
          <p:nvPr/>
        </p:nvSpPr>
        <p:spPr>
          <a:xfrm>
            <a:off x="11798711" y="3913239"/>
            <a:ext cx="144000" cy="1503926"/>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304CEE99-65E7-9714-2433-AD250482E515}"/>
              </a:ext>
            </a:extLst>
          </p:cNvPr>
          <p:cNvSpPr/>
          <p:nvPr/>
        </p:nvSpPr>
        <p:spPr>
          <a:xfrm>
            <a:off x="11496316" y="455305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11</a:t>
            </a:r>
          </a:p>
        </p:txBody>
      </p:sp>
      <p:sp>
        <p:nvSpPr>
          <p:cNvPr id="15" name="CuadroTexto 14">
            <a:extLst>
              <a:ext uri="{FF2B5EF4-FFF2-40B4-BE49-F238E27FC236}">
                <a16:creationId xmlns:a16="http://schemas.microsoft.com/office/drawing/2014/main" id="{C0D1E6AF-D0F1-A4BF-D929-27C454CDA13F}"/>
              </a:ext>
            </a:extLst>
          </p:cNvPr>
          <p:cNvSpPr txBox="1"/>
          <p:nvPr/>
        </p:nvSpPr>
        <p:spPr>
          <a:xfrm>
            <a:off x="9700402" y="4429181"/>
            <a:ext cx="1699347"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Desplace la página hacia abajo.</a:t>
            </a:r>
          </a:p>
        </p:txBody>
      </p:sp>
    </p:spTree>
    <p:extLst>
      <p:ext uri="{BB962C8B-B14F-4D97-AF65-F5344CB8AC3E}">
        <p14:creationId xmlns:p14="http://schemas.microsoft.com/office/powerpoint/2010/main" val="298400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3000"/>
                            </p:stCondLst>
                            <p:childTnLst>
                              <p:par>
                                <p:cTn id="19" presetID="22" presetClass="entr" presetSubtype="1"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500"/>
                                        <p:tgtEl>
                                          <p:spTgt spid="13"/>
                                        </p:tgtEl>
                                      </p:cBhvr>
                                    </p:animEffect>
                                  </p:childTnLst>
                                </p:cTn>
                              </p:par>
                            </p:childTnLst>
                          </p:cTn>
                        </p:par>
                        <p:par>
                          <p:cTn id="22" fill="hold">
                            <p:stCondLst>
                              <p:cond delay="3500"/>
                            </p:stCondLst>
                            <p:childTnLst>
                              <p:par>
                                <p:cTn id="23" presetID="53" presetClass="entr" presetSubtype="16"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childTnLst>
                          </p:cTn>
                        </p:par>
                        <p:par>
                          <p:cTn id="28" fill="hold">
                            <p:stCondLst>
                              <p:cond delay="400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P spid="13" grpId="0" animBg="1"/>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498387" cy="523220"/>
          </a:xfrm>
          <a:prstGeom prst="rect">
            <a:avLst/>
          </a:prstGeom>
          <a:noFill/>
        </p:spPr>
        <p:txBody>
          <a:bodyPr wrap="none" rtlCol="0">
            <a:spAutoFit/>
          </a:bodyPr>
          <a:lstStyle/>
          <a:p>
            <a:r>
              <a:rPr lang="es-ES" sz="2800" b="1" dirty="0">
                <a:latin typeface="Montserrat" pitchFamily="2" charset="0"/>
              </a:rPr>
              <a:t>PROGRAMAR NRC – SSASECT – Tipo de Horario TEORÍA</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0929707" y="241540"/>
            <a:ext cx="126229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1" name="Imagen 10">
            <a:extLst>
              <a:ext uri="{FF2B5EF4-FFF2-40B4-BE49-F238E27FC236}">
                <a16:creationId xmlns:a16="http://schemas.microsoft.com/office/drawing/2014/main" id="{2B9CF96F-FB65-0A88-679A-32154CE26944}"/>
              </a:ext>
            </a:extLst>
          </p:cNvPr>
          <p:cNvPicPr>
            <a:picLocks noChangeAspect="1"/>
          </p:cNvPicPr>
          <p:nvPr/>
        </p:nvPicPr>
        <p:blipFill>
          <a:blip r:embed="rId5"/>
          <a:stretch>
            <a:fillRect/>
          </a:stretch>
        </p:blipFill>
        <p:spPr>
          <a:xfrm>
            <a:off x="409598" y="1012723"/>
            <a:ext cx="11505779" cy="4889057"/>
          </a:xfrm>
          <a:prstGeom prst="rect">
            <a:avLst/>
          </a:prstGeom>
        </p:spPr>
      </p:pic>
      <p:sp>
        <p:nvSpPr>
          <p:cNvPr id="12" name="Rectángulo 11">
            <a:extLst>
              <a:ext uri="{FF2B5EF4-FFF2-40B4-BE49-F238E27FC236}">
                <a16:creationId xmlns:a16="http://schemas.microsoft.com/office/drawing/2014/main" id="{353C1DDE-6223-5CF5-0932-35C7B66C5962}"/>
              </a:ext>
            </a:extLst>
          </p:cNvPr>
          <p:cNvSpPr/>
          <p:nvPr/>
        </p:nvSpPr>
        <p:spPr>
          <a:xfrm>
            <a:off x="409598" y="1960934"/>
            <a:ext cx="11372804" cy="189331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6" name="CuadroTexto 15">
            <a:extLst>
              <a:ext uri="{FF2B5EF4-FFF2-40B4-BE49-F238E27FC236}">
                <a16:creationId xmlns:a16="http://schemas.microsoft.com/office/drawing/2014/main" id="{E23DA981-0634-1237-1FBF-98A548453256}"/>
              </a:ext>
            </a:extLst>
          </p:cNvPr>
          <p:cNvSpPr txBox="1"/>
          <p:nvPr/>
        </p:nvSpPr>
        <p:spPr>
          <a:xfrm>
            <a:off x="4225745" y="3942941"/>
            <a:ext cx="4109873"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corroborar que la cantidad de horas créditos y horas de cobro asociadas a dicho NRC sean los requeridos en la programación.</a:t>
            </a:r>
          </a:p>
        </p:txBody>
      </p:sp>
    </p:spTree>
    <p:extLst>
      <p:ext uri="{BB962C8B-B14F-4D97-AF65-F5344CB8AC3E}">
        <p14:creationId xmlns:p14="http://schemas.microsoft.com/office/powerpoint/2010/main" val="396953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1"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heel(1)">
                                      <p:cBhvr>
                                        <p:cTn id="13" dur="2000"/>
                                        <p:tgtEl>
                                          <p:spTgt spid="12"/>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498387" cy="523220"/>
          </a:xfrm>
          <a:prstGeom prst="rect">
            <a:avLst/>
          </a:prstGeom>
          <a:noFill/>
        </p:spPr>
        <p:txBody>
          <a:bodyPr wrap="none" rtlCol="0">
            <a:spAutoFit/>
          </a:bodyPr>
          <a:lstStyle/>
          <a:p>
            <a:r>
              <a:rPr lang="es-ES" sz="2800" b="1" dirty="0">
                <a:latin typeface="Montserrat" pitchFamily="2" charset="0"/>
              </a:rPr>
              <a:t>PROGRAMAR NRC – SSASECT – Tipo de Horario TEORÍA</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0929707" y="241540"/>
            <a:ext cx="126229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1" name="Imagen 10">
            <a:extLst>
              <a:ext uri="{FF2B5EF4-FFF2-40B4-BE49-F238E27FC236}">
                <a16:creationId xmlns:a16="http://schemas.microsoft.com/office/drawing/2014/main" id="{2B9CF96F-FB65-0A88-679A-32154CE26944}"/>
              </a:ext>
            </a:extLst>
          </p:cNvPr>
          <p:cNvPicPr>
            <a:picLocks noChangeAspect="1"/>
          </p:cNvPicPr>
          <p:nvPr/>
        </p:nvPicPr>
        <p:blipFill>
          <a:blip r:embed="rId5"/>
          <a:stretch>
            <a:fillRect/>
          </a:stretch>
        </p:blipFill>
        <p:spPr>
          <a:xfrm>
            <a:off x="409598" y="1012723"/>
            <a:ext cx="11505779" cy="4889057"/>
          </a:xfrm>
          <a:prstGeom prst="rect">
            <a:avLst/>
          </a:prstGeom>
        </p:spPr>
      </p:pic>
      <p:sp>
        <p:nvSpPr>
          <p:cNvPr id="2" name="Rectángulo 1">
            <a:extLst>
              <a:ext uri="{FF2B5EF4-FFF2-40B4-BE49-F238E27FC236}">
                <a16:creationId xmlns:a16="http://schemas.microsoft.com/office/drawing/2014/main" id="{DFF4394B-2DFC-9F3C-160F-4F578AF2F468}"/>
              </a:ext>
            </a:extLst>
          </p:cNvPr>
          <p:cNvSpPr/>
          <p:nvPr/>
        </p:nvSpPr>
        <p:spPr>
          <a:xfrm>
            <a:off x="5465438" y="4758813"/>
            <a:ext cx="1889092" cy="2099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5" name="Rectángulo: esquinas redondeadas 4">
            <a:extLst>
              <a:ext uri="{FF2B5EF4-FFF2-40B4-BE49-F238E27FC236}">
                <a16:creationId xmlns:a16="http://schemas.microsoft.com/office/drawing/2014/main" id="{25270EBF-54D3-F8EA-7CE5-762642BD6FE0}"/>
              </a:ext>
            </a:extLst>
          </p:cNvPr>
          <p:cNvSpPr/>
          <p:nvPr/>
        </p:nvSpPr>
        <p:spPr>
          <a:xfrm>
            <a:off x="7447404" y="474204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12</a:t>
            </a:r>
          </a:p>
        </p:txBody>
      </p:sp>
      <p:sp>
        <p:nvSpPr>
          <p:cNvPr id="9" name="CuadroTexto 8">
            <a:extLst>
              <a:ext uri="{FF2B5EF4-FFF2-40B4-BE49-F238E27FC236}">
                <a16:creationId xmlns:a16="http://schemas.microsoft.com/office/drawing/2014/main" id="{ADB0C28A-DFA4-D8B0-197C-0B869F97FDDC}"/>
              </a:ext>
            </a:extLst>
          </p:cNvPr>
          <p:cNvSpPr txBox="1"/>
          <p:nvPr/>
        </p:nvSpPr>
        <p:spPr>
          <a:xfrm>
            <a:off x="7755938" y="4630413"/>
            <a:ext cx="2442163"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Si el NRC es de Teoría, la casilla de </a:t>
            </a:r>
            <a:r>
              <a:rPr lang="es-ES" sz="1100" b="1" dirty="0">
                <a:solidFill>
                  <a:srgbClr val="92D050"/>
                </a:solidFill>
              </a:rPr>
              <a:t>Calificable</a:t>
            </a:r>
            <a:r>
              <a:rPr lang="es-ES" sz="1100" dirty="0">
                <a:solidFill>
                  <a:srgbClr val="FFFFFF"/>
                </a:solidFill>
              </a:rPr>
              <a:t> debe estar </a:t>
            </a:r>
            <a:r>
              <a:rPr lang="es-ES" sz="1100" b="1" dirty="0">
                <a:solidFill>
                  <a:srgbClr val="FFFFFF"/>
                </a:solidFill>
              </a:rPr>
              <a:t>activada</a:t>
            </a:r>
            <a:r>
              <a:rPr lang="es-ES" sz="1100" dirty="0">
                <a:solidFill>
                  <a:srgbClr val="FFFFFF"/>
                </a:solidFill>
              </a:rPr>
              <a:t>.</a:t>
            </a:r>
          </a:p>
        </p:txBody>
      </p:sp>
      <p:sp>
        <p:nvSpPr>
          <p:cNvPr id="10" name="Rectángulo 9">
            <a:extLst>
              <a:ext uri="{FF2B5EF4-FFF2-40B4-BE49-F238E27FC236}">
                <a16:creationId xmlns:a16="http://schemas.microsoft.com/office/drawing/2014/main" id="{D60E10AD-2ECB-7A91-3227-8C1C6057848C}"/>
              </a:ext>
            </a:extLst>
          </p:cNvPr>
          <p:cNvSpPr/>
          <p:nvPr/>
        </p:nvSpPr>
        <p:spPr>
          <a:xfrm>
            <a:off x="5467094" y="4963147"/>
            <a:ext cx="1889092" cy="2099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3" name="Rectángulo: esquinas redondeadas 12">
            <a:extLst>
              <a:ext uri="{FF2B5EF4-FFF2-40B4-BE49-F238E27FC236}">
                <a16:creationId xmlns:a16="http://schemas.microsoft.com/office/drawing/2014/main" id="{7E09ED3D-F155-6A84-28AE-5FD022FCFF47}"/>
              </a:ext>
            </a:extLst>
          </p:cNvPr>
          <p:cNvSpPr/>
          <p:nvPr/>
        </p:nvSpPr>
        <p:spPr>
          <a:xfrm>
            <a:off x="5141120" y="494884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13</a:t>
            </a:r>
          </a:p>
        </p:txBody>
      </p:sp>
      <p:sp>
        <p:nvSpPr>
          <p:cNvPr id="14" name="CuadroTexto 13">
            <a:extLst>
              <a:ext uri="{FF2B5EF4-FFF2-40B4-BE49-F238E27FC236}">
                <a16:creationId xmlns:a16="http://schemas.microsoft.com/office/drawing/2014/main" id="{A23564C9-348C-51B2-51CF-07A7F52A5E47}"/>
              </a:ext>
            </a:extLst>
          </p:cNvPr>
          <p:cNvSpPr txBox="1"/>
          <p:nvPr/>
        </p:nvSpPr>
        <p:spPr>
          <a:xfrm>
            <a:off x="2643800" y="4755650"/>
            <a:ext cx="2442163"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Si el NRC es de Teoría, la casilla de </a:t>
            </a:r>
            <a:r>
              <a:rPr lang="es-ES" sz="1100" b="1" dirty="0">
                <a:solidFill>
                  <a:srgbClr val="92D050"/>
                </a:solidFill>
              </a:rPr>
              <a:t>Dispensa de colegiatura y cuotas</a:t>
            </a:r>
            <a:r>
              <a:rPr lang="es-ES" sz="1100" dirty="0">
                <a:solidFill>
                  <a:srgbClr val="FFFFFF"/>
                </a:solidFill>
              </a:rPr>
              <a:t> debe estar </a:t>
            </a:r>
            <a:r>
              <a:rPr lang="es-ES" sz="1100" b="1" dirty="0">
                <a:solidFill>
                  <a:srgbClr val="FFFFFF"/>
                </a:solidFill>
              </a:rPr>
              <a:t>desactivada</a:t>
            </a:r>
            <a:r>
              <a:rPr lang="es-ES" sz="1100" dirty="0">
                <a:solidFill>
                  <a:srgbClr val="FFFFFF"/>
                </a:solidFill>
              </a:rPr>
              <a:t>.</a:t>
            </a:r>
          </a:p>
        </p:txBody>
      </p:sp>
      <p:sp>
        <p:nvSpPr>
          <p:cNvPr id="15" name="Rectángulo 14">
            <a:extLst>
              <a:ext uri="{FF2B5EF4-FFF2-40B4-BE49-F238E27FC236}">
                <a16:creationId xmlns:a16="http://schemas.microsoft.com/office/drawing/2014/main" id="{D8A23390-4991-A7A3-727F-19C4CEA12D92}"/>
              </a:ext>
            </a:extLst>
          </p:cNvPr>
          <p:cNvSpPr/>
          <p:nvPr/>
        </p:nvSpPr>
        <p:spPr>
          <a:xfrm>
            <a:off x="11305055" y="548996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EE013B25-3BB2-F524-9C0C-859CCD05E8A8}"/>
              </a:ext>
            </a:extLst>
          </p:cNvPr>
          <p:cNvSpPr/>
          <p:nvPr/>
        </p:nvSpPr>
        <p:spPr>
          <a:xfrm>
            <a:off x="10988752" y="55518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14</a:t>
            </a:r>
            <a:endParaRPr lang="es-PE" sz="1100" b="1" dirty="0"/>
          </a:p>
        </p:txBody>
      </p:sp>
      <p:sp>
        <p:nvSpPr>
          <p:cNvPr id="18" name="CuadroTexto 17">
            <a:extLst>
              <a:ext uri="{FF2B5EF4-FFF2-40B4-BE49-F238E27FC236}">
                <a16:creationId xmlns:a16="http://schemas.microsoft.com/office/drawing/2014/main" id="{949C6600-4B06-C019-6786-7C3B80F2A893}"/>
              </a:ext>
            </a:extLst>
          </p:cNvPr>
          <p:cNvSpPr txBox="1"/>
          <p:nvPr/>
        </p:nvSpPr>
        <p:spPr>
          <a:xfrm>
            <a:off x="8662137" y="535603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114715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heel(1)">
                                      <p:cBhvr>
                                        <p:cTn id="21" dur="2000"/>
                                        <p:tgtEl>
                                          <p:spTgt spid="10"/>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animEffect transition="in" filter="fade">
                                      <p:cBhvr>
                                        <p:cTn id="27" dur="500"/>
                                        <p:tgtEl>
                                          <p:spTgt spid="13"/>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heel(1)">
                                      <p:cBhvr>
                                        <p:cTn id="35" dur="2000"/>
                                        <p:tgtEl>
                                          <p:spTgt spid="15"/>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P spid="10" grpId="0" animBg="1"/>
      <p:bldP spid="13" grpId="0" animBg="1"/>
      <p:bldP spid="14" grpId="0" animBg="1"/>
      <p:bldP spid="15" grpId="0" animBg="1"/>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A80D8DC0-56B5-2055-9694-7473AF5C7D64}"/>
              </a:ext>
            </a:extLst>
          </p:cNvPr>
          <p:cNvPicPr>
            <a:picLocks noChangeAspect="1"/>
          </p:cNvPicPr>
          <p:nvPr/>
        </p:nvPicPr>
        <p:blipFill>
          <a:blip r:embed="rId3"/>
          <a:stretch>
            <a:fillRect/>
          </a:stretch>
        </p:blipFill>
        <p:spPr>
          <a:xfrm>
            <a:off x="433750" y="1020035"/>
            <a:ext cx="11473115" cy="4881158"/>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827003" cy="461665"/>
          </a:xfrm>
          <a:prstGeom prst="rect">
            <a:avLst/>
          </a:prstGeom>
          <a:noFill/>
        </p:spPr>
        <p:txBody>
          <a:bodyPr wrap="none" rtlCol="0">
            <a:spAutoFit/>
          </a:bodyPr>
          <a:lstStyle/>
          <a:p>
            <a:r>
              <a:rPr lang="es-ES" sz="2400" b="1" dirty="0">
                <a:latin typeface="Montserrat" pitchFamily="2" charset="0"/>
              </a:rPr>
              <a:t>PROGRAMAR NRC – SSASECT – Tipo de Horario Diferente a TEORÍA</a:t>
            </a:r>
            <a:endParaRPr lang="es-PE" sz="24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1258323" y="241540"/>
            <a:ext cx="933675"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Rectángulo 1">
            <a:extLst>
              <a:ext uri="{FF2B5EF4-FFF2-40B4-BE49-F238E27FC236}">
                <a16:creationId xmlns:a16="http://schemas.microsoft.com/office/drawing/2014/main" id="{DFF4394B-2DFC-9F3C-160F-4F578AF2F468}"/>
              </a:ext>
            </a:extLst>
          </p:cNvPr>
          <p:cNvSpPr/>
          <p:nvPr/>
        </p:nvSpPr>
        <p:spPr>
          <a:xfrm>
            <a:off x="5465438" y="4758813"/>
            <a:ext cx="1889092" cy="2099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5" name="Rectángulo: esquinas redondeadas 4">
            <a:extLst>
              <a:ext uri="{FF2B5EF4-FFF2-40B4-BE49-F238E27FC236}">
                <a16:creationId xmlns:a16="http://schemas.microsoft.com/office/drawing/2014/main" id="{25270EBF-54D3-F8EA-7CE5-762642BD6FE0}"/>
              </a:ext>
            </a:extLst>
          </p:cNvPr>
          <p:cNvSpPr/>
          <p:nvPr/>
        </p:nvSpPr>
        <p:spPr>
          <a:xfrm>
            <a:off x="7447404" y="474204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12</a:t>
            </a:r>
          </a:p>
        </p:txBody>
      </p:sp>
      <p:sp>
        <p:nvSpPr>
          <p:cNvPr id="9" name="CuadroTexto 8">
            <a:extLst>
              <a:ext uri="{FF2B5EF4-FFF2-40B4-BE49-F238E27FC236}">
                <a16:creationId xmlns:a16="http://schemas.microsoft.com/office/drawing/2014/main" id="{ADB0C28A-DFA4-D8B0-197C-0B869F97FDDC}"/>
              </a:ext>
            </a:extLst>
          </p:cNvPr>
          <p:cNvSpPr txBox="1"/>
          <p:nvPr/>
        </p:nvSpPr>
        <p:spPr>
          <a:xfrm>
            <a:off x="7755938" y="4630413"/>
            <a:ext cx="2442163"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Si el NRC es diferente a Teoría, la casilla de </a:t>
            </a:r>
            <a:r>
              <a:rPr lang="es-ES" sz="1100" b="1" dirty="0">
                <a:solidFill>
                  <a:srgbClr val="92D050"/>
                </a:solidFill>
              </a:rPr>
              <a:t>Calificable</a:t>
            </a:r>
            <a:r>
              <a:rPr lang="es-ES" sz="1100" dirty="0">
                <a:solidFill>
                  <a:srgbClr val="FFFFFF"/>
                </a:solidFill>
              </a:rPr>
              <a:t> debe estar </a:t>
            </a:r>
            <a:r>
              <a:rPr lang="es-ES" sz="1100" b="1" dirty="0">
                <a:solidFill>
                  <a:srgbClr val="FFFFFF"/>
                </a:solidFill>
              </a:rPr>
              <a:t>desactivada</a:t>
            </a:r>
            <a:r>
              <a:rPr lang="es-ES" sz="1100" dirty="0">
                <a:solidFill>
                  <a:srgbClr val="FFFFFF"/>
                </a:solidFill>
              </a:rPr>
              <a:t>.</a:t>
            </a:r>
          </a:p>
        </p:txBody>
      </p:sp>
      <p:sp>
        <p:nvSpPr>
          <p:cNvPr id="10" name="Rectángulo 9">
            <a:extLst>
              <a:ext uri="{FF2B5EF4-FFF2-40B4-BE49-F238E27FC236}">
                <a16:creationId xmlns:a16="http://schemas.microsoft.com/office/drawing/2014/main" id="{D60E10AD-2ECB-7A91-3227-8C1C6057848C}"/>
              </a:ext>
            </a:extLst>
          </p:cNvPr>
          <p:cNvSpPr/>
          <p:nvPr/>
        </p:nvSpPr>
        <p:spPr>
          <a:xfrm>
            <a:off x="5467094" y="4963147"/>
            <a:ext cx="1889092" cy="2099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13" name="Rectángulo: esquinas redondeadas 12">
            <a:extLst>
              <a:ext uri="{FF2B5EF4-FFF2-40B4-BE49-F238E27FC236}">
                <a16:creationId xmlns:a16="http://schemas.microsoft.com/office/drawing/2014/main" id="{7E09ED3D-F155-6A84-28AE-5FD022FCFF47}"/>
              </a:ext>
            </a:extLst>
          </p:cNvPr>
          <p:cNvSpPr/>
          <p:nvPr/>
        </p:nvSpPr>
        <p:spPr>
          <a:xfrm>
            <a:off x="5141120" y="494884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13</a:t>
            </a:r>
          </a:p>
        </p:txBody>
      </p:sp>
      <p:sp>
        <p:nvSpPr>
          <p:cNvPr id="14" name="CuadroTexto 13">
            <a:extLst>
              <a:ext uri="{FF2B5EF4-FFF2-40B4-BE49-F238E27FC236}">
                <a16:creationId xmlns:a16="http://schemas.microsoft.com/office/drawing/2014/main" id="{A23564C9-348C-51B2-51CF-07A7F52A5E47}"/>
              </a:ext>
            </a:extLst>
          </p:cNvPr>
          <p:cNvSpPr txBox="1"/>
          <p:nvPr/>
        </p:nvSpPr>
        <p:spPr>
          <a:xfrm>
            <a:off x="2643800" y="4755650"/>
            <a:ext cx="2442163"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Si el NRC es diferente a Teoría, la casilla de </a:t>
            </a:r>
            <a:r>
              <a:rPr lang="es-ES" sz="1100" b="1" dirty="0">
                <a:solidFill>
                  <a:srgbClr val="92D050"/>
                </a:solidFill>
              </a:rPr>
              <a:t>Dispensa de colegiatura y cuotas</a:t>
            </a:r>
            <a:r>
              <a:rPr lang="es-ES" sz="1100" dirty="0">
                <a:solidFill>
                  <a:srgbClr val="FFFFFF"/>
                </a:solidFill>
              </a:rPr>
              <a:t> debe estar </a:t>
            </a:r>
            <a:r>
              <a:rPr lang="es-ES" sz="1100" b="1" dirty="0">
                <a:solidFill>
                  <a:srgbClr val="FFFFFF"/>
                </a:solidFill>
              </a:rPr>
              <a:t>activada</a:t>
            </a:r>
            <a:r>
              <a:rPr lang="es-ES" sz="1100" dirty="0">
                <a:solidFill>
                  <a:srgbClr val="FFFFFF"/>
                </a:solidFill>
              </a:rPr>
              <a:t>.</a:t>
            </a:r>
          </a:p>
        </p:txBody>
      </p:sp>
      <p:sp>
        <p:nvSpPr>
          <p:cNvPr id="15" name="Rectángulo 14">
            <a:extLst>
              <a:ext uri="{FF2B5EF4-FFF2-40B4-BE49-F238E27FC236}">
                <a16:creationId xmlns:a16="http://schemas.microsoft.com/office/drawing/2014/main" id="{D8A23390-4991-A7A3-727F-19C4CEA12D92}"/>
              </a:ext>
            </a:extLst>
          </p:cNvPr>
          <p:cNvSpPr/>
          <p:nvPr/>
        </p:nvSpPr>
        <p:spPr>
          <a:xfrm>
            <a:off x="11305055" y="548996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EE013B25-3BB2-F524-9C0C-859CCD05E8A8}"/>
              </a:ext>
            </a:extLst>
          </p:cNvPr>
          <p:cNvSpPr/>
          <p:nvPr/>
        </p:nvSpPr>
        <p:spPr>
          <a:xfrm>
            <a:off x="10988752" y="55518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14</a:t>
            </a:r>
            <a:endParaRPr lang="es-PE" sz="1100" b="1" dirty="0"/>
          </a:p>
        </p:txBody>
      </p:sp>
      <p:sp>
        <p:nvSpPr>
          <p:cNvPr id="18" name="CuadroTexto 17">
            <a:extLst>
              <a:ext uri="{FF2B5EF4-FFF2-40B4-BE49-F238E27FC236}">
                <a16:creationId xmlns:a16="http://schemas.microsoft.com/office/drawing/2014/main" id="{949C6600-4B06-C019-6786-7C3B80F2A893}"/>
              </a:ext>
            </a:extLst>
          </p:cNvPr>
          <p:cNvSpPr txBox="1"/>
          <p:nvPr/>
        </p:nvSpPr>
        <p:spPr>
          <a:xfrm>
            <a:off x="8662137" y="535603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19" name="Rectángulo 18">
            <a:extLst>
              <a:ext uri="{FF2B5EF4-FFF2-40B4-BE49-F238E27FC236}">
                <a16:creationId xmlns:a16="http://schemas.microsoft.com/office/drawing/2014/main" id="{1F63D784-18E7-0AF9-1EAB-85EBEEA53BD4}"/>
              </a:ext>
            </a:extLst>
          </p:cNvPr>
          <p:cNvSpPr/>
          <p:nvPr/>
        </p:nvSpPr>
        <p:spPr>
          <a:xfrm>
            <a:off x="409598" y="1960934"/>
            <a:ext cx="11372804" cy="189331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dirty="0"/>
          </a:p>
        </p:txBody>
      </p:sp>
      <p:sp>
        <p:nvSpPr>
          <p:cNvPr id="20" name="CuadroTexto 19">
            <a:extLst>
              <a:ext uri="{FF2B5EF4-FFF2-40B4-BE49-F238E27FC236}">
                <a16:creationId xmlns:a16="http://schemas.microsoft.com/office/drawing/2014/main" id="{B5F69DB4-CEDA-247A-8827-7C3AE6807464}"/>
              </a:ext>
            </a:extLst>
          </p:cNvPr>
          <p:cNvSpPr txBox="1"/>
          <p:nvPr/>
        </p:nvSpPr>
        <p:spPr>
          <a:xfrm>
            <a:off x="3136491" y="907539"/>
            <a:ext cx="5732124"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pueden modificar las horas de Crédito: para que no sume en el total de créditos inscritos por el estudiante</a:t>
            </a:r>
          </a:p>
          <a:p>
            <a:pPr algn="ctr"/>
            <a:r>
              <a:rPr lang="es-ES" sz="1100" dirty="0">
                <a:solidFill>
                  <a:srgbClr val="FFFFFF"/>
                </a:solidFill>
              </a:rPr>
              <a:t>Se pueden modificar las horas de cobro para que no sume en el total de créditos a cobrar</a:t>
            </a:r>
          </a:p>
          <a:p>
            <a:pPr algn="ctr"/>
            <a:endParaRPr lang="es-ES" sz="1100" dirty="0">
              <a:solidFill>
                <a:srgbClr val="FFFFFF"/>
              </a:solidFill>
            </a:endParaRPr>
          </a:p>
          <a:p>
            <a:pPr algn="ctr"/>
            <a:r>
              <a:rPr lang="es-ES" sz="1100" b="1" dirty="0">
                <a:solidFill>
                  <a:srgbClr val="FFFFFF"/>
                </a:solidFill>
              </a:rPr>
              <a:t>IMPORTANTE: EL CURSO DEBE TENER CRÉDITOS VARIABLES EN SCACRSE.</a:t>
            </a:r>
          </a:p>
        </p:txBody>
      </p:sp>
    </p:spTree>
    <p:extLst>
      <p:ext uri="{BB962C8B-B14F-4D97-AF65-F5344CB8AC3E}">
        <p14:creationId xmlns:p14="http://schemas.microsoft.com/office/powerpoint/2010/main" val="251085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2000"/>
                                        <p:tgtEl>
                                          <p:spTgt spid="19"/>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par>
                          <p:cTn id="12" fill="hold">
                            <p:stCondLst>
                              <p:cond delay="2500"/>
                            </p:stCondLst>
                            <p:childTnLst>
                              <p:par>
                                <p:cTn id="13" presetID="21" presetClass="entr" presetSubtype="1"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heel(1)">
                                      <p:cBhvr>
                                        <p:cTn id="15" dur="2000"/>
                                        <p:tgtEl>
                                          <p:spTgt spid="2"/>
                                        </p:tgtEl>
                                      </p:cBhvr>
                                    </p:animEffect>
                                  </p:childTnLst>
                                </p:cTn>
                              </p:par>
                            </p:childTnLst>
                          </p:cTn>
                        </p:par>
                        <p:par>
                          <p:cTn id="16" fill="hold">
                            <p:stCondLst>
                              <p:cond delay="450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par>
                          <p:cTn id="22" fill="hold">
                            <p:stCondLst>
                              <p:cond delay="500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par>
                          <p:cTn id="26" fill="hold">
                            <p:stCondLst>
                              <p:cond delay="5500"/>
                            </p:stCondLst>
                            <p:childTnLst>
                              <p:par>
                                <p:cTn id="27" presetID="21" presetClass="entr" presetSubtype="1"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heel(1)">
                                      <p:cBhvr>
                                        <p:cTn id="29" dur="2000"/>
                                        <p:tgtEl>
                                          <p:spTgt spid="10"/>
                                        </p:tgtEl>
                                      </p:cBhvr>
                                    </p:animEffect>
                                  </p:childTnLst>
                                </p:cTn>
                              </p:par>
                            </p:childTnLst>
                          </p:cTn>
                        </p:par>
                        <p:par>
                          <p:cTn id="30" fill="hold">
                            <p:stCondLst>
                              <p:cond delay="7500"/>
                            </p:stCondLst>
                            <p:childTnLst>
                              <p:par>
                                <p:cTn id="31" presetID="53" presetClass="entr" presetSubtype="16"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80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8500"/>
                            </p:stCondLst>
                            <p:childTnLst>
                              <p:par>
                                <p:cTn id="41" presetID="21" presetClass="entr" presetSubtype="1"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heel(1)">
                                      <p:cBhvr>
                                        <p:cTn id="43" dur="2000"/>
                                        <p:tgtEl>
                                          <p:spTgt spid="15"/>
                                        </p:tgtEl>
                                      </p:cBhvr>
                                    </p:animEffect>
                                  </p:childTnLst>
                                </p:cTn>
                              </p:par>
                            </p:childTnLst>
                          </p:cTn>
                        </p:par>
                        <p:par>
                          <p:cTn id="44" fill="hold">
                            <p:stCondLst>
                              <p:cond delay="10500"/>
                            </p:stCondLst>
                            <p:childTnLst>
                              <p:par>
                                <p:cTn id="45" presetID="53" presetClass="entr" presetSubtype="16"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p:cTn id="47" dur="500" fill="hold"/>
                                        <p:tgtEl>
                                          <p:spTgt spid="17"/>
                                        </p:tgtEl>
                                        <p:attrNameLst>
                                          <p:attrName>ppt_w</p:attrName>
                                        </p:attrNameLst>
                                      </p:cBhvr>
                                      <p:tavLst>
                                        <p:tav tm="0">
                                          <p:val>
                                            <p:fltVal val="0"/>
                                          </p:val>
                                        </p:tav>
                                        <p:tav tm="100000">
                                          <p:val>
                                            <p:strVal val="#ppt_w"/>
                                          </p:val>
                                        </p:tav>
                                      </p:tavLst>
                                    </p:anim>
                                    <p:anim calcmode="lin" valueType="num">
                                      <p:cBhvr>
                                        <p:cTn id="48" dur="500" fill="hold"/>
                                        <p:tgtEl>
                                          <p:spTgt spid="17"/>
                                        </p:tgtEl>
                                        <p:attrNameLst>
                                          <p:attrName>ppt_h</p:attrName>
                                        </p:attrNameLst>
                                      </p:cBhvr>
                                      <p:tavLst>
                                        <p:tav tm="0">
                                          <p:val>
                                            <p:fltVal val="0"/>
                                          </p:val>
                                        </p:tav>
                                        <p:tav tm="100000">
                                          <p:val>
                                            <p:strVal val="#ppt_h"/>
                                          </p:val>
                                        </p:tav>
                                      </p:tavLst>
                                    </p:anim>
                                    <p:animEffect transition="in" filter="fade">
                                      <p:cBhvr>
                                        <p:cTn id="49" dur="500"/>
                                        <p:tgtEl>
                                          <p:spTgt spid="17"/>
                                        </p:tgtEl>
                                      </p:cBhvr>
                                    </p:animEffect>
                                  </p:childTnLst>
                                </p:cTn>
                              </p:par>
                            </p:childTnLst>
                          </p:cTn>
                        </p:par>
                        <p:par>
                          <p:cTn id="50" fill="hold">
                            <p:stCondLst>
                              <p:cond delay="11000"/>
                            </p:stCondLst>
                            <p:childTnLst>
                              <p:par>
                                <p:cTn id="51" presetID="10"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P spid="10" grpId="0" animBg="1"/>
      <p:bldP spid="13" grpId="0" animBg="1"/>
      <p:bldP spid="14" grpId="0" animBg="1"/>
      <p:bldP spid="15"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910319" cy="461665"/>
          </a:xfrm>
          <a:prstGeom prst="rect">
            <a:avLst/>
          </a:prstGeom>
          <a:noFill/>
        </p:spPr>
        <p:txBody>
          <a:bodyPr wrap="none" rtlCol="0">
            <a:spAutoFit/>
          </a:bodyPr>
          <a:lstStyle/>
          <a:p>
            <a:r>
              <a:rPr lang="es-ES" sz="2400" b="1" dirty="0">
                <a:latin typeface="Montserrat" pitchFamily="2" charset="0"/>
              </a:rPr>
              <a:t>PROGRAMAR NRC – SSASECT</a:t>
            </a:r>
            <a:endParaRPr lang="es-PE" sz="24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5341639" y="241540"/>
            <a:ext cx="685035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2" name="Imagen 11">
            <a:extLst>
              <a:ext uri="{FF2B5EF4-FFF2-40B4-BE49-F238E27FC236}">
                <a16:creationId xmlns:a16="http://schemas.microsoft.com/office/drawing/2014/main" id="{C159F2A7-ED3C-56DC-20D1-4D33BFEE95C8}"/>
              </a:ext>
            </a:extLst>
          </p:cNvPr>
          <p:cNvPicPr>
            <a:picLocks noChangeAspect="1"/>
          </p:cNvPicPr>
          <p:nvPr/>
        </p:nvPicPr>
        <p:blipFill>
          <a:blip r:embed="rId5"/>
          <a:stretch>
            <a:fillRect/>
          </a:stretch>
        </p:blipFill>
        <p:spPr>
          <a:xfrm>
            <a:off x="294968" y="964015"/>
            <a:ext cx="11620409" cy="4937766"/>
          </a:xfrm>
          <a:prstGeom prst="rect">
            <a:avLst/>
          </a:prstGeom>
        </p:spPr>
      </p:pic>
      <p:sp>
        <p:nvSpPr>
          <p:cNvPr id="21" name="Rectángulo 20">
            <a:extLst>
              <a:ext uri="{FF2B5EF4-FFF2-40B4-BE49-F238E27FC236}">
                <a16:creationId xmlns:a16="http://schemas.microsoft.com/office/drawing/2014/main" id="{93E3B53E-2E1E-9419-F644-8D15CAFD8F1C}"/>
              </a:ext>
            </a:extLst>
          </p:cNvPr>
          <p:cNvSpPr/>
          <p:nvPr/>
        </p:nvSpPr>
        <p:spPr>
          <a:xfrm>
            <a:off x="288023" y="1291740"/>
            <a:ext cx="4254481" cy="242094"/>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2" name="CuadroTexto 21">
            <a:extLst>
              <a:ext uri="{FF2B5EF4-FFF2-40B4-BE49-F238E27FC236}">
                <a16:creationId xmlns:a16="http://schemas.microsoft.com/office/drawing/2014/main" id="{A1349500-9D61-1B31-B0FB-8DD4C78BA77C}"/>
              </a:ext>
            </a:extLst>
          </p:cNvPr>
          <p:cNvSpPr txBox="1"/>
          <p:nvPr/>
        </p:nvSpPr>
        <p:spPr>
          <a:xfrm>
            <a:off x="1937770" y="1742584"/>
            <a:ext cx="4915314"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Una vez la asignatura sea configurada, tras realizar el guardado de la configuración, se generará el valor único del NRC para el periodo académico en consideración.</a:t>
            </a:r>
          </a:p>
        </p:txBody>
      </p:sp>
      <p:sp>
        <p:nvSpPr>
          <p:cNvPr id="23" name="Rectángulo 22">
            <a:extLst>
              <a:ext uri="{FF2B5EF4-FFF2-40B4-BE49-F238E27FC236}">
                <a16:creationId xmlns:a16="http://schemas.microsoft.com/office/drawing/2014/main" id="{F544FB9D-AB4F-2314-8A48-45FD8ED25461}"/>
              </a:ext>
            </a:extLst>
          </p:cNvPr>
          <p:cNvSpPr/>
          <p:nvPr/>
        </p:nvSpPr>
        <p:spPr>
          <a:xfrm>
            <a:off x="630332" y="5499528"/>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4" name="Rectángulo: esquinas redondeadas 23">
            <a:extLst>
              <a:ext uri="{FF2B5EF4-FFF2-40B4-BE49-F238E27FC236}">
                <a16:creationId xmlns:a16="http://schemas.microsoft.com/office/drawing/2014/main" id="{7018C6FF-318F-BD95-1BC6-618A9DBBBDA5}"/>
              </a:ext>
            </a:extLst>
          </p:cNvPr>
          <p:cNvSpPr/>
          <p:nvPr/>
        </p:nvSpPr>
        <p:spPr>
          <a:xfrm>
            <a:off x="1120872" y="553427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15</a:t>
            </a:r>
            <a:endParaRPr lang="es-PE" sz="1100" b="1" dirty="0"/>
          </a:p>
        </p:txBody>
      </p:sp>
      <p:sp>
        <p:nvSpPr>
          <p:cNvPr id="25" name="CuadroTexto 24">
            <a:extLst>
              <a:ext uri="{FF2B5EF4-FFF2-40B4-BE49-F238E27FC236}">
                <a16:creationId xmlns:a16="http://schemas.microsoft.com/office/drawing/2014/main" id="{AFD140C1-6BBB-E4FF-AAA1-DF9A16F5B873}"/>
              </a:ext>
            </a:extLst>
          </p:cNvPr>
          <p:cNvSpPr txBox="1"/>
          <p:nvPr/>
        </p:nvSpPr>
        <p:spPr>
          <a:xfrm>
            <a:off x="409374" y="4947845"/>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Tree>
    <p:extLst>
      <p:ext uri="{BB962C8B-B14F-4D97-AF65-F5344CB8AC3E}">
        <p14:creationId xmlns:p14="http://schemas.microsoft.com/office/powerpoint/2010/main" val="332144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heel(1)">
                                      <p:cBhvr>
                                        <p:cTn id="7" dur="2000"/>
                                        <p:tgtEl>
                                          <p:spTgt spid="21"/>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par>
                          <p:cTn id="12" fill="hold">
                            <p:stCondLst>
                              <p:cond delay="2500"/>
                            </p:stCondLst>
                            <p:childTnLst>
                              <p:par>
                                <p:cTn id="13" presetID="21" presetClass="entr" presetSubtype="1"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heel(1)">
                                      <p:cBhvr>
                                        <p:cTn id="15" dur="2000"/>
                                        <p:tgtEl>
                                          <p:spTgt spid="23"/>
                                        </p:tgtEl>
                                      </p:cBhvr>
                                    </p:animEffect>
                                  </p:childTnLst>
                                </p:cTn>
                              </p:par>
                            </p:childTnLst>
                          </p:cTn>
                        </p:par>
                        <p:par>
                          <p:cTn id="16" fill="hold">
                            <p:stCondLst>
                              <p:cond delay="4500"/>
                            </p:stCondLst>
                            <p:childTnLst>
                              <p:par>
                                <p:cTn id="17" presetID="53" presetClass="entr" presetSubtype="16"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p:cTn id="19" dur="500" fill="hold"/>
                                        <p:tgtEl>
                                          <p:spTgt spid="24"/>
                                        </p:tgtEl>
                                        <p:attrNameLst>
                                          <p:attrName>ppt_w</p:attrName>
                                        </p:attrNameLst>
                                      </p:cBhvr>
                                      <p:tavLst>
                                        <p:tav tm="0">
                                          <p:val>
                                            <p:fltVal val="0"/>
                                          </p:val>
                                        </p:tav>
                                        <p:tav tm="100000">
                                          <p:val>
                                            <p:strVal val="#ppt_w"/>
                                          </p:val>
                                        </p:tav>
                                      </p:tavLst>
                                    </p:anim>
                                    <p:anim calcmode="lin" valueType="num">
                                      <p:cBhvr>
                                        <p:cTn id="20" dur="500" fill="hold"/>
                                        <p:tgtEl>
                                          <p:spTgt spid="24"/>
                                        </p:tgtEl>
                                        <p:attrNameLst>
                                          <p:attrName>ppt_h</p:attrName>
                                        </p:attrNameLst>
                                      </p:cBhvr>
                                      <p:tavLst>
                                        <p:tav tm="0">
                                          <p:val>
                                            <p:fltVal val="0"/>
                                          </p:val>
                                        </p:tav>
                                        <p:tav tm="100000">
                                          <p:val>
                                            <p:strVal val="#ppt_h"/>
                                          </p:val>
                                        </p:tav>
                                      </p:tavLst>
                                    </p:anim>
                                    <p:animEffect transition="in" filter="fade">
                                      <p:cBhvr>
                                        <p:cTn id="21" dur="500"/>
                                        <p:tgtEl>
                                          <p:spTgt spid="24"/>
                                        </p:tgtEl>
                                      </p:cBhvr>
                                    </p:animEffect>
                                  </p:childTnLst>
                                </p:cTn>
                              </p:par>
                            </p:childTnLst>
                          </p:cTn>
                        </p:par>
                        <p:par>
                          <p:cTn id="22" fill="hold">
                            <p:stCondLst>
                              <p:cond delay="5000"/>
                            </p:stCondLst>
                            <p:childTnLst>
                              <p:par>
                                <p:cTn id="23" presetID="10"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D9891EB0-3158-CE01-39A0-A3ADAA5C5A9A}"/>
              </a:ext>
            </a:extLst>
          </p:cNvPr>
          <p:cNvPicPr>
            <a:picLocks noChangeAspect="1"/>
          </p:cNvPicPr>
          <p:nvPr/>
        </p:nvPicPr>
        <p:blipFill>
          <a:blip r:embed="rId5"/>
          <a:stretch>
            <a:fillRect/>
          </a:stretch>
        </p:blipFill>
        <p:spPr>
          <a:xfrm>
            <a:off x="314632" y="961600"/>
            <a:ext cx="11575342" cy="4940180"/>
          </a:xfrm>
          <a:prstGeom prst="rect">
            <a:avLst/>
          </a:prstGeom>
        </p:spPr>
      </p:pic>
      <p:sp>
        <p:nvSpPr>
          <p:cNvPr id="11" name="Rectángulo 10">
            <a:extLst>
              <a:ext uri="{FF2B5EF4-FFF2-40B4-BE49-F238E27FC236}">
                <a16:creationId xmlns:a16="http://schemas.microsoft.com/office/drawing/2014/main" id="{B1A819BC-8134-D32C-A204-9602C879CC4C}"/>
              </a:ext>
            </a:extLst>
          </p:cNvPr>
          <p:cNvSpPr/>
          <p:nvPr/>
        </p:nvSpPr>
        <p:spPr>
          <a:xfrm>
            <a:off x="796414" y="2052174"/>
            <a:ext cx="1052051" cy="2164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686CC113-CB8D-B489-BE1C-B789AF73062A}"/>
              </a:ext>
            </a:extLst>
          </p:cNvPr>
          <p:cNvSpPr/>
          <p:nvPr/>
        </p:nvSpPr>
        <p:spPr>
          <a:xfrm>
            <a:off x="1924806" y="205217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4" name="CuadroTexto 13">
            <a:extLst>
              <a:ext uri="{FF2B5EF4-FFF2-40B4-BE49-F238E27FC236}">
                <a16:creationId xmlns:a16="http://schemas.microsoft.com/office/drawing/2014/main" id="{02310E96-5290-F4EB-B3B9-4F616873EF2E}"/>
              </a:ext>
            </a:extLst>
          </p:cNvPr>
          <p:cNvSpPr txBox="1"/>
          <p:nvPr/>
        </p:nvSpPr>
        <p:spPr>
          <a:xfrm>
            <a:off x="476276" y="2408694"/>
            <a:ext cx="2217540"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la cantidad </a:t>
            </a:r>
            <a:r>
              <a:rPr lang="es-ES" sz="1100" b="1" dirty="0">
                <a:solidFill>
                  <a:srgbClr val="92D050"/>
                </a:solidFill>
              </a:rPr>
              <a:t>Máxima</a:t>
            </a:r>
            <a:r>
              <a:rPr lang="es-ES" sz="1100" dirty="0">
                <a:solidFill>
                  <a:srgbClr val="FFFFFF"/>
                </a:solidFill>
              </a:rPr>
              <a:t> de estudiantes que pueden matricularse en la sección.</a:t>
            </a:r>
          </a:p>
        </p:txBody>
      </p:sp>
      <p:sp>
        <p:nvSpPr>
          <p:cNvPr id="15" name="Rectángulo 14">
            <a:extLst>
              <a:ext uri="{FF2B5EF4-FFF2-40B4-BE49-F238E27FC236}">
                <a16:creationId xmlns:a16="http://schemas.microsoft.com/office/drawing/2014/main" id="{98C69633-342C-AE15-0834-392A94D530B4}"/>
              </a:ext>
            </a:extLst>
          </p:cNvPr>
          <p:cNvSpPr/>
          <p:nvPr/>
        </p:nvSpPr>
        <p:spPr>
          <a:xfrm>
            <a:off x="4273249" y="2059410"/>
            <a:ext cx="1254532" cy="209244"/>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7A83ED3F-8987-99A6-F125-32A18B6F74BA}"/>
              </a:ext>
            </a:extLst>
          </p:cNvPr>
          <p:cNvSpPr/>
          <p:nvPr/>
        </p:nvSpPr>
        <p:spPr>
          <a:xfrm>
            <a:off x="5657279" y="205940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7" name="CuadroTexto 16">
            <a:extLst>
              <a:ext uri="{FF2B5EF4-FFF2-40B4-BE49-F238E27FC236}">
                <a16:creationId xmlns:a16="http://schemas.microsoft.com/office/drawing/2014/main" id="{9CC1AF73-C53E-EF7F-F1C2-2095D25F368D}"/>
              </a:ext>
            </a:extLst>
          </p:cNvPr>
          <p:cNvSpPr txBox="1"/>
          <p:nvPr/>
        </p:nvSpPr>
        <p:spPr>
          <a:xfrm>
            <a:off x="3953111" y="2415929"/>
            <a:ext cx="2217540"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la cantidad </a:t>
            </a:r>
            <a:r>
              <a:rPr lang="es-ES" sz="1100" b="1" dirty="0">
                <a:solidFill>
                  <a:srgbClr val="92D050"/>
                </a:solidFill>
              </a:rPr>
              <a:t>Máxima</a:t>
            </a:r>
            <a:r>
              <a:rPr lang="es-ES" sz="1100" dirty="0">
                <a:solidFill>
                  <a:srgbClr val="FFFFFF"/>
                </a:solidFill>
              </a:rPr>
              <a:t> de estudiantes que pueden ingresar a la lista de espera.</a:t>
            </a:r>
          </a:p>
        </p:txBody>
      </p:sp>
      <p:sp>
        <p:nvSpPr>
          <p:cNvPr id="18" name="Rectángulo 17">
            <a:extLst>
              <a:ext uri="{FF2B5EF4-FFF2-40B4-BE49-F238E27FC236}">
                <a16:creationId xmlns:a16="http://schemas.microsoft.com/office/drawing/2014/main" id="{6C4577F5-1642-67F1-10DF-386C7D2A516D}"/>
              </a:ext>
            </a:extLst>
          </p:cNvPr>
          <p:cNvSpPr/>
          <p:nvPr/>
        </p:nvSpPr>
        <p:spPr>
          <a:xfrm>
            <a:off x="8179090" y="2067216"/>
            <a:ext cx="1254532" cy="209244"/>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esquinas redondeadas 18">
            <a:extLst>
              <a:ext uri="{FF2B5EF4-FFF2-40B4-BE49-F238E27FC236}">
                <a16:creationId xmlns:a16="http://schemas.microsoft.com/office/drawing/2014/main" id="{DE07867A-1BA9-CAB3-F95D-6692A5C01367}"/>
              </a:ext>
            </a:extLst>
          </p:cNvPr>
          <p:cNvSpPr/>
          <p:nvPr/>
        </p:nvSpPr>
        <p:spPr>
          <a:xfrm>
            <a:off x="9563120" y="206721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20" name="CuadroTexto 19">
            <a:extLst>
              <a:ext uri="{FF2B5EF4-FFF2-40B4-BE49-F238E27FC236}">
                <a16:creationId xmlns:a16="http://schemas.microsoft.com/office/drawing/2014/main" id="{147AA349-71BA-A394-90A9-F04967584F82}"/>
              </a:ext>
            </a:extLst>
          </p:cNvPr>
          <p:cNvSpPr txBox="1"/>
          <p:nvPr/>
        </p:nvSpPr>
        <p:spPr>
          <a:xfrm>
            <a:off x="7858952" y="2423735"/>
            <a:ext cx="2217540"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la cantidad de estudiantes que se espera que tenga la sección.</a:t>
            </a:r>
            <a:endParaRPr lang="es-ES" b="0" dirty="0">
              <a:effectLst/>
            </a:endParaRPr>
          </a:p>
        </p:txBody>
      </p:sp>
      <p:sp>
        <p:nvSpPr>
          <p:cNvPr id="23" name="Rectángulo 22">
            <a:extLst>
              <a:ext uri="{FF2B5EF4-FFF2-40B4-BE49-F238E27FC236}">
                <a16:creationId xmlns:a16="http://schemas.microsoft.com/office/drawing/2014/main" id="{1B0FCCDA-D3B7-F728-25F1-4D776CE37A63}"/>
              </a:ext>
            </a:extLst>
          </p:cNvPr>
          <p:cNvSpPr/>
          <p:nvPr/>
        </p:nvSpPr>
        <p:spPr>
          <a:xfrm>
            <a:off x="11305055" y="548996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4" name="Rectángulo: esquinas redondeadas 23">
            <a:extLst>
              <a:ext uri="{FF2B5EF4-FFF2-40B4-BE49-F238E27FC236}">
                <a16:creationId xmlns:a16="http://schemas.microsoft.com/office/drawing/2014/main" id="{A4ED4DD9-CB6E-3BA6-F006-0D87CD06B026}"/>
              </a:ext>
            </a:extLst>
          </p:cNvPr>
          <p:cNvSpPr/>
          <p:nvPr/>
        </p:nvSpPr>
        <p:spPr>
          <a:xfrm>
            <a:off x="10988752" y="55518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4</a:t>
            </a:r>
            <a:endParaRPr lang="es-PE" sz="1100" b="1" dirty="0"/>
          </a:p>
        </p:txBody>
      </p:sp>
      <p:sp>
        <p:nvSpPr>
          <p:cNvPr id="25" name="CuadroTexto 24">
            <a:extLst>
              <a:ext uri="{FF2B5EF4-FFF2-40B4-BE49-F238E27FC236}">
                <a16:creationId xmlns:a16="http://schemas.microsoft.com/office/drawing/2014/main" id="{8A8BE67B-7942-FDDA-5E42-EC7AC2D06536}"/>
              </a:ext>
            </a:extLst>
          </p:cNvPr>
          <p:cNvSpPr txBox="1"/>
          <p:nvPr/>
        </p:nvSpPr>
        <p:spPr>
          <a:xfrm>
            <a:off x="8662137" y="535603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29" name="CuadroTexto 28">
            <a:extLst>
              <a:ext uri="{FF2B5EF4-FFF2-40B4-BE49-F238E27FC236}">
                <a16:creationId xmlns:a16="http://schemas.microsoft.com/office/drawing/2014/main" id="{154515EB-4530-B4F1-3634-285B43919952}"/>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30" name="Rectángulo 29">
            <a:extLst>
              <a:ext uri="{FF2B5EF4-FFF2-40B4-BE49-F238E27FC236}">
                <a16:creationId xmlns:a16="http://schemas.microsoft.com/office/drawing/2014/main" id="{BB3651B6-CC16-9BCB-4A9D-2895528054AE}"/>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176011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heel(1)">
                                      <p:cBhvr>
                                        <p:cTn id="18" dur="2000"/>
                                        <p:tgtEl>
                                          <p:spTgt spid="11"/>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heel(1)">
                                      <p:cBhvr>
                                        <p:cTn id="32" dur="2000"/>
                                        <p:tgtEl>
                                          <p:spTgt spid="15"/>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heel(1)">
                                      <p:cBhvr>
                                        <p:cTn id="46" dur="2000"/>
                                        <p:tgtEl>
                                          <p:spTgt spid="18"/>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500" fill="hold"/>
                                        <p:tgtEl>
                                          <p:spTgt spid="19"/>
                                        </p:tgtEl>
                                        <p:attrNameLst>
                                          <p:attrName>ppt_w</p:attrName>
                                        </p:attrNameLst>
                                      </p:cBhvr>
                                      <p:tavLst>
                                        <p:tav tm="0">
                                          <p:val>
                                            <p:fltVal val="0"/>
                                          </p:val>
                                        </p:tav>
                                        <p:tav tm="100000">
                                          <p:val>
                                            <p:strVal val="#ppt_w"/>
                                          </p:val>
                                        </p:tav>
                                      </p:tavLst>
                                    </p:anim>
                                    <p:anim calcmode="lin" valueType="num">
                                      <p:cBhvr>
                                        <p:cTn id="51" dur="500" fill="hold"/>
                                        <p:tgtEl>
                                          <p:spTgt spid="19"/>
                                        </p:tgtEl>
                                        <p:attrNameLst>
                                          <p:attrName>ppt_h</p:attrName>
                                        </p:attrNameLst>
                                      </p:cBhvr>
                                      <p:tavLst>
                                        <p:tav tm="0">
                                          <p:val>
                                            <p:fltVal val="0"/>
                                          </p:val>
                                        </p:tav>
                                        <p:tav tm="100000">
                                          <p:val>
                                            <p:strVal val="#ppt_h"/>
                                          </p:val>
                                        </p:tav>
                                      </p:tavLst>
                                    </p:anim>
                                    <p:animEffect transition="in" filter="fade">
                                      <p:cBhvr>
                                        <p:cTn id="52" dur="500"/>
                                        <p:tgtEl>
                                          <p:spTgt spid="19"/>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heel(1)">
                                      <p:cBhvr>
                                        <p:cTn id="60" dur="2000"/>
                                        <p:tgtEl>
                                          <p:spTgt spid="23"/>
                                        </p:tgtEl>
                                      </p:cBhvr>
                                    </p:animEffect>
                                  </p:childTnLst>
                                </p:cTn>
                              </p:par>
                            </p:childTnLst>
                          </p:cTn>
                        </p:par>
                        <p:par>
                          <p:cTn id="61" fill="hold">
                            <p:stCondLst>
                              <p:cond delay="12000"/>
                            </p:stCondLst>
                            <p:childTnLst>
                              <p:par>
                                <p:cTn id="62" presetID="53" presetClass="entr" presetSubtype="16" fill="hold" grpId="0" nodeType="afterEffect">
                                  <p:stCondLst>
                                    <p:cond delay="0"/>
                                  </p:stCondLst>
                                  <p:childTnLst>
                                    <p:set>
                                      <p:cBhvr>
                                        <p:cTn id="63" dur="1" fill="hold">
                                          <p:stCondLst>
                                            <p:cond delay="0"/>
                                          </p:stCondLst>
                                        </p:cTn>
                                        <p:tgtEl>
                                          <p:spTgt spid="24"/>
                                        </p:tgtEl>
                                        <p:attrNameLst>
                                          <p:attrName>style.visibility</p:attrName>
                                        </p:attrNameLst>
                                      </p:cBhvr>
                                      <p:to>
                                        <p:strVal val="visible"/>
                                      </p:to>
                                    </p:set>
                                    <p:anim calcmode="lin" valueType="num">
                                      <p:cBhvr>
                                        <p:cTn id="64" dur="500" fill="hold"/>
                                        <p:tgtEl>
                                          <p:spTgt spid="24"/>
                                        </p:tgtEl>
                                        <p:attrNameLst>
                                          <p:attrName>ppt_w</p:attrName>
                                        </p:attrNameLst>
                                      </p:cBhvr>
                                      <p:tavLst>
                                        <p:tav tm="0">
                                          <p:val>
                                            <p:fltVal val="0"/>
                                          </p:val>
                                        </p:tav>
                                        <p:tav tm="100000">
                                          <p:val>
                                            <p:strVal val="#ppt_w"/>
                                          </p:val>
                                        </p:tav>
                                      </p:tavLst>
                                    </p:anim>
                                    <p:anim calcmode="lin" valueType="num">
                                      <p:cBhvr>
                                        <p:cTn id="65" dur="500" fill="hold"/>
                                        <p:tgtEl>
                                          <p:spTgt spid="24"/>
                                        </p:tgtEl>
                                        <p:attrNameLst>
                                          <p:attrName>ppt_h</p:attrName>
                                        </p:attrNameLst>
                                      </p:cBhvr>
                                      <p:tavLst>
                                        <p:tav tm="0">
                                          <p:val>
                                            <p:fltVal val="0"/>
                                          </p:val>
                                        </p:tav>
                                        <p:tav tm="100000">
                                          <p:val>
                                            <p:strVal val="#ppt_h"/>
                                          </p:val>
                                        </p:tav>
                                      </p:tavLst>
                                    </p:anim>
                                    <p:animEffect transition="in" filter="fade">
                                      <p:cBhvr>
                                        <p:cTn id="66" dur="500"/>
                                        <p:tgtEl>
                                          <p:spTgt spid="24"/>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P spid="20" grpId="0" animBg="1"/>
      <p:bldP spid="23" grpId="0" animBg="1"/>
      <p:bldP spid="24" grpId="0" animBg="1"/>
      <p:bldP spid="25" grpId="0" animBg="1"/>
      <p:bldP spid="29" grpId="0"/>
      <p:bldP spid="3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05A751B6-1720-9A0C-360C-3DC13E5E6D10}"/>
              </a:ext>
            </a:extLst>
          </p:cNvPr>
          <p:cNvPicPr>
            <a:picLocks noChangeAspect="1"/>
          </p:cNvPicPr>
          <p:nvPr/>
        </p:nvPicPr>
        <p:blipFill>
          <a:blip r:embed="rId3"/>
          <a:stretch>
            <a:fillRect/>
          </a:stretch>
        </p:blipFill>
        <p:spPr>
          <a:xfrm>
            <a:off x="390478" y="1002890"/>
            <a:ext cx="11520797" cy="4898890"/>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808292D6-9243-A593-1EC4-9D5A7E8EE156}"/>
              </a:ext>
            </a:extLst>
          </p:cNvPr>
          <p:cNvSpPr/>
          <p:nvPr/>
        </p:nvSpPr>
        <p:spPr>
          <a:xfrm>
            <a:off x="1289649" y="1724359"/>
            <a:ext cx="1117121" cy="22242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2" name="Rectángulo 11">
            <a:extLst>
              <a:ext uri="{FF2B5EF4-FFF2-40B4-BE49-F238E27FC236}">
                <a16:creationId xmlns:a16="http://schemas.microsoft.com/office/drawing/2014/main" id="{D5830692-FDC3-D3CC-F0E6-93417AE1C5CB}"/>
              </a:ext>
            </a:extLst>
          </p:cNvPr>
          <p:cNvSpPr/>
          <p:nvPr/>
        </p:nvSpPr>
        <p:spPr>
          <a:xfrm>
            <a:off x="439676" y="2202469"/>
            <a:ext cx="11468570" cy="22242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EC4A43AE-7C3F-3AAD-BED1-77EC9B5BE6DF}"/>
              </a:ext>
            </a:extLst>
          </p:cNvPr>
          <p:cNvSpPr/>
          <p:nvPr/>
        </p:nvSpPr>
        <p:spPr>
          <a:xfrm>
            <a:off x="5729890" y="248851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27" name="CuadroTexto 26">
            <a:extLst>
              <a:ext uri="{FF2B5EF4-FFF2-40B4-BE49-F238E27FC236}">
                <a16:creationId xmlns:a16="http://schemas.microsoft.com/office/drawing/2014/main" id="{14372E35-D358-D040-844D-A520ED3F56D6}"/>
              </a:ext>
            </a:extLst>
          </p:cNvPr>
          <p:cNvSpPr txBox="1"/>
          <p:nvPr/>
        </p:nvSpPr>
        <p:spPr>
          <a:xfrm>
            <a:off x="2969342" y="3044558"/>
            <a:ext cx="5742039" cy="105495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a:t>
            </a:r>
            <a:r>
              <a:rPr lang="es-ES" sz="1200" b="1" dirty="0">
                <a:solidFill>
                  <a:srgbClr val="92D050"/>
                </a:solidFill>
              </a:rPr>
              <a:t>Información de ingreso de sección</a:t>
            </a:r>
            <a:r>
              <a:rPr lang="es-ES" sz="1200" dirty="0">
                <a:solidFill>
                  <a:srgbClr val="FFFFFF"/>
                </a:solidFill>
              </a:rPr>
              <a:t>, subpestaña </a:t>
            </a:r>
            <a:r>
              <a:rPr lang="es-ES" sz="1200" b="1" dirty="0">
                <a:solidFill>
                  <a:srgbClr val="92D050"/>
                </a:solidFill>
              </a:rPr>
              <a:t>Lugares reservados</a:t>
            </a:r>
            <a:r>
              <a:rPr lang="es-ES" sz="1200" dirty="0">
                <a:solidFill>
                  <a:srgbClr val="FFFFFF"/>
                </a:solidFill>
              </a:rPr>
              <a:t>: </a:t>
            </a:r>
          </a:p>
          <a:p>
            <a:pPr algn="ctr"/>
            <a:r>
              <a:rPr lang="es-ES" sz="1200" dirty="0">
                <a:solidFill>
                  <a:srgbClr val="FFFFFF"/>
                </a:solidFill>
              </a:rPr>
              <a:t>Se debe iniciar con una regla “nula” que es obligatoria por el sistema. Esta regla implica que el cupo que se indique en el campo “Máximo reservado” es para cualquier estudiante de la institución.</a:t>
            </a:r>
          </a:p>
        </p:txBody>
      </p:sp>
      <p:sp>
        <p:nvSpPr>
          <p:cNvPr id="28" name="Rectángulo 27">
            <a:extLst>
              <a:ext uri="{FF2B5EF4-FFF2-40B4-BE49-F238E27FC236}">
                <a16:creationId xmlns:a16="http://schemas.microsoft.com/office/drawing/2014/main" id="{ECAB2E9C-0684-C9D7-2853-3113B22F62D3}"/>
              </a:ext>
            </a:extLst>
          </p:cNvPr>
          <p:cNvSpPr/>
          <p:nvPr/>
        </p:nvSpPr>
        <p:spPr>
          <a:xfrm>
            <a:off x="1176578" y="2628928"/>
            <a:ext cx="2323706" cy="29125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9" name="CuadroTexto 28">
            <a:extLst>
              <a:ext uri="{FF2B5EF4-FFF2-40B4-BE49-F238E27FC236}">
                <a16:creationId xmlns:a16="http://schemas.microsoft.com/office/drawing/2014/main" id="{5827F97F-F412-34E0-F1DD-312CFCE9CA02}"/>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30" name="Rectángulo 29">
            <a:extLst>
              <a:ext uri="{FF2B5EF4-FFF2-40B4-BE49-F238E27FC236}">
                <a16:creationId xmlns:a16="http://schemas.microsoft.com/office/drawing/2014/main" id="{28FD7313-842D-F528-7F56-F8DE42686E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02335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53" presetClass="entr" presetSubtype="16"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500" fill="hold"/>
                                        <p:tgtEl>
                                          <p:spTgt spid="21"/>
                                        </p:tgtEl>
                                        <p:attrNameLst>
                                          <p:attrName>ppt_w</p:attrName>
                                        </p:attrNameLst>
                                      </p:cBhvr>
                                      <p:tavLst>
                                        <p:tav tm="0">
                                          <p:val>
                                            <p:fltVal val="0"/>
                                          </p:val>
                                        </p:tav>
                                        <p:tav tm="100000">
                                          <p:val>
                                            <p:strVal val="#ppt_w"/>
                                          </p:val>
                                        </p:tav>
                                      </p:tavLst>
                                    </p:anim>
                                    <p:anim calcmode="lin" valueType="num">
                                      <p:cBhvr>
                                        <p:cTn id="16" dur="500" fill="hold"/>
                                        <p:tgtEl>
                                          <p:spTgt spid="21"/>
                                        </p:tgtEl>
                                        <p:attrNameLst>
                                          <p:attrName>ppt_h</p:attrName>
                                        </p:attrNameLst>
                                      </p:cBhvr>
                                      <p:tavLst>
                                        <p:tav tm="0">
                                          <p:val>
                                            <p:fltVal val="0"/>
                                          </p:val>
                                        </p:tav>
                                        <p:tav tm="100000">
                                          <p:val>
                                            <p:strVal val="#ppt_h"/>
                                          </p:val>
                                        </p:tav>
                                      </p:tavLst>
                                    </p:anim>
                                    <p:animEffect transition="in" filter="fade">
                                      <p:cBhvr>
                                        <p:cTn id="17" dur="500"/>
                                        <p:tgtEl>
                                          <p:spTgt spid="21"/>
                                        </p:tgtEl>
                                      </p:cBhvr>
                                    </p:animEffect>
                                  </p:childTnLst>
                                </p:cTn>
                              </p:par>
                            </p:childTnLst>
                          </p:cTn>
                        </p:par>
                        <p:par>
                          <p:cTn id="18" fill="hold">
                            <p:stCondLst>
                              <p:cond delay="4500"/>
                            </p:stCondLst>
                            <p:childTnLst>
                              <p:par>
                                <p:cTn id="19" presetID="10" presetClass="entr" presetSubtype="0"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par>
                          <p:cTn id="22" fill="hold">
                            <p:stCondLst>
                              <p:cond delay="5000"/>
                            </p:stCondLst>
                            <p:childTnLst>
                              <p:par>
                                <p:cTn id="23" presetID="21" presetClass="entr" presetSubtype="1"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heel(1)">
                                      <p:cBhvr>
                                        <p:cTn id="25" dur="2000"/>
                                        <p:tgtEl>
                                          <p:spTgt spid="28"/>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left)">
                                      <p:cBhvr>
                                        <p:cTn id="3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21" grpId="0" animBg="1"/>
      <p:bldP spid="27" grpId="0" animBg="1"/>
      <p:bldP spid="28" grpId="0" animBg="1"/>
      <p:bldP spid="29" grpId="0"/>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8171AB0-337D-88ED-4D49-7D6D78278820}"/>
              </a:ext>
            </a:extLst>
          </p:cNvPr>
          <p:cNvPicPr>
            <a:picLocks noChangeAspect="1"/>
          </p:cNvPicPr>
          <p:nvPr/>
        </p:nvPicPr>
        <p:blipFill>
          <a:blip r:embed="rId3"/>
          <a:stretch>
            <a:fillRect/>
          </a:stretch>
        </p:blipFill>
        <p:spPr>
          <a:xfrm>
            <a:off x="431320" y="1029112"/>
            <a:ext cx="11501414" cy="4872668"/>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910319" cy="461665"/>
          </a:xfrm>
          <a:prstGeom prst="rect">
            <a:avLst/>
          </a:prstGeom>
          <a:noFill/>
        </p:spPr>
        <p:txBody>
          <a:bodyPr wrap="none" rtlCol="0">
            <a:spAutoFit/>
          </a:bodyPr>
          <a:lstStyle/>
          <a:p>
            <a:r>
              <a:rPr lang="es-ES" sz="2400" b="1" dirty="0">
                <a:latin typeface="Montserrat" pitchFamily="2" charset="0"/>
              </a:rPr>
              <a:t>PROGRAMAR NRC – SSASECT</a:t>
            </a:r>
            <a:endParaRPr lang="es-PE" sz="24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5341639" y="241540"/>
            <a:ext cx="685035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1" name="Rectángulo 10">
            <a:extLst>
              <a:ext uri="{FF2B5EF4-FFF2-40B4-BE49-F238E27FC236}">
                <a16:creationId xmlns:a16="http://schemas.microsoft.com/office/drawing/2014/main" id="{BABA67FD-D739-1D0E-6302-47FBB3657B8D}"/>
              </a:ext>
            </a:extLst>
          </p:cNvPr>
          <p:cNvSpPr/>
          <p:nvPr/>
        </p:nvSpPr>
        <p:spPr>
          <a:xfrm>
            <a:off x="11027988" y="1873701"/>
            <a:ext cx="215660"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F73D023F-09D4-354F-9CE6-5A2A15FE747A}"/>
              </a:ext>
            </a:extLst>
          </p:cNvPr>
          <p:cNvSpPr/>
          <p:nvPr/>
        </p:nvSpPr>
        <p:spPr>
          <a:xfrm>
            <a:off x="10678618" y="185644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4" name="CuadroTexto 13">
            <a:extLst>
              <a:ext uri="{FF2B5EF4-FFF2-40B4-BE49-F238E27FC236}">
                <a16:creationId xmlns:a16="http://schemas.microsoft.com/office/drawing/2014/main" id="{DFFEFD3C-DF6A-8BF2-4D45-9C21B55DFC44}"/>
              </a:ext>
            </a:extLst>
          </p:cNvPr>
          <p:cNvSpPr txBox="1"/>
          <p:nvPr/>
        </p:nvSpPr>
        <p:spPr>
          <a:xfrm>
            <a:off x="8170606" y="1457352"/>
            <a:ext cx="2441157" cy="623381"/>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b="0" i="0" u="none" strike="noStrike" dirty="0">
                <a:solidFill>
                  <a:srgbClr val="FFFFFF"/>
                </a:solidFill>
                <a:effectLst/>
              </a:rPr>
              <a:t>Para ingresar un nuevo registro par cupos reservados, debe hacer clic en la opción </a:t>
            </a:r>
            <a:r>
              <a:rPr lang="es-ES" sz="1100" b="1" i="0" u="none" strike="noStrike" dirty="0">
                <a:solidFill>
                  <a:srgbClr val="92D050"/>
                </a:solidFill>
                <a:effectLst/>
              </a:rPr>
              <a:t>+</a:t>
            </a:r>
            <a:endParaRPr lang="es-ES" b="1" dirty="0">
              <a:solidFill>
                <a:srgbClr val="92D050"/>
              </a:solidFill>
              <a:effectLst/>
            </a:endParaRPr>
          </a:p>
        </p:txBody>
      </p:sp>
      <p:sp>
        <p:nvSpPr>
          <p:cNvPr id="15" name="Rectángulo 14">
            <a:extLst>
              <a:ext uri="{FF2B5EF4-FFF2-40B4-BE49-F238E27FC236}">
                <a16:creationId xmlns:a16="http://schemas.microsoft.com/office/drawing/2014/main" id="{B8F0A343-AEF3-52D7-02F5-B07D8F26DE50}"/>
              </a:ext>
            </a:extLst>
          </p:cNvPr>
          <p:cNvSpPr/>
          <p:nvPr/>
        </p:nvSpPr>
        <p:spPr>
          <a:xfrm>
            <a:off x="423111" y="2238399"/>
            <a:ext cx="11509623" cy="401150"/>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4AC6D0D5-FC6B-AC7C-2E78-CFA27F4A1870}"/>
              </a:ext>
            </a:extLst>
          </p:cNvPr>
          <p:cNvSpPr/>
          <p:nvPr/>
        </p:nvSpPr>
        <p:spPr>
          <a:xfrm>
            <a:off x="4610364" y="351678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7" name="CuadroTexto 16">
            <a:extLst>
              <a:ext uri="{FF2B5EF4-FFF2-40B4-BE49-F238E27FC236}">
                <a16:creationId xmlns:a16="http://schemas.microsoft.com/office/drawing/2014/main" id="{C44DEE34-0B52-FAF1-87A8-0C020FA258F5}"/>
              </a:ext>
            </a:extLst>
          </p:cNvPr>
          <p:cNvSpPr txBox="1"/>
          <p:nvPr/>
        </p:nvSpPr>
        <p:spPr>
          <a:xfrm>
            <a:off x="2624415" y="3857725"/>
            <a:ext cx="4346656" cy="1502509"/>
          </a:xfrm>
          <a:prstGeom prst="roundRect">
            <a:avLst>
              <a:gd name="adj" fmla="val 7573"/>
            </a:avLst>
          </a:prstGeom>
          <a:solidFill>
            <a:srgbClr val="7030A0"/>
          </a:solidFill>
        </p:spPr>
        <p:txBody>
          <a:bodyPr wrap="square">
            <a:spAutoFit/>
          </a:bodyPr>
          <a:lstStyle/>
          <a:p>
            <a:pPr algn="ctr"/>
            <a:r>
              <a:rPr lang="es-ES" sz="1100" dirty="0">
                <a:solidFill>
                  <a:srgbClr val="FFFFFF"/>
                </a:solidFill>
              </a:rPr>
              <a:t>Para el ejemplo los cupos de la regla nula es 0.</a:t>
            </a:r>
          </a:p>
          <a:p>
            <a:pPr algn="ctr"/>
            <a:r>
              <a:rPr lang="es-ES" sz="1100" dirty="0">
                <a:solidFill>
                  <a:srgbClr val="FFFFFF"/>
                </a:solidFill>
              </a:rPr>
              <a:t>Inserte un registro por cada regla que desee definir para los cupos reservados. Esto implica que la cantidad de alumnos indicada en el campo “Máximo reservado”  es el cupo que tiene el NRC para cada regla que se defina. Puede definir cupos por: Nivel, Campus, Programa, Atributo, Cohorte, etc.</a:t>
            </a:r>
          </a:p>
          <a:p>
            <a:pPr algn="ctr"/>
            <a:r>
              <a:rPr lang="es-ES" sz="1100" dirty="0">
                <a:solidFill>
                  <a:srgbClr val="FFFFFF"/>
                </a:solidFill>
              </a:rPr>
              <a:t>En el ejemplo, la segunda regla indica que el NRC tiene un cupo máximo de 40 cupos para los estudiantes del nivel 1 (pregrado).</a:t>
            </a:r>
          </a:p>
        </p:txBody>
      </p:sp>
      <p:sp>
        <p:nvSpPr>
          <p:cNvPr id="18" name="Rectángulo 17">
            <a:extLst>
              <a:ext uri="{FF2B5EF4-FFF2-40B4-BE49-F238E27FC236}">
                <a16:creationId xmlns:a16="http://schemas.microsoft.com/office/drawing/2014/main" id="{6E0974B5-6614-37BC-01BF-D972F133C189}"/>
              </a:ext>
            </a:extLst>
          </p:cNvPr>
          <p:cNvSpPr/>
          <p:nvPr/>
        </p:nvSpPr>
        <p:spPr>
          <a:xfrm>
            <a:off x="431320" y="2912320"/>
            <a:ext cx="1150962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18">
            <a:extLst>
              <a:ext uri="{FF2B5EF4-FFF2-40B4-BE49-F238E27FC236}">
                <a16:creationId xmlns:a16="http://schemas.microsoft.com/office/drawing/2014/main" id="{52A7646A-6352-AE88-DAE9-036AC9EA054E}"/>
              </a:ext>
            </a:extLst>
          </p:cNvPr>
          <p:cNvSpPr/>
          <p:nvPr/>
        </p:nvSpPr>
        <p:spPr>
          <a:xfrm>
            <a:off x="11305055" y="548996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0" name="Rectángulo: esquinas redondeadas 19">
            <a:extLst>
              <a:ext uri="{FF2B5EF4-FFF2-40B4-BE49-F238E27FC236}">
                <a16:creationId xmlns:a16="http://schemas.microsoft.com/office/drawing/2014/main" id="{D8C64B7B-ACFB-3B0C-B3F4-C3B9D0687C77}"/>
              </a:ext>
            </a:extLst>
          </p:cNvPr>
          <p:cNvSpPr/>
          <p:nvPr/>
        </p:nvSpPr>
        <p:spPr>
          <a:xfrm>
            <a:off x="10988752" y="55518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4</a:t>
            </a:r>
            <a:endParaRPr lang="es-PE" sz="1100" b="1" dirty="0"/>
          </a:p>
        </p:txBody>
      </p:sp>
      <p:sp>
        <p:nvSpPr>
          <p:cNvPr id="22" name="CuadroTexto 21">
            <a:extLst>
              <a:ext uri="{FF2B5EF4-FFF2-40B4-BE49-F238E27FC236}">
                <a16:creationId xmlns:a16="http://schemas.microsoft.com/office/drawing/2014/main" id="{828FAEBC-13F4-64FC-90DE-BFD6109AD941}"/>
              </a:ext>
            </a:extLst>
          </p:cNvPr>
          <p:cNvSpPr txBox="1"/>
          <p:nvPr/>
        </p:nvSpPr>
        <p:spPr>
          <a:xfrm>
            <a:off x="8662137" y="535603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162644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heel(1)">
                                      <p:cBhvr>
                                        <p:cTn id="21" dur="2000"/>
                                        <p:tgtEl>
                                          <p:spTgt spid="15"/>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fltVal val="0"/>
                                          </p:val>
                                        </p:tav>
                                        <p:tav tm="100000">
                                          <p:val>
                                            <p:strVal val="#ppt_w"/>
                                          </p:val>
                                        </p:tav>
                                      </p:tavLst>
                                    </p:anim>
                                    <p:anim calcmode="lin" valueType="num">
                                      <p:cBhvr>
                                        <p:cTn id="26" dur="500" fill="hold"/>
                                        <p:tgtEl>
                                          <p:spTgt spid="16"/>
                                        </p:tgtEl>
                                        <p:attrNameLst>
                                          <p:attrName>ppt_h</p:attrName>
                                        </p:attrNameLst>
                                      </p:cBhvr>
                                      <p:tavLst>
                                        <p:tav tm="0">
                                          <p:val>
                                            <p:fltVal val="0"/>
                                          </p:val>
                                        </p:tav>
                                        <p:tav tm="100000">
                                          <p:val>
                                            <p:strVal val="#ppt_h"/>
                                          </p:val>
                                        </p:tav>
                                      </p:tavLst>
                                    </p:anim>
                                    <p:animEffect transition="in" filter="fade">
                                      <p:cBhvr>
                                        <p:cTn id="27" dur="500"/>
                                        <p:tgtEl>
                                          <p:spTgt spid="16"/>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heel(1)">
                                      <p:cBhvr>
                                        <p:cTn id="35" dur="2000"/>
                                        <p:tgtEl>
                                          <p:spTgt spid="18"/>
                                        </p:tgtEl>
                                      </p:cBhvr>
                                    </p:animEffect>
                                  </p:childTnLst>
                                </p:cTn>
                              </p:par>
                            </p:childTnLst>
                          </p:cTn>
                        </p:par>
                        <p:par>
                          <p:cTn id="36" fill="hold">
                            <p:stCondLst>
                              <p:cond delay="8000"/>
                            </p:stCondLst>
                            <p:childTnLst>
                              <p:par>
                                <p:cTn id="37" presetID="21" presetClass="entr" presetSubtype="1"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heel(1)">
                                      <p:cBhvr>
                                        <p:cTn id="39" dur="2000"/>
                                        <p:tgtEl>
                                          <p:spTgt spid="19"/>
                                        </p:tgtEl>
                                      </p:cBhvr>
                                    </p:animEffect>
                                  </p:childTnLst>
                                </p:cTn>
                              </p:par>
                            </p:childTnLst>
                          </p:cTn>
                        </p:par>
                        <p:par>
                          <p:cTn id="40" fill="hold">
                            <p:stCondLst>
                              <p:cond delay="10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0500"/>
                            </p:stCondLst>
                            <p:childTnLst>
                              <p:par>
                                <p:cTn id="47" presetID="10" presetClass="entr" presetSubtype="0"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P spid="20"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CuadroTexto 9">
            <a:extLst>
              <a:ext uri="{FF2B5EF4-FFF2-40B4-BE49-F238E27FC236}">
                <a16:creationId xmlns:a16="http://schemas.microsoft.com/office/drawing/2014/main" id="{6E0F3467-31B1-F878-3201-8F337FF08AF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12" name="Rectángulo 11">
            <a:extLst>
              <a:ext uri="{FF2B5EF4-FFF2-40B4-BE49-F238E27FC236}">
                <a16:creationId xmlns:a16="http://schemas.microsoft.com/office/drawing/2014/main" id="{073163BE-9167-53B5-F179-61BDE71A19C0}"/>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pic>
        <p:nvPicPr>
          <p:cNvPr id="8" name="Imagen 7">
            <a:extLst>
              <a:ext uri="{FF2B5EF4-FFF2-40B4-BE49-F238E27FC236}">
                <a16:creationId xmlns:a16="http://schemas.microsoft.com/office/drawing/2014/main" id="{CE7EA909-8C98-F44B-90CD-FA8C81E61832}"/>
              </a:ext>
            </a:extLst>
          </p:cNvPr>
          <p:cNvPicPr>
            <a:picLocks noChangeAspect="1"/>
          </p:cNvPicPr>
          <p:nvPr/>
        </p:nvPicPr>
        <p:blipFill>
          <a:blip r:embed="rId5"/>
          <a:srcRect t="521"/>
          <a:stretch/>
        </p:blipFill>
        <p:spPr>
          <a:xfrm>
            <a:off x="304800" y="983226"/>
            <a:ext cx="11585174" cy="4918553"/>
          </a:xfrm>
          <a:prstGeom prst="rect">
            <a:avLst/>
          </a:prstGeom>
        </p:spPr>
      </p:pic>
      <p:sp>
        <p:nvSpPr>
          <p:cNvPr id="11" name="Rectángulo 10">
            <a:extLst>
              <a:ext uri="{FF2B5EF4-FFF2-40B4-BE49-F238E27FC236}">
                <a16:creationId xmlns:a16="http://schemas.microsoft.com/office/drawing/2014/main" id="{F769501C-A19F-6B08-2BFF-80B8F1DD7A95}"/>
              </a:ext>
            </a:extLst>
          </p:cNvPr>
          <p:cNvSpPr/>
          <p:nvPr/>
        </p:nvSpPr>
        <p:spPr>
          <a:xfrm>
            <a:off x="3213223" y="1553497"/>
            <a:ext cx="1266553" cy="18681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12">
            <a:extLst>
              <a:ext uri="{FF2B5EF4-FFF2-40B4-BE49-F238E27FC236}">
                <a16:creationId xmlns:a16="http://schemas.microsoft.com/office/drawing/2014/main" id="{C5283D56-D283-C4BC-1CE6-A7E1871824DB}"/>
              </a:ext>
            </a:extLst>
          </p:cNvPr>
          <p:cNvSpPr/>
          <p:nvPr/>
        </p:nvSpPr>
        <p:spPr>
          <a:xfrm>
            <a:off x="345391" y="1740308"/>
            <a:ext cx="1021295" cy="304801"/>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13">
            <a:extLst>
              <a:ext uri="{FF2B5EF4-FFF2-40B4-BE49-F238E27FC236}">
                <a16:creationId xmlns:a16="http://schemas.microsoft.com/office/drawing/2014/main" id="{D7AF0917-CC12-205B-358E-2F6CBB8FF2FF}"/>
              </a:ext>
            </a:extLst>
          </p:cNvPr>
          <p:cNvSpPr/>
          <p:nvPr/>
        </p:nvSpPr>
        <p:spPr>
          <a:xfrm>
            <a:off x="1189036" y="2389242"/>
            <a:ext cx="944564" cy="19664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5" name="CuadroTexto 14">
            <a:extLst>
              <a:ext uri="{FF2B5EF4-FFF2-40B4-BE49-F238E27FC236}">
                <a16:creationId xmlns:a16="http://schemas.microsoft.com/office/drawing/2014/main" id="{88BDDD40-EDA3-A3DB-E919-40491D7770A1}"/>
              </a:ext>
            </a:extLst>
          </p:cNvPr>
          <p:cNvSpPr txBox="1"/>
          <p:nvPr/>
        </p:nvSpPr>
        <p:spPr>
          <a:xfrm>
            <a:off x="934065" y="2765129"/>
            <a:ext cx="2664542" cy="124676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a:t>
            </a:r>
            <a:r>
              <a:rPr lang="es-ES" sz="1200" b="1" dirty="0">
                <a:solidFill>
                  <a:srgbClr val="92D050"/>
                </a:solidFill>
              </a:rPr>
              <a:t>Instructor y horas de reunión</a:t>
            </a:r>
            <a:r>
              <a:rPr lang="es-ES" sz="1200" dirty="0">
                <a:solidFill>
                  <a:srgbClr val="FFFFFF"/>
                </a:solidFill>
              </a:rPr>
              <a:t>, Subpestaña </a:t>
            </a:r>
            <a:r>
              <a:rPr lang="es-ES" sz="1200" b="1" dirty="0">
                <a:solidFill>
                  <a:srgbClr val="92D050"/>
                </a:solidFill>
              </a:rPr>
              <a:t>Fechas de reunión</a:t>
            </a:r>
            <a:r>
              <a:rPr lang="es-ES" sz="1200" dirty="0">
                <a:solidFill>
                  <a:srgbClr val="FFFFFF"/>
                </a:solidFill>
              </a:rPr>
              <a:t>, el campo </a:t>
            </a:r>
            <a:r>
              <a:rPr lang="es-ES" sz="1200" b="1" dirty="0">
                <a:solidFill>
                  <a:srgbClr val="92D050"/>
                </a:solidFill>
              </a:rPr>
              <a:t>Tipo de reunión</a:t>
            </a:r>
            <a:r>
              <a:rPr lang="es-ES" sz="1200" dirty="0">
                <a:solidFill>
                  <a:srgbClr val="FFFFFF"/>
                </a:solidFill>
              </a:rPr>
              <a:t> corresponde a  las categorías que hayan sido establecidas en la tabla de validación GTVMTYP.</a:t>
            </a:r>
          </a:p>
        </p:txBody>
      </p:sp>
    </p:spTree>
    <p:extLst>
      <p:ext uri="{BB962C8B-B14F-4D97-AF65-F5344CB8AC3E}">
        <p14:creationId xmlns:p14="http://schemas.microsoft.com/office/powerpoint/2010/main" val="141297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dissolve">
                                      <p:cBhvr>
                                        <p:cTn id="14" dur="500"/>
                                        <p:tgtEl>
                                          <p:spTgt spid="8"/>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heel(1)">
                                      <p:cBhvr>
                                        <p:cTn id="18" dur="2000"/>
                                        <p:tgtEl>
                                          <p:spTgt spid="11"/>
                                        </p:tgtEl>
                                      </p:cBhvr>
                                    </p:animEffect>
                                  </p:childTnLst>
                                </p:cTn>
                              </p:par>
                            </p:childTnLst>
                          </p:cTn>
                        </p:par>
                        <p:par>
                          <p:cTn id="19" fill="hold">
                            <p:stCondLst>
                              <p:cond delay="3000"/>
                            </p:stCondLst>
                            <p:childTnLst>
                              <p:par>
                                <p:cTn id="20" presetID="21" presetClass="entr" presetSubtype="1"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heel(1)">
                                      <p:cBhvr>
                                        <p:cTn id="22" dur="2000"/>
                                        <p:tgtEl>
                                          <p:spTgt spid="13"/>
                                        </p:tgtEl>
                                      </p:cBhvr>
                                    </p:animEffect>
                                  </p:childTnLst>
                                </p:cTn>
                              </p:par>
                            </p:childTnLst>
                          </p:cTn>
                        </p:par>
                        <p:par>
                          <p:cTn id="23" fill="hold">
                            <p:stCondLst>
                              <p:cond delay="5000"/>
                            </p:stCondLst>
                            <p:childTnLst>
                              <p:par>
                                <p:cTn id="24" presetID="21" presetClass="entr" presetSubtype="1"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heel(1)">
                                      <p:cBhvr>
                                        <p:cTn id="26" dur="2000"/>
                                        <p:tgtEl>
                                          <p:spTgt spid="14"/>
                                        </p:tgtEl>
                                      </p:cBhvr>
                                    </p:animEffect>
                                  </p:childTnLst>
                                </p:cTn>
                              </p:par>
                            </p:childTnLst>
                          </p:cTn>
                        </p:par>
                        <p:par>
                          <p:cTn id="27" fill="hold">
                            <p:stCondLst>
                              <p:cond delay="7000"/>
                            </p:stCondLst>
                            <p:childTnLst>
                              <p:par>
                                <p:cTn id="28" presetID="10" presetClass="entr" presetSubtype="0"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11" grpId="0" animBg="1"/>
      <p:bldP spid="13"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13C2328-99F9-FBE1-B3EF-17B6FA4C6989}"/>
              </a:ext>
            </a:extLst>
          </p:cNvPr>
          <p:cNvPicPr>
            <a:picLocks noChangeAspect="1"/>
          </p:cNvPicPr>
          <p:nvPr/>
        </p:nvPicPr>
        <p:blipFill>
          <a:blip r:embed="rId3"/>
          <a:stretch>
            <a:fillRect/>
          </a:stretch>
        </p:blipFill>
        <p:spPr>
          <a:xfrm>
            <a:off x="394551" y="1013535"/>
            <a:ext cx="11538186" cy="4888246"/>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CuadroTexto 9">
            <a:extLst>
              <a:ext uri="{FF2B5EF4-FFF2-40B4-BE49-F238E27FC236}">
                <a16:creationId xmlns:a16="http://schemas.microsoft.com/office/drawing/2014/main" id="{6E0F3467-31B1-F878-3201-8F337FF08AF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12" name="Rectángulo 11">
            <a:extLst>
              <a:ext uri="{FF2B5EF4-FFF2-40B4-BE49-F238E27FC236}">
                <a16:creationId xmlns:a16="http://schemas.microsoft.com/office/drawing/2014/main" id="{073163BE-9167-53B5-F179-61BDE71A19C0}"/>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24" name="Rectángulo 23">
            <a:extLst>
              <a:ext uri="{FF2B5EF4-FFF2-40B4-BE49-F238E27FC236}">
                <a16:creationId xmlns:a16="http://schemas.microsoft.com/office/drawing/2014/main" id="{B9E9ADE0-93A1-EAA3-3FBA-1427820ACBD8}"/>
              </a:ext>
            </a:extLst>
          </p:cNvPr>
          <p:cNvSpPr/>
          <p:nvPr/>
        </p:nvSpPr>
        <p:spPr>
          <a:xfrm>
            <a:off x="2221424" y="2389242"/>
            <a:ext cx="1731144" cy="19861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5" name="Rectángulo: esquinas redondeadas 24">
            <a:extLst>
              <a:ext uri="{FF2B5EF4-FFF2-40B4-BE49-F238E27FC236}">
                <a16:creationId xmlns:a16="http://schemas.microsoft.com/office/drawing/2014/main" id="{597021A4-E75F-8F18-848C-5462C019E770}"/>
              </a:ext>
            </a:extLst>
          </p:cNvPr>
          <p:cNvSpPr/>
          <p:nvPr/>
        </p:nvSpPr>
        <p:spPr>
          <a:xfrm>
            <a:off x="3035851" y="266894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26" name="CuadroTexto 25">
            <a:extLst>
              <a:ext uri="{FF2B5EF4-FFF2-40B4-BE49-F238E27FC236}">
                <a16:creationId xmlns:a16="http://schemas.microsoft.com/office/drawing/2014/main" id="{227E6328-A54A-A73E-36FB-2AACD00BF7F9}"/>
              </a:ext>
            </a:extLst>
          </p:cNvPr>
          <p:cNvSpPr txBox="1"/>
          <p:nvPr/>
        </p:nvSpPr>
        <p:spPr>
          <a:xfrm>
            <a:off x="1415846" y="3020657"/>
            <a:ext cx="2664542" cy="1822192"/>
          </a:xfrm>
          <a:prstGeom prst="roundRect">
            <a:avLst>
              <a:gd name="adj" fmla="val 7573"/>
            </a:avLst>
          </a:prstGeom>
          <a:solidFill>
            <a:srgbClr val="7030A0"/>
          </a:solidFill>
        </p:spPr>
        <p:txBody>
          <a:bodyPr wrap="square">
            <a:spAutoFit/>
          </a:bodyPr>
          <a:lstStyle/>
          <a:p>
            <a:pPr algn="ctr"/>
            <a:r>
              <a:rPr lang="es-ES" sz="1200" dirty="0">
                <a:solidFill>
                  <a:srgbClr val="FFFFFF"/>
                </a:solidFill>
              </a:rPr>
              <a:t>Ingrese la </a:t>
            </a:r>
            <a:r>
              <a:rPr lang="es-ES" sz="1200" b="1" dirty="0">
                <a:solidFill>
                  <a:srgbClr val="92D050"/>
                </a:solidFill>
              </a:rPr>
              <a:t>Fecha de inicio</a:t>
            </a:r>
            <a:r>
              <a:rPr lang="es-ES" sz="1200" dirty="0">
                <a:solidFill>
                  <a:srgbClr val="FFFFFF"/>
                </a:solidFill>
              </a:rPr>
              <a:t> y </a:t>
            </a:r>
            <a:r>
              <a:rPr lang="es-ES" sz="1200" b="1" dirty="0">
                <a:solidFill>
                  <a:srgbClr val="92D050"/>
                </a:solidFill>
              </a:rPr>
              <a:t>Fecha de fin</a:t>
            </a:r>
            <a:r>
              <a:rPr lang="es-ES" sz="1200" dirty="0">
                <a:solidFill>
                  <a:srgbClr val="FFFFFF"/>
                </a:solidFill>
              </a:rPr>
              <a:t> del curso. Las fechas de inicio y fin, inicialmente, son heredadas de la parte de período en la que se ha programado el NRC, pero éstas pueden ser modificadas en cada registro que se ingrese, pero dentro de las fechas de parte de periodo al que pertenece el NRC.</a:t>
            </a:r>
          </a:p>
        </p:txBody>
      </p:sp>
      <p:sp>
        <p:nvSpPr>
          <p:cNvPr id="27" name="Rectángulo 26">
            <a:extLst>
              <a:ext uri="{FF2B5EF4-FFF2-40B4-BE49-F238E27FC236}">
                <a16:creationId xmlns:a16="http://schemas.microsoft.com/office/drawing/2014/main" id="{34E8FE6D-65F9-4C5A-0C3C-BECF734B710C}"/>
              </a:ext>
            </a:extLst>
          </p:cNvPr>
          <p:cNvSpPr/>
          <p:nvPr/>
        </p:nvSpPr>
        <p:spPr>
          <a:xfrm>
            <a:off x="4205645" y="2389242"/>
            <a:ext cx="4594224" cy="19861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8" name="Rectángulo: esquinas redondeadas 27">
            <a:extLst>
              <a:ext uri="{FF2B5EF4-FFF2-40B4-BE49-F238E27FC236}">
                <a16:creationId xmlns:a16="http://schemas.microsoft.com/office/drawing/2014/main" id="{0503A35E-29A7-A10B-8049-4D0C397A30E8}"/>
              </a:ext>
            </a:extLst>
          </p:cNvPr>
          <p:cNvSpPr/>
          <p:nvPr/>
        </p:nvSpPr>
        <p:spPr>
          <a:xfrm>
            <a:off x="6244233" y="267880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29" name="CuadroTexto 28">
            <a:extLst>
              <a:ext uri="{FF2B5EF4-FFF2-40B4-BE49-F238E27FC236}">
                <a16:creationId xmlns:a16="http://schemas.microsoft.com/office/drawing/2014/main" id="{23565400-F9FE-9711-351D-C3D4FF7D6652}"/>
              </a:ext>
            </a:extLst>
          </p:cNvPr>
          <p:cNvSpPr txBox="1"/>
          <p:nvPr/>
        </p:nvSpPr>
        <p:spPr>
          <a:xfrm>
            <a:off x="4948696" y="3010860"/>
            <a:ext cx="2664542"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Seleccione los </a:t>
            </a:r>
            <a:r>
              <a:rPr lang="es-ES" sz="1200" b="1" dirty="0">
                <a:solidFill>
                  <a:srgbClr val="92D050"/>
                </a:solidFill>
              </a:rPr>
              <a:t>días de la semana</a:t>
            </a:r>
            <a:r>
              <a:rPr lang="es-ES" sz="1200" dirty="0">
                <a:solidFill>
                  <a:srgbClr val="FFFFFF"/>
                </a:solidFill>
              </a:rPr>
              <a:t> que corresponden al horario definido para la sesión de clases.</a:t>
            </a:r>
          </a:p>
        </p:txBody>
      </p:sp>
      <p:sp>
        <p:nvSpPr>
          <p:cNvPr id="30" name="Rectángulo 29">
            <a:extLst>
              <a:ext uri="{FF2B5EF4-FFF2-40B4-BE49-F238E27FC236}">
                <a16:creationId xmlns:a16="http://schemas.microsoft.com/office/drawing/2014/main" id="{B4333082-1122-303C-543F-52428A3C6965}"/>
              </a:ext>
            </a:extLst>
          </p:cNvPr>
          <p:cNvSpPr/>
          <p:nvPr/>
        </p:nvSpPr>
        <p:spPr>
          <a:xfrm>
            <a:off x="8856306" y="2389242"/>
            <a:ext cx="1615049" cy="19861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1" name="Rectángulo: esquinas redondeadas 30">
            <a:extLst>
              <a:ext uri="{FF2B5EF4-FFF2-40B4-BE49-F238E27FC236}">
                <a16:creationId xmlns:a16="http://schemas.microsoft.com/office/drawing/2014/main" id="{B3AB3E26-2872-6183-A9FA-E59759DBE038}"/>
              </a:ext>
            </a:extLst>
          </p:cNvPr>
          <p:cNvSpPr/>
          <p:nvPr/>
        </p:nvSpPr>
        <p:spPr>
          <a:xfrm>
            <a:off x="9505747" y="270046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32" name="CuadroTexto 31">
            <a:extLst>
              <a:ext uri="{FF2B5EF4-FFF2-40B4-BE49-F238E27FC236}">
                <a16:creationId xmlns:a16="http://schemas.microsoft.com/office/drawing/2014/main" id="{356E7332-2ED1-DF44-5298-205ECFB415A0}"/>
              </a:ext>
            </a:extLst>
          </p:cNvPr>
          <p:cNvSpPr txBox="1"/>
          <p:nvPr/>
        </p:nvSpPr>
        <p:spPr>
          <a:xfrm>
            <a:off x="8052898" y="3032518"/>
            <a:ext cx="2211985" cy="2205811"/>
          </a:xfrm>
          <a:prstGeom prst="roundRect">
            <a:avLst>
              <a:gd name="adj" fmla="val 7573"/>
            </a:avLst>
          </a:prstGeom>
          <a:solidFill>
            <a:srgbClr val="7030A0"/>
          </a:solidFill>
        </p:spPr>
        <p:txBody>
          <a:bodyPr wrap="square">
            <a:spAutoFit/>
          </a:bodyPr>
          <a:lstStyle/>
          <a:p>
            <a:pPr algn="ctr"/>
            <a:r>
              <a:rPr lang="es-ES" sz="1200" dirty="0">
                <a:solidFill>
                  <a:srgbClr val="FFFFFF"/>
                </a:solidFill>
              </a:rPr>
              <a:t>Ingresar la </a:t>
            </a:r>
            <a:r>
              <a:rPr lang="es-ES" sz="1200" b="1" dirty="0">
                <a:solidFill>
                  <a:srgbClr val="92D050"/>
                </a:solidFill>
              </a:rPr>
              <a:t>Hora de inicio</a:t>
            </a:r>
            <a:r>
              <a:rPr lang="es-ES" sz="1200" dirty="0">
                <a:solidFill>
                  <a:srgbClr val="FFFFFF"/>
                </a:solidFill>
              </a:rPr>
              <a:t> y </a:t>
            </a:r>
            <a:r>
              <a:rPr lang="es-ES" sz="1200" b="1" dirty="0">
                <a:solidFill>
                  <a:srgbClr val="92D050"/>
                </a:solidFill>
              </a:rPr>
              <a:t>Hora de fin </a:t>
            </a:r>
            <a:r>
              <a:rPr lang="es-ES" sz="1200" dirty="0">
                <a:solidFill>
                  <a:srgbClr val="FFFFFF"/>
                </a:solidFill>
              </a:rPr>
              <a:t>que corresponden al horario definido para la sesión de clases. El formato es de 24 horas, solo números (4 dígitos).</a:t>
            </a:r>
          </a:p>
          <a:p>
            <a:pPr algn="ctr"/>
            <a:r>
              <a:rPr lang="es-ES" sz="1200" dirty="0">
                <a:solidFill>
                  <a:srgbClr val="FFFFFF"/>
                </a:solidFill>
              </a:rPr>
              <a:t>En Hora de fin, se debe colocar un minuto antes de la finalización para evitar conflicto de horario</a:t>
            </a:r>
          </a:p>
        </p:txBody>
      </p:sp>
      <p:sp>
        <p:nvSpPr>
          <p:cNvPr id="33" name="Rectángulo 32">
            <a:extLst>
              <a:ext uri="{FF2B5EF4-FFF2-40B4-BE49-F238E27FC236}">
                <a16:creationId xmlns:a16="http://schemas.microsoft.com/office/drawing/2014/main" id="{47B90D35-8D57-E8F1-E23D-57D09D2EE9C5}"/>
              </a:ext>
            </a:extLst>
          </p:cNvPr>
          <p:cNvSpPr/>
          <p:nvPr/>
        </p:nvSpPr>
        <p:spPr>
          <a:xfrm>
            <a:off x="10628471" y="2389242"/>
            <a:ext cx="1132210" cy="19861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4" name="Rectángulo: esquinas redondeadas 33">
            <a:extLst>
              <a:ext uri="{FF2B5EF4-FFF2-40B4-BE49-F238E27FC236}">
                <a16:creationId xmlns:a16="http://schemas.microsoft.com/office/drawing/2014/main" id="{0408B5B5-FF9E-A374-2D8D-A492BB2A86C5}"/>
              </a:ext>
            </a:extLst>
          </p:cNvPr>
          <p:cNvSpPr/>
          <p:nvPr/>
        </p:nvSpPr>
        <p:spPr>
          <a:xfrm>
            <a:off x="11248775" y="270046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35" name="CuadroTexto 34">
            <a:extLst>
              <a:ext uri="{FF2B5EF4-FFF2-40B4-BE49-F238E27FC236}">
                <a16:creationId xmlns:a16="http://schemas.microsoft.com/office/drawing/2014/main" id="{0FA7FB4B-828C-7F5D-CEAE-32784015D48C}"/>
              </a:ext>
            </a:extLst>
          </p:cNvPr>
          <p:cNvSpPr txBox="1"/>
          <p:nvPr/>
        </p:nvSpPr>
        <p:spPr>
          <a:xfrm>
            <a:off x="10382865" y="3032518"/>
            <a:ext cx="1698589" cy="2359462"/>
          </a:xfrm>
          <a:prstGeom prst="roundRect">
            <a:avLst>
              <a:gd name="adj" fmla="val 7573"/>
            </a:avLst>
          </a:prstGeom>
          <a:solidFill>
            <a:srgbClr val="7030A0"/>
          </a:solidFill>
        </p:spPr>
        <p:txBody>
          <a:bodyPr wrap="square">
            <a:spAutoFit/>
          </a:bodyPr>
          <a:lstStyle/>
          <a:p>
            <a:pPr algn="ctr"/>
            <a:r>
              <a:rPr lang="es-ES" sz="1100" dirty="0">
                <a:solidFill>
                  <a:srgbClr val="FFFFFF"/>
                </a:solidFill>
              </a:rPr>
              <a:t>En el campo </a:t>
            </a:r>
            <a:r>
              <a:rPr lang="es-ES" sz="1100" b="1" dirty="0">
                <a:solidFill>
                  <a:srgbClr val="92D050"/>
                </a:solidFill>
              </a:rPr>
              <a:t>Indicador de sesión</a:t>
            </a:r>
            <a:r>
              <a:rPr lang="es-ES" sz="1100" dirty="0">
                <a:solidFill>
                  <a:srgbClr val="FFFFFF"/>
                </a:solidFill>
              </a:rPr>
              <a:t>, por defecto se muestra la sesión 01 siempre. Si el NRC va a ser dictado por más de un docente, en cada sesión que corresponda debe asignar un indicador diferente (02, 03, respectivamente) por cada docente que dicte la asignatura. </a:t>
            </a:r>
          </a:p>
        </p:txBody>
      </p:sp>
      <p:sp>
        <p:nvSpPr>
          <p:cNvPr id="36" name="Rectángulo 35">
            <a:extLst>
              <a:ext uri="{FF2B5EF4-FFF2-40B4-BE49-F238E27FC236}">
                <a16:creationId xmlns:a16="http://schemas.microsoft.com/office/drawing/2014/main" id="{29F19D7D-A1D2-B4AA-F1AE-A7901648C430}"/>
              </a:ext>
            </a:extLst>
          </p:cNvPr>
          <p:cNvSpPr/>
          <p:nvPr/>
        </p:nvSpPr>
        <p:spPr>
          <a:xfrm>
            <a:off x="11335109" y="5519593"/>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7" name="Rectángulo: esquinas redondeadas 36">
            <a:extLst>
              <a:ext uri="{FF2B5EF4-FFF2-40B4-BE49-F238E27FC236}">
                <a16:creationId xmlns:a16="http://schemas.microsoft.com/office/drawing/2014/main" id="{D452A439-935C-1985-1F4B-3BFF29C3152B}"/>
              </a:ext>
            </a:extLst>
          </p:cNvPr>
          <p:cNvSpPr/>
          <p:nvPr/>
        </p:nvSpPr>
        <p:spPr>
          <a:xfrm>
            <a:off x="11018806" y="558144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5</a:t>
            </a:r>
            <a:endParaRPr lang="es-PE" sz="1100" b="1" dirty="0"/>
          </a:p>
        </p:txBody>
      </p:sp>
      <p:sp>
        <p:nvSpPr>
          <p:cNvPr id="38" name="CuadroTexto 37">
            <a:extLst>
              <a:ext uri="{FF2B5EF4-FFF2-40B4-BE49-F238E27FC236}">
                <a16:creationId xmlns:a16="http://schemas.microsoft.com/office/drawing/2014/main" id="{030ED794-FC4B-5F51-79DF-E4B8D05A0C43}"/>
              </a:ext>
            </a:extLst>
          </p:cNvPr>
          <p:cNvSpPr txBox="1"/>
          <p:nvPr/>
        </p:nvSpPr>
        <p:spPr>
          <a:xfrm>
            <a:off x="8689208" y="5426169"/>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39" name="Rectángulo 38">
            <a:extLst>
              <a:ext uri="{FF2B5EF4-FFF2-40B4-BE49-F238E27FC236}">
                <a16:creationId xmlns:a16="http://schemas.microsoft.com/office/drawing/2014/main" id="{2DA9E8BE-956F-6BAC-D97D-825274F4DE6B}"/>
              </a:ext>
            </a:extLst>
          </p:cNvPr>
          <p:cNvSpPr/>
          <p:nvPr/>
        </p:nvSpPr>
        <p:spPr>
          <a:xfrm>
            <a:off x="738540" y="5500328"/>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0" name="Rectángulo: esquinas redondeadas 39">
            <a:extLst>
              <a:ext uri="{FF2B5EF4-FFF2-40B4-BE49-F238E27FC236}">
                <a16:creationId xmlns:a16="http://schemas.microsoft.com/office/drawing/2014/main" id="{3259B764-5AD9-9DFA-794D-F01343089B26}"/>
              </a:ext>
            </a:extLst>
          </p:cNvPr>
          <p:cNvSpPr/>
          <p:nvPr/>
        </p:nvSpPr>
        <p:spPr>
          <a:xfrm>
            <a:off x="413001" y="552524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6</a:t>
            </a:r>
            <a:endParaRPr lang="es-PE" sz="1100" b="1" dirty="0"/>
          </a:p>
        </p:txBody>
      </p:sp>
      <p:sp>
        <p:nvSpPr>
          <p:cNvPr id="41" name="CuadroTexto 40">
            <a:extLst>
              <a:ext uri="{FF2B5EF4-FFF2-40B4-BE49-F238E27FC236}">
                <a16:creationId xmlns:a16="http://schemas.microsoft.com/office/drawing/2014/main" id="{347D579F-106B-8583-9A7A-A940D4A60929}"/>
              </a:ext>
            </a:extLst>
          </p:cNvPr>
          <p:cNvSpPr txBox="1"/>
          <p:nvPr/>
        </p:nvSpPr>
        <p:spPr>
          <a:xfrm>
            <a:off x="261946" y="4948645"/>
            <a:ext cx="868225"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a:t>
            </a:r>
          </a:p>
        </p:txBody>
      </p:sp>
    </p:spTree>
    <p:extLst>
      <p:ext uri="{BB962C8B-B14F-4D97-AF65-F5344CB8AC3E}">
        <p14:creationId xmlns:p14="http://schemas.microsoft.com/office/powerpoint/2010/main" val="1813651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heel(1)">
                                      <p:cBhvr>
                                        <p:cTn id="18" dur="2000"/>
                                        <p:tgtEl>
                                          <p:spTgt spid="24"/>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heel(1)">
                                      <p:cBhvr>
                                        <p:cTn id="32" dur="2000"/>
                                        <p:tgtEl>
                                          <p:spTgt spid="27"/>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28"/>
                                        </p:tgtEl>
                                        <p:attrNameLst>
                                          <p:attrName>style.visibility</p:attrName>
                                        </p:attrNameLst>
                                      </p:cBhvr>
                                      <p:to>
                                        <p:strVal val="visible"/>
                                      </p:to>
                                    </p:set>
                                    <p:anim calcmode="lin" valueType="num">
                                      <p:cBhvr>
                                        <p:cTn id="36" dur="500" fill="hold"/>
                                        <p:tgtEl>
                                          <p:spTgt spid="28"/>
                                        </p:tgtEl>
                                        <p:attrNameLst>
                                          <p:attrName>ppt_w</p:attrName>
                                        </p:attrNameLst>
                                      </p:cBhvr>
                                      <p:tavLst>
                                        <p:tav tm="0">
                                          <p:val>
                                            <p:fltVal val="0"/>
                                          </p:val>
                                        </p:tav>
                                        <p:tav tm="100000">
                                          <p:val>
                                            <p:strVal val="#ppt_w"/>
                                          </p:val>
                                        </p:tav>
                                      </p:tavLst>
                                    </p:anim>
                                    <p:anim calcmode="lin" valueType="num">
                                      <p:cBhvr>
                                        <p:cTn id="37" dur="500" fill="hold"/>
                                        <p:tgtEl>
                                          <p:spTgt spid="28"/>
                                        </p:tgtEl>
                                        <p:attrNameLst>
                                          <p:attrName>ppt_h</p:attrName>
                                        </p:attrNameLst>
                                      </p:cBhvr>
                                      <p:tavLst>
                                        <p:tav tm="0">
                                          <p:val>
                                            <p:fltVal val="0"/>
                                          </p:val>
                                        </p:tav>
                                        <p:tav tm="100000">
                                          <p:val>
                                            <p:strVal val="#ppt_h"/>
                                          </p:val>
                                        </p:tav>
                                      </p:tavLst>
                                    </p:anim>
                                    <p:animEffect transition="in" filter="fade">
                                      <p:cBhvr>
                                        <p:cTn id="38" dur="500"/>
                                        <p:tgtEl>
                                          <p:spTgt spid="28"/>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heel(1)">
                                      <p:cBhvr>
                                        <p:cTn id="46" dur="2000"/>
                                        <p:tgtEl>
                                          <p:spTgt spid="30"/>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31"/>
                                        </p:tgtEl>
                                        <p:attrNameLst>
                                          <p:attrName>style.visibility</p:attrName>
                                        </p:attrNameLst>
                                      </p:cBhvr>
                                      <p:to>
                                        <p:strVal val="visible"/>
                                      </p:to>
                                    </p:set>
                                    <p:anim calcmode="lin" valueType="num">
                                      <p:cBhvr>
                                        <p:cTn id="50" dur="500" fill="hold"/>
                                        <p:tgtEl>
                                          <p:spTgt spid="31"/>
                                        </p:tgtEl>
                                        <p:attrNameLst>
                                          <p:attrName>ppt_w</p:attrName>
                                        </p:attrNameLst>
                                      </p:cBhvr>
                                      <p:tavLst>
                                        <p:tav tm="0">
                                          <p:val>
                                            <p:fltVal val="0"/>
                                          </p:val>
                                        </p:tav>
                                        <p:tav tm="100000">
                                          <p:val>
                                            <p:strVal val="#ppt_w"/>
                                          </p:val>
                                        </p:tav>
                                      </p:tavLst>
                                    </p:anim>
                                    <p:anim calcmode="lin" valueType="num">
                                      <p:cBhvr>
                                        <p:cTn id="51" dur="500" fill="hold"/>
                                        <p:tgtEl>
                                          <p:spTgt spid="31"/>
                                        </p:tgtEl>
                                        <p:attrNameLst>
                                          <p:attrName>ppt_h</p:attrName>
                                        </p:attrNameLst>
                                      </p:cBhvr>
                                      <p:tavLst>
                                        <p:tav tm="0">
                                          <p:val>
                                            <p:fltVal val="0"/>
                                          </p:val>
                                        </p:tav>
                                        <p:tav tm="100000">
                                          <p:val>
                                            <p:strVal val="#ppt_h"/>
                                          </p:val>
                                        </p:tav>
                                      </p:tavLst>
                                    </p:anim>
                                    <p:animEffect transition="in" filter="fade">
                                      <p:cBhvr>
                                        <p:cTn id="52" dur="500"/>
                                        <p:tgtEl>
                                          <p:spTgt spid="31"/>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wheel(1)">
                                      <p:cBhvr>
                                        <p:cTn id="60" dur="2000"/>
                                        <p:tgtEl>
                                          <p:spTgt spid="33"/>
                                        </p:tgtEl>
                                      </p:cBhvr>
                                    </p:animEffect>
                                  </p:childTnLst>
                                </p:cTn>
                              </p:par>
                            </p:childTnLst>
                          </p:cTn>
                        </p:par>
                        <p:par>
                          <p:cTn id="61" fill="hold">
                            <p:stCondLst>
                              <p:cond delay="12000"/>
                            </p:stCondLst>
                            <p:childTnLst>
                              <p:par>
                                <p:cTn id="62" presetID="53" presetClass="entr" presetSubtype="16"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 calcmode="lin" valueType="num">
                                      <p:cBhvr>
                                        <p:cTn id="64" dur="500" fill="hold"/>
                                        <p:tgtEl>
                                          <p:spTgt spid="34"/>
                                        </p:tgtEl>
                                        <p:attrNameLst>
                                          <p:attrName>ppt_w</p:attrName>
                                        </p:attrNameLst>
                                      </p:cBhvr>
                                      <p:tavLst>
                                        <p:tav tm="0">
                                          <p:val>
                                            <p:fltVal val="0"/>
                                          </p:val>
                                        </p:tav>
                                        <p:tav tm="100000">
                                          <p:val>
                                            <p:strVal val="#ppt_w"/>
                                          </p:val>
                                        </p:tav>
                                      </p:tavLst>
                                    </p:anim>
                                    <p:anim calcmode="lin" valueType="num">
                                      <p:cBhvr>
                                        <p:cTn id="65" dur="500" fill="hold"/>
                                        <p:tgtEl>
                                          <p:spTgt spid="34"/>
                                        </p:tgtEl>
                                        <p:attrNameLst>
                                          <p:attrName>ppt_h</p:attrName>
                                        </p:attrNameLst>
                                      </p:cBhvr>
                                      <p:tavLst>
                                        <p:tav tm="0">
                                          <p:val>
                                            <p:fltVal val="0"/>
                                          </p:val>
                                        </p:tav>
                                        <p:tav tm="100000">
                                          <p:val>
                                            <p:strVal val="#ppt_h"/>
                                          </p:val>
                                        </p:tav>
                                      </p:tavLst>
                                    </p:anim>
                                    <p:animEffect transition="in" filter="fade">
                                      <p:cBhvr>
                                        <p:cTn id="66" dur="500"/>
                                        <p:tgtEl>
                                          <p:spTgt spid="34"/>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childTnLst>
                          </p:cTn>
                        </p:par>
                        <p:par>
                          <p:cTn id="71" fill="hold">
                            <p:stCondLst>
                              <p:cond delay="13000"/>
                            </p:stCondLst>
                            <p:childTnLst>
                              <p:par>
                                <p:cTn id="72" presetID="21" presetClass="entr" presetSubtype="1" fill="hold" grpId="0" nodeType="after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wheel(1)">
                                      <p:cBhvr>
                                        <p:cTn id="74" dur="2000"/>
                                        <p:tgtEl>
                                          <p:spTgt spid="36"/>
                                        </p:tgtEl>
                                      </p:cBhvr>
                                    </p:animEffect>
                                  </p:childTnLst>
                                </p:cTn>
                              </p:par>
                            </p:childTnLst>
                          </p:cTn>
                        </p:par>
                        <p:par>
                          <p:cTn id="75" fill="hold">
                            <p:stCondLst>
                              <p:cond delay="15000"/>
                            </p:stCondLst>
                            <p:childTnLst>
                              <p:par>
                                <p:cTn id="76" presetID="53" presetClass="entr" presetSubtype="16"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anim calcmode="lin" valueType="num">
                                      <p:cBhvr>
                                        <p:cTn id="78" dur="500" fill="hold"/>
                                        <p:tgtEl>
                                          <p:spTgt spid="37"/>
                                        </p:tgtEl>
                                        <p:attrNameLst>
                                          <p:attrName>ppt_w</p:attrName>
                                        </p:attrNameLst>
                                      </p:cBhvr>
                                      <p:tavLst>
                                        <p:tav tm="0">
                                          <p:val>
                                            <p:fltVal val="0"/>
                                          </p:val>
                                        </p:tav>
                                        <p:tav tm="100000">
                                          <p:val>
                                            <p:strVal val="#ppt_w"/>
                                          </p:val>
                                        </p:tav>
                                      </p:tavLst>
                                    </p:anim>
                                    <p:anim calcmode="lin" valueType="num">
                                      <p:cBhvr>
                                        <p:cTn id="79" dur="500" fill="hold"/>
                                        <p:tgtEl>
                                          <p:spTgt spid="37"/>
                                        </p:tgtEl>
                                        <p:attrNameLst>
                                          <p:attrName>ppt_h</p:attrName>
                                        </p:attrNameLst>
                                      </p:cBhvr>
                                      <p:tavLst>
                                        <p:tav tm="0">
                                          <p:val>
                                            <p:fltVal val="0"/>
                                          </p:val>
                                        </p:tav>
                                        <p:tav tm="100000">
                                          <p:val>
                                            <p:strVal val="#ppt_h"/>
                                          </p:val>
                                        </p:tav>
                                      </p:tavLst>
                                    </p:anim>
                                    <p:animEffect transition="in" filter="fade">
                                      <p:cBhvr>
                                        <p:cTn id="80" dur="500"/>
                                        <p:tgtEl>
                                          <p:spTgt spid="37"/>
                                        </p:tgtEl>
                                      </p:cBhvr>
                                    </p:animEffect>
                                  </p:childTnLst>
                                </p:cTn>
                              </p:par>
                            </p:childTnLst>
                          </p:cTn>
                        </p:par>
                        <p:par>
                          <p:cTn id="81" fill="hold">
                            <p:stCondLst>
                              <p:cond delay="15500"/>
                            </p:stCondLst>
                            <p:childTnLst>
                              <p:par>
                                <p:cTn id="82" presetID="10" presetClass="entr" presetSubtype="0" fill="hold" grpId="0" nodeType="after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500"/>
                                        <p:tgtEl>
                                          <p:spTgt spid="38"/>
                                        </p:tgtEl>
                                      </p:cBhvr>
                                    </p:animEffect>
                                  </p:childTnLst>
                                </p:cTn>
                              </p:par>
                            </p:childTnLst>
                          </p:cTn>
                        </p:par>
                        <p:par>
                          <p:cTn id="85" fill="hold">
                            <p:stCondLst>
                              <p:cond delay="16000"/>
                            </p:stCondLst>
                            <p:childTnLst>
                              <p:par>
                                <p:cTn id="86" presetID="21" presetClass="entr" presetSubtype="1" fill="hold" grpId="0" nodeType="after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heel(1)">
                                      <p:cBhvr>
                                        <p:cTn id="88" dur="2000"/>
                                        <p:tgtEl>
                                          <p:spTgt spid="39"/>
                                        </p:tgtEl>
                                      </p:cBhvr>
                                    </p:animEffect>
                                  </p:childTnLst>
                                </p:cTn>
                              </p:par>
                            </p:childTnLst>
                          </p:cTn>
                        </p:par>
                        <p:par>
                          <p:cTn id="89" fill="hold">
                            <p:stCondLst>
                              <p:cond delay="18000"/>
                            </p:stCondLst>
                            <p:childTnLst>
                              <p:par>
                                <p:cTn id="90" presetID="53" presetClass="entr" presetSubtype="16" fill="hold" grpId="0" nodeType="afterEffect">
                                  <p:stCondLst>
                                    <p:cond delay="0"/>
                                  </p:stCondLst>
                                  <p:childTnLst>
                                    <p:set>
                                      <p:cBhvr>
                                        <p:cTn id="91" dur="1" fill="hold">
                                          <p:stCondLst>
                                            <p:cond delay="0"/>
                                          </p:stCondLst>
                                        </p:cTn>
                                        <p:tgtEl>
                                          <p:spTgt spid="40"/>
                                        </p:tgtEl>
                                        <p:attrNameLst>
                                          <p:attrName>style.visibility</p:attrName>
                                        </p:attrNameLst>
                                      </p:cBhvr>
                                      <p:to>
                                        <p:strVal val="visible"/>
                                      </p:to>
                                    </p:set>
                                    <p:anim calcmode="lin" valueType="num">
                                      <p:cBhvr>
                                        <p:cTn id="92" dur="500" fill="hold"/>
                                        <p:tgtEl>
                                          <p:spTgt spid="40"/>
                                        </p:tgtEl>
                                        <p:attrNameLst>
                                          <p:attrName>ppt_w</p:attrName>
                                        </p:attrNameLst>
                                      </p:cBhvr>
                                      <p:tavLst>
                                        <p:tav tm="0">
                                          <p:val>
                                            <p:fltVal val="0"/>
                                          </p:val>
                                        </p:tav>
                                        <p:tav tm="100000">
                                          <p:val>
                                            <p:strVal val="#ppt_w"/>
                                          </p:val>
                                        </p:tav>
                                      </p:tavLst>
                                    </p:anim>
                                    <p:anim calcmode="lin" valueType="num">
                                      <p:cBhvr>
                                        <p:cTn id="93" dur="500" fill="hold"/>
                                        <p:tgtEl>
                                          <p:spTgt spid="40"/>
                                        </p:tgtEl>
                                        <p:attrNameLst>
                                          <p:attrName>ppt_h</p:attrName>
                                        </p:attrNameLst>
                                      </p:cBhvr>
                                      <p:tavLst>
                                        <p:tav tm="0">
                                          <p:val>
                                            <p:fltVal val="0"/>
                                          </p:val>
                                        </p:tav>
                                        <p:tav tm="100000">
                                          <p:val>
                                            <p:strVal val="#ppt_h"/>
                                          </p:val>
                                        </p:tav>
                                      </p:tavLst>
                                    </p:anim>
                                    <p:animEffect transition="in" filter="fade">
                                      <p:cBhvr>
                                        <p:cTn id="94" dur="500"/>
                                        <p:tgtEl>
                                          <p:spTgt spid="40"/>
                                        </p:tgtEl>
                                      </p:cBhvr>
                                    </p:animEffect>
                                  </p:childTnLst>
                                </p:cTn>
                              </p:par>
                            </p:childTnLst>
                          </p:cTn>
                        </p:par>
                        <p:par>
                          <p:cTn id="95" fill="hold">
                            <p:stCondLst>
                              <p:cond delay="18500"/>
                            </p:stCondLst>
                            <p:childTnLst>
                              <p:par>
                                <p:cTn id="96" presetID="10" presetClass="entr" presetSubtype="0" fill="hold" grpId="0" nodeType="after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fade">
                                      <p:cBhvr>
                                        <p:cTn id="9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CuadroTexto 9">
            <a:extLst>
              <a:ext uri="{FF2B5EF4-FFF2-40B4-BE49-F238E27FC236}">
                <a16:creationId xmlns:a16="http://schemas.microsoft.com/office/drawing/2014/main" id="{6E0F3467-31B1-F878-3201-8F337FF08AF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12" name="Rectángulo 11">
            <a:extLst>
              <a:ext uri="{FF2B5EF4-FFF2-40B4-BE49-F238E27FC236}">
                <a16:creationId xmlns:a16="http://schemas.microsoft.com/office/drawing/2014/main" id="{073163BE-9167-53B5-F179-61BDE71A19C0}"/>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pic>
        <p:nvPicPr>
          <p:cNvPr id="43" name="Imagen 42">
            <a:extLst>
              <a:ext uri="{FF2B5EF4-FFF2-40B4-BE49-F238E27FC236}">
                <a16:creationId xmlns:a16="http://schemas.microsoft.com/office/drawing/2014/main" id="{4970E36F-30FD-37DF-5E30-E663CF342F7F}"/>
              </a:ext>
            </a:extLst>
          </p:cNvPr>
          <p:cNvPicPr>
            <a:picLocks noChangeAspect="1"/>
          </p:cNvPicPr>
          <p:nvPr/>
        </p:nvPicPr>
        <p:blipFill>
          <a:blip r:embed="rId5"/>
          <a:stretch>
            <a:fillRect/>
          </a:stretch>
        </p:blipFill>
        <p:spPr>
          <a:xfrm>
            <a:off x="351276" y="983226"/>
            <a:ext cx="11552883" cy="4918554"/>
          </a:xfrm>
          <a:prstGeom prst="rect">
            <a:avLst/>
          </a:prstGeom>
        </p:spPr>
      </p:pic>
      <p:sp>
        <p:nvSpPr>
          <p:cNvPr id="44" name="Rectángulo 43">
            <a:extLst>
              <a:ext uri="{FF2B5EF4-FFF2-40B4-BE49-F238E27FC236}">
                <a16:creationId xmlns:a16="http://schemas.microsoft.com/office/drawing/2014/main" id="{2556F0E8-F7D4-F172-7B45-8BB005C4957E}"/>
              </a:ext>
            </a:extLst>
          </p:cNvPr>
          <p:cNvSpPr/>
          <p:nvPr/>
        </p:nvSpPr>
        <p:spPr>
          <a:xfrm>
            <a:off x="1289649" y="1868128"/>
            <a:ext cx="1443719" cy="2064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5" name="Rectángulo 44">
            <a:extLst>
              <a:ext uri="{FF2B5EF4-FFF2-40B4-BE49-F238E27FC236}">
                <a16:creationId xmlns:a16="http://schemas.microsoft.com/office/drawing/2014/main" id="{996DBB20-E0A0-0952-D215-C93BECFEAA20}"/>
              </a:ext>
            </a:extLst>
          </p:cNvPr>
          <p:cNvSpPr/>
          <p:nvPr/>
        </p:nvSpPr>
        <p:spPr>
          <a:xfrm>
            <a:off x="1704574" y="2380542"/>
            <a:ext cx="1443719" cy="2064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6" name="Rectángulo: esquinas redondeadas 45">
            <a:extLst>
              <a:ext uri="{FF2B5EF4-FFF2-40B4-BE49-F238E27FC236}">
                <a16:creationId xmlns:a16="http://schemas.microsoft.com/office/drawing/2014/main" id="{97AF8EE1-BD7D-E52D-55D1-8B240A82A1B5}"/>
              </a:ext>
            </a:extLst>
          </p:cNvPr>
          <p:cNvSpPr/>
          <p:nvPr/>
        </p:nvSpPr>
        <p:spPr>
          <a:xfrm>
            <a:off x="2298940" y="268713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47" name="CuadroTexto 46">
            <a:extLst>
              <a:ext uri="{FF2B5EF4-FFF2-40B4-BE49-F238E27FC236}">
                <a16:creationId xmlns:a16="http://schemas.microsoft.com/office/drawing/2014/main" id="{64B48344-532C-9FF9-5333-3E5181C03FA4}"/>
              </a:ext>
            </a:extLst>
          </p:cNvPr>
          <p:cNvSpPr txBox="1"/>
          <p:nvPr/>
        </p:nvSpPr>
        <p:spPr>
          <a:xfrm>
            <a:off x="509353" y="3011541"/>
            <a:ext cx="2509150" cy="105495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a:t>
            </a:r>
            <a:r>
              <a:rPr lang="es-ES" sz="1200" b="1" dirty="0">
                <a:solidFill>
                  <a:srgbClr val="92D050"/>
                </a:solidFill>
              </a:rPr>
              <a:t>Instructor y horas de reunión</a:t>
            </a:r>
            <a:r>
              <a:rPr lang="es-ES" sz="1200" dirty="0">
                <a:solidFill>
                  <a:srgbClr val="FFFFFF"/>
                </a:solidFill>
              </a:rPr>
              <a:t>, Subpestaña </a:t>
            </a:r>
            <a:r>
              <a:rPr lang="es-ES" sz="1200" b="1" dirty="0">
                <a:solidFill>
                  <a:srgbClr val="92D050"/>
                </a:solidFill>
              </a:rPr>
              <a:t>Créditos y ubicación de reunión</a:t>
            </a:r>
            <a:r>
              <a:rPr lang="es-ES" sz="1200" dirty="0">
                <a:solidFill>
                  <a:schemeClr val="bg1"/>
                </a:solidFill>
              </a:rPr>
              <a:t>, selecciona el salón en el que se impartirá la clase.</a:t>
            </a:r>
          </a:p>
        </p:txBody>
      </p:sp>
      <p:sp>
        <p:nvSpPr>
          <p:cNvPr id="48" name="Rectángulo 47">
            <a:extLst>
              <a:ext uri="{FF2B5EF4-FFF2-40B4-BE49-F238E27FC236}">
                <a16:creationId xmlns:a16="http://schemas.microsoft.com/office/drawing/2014/main" id="{A7922792-A1DE-922D-D65E-0C176C6E203F}"/>
              </a:ext>
            </a:extLst>
          </p:cNvPr>
          <p:cNvSpPr/>
          <p:nvPr/>
        </p:nvSpPr>
        <p:spPr>
          <a:xfrm>
            <a:off x="3410471" y="2380542"/>
            <a:ext cx="1443719" cy="2064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49" name="Rectángulo: esquinas redondeadas 48">
            <a:extLst>
              <a:ext uri="{FF2B5EF4-FFF2-40B4-BE49-F238E27FC236}">
                <a16:creationId xmlns:a16="http://schemas.microsoft.com/office/drawing/2014/main" id="{DA3C1F31-1A87-8612-6D20-468DA568994A}"/>
              </a:ext>
            </a:extLst>
          </p:cNvPr>
          <p:cNvSpPr/>
          <p:nvPr/>
        </p:nvSpPr>
        <p:spPr>
          <a:xfrm>
            <a:off x="4023214" y="267418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50" name="CuadroTexto 49">
            <a:extLst>
              <a:ext uri="{FF2B5EF4-FFF2-40B4-BE49-F238E27FC236}">
                <a16:creationId xmlns:a16="http://schemas.microsoft.com/office/drawing/2014/main" id="{1698122F-28FC-8E97-7FF6-7DF5104715E4}"/>
              </a:ext>
            </a:extLst>
          </p:cNvPr>
          <p:cNvSpPr txBox="1"/>
          <p:nvPr/>
        </p:nvSpPr>
        <p:spPr>
          <a:xfrm>
            <a:off x="3114423" y="2997868"/>
            <a:ext cx="2453461" cy="2014002"/>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Tipo de horario</a:t>
            </a:r>
            <a:r>
              <a:rPr lang="es-ES" sz="1200" dirty="0">
                <a:solidFill>
                  <a:srgbClr val="FFFFFF"/>
                </a:solidFill>
              </a:rPr>
              <a:t>, se refleja el mismo tipo de horario que se ha declarado en la pestaña Información de sección de curso. Puedes modificar  el tipo de horario para la sesión que corresponda (si la asignatura tiene más de un tipo de horario asociado en el catálogo).</a:t>
            </a:r>
          </a:p>
        </p:txBody>
      </p:sp>
      <p:sp>
        <p:nvSpPr>
          <p:cNvPr id="51" name="Rectángulo 50">
            <a:extLst>
              <a:ext uri="{FF2B5EF4-FFF2-40B4-BE49-F238E27FC236}">
                <a16:creationId xmlns:a16="http://schemas.microsoft.com/office/drawing/2014/main" id="{5984E3C3-475B-B266-95DC-6AC5EC63D089}"/>
              </a:ext>
            </a:extLst>
          </p:cNvPr>
          <p:cNvSpPr/>
          <p:nvPr/>
        </p:nvSpPr>
        <p:spPr>
          <a:xfrm>
            <a:off x="4935794" y="2380541"/>
            <a:ext cx="1443719" cy="2064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52" name="Rectángulo: esquinas redondeadas 51">
            <a:extLst>
              <a:ext uri="{FF2B5EF4-FFF2-40B4-BE49-F238E27FC236}">
                <a16:creationId xmlns:a16="http://schemas.microsoft.com/office/drawing/2014/main" id="{8E1628BE-874B-F901-F069-F2F8B0C71361}"/>
              </a:ext>
            </a:extLst>
          </p:cNvPr>
          <p:cNvSpPr/>
          <p:nvPr/>
        </p:nvSpPr>
        <p:spPr>
          <a:xfrm>
            <a:off x="6485698" y="240110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53" name="CuadroTexto 52">
            <a:extLst>
              <a:ext uri="{FF2B5EF4-FFF2-40B4-BE49-F238E27FC236}">
                <a16:creationId xmlns:a16="http://schemas.microsoft.com/office/drawing/2014/main" id="{33BCA9E4-3E15-6D4F-287E-9FC06E245E08}"/>
              </a:ext>
            </a:extLst>
          </p:cNvPr>
          <p:cNvSpPr txBox="1"/>
          <p:nvPr/>
        </p:nvSpPr>
        <p:spPr>
          <a:xfrm>
            <a:off x="6788255" y="2011072"/>
            <a:ext cx="1821371" cy="2755344"/>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Tipo de horario</a:t>
            </a:r>
            <a:r>
              <a:rPr lang="es-ES" sz="1200" dirty="0">
                <a:solidFill>
                  <a:srgbClr val="FFFFFF"/>
                </a:solidFill>
              </a:rPr>
              <a:t>, se refleja el mismo tipo de horario que se ha declarado en la pestaña Información de sección de curso. Puedes modificar  el tipo de horario para la sesión que corresponda (si la asignatura tiene más de un tipo de horario asociado en el catálogo).</a:t>
            </a:r>
          </a:p>
        </p:txBody>
      </p:sp>
    </p:spTree>
    <p:extLst>
      <p:ext uri="{BB962C8B-B14F-4D97-AF65-F5344CB8AC3E}">
        <p14:creationId xmlns:p14="http://schemas.microsoft.com/office/powerpoint/2010/main" val="428022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dissolve">
                                      <p:cBhvr>
                                        <p:cTn id="14" dur="500"/>
                                        <p:tgtEl>
                                          <p:spTgt spid="43"/>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heel(1)">
                                      <p:cBhvr>
                                        <p:cTn id="18" dur="2000"/>
                                        <p:tgtEl>
                                          <p:spTgt spid="44"/>
                                        </p:tgtEl>
                                      </p:cBhvr>
                                    </p:animEffect>
                                  </p:childTnLst>
                                </p:cTn>
                              </p:par>
                            </p:childTnLst>
                          </p:cTn>
                        </p:par>
                        <p:par>
                          <p:cTn id="19" fill="hold">
                            <p:stCondLst>
                              <p:cond delay="3000"/>
                            </p:stCondLst>
                            <p:childTnLst>
                              <p:par>
                                <p:cTn id="20" presetID="21" presetClass="entr" presetSubtype="1" fill="hold" grpId="0" nodeType="after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heel(1)">
                                      <p:cBhvr>
                                        <p:cTn id="22" dur="2000"/>
                                        <p:tgtEl>
                                          <p:spTgt spid="45"/>
                                        </p:tgtEl>
                                      </p:cBhvr>
                                    </p:animEffect>
                                  </p:childTnLst>
                                </p:cTn>
                              </p:par>
                            </p:childTnLst>
                          </p:cTn>
                        </p:par>
                        <p:par>
                          <p:cTn id="23" fill="hold">
                            <p:stCondLst>
                              <p:cond delay="5000"/>
                            </p:stCondLst>
                            <p:childTnLst>
                              <p:par>
                                <p:cTn id="24" presetID="53" presetClass="entr" presetSubtype="16"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p:cTn id="26" dur="500" fill="hold"/>
                                        <p:tgtEl>
                                          <p:spTgt spid="46"/>
                                        </p:tgtEl>
                                        <p:attrNameLst>
                                          <p:attrName>ppt_w</p:attrName>
                                        </p:attrNameLst>
                                      </p:cBhvr>
                                      <p:tavLst>
                                        <p:tav tm="0">
                                          <p:val>
                                            <p:fltVal val="0"/>
                                          </p:val>
                                        </p:tav>
                                        <p:tav tm="100000">
                                          <p:val>
                                            <p:strVal val="#ppt_w"/>
                                          </p:val>
                                        </p:tav>
                                      </p:tavLst>
                                    </p:anim>
                                    <p:anim calcmode="lin" valueType="num">
                                      <p:cBhvr>
                                        <p:cTn id="27" dur="500" fill="hold"/>
                                        <p:tgtEl>
                                          <p:spTgt spid="46"/>
                                        </p:tgtEl>
                                        <p:attrNameLst>
                                          <p:attrName>ppt_h</p:attrName>
                                        </p:attrNameLst>
                                      </p:cBhvr>
                                      <p:tavLst>
                                        <p:tav tm="0">
                                          <p:val>
                                            <p:fltVal val="0"/>
                                          </p:val>
                                        </p:tav>
                                        <p:tav tm="100000">
                                          <p:val>
                                            <p:strVal val="#ppt_h"/>
                                          </p:val>
                                        </p:tav>
                                      </p:tavLst>
                                    </p:anim>
                                    <p:animEffect transition="in" filter="fade">
                                      <p:cBhvr>
                                        <p:cTn id="28" dur="500"/>
                                        <p:tgtEl>
                                          <p:spTgt spid="46"/>
                                        </p:tgtEl>
                                      </p:cBhvr>
                                    </p:animEffect>
                                  </p:childTnLst>
                                </p:cTn>
                              </p:par>
                            </p:childTnLst>
                          </p:cTn>
                        </p:par>
                        <p:par>
                          <p:cTn id="29" fill="hold">
                            <p:stCondLst>
                              <p:cond delay="5500"/>
                            </p:stCondLst>
                            <p:childTnLst>
                              <p:par>
                                <p:cTn id="30" presetID="10" presetClass="entr" presetSubtype="0" fill="hold" grpId="0"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500"/>
                                        <p:tgtEl>
                                          <p:spTgt spid="47"/>
                                        </p:tgtEl>
                                      </p:cBhvr>
                                    </p:animEffect>
                                  </p:childTnLst>
                                </p:cTn>
                              </p:par>
                            </p:childTnLst>
                          </p:cTn>
                        </p:par>
                        <p:par>
                          <p:cTn id="33" fill="hold">
                            <p:stCondLst>
                              <p:cond delay="6000"/>
                            </p:stCondLst>
                            <p:childTnLst>
                              <p:par>
                                <p:cTn id="34" presetID="21" presetClass="entr" presetSubtype="1"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wheel(1)">
                                      <p:cBhvr>
                                        <p:cTn id="36" dur="2000"/>
                                        <p:tgtEl>
                                          <p:spTgt spid="48"/>
                                        </p:tgtEl>
                                      </p:cBhvr>
                                    </p:animEffect>
                                  </p:childTnLst>
                                </p:cTn>
                              </p:par>
                            </p:childTnLst>
                          </p:cTn>
                        </p:par>
                        <p:par>
                          <p:cTn id="37" fill="hold">
                            <p:stCondLst>
                              <p:cond delay="8000"/>
                            </p:stCondLst>
                            <p:childTnLst>
                              <p:par>
                                <p:cTn id="38" presetID="53" presetClass="entr" presetSubtype="16" fill="hold" grpId="0" nodeType="afterEffect">
                                  <p:stCondLst>
                                    <p:cond delay="0"/>
                                  </p:stCondLst>
                                  <p:childTnLst>
                                    <p:set>
                                      <p:cBhvr>
                                        <p:cTn id="39" dur="1" fill="hold">
                                          <p:stCondLst>
                                            <p:cond delay="0"/>
                                          </p:stCondLst>
                                        </p:cTn>
                                        <p:tgtEl>
                                          <p:spTgt spid="49"/>
                                        </p:tgtEl>
                                        <p:attrNameLst>
                                          <p:attrName>style.visibility</p:attrName>
                                        </p:attrNameLst>
                                      </p:cBhvr>
                                      <p:to>
                                        <p:strVal val="visible"/>
                                      </p:to>
                                    </p:set>
                                    <p:anim calcmode="lin" valueType="num">
                                      <p:cBhvr>
                                        <p:cTn id="40" dur="500" fill="hold"/>
                                        <p:tgtEl>
                                          <p:spTgt spid="49"/>
                                        </p:tgtEl>
                                        <p:attrNameLst>
                                          <p:attrName>ppt_w</p:attrName>
                                        </p:attrNameLst>
                                      </p:cBhvr>
                                      <p:tavLst>
                                        <p:tav tm="0">
                                          <p:val>
                                            <p:fltVal val="0"/>
                                          </p:val>
                                        </p:tav>
                                        <p:tav tm="100000">
                                          <p:val>
                                            <p:strVal val="#ppt_w"/>
                                          </p:val>
                                        </p:tav>
                                      </p:tavLst>
                                    </p:anim>
                                    <p:anim calcmode="lin" valueType="num">
                                      <p:cBhvr>
                                        <p:cTn id="41" dur="500" fill="hold"/>
                                        <p:tgtEl>
                                          <p:spTgt spid="49"/>
                                        </p:tgtEl>
                                        <p:attrNameLst>
                                          <p:attrName>ppt_h</p:attrName>
                                        </p:attrNameLst>
                                      </p:cBhvr>
                                      <p:tavLst>
                                        <p:tav tm="0">
                                          <p:val>
                                            <p:fltVal val="0"/>
                                          </p:val>
                                        </p:tav>
                                        <p:tav tm="100000">
                                          <p:val>
                                            <p:strVal val="#ppt_h"/>
                                          </p:val>
                                        </p:tav>
                                      </p:tavLst>
                                    </p:anim>
                                    <p:animEffect transition="in" filter="fade">
                                      <p:cBhvr>
                                        <p:cTn id="42" dur="500"/>
                                        <p:tgtEl>
                                          <p:spTgt spid="49"/>
                                        </p:tgtEl>
                                      </p:cBhvr>
                                    </p:animEffect>
                                  </p:childTnLst>
                                </p:cTn>
                              </p:par>
                            </p:childTnLst>
                          </p:cTn>
                        </p:par>
                        <p:par>
                          <p:cTn id="43" fill="hold">
                            <p:stCondLst>
                              <p:cond delay="8500"/>
                            </p:stCondLst>
                            <p:childTnLst>
                              <p:par>
                                <p:cTn id="44" presetID="10" presetClass="entr" presetSubtype="0" fill="hold" grpId="0"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childTnLst>
                          </p:cTn>
                        </p:par>
                        <p:par>
                          <p:cTn id="47" fill="hold">
                            <p:stCondLst>
                              <p:cond delay="9000"/>
                            </p:stCondLst>
                            <p:childTnLst>
                              <p:par>
                                <p:cTn id="48" presetID="21" presetClass="entr" presetSubtype="1" fill="hold" grpId="0" nodeType="after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wheel(1)">
                                      <p:cBhvr>
                                        <p:cTn id="50" dur="2000"/>
                                        <p:tgtEl>
                                          <p:spTgt spid="51"/>
                                        </p:tgtEl>
                                      </p:cBhvr>
                                    </p:animEffect>
                                  </p:childTnLst>
                                </p:cTn>
                              </p:par>
                            </p:childTnLst>
                          </p:cTn>
                        </p:par>
                        <p:par>
                          <p:cTn id="51" fill="hold">
                            <p:stCondLst>
                              <p:cond delay="11000"/>
                            </p:stCondLst>
                            <p:childTnLst>
                              <p:par>
                                <p:cTn id="52" presetID="53" presetClass="entr" presetSubtype="16" fill="hold" grpId="0" nodeType="afterEffect">
                                  <p:stCondLst>
                                    <p:cond delay="0"/>
                                  </p:stCondLst>
                                  <p:childTnLst>
                                    <p:set>
                                      <p:cBhvr>
                                        <p:cTn id="53" dur="1" fill="hold">
                                          <p:stCondLst>
                                            <p:cond delay="0"/>
                                          </p:stCondLst>
                                        </p:cTn>
                                        <p:tgtEl>
                                          <p:spTgt spid="52"/>
                                        </p:tgtEl>
                                        <p:attrNameLst>
                                          <p:attrName>style.visibility</p:attrName>
                                        </p:attrNameLst>
                                      </p:cBhvr>
                                      <p:to>
                                        <p:strVal val="visible"/>
                                      </p:to>
                                    </p:set>
                                    <p:anim calcmode="lin" valueType="num">
                                      <p:cBhvr>
                                        <p:cTn id="54" dur="500" fill="hold"/>
                                        <p:tgtEl>
                                          <p:spTgt spid="52"/>
                                        </p:tgtEl>
                                        <p:attrNameLst>
                                          <p:attrName>ppt_w</p:attrName>
                                        </p:attrNameLst>
                                      </p:cBhvr>
                                      <p:tavLst>
                                        <p:tav tm="0">
                                          <p:val>
                                            <p:fltVal val="0"/>
                                          </p:val>
                                        </p:tav>
                                        <p:tav tm="100000">
                                          <p:val>
                                            <p:strVal val="#ppt_w"/>
                                          </p:val>
                                        </p:tav>
                                      </p:tavLst>
                                    </p:anim>
                                    <p:anim calcmode="lin" valueType="num">
                                      <p:cBhvr>
                                        <p:cTn id="55" dur="500" fill="hold"/>
                                        <p:tgtEl>
                                          <p:spTgt spid="52"/>
                                        </p:tgtEl>
                                        <p:attrNameLst>
                                          <p:attrName>ppt_h</p:attrName>
                                        </p:attrNameLst>
                                      </p:cBhvr>
                                      <p:tavLst>
                                        <p:tav tm="0">
                                          <p:val>
                                            <p:fltVal val="0"/>
                                          </p:val>
                                        </p:tav>
                                        <p:tav tm="100000">
                                          <p:val>
                                            <p:strVal val="#ppt_h"/>
                                          </p:val>
                                        </p:tav>
                                      </p:tavLst>
                                    </p:anim>
                                    <p:animEffect transition="in" filter="fade">
                                      <p:cBhvr>
                                        <p:cTn id="56" dur="500"/>
                                        <p:tgtEl>
                                          <p:spTgt spid="52"/>
                                        </p:tgtEl>
                                      </p:cBhvr>
                                    </p:animEffect>
                                  </p:childTnLst>
                                </p:cTn>
                              </p:par>
                            </p:childTnLst>
                          </p:cTn>
                        </p:par>
                        <p:par>
                          <p:cTn id="57" fill="hold">
                            <p:stCondLst>
                              <p:cond delay="11500"/>
                            </p:stCondLst>
                            <p:childTnLst>
                              <p:par>
                                <p:cTn id="58" presetID="10" presetClass="entr" presetSubtype="0" fill="hold" grpId="0" nodeType="after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CuadroTexto 9">
            <a:extLst>
              <a:ext uri="{FF2B5EF4-FFF2-40B4-BE49-F238E27FC236}">
                <a16:creationId xmlns:a16="http://schemas.microsoft.com/office/drawing/2014/main" id="{6E0F3467-31B1-F878-3201-8F337FF08AF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12" name="Rectángulo 11">
            <a:extLst>
              <a:ext uri="{FF2B5EF4-FFF2-40B4-BE49-F238E27FC236}">
                <a16:creationId xmlns:a16="http://schemas.microsoft.com/office/drawing/2014/main" id="{073163BE-9167-53B5-F179-61BDE71A19C0}"/>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pic>
        <p:nvPicPr>
          <p:cNvPr id="43" name="Imagen 42">
            <a:extLst>
              <a:ext uri="{FF2B5EF4-FFF2-40B4-BE49-F238E27FC236}">
                <a16:creationId xmlns:a16="http://schemas.microsoft.com/office/drawing/2014/main" id="{4970E36F-30FD-37DF-5E30-E663CF342F7F}"/>
              </a:ext>
            </a:extLst>
          </p:cNvPr>
          <p:cNvPicPr>
            <a:picLocks noChangeAspect="1"/>
          </p:cNvPicPr>
          <p:nvPr/>
        </p:nvPicPr>
        <p:blipFill>
          <a:blip r:embed="rId5"/>
          <a:stretch>
            <a:fillRect/>
          </a:stretch>
        </p:blipFill>
        <p:spPr>
          <a:xfrm>
            <a:off x="317005" y="1000546"/>
            <a:ext cx="11552883" cy="4918554"/>
          </a:xfrm>
          <a:prstGeom prst="rect">
            <a:avLst/>
          </a:prstGeom>
        </p:spPr>
      </p:pic>
      <p:sp>
        <p:nvSpPr>
          <p:cNvPr id="2" name="Rectángulo 1">
            <a:extLst>
              <a:ext uri="{FF2B5EF4-FFF2-40B4-BE49-F238E27FC236}">
                <a16:creationId xmlns:a16="http://schemas.microsoft.com/office/drawing/2014/main" id="{8A745B42-3C58-D7FA-9317-0B6D4689BE42}"/>
              </a:ext>
            </a:extLst>
          </p:cNvPr>
          <p:cNvSpPr/>
          <p:nvPr/>
        </p:nvSpPr>
        <p:spPr>
          <a:xfrm>
            <a:off x="6341806" y="2390375"/>
            <a:ext cx="1229630" cy="20534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5" name="Rectángulo: esquinas redondeadas 4">
            <a:extLst>
              <a:ext uri="{FF2B5EF4-FFF2-40B4-BE49-F238E27FC236}">
                <a16:creationId xmlns:a16="http://schemas.microsoft.com/office/drawing/2014/main" id="{395691B3-847C-9B7B-17C4-8E9067F62C08}"/>
              </a:ext>
            </a:extLst>
          </p:cNvPr>
          <p:cNvSpPr/>
          <p:nvPr/>
        </p:nvSpPr>
        <p:spPr>
          <a:xfrm>
            <a:off x="6876818" y="270719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7" name="CuadroTexto 6">
            <a:extLst>
              <a:ext uri="{FF2B5EF4-FFF2-40B4-BE49-F238E27FC236}">
                <a16:creationId xmlns:a16="http://schemas.microsoft.com/office/drawing/2014/main" id="{477DA044-9CE6-740B-BD39-3A1DA28D67EA}"/>
              </a:ext>
            </a:extLst>
          </p:cNvPr>
          <p:cNvSpPr txBox="1"/>
          <p:nvPr/>
        </p:nvSpPr>
        <p:spPr>
          <a:xfrm>
            <a:off x="3028336" y="3031593"/>
            <a:ext cx="4568046" cy="143857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Banner, </a:t>
            </a:r>
            <a:r>
              <a:rPr lang="es-ES" sz="1200" b="1" dirty="0">
                <a:solidFill>
                  <a:srgbClr val="92D050"/>
                </a:solidFill>
              </a:rPr>
              <a:t>Indicador de sobrepaso</a:t>
            </a:r>
            <a:r>
              <a:rPr lang="es-ES" sz="1200" dirty="0">
                <a:solidFill>
                  <a:srgbClr val="FFFFFF"/>
                </a:solidFill>
              </a:rPr>
              <a:t> significa básicamente autorizar una excepción a una regla o conflicto que normalmente impediría o marcaría la programación.</a:t>
            </a:r>
          </a:p>
          <a:p>
            <a:pPr algn="ctr"/>
            <a:r>
              <a:rPr lang="es-ES" sz="1200" b="1" dirty="0">
                <a:solidFill>
                  <a:srgbClr val="92D050"/>
                </a:solidFill>
              </a:rPr>
              <a:t>O: </a:t>
            </a:r>
            <a:r>
              <a:rPr lang="es-ES" sz="1200" b="1" dirty="0">
                <a:solidFill>
                  <a:srgbClr val="FFFFFF"/>
                </a:solidFill>
              </a:rPr>
              <a:t>Para registrar un sobrepaso (</a:t>
            </a:r>
            <a:r>
              <a:rPr lang="es-ES" sz="1200" b="1" dirty="0" err="1">
                <a:solidFill>
                  <a:srgbClr val="FFFFFF"/>
                </a:solidFill>
              </a:rPr>
              <a:t>Override</a:t>
            </a:r>
            <a:r>
              <a:rPr lang="es-ES" sz="1200" b="1" dirty="0">
                <a:solidFill>
                  <a:srgbClr val="FFFFFF"/>
                </a:solidFill>
              </a:rPr>
              <a:t>)</a:t>
            </a:r>
          </a:p>
          <a:p>
            <a:pPr algn="ctr"/>
            <a:r>
              <a:rPr lang="es-ES" sz="1200" b="1" dirty="0">
                <a:solidFill>
                  <a:srgbClr val="92D050"/>
                </a:solidFill>
              </a:rPr>
              <a:t>Nulo:</a:t>
            </a:r>
            <a:r>
              <a:rPr lang="es-ES" sz="1200" b="1" dirty="0">
                <a:solidFill>
                  <a:srgbClr val="FFFFFF"/>
                </a:solidFill>
              </a:rPr>
              <a:t> Si no se desea registrar sobrepaso</a:t>
            </a:r>
          </a:p>
          <a:p>
            <a:pPr algn="ctr"/>
            <a:r>
              <a:rPr lang="es-ES" sz="1200" dirty="0">
                <a:solidFill>
                  <a:srgbClr val="FFFFFF"/>
                </a:solidFill>
              </a:rPr>
              <a:t>Por ejemplo: </a:t>
            </a:r>
            <a:r>
              <a:rPr lang="es-ES" sz="1200" b="1" dirty="0">
                <a:solidFill>
                  <a:srgbClr val="FFFFFF"/>
                </a:solidFill>
              </a:rPr>
              <a:t>En el caso de aula virtual,</a:t>
            </a:r>
            <a:r>
              <a:rPr lang="es-ES" sz="1200" dirty="0">
                <a:solidFill>
                  <a:srgbClr val="FFFFFF"/>
                </a:solidFill>
              </a:rPr>
              <a:t> el ambiente puede estar ocupado a la misma hora por diferentes cursos</a:t>
            </a:r>
            <a:endParaRPr lang="es-ES" sz="1200" dirty="0">
              <a:solidFill>
                <a:schemeClr val="bg1"/>
              </a:solidFill>
            </a:endParaRPr>
          </a:p>
        </p:txBody>
      </p:sp>
      <p:sp>
        <p:nvSpPr>
          <p:cNvPr id="8" name="Rectángulo 7">
            <a:extLst>
              <a:ext uri="{FF2B5EF4-FFF2-40B4-BE49-F238E27FC236}">
                <a16:creationId xmlns:a16="http://schemas.microsoft.com/office/drawing/2014/main" id="{D4747477-D31A-5A4A-8CB1-8FD9AC4C2328}"/>
              </a:ext>
            </a:extLst>
          </p:cNvPr>
          <p:cNvSpPr/>
          <p:nvPr/>
        </p:nvSpPr>
        <p:spPr>
          <a:xfrm>
            <a:off x="7688832" y="2390373"/>
            <a:ext cx="1443719" cy="20647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B9B051AD-A56A-B356-CF07-B04B3D3AB6BF}"/>
              </a:ext>
            </a:extLst>
          </p:cNvPr>
          <p:cNvSpPr/>
          <p:nvPr/>
        </p:nvSpPr>
        <p:spPr>
          <a:xfrm>
            <a:off x="9238736" y="241094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5</a:t>
            </a:r>
            <a:endParaRPr lang="es-PE" sz="1100" b="1" dirty="0"/>
          </a:p>
        </p:txBody>
      </p:sp>
      <p:sp>
        <p:nvSpPr>
          <p:cNvPr id="11" name="CuadroTexto 10">
            <a:extLst>
              <a:ext uri="{FF2B5EF4-FFF2-40B4-BE49-F238E27FC236}">
                <a16:creationId xmlns:a16="http://schemas.microsoft.com/office/drawing/2014/main" id="{0E43F609-E305-2884-C347-9205E627401C}"/>
              </a:ext>
            </a:extLst>
          </p:cNvPr>
          <p:cNvSpPr txBox="1"/>
          <p:nvPr/>
        </p:nvSpPr>
        <p:spPr>
          <a:xfrm>
            <a:off x="9541293" y="2020904"/>
            <a:ext cx="1821371" cy="105495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Horas crédito de sesión</a:t>
            </a:r>
            <a:r>
              <a:rPr lang="es-ES" sz="1200" dirty="0">
                <a:solidFill>
                  <a:srgbClr val="FFFFFF"/>
                </a:solidFill>
              </a:rPr>
              <a:t>, en la primera sesión se muestran los créditos de la asignatura.</a:t>
            </a:r>
          </a:p>
        </p:txBody>
      </p:sp>
      <p:sp>
        <p:nvSpPr>
          <p:cNvPr id="13" name="Rectángulo 12">
            <a:extLst>
              <a:ext uri="{FF2B5EF4-FFF2-40B4-BE49-F238E27FC236}">
                <a16:creationId xmlns:a16="http://schemas.microsoft.com/office/drawing/2014/main" id="{BA7E939E-F06B-7098-668C-D2562D231CC4}"/>
              </a:ext>
            </a:extLst>
          </p:cNvPr>
          <p:cNvSpPr/>
          <p:nvPr/>
        </p:nvSpPr>
        <p:spPr>
          <a:xfrm>
            <a:off x="11256453" y="5519593"/>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E3F6C427-E836-F55D-FE8A-E2D70DB0EE96}"/>
              </a:ext>
            </a:extLst>
          </p:cNvPr>
          <p:cNvSpPr/>
          <p:nvPr/>
        </p:nvSpPr>
        <p:spPr>
          <a:xfrm>
            <a:off x="10940150" y="558144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6</a:t>
            </a:r>
            <a:endParaRPr lang="es-PE" sz="1100" b="1" dirty="0"/>
          </a:p>
        </p:txBody>
      </p:sp>
      <p:sp>
        <p:nvSpPr>
          <p:cNvPr id="15" name="CuadroTexto 14">
            <a:extLst>
              <a:ext uri="{FF2B5EF4-FFF2-40B4-BE49-F238E27FC236}">
                <a16:creationId xmlns:a16="http://schemas.microsoft.com/office/drawing/2014/main" id="{EE371FE7-EE6B-FDCC-5EDB-30F35214E8EE}"/>
              </a:ext>
            </a:extLst>
          </p:cNvPr>
          <p:cNvSpPr txBox="1"/>
          <p:nvPr/>
        </p:nvSpPr>
        <p:spPr>
          <a:xfrm>
            <a:off x="8610552" y="5426169"/>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86838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2000"/>
                                        <p:tgtEl>
                                          <p:spTgt spid="8"/>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heel(1)">
                                      <p:cBhvr>
                                        <p:cTn id="35" dur="2000"/>
                                        <p:tgtEl>
                                          <p:spTgt spid="13"/>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8" grpId="0" animBg="1"/>
      <p:bldP spid="9" grpId="0" animBg="1"/>
      <p:bldP spid="11" grpId="0" animBg="1"/>
      <p:bldP spid="13" grpId="0" animBg="1"/>
      <p:bldP spid="14" grpId="0"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CuadroTexto 9">
            <a:extLst>
              <a:ext uri="{FF2B5EF4-FFF2-40B4-BE49-F238E27FC236}">
                <a16:creationId xmlns:a16="http://schemas.microsoft.com/office/drawing/2014/main" id="{6E0F3467-31B1-F878-3201-8F337FF08AF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12" name="Rectángulo 11">
            <a:extLst>
              <a:ext uri="{FF2B5EF4-FFF2-40B4-BE49-F238E27FC236}">
                <a16:creationId xmlns:a16="http://schemas.microsoft.com/office/drawing/2014/main" id="{073163BE-9167-53B5-F179-61BDE71A19C0}"/>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pic>
        <p:nvPicPr>
          <p:cNvPr id="17" name="Imagen 16">
            <a:extLst>
              <a:ext uri="{FF2B5EF4-FFF2-40B4-BE49-F238E27FC236}">
                <a16:creationId xmlns:a16="http://schemas.microsoft.com/office/drawing/2014/main" id="{48E02ABF-C997-3C38-1ACD-475B04E511A7}"/>
              </a:ext>
            </a:extLst>
          </p:cNvPr>
          <p:cNvPicPr>
            <a:picLocks noChangeAspect="1"/>
          </p:cNvPicPr>
          <p:nvPr/>
        </p:nvPicPr>
        <p:blipFill>
          <a:blip r:embed="rId5"/>
          <a:stretch>
            <a:fillRect/>
          </a:stretch>
        </p:blipFill>
        <p:spPr>
          <a:xfrm>
            <a:off x="330102" y="983226"/>
            <a:ext cx="11527601" cy="4889770"/>
          </a:xfrm>
          <a:prstGeom prst="rect">
            <a:avLst/>
          </a:prstGeom>
        </p:spPr>
      </p:pic>
      <p:sp>
        <p:nvSpPr>
          <p:cNvPr id="18" name="Rectángulo 17">
            <a:extLst>
              <a:ext uri="{FF2B5EF4-FFF2-40B4-BE49-F238E27FC236}">
                <a16:creationId xmlns:a16="http://schemas.microsoft.com/office/drawing/2014/main" id="{29062366-B510-030D-96AD-FDB1EFA9D18A}"/>
              </a:ext>
            </a:extLst>
          </p:cNvPr>
          <p:cNvSpPr/>
          <p:nvPr/>
        </p:nvSpPr>
        <p:spPr>
          <a:xfrm>
            <a:off x="689380" y="5480664"/>
            <a:ext cx="3584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9" name="Rectángulo: esquinas redondeadas 18">
            <a:extLst>
              <a:ext uri="{FF2B5EF4-FFF2-40B4-BE49-F238E27FC236}">
                <a16:creationId xmlns:a16="http://schemas.microsoft.com/office/drawing/2014/main" id="{759054C0-CC72-06FD-3E88-90991F50EC85}"/>
              </a:ext>
            </a:extLst>
          </p:cNvPr>
          <p:cNvSpPr/>
          <p:nvPr/>
        </p:nvSpPr>
        <p:spPr>
          <a:xfrm>
            <a:off x="363841" y="550557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1</a:t>
            </a:r>
            <a:endParaRPr lang="es-PE" sz="1100" b="1" dirty="0"/>
          </a:p>
        </p:txBody>
      </p:sp>
      <p:sp>
        <p:nvSpPr>
          <p:cNvPr id="20" name="CuadroTexto 19">
            <a:extLst>
              <a:ext uri="{FF2B5EF4-FFF2-40B4-BE49-F238E27FC236}">
                <a16:creationId xmlns:a16="http://schemas.microsoft.com/office/drawing/2014/main" id="{8E7ED2A7-948D-5A23-525A-29B142A73D3B}"/>
              </a:ext>
            </a:extLst>
          </p:cNvPr>
          <p:cNvSpPr txBox="1"/>
          <p:nvPr/>
        </p:nvSpPr>
        <p:spPr>
          <a:xfrm>
            <a:off x="172528" y="4772962"/>
            <a:ext cx="1419371"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Presionar siguiente para pasar a la sección </a:t>
            </a:r>
            <a:r>
              <a:rPr lang="es-ES" sz="1100" b="1" dirty="0">
                <a:solidFill>
                  <a:srgbClr val="92D050"/>
                </a:solidFill>
              </a:rPr>
              <a:t>Instructor</a:t>
            </a:r>
          </a:p>
        </p:txBody>
      </p:sp>
      <p:sp>
        <p:nvSpPr>
          <p:cNvPr id="21" name="Rectángulo 20">
            <a:extLst>
              <a:ext uri="{FF2B5EF4-FFF2-40B4-BE49-F238E27FC236}">
                <a16:creationId xmlns:a16="http://schemas.microsoft.com/office/drawing/2014/main" id="{A9478D42-308A-2EE8-1AB1-FA94FB2400B3}"/>
              </a:ext>
            </a:extLst>
          </p:cNvPr>
          <p:cNvSpPr/>
          <p:nvPr/>
        </p:nvSpPr>
        <p:spPr>
          <a:xfrm>
            <a:off x="333368" y="3087010"/>
            <a:ext cx="810026" cy="19736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2" name="Rectángulo: esquinas redondeadas 21">
            <a:extLst>
              <a:ext uri="{FF2B5EF4-FFF2-40B4-BE49-F238E27FC236}">
                <a16:creationId xmlns:a16="http://schemas.microsoft.com/office/drawing/2014/main" id="{8660E142-87F3-106A-717B-B39631B3686A}"/>
              </a:ext>
            </a:extLst>
          </p:cNvPr>
          <p:cNvSpPr/>
          <p:nvPr/>
        </p:nvSpPr>
        <p:spPr>
          <a:xfrm>
            <a:off x="581550" y="278700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23" name="CuadroTexto 22">
            <a:extLst>
              <a:ext uri="{FF2B5EF4-FFF2-40B4-BE49-F238E27FC236}">
                <a16:creationId xmlns:a16="http://schemas.microsoft.com/office/drawing/2014/main" id="{00C2EF5F-D040-6B63-81FF-A7A037169929}"/>
              </a:ext>
            </a:extLst>
          </p:cNvPr>
          <p:cNvSpPr txBox="1"/>
          <p:nvPr/>
        </p:nvSpPr>
        <p:spPr>
          <a:xfrm>
            <a:off x="226002" y="1264115"/>
            <a:ext cx="2213185" cy="143857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Indicador de sesión</a:t>
            </a:r>
            <a:r>
              <a:rPr lang="es-ES" sz="1200" dirty="0">
                <a:solidFill>
                  <a:srgbClr val="FFFFFF"/>
                </a:solidFill>
              </a:rPr>
              <a:t>, identifica la sesión de reunión a la que está asociado el docente. Debe corresponder con la sesión registrada en la sección </a:t>
            </a:r>
            <a:r>
              <a:rPr lang="es-ES" sz="1200" b="1" dirty="0">
                <a:solidFill>
                  <a:srgbClr val="FFFFFF"/>
                </a:solidFill>
              </a:rPr>
              <a:t>Horario</a:t>
            </a:r>
            <a:endParaRPr lang="es-ES" sz="1200" b="1" dirty="0">
              <a:solidFill>
                <a:schemeClr val="bg1"/>
              </a:solidFill>
            </a:endParaRPr>
          </a:p>
        </p:txBody>
      </p:sp>
      <p:sp>
        <p:nvSpPr>
          <p:cNvPr id="29" name="Rectángulo 28">
            <a:extLst>
              <a:ext uri="{FF2B5EF4-FFF2-40B4-BE49-F238E27FC236}">
                <a16:creationId xmlns:a16="http://schemas.microsoft.com/office/drawing/2014/main" id="{E5334557-D9DE-DC63-3F8F-E9DAAA6B2BF1}"/>
              </a:ext>
            </a:extLst>
          </p:cNvPr>
          <p:cNvSpPr/>
          <p:nvPr/>
        </p:nvSpPr>
        <p:spPr>
          <a:xfrm>
            <a:off x="1626309" y="3101760"/>
            <a:ext cx="810026" cy="19736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0" name="Rectángulo: esquinas redondeadas 29">
            <a:extLst>
              <a:ext uri="{FF2B5EF4-FFF2-40B4-BE49-F238E27FC236}">
                <a16:creationId xmlns:a16="http://schemas.microsoft.com/office/drawing/2014/main" id="{9A2AD79D-6526-59C0-901E-64D66F870FAE}"/>
              </a:ext>
            </a:extLst>
          </p:cNvPr>
          <p:cNvSpPr/>
          <p:nvPr/>
        </p:nvSpPr>
        <p:spPr>
          <a:xfrm>
            <a:off x="1923492" y="341657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31" name="CuadroTexto 30">
            <a:extLst>
              <a:ext uri="{FF2B5EF4-FFF2-40B4-BE49-F238E27FC236}">
                <a16:creationId xmlns:a16="http://schemas.microsoft.com/office/drawing/2014/main" id="{DD30E2BB-31E9-B52D-683B-17F720F4CCEF}"/>
              </a:ext>
            </a:extLst>
          </p:cNvPr>
          <p:cNvSpPr txBox="1"/>
          <p:nvPr/>
        </p:nvSpPr>
        <p:spPr>
          <a:xfrm>
            <a:off x="1143394" y="3685828"/>
            <a:ext cx="2213185" cy="479524"/>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ID</a:t>
            </a:r>
            <a:r>
              <a:rPr lang="es-ES" sz="1200" dirty="0">
                <a:solidFill>
                  <a:srgbClr val="FFFFFF"/>
                </a:solidFill>
              </a:rPr>
              <a:t>, ingresar el código de docente</a:t>
            </a:r>
            <a:endParaRPr lang="es-ES" sz="1200" dirty="0">
              <a:solidFill>
                <a:schemeClr val="bg1"/>
              </a:solidFill>
            </a:endParaRPr>
          </a:p>
        </p:txBody>
      </p:sp>
      <p:sp>
        <p:nvSpPr>
          <p:cNvPr id="32" name="Rectángulo 31">
            <a:extLst>
              <a:ext uri="{FF2B5EF4-FFF2-40B4-BE49-F238E27FC236}">
                <a16:creationId xmlns:a16="http://schemas.microsoft.com/office/drawing/2014/main" id="{8E3812F2-B5C7-A8DB-33EF-5D18E10BCF10}"/>
              </a:ext>
            </a:extLst>
          </p:cNvPr>
          <p:cNvSpPr/>
          <p:nvPr/>
        </p:nvSpPr>
        <p:spPr>
          <a:xfrm>
            <a:off x="4142669" y="3104012"/>
            <a:ext cx="160415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3" name="Rectángulo: esquinas redondeadas 32">
            <a:extLst>
              <a:ext uri="{FF2B5EF4-FFF2-40B4-BE49-F238E27FC236}">
                <a16:creationId xmlns:a16="http://schemas.microsoft.com/office/drawing/2014/main" id="{100680AB-D191-5FBB-42FC-6CA92759217D}"/>
              </a:ext>
            </a:extLst>
          </p:cNvPr>
          <p:cNvSpPr/>
          <p:nvPr/>
        </p:nvSpPr>
        <p:spPr>
          <a:xfrm>
            <a:off x="5106159" y="2813033"/>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4</a:t>
            </a:r>
            <a:endParaRPr lang="es-PE" sz="1100" b="1" dirty="0"/>
          </a:p>
        </p:txBody>
      </p:sp>
      <p:sp>
        <p:nvSpPr>
          <p:cNvPr id="34" name="CuadroTexto 33">
            <a:extLst>
              <a:ext uri="{FF2B5EF4-FFF2-40B4-BE49-F238E27FC236}">
                <a16:creationId xmlns:a16="http://schemas.microsoft.com/office/drawing/2014/main" id="{E6F4E3F6-C586-F277-9BE4-4B8C03EB55D6}"/>
              </a:ext>
            </a:extLst>
          </p:cNvPr>
          <p:cNvSpPr txBox="1"/>
          <p:nvPr/>
        </p:nvSpPr>
        <p:spPr>
          <a:xfrm>
            <a:off x="3724263" y="1499577"/>
            <a:ext cx="2213185" cy="124676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Carga de Trabajo educativo</a:t>
            </a:r>
            <a:r>
              <a:rPr lang="es-ES" sz="1200" dirty="0">
                <a:solidFill>
                  <a:srgbClr val="FFFFFF"/>
                </a:solidFill>
              </a:rPr>
              <a:t>, registra la carga docente que se atribuye a esa asignación, de acuerdo a lo consignado en el plan de estudios</a:t>
            </a:r>
            <a:endParaRPr lang="es-ES" sz="1200" dirty="0">
              <a:solidFill>
                <a:schemeClr val="bg1"/>
              </a:solidFill>
            </a:endParaRPr>
          </a:p>
        </p:txBody>
      </p:sp>
      <p:sp>
        <p:nvSpPr>
          <p:cNvPr id="35" name="Rectángulo 34">
            <a:extLst>
              <a:ext uri="{FF2B5EF4-FFF2-40B4-BE49-F238E27FC236}">
                <a16:creationId xmlns:a16="http://schemas.microsoft.com/office/drawing/2014/main" id="{30DBB50B-9008-96CA-7A0E-9701E0C18BAA}"/>
              </a:ext>
            </a:extLst>
          </p:cNvPr>
          <p:cNvSpPr/>
          <p:nvPr/>
        </p:nvSpPr>
        <p:spPr>
          <a:xfrm>
            <a:off x="5919451" y="3087010"/>
            <a:ext cx="160415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36" name="Rectángulo: esquinas redondeadas 35">
            <a:extLst>
              <a:ext uri="{FF2B5EF4-FFF2-40B4-BE49-F238E27FC236}">
                <a16:creationId xmlns:a16="http://schemas.microsoft.com/office/drawing/2014/main" id="{E1001351-C222-5976-8CA4-55A7E173D74C}"/>
              </a:ext>
            </a:extLst>
          </p:cNvPr>
          <p:cNvSpPr/>
          <p:nvPr/>
        </p:nvSpPr>
        <p:spPr>
          <a:xfrm>
            <a:off x="6782767" y="344468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5</a:t>
            </a:r>
            <a:endParaRPr lang="es-PE" sz="1100" b="1" dirty="0"/>
          </a:p>
        </p:txBody>
      </p:sp>
      <p:sp>
        <p:nvSpPr>
          <p:cNvPr id="37" name="CuadroTexto 36">
            <a:extLst>
              <a:ext uri="{FF2B5EF4-FFF2-40B4-BE49-F238E27FC236}">
                <a16:creationId xmlns:a16="http://schemas.microsoft.com/office/drawing/2014/main" id="{AE0C020E-6244-8C8C-644B-C7BA2BAE6DA0}"/>
              </a:ext>
            </a:extLst>
          </p:cNvPr>
          <p:cNvSpPr txBox="1"/>
          <p:nvPr/>
        </p:nvSpPr>
        <p:spPr>
          <a:xfrm>
            <a:off x="5746821" y="3753677"/>
            <a:ext cx="2213185" cy="1822192"/>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Porcentaje de responsabilidad</a:t>
            </a:r>
            <a:r>
              <a:rPr lang="es-ES" sz="1200" dirty="0">
                <a:solidFill>
                  <a:srgbClr val="FFFFFF"/>
                </a:solidFill>
              </a:rPr>
              <a:t>, representa la proporción de responsabilidad docente atribuida al profesor para esa sección. Se utiliza, entre otras cosas, en los cálculos de carga docente, según plan de estudios.</a:t>
            </a:r>
            <a:endParaRPr lang="es-ES" sz="1200" dirty="0">
              <a:solidFill>
                <a:schemeClr val="bg1"/>
              </a:solidFill>
            </a:endParaRPr>
          </a:p>
        </p:txBody>
      </p:sp>
    </p:spTree>
    <p:extLst>
      <p:ext uri="{BB962C8B-B14F-4D97-AF65-F5344CB8AC3E}">
        <p14:creationId xmlns:p14="http://schemas.microsoft.com/office/powerpoint/2010/main" val="116982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p:cTn id="11" dur="500" fill="hold"/>
                                        <p:tgtEl>
                                          <p:spTgt spid="19"/>
                                        </p:tgtEl>
                                        <p:attrNameLst>
                                          <p:attrName>ppt_w</p:attrName>
                                        </p:attrNameLst>
                                      </p:cBhvr>
                                      <p:tavLst>
                                        <p:tav tm="0">
                                          <p:val>
                                            <p:fltVal val="0"/>
                                          </p:val>
                                        </p:tav>
                                        <p:tav tm="100000">
                                          <p:val>
                                            <p:strVal val="#ppt_w"/>
                                          </p:val>
                                        </p:tav>
                                      </p:tavLst>
                                    </p:anim>
                                    <p:anim calcmode="lin" valueType="num">
                                      <p:cBhvr>
                                        <p:cTn id="12" dur="500" fill="hold"/>
                                        <p:tgtEl>
                                          <p:spTgt spid="19"/>
                                        </p:tgtEl>
                                        <p:attrNameLst>
                                          <p:attrName>ppt_h</p:attrName>
                                        </p:attrNameLst>
                                      </p:cBhvr>
                                      <p:tavLst>
                                        <p:tav tm="0">
                                          <p:val>
                                            <p:fltVal val="0"/>
                                          </p:val>
                                        </p:tav>
                                        <p:tav tm="100000">
                                          <p:val>
                                            <p:strVal val="#ppt_h"/>
                                          </p:val>
                                        </p:tav>
                                      </p:tavLst>
                                    </p:anim>
                                    <p:animEffect transition="in" filter="fade">
                                      <p:cBhvr>
                                        <p:cTn id="13" dur="500"/>
                                        <p:tgtEl>
                                          <p:spTgt spid="19"/>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heel(1)">
                                      <p:cBhvr>
                                        <p:cTn id="21" dur="2000"/>
                                        <p:tgtEl>
                                          <p:spTgt spid="21"/>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animEffect transition="in" filter="fade">
                                      <p:cBhvr>
                                        <p:cTn id="27" dur="500"/>
                                        <p:tgtEl>
                                          <p:spTgt spid="22"/>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heel(1)">
                                      <p:cBhvr>
                                        <p:cTn id="35" dur="2000"/>
                                        <p:tgtEl>
                                          <p:spTgt spid="29"/>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p:cTn id="39" dur="500" fill="hold"/>
                                        <p:tgtEl>
                                          <p:spTgt spid="30"/>
                                        </p:tgtEl>
                                        <p:attrNameLst>
                                          <p:attrName>ppt_w</p:attrName>
                                        </p:attrNameLst>
                                      </p:cBhvr>
                                      <p:tavLst>
                                        <p:tav tm="0">
                                          <p:val>
                                            <p:fltVal val="0"/>
                                          </p:val>
                                        </p:tav>
                                        <p:tav tm="100000">
                                          <p:val>
                                            <p:strVal val="#ppt_w"/>
                                          </p:val>
                                        </p:tav>
                                      </p:tavLst>
                                    </p:anim>
                                    <p:anim calcmode="lin" valueType="num">
                                      <p:cBhvr>
                                        <p:cTn id="40" dur="500" fill="hold"/>
                                        <p:tgtEl>
                                          <p:spTgt spid="30"/>
                                        </p:tgtEl>
                                        <p:attrNameLst>
                                          <p:attrName>ppt_h</p:attrName>
                                        </p:attrNameLst>
                                      </p:cBhvr>
                                      <p:tavLst>
                                        <p:tav tm="0">
                                          <p:val>
                                            <p:fltVal val="0"/>
                                          </p:val>
                                        </p:tav>
                                        <p:tav tm="100000">
                                          <p:val>
                                            <p:strVal val="#ppt_h"/>
                                          </p:val>
                                        </p:tav>
                                      </p:tavLst>
                                    </p:anim>
                                    <p:animEffect transition="in" filter="fade">
                                      <p:cBhvr>
                                        <p:cTn id="41" dur="500"/>
                                        <p:tgtEl>
                                          <p:spTgt spid="30"/>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childTnLst>
                          </p:cTn>
                        </p:par>
                        <p:par>
                          <p:cTn id="46" fill="hold">
                            <p:stCondLst>
                              <p:cond delay="9000"/>
                            </p:stCondLst>
                            <p:childTnLst>
                              <p:par>
                                <p:cTn id="47" presetID="21" presetClass="entr" presetSubtype="1" fill="hold" grpId="0" nodeType="after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heel(1)">
                                      <p:cBhvr>
                                        <p:cTn id="49" dur="2000"/>
                                        <p:tgtEl>
                                          <p:spTgt spid="32"/>
                                        </p:tgtEl>
                                      </p:cBhvr>
                                    </p:animEffect>
                                  </p:childTnLst>
                                </p:cTn>
                              </p:par>
                            </p:childTnLst>
                          </p:cTn>
                        </p:par>
                        <p:par>
                          <p:cTn id="50" fill="hold">
                            <p:stCondLst>
                              <p:cond delay="11000"/>
                            </p:stCondLst>
                            <p:childTnLst>
                              <p:par>
                                <p:cTn id="51" presetID="53" presetClass="entr" presetSubtype="16"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p:cTn id="53" dur="500" fill="hold"/>
                                        <p:tgtEl>
                                          <p:spTgt spid="33"/>
                                        </p:tgtEl>
                                        <p:attrNameLst>
                                          <p:attrName>ppt_w</p:attrName>
                                        </p:attrNameLst>
                                      </p:cBhvr>
                                      <p:tavLst>
                                        <p:tav tm="0">
                                          <p:val>
                                            <p:fltVal val="0"/>
                                          </p:val>
                                        </p:tav>
                                        <p:tav tm="100000">
                                          <p:val>
                                            <p:strVal val="#ppt_w"/>
                                          </p:val>
                                        </p:tav>
                                      </p:tavLst>
                                    </p:anim>
                                    <p:anim calcmode="lin" valueType="num">
                                      <p:cBhvr>
                                        <p:cTn id="54" dur="500" fill="hold"/>
                                        <p:tgtEl>
                                          <p:spTgt spid="33"/>
                                        </p:tgtEl>
                                        <p:attrNameLst>
                                          <p:attrName>ppt_h</p:attrName>
                                        </p:attrNameLst>
                                      </p:cBhvr>
                                      <p:tavLst>
                                        <p:tav tm="0">
                                          <p:val>
                                            <p:fltVal val="0"/>
                                          </p:val>
                                        </p:tav>
                                        <p:tav tm="100000">
                                          <p:val>
                                            <p:strVal val="#ppt_h"/>
                                          </p:val>
                                        </p:tav>
                                      </p:tavLst>
                                    </p:anim>
                                    <p:animEffect transition="in" filter="fade">
                                      <p:cBhvr>
                                        <p:cTn id="55" dur="500"/>
                                        <p:tgtEl>
                                          <p:spTgt spid="33"/>
                                        </p:tgtEl>
                                      </p:cBhvr>
                                    </p:animEffect>
                                  </p:childTnLst>
                                </p:cTn>
                              </p:par>
                            </p:childTnLst>
                          </p:cTn>
                        </p:par>
                        <p:par>
                          <p:cTn id="56" fill="hold">
                            <p:stCondLst>
                              <p:cond delay="11500"/>
                            </p:stCondLst>
                            <p:childTnLst>
                              <p:par>
                                <p:cTn id="57" presetID="10"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childTnLst>
                          </p:cTn>
                        </p:par>
                        <p:par>
                          <p:cTn id="60" fill="hold">
                            <p:stCondLst>
                              <p:cond delay="12000"/>
                            </p:stCondLst>
                            <p:childTnLst>
                              <p:par>
                                <p:cTn id="61" presetID="21" presetClass="entr" presetSubtype="1" fill="hold" grpId="0" nodeType="after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heel(1)">
                                      <p:cBhvr>
                                        <p:cTn id="63" dur="2000"/>
                                        <p:tgtEl>
                                          <p:spTgt spid="35"/>
                                        </p:tgtEl>
                                      </p:cBhvr>
                                    </p:animEffect>
                                  </p:childTnLst>
                                </p:cTn>
                              </p:par>
                            </p:childTnLst>
                          </p:cTn>
                        </p:par>
                        <p:par>
                          <p:cTn id="64" fill="hold">
                            <p:stCondLst>
                              <p:cond delay="14000"/>
                            </p:stCondLst>
                            <p:childTnLst>
                              <p:par>
                                <p:cTn id="65" presetID="53" presetClass="entr" presetSubtype="16" fill="hold" grpId="0" nodeType="after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p:cTn id="67" dur="500" fill="hold"/>
                                        <p:tgtEl>
                                          <p:spTgt spid="36"/>
                                        </p:tgtEl>
                                        <p:attrNameLst>
                                          <p:attrName>ppt_w</p:attrName>
                                        </p:attrNameLst>
                                      </p:cBhvr>
                                      <p:tavLst>
                                        <p:tav tm="0">
                                          <p:val>
                                            <p:fltVal val="0"/>
                                          </p:val>
                                        </p:tav>
                                        <p:tav tm="100000">
                                          <p:val>
                                            <p:strVal val="#ppt_w"/>
                                          </p:val>
                                        </p:tav>
                                      </p:tavLst>
                                    </p:anim>
                                    <p:anim calcmode="lin" valueType="num">
                                      <p:cBhvr>
                                        <p:cTn id="68" dur="500" fill="hold"/>
                                        <p:tgtEl>
                                          <p:spTgt spid="36"/>
                                        </p:tgtEl>
                                        <p:attrNameLst>
                                          <p:attrName>ppt_h</p:attrName>
                                        </p:attrNameLst>
                                      </p:cBhvr>
                                      <p:tavLst>
                                        <p:tav tm="0">
                                          <p:val>
                                            <p:fltVal val="0"/>
                                          </p:val>
                                        </p:tav>
                                        <p:tav tm="100000">
                                          <p:val>
                                            <p:strVal val="#ppt_h"/>
                                          </p:val>
                                        </p:tav>
                                      </p:tavLst>
                                    </p:anim>
                                    <p:animEffect transition="in" filter="fade">
                                      <p:cBhvr>
                                        <p:cTn id="69" dur="500"/>
                                        <p:tgtEl>
                                          <p:spTgt spid="36"/>
                                        </p:tgtEl>
                                      </p:cBhvr>
                                    </p:animEffect>
                                  </p:childTnLst>
                                </p:cTn>
                              </p:par>
                            </p:childTnLst>
                          </p:cTn>
                        </p:par>
                        <p:par>
                          <p:cTn id="70" fill="hold">
                            <p:stCondLst>
                              <p:cond delay="14500"/>
                            </p:stCondLst>
                            <p:childTnLst>
                              <p:par>
                                <p:cTn id="71" presetID="10" presetClass="entr" presetSubtype="0" fill="hold" grpId="0"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CuadroTexto 9">
            <a:extLst>
              <a:ext uri="{FF2B5EF4-FFF2-40B4-BE49-F238E27FC236}">
                <a16:creationId xmlns:a16="http://schemas.microsoft.com/office/drawing/2014/main" id="{6E0F3467-31B1-F878-3201-8F337FF08AF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12" name="Rectángulo 11">
            <a:extLst>
              <a:ext uri="{FF2B5EF4-FFF2-40B4-BE49-F238E27FC236}">
                <a16:creationId xmlns:a16="http://schemas.microsoft.com/office/drawing/2014/main" id="{073163BE-9167-53B5-F179-61BDE71A19C0}"/>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pic>
        <p:nvPicPr>
          <p:cNvPr id="17" name="Imagen 16">
            <a:extLst>
              <a:ext uri="{FF2B5EF4-FFF2-40B4-BE49-F238E27FC236}">
                <a16:creationId xmlns:a16="http://schemas.microsoft.com/office/drawing/2014/main" id="{48E02ABF-C997-3C38-1ACD-475B04E511A7}"/>
              </a:ext>
            </a:extLst>
          </p:cNvPr>
          <p:cNvPicPr>
            <a:picLocks noChangeAspect="1"/>
          </p:cNvPicPr>
          <p:nvPr/>
        </p:nvPicPr>
        <p:blipFill>
          <a:blip r:embed="rId5"/>
          <a:stretch>
            <a:fillRect/>
          </a:stretch>
        </p:blipFill>
        <p:spPr>
          <a:xfrm>
            <a:off x="330102" y="983226"/>
            <a:ext cx="11527601" cy="4889770"/>
          </a:xfrm>
          <a:prstGeom prst="rect">
            <a:avLst/>
          </a:prstGeom>
        </p:spPr>
      </p:pic>
      <p:sp>
        <p:nvSpPr>
          <p:cNvPr id="2" name="Rectángulo 1">
            <a:extLst>
              <a:ext uri="{FF2B5EF4-FFF2-40B4-BE49-F238E27FC236}">
                <a16:creationId xmlns:a16="http://schemas.microsoft.com/office/drawing/2014/main" id="{5D58DBB3-6D98-08B5-57F4-3ED5C9336B38}"/>
              </a:ext>
            </a:extLst>
          </p:cNvPr>
          <p:cNvSpPr/>
          <p:nvPr/>
        </p:nvSpPr>
        <p:spPr>
          <a:xfrm>
            <a:off x="7580671" y="3087010"/>
            <a:ext cx="1150374"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5" name="Rectángulo: esquinas redondeadas 4">
            <a:extLst>
              <a:ext uri="{FF2B5EF4-FFF2-40B4-BE49-F238E27FC236}">
                <a16:creationId xmlns:a16="http://schemas.microsoft.com/office/drawing/2014/main" id="{189E92B8-CDBC-2ED6-4BC9-C9502B086D1E}"/>
              </a:ext>
            </a:extLst>
          </p:cNvPr>
          <p:cNvSpPr/>
          <p:nvPr/>
        </p:nvSpPr>
        <p:spPr>
          <a:xfrm>
            <a:off x="7237553" y="309837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6</a:t>
            </a:r>
            <a:endParaRPr lang="es-PE" sz="1100" b="1" dirty="0"/>
          </a:p>
        </p:txBody>
      </p:sp>
      <p:sp>
        <p:nvSpPr>
          <p:cNvPr id="7" name="CuadroTexto 6">
            <a:extLst>
              <a:ext uri="{FF2B5EF4-FFF2-40B4-BE49-F238E27FC236}">
                <a16:creationId xmlns:a16="http://schemas.microsoft.com/office/drawing/2014/main" id="{6327F177-77D5-6931-0B92-CC86D5CB8DF0}"/>
              </a:ext>
            </a:extLst>
          </p:cNvPr>
          <p:cNvSpPr txBox="1"/>
          <p:nvPr/>
        </p:nvSpPr>
        <p:spPr>
          <a:xfrm>
            <a:off x="4954448" y="2843945"/>
            <a:ext cx="2213185" cy="143857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Indicador de principal</a:t>
            </a:r>
            <a:r>
              <a:rPr lang="es-ES" sz="1200" dirty="0">
                <a:solidFill>
                  <a:srgbClr val="FFFFFF"/>
                </a:solidFill>
              </a:rPr>
              <a:t>, señala si es el docente principal del curso. </a:t>
            </a:r>
            <a:r>
              <a:rPr lang="es-ES" sz="1200" b="1" dirty="0">
                <a:solidFill>
                  <a:srgbClr val="FFFFFF"/>
                </a:solidFill>
              </a:rPr>
              <a:t>Sólo puede haber un docente principal</a:t>
            </a:r>
            <a:r>
              <a:rPr lang="es-ES" sz="1200" dirty="0">
                <a:solidFill>
                  <a:srgbClr val="FFFFFF"/>
                </a:solidFill>
              </a:rPr>
              <a:t>, quien será el responsable de subir las notas al curso.</a:t>
            </a:r>
            <a:endParaRPr lang="es-ES" sz="1200" dirty="0">
              <a:solidFill>
                <a:schemeClr val="bg1"/>
              </a:solidFill>
            </a:endParaRPr>
          </a:p>
        </p:txBody>
      </p:sp>
      <p:sp>
        <p:nvSpPr>
          <p:cNvPr id="8" name="Rectángulo 7">
            <a:extLst>
              <a:ext uri="{FF2B5EF4-FFF2-40B4-BE49-F238E27FC236}">
                <a16:creationId xmlns:a16="http://schemas.microsoft.com/office/drawing/2014/main" id="{239F3DB6-734A-864E-7923-68A9B27F2E3B}"/>
              </a:ext>
            </a:extLst>
          </p:cNvPr>
          <p:cNvSpPr/>
          <p:nvPr/>
        </p:nvSpPr>
        <p:spPr>
          <a:xfrm>
            <a:off x="8853991" y="3091679"/>
            <a:ext cx="1150374"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3500B1D9-A1CF-0679-1621-3BAE4E53668C}"/>
              </a:ext>
            </a:extLst>
          </p:cNvPr>
          <p:cNvSpPr/>
          <p:nvPr/>
        </p:nvSpPr>
        <p:spPr>
          <a:xfrm>
            <a:off x="9272554" y="273849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7</a:t>
            </a:r>
            <a:endParaRPr lang="es-PE" sz="1100" b="1" dirty="0"/>
          </a:p>
        </p:txBody>
      </p:sp>
      <p:sp>
        <p:nvSpPr>
          <p:cNvPr id="11" name="CuadroTexto 10">
            <a:extLst>
              <a:ext uri="{FF2B5EF4-FFF2-40B4-BE49-F238E27FC236}">
                <a16:creationId xmlns:a16="http://schemas.microsoft.com/office/drawing/2014/main" id="{D9FFF200-C794-7B84-C0A0-9D14503E27C2}"/>
              </a:ext>
            </a:extLst>
          </p:cNvPr>
          <p:cNvSpPr txBox="1"/>
          <p:nvPr/>
        </p:nvSpPr>
        <p:spPr>
          <a:xfrm>
            <a:off x="6093447" y="1378716"/>
            <a:ext cx="3416752" cy="124676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Indicador de sobrepaso</a:t>
            </a:r>
            <a:r>
              <a:rPr lang="es-ES" sz="1200" dirty="0">
                <a:solidFill>
                  <a:srgbClr val="FFFFFF"/>
                </a:solidFill>
              </a:rPr>
              <a:t>, permite registrar un sobrepaso relacionado con la asignación del docente cuando existe un conflicto de programación debido a que el docente tiene otro NRC asignado en el mismo horario.</a:t>
            </a:r>
            <a:endParaRPr lang="es-ES" sz="1200" dirty="0">
              <a:solidFill>
                <a:schemeClr val="bg1"/>
              </a:solidFill>
            </a:endParaRPr>
          </a:p>
        </p:txBody>
      </p:sp>
      <p:sp>
        <p:nvSpPr>
          <p:cNvPr id="15" name="Rectángulo 14">
            <a:extLst>
              <a:ext uri="{FF2B5EF4-FFF2-40B4-BE49-F238E27FC236}">
                <a16:creationId xmlns:a16="http://schemas.microsoft.com/office/drawing/2014/main" id="{4470E6AF-A0B1-4B3E-AF56-1F93DA913534}"/>
              </a:ext>
            </a:extLst>
          </p:cNvPr>
          <p:cNvSpPr/>
          <p:nvPr/>
        </p:nvSpPr>
        <p:spPr>
          <a:xfrm>
            <a:off x="10717208" y="3096595"/>
            <a:ext cx="1150374"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E572A38F-ADF7-FE6F-FC1B-E67C851E22D7}"/>
              </a:ext>
            </a:extLst>
          </p:cNvPr>
          <p:cNvSpPr/>
          <p:nvPr/>
        </p:nvSpPr>
        <p:spPr>
          <a:xfrm>
            <a:off x="11184565" y="277827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8</a:t>
            </a:r>
            <a:endParaRPr lang="es-PE" sz="1100" b="1" dirty="0"/>
          </a:p>
        </p:txBody>
      </p:sp>
      <p:sp>
        <p:nvSpPr>
          <p:cNvPr id="24" name="CuadroTexto 23">
            <a:extLst>
              <a:ext uri="{FF2B5EF4-FFF2-40B4-BE49-F238E27FC236}">
                <a16:creationId xmlns:a16="http://schemas.microsoft.com/office/drawing/2014/main" id="{A3820A8F-0F29-E45A-B39B-56CC4A3E02A8}"/>
              </a:ext>
            </a:extLst>
          </p:cNvPr>
          <p:cNvSpPr txBox="1"/>
          <p:nvPr/>
        </p:nvSpPr>
        <p:spPr>
          <a:xfrm>
            <a:off x="9625781" y="1230470"/>
            <a:ext cx="2393691" cy="1438573"/>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el campo </a:t>
            </a:r>
            <a:r>
              <a:rPr lang="es-ES" sz="1200" b="1" dirty="0">
                <a:solidFill>
                  <a:srgbClr val="92D050"/>
                </a:solidFill>
              </a:rPr>
              <a:t>Porcentaje de sesión</a:t>
            </a:r>
            <a:r>
              <a:rPr lang="es-ES" sz="1200" dirty="0">
                <a:solidFill>
                  <a:srgbClr val="FFFFFF"/>
                </a:solidFill>
              </a:rPr>
              <a:t>, representa qué proporción de las sesiones de clase tiene asignada el docente. Se utiliza, entre otras cosas, en los cálculos de carga docente, según horario asignado.</a:t>
            </a:r>
            <a:endParaRPr lang="es-ES" sz="1200" dirty="0">
              <a:solidFill>
                <a:schemeClr val="bg1"/>
              </a:solidFill>
            </a:endParaRPr>
          </a:p>
        </p:txBody>
      </p:sp>
      <p:sp>
        <p:nvSpPr>
          <p:cNvPr id="26" name="Rectángulo 25">
            <a:extLst>
              <a:ext uri="{FF2B5EF4-FFF2-40B4-BE49-F238E27FC236}">
                <a16:creationId xmlns:a16="http://schemas.microsoft.com/office/drawing/2014/main" id="{41963520-687D-13C1-C43C-07BDB4040C79}"/>
              </a:ext>
            </a:extLst>
          </p:cNvPr>
          <p:cNvSpPr/>
          <p:nvPr/>
        </p:nvSpPr>
        <p:spPr>
          <a:xfrm>
            <a:off x="11216567" y="548996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7" name="Rectángulo: esquinas redondeadas 26">
            <a:extLst>
              <a:ext uri="{FF2B5EF4-FFF2-40B4-BE49-F238E27FC236}">
                <a16:creationId xmlns:a16="http://schemas.microsoft.com/office/drawing/2014/main" id="{7A6329D0-6C33-13CC-3511-775167D13F91}"/>
              </a:ext>
            </a:extLst>
          </p:cNvPr>
          <p:cNvSpPr/>
          <p:nvPr/>
        </p:nvSpPr>
        <p:spPr>
          <a:xfrm>
            <a:off x="10900264" y="555182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9</a:t>
            </a:r>
            <a:endParaRPr lang="es-PE" sz="1100" b="1" dirty="0"/>
          </a:p>
        </p:txBody>
      </p:sp>
      <p:sp>
        <p:nvSpPr>
          <p:cNvPr id="28" name="CuadroTexto 27">
            <a:extLst>
              <a:ext uri="{FF2B5EF4-FFF2-40B4-BE49-F238E27FC236}">
                <a16:creationId xmlns:a16="http://schemas.microsoft.com/office/drawing/2014/main" id="{17A61148-439B-0CD7-5FEE-61A79D7C7A84}"/>
              </a:ext>
            </a:extLst>
          </p:cNvPr>
          <p:cNvSpPr txBox="1"/>
          <p:nvPr/>
        </p:nvSpPr>
        <p:spPr>
          <a:xfrm>
            <a:off x="8573649" y="535603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57734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par>
                          <p:cTn id="18" fill="hold">
                            <p:stCondLst>
                              <p:cond delay="3000"/>
                            </p:stCondLst>
                            <p:childTnLst>
                              <p:par>
                                <p:cTn id="19" presetID="21" presetClass="entr" presetSubtype="1"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2000"/>
                                        <p:tgtEl>
                                          <p:spTgt spid="8"/>
                                        </p:tgtEl>
                                      </p:cBhvr>
                                    </p:animEffect>
                                  </p:childTnLst>
                                </p:cTn>
                              </p:par>
                            </p:childTnLst>
                          </p:cTn>
                        </p:par>
                        <p:par>
                          <p:cTn id="22" fill="hold">
                            <p:stCondLst>
                              <p:cond delay="5000"/>
                            </p:stCondLst>
                            <p:childTnLst>
                              <p:par>
                                <p:cTn id="23" presetID="53" presetClass="entr" presetSubtype="1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par>
                          <p:cTn id="28" fill="hold">
                            <p:stCondLst>
                              <p:cond delay="55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6000"/>
                            </p:stCondLst>
                            <p:childTnLst>
                              <p:par>
                                <p:cTn id="33" presetID="21" presetClass="entr" presetSubtype="1"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heel(1)">
                                      <p:cBhvr>
                                        <p:cTn id="35" dur="2000"/>
                                        <p:tgtEl>
                                          <p:spTgt spid="15"/>
                                        </p:tgtEl>
                                      </p:cBhvr>
                                    </p:animEffect>
                                  </p:childTnLst>
                                </p:cTn>
                              </p:par>
                            </p:childTnLst>
                          </p:cTn>
                        </p:par>
                        <p:par>
                          <p:cTn id="36" fill="hold">
                            <p:stCondLst>
                              <p:cond delay="8000"/>
                            </p:stCondLst>
                            <p:childTnLst>
                              <p:par>
                                <p:cTn id="37" presetID="53" presetClass="entr" presetSubtype="16"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childTnLst>
                          </p:cTn>
                        </p:par>
                        <p:par>
                          <p:cTn id="42" fill="hold">
                            <p:stCondLst>
                              <p:cond delay="8500"/>
                            </p:stCondLst>
                            <p:childTnLst>
                              <p:par>
                                <p:cTn id="43" presetID="10" presetClass="entr" presetSubtype="0" fill="hold" grpId="0"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childTnLst>
                          </p:cTn>
                        </p:par>
                        <p:par>
                          <p:cTn id="46" fill="hold">
                            <p:stCondLst>
                              <p:cond delay="9000"/>
                            </p:stCondLst>
                            <p:childTnLst>
                              <p:par>
                                <p:cTn id="47" presetID="21" presetClass="entr" presetSubtype="1"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heel(1)">
                                      <p:cBhvr>
                                        <p:cTn id="49" dur="2000"/>
                                        <p:tgtEl>
                                          <p:spTgt spid="26"/>
                                        </p:tgtEl>
                                      </p:cBhvr>
                                    </p:animEffect>
                                  </p:childTnLst>
                                </p:cTn>
                              </p:par>
                            </p:childTnLst>
                          </p:cTn>
                        </p:par>
                        <p:par>
                          <p:cTn id="50" fill="hold">
                            <p:stCondLst>
                              <p:cond delay="11000"/>
                            </p:stCondLst>
                            <p:childTnLst>
                              <p:par>
                                <p:cTn id="51" presetID="53" presetClass="entr" presetSubtype="16"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p:cTn id="53" dur="500" fill="hold"/>
                                        <p:tgtEl>
                                          <p:spTgt spid="27"/>
                                        </p:tgtEl>
                                        <p:attrNameLst>
                                          <p:attrName>ppt_w</p:attrName>
                                        </p:attrNameLst>
                                      </p:cBhvr>
                                      <p:tavLst>
                                        <p:tav tm="0">
                                          <p:val>
                                            <p:fltVal val="0"/>
                                          </p:val>
                                        </p:tav>
                                        <p:tav tm="100000">
                                          <p:val>
                                            <p:strVal val="#ppt_w"/>
                                          </p:val>
                                        </p:tav>
                                      </p:tavLst>
                                    </p:anim>
                                    <p:anim calcmode="lin" valueType="num">
                                      <p:cBhvr>
                                        <p:cTn id="54" dur="500" fill="hold"/>
                                        <p:tgtEl>
                                          <p:spTgt spid="27"/>
                                        </p:tgtEl>
                                        <p:attrNameLst>
                                          <p:attrName>ppt_h</p:attrName>
                                        </p:attrNameLst>
                                      </p:cBhvr>
                                      <p:tavLst>
                                        <p:tav tm="0">
                                          <p:val>
                                            <p:fltVal val="0"/>
                                          </p:val>
                                        </p:tav>
                                        <p:tav tm="100000">
                                          <p:val>
                                            <p:strVal val="#ppt_h"/>
                                          </p:val>
                                        </p:tav>
                                      </p:tavLst>
                                    </p:anim>
                                    <p:animEffect transition="in" filter="fade">
                                      <p:cBhvr>
                                        <p:cTn id="55" dur="500"/>
                                        <p:tgtEl>
                                          <p:spTgt spid="27"/>
                                        </p:tgtEl>
                                      </p:cBhvr>
                                    </p:animEffect>
                                  </p:childTnLst>
                                </p:cTn>
                              </p:par>
                            </p:childTnLst>
                          </p:cTn>
                        </p:par>
                        <p:par>
                          <p:cTn id="56" fill="hold">
                            <p:stCondLst>
                              <p:cond delay="11500"/>
                            </p:stCondLst>
                            <p:childTnLst>
                              <p:par>
                                <p:cTn id="57" presetID="10" presetClass="entr" presetSubtype="0"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8" grpId="0" animBg="1"/>
      <p:bldP spid="9" grpId="0" animBg="1"/>
      <p:bldP spid="11" grpId="0" animBg="1"/>
      <p:bldP spid="15" grpId="0" animBg="1"/>
      <p:bldP spid="16" grpId="0" animBg="1"/>
      <p:bldP spid="24" grpId="0" animBg="1"/>
      <p:bldP spid="26" grpId="0" animBg="1"/>
      <p:bldP spid="27" grpId="0" animBg="1"/>
      <p:bldP spid="2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C70BD109-175A-E007-EBEF-35BEAC7E6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997788" y="2726656"/>
            <a:ext cx="1019642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CREAR LIGAS</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198406" y="3925117"/>
            <a:ext cx="1019642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white"/>
                </a:solidFill>
                <a:effectLst/>
                <a:uLnTx/>
                <a:uFillTx/>
                <a:latin typeface="Aptos" panose="02110004020202020204"/>
                <a:ea typeface="+mn-ea"/>
                <a:cs typeface="+mn-cs"/>
              </a:rPr>
              <a:t>Cuando la institución requiere que todos los estudiantes inscriban todos los tipos de horario asociados a un curso (por ejemplo, teoría, laboratorio, práctica, </a:t>
            </a:r>
            <a:r>
              <a:rPr kumimoji="0" lang="es-ES" sz="1600" b="0" i="0" u="none" strike="noStrike" kern="1200" cap="none" spc="0" normalizeH="0" baseline="0" noProof="0" dirty="0" err="1">
                <a:ln>
                  <a:noFill/>
                </a:ln>
                <a:solidFill>
                  <a:prstClr val="white"/>
                </a:solidFill>
                <a:effectLst/>
                <a:uLnTx/>
                <a:uFillTx/>
                <a:latin typeface="Aptos" panose="02110004020202020204"/>
                <a:ea typeface="+mn-ea"/>
                <a:cs typeface="+mn-cs"/>
              </a:rPr>
              <a:t>etc</a:t>
            </a:r>
            <a:r>
              <a:rPr kumimoji="0" lang="es-ES" sz="1600" b="0" i="0" u="none" strike="noStrike" kern="1200" cap="none" spc="0" normalizeH="0" baseline="0" noProof="0" dirty="0">
                <a:ln>
                  <a:noFill/>
                </a:ln>
                <a:solidFill>
                  <a:prstClr val="white"/>
                </a:solidFill>
                <a:effectLst/>
                <a:uLnTx/>
                <a:uFillTx/>
                <a:latin typeface="Aptos" panose="02110004020202020204"/>
                <a:ea typeface="+mn-ea"/>
                <a:cs typeface="+mn-cs"/>
              </a:rPr>
              <a:t>), es necesario vincular los NRC mediante las ligas, que establecen la relación entre las diferentes actividades del mismo curso.</a:t>
            </a:r>
            <a:endParaRPr kumimoji="0" lang="es-PE"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78938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2709396" cy="523220"/>
          </a:xfrm>
          <a:prstGeom prst="rect">
            <a:avLst/>
          </a:prstGeom>
          <a:noFill/>
        </p:spPr>
        <p:txBody>
          <a:bodyPr wrap="none" rtlCol="0">
            <a:spAutoFit/>
          </a:bodyPr>
          <a:lstStyle/>
          <a:p>
            <a:r>
              <a:rPr lang="es-ES" sz="2800" b="1" dirty="0">
                <a:latin typeface="Montserrat" pitchFamily="2" charset="0"/>
              </a:rPr>
              <a:t>CREAR LIGAS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3140716" y="241540"/>
            <a:ext cx="9051282"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0" name="CuadroTexto 19">
            <a:extLst>
              <a:ext uri="{FF2B5EF4-FFF2-40B4-BE49-F238E27FC236}">
                <a16:creationId xmlns:a16="http://schemas.microsoft.com/office/drawing/2014/main" id="{6EC77D6E-5883-E2C4-DE6F-DC4800B7FDBB}"/>
              </a:ext>
            </a:extLst>
          </p:cNvPr>
          <p:cNvSpPr txBox="1"/>
          <p:nvPr/>
        </p:nvSpPr>
        <p:spPr>
          <a:xfrm>
            <a:off x="585019" y="1386929"/>
            <a:ext cx="11021961" cy="3970318"/>
          </a:xfrm>
          <a:prstGeom prst="rect">
            <a:avLst/>
          </a:prstGeom>
          <a:noFill/>
        </p:spPr>
        <p:txBody>
          <a:bodyPr wrap="square">
            <a:spAutoFit/>
          </a:bodyPr>
          <a:lstStyle/>
          <a:p>
            <a:pPr marL="0" indent="0" algn="just">
              <a:buNone/>
            </a:pPr>
            <a:r>
              <a:rPr lang="es-CO" sz="1800" dirty="0"/>
              <a:t>En </a:t>
            </a:r>
            <a:r>
              <a:rPr lang="es-CO" sz="1800" b="1" dirty="0" err="1"/>
              <a:t>Ellucian</a:t>
            </a:r>
            <a:r>
              <a:rPr lang="es-CO" sz="1800" b="1" dirty="0"/>
              <a:t> </a:t>
            </a:r>
            <a:r>
              <a:rPr lang="es-CO" sz="1800" b="1" dirty="0" err="1"/>
              <a:t>Student</a:t>
            </a:r>
            <a:r>
              <a:rPr lang="es-CO" sz="1800" dirty="0"/>
              <a:t>, cada curso se programa mediante un </a:t>
            </a:r>
            <a:r>
              <a:rPr lang="es-CO" sz="1800" b="1" dirty="0"/>
              <a:t>NRC (Número de Referencia de Curso)</a:t>
            </a:r>
            <a:r>
              <a:rPr lang="es-CO" sz="1800" dirty="0"/>
              <a:t>, el cual se asocia con los </a:t>
            </a:r>
            <a:r>
              <a:rPr lang="es-CO" sz="1800" b="1" dirty="0"/>
              <a:t>tipos de horario</a:t>
            </a:r>
            <a:r>
              <a:rPr lang="es-CO" sz="1800" dirty="0"/>
              <a:t> definidos previamente en </a:t>
            </a:r>
            <a:r>
              <a:rPr lang="es-CO" sz="1800" b="1" dirty="0"/>
              <a:t>SCACRSE</a:t>
            </a:r>
            <a:r>
              <a:rPr lang="es-CO" sz="1800" dirty="0"/>
              <a:t>. Cuando la institución requiere que todos los estudiantes inscriban </a:t>
            </a:r>
            <a:r>
              <a:rPr lang="es-CO" sz="1800" b="1" dirty="0"/>
              <a:t>todos los tipos de horario</a:t>
            </a:r>
            <a:r>
              <a:rPr lang="es-CO" sz="1800" dirty="0"/>
              <a:t> asociados a un curso (por ejemplo, teoría, laboratorio, práctica, </a:t>
            </a:r>
            <a:r>
              <a:rPr lang="es-CO" sz="1800" dirty="0" err="1"/>
              <a:t>etc</a:t>
            </a:r>
            <a:r>
              <a:rPr lang="es-CO" sz="1800" dirty="0"/>
              <a:t>), es necesario </a:t>
            </a:r>
            <a:r>
              <a:rPr lang="es-CO" sz="1800" b="1" dirty="0"/>
              <a:t>vincular los NRC</a:t>
            </a:r>
            <a:r>
              <a:rPr lang="es-CO" sz="1800" dirty="0"/>
              <a:t> mediante las </a:t>
            </a:r>
            <a:r>
              <a:rPr lang="es-CO" sz="1800" b="1" dirty="0"/>
              <a:t>ligas</a:t>
            </a:r>
            <a:r>
              <a:rPr lang="es-CO" sz="1800" dirty="0"/>
              <a:t>, que establecen la relación entre las diferentes actividades del mismo curso.</a:t>
            </a:r>
          </a:p>
          <a:p>
            <a:pPr marL="0" indent="0" algn="just">
              <a:buNone/>
            </a:pPr>
            <a:endParaRPr lang="es-CO" sz="1800" dirty="0"/>
          </a:p>
          <a:p>
            <a:pPr marL="285750" indent="-285750" algn="just">
              <a:buClr>
                <a:schemeClr val="accent6"/>
              </a:buClr>
              <a:buFont typeface="Wingdings" panose="05000000000000000000" pitchFamily="2" charset="2"/>
              <a:buChar char="§"/>
            </a:pPr>
            <a:r>
              <a:rPr lang="es-CO" sz="1800" b="1" dirty="0"/>
              <a:t>Liga principal</a:t>
            </a:r>
            <a:r>
              <a:rPr lang="es-CO" sz="1800" dirty="0"/>
              <a:t> </a:t>
            </a:r>
            <a:r>
              <a:rPr lang="es-CO" dirty="0"/>
              <a:t>-</a:t>
            </a:r>
            <a:r>
              <a:rPr lang="es-CO" sz="1800" dirty="0"/>
              <a:t> conecta el NRC correspondiente al </a:t>
            </a:r>
            <a:r>
              <a:rPr lang="es-CO" sz="1800" b="1" dirty="0"/>
              <a:t>tipo de horario principal</a:t>
            </a:r>
            <a:r>
              <a:rPr lang="es-CO" sz="1800" dirty="0"/>
              <a:t>, generalmente la clase teórica o actividad base del curso.</a:t>
            </a:r>
          </a:p>
          <a:p>
            <a:pPr marL="285750" indent="-285750" algn="just">
              <a:buClr>
                <a:schemeClr val="accent6"/>
              </a:buClr>
              <a:buFont typeface="Wingdings" panose="05000000000000000000" pitchFamily="2" charset="2"/>
              <a:buChar char="§"/>
            </a:pPr>
            <a:r>
              <a:rPr lang="es-CO" sz="1800" b="1" dirty="0"/>
              <a:t>Liga secundaria</a:t>
            </a:r>
            <a:r>
              <a:rPr lang="es-CO" sz="1800" dirty="0"/>
              <a:t> - vincula los NRC de los </a:t>
            </a:r>
            <a:r>
              <a:rPr lang="es-CO" sz="1800" b="1" dirty="0"/>
              <a:t>otros tipos de horario</a:t>
            </a:r>
            <a:r>
              <a:rPr lang="es-CO" sz="1800" dirty="0"/>
              <a:t>, como laboratorios, prácticas, talleres, seminarios u otras actividades complementarias.</a:t>
            </a:r>
          </a:p>
          <a:p>
            <a:pPr algn="just"/>
            <a:endParaRPr lang="es-CO" sz="1800" dirty="0"/>
          </a:p>
          <a:p>
            <a:pPr marL="0" indent="0" algn="just">
              <a:buNone/>
            </a:pPr>
            <a:r>
              <a:rPr lang="es-CO" sz="1800" dirty="0"/>
              <a:t>La configuración de estas ligas se realiza en la página </a:t>
            </a:r>
            <a:r>
              <a:rPr lang="es-CO" sz="1800" b="1" dirty="0"/>
              <a:t>SSADETL</a:t>
            </a:r>
            <a:r>
              <a:rPr lang="es-CO" sz="1800" dirty="0"/>
              <a:t>, donde se define qué NRC depende de otro, permitiendo que </a:t>
            </a:r>
            <a:r>
              <a:rPr lang="es-CO" sz="1800" dirty="0" err="1"/>
              <a:t>Ellucian</a:t>
            </a:r>
            <a:r>
              <a:rPr lang="es-CO" sz="1800" dirty="0"/>
              <a:t> </a:t>
            </a:r>
            <a:r>
              <a:rPr lang="es-CO" sz="1800" dirty="0" err="1"/>
              <a:t>Student</a:t>
            </a:r>
            <a:r>
              <a:rPr lang="es-CO" sz="1800" dirty="0"/>
              <a:t> trate todas las actividades como un conjunto obligatorio durante la inscripción o matrícula del estudiante.</a:t>
            </a:r>
          </a:p>
        </p:txBody>
      </p:sp>
    </p:spTree>
    <p:extLst>
      <p:ext uri="{BB962C8B-B14F-4D97-AF65-F5344CB8AC3E}">
        <p14:creationId xmlns:p14="http://schemas.microsoft.com/office/powerpoint/2010/main" val="1592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fade">
                                      <p:cBhvr>
                                        <p:cTn id="14" dur="500"/>
                                        <p:tgtEl>
                                          <p:spTgt spid="20">
                                            <p:txEl>
                                              <p:pRg st="0" end="0"/>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0">
                                            <p:txEl>
                                              <p:pRg st="2" end="2"/>
                                            </p:txEl>
                                          </p:spTgt>
                                        </p:tgtEl>
                                        <p:attrNameLst>
                                          <p:attrName>style.visibility</p:attrName>
                                        </p:attrNameLst>
                                      </p:cBhvr>
                                      <p:to>
                                        <p:strVal val="visible"/>
                                      </p:to>
                                    </p:set>
                                    <p:animEffect transition="in" filter="fade">
                                      <p:cBhvr>
                                        <p:cTn id="18" dur="500"/>
                                        <p:tgtEl>
                                          <p:spTgt spid="20">
                                            <p:txEl>
                                              <p:pRg st="2" end="2"/>
                                            </p:txEl>
                                          </p:spTgt>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0">
                                            <p:txEl>
                                              <p:pRg st="3" end="3"/>
                                            </p:txEl>
                                          </p:spTgt>
                                        </p:tgtEl>
                                        <p:attrNameLst>
                                          <p:attrName>style.visibility</p:attrName>
                                        </p:attrNameLst>
                                      </p:cBhvr>
                                      <p:to>
                                        <p:strVal val="visible"/>
                                      </p:to>
                                    </p:set>
                                    <p:animEffect transition="in" filter="fade">
                                      <p:cBhvr>
                                        <p:cTn id="22" dur="500"/>
                                        <p:tgtEl>
                                          <p:spTgt spid="20">
                                            <p:txEl>
                                              <p:pRg st="3" end="3"/>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20">
                                            <p:txEl>
                                              <p:pRg st="5" end="5"/>
                                            </p:txEl>
                                          </p:spTgt>
                                        </p:tgtEl>
                                        <p:attrNameLst>
                                          <p:attrName>style.visibility</p:attrName>
                                        </p:attrNameLst>
                                      </p:cBhvr>
                                      <p:to>
                                        <p:strVal val="visible"/>
                                      </p:to>
                                    </p:set>
                                    <p:animEffect transition="in" filter="fade">
                                      <p:cBhvr>
                                        <p:cTn id="26"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782078" cy="523220"/>
          </a:xfrm>
          <a:prstGeom prst="rect">
            <a:avLst/>
          </a:prstGeom>
          <a:noFill/>
        </p:spPr>
        <p:txBody>
          <a:bodyPr wrap="none" rtlCol="0">
            <a:spAutoFit/>
          </a:bodyPr>
          <a:lstStyle/>
          <a:p>
            <a:r>
              <a:rPr lang="es-ES" sz="2800" b="1" dirty="0">
                <a:latin typeface="Montserrat" pitchFamily="2" charset="0"/>
              </a:rPr>
              <a:t>CREAR LIGAS - PREMISA</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5309418" y="241540"/>
            <a:ext cx="688257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ECAFE23F-8905-A0DD-72BA-4269A929D957}"/>
              </a:ext>
            </a:extLst>
          </p:cNvPr>
          <p:cNvPicPr>
            <a:picLocks noChangeAspect="1"/>
          </p:cNvPicPr>
          <p:nvPr/>
        </p:nvPicPr>
        <p:blipFill>
          <a:blip r:embed="rId4"/>
          <a:stretch>
            <a:fillRect/>
          </a:stretch>
        </p:blipFill>
        <p:spPr>
          <a:xfrm>
            <a:off x="431319" y="1166576"/>
            <a:ext cx="11408945" cy="1718179"/>
          </a:xfrm>
          <a:prstGeom prst="rect">
            <a:avLst/>
          </a:prstGeom>
        </p:spPr>
      </p:pic>
      <p:sp>
        <p:nvSpPr>
          <p:cNvPr id="9" name="CuadroTexto 8">
            <a:extLst>
              <a:ext uri="{FF2B5EF4-FFF2-40B4-BE49-F238E27FC236}">
                <a16:creationId xmlns:a16="http://schemas.microsoft.com/office/drawing/2014/main" id="{714B2AF3-680D-9906-B698-63384B76A2F7}"/>
              </a:ext>
            </a:extLst>
          </p:cNvPr>
          <p:cNvSpPr txBox="1"/>
          <p:nvPr/>
        </p:nvSpPr>
        <p:spPr>
          <a:xfrm>
            <a:off x="599768" y="3239864"/>
            <a:ext cx="11061290" cy="863144"/>
          </a:xfrm>
          <a:prstGeom prst="roundRect">
            <a:avLst>
              <a:gd name="adj" fmla="val 7573"/>
            </a:avLst>
          </a:prstGeom>
          <a:solidFill>
            <a:srgbClr val="7030A0"/>
          </a:solidFill>
        </p:spPr>
        <p:txBody>
          <a:bodyPr wrap="square">
            <a:spAutoFit/>
          </a:bodyPr>
          <a:lstStyle/>
          <a:p>
            <a:pPr algn="ctr"/>
            <a:r>
              <a:rPr lang="es-ES" sz="1600" dirty="0">
                <a:solidFill>
                  <a:srgbClr val="FFFFFF"/>
                </a:solidFill>
              </a:rPr>
              <a:t>Si el curso o asignatura tiene más de un tipo de Horario SCACRSE, </a:t>
            </a:r>
            <a:r>
              <a:rPr lang="es-ES" sz="1600" b="1" dirty="0">
                <a:solidFill>
                  <a:srgbClr val="92D050"/>
                </a:solidFill>
              </a:rPr>
              <a:t>las ligas unen dos o más </a:t>
            </a:r>
            <a:r>
              <a:rPr lang="es-ES" sz="1600" b="1" dirty="0" err="1">
                <a:solidFill>
                  <a:srgbClr val="92D050"/>
                </a:solidFill>
              </a:rPr>
              <a:t>NRCs</a:t>
            </a:r>
            <a:r>
              <a:rPr lang="es-ES" sz="1600" b="1" dirty="0">
                <a:solidFill>
                  <a:srgbClr val="92D050"/>
                </a:solidFill>
              </a:rPr>
              <a:t>  de una misma asignatura.</a:t>
            </a:r>
          </a:p>
          <a:p>
            <a:pPr algn="ctr"/>
            <a:r>
              <a:rPr lang="es-ES" sz="1600" dirty="0">
                <a:solidFill>
                  <a:srgbClr val="FFFFFF"/>
                </a:solidFill>
              </a:rPr>
              <a:t>Por ejemplo: Se requiere unir el NRC de la teoría y los NRC de los Club de conversación en Idiomas.</a:t>
            </a:r>
          </a:p>
        </p:txBody>
      </p:sp>
      <p:graphicFrame>
        <p:nvGraphicFramePr>
          <p:cNvPr id="11" name="Tabla 10">
            <a:extLst>
              <a:ext uri="{FF2B5EF4-FFF2-40B4-BE49-F238E27FC236}">
                <a16:creationId xmlns:a16="http://schemas.microsoft.com/office/drawing/2014/main" id="{523A4FF5-8407-AF91-2E8B-C133A192EA1E}"/>
              </a:ext>
            </a:extLst>
          </p:cNvPr>
          <p:cNvGraphicFramePr>
            <a:graphicFrameLocks noGrp="1"/>
          </p:cNvGraphicFramePr>
          <p:nvPr>
            <p:extLst>
              <p:ext uri="{D42A27DB-BD31-4B8C-83A1-F6EECF244321}">
                <p14:modId xmlns:p14="http://schemas.microsoft.com/office/powerpoint/2010/main" val="2778461912"/>
              </p:ext>
            </p:extLst>
          </p:nvPr>
        </p:nvGraphicFramePr>
        <p:xfrm>
          <a:off x="1874683" y="4456933"/>
          <a:ext cx="8128000" cy="1112520"/>
        </p:xfrm>
        <a:graphic>
          <a:graphicData uri="http://schemas.openxmlformats.org/drawingml/2006/table">
            <a:tbl>
              <a:tblPr firstRow="1" bandRow="1">
                <a:tableStyleId>{93296810-A885-4BE3-A3E7-6D5BEEA58F35}</a:tableStyleId>
              </a:tblPr>
              <a:tblGrid>
                <a:gridCol w="2032000">
                  <a:extLst>
                    <a:ext uri="{9D8B030D-6E8A-4147-A177-3AD203B41FA5}">
                      <a16:colId xmlns:a16="http://schemas.microsoft.com/office/drawing/2014/main" val="16898619"/>
                    </a:ext>
                  </a:extLst>
                </a:gridCol>
                <a:gridCol w="2032000">
                  <a:extLst>
                    <a:ext uri="{9D8B030D-6E8A-4147-A177-3AD203B41FA5}">
                      <a16:colId xmlns:a16="http://schemas.microsoft.com/office/drawing/2014/main" val="824824289"/>
                    </a:ext>
                  </a:extLst>
                </a:gridCol>
                <a:gridCol w="2032000">
                  <a:extLst>
                    <a:ext uri="{9D8B030D-6E8A-4147-A177-3AD203B41FA5}">
                      <a16:colId xmlns:a16="http://schemas.microsoft.com/office/drawing/2014/main" val="3398822324"/>
                    </a:ext>
                  </a:extLst>
                </a:gridCol>
                <a:gridCol w="2032000">
                  <a:extLst>
                    <a:ext uri="{9D8B030D-6E8A-4147-A177-3AD203B41FA5}">
                      <a16:colId xmlns:a16="http://schemas.microsoft.com/office/drawing/2014/main" val="2312879742"/>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extLst>
                  <a:ext uri="{0D108BD9-81ED-4DB2-BD59-A6C34878D82A}">
                    <a16:rowId xmlns:a16="http://schemas.microsoft.com/office/drawing/2014/main" val="683514150"/>
                  </a:ext>
                </a:extLst>
              </a:tr>
            </a:tbl>
          </a:graphicData>
        </a:graphic>
      </p:graphicFrame>
    </p:spTree>
    <p:extLst>
      <p:ext uri="{BB962C8B-B14F-4D97-AF65-F5344CB8AC3E}">
        <p14:creationId xmlns:p14="http://schemas.microsoft.com/office/powerpoint/2010/main" val="26077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animEffect transition="in" filter="fade">
                                      <p:cBhvr>
                                        <p:cTn id="20" dur="500"/>
                                        <p:tgtEl>
                                          <p:spTgt spid="9"/>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up)">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782078" cy="523220"/>
          </a:xfrm>
          <a:prstGeom prst="rect">
            <a:avLst/>
          </a:prstGeom>
          <a:noFill/>
        </p:spPr>
        <p:txBody>
          <a:bodyPr wrap="none" rtlCol="0">
            <a:spAutoFit/>
          </a:bodyPr>
          <a:lstStyle/>
          <a:p>
            <a:r>
              <a:rPr lang="es-ES" sz="2800" b="1" dirty="0">
                <a:latin typeface="Montserrat" pitchFamily="2" charset="0"/>
              </a:rPr>
              <a:t>CREAR LIGAS - PREMISA</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5213398" y="241540"/>
            <a:ext cx="697859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0" name="CuadroTexto 19">
            <a:extLst>
              <a:ext uri="{FF2B5EF4-FFF2-40B4-BE49-F238E27FC236}">
                <a16:creationId xmlns:a16="http://schemas.microsoft.com/office/drawing/2014/main" id="{6EC77D6E-5883-E2C4-DE6F-DC4800B7FDBB}"/>
              </a:ext>
            </a:extLst>
          </p:cNvPr>
          <p:cNvSpPr txBox="1"/>
          <p:nvPr/>
        </p:nvSpPr>
        <p:spPr>
          <a:xfrm>
            <a:off x="585019" y="1386929"/>
            <a:ext cx="11021961" cy="3877985"/>
          </a:xfrm>
          <a:prstGeom prst="rect">
            <a:avLst/>
          </a:prstGeom>
          <a:noFill/>
        </p:spPr>
        <p:txBody>
          <a:bodyPr wrap="square">
            <a:spAutoFit/>
          </a:bodyPr>
          <a:lstStyle/>
          <a:p>
            <a:pPr algn="just"/>
            <a:r>
              <a:rPr lang="es-ES_tradnl" sz="2400" b="1" dirty="0">
                <a:solidFill>
                  <a:schemeClr val="accent6"/>
                </a:solidFill>
              </a:rPr>
              <a:t>Tipo de horario principal: Teoría</a:t>
            </a:r>
          </a:p>
          <a:p>
            <a:pPr marL="285750" indent="-285750" algn="just">
              <a:buClr>
                <a:schemeClr val="accent6"/>
              </a:buClr>
              <a:buFont typeface="Wingdings" panose="05000000000000000000" pitchFamily="2" charset="2"/>
              <a:buChar char="§"/>
            </a:pPr>
            <a:r>
              <a:rPr lang="es-CL" dirty="0">
                <a:solidFill>
                  <a:schemeClr val="tx2"/>
                </a:solidFill>
              </a:rPr>
              <a:t>L</a:t>
            </a:r>
            <a:r>
              <a:rPr lang="es-CL" dirty="0"/>
              <a:t>os NRC deben </a:t>
            </a:r>
            <a:r>
              <a:rPr lang="es-CL" b="1" dirty="0"/>
              <a:t>tener las horas créditos totales</a:t>
            </a:r>
            <a:r>
              <a:rPr lang="es-CL" dirty="0"/>
              <a:t> que corresponden. (Por ejemplo: 4   créditos según definición de SCACRSE)</a:t>
            </a:r>
          </a:p>
          <a:p>
            <a:pPr marL="285750" indent="-285750" algn="just">
              <a:buClr>
                <a:schemeClr val="accent6"/>
              </a:buClr>
              <a:buFont typeface="Wingdings" panose="05000000000000000000" pitchFamily="2" charset="2"/>
              <a:buChar char="§"/>
            </a:pPr>
            <a:r>
              <a:rPr lang="es-CL" dirty="0"/>
              <a:t> Debe estar </a:t>
            </a:r>
            <a:r>
              <a:rPr lang="es-CL" b="1" dirty="0"/>
              <a:t>marcado</a:t>
            </a:r>
            <a:r>
              <a:rPr lang="es-CL" dirty="0"/>
              <a:t> el </a:t>
            </a:r>
            <a:r>
              <a:rPr lang="es-CL" b="1" dirty="0" err="1">
                <a:solidFill>
                  <a:schemeClr val="accent6"/>
                </a:solidFill>
              </a:rPr>
              <a:t>flag</a:t>
            </a:r>
            <a:r>
              <a:rPr lang="es-CL" b="1" dirty="0">
                <a:solidFill>
                  <a:schemeClr val="accent6"/>
                </a:solidFill>
              </a:rPr>
              <a:t> de Calificable</a:t>
            </a:r>
            <a:r>
              <a:rPr lang="es-CL" dirty="0"/>
              <a:t>.</a:t>
            </a:r>
            <a:endParaRPr lang="es-CL" b="1" dirty="0"/>
          </a:p>
          <a:p>
            <a:pPr marL="285750" indent="-285750" algn="just">
              <a:buClr>
                <a:schemeClr val="accent6"/>
              </a:buClr>
              <a:buFont typeface="Wingdings" panose="05000000000000000000" pitchFamily="2" charset="2"/>
              <a:buChar char="§"/>
            </a:pPr>
            <a:r>
              <a:rPr lang="es-CL" b="1" dirty="0"/>
              <a:t>No debe estar marcado</a:t>
            </a:r>
            <a:r>
              <a:rPr lang="es-CL" dirty="0"/>
              <a:t> el </a:t>
            </a:r>
            <a:r>
              <a:rPr lang="es-CL" b="1" dirty="0" err="1">
                <a:solidFill>
                  <a:schemeClr val="accent6"/>
                </a:solidFill>
              </a:rPr>
              <a:t>flag</a:t>
            </a:r>
            <a:r>
              <a:rPr lang="es-CL" b="1" dirty="0">
                <a:solidFill>
                  <a:schemeClr val="accent6"/>
                </a:solidFill>
              </a:rPr>
              <a:t> de </a:t>
            </a:r>
            <a:r>
              <a:rPr lang="es-CO" b="1" dirty="0">
                <a:solidFill>
                  <a:schemeClr val="accent6"/>
                </a:solidFill>
              </a:rPr>
              <a:t>Dispensa de colegiatura y cuotas</a:t>
            </a:r>
            <a:r>
              <a:rPr lang="es-CO" dirty="0"/>
              <a:t> para que se incluya los créditos en el total de créditos a cobrar.</a:t>
            </a:r>
          </a:p>
          <a:p>
            <a:pPr algn="just"/>
            <a:br>
              <a:rPr lang="es-CL" dirty="0"/>
            </a:br>
            <a:r>
              <a:rPr lang="es-ES_tradnl" sz="2400" b="1" dirty="0">
                <a:solidFill>
                  <a:schemeClr val="accent6"/>
                </a:solidFill>
              </a:rPr>
              <a:t>Tipo de horario diferente al principal: Laboratorio</a:t>
            </a:r>
          </a:p>
          <a:p>
            <a:pPr marL="285750" indent="-285750" algn="just">
              <a:buClr>
                <a:schemeClr val="accent6"/>
              </a:buClr>
              <a:buFont typeface="Wingdings" panose="05000000000000000000" pitchFamily="2" charset="2"/>
              <a:buChar char="§"/>
            </a:pPr>
            <a:r>
              <a:rPr lang="es-CL" dirty="0">
                <a:solidFill>
                  <a:schemeClr val="tx2"/>
                </a:solidFill>
              </a:rPr>
              <a:t>L</a:t>
            </a:r>
            <a:r>
              <a:rPr lang="es-CL" dirty="0"/>
              <a:t>os NRC en el campo de </a:t>
            </a:r>
            <a:r>
              <a:rPr lang="es-CL" b="1" dirty="0"/>
              <a:t>horas crédito deberían estar con cero (0)</a:t>
            </a:r>
            <a:r>
              <a:rPr lang="es-CL" dirty="0"/>
              <a:t> para que no se sumen en el total de créditos inscritos.</a:t>
            </a:r>
          </a:p>
          <a:p>
            <a:pPr marL="285750" indent="-285750" algn="just">
              <a:buClr>
                <a:schemeClr val="accent6"/>
              </a:buClr>
              <a:buFont typeface="Wingdings" panose="05000000000000000000" pitchFamily="2" charset="2"/>
              <a:buChar char="§"/>
            </a:pPr>
            <a:r>
              <a:rPr lang="es-CL" b="1" dirty="0"/>
              <a:t>No debe estar marcado</a:t>
            </a:r>
            <a:r>
              <a:rPr lang="es-CL" dirty="0"/>
              <a:t> el </a:t>
            </a:r>
            <a:r>
              <a:rPr lang="es-CL" b="1" dirty="0" err="1">
                <a:solidFill>
                  <a:schemeClr val="accent6"/>
                </a:solidFill>
              </a:rPr>
              <a:t>flag</a:t>
            </a:r>
            <a:r>
              <a:rPr lang="es-CL" b="1" dirty="0">
                <a:solidFill>
                  <a:schemeClr val="accent6"/>
                </a:solidFill>
              </a:rPr>
              <a:t> de Calificable</a:t>
            </a:r>
            <a:r>
              <a:rPr lang="es-CL" dirty="0"/>
              <a:t>.</a:t>
            </a:r>
          </a:p>
          <a:p>
            <a:pPr marL="285750" indent="-285750" algn="just">
              <a:buClr>
                <a:schemeClr val="accent6"/>
              </a:buClr>
              <a:buFont typeface="Wingdings" panose="05000000000000000000" pitchFamily="2" charset="2"/>
              <a:buChar char="§"/>
            </a:pPr>
            <a:r>
              <a:rPr lang="es-CL" dirty="0"/>
              <a:t>Debe estar </a:t>
            </a:r>
            <a:r>
              <a:rPr lang="es-CL" b="1" dirty="0"/>
              <a:t>marcado</a:t>
            </a:r>
            <a:r>
              <a:rPr lang="es-CL" dirty="0"/>
              <a:t> el </a:t>
            </a:r>
            <a:r>
              <a:rPr lang="es-CL" b="1" dirty="0" err="1">
                <a:solidFill>
                  <a:schemeClr val="accent6"/>
                </a:solidFill>
              </a:rPr>
              <a:t>flag</a:t>
            </a:r>
            <a:r>
              <a:rPr lang="es-CL" b="1" dirty="0">
                <a:solidFill>
                  <a:schemeClr val="accent6"/>
                </a:solidFill>
              </a:rPr>
              <a:t> de </a:t>
            </a:r>
            <a:r>
              <a:rPr lang="es-CO" b="1" dirty="0">
                <a:solidFill>
                  <a:schemeClr val="accent6"/>
                </a:solidFill>
              </a:rPr>
              <a:t>Dispensa de colegiatura y cuotas</a:t>
            </a:r>
            <a:r>
              <a:rPr lang="es-CO" dirty="0"/>
              <a:t> para que NO se incluya los créditos en el total de créditos a cobrar.</a:t>
            </a:r>
            <a:endParaRPr lang="es-CO" sz="1800" dirty="0"/>
          </a:p>
        </p:txBody>
      </p:sp>
    </p:spTree>
    <p:extLst>
      <p:ext uri="{BB962C8B-B14F-4D97-AF65-F5344CB8AC3E}">
        <p14:creationId xmlns:p14="http://schemas.microsoft.com/office/powerpoint/2010/main" val="349433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fade">
                                      <p:cBhvr>
                                        <p:cTn id="14" dur="500"/>
                                        <p:tgtEl>
                                          <p:spTgt spid="20">
                                            <p:txEl>
                                              <p:pRg st="0" end="0"/>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0">
                                            <p:txEl>
                                              <p:pRg st="1" end="1"/>
                                            </p:txEl>
                                          </p:spTgt>
                                        </p:tgtEl>
                                        <p:attrNameLst>
                                          <p:attrName>style.visibility</p:attrName>
                                        </p:attrNameLst>
                                      </p:cBhvr>
                                      <p:to>
                                        <p:strVal val="visible"/>
                                      </p:to>
                                    </p:set>
                                    <p:animEffect transition="in" filter="fade">
                                      <p:cBhvr>
                                        <p:cTn id="18" dur="500"/>
                                        <p:tgtEl>
                                          <p:spTgt spid="20">
                                            <p:txEl>
                                              <p:pRg st="1" end="1"/>
                                            </p:txEl>
                                          </p:spTgt>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0">
                                            <p:txEl>
                                              <p:pRg st="2" end="2"/>
                                            </p:txEl>
                                          </p:spTgt>
                                        </p:tgtEl>
                                        <p:attrNameLst>
                                          <p:attrName>style.visibility</p:attrName>
                                        </p:attrNameLst>
                                      </p:cBhvr>
                                      <p:to>
                                        <p:strVal val="visible"/>
                                      </p:to>
                                    </p:set>
                                    <p:animEffect transition="in" filter="fade">
                                      <p:cBhvr>
                                        <p:cTn id="22" dur="500"/>
                                        <p:tgtEl>
                                          <p:spTgt spid="20">
                                            <p:txEl>
                                              <p:pRg st="2" end="2"/>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20">
                                            <p:txEl>
                                              <p:pRg st="3" end="3"/>
                                            </p:txEl>
                                          </p:spTgt>
                                        </p:tgtEl>
                                        <p:attrNameLst>
                                          <p:attrName>style.visibility</p:attrName>
                                        </p:attrNameLst>
                                      </p:cBhvr>
                                      <p:to>
                                        <p:strVal val="visible"/>
                                      </p:to>
                                    </p:set>
                                    <p:animEffect transition="in" filter="fade">
                                      <p:cBhvr>
                                        <p:cTn id="26" dur="500"/>
                                        <p:tgtEl>
                                          <p:spTgt spid="20">
                                            <p:txEl>
                                              <p:pRg st="3" end="3"/>
                                            </p:txEl>
                                          </p:spTgt>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20">
                                            <p:txEl>
                                              <p:pRg st="4" end="4"/>
                                            </p:txEl>
                                          </p:spTgt>
                                        </p:tgtEl>
                                        <p:attrNameLst>
                                          <p:attrName>style.visibility</p:attrName>
                                        </p:attrNameLst>
                                      </p:cBhvr>
                                      <p:to>
                                        <p:strVal val="visible"/>
                                      </p:to>
                                    </p:set>
                                    <p:animEffect transition="in" filter="fade">
                                      <p:cBhvr>
                                        <p:cTn id="30" dur="500"/>
                                        <p:tgtEl>
                                          <p:spTgt spid="20">
                                            <p:txEl>
                                              <p:pRg st="4" end="4"/>
                                            </p:txEl>
                                          </p:spTgt>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20">
                                            <p:txEl>
                                              <p:pRg st="5" end="5"/>
                                            </p:txEl>
                                          </p:spTgt>
                                        </p:tgtEl>
                                        <p:attrNameLst>
                                          <p:attrName>style.visibility</p:attrName>
                                        </p:attrNameLst>
                                      </p:cBhvr>
                                      <p:to>
                                        <p:strVal val="visible"/>
                                      </p:to>
                                    </p:set>
                                    <p:animEffect transition="in" filter="fade">
                                      <p:cBhvr>
                                        <p:cTn id="34" dur="500"/>
                                        <p:tgtEl>
                                          <p:spTgt spid="20">
                                            <p:txEl>
                                              <p:pRg st="5" end="5"/>
                                            </p:txEl>
                                          </p:spTgt>
                                        </p:tgtEl>
                                      </p:cBhvr>
                                    </p:animEffect>
                                  </p:childTnLst>
                                </p:cTn>
                              </p:par>
                            </p:childTnLst>
                          </p:cTn>
                        </p:par>
                        <p:par>
                          <p:cTn id="35" fill="hold">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20">
                                            <p:txEl>
                                              <p:pRg st="6" end="6"/>
                                            </p:txEl>
                                          </p:spTgt>
                                        </p:tgtEl>
                                        <p:attrNameLst>
                                          <p:attrName>style.visibility</p:attrName>
                                        </p:attrNameLst>
                                      </p:cBhvr>
                                      <p:to>
                                        <p:strVal val="visible"/>
                                      </p:to>
                                    </p:set>
                                    <p:animEffect transition="in" filter="fade">
                                      <p:cBhvr>
                                        <p:cTn id="38" dur="500"/>
                                        <p:tgtEl>
                                          <p:spTgt spid="20">
                                            <p:txEl>
                                              <p:pRg st="6" end="6"/>
                                            </p:txEl>
                                          </p:spTgt>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20">
                                            <p:txEl>
                                              <p:pRg st="7" end="7"/>
                                            </p:txEl>
                                          </p:spTgt>
                                        </p:tgtEl>
                                        <p:attrNameLst>
                                          <p:attrName>style.visibility</p:attrName>
                                        </p:attrNameLst>
                                      </p:cBhvr>
                                      <p:to>
                                        <p:strVal val="visible"/>
                                      </p:to>
                                    </p:set>
                                    <p:animEffect transition="in" filter="fade">
                                      <p:cBhvr>
                                        <p:cTn id="42" dur="500"/>
                                        <p:tgtEl>
                                          <p:spTgt spid="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0"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782078" cy="523220"/>
          </a:xfrm>
          <a:prstGeom prst="rect">
            <a:avLst/>
          </a:prstGeom>
          <a:noFill/>
        </p:spPr>
        <p:txBody>
          <a:bodyPr wrap="none" rtlCol="0">
            <a:spAutoFit/>
          </a:bodyPr>
          <a:lstStyle/>
          <a:p>
            <a:r>
              <a:rPr lang="es-ES" sz="2800" b="1" dirty="0">
                <a:latin typeface="Montserrat" pitchFamily="2" charset="0"/>
              </a:rPr>
              <a:t>CREAR LIGAS - PREMISA</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5213398" y="241540"/>
            <a:ext cx="697859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0" name="CuadroTexto 19">
            <a:extLst>
              <a:ext uri="{FF2B5EF4-FFF2-40B4-BE49-F238E27FC236}">
                <a16:creationId xmlns:a16="http://schemas.microsoft.com/office/drawing/2014/main" id="{6EC77D6E-5883-E2C4-DE6F-DC4800B7FDBB}"/>
              </a:ext>
            </a:extLst>
          </p:cNvPr>
          <p:cNvSpPr txBox="1"/>
          <p:nvPr/>
        </p:nvSpPr>
        <p:spPr>
          <a:xfrm>
            <a:off x="478162" y="1069795"/>
            <a:ext cx="5472342" cy="4708981"/>
          </a:xfrm>
          <a:prstGeom prst="rect">
            <a:avLst/>
          </a:prstGeom>
          <a:noFill/>
        </p:spPr>
        <p:txBody>
          <a:bodyPr wrap="square">
            <a:spAutoFit/>
          </a:bodyPr>
          <a:lstStyle/>
          <a:p>
            <a:pPr algn="just"/>
            <a:r>
              <a:rPr lang="es-ES_tradnl" sz="2000" b="1" dirty="0">
                <a:solidFill>
                  <a:schemeClr val="accent6"/>
                </a:solidFill>
              </a:rPr>
              <a:t>Tipo de horario principal: Teoría</a:t>
            </a:r>
          </a:p>
          <a:p>
            <a:pPr marL="285750" indent="-285750" algn="just">
              <a:buClr>
                <a:schemeClr val="accent6"/>
              </a:buClr>
              <a:buFont typeface="Wingdings" panose="05000000000000000000" pitchFamily="2" charset="2"/>
              <a:buChar char="§"/>
            </a:pPr>
            <a:r>
              <a:rPr lang="es-CL" sz="1600" dirty="0">
                <a:solidFill>
                  <a:schemeClr val="tx2"/>
                </a:solidFill>
              </a:rPr>
              <a:t>L</a:t>
            </a:r>
            <a:r>
              <a:rPr lang="es-CL" sz="1600" dirty="0"/>
              <a:t>os NRC deben </a:t>
            </a:r>
            <a:r>
              <a:rPr lang="es-CL" sz="1600" b="1" dirty="0"/>
              <a:t>tener las horas créditos totales</a:t>
            </a:r>
            <a:r>
              <a:rPr lang="es-CL" sz="1600" dirty="0"/>
              <a:t> que corresponden. (Por ejemplo: 4   créditos según definición de SCACRSE)</a:t>
            </a:r>
          </a:p>
          <a:p>
            <a:pPr marL="285750" indent="-285750" algn="just">
              <a:buClr>
                <a:schemeClr val="accent6"/>
              </a:buClr>
              <a:buFont typeface="Wingdings" panose="05000000000000000000" pitchFamily="2" charset="2"/>
              <a:buChar char="§"/>
            </a:pPr>
            <a:r>
              <a:rPr lang="es-CL" sz="1600" dirty="0"/>
              <a:t> Debe estar </a:t>
            </a:r>
            <a:r>
              <a:rPr lang="es-CL" sz="1600" b="1" dirty="0"/>
              <a:t>marcado</a:t>
            </a:r>
            <a:r>
              <a:rPr lang="es-CL" sz="1600" dirty="0"/>
              <a:t> el </a:t>
            </a:r>
            <a:r>
              <a:rPr lang="es-CL" sz="1600" b="1" dirty="0" err="1">
                <a:solidFill>
                  <a:schemeClr val="accent6"/>
                </a:solidFill>
              </a:rPr>
              <a:t>flag</a:t>
            </a:r>
            <a:r>
              <a:rPr lang="es-CL" sz="1600" b="1" dirty="0">
                <a:solidFill>
                  <a:schemeClr val="accent6"/>
                </a:solidFill>
              </a:rPr>
              <a:t> de Calificable</a:t>
            </a:r>
            <a:r>
              <a:rPr lang="es-CL" sz="1600" dirty="0"/>
              <a:t>.</a:t>
            </a:r>
            <a:endParaRPr lang="es-CL" sz="1600" b="1" dirty="0"/>
          </a:p>
          <a:p>
            <a:pPr marL="285750" indent="-285750" algn="just">
              <a:buClr>
                <a:schemeClr val="accent6"/>
              </a:buClr>
              <a:buFont typeface="Wingdings" panose="05000000000000000000" pitchFamily="2" charset="2"/>
              <a:buChar char="§"/>
            </a:pPr>
            <a:r>
              <a:rPr lang="es-CL" sz="1600" b="1" dirty="0"/>
              <a:t>No debe estar marcado</a:t>
            </a:r>
            <a:r>
              <a:rPr lang="es-CL" sz="1600" dirty="0"/>
              <a:t> el </a:t>
            </a:r>
            <a:r>
              <a:rPr lang="es-CL" sz="1600" b="1" dirty="0" err="1">
                <a:solidFill>
                  <a:schemeClr val="accent6"/>
                </a:solidFill>
              </a:rPr>
              <a:t>flag</a:t>
            </a:r>
            <a:r>
              <a:rPr lang="es-CL" sz="1600" b="1" dirty="0">
                <a:solidFill>
                  <a:schemeClr val="accent6"/>
                </a:solidFill>
              </a:rPr>
              <a:t> de </a:t>
            </a:r>
            <a:r>
              <a:rPr lang="es-CO" sz="1600" b="1" dirty="0">
                <a:solidFill>
                  <a:schemeClr val="accent6"/>
                </a:solidFill>
              </a:rPr>
              <a:t>Dispensa de colegiatura y cuotas</a:t>
            </a:r>
            <a:r>
              <a:rPr lang="es-CO" sz="1600" dirty="0"/>
              <a:t> para que se incluya los créditos en el total de créditos a cobrar.</a:t>
            </a:r>
          </a:p>
          <a:p>
            <a:pPr algn="just"/>
            <a:br>
              <a:rPr lang="es-CL" sz="1600" dirty="0"/>
            </a:br>
            <a:r>
              <a:rPr lang="es-ES_tradnl" sz="2000" b="1" dirty="0">
                <a:solidFill>
                  <a:schemeClr val="accent6"/>
                </a:solidFill>
              </a:rPr>
              <a:t>Tipo de horario diferente al principal: Laboratorio</a:t>
            </a:r>
          </a:p>
          <a:p>
            <a:pPr marL="285750" indent="-285750" algn="just">
              <a:buClr>
                <a:schemeClr val="accent6"/>
              </a:buClr>
              <a:buFont typeface="Wingdings" panose="05000000000000000000" pitchFamily="2" charset="2"/>
              <a:buChar char="§"/>
            </a:pPr>
            <a:r>
              <a:rPr lang="es-CL" sz="1600" dirty="0">
                <a:solidFill>
                  <a:schemeClr val="tx2"/>
                </a:solidFill>
              </a:rPr>
              <a:t>L</a:t>
            </a:r>
            <a:r>
              <a:rPr lang="es-CL" sz="1600" dirty="0"/>
              <a:t>os NRC en el campo de </a:t>
            </a:r>
            <a:r>
              <a:rPr lang="es-CL" sz="1600" b="1" dirty="0"/>
              <a:t>horas crédito deberían estar con cero (0)</a:t>
            </a:r>
            <a:r>
              <a:rPr lang="es-CL" sz="1600" dirty="0"/>
              <a:t> para que no se sumen en el total de créditos inscritos.</a:t>
            </a:r>
          </a:p>
          <a:p>
            <a:pPr marL="285750" indent="-285750" algn="just">
              <a:buClr>
                <a:schemeClr val="accent6"/>
              </a:buClr>
              <a:buFont typeface="Wingdings" panose="05000000000000000000" pitchFamily="2" charset="2"/>
              <a:buChar char="§"/>
            </a:pPr>
            <a:r>
              <a:rPr lang="es-CL" sz="1600" b="1" dirty="0"/>
              <a:t>No debe estar marcado</a:t>
            </a:r>
            <a:r>
              <a:rPr lang="es-CL" sz="1600" dirty="0"/>
              <a:t> el </a:t>
            </a:r>
            <a:r>
              <a:rPr lang="es-CL" sz="1600" b="1" dirty="0" err="1">
                <a:solidFill>
                  <a:schemeClr val="accent6"/>
                </a:solidFill>
              </a:rPr>
              <a:t>flag</a:t>
            </a:r>
            <a:r>
              <a:rPr lang="es-CL" sz="1600" b="1" dirty="0">
                <a:solidFill>
                  <a:schemeClr val="accent6"/>
                </a:solidFill>
              </a:rPr>
              <a:t> de Calificable</a:t>
            </a:r>
            <a:r>
              <a:rPr lang="es-CL" sz="1600" dirty="0"/>
              <a:t>.</a:t>
            </a:r>
          </a:p>
          <a:p>
            <a:pPr marL="285750" indent="-285750" algn="just">
              <a:buClr>
                <a:schemeClr val="accent6"/>
              </a:buClr>
              <a:buFont typeface="Wingdings" panose="05000000000000000000" pitchFamily="2" charset="2"/>
              <a:buChar char="§"/>
            </a:pPr>
            <a:r>
              <a:rPr lang="es-CL" sz="1600" dirty="0"/>
              <a:t>Debe estar </a:t>
            </a:r>
            <a:r>
              <a:rPr lang="es-CL" sz="1600" b="1" dirty="0"/>
              <a:t>marcado</a:t>
            </a:r>
            <a:r>
              <a:rPr lang="es-CL" sz="1600" dirty="0"/>
              <a:t> el </a:t>
            </a:r>
            <a:r>
              <a:rPr lang="es-CL" sz="1600" b="1" dirty="0" err="1">
                <a:solidFill>
                  <a:schemeClr val="accent6"/>
                </a:solidFill>
              </a:rPr>
              <a:t>flag</a:t>
            </a:r>
            <a:r>
              <a:rPr lang="es-CL" sz="1600" b="1" dirty="0">
                <a:solidFill>
                  <a:schemeClr val="accent6"/>
                </a:solidFill>
              </a:rPr>
              <a:t> de </a:t>
            </a:r>
            <a:r>
              <a:rPr lang="es-CO" sz="1600" b="1" dirty="0">
                <a:solidFill>
                  <a:schemeClr val="accent6"/>
                </a:solidFill>
              </a:rPr>
              <a:t>Dispensa de colegiatura y cuotas</a:t>
            </a:r>
            <a:r>
              <a:rPr lang="es-CO" sz="1600" dirty="0"/>
              <a:t> para que NO se incluya los créditos en el total de créditos a cobrar.</a:t>
            </a:r>
          </a:p>
        </p:txBody>
      </p:sp>
      <p:pic>
        <p:nvPicPr>
          <p:cNvPr id="13" name="Imagen 12">
            <a:extLst>
              <a:ext uri="{FF2B5EF4-FFF2-40B4-BE49-F238E27FC236}">
                <a16:creationId xmlns:a16="http://schemas.microsoft.com/office/drawing/2014/main" id="{FA324734-DB66-CCC8-8335-4D2DA5DEE9FB}"/>
              </a:ext>
            </a:extLst>
          </p:cNvPr>
          <p:cNvPicPr>
            <a:picLocks noChangeAspect="1"/>
          </p:cNvPicPr>
          <p:nvPr/>
        </p:nvPicPr>
        <p:blipFill>
          <a:blip r:embed="rId4"/>
          <a:stretch>
            <a:fillRect/>
          </a:stretch>
        </p:blipFill>
        <p:spPr>
          <a:xfrm>
            <a:off x="6096000" y="1734500"/>
            <a:ext cx="5910829" cy="3143259"/>
          </a:xfrm>
          <a:prstGeom prst="rect">
            <a:avLst/>
          </a:prstGeom>
        </p:spPr>
      </p:pic>
      <p:sp>
        <p:nvSpPr>
          <p:cNvPr id="9" name="Rectángulo 8">
            <a:extLst>
              <a:ext uri="{FF2B5EF4-FFF2-40B4-BE49-F238E27FC236}">
                <a16:creationId xmlns:a16="http://schemas.microsoft.com/office/drawing/2014/main" id="{3B29A7BC-19DA-22EB-EAF9-7D5BA8B1DE13}"/>
              </a:ext>
            </a:extLst>
          </p:cNvPr>
          <p:cNvSpPr/>
          <p:nvPr/>
        </p:nvSpPr>
        <p:spPr>
          <a:xfrm>
            <a:off x="6096000" y="2599282"/>
            <a:ext cx="5923472" cy="111731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13">
            <a:extLst>
              <a:ext uri="{FF2B5EF4-FFF2-40B4-BE49-F238E27FC236}">
                <a16:creationId xmlns:a16="http://schemas.microsoft.com/office/drawing/2014/main" id="{02B82AE6-E308-E0BB-D692-A2E7417B4CC5}"/>
              </a:ext>
            </a:extLst>
          </p:cNvPr>
          <p:cNvSpPr/>
          <p:nvPr/>
        </p:nvSpPr>
        <p:spPr>
          <a:xfrm>
            <a:off x="9469679" y="4315012"/>
            <a:ext cx="158503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Tree>
    <p:extLst>
      <p:ext uri="{BB962C8B-B14F-4D97-AF65-F5344CB8AC3E}">
        <p14:creationId xmlns:p14="http://schemas.microsoft.com/office/powerpoint/2010/main" val="82475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fade">
                                      <p:cBhvr>
                                        <p:cTn id="14" dur="500"/>
                                        <p:tgtEl>
                                          <p:spTgt spid="20">
                                            <p:txEl>
                                              <p:pRg st="0" end="0"/>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0">
                                            <p:txEl>
                                              <p:pRg st="1" end="1"/>
                                            </p:txEl>
                                          </p:spTgt>
                                        </p:tgtEl>
                                        <p:attrNameLst>
                                          <p:attrName>style.visibility</p:attrName>
                                        </p:attrNameLst>
                                      </p:cBhvr>
                                      <p:to>
                                        <p:strVal val="visible"/>
                                      </p:to>
                                    </p:set>
                                    <p:animEffect transition="in" filter="fade">
                                      <p:cBhvr>
                                        <p:cTn id="18" dur="500"/>
                                        <p:tgtEl>
                                          <p:spTgt spid="20">
                                            <p:txEl>
                                              <p:pRg st="1" end="1"/>
                                            </p:txEl>
                                          </p:spTgt>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0">
                                            <p:txEl>
                                              <p:pRg st="2" end="2"/>
                                            </p:txEl>
                                          </p:spTgt>
                                        </p:tgtEl>
                                        <p:attrNameLst>
                                          <p:attrName>style.visibility</p:attrName>
                                        </p:attrNameLst>
                                      </p:cBhvr>
                                      <p:to>
                                        <p:strVal val="visible"/>
                                      </p:to>
                                    </p:set>
                                    <p:animEffect transition="in" filter="fade">
                                      <p:cBhvr>
                                        <p:cTn id="22" dur="500"/>
                                        <p:tgtEl>
                                          <p:spTgt spid="20">
                                            <p:txEl>
                                              <p:pRg st="2" end="2"/>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20">
                                            <p:txEl>
                                              <p:pRg st="3" end="3"/>
                                            </p:txEl>
                                          </p:spTgt>
                                        </p:tgtEl>
                                        <p:attrNameLst>
                                          <p:attrName>style.visibility</p:attrName>
                                        </p:attrNameLst>
                                      </p:cBhvr>
                                      <p:to>
                                        <p:strVal val="visible"/>
                                      </p:to>
                                    </p:set>
                                    <p:animEffect transition="in" filter="fade">
                                      <p:cBhvr>
                                        <p:cTn id="26" dur="500"/>
                                        <p:tgtEl>
                                          <p:spTgt spid="20">
                                            <p:txEl>
                                              <p:pRg st="3" end="3"/>
                                            </p:txEl>
                                          </p:spTgt>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20">
                                            <p:txEl>
                                              <p:pRg st="4" end="4"/>
                                            </p:txEl>
                                          </p:spTgt>
                                        </p:tgtEl>
                                        <p:attrNameLst>
                                          <p:attrName>style.visibility</p:attrName>
                                        </p:attrNameLst>
                                      </p:cBhvr>
                                      <p:to>
                                        <p:strVal val="visible"/>
                                      </p:to>
                                    </p:set>
                                    <p:animEffect transition="in" filter="fade">
                                      <p:cBhvr>
                                        <p:cTn id="30" dur="500"/>
                                        <p:tgtEl>
                                          <p:spTgt spid="20">
                                            <p:txEl>
                                              <p:pRg st="4" end="4"/>
                                            </p:txEl>
                                          </p:spTgt>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20">
                                            <p:txEl>
                                              <p:pRg st="5" end="5"/>
                                            </p:txEl>
                                          </p:spTgt>
                                        </p:tgtEl>
                                        <p:attrNameLst>
                                          <p:attrName>style.visibility</p:attrName>
                                        </p:attrNameLst>
                                      </p:cBhvr>
                                      <p:to>
                                        <p:strVal val="visible"/>
                                      </p:to>
                                    </p:set>
                                    <p:animEffect transition="in" filter="fade">
                                      <p:cBhvr>
                                        <p:cTn id="34" dur="500"/>
                                        <p:tgtEl>
                                          <p:spTgt spid="20">
                                            <p:txEl>
                                              <p:pRg st="5" end="5"/>
                                            </p:txEl>
                                          </p:spTgt>
                                        </p:tgtEl>
                                      </p:cBhvr>
                                    </p:animEffect>
                                  </p:childTnLst>
                                </p:cTn>
                              </p:par>
                            </p:childTnLst>
                          </p:cTn>
                        </p:par>
                        <p:par>
                          <p:cTn id="35" fill="hold">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20">
                                            <p:txEl>
                                              <p:pRg st="6" end="6"/>
                                            </p:txEl>
                                          </p:spTgt>
                                        </p:tgtEl>
                                        <p:attrNameLst>
                                          <p:attrName>style.visibility</p:attrName>
                                        </p:attrNameLst>
                                      </p:cBhvr>
                                      <p:to>
                                        <p:strVal val="visible"/>
                                      </p:to>
                                    </p:set>
                                    <p:animEffect transition="in" filter="fade">
                                      <p:cBhvr>
                                        <p:cTn id="38" dur="500"/>
                                        <p:tgtEl>
                                          <p:spTgt spid="20">
                                            <p:txEl>
                                              <p:pRg st="6" end="6"/>
                                            </p:txEl>
                                          </p:spTgt>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20">
                                            <p:txEl>
                                              <p:pRg st="7" end="7"/>
                                            </p:txEl>
                                          </p:spTgt>
                                        </p:tgtEl>
                                        <p:attrNameLst>
                                          <p:attrName>style.visibility</p:attrName>
                                        </p:attrNameLst>
                                      </p:cBhvr>
                                      <p:to>
                                        <p:strVal val="visible"/>
                                      </p:to>
                                    </p:set>
                                    <p:animEffect transition="in" filter="fade">
                                      <p:cBhvr>
                                        <p:cTn id="42" dur="500"/>
                                        <p:tgtEl>
                                          <p:spTgt spid="20">
                                            <p:txEl>
                                              <p:pRg st="7" end="7"/>
                                            </p:txEl>
                                          </p:spTgt>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par>
                          <p:cTn id="47" fill="hold">
                            <p:stCondLst>
                              <p:cond delay="5000"/>
                            </p:stCondLst>
                            <p:childTnLst>
                              <p:par>
                                <p:cTn id="48" presetID="21" presetClass="entr" presetSubtype="1"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heel(1)">
                                      <p:cBhvr>
                                        <p:cTn id="50" dur="2000"/>
                                        <p:tgtEl>
                                          <p:spTgt spid="9"/>
                                        </p:tgtEl>
                                      </p:cBhvr>
                                    </p:animEffect>
                                  </p:childTnLst>
                                </p:cTn>
                              </p:par>
                            </p:childTnLst>
                          </p:cTn>
                        </p:par>
                        <p:par>
                          <p:cTn id="51" fill="hold">
                            <p:stCondLst>
                              <p:cond delay="7000"/>
                            </p:stCondLst>
                            <p:childTnLst>
                              <p:par>
                                <p:cTn id="52" presetID="21" presetClass="entr" presetSubtype="1"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heel(1)">
                                      <p:cBhvr>
                                        <p:cTn id="54"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0" grpId="0" uiExpand="1" build="p"/>
      <p:bldP spid="9"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869188" cy="523220"/>
          </a:xfrm>
          <a:prstGeom prst="rect">
            <a:avLst/>
          </a:prstGeom>
          <a:noFill/>
        </p:spPr>
        <p:txBody>
          <a:bodyPr wrap="none" rtlCol="0">
            <a:spAutoFit/>
          </a:bodyPr>
          <a:lstStyle/>
          <a:p>
            <a:r>
              <a:rPr lang="es-ES" sz="2800" b="1" dirty="0">
                <a:latin typeface="Montserrat" pitchFamily="2" charset="0"/>
              </a:rPr>
              <a:t>IDENTIFICADOR DE LIGA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300508" y="241540"/>
            <a:ext cx="489148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02475C2C-D3E6-7E87-EA10-F433F50BD68B}"/>
              </a:ext>
            </a:extLst>
          </p:cNvPr>
          <p:cNvPicPr>
            <a:picLocks noChangeAspect="1"/>
          </p:cNvPicPr>
          <p:nvPr/>
        </p:nvPicPr>
        <p:blipFill>
          <a:blip r:embed="rId5"/>
          <a:stretch>
            <a:fillRect/>
          </a:stretch>
        </p:blipFill>
        <p:spPr>
          <a:xfrm>
            <a:off x="431320" y="932476"/>
            <a:ext cx="11545293" cy="4879225"/>
          </a:xfrm>
          <a:prstGeom prst="rect">
            <a:avLst/>
          </a:prstGeom>
        </p:spPr>
      </p:pic>
      <p:sp>
        <p:nvSpPr>
          <p:cNvPr id="9" name="Rectángulo 8">
            <a:extLst>
              <a:ext uri="{FF2B5EF4-FFF2-40B4-BE49-F238E27FC236}">
                <a16:creationId xmlns:a16="http://schemas.microsoft.com/office/drawing/2014/main" id="{EFF855A6-C5E7-24CA-A3E2-3558D858EA9B}"/>
              </a:ext>
            </a:extLst>
          </p:cNvPr>
          <p:cNvSpPr/>
          <p:nvPr/>
        </p:nvSpPr>
        <p:spPr>
          <a:xfrm>
            <a:off x="441152" y="1453826"/>
            <a:ext cx="1505635" cy="23732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55270CC5-4728-AE8C-364A-72248BACEDF2}"/>
              </a:ext>
            </a:extLst>
          </p:cNvPr>
          <p:cNvSpPr/>
          <p:nvPr/>
        </p:nvSpPr>
        <p:spPr>
          <a:xfrm>
            <a:off x="2052625" y="145382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BC866614-CE61-50F4-077A-8DC2FE47FFF5}"/>
              </a:ext>
            </a:extLst>
          </p:cNvPr>
          <p:cNvSpPr txBox="1"/>
          <p:nvPr/>
        </p:nvSpPr>
        <p:spPr>
          <a:xfrm>
            <a:off x="2365428" y="1413266"/>
            <a:ext cx="3730572" cy="287715"/>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de </a:t>
            </a:r>
            <a:r>
              <a:rPr lang="es-ES" sz="1200" b="1" dirty="0">
                <a:solidFill>
                  <a:srgbClr val="92D050"/>
                </a:solidFill>
              </a:rPr>
              <a:t>Información de sección de curso</a:t>
            </a:r>
          </a:p>
        </p:txBody>
      </p:sp>
      <p:sp>
        <p:nvSpPr>
          <p:cNvPr id="13" name="Rectángulo 12">
            <a:extLst>
              <a:ext uri="{FF2B5EF4-FFF2-40B4-BE49-F238E27FC236}">
                <a16:creationId xmlns:a16="http://schemas.microsoft.com/office/drawing/2014/main" id="{95D81E4B-619B-388F-8CC9-69A29B752CC9}"/>
              </a:ext>
            </a:extLst>
          </p:cNvPr>
          <p:cNvSpPr/>
          <p:nvPr/>
        </p:nvSpPr>
        <p:spPr>
          <a:xfrm>
            <a:off x="1407638" y="4175650"/>
            <a:ext cx="64498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E70B5287-FF77-2CF5-18ED-EC73557B7292}"/>
              </a:ext>
            </a:extLst>
          </p:cNvPr>
          <p:cNvSpPr/>
          <p:nvPr/>
        </p:nvSpPr>
        <p:spPr>
          <a:xfrm>
            <a:off x="1622302" y="384321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cxnSp>
        <p:nvCxnSpPr>
          <p:cNvPr id="18" name="Conector recto de flecha 17">
            <a:extLst>
              <a:ext uri="{FF2B5EF4-FFF2-40B4-BE49-F238E27FC236}">
                <a16:creationId xmlns:a16="http://schemas.microsoft.com/office/drawing/2014/main" id="{668009EA-5057-D013-12A8-1FFBA5C1EBEA}"/>
              </a:ext>
            </a:extLst>
          </p:cNvPr>
          <p:cNvCxnSpPr/>
          <p:nvPr/>
        </p:nvCxnSpPr>
        <p:spPr>
          <a:xfrm flipV="1">
            <a:off x="2052625" y="2389239"/>
            <a:ext cx="3099478" cy="1786411"/>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9" name="Rectángulo 18">
            <a:extLst>
              <a:ext uri="{FF2B5EF4-FFF2-40B4-BE49-F238E27FC236}">
                <a16:creationId xmlns:a16="http://schemas.microsoft.com/office/drawing/2014/main" id="{7BEFBEA2-A4FC-607B-F34C-7F6EA09B61FB}"/>
              </a:ext>
            </a:extLst>
          </p:cNvPr>
          <p:cNvSpPr/>
          <p:nvPr/>
        </p:nvSpPr>
        <p:spPr>
          <a:xfrm>
            <a:off x="5152103" y="2193238"/>
            <a:ext cx="64498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CuadroTexto 20">
            <a:extLst>
              <a:ext uri="{FF2B5EF4-FFF2-40B4-BE49-F238E27FC236}">
                <a16:creationId xmlns:a16="http://schemas.microsoft.com/office/drawing/2014/main" id="{4B7E9AC0-C7E4-8D2A-B847-C7C72E1CEDC9}"/>
              </a:ext>
            </a:extLst>
          </p:cNvPr>
          <p:cNvSpPr txBox="1"/>
          <p:nvPr/>
        </p:nvSpPr>
        <p:spPr>
          <a:xfrm>
            <a:off x="172528" y="2638260"/>
            <a:ext cx="2606471" cy="1054953"/>
          </a:xfrm>
          <a:prstGeom prst="roundRect">
            <a:avLst>
              <a:gd name="adj" fmla="val 7573"/>
            </a:avLst>
          </a:prstGeom>
          <a:solidFill>
            <a:srgbClr val="7030A0"/>
          </a:solidFill>
        </p:spPr>
        <p:txBody>
          <a:bodyPr wrap="square">
            <a:spAutoFit/>
          </a:bodyPr>
          <a:lstStyle/>
          <a:p>
            <a:pPr algn="ctr"/>
            <a:r>
              <a:rPr lang="es-ES" sz="1000" dirty="0">
                <a:solidFill>
                  <a:srgbClr val="FFFFFF"/>
                </a:solidFill>
              </a:rPr>
              <a:t>En el campo </a:t>
            </a:r>
            <a:r>
              <a:rPr lang="es-ES" sz="1000" b="1" dirty="0">
                <a:solidFill>
                  <a:srgbClr val="92D050"/>
                </a:solidFill>
              </a:rPr>
              <a:t>Identificador de liga</a:t>
            </a:r>
            <a:r>
              <a:rPr lang="es-ES" sz="1000" dirty="0">
                <a:solidFill>
                  <a:schemeClr val="bg1"/>
                </a:solidFill>
              </a:rPr>
              <a:t> adiciona el nombre de la liga (Campo de 2 caracteres)</a:t>
            </a:r>
          </a:p>
          <a:p>
            <a:pPr algn="ctr"/>
            <a:r>
              <a:rPr lang="es-ES" sz="1000" dirty="0">
                <a:solidFill>
                  <a:schemeClr val="bg1"/>
                </a:solidFill>
              </a:rPr>
              <a:t>El nombre de la liga debe hacer referencia al tipo de horario.</a:t>
            </a:r>
          </a:p>
          <a:p>
            <a:pPr algn="ctr"/>
            <a:r>
              <a:rPr lang="es-ES" sz="1000" dirty="0">
                <a:solidFill>
                  <a:schemeClr val="bg1"/>
                </a:solidFill>
              </a:rPr>
              <a:t>Liga TE del tipo de horario TEO – Teoría</a:t>
            </a:r>
          </a:p>
        </p:txBody>
      </p:sp>
      <p:graphicFrame>
        <p:nvGraphicFramePr>
          <p:cNvPr id="22" name="Tabla 21">
            <a:extLst>
              <a:ext uri="{FF2B5EF4-FFF2-40B4-BE49-F238E27FC236}">
                <a16:creationId xmlns:a16="http://schemas.microsoft.com/office/drawing/2014/main" id="{548A70F6-150F-1687-3B2A-8259FC705B0E}"/>
              </a:ext>
            </a:extLst>
          </p:cNvPr>
          <p:cNvGraphicFramePr>
            <a:graphicFrameLocks noGrp="1"/>
          </p:cNvGraphicFramePr>
          <p:nvPr>
            <p:extLst>
              <p:ext uri="{D42A27DB-BD31-4B8C-83A1-F6EECF244321}">
                <p14:modId xmlns:p14="http://schemas.microsoft.com/office/powerpoint/2010/main" val="1931550456"/>
              </p:ext>
            </p:extLst>
          </p:nvPr>
        </p:nvGraphicFramePr>
        <p:xfrm>
          <a:off x="1455175" y="4630357"/>
          <a:ext cx="8667137" cy="1381760"/>
        </p:xfrm>
        <a:graphic>
          <a:graphicData uri="http://schemas.openxmlformats.org/drawingml/2006/table">
            <a:tbl>
              <a:tblPr firstRow="1" bandRow="1">
                <a:tableStyleId>{93296810-A885-4BE3-A3E7-6D5BEEA58F35}</a:tableStyleId>
              </a:tblPr>
              <a:tblGrid>
                <a:gridCol w="1321456">
                  <a:extLst>
                    <a:ext uri="{9D8B030D-6E8A-4147-A177-3AD203B41FA5}">
                      <a16:colId xmlns:a16="http://schemas.microsoft.com/office/drawing/2014/main" val="16898619"/>
                    </a:ext>
                  </a:extLst>
                </a:gridCol>
                <a:gridCol w="1321456">
                  <a:extLst>
                    <a:ext uri="{9D8B030D-6E8A-4147-A177-3AD203B41FA5}">
                      <a16:colId xmlns:a16="http://schemas.microsoft.com/office/drawing/2014/main" val="824824289"/>
                    </a:ext>
                  </a:extLst>
                </a:gridCol>
                <a:gridCol w="1321456">
                  <a:extLst>
                    <a:ext uri="{9D8B030D-6E8A-4147-A177-3AD203B41FA5}">
                      <a16:colId xmlns:a16="http://schemas.microsoft.com/office/drawing/2014/main" val="3398822324"/>
                    </a:ext>
                  </a:extLst>
                </a:gridCol>
                <a:gridCol w="1321456">
                  <a:extLst>
                    <a:ext uri="{9D8B030D-6E8A-4147-A177-3AD203B41FA5}">
                      <a16:colId xmlns:a16="http://schemas.microsoft.com/office/drawing/2014/main" val="2312879742"/>
                    </a:ext>
                  </a:extLst>
                </a:gridCol>
                <a:gridCol w="1321456">
                  <a:extLst>
                    <a:ext uri="{9D8B030D-6E8A-4147-A177-3AD203B41FA5}">
                      <a16:colId xmlns:a16="http://schemas.microsoft.com/office/drawing/2014/main" val="3638916652"/>
                    </a:ext>
                  </a:extLst>
                </a:gridCol>
                <a:gridCol w="2059857">
                  <a:extLst>
                    <a:ext uri="{9D8B030D-6E8A-4147-A177-3AD203B41FA5}">
                      <a16:colId xmlns:a16="http://schemas.microsoft.com/office/drawing/2014/main" val="1038382377"/>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tc>
                  <a:txBody>
                    <a:bodyPr/>
                    <a:lstStyle/>
                    <a:p>
                      <a:pPr algn="ctr"/>
                      <a:r>
                        <a:rPr lang="es-ES" dirty="0"/>
                        <a:t>NRC</a:t>
                      </a:r>
                      <a:endParaRPr lang="es-PE" dirty="0"/>
                    </a:p>
                  </a:txBody>
                  <a:tcPr anchor="ctr">
                    <a:solidFill>
                      <a:schemeClr val="tx1">
                        <a:lumMod val="85000"/>
                        <a:lumOff val="15000"/>
                      </a:schemeClr>
                    </a:solidFill>
                  </a:tcPr>
                </a:tc>
                <a:tc>
                  <a:txBody>
                    <a:bodyPr/>
                    <a:lstStyle/>
                    <a:p>
                      <a:pPr algn="ctr"/>
                      <a:r>
                        <a:rPr lang="es-ES" dirty="0"/>
                        <a:t>Identificador de liga SSASECT</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1020</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1022</a:t>
                      </a:r>
                      <a:endParaRPr lang="es-PE" dirty="0"/>
                    </a:p>
                  </a:txBody>
                  <a:tcPr anchor="ctr"/>
                </a:tc>
                <a:tc>
                  <a:txBody>
                    <a:bodyPr/>
                    <a:lstStyle/>
                    <a:p>
                      <a:pPr algn="ctr"/>
                      <a:r>
                        <a:rPr lang="es-ES" dirty="0"/>
                        <a:t>PR</a:t>
                      </a:r>
                      <a:endParaRPr lang="es-PE" dirty="0"/>
                    </a:p>
                  </a:txBody>
                  <a:tcPr anchor="ctr"/>
                </a:tc>
                <a:extLst>
                  <a:ext uri="{0D108BD9-81ED-4DB2-BD59-A6C34878D82A}">
                    <a16:rowId xmlns:a16="http://schemas.microsoft.com/office/drawing/2014/main" val="683514150"/>
                  </a:ext>
                </a:extLst>
              </a:tr>
            </a:tbl>
          </a:graphicData>
        </a:graphic>
      </p:graphicFrame>
      <p:sp>
        <p:nvSpPr>
          <p:cNvPr id="24" name="Rectángulo 23">
            <a:extLst>
              <a:ext uri="{FF2B5EF4-FFF2-40B4-BE49-F238E27FC236}">
                <a16:creationId xmlns:a16="http://schemas.microsoft.com/office/drawing/2014/main" id="{BB04A691-D410-F5C6-1F95-1084A9385F62}"/>
              </a:ext>
            </a:extLst>
          </p:cNvPr>
          <p:cNvSpPr/>
          <p:nvPr/>
        </p:nvSpPr>
        <p:spPr>
          <a:xfrm>
            <a:off x="5427408" y="5312745"/>
            <a:ext cx="4709651" cy="35063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5" name="Rectángulo 24">
            <a:extLst>
              <a:ext uri="{FF2B5EF4-FFF2-40B4-BE49-F238E27FC236}">
                <a16:creationId xmlns:a16="http://schemas.microsoft.com/office/drawing/2014/main" id="{E49B45D1-59C2-FE94-A9E1-F464815E0980}"/>
              </a:ext>
            </a:extLst>
          </p:cNvPr>
          <p:cNvSpPr/>
          <p:nvPr/>
        </p:nvSpPr>
        <p:spPr>
          <a:xfrm>
            <a:off x="11354218" y="5430976"/>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6" name="Rectángulo: esquinas redondeadas 25">
            <a:extLst>
              <a:ext uri="{FF2B5EF4-FFF2-40B4-BE49-F238E27FC236}">
                <a16:creationId xmlns:a16="http://schemas.microsoft.com/office/drawing/2014/main" id="{298716F7-D925-300D-CF71-D7CDE93AF082}"/>
              </a:ext>
            </a:extLst>
          </p:cNvPr>
          <p:cNvSpPr/>
          <p:nvPr/>
        </p:nvSpPr>
        <p:spPr>
          <a:xfrm>
            <a:off x="11545020" y="508846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3</a:t>
            </a:r>
            <a:endParaRPr lang="es-PE" sz="1100" b="1" dirty="0"/>
          </a:p>
        </p:txBody>
      </p:sp>
      <p:sp>
        <p:nvSpPr>
          <p:cNvPr id="27" name="CuadroTexto 26">
            <a:extLst>
              <a:ext uri="{FF2B5EF4-FFF2-40B4-BE49-F238E27FC236}">
                <a16:creationId xmlns:a16="http://schemas.microsoft.com/office/drawing/2014/main" id="{44829D4C-51B1-2E7A-B313-9C1762DE0846}"/>
              </a:ext>
            </a:extLst>
          </p:cNvPr>
          <p:cNvSpPr txBox="1"/>
          <p:nvPr/>
        </p:nvSpPr>
        <p:spPr>
          <a:xfrm>
            <a:off x="10555303" y="4012758"/>
            <a:ext cx="1483278"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4084175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par>
                          <p:cTn id="14" fill="hold">
                            <p:stCondLst>
                              <p:cond delay="500"/>
                            </p:stCondLst>
                            <p:childTnLst>
                              <p:par>
                                <p:cTn id="15" presetID="21" presetClass="entr" presetSubtype="1"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heel(1)">
                                      <p:cBhvr>
                                        <p:cTn id="17" dur="2000"/>
                                        <p:tgtEl>
                                          <p:spTgt spid="9"/>
                                        </p:tgtEl>
                                      </p:cBhvr>
                                    </p:animEffect>
                                  </p:childTnLst>
                                </p:cTn>
                              </p:par>
                            </p:childTnLst>
                          </p:cTn>
                        </p:par>
                        <p:par>
                          <p:cTn id="18" fill="hold">
                            <p:stCondLst>
                              <p:cond delay="2500"/>
                            </p:stCondLst>
                            <p:childTnLst>
                              <p:par>
                                <p:cTn id="19" presetID="53" presetClass="entr" presetSubtype="16"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500"/>
                            </p:stCondLst>
                            <p:childTnLst>
                              <p:par>
                                <p:cTn id="29" presetID="21" presetClass="entr" presetSubtype="1"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heel(1)">
                                      <p:cBhvr>
                                        <p:cTn id="31" dur="2000"/>
                                        <p:tgtEl>
                                          <p:spTgt spid="13"/>
                                        </p:tgtEl>
                                      </p:cBhvr>
                                    </p:animEffect>
                                  </p:childTnLst>
                                </p:cTn>
                              </p:par>
                            </p:childTnLst>
                          </p:cTn>
                        </p:par>
                        <p:par>
                          <p:cTn id="32" fill="hold">
                            <p:stCondLst>
                              <p:cond delay="5500"/>
                            </p:stCondLst>
                            <p:childTnLst>
                              <p:par>
                                <p:cTn id="33" presetID="53" presetClass="entr" presetSubtype="16"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par>
                          <p:cTn id="38" fill="hold">
                            <p:stCondLst>
                              <p:cond delay="60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6500"/>
                            </p:stCondLst>
                            <p:childTnLst>
                              <p:par>
                                <p:cTn id="43" presetID="21" presetClass="entr" presetSubtype="1" fill="hold" grpId="0"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heel(1)">
                                      <p:cBhvr>
                                        <p:cTn id="45" dur="2000"/>
                                        <p:tgtEl>
                                          <p:spTgt spid="19"/>
                                        </p:tgtEl>
                                      </p:cBhvr>
                                    </p:animEffect>
                                  </p:childTnLst>
                                </p:cTn>
                              </p:par>
                            </p:childTnLst>
                          </p:cTn>
                        </p:par>
                        <p:par>
                          <p:cTn id="46" fill="hold">
                            <p:stCondLst>
                              <p:cond delay="8500"/>
                            </p:stCondLst>
                            <p:childTnLst>
                              <p:par>
                                <p:cTn id="47" presetID="10" presetClass="entr" presetSubtype="0" fill="hold" grpId="0"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par>
                          <p:cTn id="50" fill="hold">
                            <p:stCondLst>
                              <p:cond delay="9000"/>
                            </p:stCondLst>
                            <p:childTnLst>
                              <p:par>
                                <p:cTn id="51" presetID="21" presetClass="entr" presetSubtype="1"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heel(1)">
                                      <p:cBhvr>
                                        <p:cTn id="53" dur="2000"/>
                                        <p:tgtEl>
                                          <p:spTgt spid="25"/>
                                        </p:tgtEl>
                                      </p:cBhvr>
                                    </p:animEffect>
                                  </p:childTnLst>
                                </p:cTn>
                              </p:par>
                            </p:childTnLst>
                          </p:cTn>
                        </p:par>
                        <p:par>
                          <p:cTn id="54" fill="hold">
                            <p:stCondLst>
                              <p:cond delay="11000"/>
                            </p:stCondLst>
                            <p:childTnLst>
                              <p:par>
                                <p:cTn id="55" presetID="53" presetClass="entr" presetSubtype="16" fill="hold" grpId="0" nodeType="after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p:cTn id="57" dur="500" fill="hold"/>
                                        <p:tgtEl>
                                          <p:spTgt spid="26"/>
                                        </p:tgtEl>
                                        <p:attrNameLst>
                                          <p:attrName>ppt_w</p:attrName>
                                        </p:attrNameLst>
                                      </p:cBhvr>
                                      <p:tavLst>
                                        <p:tav tm="0">
                                          <p:val>
                                            <p:fltVal val="0"/>
                                          </p:val>
                                        </p:tav>
                                        <p:tav tm="100000">
                                          <p:val>
                                            <p:strVal val="#ppt_w"/>
                                          </p:val>
                                        </p:tav>
                                      </p:tavLst>
                                    </p:anim>
                                    <p:anim calcmode="lin" valueType="num">
                                      <p:cBhvr>
                                        <p:cTn id="58" dur="500" fill="hold"/>
                                        <p:tgtEl>
                                          <p:spTgt spid="26"/>
                                        </p:tgtEl>
                                        <p:attrNameLst>
                                          <p:attrName>ppt_h</p:attrName>
                                        </p:attrNameLst>
                                      </p:cBhvr>
                                      <p:tavLst>
                                        <p:tav tm="0">
                                          <p:val>
                                            <p:fltVal val="0"/>
                                          </p:val>
                                        </p:tav>
                                        <p:tav tm="100000">
                                          <p:val>
                                            <p:strVal val="#ppt_h"/>
                                          </p:val>
                                        </p:tav>
                                      </p:tavLst>
                                    </p:anim>
                                    <p:animEffect transition="in" filter="fade">
                                      <p:cBhvr>
                                        <p:cTn id="59" dur="500"/>
                                        <p:tgtEl>
                                          <p:spTgt spid="26"/>
                                        </p:tgtEl>
                                      </p:cBhvr>
                                    </p:animEffect>
                                  </p:childTnLst>
                                </p:cTn>
                              </p:par>
                            </p:childTnLst>
                          </p:cTn>
                        </p:par>
                        <p:par>
                          <p:cTn id="60" fill="hold">
                            <p:stCondLst>
                              <p:cond delay="11500"/>
                            </p:stCondLst>
                            <p:childTnLst>
                              <p:par>
                                <p:cTn id="61" presetID="10" presetClass="entr" presetSubtype="0"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childTnLst>
                          </p:cTn>
                        </p:par>
                        <p:par>
                          <p:cTn id="64" fill="hold">
                            <p:stCondLst>
                              <p:cond delay="12000"/>
                            </p:stCondLst>
                            <p:childTnLst>
                              <p:par>
                                <p:cTn id="65" presetID="22" presetClass="entr" presetSubtype="1"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up)">
                                      <p:cBhvr>
                                        <p:cTn id="67" dur="500"/>
                                        <p:tgtEl>
                                          <p:spTgt spid="22"/>
                                        </p:tgtEl>
                                      </p:cBhvr>
                                    </p:animEffect>
                                  </p:childTnLst>
                                </p:cTn>
                              </p:par>
                            </p:childTnLst>
                          </p:cTn>
                        </p:par>
                        <p:par>
                          <p:cTn id="68" fill="hold">
                            <p:stCondLst>
                              <p:cond delay="12500"/>
                            </p:stCondLst>
                            <p:childTnLst>
                              <p:par>
                                <p:cTn id="69" presetID="21" presetClass="entr" presetSubtype="1"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wheel(1)">
                                      <p:cBhvr>
                                        <p:cTn id="71"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19" grpId="0" animBg="1"/>
      <p:bldP spid="21" grpId="0" animBg="1"/>
      <p:bldP spid="24" grpId="0" animBg="1"/>
      <p:bldP spid="25" grpId="0" animBg="1"/>
      <p:bldP spid="26" grpId="0" animBg="1"/>
      <p:bldP spid="2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6528802D-B253-979E-2E68-8D0936C0BAA8}"/>
              </a:ext>
            </a:extLst>
          </p:cNvPr>
          <p:cNvPicPr>
            <a:picLocks noChangeAspect="1"/>
          </p:cNvPicPr>
          <p:nvPr/>
        </p:nvPicPr>
        <p:blipFill>
          <a:blip r:embed="rId3"/>
          <a:stretch>
            <a:fillRect/>
          </a:stretch>
        </p:blipFill>
        <p:spPr>
          <a:xfrm>
            <a:off x="460816" y="913296"/>
            <a:ext cx="11535461" cy="4893104"/>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869188" cy="523220"/>
          </a:xfrm>
          <a:prstGeom prst="rect">
            <a:avLst/>
          </a:prstGeom>
          <a:noFill/>
        </p:spPr>
        <p:txBody>
          <a:bodyPr wrap="none" rtlCol="0">
            <a:spAutoFit/>
          </a:bodyPr>
          <a:lstStyle/>
          <a:p>
            <a:r>
              <a:rPr lang="es-ES" sz="2800" b="1" dirty="0">
                <a:latin typeface="Montserrat" pitchFamily="2" charset="0"/>
              </a:rPr>
              <a:t>IDENTIFICADOR DE LIGA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7300508" y="241540"/>
            <a:ext cx="4891489"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9" name="Rectángulo 8">
            <a:extLst>
              <a:ext uri="{FF2B5EF4-FFF2-40B4-BE49-F238E27FC236}">
                <a16:creationId xmlns:a16="http://schemas.microsoft.com/office/drawing/2014/main" id="{EFF855A6-C5E7-24CA-A3E2-3558D858EA9B}"/>
              </a:ext>
            </a:extLst>
          </p:cNvPr>
          <p:cNvSpPr/>
          <p:nvPr/>
        </p:nvSpPr>
        <p:spPr>
          <a:xfrm>
            <a:off x="441152" y="1463658"/>
            <a:ext cx="1505635" cy="23732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55270CC5-4728-AE8C-364A-72248BACEDF2}"/>
              </a:ext>
            </a:extLst>
          </p:cNvPr>
          <p:cNvSpPr/>
          <p:nvPr/>
        </p:nvSpPr>
        <p:spPr>
          <a:xfrm>
            <a:off x="2052625" y="146365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BC866614-CE61-50F4-077A-8DC2FE47FFF5}"/>
              </a:ext>
            </a:extLst>
          </p:cNvPr>
          <p:cNvSpPr txBox="1"/>
          <p:nvPr/>
        </p:nvSpPr>
        <p:spPr>
          <a:xfrm>
            <a:off x="2365428" y="1423098"/>
            <a:ext cx="3730572" cy="287715"/>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de </a:t>
            </a:r>
            <a:r>
              <a:rPr lang="es-ES" sz="1200" b="1" dirty="0">
                <a:solidFill>
                  <a:srgbClr val="92D050"/>
                </a:solidFill>
              </a:rPr>
              <a:t>Información de sección de curso</a:t>
            </a:r>
          </a:p>
        </p:txBody>
      </p:sp>
      <p:sp>
        <p:nvSpPr>
          <p:cNvPr id="13" name="Rectángulo 12">
            <a:extLst>
              <a:ext uri="{FF2B5EF4-FFF2-40B4-BE49-F238E27FC236}">
                <a16:creationId xmlns:a16="http://schemas.microsoft.com/office/drawing/2014/main" id="{95D81E4B-619B-388F-8CC9-69A29B752CC9}"/>
              </a:ext>
            </a:extLst>
          </p:cNvPr>
          <p:cNvSpPr/>
          <p:nvPr/>
        </p:nvSpPr>
        <p:spPr>
          <a:xfrm>
            <a:off x="1407638" y="4175650"/>
            <a:ext cx="64498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E70B5287-FF77-2CF5-18ED-EC73557B7292}"/>
              </a:ext>
            </a:extLst>
          </p:cNvPr>
          <p:cNvSpPr/>
          <p:nvPr/>
        </p:nvSpPr>
        <p:spPr>
          <a:xfrm>
            <a:off x="1622302" y="384321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cxnSp>
        <p:nvCxnSpPr>
          <p:cNvPr id="18" name="Conector recto de flecha 17">
            <a:extLst>
              <a:ext uri="{FF2B5EF4-FFF2-40B4-BE49-F238E27FC236}">
                <a16:creationId xmlns:a16="http://schemas.microsoft.com/office/drawing/2014/main" id="{668009EA-5057-D013-12A8-1FFBA5C1EBEA}"/>
              </a:ext>
            </a:extLst>
          </p:cNvPr>
          <p:cNvCxnSpPr/>
          <p:nvPr/>
        </p:nvCxnSpPr>
        <p:spPr>
          <a:xfrm flipV="1">
            <a:off x="2052625" y="2389239"/>
            <a:ext cx="3099478" cy="1786411"/>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9" name="Rectángulo 18">
            <a:extLst>
              <a:ext uri="{FF2B5EF4-FFF2-40B4-BE49-F238E27FC236}">
                <a16:creationId xmlns:a16="http://schemas.microsoft.com/office/drawing/2014/main" id="{7BEFBEA2-A4FC-607B-F34C-7F6EA09B61FB}"/>
              </a:ext>
            </a:extLst>
          </p:cNvPr>
          <p:cNvSpPr/>
          <p:nvPr/>
        </p:nvSpPr>
        <p:spPr>
          <a:xfrm>
            <a:off x="5152103" y="2193238"/>
            <a:ext cx="64498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CuadroTexto 20">
            <a:extLst>
              <a:ext uri="{FF2B5EF4-FFF2-40B4-BE49-F238E27FC236}">
                <a16:creationId xmlns:a16="http://schemas.microsoft.com/office/drawing/2014/main" id="{4B7E9AC0-C7E4-8D2A-B847-C7C72E1CEDC9}"/>
              </a:ext>
            </a:extLst>
          </p:cNvPr>
          <p:cNvSpPr txBox="1"/>
          <p:nvPr/>
        </p:nvSpPr>
        <p:spPr>
          <a:xfrm>
            <a:off x="151939" y="2698737"/>
            <a:ext cx="2606471" cy="1054953"/>
          </a:xfrm>
          <a:prstGeom prst="roundRect">
            <a:avLst>
              <a:gd name="adj" fmla="val 7573"/>
            </a:avLst>
          </a:prstGeom>
          <a:solidFill>
            <a:srgbClr val="7030A0"/>
          </a:solidFill>
        </p:spPr>
        <p:txBody>
          <a:bodyPr wrap="square">
            <a:spAutoFit/>
          </a:bodyPr>
          <a:lstStyle/>
          <a:p>
            <a:pPr algn="ctr"/>
            <a:r>
              <a:rPr lang="es-ES" sz="1000" dirty="0">
                <a:solidFill>
                  <a:srgbClr val="FFFFFF"/>
                </a:solidFill>
              </a:rPr>
              <a:t>En el campo </a:t>
            </a:r>
            <a:r>
              <a:rPr lang="es-ES" sz="1000" b="1" dirty="0">
                <a:solidFill>
                  <a:srgbClr val="92D050"/>
                </a:solidFill>
              </a:rPr>
              <a:t>Identificador de liga</a:t>
            </a:r>
            <a:r>
              <a:rPr lang="es-ES" sz="1000" dirty="0">
                <a:solidFill>
                  <a:schemeClr val="bg1"/>
                </a:solidFill>
              </a:rPr>
              <a:t> adiciona el nombre de la liga (Campo de 2 caracteres)</a:t>
            </a:r>
          </a:p>
          <a:p>
            <a:pPr algn="ctr"/>
            <a:r>
              <a:rPr lang="es-ES" sz="1000" dirty="0">
                <a:solidFill>
                  <a:schemeClr val="bg1"/>
                </a:solidFill>
              </a:rPr>
              <a:t>El nombre de la liga debe hacer referencia al tipo de horario.</a:t>
            </a:r>
          </a:p>
          <a:p>
            <a:pPr algn="ctr"/>
            <a:r>
              <a:rPr lang="es-ES" sz="1000" dirty="0">
                <a:solidFill>
                  <a:schemeClr val="bg1"/>
                </a:solidFill>
              </a:rPr>
              <a:t>Liga PR del tipo de horario PRA - Práctica</a:t>
            </a:r>
          </a:p>
        </p:txBody>
      </p:sp>
      <p:graphicFrame>
        <p:nvGraphicFramePr>
          <p:cNvPr id="22" name="Tabla 21">
            <a:extLst>
              <a:ext uri="{FF2B5EF4-FFF2-40B4-BE49-F238E27FC236}">
                <a16:creationId xmlns:a16="http://schemas.microsoft.com/office/drawing/2014/main" id="{548A70F6-150F-1687-3B2A-8259FC705B0E}"/>
              </a:ext>
            </a:extLst>
          </p:cNvPr>
          <p:cNvGraphicFramePr>
            <a:graphicFrameLocks noGrp="1"/>
          </p:cNvGraphicFramePr>
          <p:nvPr/>
        </p:nvGraphicFramePr>
        <p:xfrm>
          <a:off x="1455175" y="4630357"/>
          <a:ext cx="8667137" cy="1381760"/>
        </p:xfrm>
        <a:graphic>
          <a:graphicData uri="http://schemas.openxmlformats.org/drawingml/2006/table">
            <a:tbl>
              <a:tblPr firstRow="1" bandRow="1">
                <a:tableStyleId>{93296810-A885-4BE3-A3E7-6D5BEEA58F35}</a:tableStyleId>
              </a:tblPr>
              <a:tblGrid>
                <a:gridCol w="1321456">
                  <a:extLst>
                    <a:ext uri="{9D8B030D-6E8A-4147-A177-3AD203B41FA5}">
                      <a16:colId xmlns:a16="http://schemas.microsoft.com/office/drawing/2014/main" val="16898619"/>
                    </a:ext>
                  </a:extLst>
                </a:gridCol>
                <a:gridCol w="1321456">
                  <a:extLst>
                    <a:ext uri="{9D8B030D-6E8A-4147-A177-3AD203B41FA5}">
                      <a16:colId xmlns:a16="http://schemas.microsoft.com/office/drawing/2014/main" val="824824289"/>
                    </a:ext>
                  </a:extLst>
                </a:gridCol>
                <a:gridCol w="1321456">
                  <a:extLst>
                    <a:ext uri="{9D8B030D-6E8A-4147-A177-3AD203B41FA5}">
                      <a16:colId xmlns:a16="http://schemas.microsoft.com/office/drawing/2014/main" val="3398822324"/>
                    </a:ext>
                  </a:extLst>
                </a:gridCol>
                <a:gridCol w="1321456">
                  <a:extLst>
                    <a:ext uri="{9D8B030D-6E8A-4147-A177-3AD203B41FA5}">
                      <a16:colId xmlns:a16="http://schemas.microsoft.com/office/drawing/2014/main" val="2312879742"/>
                    </a:ext>
                  </a:extLst>
                </a:gridCol>
                <a:gridCol w="1321456">
                  <a:extLst>
                    <a:ext uri="{9D8B030D-6E8A-4147-A177-3AD203B41FA5}">
                      <a16:colId xmlns:a16="http://schemas.microsoft.com/office/drawing/2014/main" val="3638916652"/>
                    </a:ext>
                  </a:extLst>
                </a:gridCol>
                <a:gridCol w="2059857">
                  <a:extLst>
                    <a:ext uri="{9D8B030D-6E8A-4147-A177-3AD203B41FA5}">
                      <a16:colId xmlns:a16="http://schemas.microsoft.com/office/drawing/2014/main" val="1038382377"/>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tc>
                  <a:txBody>
                    <a:bodyPr/>
                    <a:lstStyle/>
                    <a:p>
                      <a:pPr algn="ctr"/>
                      <a:r>
                        <a:rPr lang="es-ES" dirty="0"/>
                        <a:t>NRC</a:t>
                      </a:r>
                      <a:endParaRPr lang="es-PE" dirty="0"/>
                    </a:p>
                  </a:txBody>
                  <a:tcPr anchor="ctr">
                    <a:solidFill>
                      <a:schemeClr val="tx1">
                        <a:lumMod val="85000"/>
                        <a:lumOff val="15000"/>
                      </a:schemeClr>
                    </a:solidFill>
                  </a:tcPr>
                </a:tc>
                <a:tc>
                  <a:txBody>
                    <a:bodyPr/>
                    <a:lstStyle/>
                    <a:p>
                      <a:pPr algn="ctr"/>
                      <a:r>
                        <a:rPr lang="es-ES" dirty="0"/>
                        <a:t>Identificador de liga SSASECT</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1020</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1022</a:t>
                      </a:r>
                      <a:endParaRPr lang="es-PE" dirty="0"/>
                    </a:p>
                  </a:txBody>
                  <a:tcPr anchor="ctr"/>
                </a:tc>
                <a:tc>
                  <a:txBody>
                    <a:bodyPr/>
                    <a:lstStyle/>
                    <a:p>
                      <a:pPr algn="ctr"/>
                      <a:r>
                        <a:rPr lang="es-ES" dirty="0"/>
                        <a:t>PR</a:t>
                      </a:r>
                      <a:endParaRPr lang="es-PE" dirty="0"/>
                    </a:p>
                  </a:txBody>
                  <a:tcPr anchor="ctr"/>
                </a:tc>
                <a:extLst>
                  <a:ext uri="{0D108BD9-81ED-4DB2-BD59-A6C34878D82A}">
                    <a16:rowId xmlns:a16="http://schemas.microsoft.com/office/drawing/2014/main" val="683514150"/>
                  </a:ext>
                </a:extLst>
              </a:tr>
            </a:tbl>
          </a:graphicData>
        </a:graphic>
      </p:graphicFrame>
      <p:sp>
        <p:nvSpPr>
          <p:cNvPr id="24" name="Rectángulo 23">
            <a:extLst>
              <a:ext uri="{FF2B5EF4-FFF2-40B4-BE49-F238E27FC236}">
                <a16:creationId xmlns:a16="http://schemas.microsoft.com/office/drawing/2014/main" id="{BB04A691-D410-F5C6-1F95-1084A9385F62}"/>
              </a:ext>
            </a:extLst>
          </p:cNvPr>
          <p:cNvSpPr/>
          <p:nvPr/>
        </p:nvSpPr>
        <p:spPr>
          <a:xfrm>
            <a:off x="5412661" y="5661481"/>
            <a:ext cx="4709651" cy="35063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5" name="Rectángulo 24">
            <a:extLst>
              <a:ext uri="{FF2B5EF4-FFF2-40B4-BE49-F238E27FC236}">
                <a16:creationId xmlns:a16="http://schemas.microsoft.com/office/drawing/2014/main" id="{E49B45D1-59C2-FE94-A9E1-F464815E0980}"/>
              </a:ext>
            </a:extLst>
          </p:cNvPr>
          <p:cNvSpPr/>
          <p:nvPr/>
        </p:nvSpPr>
        <p:spPr>
          <a:xfrm>
            <a:off x="11354218" y="5430976"/>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6" name="Rectángulo: esquinas redondeadas 25">
            <a:extLst>
              <a:ext uri="{FF2B5EF4-FFF2-40B4-BE49-F238E27FC236}">
                <a16:creationId xmlns:a16="http://schemas.microsoft.com/office/drawing/2014/main" id="{298716F7-D925-300D-CF71-D7CDE93AF082}"/>
              </a:ext>
            </a:extLst>
          </p:cNvPr>
          <p:cNvSpPr/>
          <p:nvPr/>
        </p:nvSpPr>
        <p:spPr>
          <a:xfrm>
            <a:off x="11545020" y="508846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3</a:t>
            </a:r>
            <a:endParaRPr lang="es-PE" sz="1100" b="1" dirty="0"/>
          </a:p>
        </p:txBody>
      </p:sp>
      <p:sp>
        <p:nvSpPr>
          <p:cNvPr id="27" name="CuadroTexto 26">
            <a:extLst>
              <a:ext uri="{FF2B5EF4-FFF2-40B4-BE49-F238E27FC236}">
                <a16:creationId xmlns:a16="http://schemas.microsoft.com/office/drawing/2014/main" id="{44829D4C-51B1-2E7A-B313-9C1762DE0846}"/>
              </a:ext>
            </a:extLst>
          </p:cNvPr>
          <p:cNvSpPr txBox="1"/>
          <p:nvPr/>
        </p:nvSpPr>
        <p:spPr>
          <a:xfrm>
            <a:off x="10555303" y="4012758"/>
            <a:ext cx="1483278"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133688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dissolve">
                                      <p:cBhvr>
                                        <p:cTn id="14" dur="500"/>
                                        <p:tgtEl>
                                          <p:spTgt spid="10"/>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22" presetClass="entr" presetSubtype="4"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down)">
                                      <p:cBhvr>
                                        <p:cTn id="42" dur="500"/>
                                        <p:tgtEl>
                                          <p:spTgt spid="18"/>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heel(1)">
                                      <p:cBhvr>
                                        <p:cTn id="46" dur="2000"/>
                                        <p:tgtEl>
                                          <p:spTgt spid="19"/>
                                        </p:tgtEl>
                                      </p:cBhvr>
                                    </p:animEffect>
                                  </p:childTnLst>
                                </p:cTn>
                              </p:par>
                            </p:childTnLst>
                          </p:cTn>
                        </p:par>
                        <p:par>
                          <p:cTn id="47" fill="hold">
                            <p:stCondLst>
                              <p:cond delay="9000"/>
                            </p:stCondLst>
                            <p:childTnLst>
                              <p:par>
                                <p:cTn id="48" presetID="10" presetClass="entr" presetSubtype="0"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childTnLst>
                          </p:cTn>
                        </p:par>
                        <p:par>
                          <p:cTn id="51" fill="hold">
                            <p:stCondLst>
                              <p:cond delay="9500"/>
                            </p:stCondLst>
                            <p:childTnLst>
                              <p:par>
                                <p:cTn id="52" presetID="21" presetClass="entr" presetSubtype="1"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heel(1)">
                                      <p:cBhvr>
                                        <p:cTn id="54" dur="2000"/>
                                        <p:tgtEl>
                                          <p:spTgt spid="25"/>
                                        </p:tgtEl>
                                      </p:cBhvr>
                                    </p:animEffect>
                                  </p:childTnLst>
                                </p:cTn>
                              </p:par>
                            </p:childTnLst>
                          </p:cTn>
                        </p:par>
                        <p:par>
                          <p:cTn id="55" fill="hold">
                            <p:stCondLst>
                              <p:cond delay="11500"/>
                            </p:stCondLst>
                            <p:childTnLst>
                              <p:par>
                                <p:cTn id="56" presetID="53" presetClass="entr" presetSubtype="16" fill="hold" grpId="0" nodeType="after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p:cTn id="58" dur="500" fill="hold"/>
                                        <p:tgtEl>
                                          <p:spTgt spid="26"/>
                                        </p:tgtEl>
                                        <p:attrNameLst>
                                          <p:attrName>ppt_w</p:attrName>
                                        </p:attrNameLst>
                                      </p:cBhvr>
                                      <p:tavLst>
                                        <p:tav tm="0">
                                          <p:val>
                                            <p:fltVal val="0"/>
                                          </p:val>
                                        </p:tav>
                                        <p:tav tm="100000">
                                          <p:val>
                                            <p:strVal val="#ppt_w"/>
                                          </p:val>
                                        </p:tav>
                                      </p:tavLst>
                                    </p:anim>
                                    <p:anim calcmode="lin" valueType="num">
                                      <p:cBhvr>
                                        <p:cTn id="59" dur="500" fill="hold"/>
                                        <p:tgtEl>
                                          <p:spTgt spid="26"/>
                                        </p:tgtEl>
                                        <p:attrNameLst>
                                          <p:attrName>ppt_h</p:attrName>
                                        </p:attrNameLst>
                                      </p:cBhvr>
                                      <p:tavLst>
                                        <p:tav tm="0">
                                          <p:val>
                                            <p:fltVal val="0"/>
                                          </p:val>
                                        </p:tav>
                                        <p:tav tm="100000">
                                          <p:val>
                                            <p:strVal val="#ppt_h"/>
                                          </p:val>
                                        </p:tav>
                                      </p:tavLst>
                                    </p:anim>
                                    <p:animEffect transition="in" filter="fade">
                                      <p:cBhvr>
                                        <p:cTn id="60" dur="500"/>
                                        <p:tgtEl>
                                          <p:spTgt spid="26"/>
                                        </p:tgtEl>
                                      </p:cBhvr>
                                    </p:animEffect>
                                  </p:childTnLst>
                                </p:cTn>
                              </p:par>
                            </p:childTnLst>
                          </p:cTn>
                        </p:par>
                        <p:par>
                          <p:cTn id="61" fill="hold">
                            <p:stCondLst>
                              <p:cond delay="12000"/>
                            </p:stCondLst>
                            <p:childTnLst>
                              <p:par>
                                <p:cTn id="62" presetID="10" presetClass="entr" presetSubtype="0" fill="hold" grpId="0"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childTnLst>
                          </p:cTn>
                        </p:par>
                        <p:par>
                          <p:cTn id="65" fill="hold">
                            <p:stCondLst>
                              <p:cond delay="12500"/>
                            </p:stCondLst>
                            <p:childTnLst>
                              <p:par>
                                <p:cTn id="66" presetID="22" presetClass="entr" presetSubtype="1" fill="hold" nodeType="after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wipe(up)">
                                      <p:cBhvr>
                                        <p:cTn id="68" dur="500"/>
                                        <p:tgtEl>
                                          <p:spTgt spid="22"/>
                                        </p:tgtEl>
                                      </p:cBhvr>
                                    </p:animEffect>
                                  </p:childTnLst>
                                </p:cTn>
                              </p:par>
                            </p:childTnLst>
                          </p:cTn>
                        </p:par>
                        <p:par>
                          <p:cTn id="69" fill="hold">
                            <p:stCondLst>
                              <p:cond delay="13000"/>
                            </p:stCondLst>
                            <p:childTnLst>
                              <p:par>
                                <p:cTn id="70" presetID="21" presetClass="entr" presetSubtype="1"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heel(1)">
                                      <p:cBhvr>
                                        <p:cTn id="72"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19" grpId="0" animBg="1"/>
      <p:bldP spid="21" grpId="0" animBg="1"/>
      <p:bldP spid="24" grpId="0" animBg="1"/>
      <p:bldP spid="25" grpId="0" animBg="1"/>
      <p:bldP spid="26" grpId="0" animBg="1"/>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405373" cy="523220"/>
          </a:xfrm>
          <a:prstGeom prst="rect">
            <a:avLst/>
          </a:prstGeom>
          <a:noFill/>
        </p:spPr>
        <p:txBody>
          <a:bodyPr wrap="none" rtlCol="0">
            <a:spAutoFit/>
          </a:bodyPr>
          <a:lstStyle/>
          <a:p>
            <a:r>
              <a:rPr lang="es-ES" sz="2800" b="1" dirty="0">
                <a:latin typeface="Montserrat" pitchFamily="2" charset="0"/>
              </a:rPr>
              <a:t>UNIR LIGAS - SSADETL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906298" y="241540"/>
            <a:ext cx="7285700"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C683D900-68B2-A01C-12AF-BC716B2FB05A}"/>
              </a:ext>
            </a:extLst>
          </p:cNvPr>
          <p:cNvPicPr>
            <a:picLocks noChangeAspect="1"/>
          </p:cNvPicPr>
          <p:nvPr/>
        </p:nvPicPr>
        <p:blipFill>
          <a:blip r:embed="rId5"/>
          <a:stretch>
            <a:fillRect/>
          </a:stretch>
        </p:blipFill>
        <p:spPr>
          <a:xfrm>
            <a:off x="509455" y="952365"/>
            <a:ext cx="11452885" cy="4848667"/>
          </a:xfrm>
          <a:prstGeom prst="rect">
            <a:avLst/>
          </a:prstGeom>
        </p:spPr>
      </p:pic>
      <p:sp>
        <p:nvSpPr>
          <p:cNvPr id="15" name="Rectángulo 14">
            <a:extLst>
              <a:ext uri="{FF2B5EF4-FFF2-40B4-BE49-F238E27FC236}">
                <a16:creationId xmlns:a16="http://schemas.microsoft.com/office/drawing/2014/main" id="{A7F9820F-A0D9-77B0-EACF-6DF45174E480}"/>
              </a:ext>
            </a:extLst>
          </p:cNvPr>
          <p:cNvSpPr/>
          <p:nvPr/>
        </p:nvSpPr>
        <p:spPr>
          <a:xfrm>
            <a:off x="10628671" y="952366"/>
            <a:ext cx="304800" cy="32012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6" name="Rectángulo: esquinas redondeadas 15">
            <a:extLst>
              <a:ext uri="{FF2B5EF4-FFF2-40B4-BE49-F238E27FC236}">
                <a16:creationId xmlns:a16="http://schemas.microsoft.com/office/drawing/2014/main" id="{FEC5A61A-6963-6276-D1C7-724F291F7588}"/>
              </a:ext>
            </a:extLst>
          </p:cNvPr>
          <p:cNvSpPr/>
          <p:nvPr/>
        </p:nvSpPr>
        <p:spPr>
          <a:xfrm>
            <a:off x="10198101" y="100028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7" name="CuadroTexto 16">
            <a:extLst>
              <a:ext uri="{FF2B5EF4-FFF2-40B4-BE49-F238E27FC236}">
                <a16:creationId xmlns:a16="http://schemas.microsoft.com/office/drawing/2014/main" id="{5885A9A6-F114-AEF9-5101-E7D9764075CB}"/>
              </a:ext>
            </a:extLst>
          </p:cNvPr>
          <p:cNvSpPr txBox="1"/>
          <p:nvPr/>
        </p:nvSpPr>
        <p:spPr>
          <a:xfrm>
            <a:off x="7581496" y="968569"/>
            <a:ext cx="2509150"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sección </a:t>
            </a:r>
            <a:r>
              <a:rPr lang="es-ES" sz="1200" b="1" dirty="0">
                <a:solidFill>
                  <a:srgbClr val="92D050"/>
                </a:solidFill>
              </a:rPr>
              <a:t>Relacionados </a:t>
            </a:r>
            <a:r>
              <a:rPr lang="es-ES" sz="1200" dirty="0">
                <a:solidFill>
                  <a:schemeClr val="bg1"/>
                </a:solidFill>
              </a:rPr>
              <a:t>desde la página donde se está configurando el NRC (SSASECT)</a:t>
            </a:r>
          </a:p>
        </p:txBody>
      </p:sp>
      <p:sp>
        <p:nvSpPr>
          <p:cNvPr id="20" name="Rectángulo 19">
            <a:extLst>
              <a:ext uri="{FF2B5EF4-FFF2-40B4-BE49-F238E27FC236}">
                <a16:creationId xmlns:a16="http://schemas.microsoft.com/office/drawing/2014/main" id="{82B0BCD9-DE0D-0090-4B52-C23BF3E29146}"/>
              </a:ext>
            </a:extLst>
          </p:cNvPr>
          <p:cNvSpPr/>
          <p:nvPr/>
        </p:nvSpPr>
        <p:spPr>
          <a:xfrm>
            <a:off x="9988554" y="2230573"/>
            <a:ext cx="1839652"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3" name="Rectángulo: esquinas redondeadas 22">
            <a:extLst>
              <a:ext uri="{FF2B5EF4-FFF2-40B4-BE49-F238E27FC236}">
                <a16:creationId xmlns:a16="http://schemas.microsoft.com/office/drawing/2014/main" id="{A267A0E5-7296-7CA8-B67D-610BD86BBB1C}"/>
              </a:ext>
            </a:extLst>
          </p:cNvPr>
          <p:cNvSpPr/>
          <p:nvPr/>
        </p:nvSpPr>
        <p:spPr>
          <a:xfrm>
            <a:off x="9638760" y="231097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28" name="CuadroTexto 27">
            <a:extLst>
              <a:ext uri="{FF2B5EF4-FFF2-40B4-BE49-F238E27FC236}">
                <a16:creationId xmlns:a16="http://schemas.microsoft.com/office/drawing/2014/main" id="{5D388AF6-00A8-AC5B-4DBD-77AE7A9E8DFE}"/>
              </a:ext>
            </a:extLst>
          </p:cNvPr>
          <p:cNvSpPr txBox="1"/>
          <p:nvPr/>
        </p:nvSpPr>
        <p:spPr>
          <a:xfrm>
            <a:off x="7022155" y="2200603"/>
            <a:ext cx="2509150" cy="479524"/>
          </a:xfrm>
          <a:prstGeom prst="roundRect">
            <a:avLst>
              <a:gd name="adj" fmla="val 7573"/>
            </a:avLst>
          </a:prstGeom>
          <a:solidFill>
            <a:srgbClr val="7030A0"/>
          </a:solidFill>
        </p:spPr>
        <p:txBody>
          <a:bodyPr wrap="square">
            <a:spAutoFit/>
          </a:bodyPr>
          <a:lstStyle/>
          <a:p>
            <a:pPr algn="ctr"/>
            <a:r>
              <a:rPr lang="es-ES" sz="1200" dirty="0">
                <a:solidFill>
                  <a:srgbClr val="FFFFFF"/>
                </a:solidFill>
              </a:rPr>
              <a:t>Seleccionar la opción </a:t>
            </a:r>
            <a:r>
              <a:rPr lang="es-ES" sz="1200" b="1" dirty="0">
                <a:solidFill>
                  <a:srgbClr val="92D050"/>
                </a:solidFill>
              </a:rPr>
              <a:t>SSADETL (Detalle de Horario)</a:t>
            </a:r>
            <a:endParaRPr lang="es-ES" sz="1200" dirty="0">
              <a:solidFill>
                <a:schemeClr val="bg1"/>
              </a:solidFill>
            </a:endParaRPr>
          </a:p>
        </p:txBody>
      </p:sp>
      <p:sp>
        <p:nvSpPr>
          <p:cNvPr id="29" name="CuadroTexto 28">
            <a:extLst>
              <a:ext uri="{FF2B5EF4-FFF2-40B4-BE49-F238E27FC236}">
                <a16:creationId xmlns:a16="http://schemas.microsoft.com/office/drawing/2014/main" id="{FFAFE140-90DE-4005-898B-CD9A22CFDEE1}"/>
              </a:ext>
            </a:extLst>
          </p:cNvPr>
          <p:cNvSpPr txBox="1"/>
          <p:nvPr/>
        </p:nvSpPr>
        <p:spPr>
          <a:xfrm>
            <a:off x="4056632" y="3520040"/>
            <a:ext cx="2509150"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También se puede ingresar a la página SSADETL, realizando la búsqueda en la lupa</a:t>
            </a:r>
            <a:endParaRPr lang="es-ES" sz="1200" dirty="0">
              <a:solidFill>
                <a:schemeClr val="bg1"/>
              </a:solidFill>
            </a:endParaRPr>
          </a:p>
        </p:txBody>
      </p:sp>
    </p:spTree>
    <p:extLst>
      <p:ext uri="{BB962C8B-B14F-4D97-AF65-F5344CB8AC3E}">
        <p14:creationId xmlns:p14="http://schemas.microsoft.com/office/powerpoint/2010/main" val="308636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2000"/>
                                        <p:tgtEl>
                                          <p:spTgt spid="15"/>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heel(1)">
                                      <p:cBhvr>
                                        <p:cTn id="32" dur="2000"/>
                                        <p:tgtEl>
                                          <p:spTgt spid="20"/>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p:cTn id="36" dur="500" fill="hold"/>
                                        <p:tgtEl>
                                          <p:spTgt spid="23"/>
                                        </p:tgtEl>
                                        <p:attrNameLst>
                                          <p:attrName>ppt_w</p:attrName>
                                        </p:attrNameLst>
                                      </p:cBhvr>
                                      <p:tavLst>
                                        <p:tav tm="0">
                                          <p:val>
                                            <p:fltVal val="0"/>
                                          </p:val>
                                        </p:tav>
                                        <p:tav tm="100000">
                                          <p:val>
                                            <p:strVal val="#ppt_w"/>
                                          </p:val>
                                        </p:tav>
                                      </p:tavLst>
                                    </p:anim>
                                    <p:anim calcmode="lin" valueType="num">
                                      <p:cBhvr>
                                        <p:cTn id="37" dur="500" fill="hold"/>
                                        <p:tgtEl>
                                          <p:spTgt spid="23"/>
                                        </p:tgtEl>
                                        <p:attrNameLst>
                                          <p:attrName>ppt_h</p:attrName>
                                        </p:attrNameLst>
                                      </p:cBhvr>
                                      <p:tavLst>
                                        <p:tav tm="0">
                                          <p:val>
                                            <p:fltVal val="0"/>
                                          </p:val>
                                        </p:tav>
                                        <p:tav tm="100000">
                                          <p:val>
                                            <p:strVal val="#ppt_h"/>
                                          </p:val>
                                        </p:tav>
                                      </p:tavLst>
                                    </p:anim>
                                    <p:animEffect transition="in" filter="fade">
                                      <p:cBhvr>
                                        <p:cTn id="38" dur="500"/>
                                        <p:tgtEl>
                                          <p:spTgt spid="23"/>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7000"/>
                            </p:stCondLst>
                            <p:childTnLst>
                              <p:par>
                                <p:cTn id="44" presetID="10" presetClass="entr" presetSubtype="0" fill="hold" grpId="0"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5" grpId="0" animBg="1"/>
      <p:bldP spid="16" grpId="0" animBg="1"/>
      <p:bldP spid="17" grpId="0" animBg="1"/>
      <p:bldP spid="20" grpId="0" animBg="1"/>
      <p:bldP spid="23" grpId="0" animBg="1"/>
      <p:bldP spid="28" grpId="0" animBg="1"/>
      <p:bldP spid="2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405373" cy="523220"/>
          </a:xfrm>
          <a:prstGeom prst="rect">
            <a:avLst/>
          </a:prstGeom>
          <a:noFill/>
        </p:spPr>
        <p:txBody>
          <a:bodyPr wrap="none" rtlCol="0">
            <a:spAutoFit/>
          </a:bodyPr>
          <a:lstStyle/>
          <a:p>
            <a:r>
              <a:rPr lang="es-ES" sz="2800" b="1" dirty="0">
                <a:latin typeface="Montserrat" pitchFamily="2" charset="0"/>
              </a:rPr>
              <a:t>UNIR LIGAS - SSADETL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906298" y="241540"/>
            <a:ext cx="7285700"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9" name="Imagen 8">
            <a:extLst>
              <a:ext uri="{FF2B5EF4-FFF2-40B4-BE49-F238E27FC236}">
                <a16:creationId xmlns:a16="http://schemas.microsoft.com/office/drawing/2014/main" id="{F44322C9-7E40-970A-4DF4-416B48C569BD}"/>
              </a:ext>
            </a:extLst>
          </p:cNvPr>
          <p:cNvPicPr>
            <a:picLocks noChangeAspect="1"/>
          </p:cNvPicPr>
          <p:nvPr/>
        </p:nvPicPr>
        <p:blipFill>
          <a:blip r:embed="rId5"/>
          <a:stretch>
            <a:fillRect/>
          </a:stretch>
        </p:blipFill>
        <p:spPr>
          <a:xfrm>
            <a:off x="431320" y="1029929"/>
            <a:ext cx="11367450" cy="4798142"/>
          </a:xfrm>
          <a:prstGeom prst="rect">
            <a:avLst/>
          </a:prstGeom>
        </p:spPr>
      </p:pic>
      <p:sp>
        <p:nvSpPr>
          <p:cNvPr id="10" name="Rectángulo 9">
            <a:extLst>
              <a:ext uri="{FF2B5EF4-FFF2-40B4-BE49-F238E27FC236}">
                <a16:creationId xmlns:a16="http://schemas.microsoft.com/office/drawing/2014/main" id="{794280EF-0882-F6FE-2221-AC335C6B197E}"/>
              </a:ext>
            </a:extLst>
          </p:cNvPr>
          <p:cNvSpPr/>
          <p:nvPr/>
        </p:nvSpPr>
        <p:spPr>
          <a:xfrm>
            <a:off x="955351" y="1306327"/>
            <a:ext cx="7087435" cy="32012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63A55F69-27E4-87B6-C198-B77318D33912}"/>
              </a:ext>
            </a:extLst>
          </p:cNvPr>
          <p:cNvSpPr/>
          <p:nvPr/>
        </p:nvSpPr>
        <p:spPr>
          <a:xfrm>
            <a:off x="4421106" y="174496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0B9DD60E-E5D1-4C1F-17C5-F36909C1ED58}"/>
              </a:ext>
            </a:extLst>
          </p:cNvPr>
          <p:cNvSpPr txBox="1"/>
          <p:nvPr/>
        </p:nvSpPr>
        <p:spPr>
          <a:xfrm>
            <a:off x="3274361" y="2116600"/>
            <a:ext cx="2509150" cy="1054953"/>
          </a:xfrm>
          <a:prstGeom prst="roundRect">
            <a:avLst>
              <a:gd name="adj" fmla="val 7573"/>
            </a:avLst>
          </a:prstGeom>
          <a:solidFill>
            <a:srgbClr val="7030A0"/>
          </a:solidFill>
        </p:spPr>
        <p:txBody>
          <a:bodyPr wrap="square">
            <a:spAutoFit/>
          </a:bodyPr>
          <a:lstStyle/>
          <a:p>
            <a:pPr algn="ctr"/>
            <a:r>
              <a:rPr lang="es-ES" sz="1200" dirty="0">
                <a:solidFill>
                  <a:srgbClr val="FFFFFF"/>
                </a:solidFill>
              </a:rPr>
              <a:t>Colocar el </a:t>
            </a:r>
            <a:r>
              <a:rPr lang="es-ES" sz="1200" b="1" dirty="0">
                <a:solidFill>
                  <a:srgbClr val="92D050"/>
                </a:solidFill>
              </a:rPr>
              <a:t>periodo</a:t>
            </a:r>
            <a:r>
              <a:rPr lang="es-ES" sz="1200" dirty="0">
                <a:solidFill>
                  <a:srgbClr val="FFFFFF"/>
                </a:solidFill>
              </a:rPr>
              <a:t> y </a:t>
            </a:r>
            <a:r>
              <a:rPr lang="es-ES" sz="1200" b="1" dirty="0">
                <a:solidFill>
                  <a:srgbClr val="92D050"/>
                </a:solidFill>
              </a:rPr>
              <a:t>NRC</a:t>
            </a:r>
            <a:r>
              <a:rPr lang="es-ES" sz="1200" dirty="0">
                <a:solidFill>
                  <a:srgbClr val="FFFFFF"/>
                </a:solidFill>
              </a:rPr>
              <a:t> a configurar la liga.</a:t>
            </a:r>
          </a:p>
          <a:p>
            <a:pPr algn="ctr"/>
            <a:r>
              <a:rPr lang="es-ES" sz="1200" dirty="0">
                <a:solidFill>
                  <a:srgbClr val="FFFFFF"/>
                </a:solidFill>
              </a:rPr>
              <a:t>Si viene de la página </a:t>
            </a:r>
            <a:r>
              <a:rPr lang="es-ES" sz="1200" b="1" dirty="0">
                <a:solidFill>
                  <a:srgbClr val="92D050"/>
                </a:solidFill>
              </a:rPr>
              <a:t>Relacionados </a:t>
            </a:r>
            <a:r>
              <a:rPr lang="es-ES" sz="1200" dirty="0">
                <a:solidFill>
                  <a:schemeClr val="bg1"/>
                </a:solidFill>
              </a:rPr>
              <a:t>en SSASECT, estos datos se llenan automáticamente.</a:t>
            </a:r>
          </a:p>
        </p:txBody>
      </p:sp>
      <p:sp>
        <p:nvSpPr>
          <p:cNvPr id="13" name="Rectángulo 12">
            <a:extLst>
              <a:ext uri="{FF2B5EF4-FFF2-40B4-BE49-F238E27FC236}">
                <a16:creationId xmlns:a16="http://schemas.microsoft.com/office/drawing/2014/main" id="{0E07B837-C9B0-9C05-CE0F-43409DCF98F9}"/>
              </a:ext>
            </a:extLst>
          </p:cNvPr>
          <p:cNvSpPr/>
          <p:nvPr/>
        </p:nvSpPr>
        <p:spPr>
          <a:xfrm>
            <a:off x="11343050" y="1330306"/>
            <a:ext cx="442497" cy="27310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465EEE56-23B9-7029-E07D-CC14880A185F}"/>
              </a:ext>
            </a:extLst>
          </p:cNvPr>
          <p:cNvSpPr/>
          <p:nvPr/>
        </p:nvSpPr>
        <p:spPr>
          <a:xfrm>
            <a:off x="11431371" y="176150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8" name="CuadroTexto 17">
            <a:extLst>
              <a:ext uri="{FF2B5EF4-FFF2-40B4-BE49-F238E27FC236}">
                <a16:creationId xmlns:a16="http://schemas.microsoft.com/office/drawing/2014/main" id="{C70A9D13-FAA9-BA31-540A-83DE3336F093}"/>
              </a:ext>
            </a:extLst>
          </p:cNvPr>
          <p:cNvSpPr txBox="1"/>
          <p:nvPr/>
        </p:nvSpPr>
        <p:spPr>
          <a:xfrm>
            <a:off x="10070979" y="2120534"/>
            <a:ext cx="1744692" cy="271730"/>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dirty="0">
                <a:solidFill>
                  <a:srgbClr val="FFFFFF"/>
                </a:solidFill>
              </a:rPr>
              <a:t>Seleccionar</a:t>
            </a:r>
            <a:r>
              <a:rPr lang="es-ES" sz="1100" b="0" i="0" u="none" strike="noStrike" dirty="0">
                <a:solidFill>
                  <a:srgbClr val="FFFFFF"/>
                </a:solidFill>
                <a:effectLst/>
              </a:rPr>
              <a:t> </a:t>
            </a:r>
            <a:r>
              <a:rPr lang="es-ES" sz="1100" b="1" dirty="0">
                <a:solidFill>
                  <a:srgbClr val="92D050"/>
                </a:solidFill>
              </a:rPr>
              <a:t>I</a:t>
            </a:r>
            <a:r>
              <a:rPr lang="es-ES" sz="1100" b="1" i="0" u="none" strike="noStrike" dirty="0">
                <a:solidFill>
                  <a:srgbClr val="92D050"/>
                </a:solidFill>
                <a:effectLst/>
              </a:rPr>
              <a:t>r</a:t>
            </a:r>
            <a:endParaRPr lang="es-ES" b="1" dirty="0">
              <a:solidFill>
                <a:srgbClr val="92D050"/>
              </a:solidFill>
              <a:effectLst/>
            </a:endParaRPr>
          </a:p>
        </p:txBody>
      </p:sp>
    </p:spTree>
    <p:extLst>
      <p:ext uri="{BB962C8B-B14F-4D97-AF65-F5344CB8AC3E}">
        <p14:creationId xmlns:p14="http://schemas.microsoft.com/office/powerpoint/2010/main" val="418342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dissolve">
                                      <p:cBhvr>
                                        <p:cTn id="14" dur="500"/>
                                        <p:tgtEl>
                                          <p:spTgt spid="9"/>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animBg="1"/>
      <p:bldP spid="12" grpId="0" animBg="1"/>
      <p:bldP spid="13" grpId="0" animBg="1"/>
      <p:bldP spid="14" grpId="0" animBg="1"/>
      <p:bldP spid="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BCEC222-622C-A84F-7056-DD894F95F828}"/>
              </a:ext>
            </a:extLst>
          </p:cNvPr>
          <p:cNvPicPr>
            <a:picLocks noChangeAspect="1"/>
          </p:cNvPicPr>
          <p:nvPr/>
        </p:nvPicPr>
        <p:blipFill>
          <a:blip r:embed="rId3"/>
          <a:stretch>
            <a:fillRect/>
          </a:stretch>
        </p:blipFill>
        <p:spPr>
          <a:xfrm>
            <a:off x="337179" y="983226"/>
            <a:ext cx="11581230" cy="4918553"/>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405373" cy="523220"/>
          </a:xfrm>
          <a:prstGeom prst="rect">
            <a:avLst/>
          </a:prstGeom>
          <a:noFill/>
        </p:spPr>
        <p:txBody>
          <a:bodyPr wrap="none" rtlCol="0">
            <a:spAutoFit/>
          </a:bodyPr>
          <a:lstStyle/>
          <a:p>
            <a:r>
              <a:rPr lang="es-ES" sz="2800" b="1" dirty="0">
                <a:latin typeface="Montserrat" pitchFamily="2" charset="0"/>
              </a:rPr>
              <a:t>UNIR LIGAS - SSADETL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906298" y="241540"/>
            <a:ext cx="7285700"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9" name="Rectángulo 8">
            <a:extLst>
              <a:ext uri="{FF2B5EF4-FFF2-40B4-BE49-F238E27FC236}">
                <a16:creationId xmlns:a16="http://schemas.microsoft.com/office/drawing/2014/main" id="{EFF855A6-C5E7-24CA-A3E2-3558D858EA9B}"/>
              </a:ext>
            </a:extLst>
          </p:cNvPr>
          <p:cNvSpPr/>
          <p:nvPr/>
        </p:nvSpPr>
        <p:spPr>
          <a:xfrm>
            <a:off x="337179" y="1535026"/>
            <a:ext cx="1505635" cy="23732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55270CC5-4728-AE8C-364A-72248BACEDF2}"/>
              </a:ext>
            </a:extLst>
          </p:cNvPr>
          <p:cNvSpPr/>
          <p:nvPr/>
        </p:nvSpPr>
        <p:spPr>
          <a:xfrm>
            <a:off x="2003935" y="156240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BC866614-CE61-50F4-077A-8DC2FE47FFF5}"/>
              </a:ext>
            </a:extLst>
          </p:cNvPr>
          <p:cNvSpPr txBox="1"/>
          <p:nvPr/>
        </p:nvSpPr>
        <p:spPr>
          <a:xfrm>
            <a:off x="2316738" y="1521849"/>
            <a:ext cx="3730572" cy="287715"/>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de </a:t>
            </a:r>
            <a:r>
              <a:rPr lang="es-ES" sz="1200" b="1" dirty="0">
                <a:solidFill>
                  <a:srgbClr val="92D050"/>
                </a:solidFill>
              </a:rPr>
              <a:t>Correquisitos y ligas de sección</a:t>
            </a:r>
          </a:p>
        </p:txBody>
      </p:sp>
      <p:sp>
        <p:nvSpPr>
          <p:cNvPr id="13" name="Rectángulo 12">
            <a:extLst>
              <a:ext uri="{FF2B5EF4-FFF2-40B4-BE49-F238E27FC236}">
                <a16:creationId xmlns:a16="http://schemas.microsoft.com/office/drawing/2014/main" id="{95D81E4B-619B-388F-8CC9-69A29B752CC9}"/>
              </a:ext>
            </a:extLst>
          </p:cNvPr>
          <p:cNvSpPr/>
          <p:nvPr/>
        </p:nvSpPr>
        <p:spPr>
          <a:xfrm>
            <a:off x="337179" y="2074315"/>
            <a:ext cx="64498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E70B5287-FF77-2CF5-18ED-EC73557B7292}"/>
              </a:ext>
            </a:extLst>
          </p:cNvPr>
          <p:cNvSpPr/>
          <p:nvPr/>
        </p:nvSpPr>
        <p:spPr>
          <a:xfrm>
            <a:off x="1089996" y="206845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21" name="CuadroTexto 20">
            <a:extLst>
              <a:ext uri="{FF2B5EF4-FFF2-40B4-BE49-F238E27FC236}">
                <a16:creationId xmlns:a16="http://schemas.microsoft.com/office/drawing/2014/main" id="{4B7E9AC0-C7E4-8D2A-B847-C7C72E1CEDC9}"/>
              </a:ext>
            </a:extLst>
          </p:cNvPr>
          <p:cNvSpPr txBox="1"/>
          <p:nvPr/>
        </p:nvSpPr>
        <p:spPr>
          <a:xfrm>
            <a:off x="1455175" y="1990815"/>
            <a:ext cx="2606471" cy="479524"/>
          </a:xfrm>
          <a:prstGeom prst="roundRect">
            <a:avLst>
              <a:gd name="adj" fmla="val 7573"/>
            </a:avLst>
          </a:prstGeom>
          <a:solidFill>
            <a:srgbClr val="7030A0"/>
          </a:solidFill>
        </p:spPr>
        <p:txBody>
          <a:bodyPr wrap="square">
            <a:spAutoFit/>
          </a:bodyPr>
          <a:lstStyle/>
          <a:p>
            <a:pPr algn="ctr"/>
            <a:r>
              <a:rPr lang="es-ES" sz="1200" dirty="0">
                <a:solidFill>
                  <a:srgbClr val="FFFFFF"/>
                </a:solidFill>
              </a:rPr>
              <a:t>Adiciona el nombre del </a:t>
            </a:r>
            <a:r>
              <a:rPr lang="es-ES" sz="1200" b="1" dirty="0">
                <a:solidFill>
                  <a:srgbClr val="92D050"/>
                </a:solidFill>
              </a:rPr>
              <a:t>Conector de liga</a:t>
            </a:r>
            <a:r>
              <a:rPr lang="es-ES" sz="1200" dirty="0">
                <a:solidFill>
                  <a:srgbClr val="FFFFFF"/>
                </a:solidFill>
              </a:rPr>
              <a:t> del otro u otros tipos de horario</a:t>
            </a:r>
            <a:endParaRPr lang="es-ES" sz="1200" dirty="0">
              <a:solidFill>
                <a:schemeClr val="bg1"/>
              </a:solidFill>
            </a:endParaRPr>
          </a:p>
        </p:txBody>
      </p:sp>
      <p:graphicFrame>
        <p:nvGraphicFramePr>
          <p:cNvPr id="22" name="Tabla 21">
            <a:extLst>
              <a:ext uri="{FF2B5EF4-FFF2-40B4-BE49-F238E27FC236}">
                <a16:creationId xmlns:a16="http://schemas.microsoft.com/office/drawing/2014/main" id="{548A70F6-150F-1687-3B2A-8259FC705B0E}"/>
              </a:ext>
            </a:extLst>
          </p:cNvPr>
          <p:cNvGraphicFramePr>
            <a:graphicFrameLocks noGrp="1"/>
          </p:cNvGraphicFramePr>
          <p:nvPr>
            <p:extLst>
              <p:ext uri="{D42A27DB-BD31-4B8C-83A1-F6EECF244321}">
                <p14:modId xmlns:p14="http://schemas.microsoft.com/office/powerpoint/2010/main" val="4202640634"/>
              </p:ext>
            </p:extLst>
          </p:nvPr>
        </p:nvGraphicFramePr>
        <p:xfrm>
          <a:off x="659673" y="3687901"/>
          <a:ext cx="9538429" cy="1381760"/>
        </p:xfrm>
        <a:graphic>
          <a:graphicData uri="http://schemas.openxmlformats.org/drawingml/2006/table">
            <a:tbl>
              <a:tblPr firstRow="1" bandRow="1">
                <a:tableStyleId>{93296810-A885-4BE3-A3E7-6D5BEEA58F35}</a:tableStyleId>
              </a:tblPr>
              <a:tblGrid>
                <a:gridCol w="1175037">
                  <a:extLst>
                    <a:ext uri="{9D8B030D-6E8A-4147-A177-3AD203B41FA5}">
                      <a16:colId xmlns:a16="http://schemas.microsoft.com/office/drawing/2014/main" val="16898619"/>
                    </a:ext>
                  </a:extLst>
                </a:gridCol>
                <a:gridCol w="1175037">
                  <a:extLst>
                    <a:ext uri="{9D8B030D-6E8A-4147-A177-3AD203B41FA5}">
                      <a16:colId xmlns:a16="http://schemas.microsoft.com/office/drawing/2014/main" val="824824289"/>
                    </a:ext>
                  </a:extLst>
                </a:gridCol>
                <a:gridCol w="1175037">
                  <a:extLst>
                    <a:ext uri="{9D8B030D-6E8A-4147-A177-3AD203B41FA5}">
                      <a16:colId xmlns:a16="http://schemas.microsoft.com/office/drawing/2014/main" val="3398822324"/>
                    </a:ext>
                  </a:extLst>
                </a:gridCol>
                <a:gridCol w="1175037">
                  <a:extLst>
                    <a:ext uri="{9D8B030D-6E8A-4147-A177-3AD203B41FA5}">
                      <a16:colId xmlns:a16="http://schemas.microsoft.com/office/drawing/2014/main" val="2312879742"/>
                    </a:ext>
                  </a:extLst>
                </a:gridCol>
                <a:gridCol w="1175037">
                  <a:extLst>
                    <a:ext uri="{9D8B030D-6E8A-4147-A177-3AD203B41FA5}">
                      <a16:colId xmlns:a16="http://schemas.microsoft.com/office/drawing/2014/main" val="3638916652"/>
                    </a:ext>
                  </a:extLst>
                </a:gridCol>
                <a:gridCol w="1831622">
                  <a:extLst>
                    <a:ext uri="{9D8B030D-6E8A-4147-A177-3AD203B41FA5}">
                      <a16:colId xmlns:a16="http://schemas.microsoft.com/office/drawing/2014/main" val="1038382377"/>
                    </a:ext>
                  </a:extLst>
                </a:gridCol>
                <a:gridCol w="1831622">
                  <a:extLst>
                    <a:ext uri="{9D8B030D-6E8A-4147-A177-3AD203B41FA5}">
                      <a16:colId xmlns:a16="http://schemas.microsoft.com/office/drawing/2014/main" val="943035796"/>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tc>
                  <a:txBody>
                    <a:bodyPr/>
                    <a:lstStyle/>
                    <a:p>
                      <a:pPr algn="ctr"/>
                      <a:r>
                        <a:rPr lang="es-ES" dirty="0"/>
                        <a:t>NRC</a:t>
                      </a:r>
                      <a:endParaRPr lang="es-PE" dirty="0"/>
                    </a:p>
                  </a:txBody>
                  <a:tcPr anchor="ctr">
                    <a:solidFill>
                      <a:schemeClr val="tx1">
                        <a:lumMod val="85000"/>
                        <a:lumOff val="15000"/>
                      </a:schemeClr>
                    </a:solidFill>
                  </a:tcPr>
                </a:tc>
                <a:tc>
                  <a:txBody>
                    <a:bodyPr/>
                    <a:lstStyle/>
                    <a:p>
                      <a:pPr algn="ctr"/>
                      <a:r>
                        <a:rPr lang="es-ES" dirty="0"/>
                        <a:t>Identificador de liga SSASECT</a:t>
                      </a:r>
                      <a:endParaRPr lang="es-PE" dirty="0"/>
                    </a:p>
                  </a:txBody>
                  <a:tcPr anchor="ctr">
                    <a:solidFill>
                      <a:schemeClr val="tx1">
                        <a:lumMod val="85000"/>
                        <a:lumOff val="15000"/>
                      </a:schemeClr>
                    </a:solidFill>
                  </a:tcPr>
                </a:tc>
                <a:tc>
                  <a:txBody>
                    <a:bodyPr/>
                    <a:lstStyle/>
                    <a:p>
                      <a:pPr algn="ctr"/>
                      <a:r>
                        <a:rPr lang="es-ES" dirty="0"/>
                        <a:t>Liga vinculada SSADETL</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1020</a:t>
                      </a:r>
                      <a:endParaRPr lang="es-PE" dirty="0"/>
                    </a:p>
                  </a:txBody>
                  <a:tcPr anchor="ctr"/>
                </a:tc>
                <a:tc>
                  <a:txBody>
                    <a:bodyPr/>
                    <a:lstStyle/>
                    <a:p>
                      <a:pPr algn="ctr"/>
                      <a:r>
                        <a:rPr lang="es-ES" dirty="0"/>
                        <a:t>TE</a:t>
                      </a:r>
                      <a:endParaRPr lang="es-PE" dirty="0"/>
                    </a:p>
                  </a:txBody>
                  <a:tcPr anchor="ctr"/>
                </a:tc>
                <a:tc>
                  <a:txBody>
                    <a:bodyPr/>
                    <a:lstStyle/>
                    <a:p>
                      <a:pPr algn="ctr"/>
                      <a:r>
                        <a:rPr lang="es-ES" dirty="0"/>
                        <a:t>PR</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1022</a:t>
                      </a:r>
                      <a:endParaRPr lang="es-PE" dirty="0"/>
                    </a:p>
                  </a:txBody>
                  <a:tcPr anchor="ctr"/>
                </a:tc>
                <a:tc>
                  <a:txBody>
                    <a:bodyPr/>
                    <a:lstStyle/>
                    <a:p>
                      <a:pPr algn="ctr"/>
                      <a:r>
                        <a:rPr lang="es-ES" dirty="0"/>
                        <a:t>PR</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683514150"/>
                  </a:ext>
                </a:extLst>
              </a:tr>
            </a:tbl>
          </a:graphicData>
        </a:graphic>
      </p:graphicFrame>
      <p:sp>
        <p:nvSpPr>
          <p:cNvPr id="24" name="Rectángulo 23">
            <a:extLst>
              <a:ext uri="{FF2B5EF4-FFF2-40B4-BE49-F238E27FC236}">
                <a16:creationId xmlns:a16="http://schemas.microsoft.com/office/drawing/2014/main" id="{BB04A691-D410-F5C6-1F95-1084A9385F62}"/>
              </a:ext>
            </a:extLst>
          </p:cNvPr>
          <p:cNvSpPr/>
          <p:nvPr/>
        </p:nvSpPr>
        <p:spPr>
          <a:xfrm>
            <a:off x="8327923" y="4334788"/>
            <a:ext cx="1901046" cy="35063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5" name="Rectángulo 24">
            <a:extLst>
              <a:ext uri="{FF2B5EF4-FFF2-40B4-BE49-F238E27FC236}">
                <a16:creationId xmlns:a16="http://schemas.microsoft.com/office/drawing/2014/main" id="{E49B45D1-59C2-FE94-A9E1-F464815E0980}"/>
              </a:ext>
            </a:extLst>
          </p:cNvPr>
          <p:cNvSpPr/>
          <p:nvPr/>
        </p:nvSpPr>
        <p:spPr>
          <a:xfrm>
            <a:off x="11354218" y="5430976"/>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6" name="Rectángulo: esquinas redondeadas 25">
            <a:extLst>
              <a:ext uri="{FF2B5EF4-FFF2-40B4-BE49-F238E27FC236}">
                <a16:creationId xmlns:a16="http://schemas.microsoft.com/office/drawing/2014/main" id="{298716F7-D925-300D-CF71-D7CDE93AF082}"/>
              </a:ext>
            </a:extLst>
          </p:cNvPr>
          <p:cNvSpPr/>
          <p:nvPr/>
        </p:nvSpPr>
        <p:spPr>
          <a:xfrm>
            <a:off x="11545020" y="5088460"/>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3</a:t>
            </a:r>
            <a:endParaRPr lang="es-PE" sz="1100" b="1" dirty="0"/>
          </a:p>
        </p:txBody>
      </p:sp>
      <p:sp>
        <p:nvSpPr>
          <p:cNvPr id="27" name="CuadroTexto 26">
            <a:extLst>
              <a:ext uri="{FF2B5EF4-FFF2-40B4-BE49-F238E27FC236}">
                <a16:creationId xmlns:a16="http://schemas.microsoft.com/office/drawing/2014/main" id="{44829D4C-51B1-2E7A-B313-9C1762DE0846}"/>
              </a:ext>
            </a:extLst>
          </p:cNvPr>
          <p:cNvSpPr txBox="1"/>
          <p:nvPr/>
        </p:nvSpPr>
        <p:spPr>
          <a:xfrm>
            <a:off x="10555303" y="4012758"/>
            <a:ext cx="1483278"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15" name="CuadroTexto 14">
            <a:extLst>
              <a:ext uri="{FF2B5EF4-FFF2-40B4-BE49-F238E27FC236}">
                <a16:creationId xmlns:a16="http://schemas.microsoft.com/office/drawing/2014/main" id="{B2719EB5-D8E0-A742-1EE4-D790D37D6E8D}"/>
              </a:ext>
            </a:extLst>
          </p:cNvPr>
          <p:cNvSpPr txBox="1"/>
          <p:nvPr/>
        </p:nvSpPr>
        <p:spPr>
          <a:xfrm>
            <a:off x="4362421" y="5312190"/>
            <a:ext cx="4516108" cy="287715"/>
          </a:xfrm>
          <a:prstGeom prst="roundRect">
            <a:avLst>
              <a:gd name="adj" fmla="val 7573"/>
            </a:avLst>
          </a:prstGeom>
          <a:solidFill>
            <a:srgbClr val="7030A0"/>
          </a:solidFill>
        </p:spPr>
        <p:txBody>
          <a:bodyPr wrap="square">
            <a:spAutoFit/>
          </a:bodyPr>
          <a:lstStyle/>
          <a:p>
            <a:pPr algn="ctr"/>
            <a:r>
              <a:rPr lang="es-ES" sz="1200" b="1" dirty="0">
                <a:solidFill>
                  <a:srgbClr val="FFFFFF"/>
                </a:solidFill>
              </a:rPr>
              <a:t>Repita los pasos con el tipo de horario de Práctica</a:t>
            </a:r>
          </a:p>
        </p:txBody>
      </p:sp>
    </p:spTree>
    <p:extLst>
      <p:ext uri="{BB962C8B-B14F-4D97-AF65-F5344CB8AC3E}">
        <p14:creationId xmlns:p14="http://schemas.microsoft.com/office/powerpoint/2010/main" val="201183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heel(1)">
                                      <p:cBhvr>
                                        <p:cTn id="46" dur="2000"/>
                                        <p:tgtEl>
                                          <p:spTgt spid="25"/>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p:cTn id="50" dur="500" fill="hold"/>
                                        <p:tgtEl>
                                          <p:spTgt spid="26"/>
                                        </p:tgtEl>
                                        <p:attrNameLst>
                                          <p:attrName>ppt_w</p:attrName>
                                        </p:attrNameLst>
                                      </p:cBhvr>
                                      <p:tavLst>
                                        <p:tav tm="0">
                                          <p:val>
                                            <p:fltVal val="0"/>
                                          </p:val>
                                        </p:tav>
                                        <p:tav tm="100000">
                                          <p:val>
                                            <p:strVal val="#ppt_w"/>
                                          </p:val>
                                        </p:tav>
                                      </p:tavLst>
                                    </p:anim>
                                    <p:anim calcmode="lin" valueType="num">
                                      <p:cBhvr>
                                        <p:cTn id="51" dur="500" fill="hold"/>
                                        <p:tgtEl>
                                          <p:spTgt spid="26"/>
                                        </p:tgtEl>
                                        <p:attrNameLst>
                                          <p:attrName>ppt_h</p:attrName>
                                        </p:attrNameLst>
                                      </p:cBhvr>
                                      <p:tavLst>
                                        <p:tav tm="0">
                                          <p:val>
                                            <p:fltVal val="0"/>
                                          </p:val>
                                        </p:tav>
                                        <p:tav tm="100000">
                                          <p:val>
                                            <p:strVal val="#ppt_h"/>
                                          </p:val>
                                        </p:tav>
                                      </p:tavLst>
                                    </p:anim>
                                    <p:animEffect transition="in" filter="fade">
                                      <p:cBhvr>
                                        <p:cTn id="52" dur="500"/>
                                        <p:tgtEl>
                                          <p:spTgt spid="26"/>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childTnLst>
                          </p:cTn>
                        </p:par>
                        <p:par>
                          <p:cTn id="57" fill="hold">
                            <p:stCondLst>
                              <p:cond delay="10000"/>
                            </p:stCondLst>
                            <p:childTnLst>
                              <p:par>
                                <p:cTn id="58" presetID="22" presetClass="entr" presetSubtype="1" fill="hold"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up)">
                                      <p:cBhvr>
                                        <p:cTn id="60" dur="500"/>
                                        <p:tgtEl>
                                          <p:spTgt spid="22"/>
                                        </p:tgtEl>
                                      </p:cBhvr>
                                    </p:animEffect>
                                  </p:childTnLst>
                                </p:cTn>
                              </p:par>
                            </p:childTnLst>
                          </p:cTn>
                        </p:par>
                        <p:par>
                          <p:cTn id="61" fill="hold">
                            <p:stCondLst>
                              <p:cond delay="10500"/>
                            </p:stCondLst>
                            <p:childTnLst>
                              <p:par>
                                <p:cTn id="62" presetID="21" presetClass="entr" presetSubtype="1" fill="hold" grpId="0"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heel(1)">
                                      <p:cBhvr>
                                        <p:cTn id="64" dur="2000"/>
                                        <p:tgtEl>
                                          <p:spTgt spid="24"/>
                                        </p:tgtEl>
                                      </p:cBhvr>
                                    </p:animEffect>
                                  </p:childTnLst>
                                </p:cTn>
                              </p:par>
                            </p:childTnLst>
                          </p:cTn>
                        </p:par>
                        <p:par>
                          <p:cTn id="65" fill="hold">
                            <p:stCondLst>
                              <p:cond delay="12500"/>
                            </p:stCondLst>
                            <p:childTnLst>
                              <p:par>
                                <p:cTn id="66" presetID="10" presetClass="entr" presetSubtype="0" fill="hold" grpId="0" nodeType="after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21" grpId="0" animBg="1"/>
      <p:bldP spid="24" grpId="0" animBg="1"/>
      <p:bldP spid="25" grpId="0" animBg="1"/>
      <p:bldP spid="26" grpId="0" animBg="1"/>
      <p:bldP spid="27" grpId="0" animBg="1"/>
      <p:bldP spid="1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746D52F8-233A-758F-28A0-E5CC0A6B0DF2}"/>
              </a:ext>
            </a:extLst>
          </p:cNvPr>
          <p:cNvPicPr>
            <a:picLocks noChangeAspect="1"/>
          </p:cNvPicPr>
          <p:nvPr/>
        </p:nvPicPr>
        <p:blipFill>
          <a:blip r:embed="rId3"/>
          <a:stretch>
            <a:fillRect/>
          </a:stretch>
        </p:blipFill>
        <p:spPr>
          <a:xfrm>
            <a:off x="337179" y="991419"/>
            <a:ext cx="11599182" cy="4909675"/>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405373" cy="523220"/>
          </a:xfrm>
          <a:prstGeom prst="rect">
            <a:avLst/>
          </a:prstGeom>
          <a:noFill/>
        </p:spPr>
        <p:txBody>
          <a:bodyPr wrap="none" rtlCol="0">
            <a:spAutoFit/>
          </a:bodyPr>
          <a:lstStyle/>
          <a:p>
            <a:r>
              <a:rPr lang="es-ES" sz="2800" b="1" dirty="0">
                <a:latin typeface="Montserrat" pitchFamily="2" charset="0"/>
              </a:rPr>
              <a:t>UNIR LIGAS - SSADETL</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906298" y="241540"/>
            <a:ext cx="7285700"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9" name="Rectángulo 8">
            <a:extLst>
              <a:ext uri="{FF2B5EF4-FFF2-40B4-BE49-F238E27FC236}">
                <a16:creationId xmlns:a16="http://schemas.microsoft.com/office/drawing/2014/main" id="{EFF855A6-C5E7-24CA-A3E2-3558D858EA9B}"/>
              </a:ext>
            </a:extLst>
          </p:cNvPr>
          <p:cNvSpPr/>
          <p:nvPr/>
        </p:nvSpPr>
        <p:spPr>
          <a:xfrm>
            <a:off x="337179" y="1535026"/>
            <a:ext cx="1505635" cy="23732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55270CC5-4728-AE8C-364A-72248BACEDF2}"/>
              </a:ext>
            </a:extLst>
          </p:cNvPr>
          <p:cNvSpPr/>
          <p:nvPr/>
        </p:nvSpPr>
        <p:spPr>
          <a:xfrm>
            <a:off x="2003935" y="1562409"/>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BC866614-CE61-50F4-077A-8DC2FE47FFF5}"/>
              </a:ext>
            </a:extLst>
          </p:cNvPr>
          <p:cNvSpPr txBox="1"/>
          <p:nvPr/>
        </p:nvSpPr>
        <p:spPr>
          <a:xfrm>
            <a:off x="2316738" y="1521849"/>
            <a:ext cx="3730572" cy="287715"/>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de </a:t>
            </a:r>
            <a:r>
              <a:rPr lang="es-ES" sz="1200" b="1" dirty="0">
                <a:solidFill>
                  <a:srgbClr val="92D050"/>
                </a:solidFill>
              </a:rPr>
              <a:t>Correquisitos y ligas de sección</a:t>
            </a:r>
          </a:p>
        </p:txBody>
      </p:sp>
      <p:sp>
        <p:nvSpPr>
          <p:cNvPr id="13" name="Rectángulo 12">
            <a:extLst>
              <a:ext uri="{FF2B5EF4-FFF2-40B4-BE49-F238E27FC236}">
                <a16:creationId xmlns:a16="http://schemas.microsoft.com/office/drawing/2014/main" id="{95D81E4B-619B-388F-8CC9-69A29B752CC9}"/>
              </a:ext>
            </a:extLst>
          </p:cNvPr>
          <p:cNvSpPr/>
          <p:nvPr/>
        </p:nvSpPr>
        <p:spPr>
          <a:xfrm>
            <a:off x="337179" y="2074315"/>
            <a:ext cx="644988"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E70B5287-FF77-2CF5-18ED-EC73557B7292}"/>
              </a:ext>
            </a:extLst>
          </p:cNvPr>
          <p:cNvSpPr/>
          <p:nvPr/>
        </p:nvSpPr>
        <p:spPr>
          <a:xfrm>
            <a:off x="1089996" y="206845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21" name="CuadroTexto 20">
            <a:extLst>
              <a:ext uri="{FF2B5EF4-FFF2-40B4-BE49-F238E27FC236}">
                <a16:creationId xmlns:a16="http://schemas.microsoft.com/office/drawing/2014/main" id="{4B7E9AC0-C7E4-8D2A-B847-C7C72E1CEDC9}"/>
              </a:ext>
            </a:extLst>
          </p:cNvPr>
          <p:cNvSpPr txBox="1"/>
          <p:nvPr/>
        </p:nvSpPr>
        <p:spPr>
          <a:xfrm>
            <a:off x="1455175" y="1990815"/>
            <a:ext cx="2606471" cy="479524"/>
          </a:xfrm>
          <a:prstGeom prst="roundRect">
            <a:avLst>
              <a:gd name="adj" fmla="val 7573"/>
            </a:avLst>
          </a:prstGeom>
          <a:solidFill>
            <a:srgbClr val="7030A0"/>
          </a:solidFill>
        </p:spPr>
        <p:txBody>
          <a:bodyPr wrap="square">
            <a:spAutoFit/>
          </a:bodyPr>
          <a:lstStyle/>
          <a:p>
            <a:pPr algn="ctr"/>
            <a:r>
              <a:rPr lang="es-ES" sz="1200" dirty="0">
                <a:solidFill>
                  <a:srgbClr val="FFFFFF"/>
                </a:solidFill>
              </a:rPr>
              <a:t>Adiciona el nombre del </a:t>
            </a:r>
            <a:r>
              <a:rPr lang="es-ES" sz="1200" b="1" dirty="0">
                <a:solidFill>
                  <a:srgbClr val="92D050"/>
                </a:solidFill>
              </a:rPr>
              <a:t>Conector de liga</a:t>
            </a:r>
            <a:r>
              <a:rPr lang="es-ES" sz="1200" dirty="0">
                <a:solidFill>
                  <a:srgbClr val="FFFFFF"/>
                </a:solidFill>
              </a:rPr>
              <a:t> del otro u otros tipos de horario</a:t>
            </a:r>
            <a:endParaRPr lang="es-ES" sz="1200" dirty="0">
              <a:solidFill>
                <a:schemeClr val="bg1"/>
              </a:solidFill>
            </a:endParaRPr>
          </a:p>
        </p:txBody>
      </p:sp>
      <p:graphicFrame>
        <p:nvGraphicFramePr>
          <p:cNvPr id="22" name="Tabla 21">
            <a:extLst>
              <a:ext uri="{FF2B5EF4-FFF2-40B4-BE49-F238E27FC236}">
                <a16:creationId xmlns:a16="http://schemas.microsoft.com/office/drawing/2014/main" id="{548A70F6-150F-1687-3B2A-8259FC705B0E}"/>
              </a:ext>
            </a:extLst>
          </p:cNvPr>
          <p:cNvGraphicFramePr>
            <a:graphicFrameLocks noGrp="1"/>
          </p:cNvGraphicFramePr>
          <p:nvPr/>
        </p:nvGraphicFramePr>
        <p:xfrm>
          <a:off x="659673" y="3687901"/>
          <a:ext cx="9538429" cy="1381760"/>
        </p:xfrm>
        <a:graphic>
          <a:graphicData uri="http://schemas.openxmlformats.org/drawingml/2006/table">
            <a:tbl>
              <a:tblPr firstRow="1" bandRow="1">
                <a:tableStyleId>{93296810-A885-4BE3-A3E7-6D5BEEA58F35}</a:tableStyleId>
              </a:tblPr>
              <a:tblGrid>
                <a:gridCol w="1175037">
                  <a:extLst>
                    <a:ext uri="{9D8B030D-6E8A-4147-A177-3AD203B41FA5}">
                      <a16:colId xmlns:a16="http://schemas.microsoft.com/office/drawing/2014/main" val="16898619"/>
                    </a:ext>
                  </a:extLst>
                </a:gridCol>
                <a:gridCol w="1175037">
                  <a:extLst>
                    <a:ext uri="{9D8B030D-6E8A-4147-A177-3AD203B41FA5}">
                      <a16:colId xmlns:a16="http://schemas.microsoft.com/office/drawing/2014/main" val="824824289"/>
                    </a:ext>
                  </a:extLst>
                </a:gridCol>
                <a:gridCol w="1175037">
                  <a:extLst>
                    <a:ext uri="{9D8B030D-6E8A-4147-A177-3AD203B41FA5}">
                      <a16:colId xmlns:a16="http://schemas.microsoft.com/office/drawing/2014/main" val="3398822324"/>
                    </a:ext>
                  </a:extLst>
                </a:gridCol>
                <a:gridCol w="1175037">
                  <a:extLst>
                    <a:ext uri="{9D8B030D-6E8A-4147-A177-3AD203B41FA5}">
                      <a16:colId xmlns:a16="http://schemas.microsoft.com/office/drawing/2014/main" val="2312879742"/>
                    </a:ext>
                  </a:extLst>
                </a:gridCol>
                <a:gridCol w="1175037">
                  <a:extLst>
                    <a:ext uri="{9D8B030D-6E8A-4147-A177-3AD203B41FA5}">
                      <a16:colId xmlns:a16="http://schemas.microsoft.com/office/drawing/2014/main" val="3638916652"/>
                    </a:ext>
                  </a:extLst>
                </a:gridCol>
                <a:gridCol w="1831622">
                  <a:extLst>
                    <a:ext uri="{9D8B030D-6E8A-4147-A177-3AD203B41FA5}">
                      <a16:colId xmlns:a16="http://schemas.microsoft.com/office/drawing/2014/main" val="1038382377"/>
                    </a:ext>
                  </a:extLst>
                </a:gridCol>
                <a:gridCol w="1831622">
                  <a:extLst>
                    <a:ext uri="{9D8B030D-6E8A-4147-A177-3AD203B41FA5}">
                      <a16:colId xmlns:a16="http://schemas.microsoft.com/office/drawing/2014/main" val="943035796"/>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tc>
                  <a:txBody>
                    <a:bodyPr/>
                    <a:lstStyle/>
                    <a:p>
                      <a:pPr algn="ctr"/>
                      <a:r>
                        <a:rPr lang="es-ES" dirty="0"/>
                        <a:t>NRC</a:t>
                      </a:r>
                      <a:endParaRPr lang="es-PE" dirty="0"/>
                    </a:p>
                  </a:txBody>
                  <a:tcPr anchor="ctr">
                    <a:solidFill>
                      <a:schemeClr val="tx1">
                        <a:lumMod val="85000"/>
                        <a:lumOff val="15000"/>
                      </a:schemeClr>
                    </a:solidFill>
                  </a:tcPr>
                </a:tc>
                <a:tc>
                  <a:txBody>
                    <a:bodyPr/>
                    <a:lstStyle/>
                    <a:p>
                      <a:pPr algn="ctr"/>
                      <a:r>
                        <a:rPr lang="es-ES" dirty="0"/>
                        <a:t>Identificador de liga SSASECT</a:t>
                      </a:r>
                      <a:endParaRPr lang="es-PE" dirty="0"/>
                    </a:p>
                  </a:txBody>
                  <a:tcPr anchor="ctr">
                    <a:solidFill>
                      <a:schemeClr val="tx1">
                        <a:lumMod val="85000"/>
                        <a:lumOff val="15000"/>
                      </a:schemeClr>
                    </a:solidFill>
                  </a:tcPr>
                </a:tc>
                <a:tc>
                  <a:txBody>
                    <a:bodyPr/>
                    <a:lstStyle/>
                    <a:p>
                      <a:pPr algn="ctr"/>
                      <a:r>
                        <a:rPr lang="es-ES" dirty="0"/>
                        <a:t>Liga vinculada SSADETL</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1020</a:t>
                      </a:r>
                      <a:endParaRPr lang="es-PE" dirty="0"/>
                    </a:p>
                  </a:txBody>
                  <a:tcPr anchor="ctr"/>
                </a:tc>
                <a:tc>
                  <a:txBody>
                    <a:bodyPr/>
                    <a:lstStyle/>
                    <a:p>
                      <a:pPr algn="ctr"/>
                      <a:r>
                        <a:rPr lang="es-ES" dirty="0"/>
                        <a:t>TE</a:t>
                      </a:r>
                      <a:endParaRPr lang="es-PE" dirty="0"/>
                    </a:p>
                  </a:txBody>
                  <a:tcPr anchor="ctr"/>
                </a:tc>
                <a:tc>
                  <a:txBody>
                    <a:bodyPr/>
                    <a:lstStyle/>
                    <a:p>
                      <a:pPr algn="ctr"/>
                      <a:r>
                        <a:rPr lang="es-ES" dirty="0"/>
                        <a:t>PR</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1022</a:t>
                      </a:r>
                      <a:endParaRPr lang="es-PE" dirty="0"/>
                    </a:p>
                  </a:txBody>
                  <a:tcPr anchor="ctr"/>
                </a:tc>
                <a:tc>
                  <a:txBody>
                    <a:bodyPr/>
                    <a:lstStyle/>
                    <a:p>
                      <a:pPr algn="ctr"/>
                      <a:r>
                        <a:rPr lang="es-ES" dirty="0"/>
                        <a:t>PR</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683514150"/>
                  </a:ext>
                </a:extLst>
              </a:tr>
            </a:tbl>
          </a:graphicData>
        </a:graphic>
      </p:graphicFrame>
      <p:sp>
        <p:nvSpPr>
          <p:cNvPr id="24" name="Rectángulo 23">
            <a:extLst>
              <a:ext uri="{FF2B5EF4-FFF2-40B4-BE49-F238E27FC236}">
                <a16:creationId xmlns:a16="http://schemas.microsoft.com/office/drawing/2014/main" id="{BB04A691-D410-F5C6-1F95-1084A9385F62}"/>
              </a:ext>
            </a:extLst>
          </p:cNvPr>
          <p:cNvSpPr/>
          <p:nvPr/>
        </p:nvSpPr>
        <p:spPr>
          <a:xfrm>
            <a:off x="8328502" y="4719369"/>
            <a:ext cx="1901046" cy="350635"/>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5" name="Rectángulo 24">
            <a:extLst>
              <a:ext uri="{FF2B5EF4-FFF2-40B4-BE49-F238E27FC236}">
                <a16:creationId xmlns:a16="http://schemas.microsoft.com/office/drawing/2014/main" id="{E49B45D1-59C2-FE94-A9E1-F464815E0980}"/>
              </a:ext>
            </a:extLst>
          </p:cNvPr>
          <p:cNvSpPr/>
          <p:nvPr/>
        </p:nvSpPr>
        <p:spPr>
          <a:xfrm>
            <a:off x="11314890" y="548996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6" name="Rectángulo: esquinas redondeadas 25">
            <a:extLst>
              <a:ext uri="{FF2B5EF4-FFF2-40B4-BE49-F238E27FC236}">
                <a16:creationId xmlns:a16="http://schemas.microsoft.com/office/drawing/2014/main" id="{298716F7-D925-300D-CF71-D7CDE93AF082}"/>
              </a:ext>
            </a:extLst>
          </p:cNvPr>
          <p:cNvSpPr/>
          <p:nvPr/>
        </p:nvSpPr>
        <p:spPr>
          <a:xfrm>
            <a:off x="11505692" y="514745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3</a:t>
            </a:r>
            <a:endParaRPr lang="es-PE" sz="1100" b="1" dirty="0"/>
          </a:p>
        </p:txBody>
      </p:sp>
      <p:sp>
        <p:nvSpPr>
          <p:cNvPr id="27" name="CuadroTexto 26">
            <a:extLst>
              <a:ext uri="{FF2B5EF4-FFF2-40B4-BE49-F238E27FC236}">
                <a16:creationId xmlns:a16="http://schemas.microsoft.com/office/drawing/2014/main" id="{44829D4C-51B1-2E7A-B313-9C1762DE0846}"/>
              </a:ext>
            </a:extLst>
          </p:cNvPr>
          <p:cNvSpPr txBox="1"/>
          <p:nvPr/>
        </p:nvSpPr>
        <p:spPr>
          <a:xfrm>
            <a:off x="10515975" y="4071750"/>
            <a:ext cx="1483278"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Tree>
    <p:extLst>
      <p:ext uri="{BB962C8B-B14F-4D97-AF65-F5344CB8AC3E}">
        <p14:creationId xmlns:p14="http://schemas.microsoft.com/office/powerpoint/2010/main" val="147140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1" presetClass="entr" presetSubtype="1"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heel(1)">
                                      <p:cBhvr>
                                        <p:cTn id="14" dur="2000"/>
                                        <p:tgtEl>
                                          <p:spTgt spid="9"/>
                                        </p:tgtEl>
                                      </p:cBhvr>
                                    </p:animEffect>
                                  </p:childTnLst>
                                </p:cTn>
                              </p:par>
                            </p:childTnLst>
                          </p:cTn>
                        </p:par>
                        <p:par>
                          <p:cTn id="15" fill="hold">
                            <p:stCondLst>
                              <p:cond delay="2500"/>
                            </p:stCondLst>
                            <p:childTnLst>
                              <p:par>
                                <p:cTn id="16" presetID="53" presetClass="entr" presetSubtype="16"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3500"/>
                            </p:stCondLst>
                            <p:childTnLst>
                              <p:par>
                                <p:cTn id="26" presetID="21" presetClass="entr" presetSubtype="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heel(1)">
                                      <p:cBhvr>
                                        <p:cTn id="28" dur="2000"/>
                                        <p:tgtEl>
                                          <p:spTgt spid="13"/>
                                        </p:tgtEl>
                                      </p:cBhvr>
                                    </p:animEffect>
                                  </p:childTnLst>
                                </p:cTn>
                              </p:par>
                            </p:childTnLst>
                          </p:cTn>
                        </p:par>
                        <p:par>
                          <p:cTn id="29" fill="hold">
                            <p:stCondLst>
                              <p:cond delay="5500"/>
                            </p:stCondLst>
                            <p:childTnLst>
                              <p:par>
                                <p:cTn id="30" presetID="53" presetClass="entr" presetSubtype="16"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par>
                          <p:cTn id="35" fill="hold">
                            <p:stCondLst>
                              <p:cond delay="6000"/>
                            </p:stCondLst>
                            <p:childTnLst>
                              <p:par>
                                <p:cTn id="36" presetID="10" presetClass="entr" presetSubtype="0"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par>
                          <p:cTn id="39" fill="hold">
                            <p:stCondLst>
                              <p:cond delay="6500"/>
                            </p:stCondLst>
                            <p:childTnLst>
                              <p:par>
                                <p:cTn id="40" presetID="21" presetClass="entr" presetSubtype="1"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heel(1)">
                                      <p:cBhvr>
                                        <p:cTn id="42" dur="2000"/>
                                        <p:tgtEl>
                                          <p:spTgt spid="25"/>
                                        </p:tgtEl>
                                      </p:cBhvr>
                                    </p:animEffect>
                                  </p:childTnLst>
                                </p:cTn>
                              </p:par>
                            </p:childTnLst>
                          </p:cTn>
                        </p:par>
                        <p:par>
                          <p:cTn id="43" fill="hold">
                            <p:stCondLst>
                              <p:cond delay="8500"/>
                            </p:stCondLst>
                            <p:childTnLst>
                              <p:par>
                                <p:cTn id="44" presetID="53" presetClass="entr" presetSubtype="16" fill="hold" grpId="0" nodeType="after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500" fill="hold"/>
                                        <p:tgtEl>
                                          <p:spTgt spid="26"/>
                                        </p:tgtEl>
                                        <p:attrNameLst>
                                          <p:attrName>ppt_w</p:attrName>
                                        </p:attrNameLst>
                                      </p:cBhvr>
                                      <p:tavLst>
                                        <p:tav tm="0">
                                          <p:val>
                                            <p:fltVal val="0"/>
                                          </p:val>
                                        </p:tav>
                                        <p:tav tm="100000">
                                          <p:val>
                                            <p:strVal val="#ppt_w"/>
                                          </p:val>
                                        </p:tav>
                                      </p:tavLst>
                                    </p:anim>
                                    <p:anim calcmode="lin" valueType="num">
                                      <p:cBhvr>
                                        <p:cTn id="47" dur="500" fill="hold"/>
                                        <p:tgtEl>
                                          <p:spTgt spid="26"/>
                                        </p:tgtEl>
                                        <p:attrNameLst>
                                          <p:attrName>ppt_h</p:attrName>
                                        </p:attrNameLst>
                                      </p:cBhvr>
                                      <p:tavLst>
                                        <p:tav tm="0">
                                          <p:val>
                                            <p:fltVal val="0"/>
                                          </p:val>
                                        </p:tav>
                                        <p:tav tm="100000">
                                          <p:val>
                                            <p:strVal val="#ppt_h"/>
                                          </p:val>
                                        </p:tav>
                                      </p:tavLst>
                                    </p:anim>
                                    <p:animEffect transition="in" filter="fade">
                                      <p:cBhvr>
                                        <p:cTn id="48" dur="500"/>
                                        <p:tgtEl>
                                          <p:spTgt spid="26"/>
                                        </p:tgtEl>
                                      </p:cBhvr>
                                    </p:animEffect>
                                  </p:childTnLst>
                                </p:cTn>
                              </p:par>
                            </p:childTnLst>
                          </p:cTn>
                        </p:par>
                        <p:par>
                          <p:cTn id="49" fill="hold">
                            <p:stCondLst>
                              <p:cond delay="9000"/>
                            </p:stCondLst>
                            <p:childTnLst>
                              <p:par>
                                <p:cTn id="50" presetID="10" presetClass="entr" presetSubtype="0" fill="hold" grpId="0" nodeType="after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childTnLst>
                          </p:cTn>
                        </p:par>
                        <p:par>
                          <p:cTn id="53" fill="hold">
                            <p:stCondLst>
                              <p:cond delay="9500"/>
                            </p:stCondLst>
                            <p:childTnLst>
                              <p:par>
                                <p:cTn id="54" presetID="22" presetClass="entr" presetSubtype="1"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up)">
                                      <p:cBhvr>
                                        <p:cTn id="56" dur="500"/>
                                        <p:tgtEl>
                                          <p:spTgt spid="22"/>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heel(1)">
                                      <p:cBhvr>
                                        <p:cTn id="60"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21" grpId="0" animBg="1"/>
      <p:bldP spid="24" grpId="0" animBg="1"/>
      <p:bldP spid="25" grpId="0" animBg="1"/>
      <p:bldP spid="26" grpId="0" animBg="1"/>
      <p:bldP spid="2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6085320" cy="523220"/>
          </a:xfrm>
          <a:prstGeom prst="rect">
            <a:avLst/>
          </a:prstGeom>
          <a:noFill/>
        </p:spPr>
        <p:txBody>
          <a:bodyPr wrap="none" rtlCol="0">
            <a:spAutoFit/>
          </a:bodyPr>
          <a:lstStyle/>
          <a:p>
            <a:r>
              <a:rPr lang="es-ES" sz="2800" b="1" dirty="0">
                <a:latin typeface="Montserrat" pitchFamily="2" charset="0"/>
              </a:rPr>
              <a:t>ESCENARIOS – UNO A MUCHOS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516640" y="241540"/>
            <a:ext cx="567535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2" name="Tabla 1">
            <a:extLst>
              <a:ext uri="{FF2B5EF4-FFF2-40B4-BE49-F238E27FC236}">
                <a16:creationId xmlns:a16="http://schemas.microsoft.com/office/drawing/2014/main" id="{ACE73B69-7104-CEDF-7996-5C5CA8BED3AD}"/>
              </a:ext>
            </a:extLst>
          </p:cNvPr>
          <p:cNvGraphicFramePr>
            <a:graphicFrameLocks noGrp="1"/>
          </p:cNvGraphicFramePr>
          <p:nvPr>
            <p:extLst>
              <p:ext uri="{D42A27DB-BD31-4B8C-83A1-F6EECF244321}">
                <p14:modId xmlns:p14="http://schemas.microsoft.com/office/powerpoint/2010/main" val="614971423"/>
              </p:ext>
            </p:extLst>
          </p:nvPr>
        </p:nvGraphicFramePr>
        <p:xfrm>
          <a:off x="516650" y="1683030"/>
          <a:ext cx="11158700" cy="1752600"/>
        </p:xfrm>
        <a:graphic>
          <a:graphicData uri="http://schemas.openxmlformats.org/drawingml/2006/table">
            <a:tbl>
              <a:tblPr firstRow="1" bandRow="1">
                <a:tableStyleId>{93296810-A885-4BE3-A3E7-6D5BEEA58F35}</a:tableStyleId>
              </a:tblPr>
              <a:tblGrid>
                <a:gridCol w="1374638">
                  <a:extLst>
                    <a:ext uri="{9D8B030D-6E8A-4147-A177-3AD203B41FA5}">
                      <a16:colId xmlns:a16="http://schemas.microsoft.com/office/drawing/2014/main" val="16898619"/>
                    </a:ext>
                  </a:extLst>
                </a:gridCol>
                <a:gridCol w="1374638">
                  <a:extLst>
                    <a:ext uri="{9D8B030D-6E8A-4147-A177-3AD203B41FA5}">
                      <a16:colId xmlns:a16="http://schemas.microsoft.com/office/drawing/2014/main" val="824824289"/>
                    </a:ext>
                  </a:extLst>
                </a:gridCol>
                <a:gridCol w="1374638">
                  <a:extLst>
                    <a:ext uri="{9D8B030D-6E8A-4147-A177-3AD203B41FA5}">
                      <a16:colId xmlns:a16="http://schemas.microsoft.com/office/drawing/2014/main" val="3398822324"/>
                    </a:ext>
                  </a:extLst>
                </a:gridCol>
                <a:gridCol w="1374638">
                  <a:extLst>
                    <a:ext uri="{9D8B030D-6E8A-4147-A177-3AD203B41FA5}">
                      <a16:colId xmlns:a16="http://schemas.microsoft.com/office/drawing/2014/main" val="2312879742"/>
                    </a:ext>
                  </a:extLst>
                </a:gridCol>
                <a:gridCol w="1374638">
                  <a:extLst>
                    <a:ext uri="{9D8B030D-6E8A-4147-A177-3AD203B41FA5}">
                      <a16:colId xmlns:a16="http://schemas.microsoft.com/office/drawing/2014/main" val="3638916652"/>
                    </a:ext>
                  </a:extLst>
                </a:gridCol>
                <a:gridCol w="2142755">
                  <a:extLst>
                    <a:ext uri="{9D8B030D-6E8A-4147-A177-3AD203B41FA5}">
                      <a16:colId xmlns:a16="http://schemas.microsoft.com/office/drawing/2014/main" val="1038382377"/>
                    </a:ext>
                  </a:extLst>
                </a:gridCol>
                <a:gridCol w="2142755">
                  <a:extLst>
                    <a:ext uri="{9D8B030D-6E8A-4147-A177-3AD203B41FA5}">
                      <a16:colId xmlns:a16="http://schemas.microsoft.com/office/drawing/2014/main" val="943035796"/>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tc>
                  <a:txBody>
                    <a:bodyPr/>
                    <a:lstStyle/>
                    <a:p>
                      <a:pPr algn="ctr"/>
                      <a:r>
                        <a:rPr lang="es-ES" dirty="0"/>
                        <a:t>NRC</a:t>
                      </a:r>
                      <a:endParaRPr lang="es-PE" dirty="0"/>
                    </a:p>
                  </a:txBody>
                  <a:tcPr anchor="ctr">
                    <a:solidFill>
                      <a:schemeClr val="tx1">
                        <a:lumMod val="85000"/>
                        <a:lumOff val="15000"/>
                      </a:schemeClr>
                    </a:solidFill>
                  </a:tcPr>
                </a:tc>
                <a:tc>
                  <a:txBody>
                    <a:bodyPr/>
                    <a:lstStyle/>
                    <a:p>
                      <a:pPr algn="ctr"/>
                      <a:r>
                        <a:rPr lang="es-ES" dirty="0"/>
                        <a:t>Identificador de liga SSASECT</a:t>
                      </a:r>
                      <a:endParaRPr lang="es-PE" dirty="0"/>
                    </a:p>
                  </a:txBody>
                  <a:tcPr anchor="ctr">
                    <a:solidFill>
                      <a:schemeClr val="tx1">
                        <a:lumMod val="85000"/>
                        <a:lumOff val="15000"/>
                      </a:schemeClr>
                    </a:solidFill>
                  </a:tcPr>
                </a:tc>
                <a:tc>
                  <a:txBody>
                    <a:bodyPr/>
                    <a:lstStyle/>
                    <a:p>
                      <a:pPr algn="ctr"/>
                      <a:r>
                        <a:rPr lang="es-ES" dirty="0"/>
                        <a:t>Liga vinculada SSADETL</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1020</a:t>
                      </a:r>
                      <a:endParaRPr lang="es-PE" dirty="0"/>
                    </a:p>
                  </a:txBody>
                  <a:tcPr anchor="ctr"/>
                </a:tc>
                <a:tc>
                  <a:txBody>
                    <a:bodyPr/>
                    <a:lstStyle/>
                    <a:p>
                      <a:pPr algn="ctr"/>
                      <a:r>
                        <a:rPr lang="es-ES" dirty="0"/>
                        <a:t>TE</a:t>
                      </a:r>
                      <a:endParaRPr lang="es-PE" dirty="0"/>
                    </a:p>
                  </a:txBody>
                  <a:tcPr anchor="ctr"/>
                </a:tc>
                <a:tc>
                  <a:txBody>
                    <a:bodyPr/>
                    <a:lstStyle/>
                    <a:p>
                      <a:pPr algn="ctr"/>
                      <a:r>
                        <a:rPr lang="es-ES" dirty="0"/>
                        <a:t>PR</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1022</a:t>
                      </a:r>
                      <a:endParaRPr lang="es-PE" dirty="0"/>
                    </a:p>
                  </a:txBody>
                  <a:tcPr anchor="ctr"/>
                </a:tc>
                <a:tc>
                  <a:txBody>
                    <a:bodyPr/>
                    <a:lstStyle/>
                    <a:p>
                      <a:pPr algn="ctr"/>
                      <a:r>
                        <a:rPr lang="es-ES" dirty="0"/>
                        <a:t>PR</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683514150"/>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1023</a:t>
                      </a:r>
                      <a:endParaRPr lang="es-PE" dirty="0"/>
                    </a:p>
                  </a:txBody>
                  <a:tcPr anchor="ctr"/>
                </a:tc>
                <a:tc>
                  <a:txBody>
                    <a:bodyPr/>
                    <a:lstStyle/>
                    <a:p>
                      <a:pPr algn="ctr"/>
                      <a:r>
                        <a:rPr lang="es-ES" dirty="0"/>
                        <a:t>PR</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80929513"/>
                  </a:ext>
                </a:extLst>
              </a:tr>
            </a:tbl>
          </a:graphicData>
        </a:graphic>
      </p:graphicFrame>
      <p:sp>
        <p:nvSpPr>
          <p:cNvPr id="15" name="CuadroTexto 14">
            <a:extLst>
              <a:ext uri="{FF2B5EF4-FFF2-40B4-BE49-F238E27FC236}">
                <a16:creationId xmlns:a16="http://schemas.microsoft.com/office/drawing/2014/main" id="{1873127C-838F-2BCF-84EA-312426A5F1CB}"/>
              </a:ext>
            </a:extLst>
          </p:cNvPr>
          <p:cNvSpPr txBox="1"/>
          <p:nvPr/>
        </p:nvSpPr>
        <p:spPr>
          <a:xfrm>
            <a:off x="516650" y="4127781"/>
            <a:ext cx="11148869" cy="351651"/>
          </a:xfrm>
          <a:prstGeom prst="roundRect">
            <a:avLst>
              <a:gd name="adj" fmla="val 7573"/>
            </a:avLst>
          </a:prstGeom>
          <a:solidFill>
            <a:srgbClr val="7030A0"/>
          </a:solidFill>
        </p:spPr>
        <p:txBody>
          <a:bodyPr wrap="square">
            <a:spAutoFit/>
          </a:bodyPr>
          <a:lstStyle/>
          <a:p>
            <a:pPr algn="ctr"/>
            <a:r>
              <a:rPr lang="es-ES" sz="1600" dirty="0">
                <a:solidFill>
                  <a:srgbClr val="FFFFFF"/>
                </a:solidFill>
              </a:rPr>
              <a:t>El estudiante al seleccionar el NRC de la teoría 1020, puede seleccionar el NRC 1022 o el NRC 1023</a:t>
            </a:r>
          </a:p>
        </p:txBody>
      </p:sp>
    </p:spTree>
    <p:extLst>
      <p:ext uri="{BB962C8B-B14F-4D97-AF65-F5344CB8AC3E}">
        <p14:creationId xmlns:p14="http://schemas.microsoft.com/office/powerpoint/2010/main" val="1131742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331674" cy="523220"/>
          </a:xfrm>
          <a:prstGeom prst="rect">
            <a:avLst/>
          </a:prstGeom>
          <a:noFill/>
        </p:spPr>
        <p:txBody>
          <a:bodyPr wrap="none" rtlCol="0">
            <a:spAutoFit/>
          </a:bodyPr>
          <a:lstStyle/>
          <a:p>
            <a:r>
              <a:rPr lang="es-ES" sz="2800" b="1" dirty="0">
                <a:latin typeface="Montserrat" pitchFamily="2" charset="0"/>
              </a:rPr>
              <a:t>ESCENARIOS – MUCHOS A MUCHOS SIN RESTRICCIÓN</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0687665" y="241540"/>
            <a:ext cx="1504332"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2" name="Tabla 1">
            <a:extLst>
              <a:ext uri="{FF2B5EF4-FFF2-40B4-BE49-F238E27FC236}">
                <a16:creationId xmlns:a16="http://schemas.microsoft.com/office/drawing/2014/main" id="{ACE73B69-7104-CEDF-7996-5C5CA8BED3AD}"/>
              </a:ext>
            </a:extLst>
          </p:cNvPr>
          <p:cNvGraphicFramePr>
            <a:graphicFrameLocks noGrp="1"/>
          </p:cNvGraphicFramePr>
          <p:nvPr>
            <p:extLst>
              <p:ext uri="{D42A27DB-BD31-4B8C-83A1-F6EECF244321}">
                <p14:modId xmlns:p14="http://schemas.microsoft.com/office/powerpoint/2010/main" val="2993477860"/>
              </p:ext>
            </p:extLst>
          </p:nvPr>
        </p:nvGraphicFramePr>
        <p:xfrm>
          <a:off x="516650" y="1683030"/>
          <a:ext cx="11158700" cy="2123440"/>
        </p:xfrm>
        <a:graphic>
          <a:graphicData uri="http://schemas.openxmlformats.org/drawingml/2006/table">
            <a:tbl>
              <a:tblPr firstRow="1" bandRow="1">
                <a:tableStyleId>{93296810-A885-4BE3-A3E7-6D5BEEA58F35}</a:tableStyleId>
              </a:tblPr>
              <a:tblGrid>
                <a:gridCol w="1374638">
                  <a:extLst>
                    <a:ext uri="{9D8B030D-6E8A-4147-A177-3AD203B41FA5}">
                      <a16:colId xmlns:a16="http://schemas.microsoft.com/office/drawing/2014/main" val="16898619"/>
                    </a:ext>
                  </a:extLst>
                </a:gridCol>
                <a:gridCol w="1374638">
                  <a:extLst>
                    <a:ext uri="{9D8B030D-6E8A-4147-A177-3AD203B41FA5}">
                      <a16:colId xmlns:a16="http://schemas.microsoft.com/office/drawing/2014/main" val="824824289"/>
                    </a:ext>
                  </a:extLst>
                </a:gridCol>
                <a:gridCol w="1374638">
                  <a:extLst>
                    <a:ext uri="{9D8B030D-6E8A-4147-A177-3AD203B41FA5}">
                      <a16:colId xmlns:a16="http://schemas.microsoft.com/office/drawing/2014/main" val="3398822324"/>
                    </a:ext>
                  </a:extLst>
                </a:gridCol>
                <a:gridCol w="1374638">
                  <a:extLst>
                    <a:ext uri="{9D8B030D-6E8A-4147-A177-3AD203B41FA5}">
                      <a16:colId xmlns:a16="http://schemas.microsoft.com/office/drawing/2014/main" val="2312879742"/>
                    </a:ext>
                  </a:extLst>
                </a:gridCol>
                <a:gridCol w="1374638">
                  <a:extLst>
                    <a:ext uri="{9D8B030D-6E8A-4147-A177-3AD203B41FA5}">
                      <a16:colId xmlns:a16="http://schemas.microsoft.com/office/drawing/2014/main" val="3638916652"/>
                    </a:ext>
                  </a:extLst>
                </a:gridCol>
                <a:gridCol w="2142755">
                  <a:extLst>
                    <a:ext uri="{9D8B030D-6E8A-4147-A177-3AD203B41FA5}">
                      <a16:colId xmlns:a16="http://schemas.microsoft.com/office/drawing/2014/main" val="1038382377"/>
                    </a:ext>
                  </a:extLst>
                </a:gridCol>
                <a:gridCol w="2142755">
                  <a:extLst>
                    <a:ext uri="{9D8B030D-6E8A-4147-A177-3AD203B41FA5}">
                      <a16:colId xmlns:a16="http://schemas.microsoft.com/office/drawing/2014/main" val="943035796"/>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tc>
                  <a:txBody>
                    <a:bodyPr/>
                    <a:lstStyle/>
                    <a:p>
                      <a:pPr algn="ctr"/>
                      <a:r>
                        <a:rPr lang="es-ES" dirty="0"/>
                        <a:t>NRC</a:t>
                      </a:r>
                      <a:endParaRPr lang="es-PE" dirty="0"/>
                    </a:p>
                  </a:txBody>
                  <a:tcPr anchor="ctr">
                    <a:solidFill>
                      <a:schemeClr val="tx1">
                        <a:lumMod val="85000"/>
                        <a:lumOff val="15000"/>
                      </a:schemeClr>
                    </a:solidFill>
                  </a:tcPr>
                </a:tc>
                <a:tc>
                  <a:txBody>
                    <a:bodyPr/>
                    <a:lstStyle/>
                    <a:p>
                      <a:pPr algn="ctr"/>
                      <a:r>
                        <a:rPr lang="es-ES" dirty="0"/>
                        <a:t>Identificador de liga SSASECT</a:t>
                      </a:r>
                      <a:endParaRPr lang="es-PE" dirty="0"/>
                    </a:p>
                  </a:txBody>
                  <a:tcPr anchor="ctr">
                    <a:solidFill>
                      <a:schemeClr val="tx1">
                        <a:lumMod val="85000"/>
                        <a:lumOff val="15000"/>
                      </a:schemeClr>
                    </a:solidFill>
                  </a:tcPr>
                </a:tc>
                <a:tc>
                  <a:txBody>
                    <a:bodyPr/>
                    <a:lstStyle/>
                    <a:p>
                      <a:pPr algn="ctr"/>
                      <a:r>
                        <a:rPr lang="es-ES" dirty="0"/>
                        <a:t>Liga vinculada SSADETL</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1020</a:t>
                      </a:r>
                      <a:endParaRPr lang="es-PE" dirty="0"/>
                    </a:p>
                  </a:txBody>
                  <a:tcPr anchor="ctr"/>
                </a:tc>
                <a:tc>
                  <a:txBody>
                    <a:bodyPr/>
                    <a:lstStyle/>
                    <a:p>
                      <a:pPr algn="ctr"/>
                      <a:r>
                        <a:rPr lang="es-ES" dirty="0"/>
                        <a:t>TE</a:t>
                      </a:r>
                      <a:endParaRPr lang="es-PE" dirty="0"/>
                    </a:p>
                  </a:txBody>
                  <a:tcPr anchor="ctr"/>
                </a:tc>
                <a:tc>
                  <a:txBody>
                    <a:bodyPr/>
                    <a:lstStyle/>
                    <a:p>
                      <a:pPr algn="ctr"/>
                      <a:r>
                        <a:rPr lang="es-ES" dirty="0"/>
                        <a:t>PR</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1021</a:t>
                      </a:r>
                      <a:endParaRPr lang="es-PE" dirty="0"/>
                    </a:p>
                  </a:txBody>
                  <a:tcPr anchor="ctr"/>
                </a:tc>
                <a:tc>
                  <a:txBody>
                    <a:bodyPr/>
                    <a:lstStyle/>
                    <a:p>
                      <a:pPr algn="ctr"/>
                      <a:r>
                        <a:rPr lang="es-ES" dirty="0"/>
                        <a:t>TE</a:t>
                      </a:r>
                      <a:endParaRPr lang="es-PE" dirty="0"/>
                    </a:p>
                  </a:txBody>
                  <a:tcPr anchor="ctr"/>
                </a:tc>
                <a:tc>
                  <a:txBody>
                    <a:bodyPr/>
                    <a:lstStyle/>
                    <a:p>
                      <a:pPr algn="ctr"/>
                      <a:r>
                        <a:rPr lang="es-ES" dirty="0"/>
                        <a:t>PR</a:t>
                      </a:r>
                      <a:endParaRPr lang="es-PE" dirty="0"/>
                    </a:p>
                  </a:txBody>
                  <a:tcPr anchor="ctr"/>
                </a:tc>
                <a:extLst>
                  <a:ext uri="{0D108BD9-81ED-4DB2-BD59-A6C34878D82A}">
                    <a16:rowId xmlns:a16="http://schemas.microsoft.com/office/drawing/2014/main" val="174763135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1022</a:t>
                      </a:r>
                      <a:endParaRPr lang="es-PE" dirty="0"/>
                    </a:p>
                  </a:txBody>
                  <a:tcPr anchor="ctr"/>
                </a:tc>
                <a:tc>
                  <a:txBody>
                    <a:bodyPr/>
                    <a:lstStyle/>
                    <a:p>
                      <a:pPr algn="ctr"/>
                      <a:r>
                        <a:rPr lang="es-ES" dirty="0"/>
                        <a:t>PR</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683514150"/>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1023</a:t>
                      </a:r>
                      <a:endParaRPr lang="es-PE" dirty="0"/>
                    </a:p>
                  </a:txBody>
                  <a:tcPr anchor="ctr"/>
                </a:tc>
                <a:tc>
                  <a:txBody>
                    <a:bodyPr/>
                    <a:lstStyle/>
                    <a:p>
                      <a:pPr algn="ctr"/>
                      <a:r>
                        <a:rPr lang="es-ES" dirty="0"/>
                        <a:t>PR</a:t>
                      </a:r>
                      <a:endParaRPr lang="es-PE" dirty="0"/>
                    </a:p>
                  </a:txBody>
                  <a:tcPr anchor="ctr"/>
                </a:tc>
                <a:tc>
                  <a:txBody>
                    <a:bodyPr/>
                    <a:lstStyle/>
                    <a:p>
                      <a:pPr algn="ctr"/>
                      <a:r>
                        <a:rPr lang="es-ES" dirty="0"/>
                        <a:t>TE</a:t>
                      </a:r>
                      <a:endParaRPr lang="es-PE" dirty="0"/>
                    </a:p>
                  </a:txBody>
                  <a:tcPr anchor="ctr"/>
                </a:tc>
                <a:extLst>
                  <a:ext uri="{0D108BD9-81ED-4DB2-BD59-A6C34878D82A}">
                    <a16:rowId xmlns:a16="http://schemas.microsoft.com/office/drawing/2014/main" val="80929513"/>
                  </a:ext>
                </a:extLst>
              </a:tr>
            </a:tbl>
          </a:graphicData>
        </a:graphic>
      </p:graphicFrame>
      <p:sp>
        <p:nvSpPr>
          <p:cNvPr id="15" name="CuadroTexto 14">
            <a:extLst>
              <a:ext uri="{FF2B5EF4-FFF2-40B4-BE49-F238E27FC236}">
                <a16:creationId xmlns:a16="http://schemas.microsoft.com/office/drawing/2014/main" id="{1873127C-838F-2BCF-84EA-312426A5F1CB}"/>
              </a:ext>
            </a:extLst>
          </p:cNvPr>
          <p:cNvSpPr txBox="1"/>
          <p:nvPr/>
        </p:nvSpPr>
        <p:spPr>
          <a:xfrm>
            <a:off x="516650" y="4502473"/>
            <a:ext cx="11148869" cy="607397"/>
          </a:xfrm>
          <a:prstGeom prst="roundRect">
            <a:avLst>
              <a:gd name="adj" fmla="val 7573"/>
            </a:avLst>
          </a:prstGeom>
          <a:solidFill>
            <a:srgbClr val="7030A0"/>
          </a:solidFill>
        </p:spPr>
        <p:txBody>
          <a:bodyPr wrap="square">
            <a:spAutoFit/>
          </a:bodyPr>
          <a:lstStyle/>
          <a:p>
            <a:pPr algn="ctr"/>
            <a:r>
              <a:rPr lang="es-ES" sz="1600" dirty="0">
                <a:solidFill>
                  <a:srgbClr val="FFFFFF"/>
                </a:solidFill>
              </a:rPr>
              <a:t>El estudiante puede seleccionar cualquier NRC de teoría: 1020 o 1021</a:t>
            </a:r>
          </a:p>
          <a:p>
            <a:pPr algn="ctr"/>
            <a:r>
              <a:rPr lang="es-ES" sz="1600" dirty="0">
                <a:solidFill>
                  <a:srgbClr val="FFFFFF"/>
                </a:solidFill>
              </a:rPr>
              <a:t>El estudiante puede seleccionar cualquier NRC de práctica: 1022 o 1023</a:t>
            </a:r>
          </a:p>
        </p:txBody>
      </p:sp>
    </p:spTree>
    <p:extLst>
      <p:ext uri="{BB962C8B-B14F-4D97-AF65-F5344CB8AC3E}">
        <p14:creationId xmlns:p14="http://schemas.microsoft.com/office/powerpoint/2010/main" val="10842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10551286" cy="523220"/>
          </a:xfrm>
          <a:prstGeom prst="rect">
            <a:avLst/>
          </a:prstGeom>
          <a:noFill/>
        </p:spPr>
        <p:txBody>
          <a:bodyPr wrap="none" rtlCol="0">
            <a:spAutoFit/>
          </a:bodyPr>
          <a:lstStyle/>
          <a:p>
            <a:r>
              <a:rPr lang="es-ES" sz="2800" b="1" dirty="0">
                <a:latin typeface="Montserrat" pitchFamily="2" charset="0"/>
              </a:rPr>
              <a:t>ESCENARIOS – MUCHOS A MUCHOS CON RESTRICCIÓN</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10884309" y="241540"/>
            <a:ext cx="130768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graphicFrame>
        <p:nvGraphicFramePr>
          <p:cNvPr id="2" name="Tabla 1">
            <a:extLst>
              <a:ext uri="{FF2B5EF4-FFF2-40B4-BE49-F238E27FC236}">
                <a16:creationId xmlns:a16="http://schemas.microsoft.com/office/drawing/2014/main" id="{ACE73B69-7104-CEDF-7996-5C5CA8BED3AD}"/>
              </a:ext>
            </a:extLst>
          </p:cNvPr>
          <p:cNvGraphicFramePr>
            <a:graphicFrameLocks noGrp="1"/>
          </p:cNvGraphicFramePr>
          <p:nvPr>
            <p:extLst>
              <p:ext uri="{D42A27DB-BD31-4B8C-83A1-F6EECF244321}">
                <p14:modId xmlns:p14="http://schemas.microsoft.com/office/powerpoint/2010/main" val="3674617308"/>
              </p:ext>
            </p:extLst>
          </p:nvPr>
        </p:nvGraphicFramePr>
        <p:xfrm>
          <a:off x="516650" y="1683030"/>
          <a:ext cx="11158702" cy="2123440"/>
        </p:xfrm>
        <a:graphic>
          <a:graphicData uri="http://schemas.openxmlformats.org/drawingml/2006/table">
            <a:tbl>
              <a:tblPr firstRow="1" bandRow="1">
                <a:tableStyleId>{93296810-A885-4BE3-A3E7-6D5BEEA58F35}</a:tableStyleId>
              </a:tblPr>
              <a:tblGrid>
                <a:gridCol w="1223870">
                  <a:extLst>
                    <a:ext uri="{9D8B030D-6E8A-4147-A177-3AD203B41FA5}">
                      <a16:colId xmlns:a16="http://schemas.microsoft.com/office/drawing/2014/main" val="16898619"/>
                    </a:ext>
                  </a:extLst>
                </a:gridCol>
                <a:gridCol w="1223870">
                  <a:extLst>
                    <a:ext uri="{9D8B030D-6E8A-4147-A177-3AD203B41FA5}">
                      <a16:colId xmlns:a16="http://schemas.microsoft.com/office/drawing/2014/main" val="824824289"/>
                    </a:ext>
                  </a:extLst>
                </a:gridCol>
                <a:gridCol w="1223870">
                  <a:extLst>
                    <a:ext uri="{9D8B030D-6E8A-4147-A177-3AD203B41FA5}">
                      <a16:colId xmlns:a16="http://schemas.microsoft.com/office/drawing/2014/main" val="3398822324"/>
                    </a:ext>
                  </a:extLst>
                </a:gridCol>
                <a:gridCol w="1223870">
                  <a:extLst>
                    <a:ext uri="{9D8B030D-6E8A-4147-A177-3AD203B41FA5}">
                      <a16:colId xmlns:a16="http://schemas.microsoft.com/office/drawing/2014/main" val="2312879742"/>
                    </a:ext>
                  </a:extLst>
                </a:gridCol>
                <a:gridCol w="1223870">
                  <a:extLst>
                    <a:ext uri="{9D8B030D-6E8A-4147-A177-3AD203B41FA5}">
                      <a16:colId xmlns:a16="http://schemas.microsoft.com/office/drawing/2014/main" val="3638916652"/>
                    </a:ext>
                  </a:extLst>
                </a:gridCol>
                <a:gridCol w="1223870">
                  <a:extLst>
                    <a:ext uri="{9D8B030D-6E8A-4147-A177-3AD203B41FA5}">
                      <a16:colId xmlns:a16="http://schemas.microsoft.com/office/drawing/2014/main" val="622013810"/>
                    </a:ext>
                  </a:extLst>
                </a:gridCol>
                <a:gridCol w="1907741">
                  <a:extLst>
                    <a:ext uri="{9D8B030D-6E8A-4147-A177-3AD203B41FA5}">
                      <a16:colId xmlns:a16="http://schemas.microsoft.com/office/drawing/2014/main" val="1038382377"/>
                    </a:ext>
                  </a:extLst>
                </a:gridCol>
                <a:gridCol w="1907741">
                  <a:extLst>
                    <a:ext uri="{9D8B030D-6E8A-4147-A177-3AD203B41FA5}">
                      <a16:colId xmlns:a16="http://schemas.microsoft.com/office/drawing/2014/main" val="943035796"/>
                    </a:ext>
                  </a:extLst>
                </a:gridCol>
              </a:tblGrid>
              <a:tr h="370840">
                <a:tc>
                  <a:txBody>
                    <a:bodyPr/>
                    <a:lstStyle/>
                    <a:p>
                      <a:pPr algn="ctr"/>
                      <a:r>
                        <a:rPr lang="es-ES" dirty="0"/>
                        <a:t>Materia</a:t>
                      </a:r>
                      <a:endParaRPr lang="es-PE" dirty="0"/>
                    </a:p>
                  </a:txBody>
                  <a:tcPr anchor="ctr">
                    <a:solidFill>
                      <a:schemeClr val="tx1">
                        <a:lumMod val="85000"/>
                        <a:lumOff val="15000"/>
                      </a:schemeClr>
                    </a:solidFill>
                  </a:tcPr>
                </a:tc>
                <a:tc>
                  <a:txBody>
                    <a:bodyPr/>
                    <a:lstStyle/>
                    <a:p>
                      <a:pPr algn="ctr"/>
                      <a:r>
                        <a:rPr lang="es-ES" dirty="0"/>
                        <a:t>Curso</a:t>
                      </a:r>
                      <a:endParaRPr lang="es-PE" dirty="0"/>
                    </a:p>
                  </a:txBody>
                  <a:tcPr anchor="ctr">
                    <a:solidFill>
                      <a:schemeClr val="tx1">
                        <a:lumMod val="85000"/>
                        <a:lumOff val="15000"/>
                      </a:schemeClr>
                    </a:solidFill>
                  </a:tcPr>
                </a:tc>
                <a:tc>
                  <a:txBody>
                    <a:bodyPr/>
                    <a:lstStyle/>
                    <a:p>
                      <a:pPr algn="ctr"/>
                      <a:r>
                        <a:rPr lang="es-ES" dirty="0"/>
                        <a:t>Título de curso</a:t>
                      </a:r>
                      <a:endParaRPr lang="es-PE" dirty="0"/>
                    </a:p>
                  </a:txBody>
                  <a:tcPr anchor="ctr">
                    <a:solidFill>
                      <a:schemeClr val="tx1">
                        <a:lumMod val="85000"/>
                        <a:lumOff val="15000"/>
                      </a:schemeClr>
                    </a:solidFill>
                  </a:tcPr>
                </a:tc>
                <a:tc>
                  <a:txBody>
                    <a:bodyPr/>
                    <a:lstStyle/>
                    <a:p>
                      <a:pPr algn="ctr"/>
                      <a:r>
                        <a:rPr lang="es-ES" dirty="0"/>
                        <a:t>Tipo Horario</a:t>
                      </a:r>
                      <a:endParaRPr lang="es-PE" dirty="0"/>
                    </a:p>
                  </a:txBody>
                  <a:tcPr anchor="ctr">
                    <a:solidFill>
                      <a:schemeClr val="tx1">
                        <a:lumMod val="85000"/>
                        <a:lumOff val="15000"/>
                      </a:schemeClr>
                    </a:solidFill>
                  </a:tcPr>
                </a:tc>
                <a:tc>
                  <a:txBody>
                    <a:bodyPr/>
                    <a:lstStyle/>
                    <a:p>
                      <a:pPr algn="ctr"/>
                      <a:r>
                        <a:rPr lang="es-ES" dirty="0"/>
                        <a:t>NRC</a:t>
                      </a:r>
                      <a:endParaRPr lang="es-PE" dirty="0"/>
                    </a:p>
                  </a:txBody>
                  <a:tcPr anchor="ctr">
                    <a:solidFill>
                      <a:schemeClr val="tx1">
                        <a:lumMod val="85000"/>
                        <a:lumOff val="15000"/>
                      </a:schemeClr>
                    </a:solidFill>
                  </a:tcPr>
                </a:tc>
                <a:tc>
                  <a:txBody>
                    <a:bodyPr/>
                    <a:lstStyle/>
                    <a:p>
                      <a:pPr algn="ctr"/>
                      <a:r>
                        <a:rPr lang="es-ES" dirty="0"/>
                        <a:t>Sección</a:t>
                      </a:r>
                      <a:endParaRPr lang="es-PE" dirty="0"/>
                    </a:p>
                  </a:txBody>
                  <a:tcPr anchor="ctr">
                    <a:solidFill>
                      <a:schemeClr val="tx1">
                        <a:lumMod val="85000"/>
                        <a:lumOff val="15000"/>
                      </a:schemeClr>
                    </a:solidFill>
                  </a:tcPr>
                </a:tc>
                <a:tc>
                  <a:txBody>
                    <a:bodyPr/>
                    <a:lstStyle/>
                    <a:p>
                      <a:pPr algn="ctr"/>
                      <a:r>
                        <a:rPr lang="es-ES" dirty="0"/>
                        <a:t>Identificador de liga SSASECT</a:t>
                      </a:r>
                      <a:endParaRPr lang="es-PE" dirty="0"/>
                    </a:p>
                  </a:txBody>
                  <a:tcPr anchor="ctr">
                    <a:solidFill>
                      <a:schemeClr val="tx1">
                        <a:lumMod val="85000"/>
                        <a:lumOff val="15000"/>
                      </a:schemeClr>
                    </a:solidFill>
                  </a:tcPr>
                </a:tc>
                <a:tc>
                  <a:txBody>
                    <a:bodyPr/>
                    <a:lstStyle/>
                    <a:p>
                      <a:pPr algn="ctr"/>
                      <a:r>
                        <a:rPr lang="es-ES" dirty="0"/>
                        <a:t>Liga vinculada SSADETL</a:t>
                      </a:r>
                      <a:endParaRPr lang="es-PE" dirty="0"/>
                    </a:p>
                  </a:txBody>
                  <a:tcPr anchor="ctr">
                    <a:solidFill>
                      <a:schemeClr val="tx1">
                        <a:lumMod val="85000"/>
                        <a:lumOff val="15000"/>
                      </a:schemeClr>
                    </a:solidFill>
                  </a:tcPr>
                </a:tc>
                <a:extLst>
                  <a:ext uri="{0D108BD9-81ED-4DB2-BD59-A6C34878D82A}">
                    <a16:rowId xmlns:a16="http://schemas.microsoft.com/office/drawing/2014/main" val="1913632179"/>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1020</a:t>
                      </a:r>
                      <a:endParaRPr lang="es-PE" dirty="0"/>
                    </a:p>
                  </a:txBody>
                  <a:tcPr anchor="ctr"/>
                </a:tc>
                <a:tc>
                  <a:txBody>
                    <a:bodyPr/>
                    <a:lstStyle/>
                    <a:p>
                      <a:pPr algn="ctr"/>
                      <a:r>
                        <a:rPr lang="es-ES" dirty="0"/>
                        <a:t>AT</a:t>
                      </a:r>
                      <a:endParaRPr lang="es-PE" dirty="0"/>
                    </a:p>
                  </a:txBody>
                  <a:tcPr anchor="ctr"/>
                </a:tc>
                <a:tc>
                  <a:txBody>
                    <a:bodyPr/>
                    <a:lstStyle/>
                    <a:p>
                      <a:pPr algn="ctr"/>
                      <a:r>
                        <a:rPr lang="es-ES" dirty="0"/>
                        <a:t>TA</a:t>
                      </a:r>
                      <a:endParaRPr lang="es-PE" dirty="0"/>
                    </a:p>
                  </a:txBody>
                  <a:tcPr anchor="ctr"/>
                </a:tc>
                <a:tc>
                  <a:txBody>
                    <a:bodyPr/>
                    <a:lstStyle/>
                    <a:p>
                      <a:pPr algn="ctr"/>
                      <a:r>
                        <a:rPr lang="es-ES" dirty="0"/>
                        <a:t>PA</a:t>
                      </a:r>
                      <a:endParaRPr lang="es-PE" dirty="0"/>
                    </a:p>
                  </a:txBody>
                  <a:tcPr anchor="ctr"/>
                </a:tc>
                <a:extLst>
                  <a:ext uri="{0D108BD9-81ED-4DB2-BD59-A6C34878D82A}">
                    <a16:rowId xmlns:a16="http://schemas.microsoft.com/office/drawing/2014/main" val="2736844424"/>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1022</a:t>
                      </a:r>
                      <a:endParaRPr lang="es-PE" dirty="0"/>
                    </a:p>
                  </a:txBody>
                  <a:tcPr anchor="ctr"/>
                </a:tc>
                <a:tc>
                  <a:txBody>
                    <a:bodyPr/>
                    <a:lstStyle/>
                    <a:p>
                      <a:pPr algn="ctr"/>
                      <a:r>
                        <a:rPr lang="es-ES" dirty="0"/>
                        <a:t>AP</a:t>
                      </a:r>
                      <a:endParaRPr lang="es-PE" dirty="0"/>
                    </a:p>
                  </a:txBody>
                  <a:tcPr anchor="ctr"/>
                </a:tc>
                <a:tc>
                  <a:txBody>
                    <a:bodyPr/>
                    <a:lstStyle/>
                    <a:p>
                      <a:pPr algn="ctr"/>
                      <a:r>
                        <a:rPr lang="es-ES" dirty="0"/>
                        <a:t>PA</a:t>
                      </a:r>
                      <a:endParaRPr lang="es-PE" dirty="0"/>
                    </a:p>
                  </a:txBody>
                  <a:tcPr anchor="ctr"/>
                </a:tc>
                <a:tc>
                  <a:txBody>
                    <a:bodyPr/>
                    <a:lstStyle/>
                    <a:p>
                      <a:pPr algn="ctr"/>
                      <a:r>
                        <a:rPr lang="es-ES" dirty="0"/>
                        <a:t>TA</a:t>
                      </a:r>
                      <a:endParaRPr lang="es-PE" dirty="0"/>
                    </a:p>
                  </a:txBody>
                  <a:tcPr anchor="ctr"/>
                </a:tc>
                <a:extLst>
                  <a:ext uri="{0D108BD9-81ED-4DB2-BD59-A6C34878D82A}">
                    <a16:rowId xmlns:a16="http://schemas.microsoft.com/office/drawing/2014/main" val="1887445818"/>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TEO</a:t>
                      </a:r>
                      <a:endParaRPr lang="es-PE" dirty="0"/>
                    </a:p>
                  </a:txBody>
                  <a:tcPr anchor="ctr"/>
                </a:tc>
                <a:tc>
                  <a:txBody>
                    <a:bodyPr/>
                    <a:lstStyle/>
                    <a:p>
                      <a:pPr algn="ctr"/>
                      <a:r>
                        <a:rPr lang="es-ES" dirty="0"/>
                        <a:t>1021</a:t>
                      </a:r>
                      <a:endParaRPr lang="es-PE" dirty="0"/>
                    </a:p>
                  </a:txBody>
                  <a:tcPr anchor="ctr"/>
                </a:tc>
                <a:tc>
                  <a:txBody>
                    <a:bodyPr/>
                    <a:lstStyle/>
                    <a:p>
                      <a:pPr algn="ctr"/>
                      <a:r>
                        <a:rPr lang="es-ES" dirty="0"/>
                        <a:t>BT</a:t>
                      </a:r>
                      <a:endParaRPr lang="es-PE" dirty="0"/>
                    </a:p>
                  </a:txBody>
                  <a:tcPr anchor="ctr"/>
                </a:tc>
                <a:tc>
                  <a:txBody>
                    <a:bodyPr/>
                    <a:lstStyle/>
                    <a:p>
                      <a:pPr algn="ctr"/>
                      <a:r>
                        <a:rPr lang="es-ES" dirty="0"/>
                        <a:t>TB</a:t>
                      </a:r>
                      <a:endParaRPr lang="es-PE" dirty="0"/>
                    </a:p>
                  </a:txBody>
                  <a:tcPr anchor="ctr"/>
                </a:tc>
                <a:tc>
                  <a:txBody>
                    <a:bodyPr/>
                    <a:lstStyle/>
                    <a:p>
                      <a:pPr algn="ctr"/>
                      <a:r>
                        <a:rPr lang="es-ES" dirty="0"/>
                        <a:t>PB</a:t>
                      </a:r>
                      <a:endParaRPr lang="es-PE" dirty="0"/>
                    </a:p>
                  </a:txBody>
                  <a:tcPr anchor="ctr"/>
                </a:tc>
                <a:extLst>
                  <a:ext uri="{0D108BD9-81ED-4DB2-BD59-A6C34878D82A}">
                    <a16:rowId xmlns:a16="http://schemas.microsoft.com/office/drawing/2014/main" val="683514150"/>
                  </a:ext>
                </a:extLst>
              </a:tr>
              <a:tr h="370840">
                <a:tc>
                  <a:txBody>
                    <a:bodyPr/>
                    <a:lstStyle/>
                    <a:p>
                      <a:pPr algn="ctr"/>
                      <a:r>
                        <a:rPr lang="es-ES" dirty="0"/>
                        <a:t>ESEP</a:t>
                      </a:r>
                      <a:endParaRPr lang="es-PE" dirty="0"/>
                    </a:p>
                  </a:txBody>
                  <a:tcPr anchor="ctr"/>
                </a:tc>
                <a:tc>
                  <a:txBody>
                    <a:bodyPr/>
                    <a:lstStyle/>
                    <a:p>
                      <a:pPr algn="ctr"/>
                      <a:r>
                        <a:rPr lang="es-ES" dirty="0"/>
                        <a:t>00356</a:t>
                      </a:r>
                      <a:endParaRPr lang="es-PE" dirty="0"/>
                    </a:p>
                  </a:txBody>
                  <a:tcPr anchor="ctr"/>
                </a:tc>
                <a:tc>
                  <a:txBody>
                    <a:bodyPr/>
                    <a:lstStyle/>
                    <a:p>
                      <a:pPr algn="ctr"/>
                      <a:r>
                        <a:rPr lang="es-ES" dirty="0"/>
                        <a:t>Basic I</a:t>
                      </a:r>
                      <a:endParaRPr lang="es-PE" dirty="0"/>
                    </a:p>
                  </a:txBody>
                  <a:tcPr anchor="ctr"/>
                </a:tc>
                <a:tc>
                  <a:txBody>
                    <a:bodyPr/>
                    <a:lstStyle/>
                    <a:p>
                      <a:pPr algn="ctr"/>
                      <a:r>
                        <a:rPr lang="es-ES" dirty="0"/>
                        <a:t>PRA</a:t>
                      </a:r>
                      <a:endParaRPr lang="es-PE" dirty="0"/>
                    </a:p>
                  </a:txBody>
                  <a:tcPr anchor="ctr"/>
                </a:tc>
                <a:tc>
                  <a:txBody>
                    <a:bodyPr/>
                    <a:lstStyle/>
                    <a:p>
                      <a:pPr algn="ctr"/>
                      <a:r>
                        <a:rPr lang="es-ES" dirty="0"/>
                        <a:t>1023</a:t>
                      </a:r>
                      <a:endParaRPr lang="es-PE" dirty="0"/>
                    </a:p>
                  </a:txBody>
                  <a:tcPr anchor="ctr"/>
                </a:tc>
                <a:tc>
                  <a:txBody>
                    <a:bodyPr/>
                    <a:lstStyle/>
                    <a:p>
                      <a:pPr algn="ctr"/>
                      <a:r>
                        <a:rPr lang="es-ES" dirty="0"/>
                        <a:t>BP</a:t>
                      </a:r>
                      <a:endParaRPr lang="es-PE" dirty="0"/>
                    </a:p>
                  </a:txBody>
                  <a:tcPr anchor="ctr"/>
                </a:tc>
                <a:tc>
                  <a:txBody>
                    <a:bodyPr/>
                    <a:lstStyle/>
                    <a:p>
                      <a:pPr algn="ctr"/>
                      <a:r>
                        <a:rPr lang="es-ES" dirty="0"/>
                        <a:t>PB</a:t>
                      </a:r>
                      <a:endParaRPr lang="es-PE" dirty="0"/>
                    </a:p>
                  </a:txBody>
                  <a:tcPr anchor="ctr"/>
                </a:tc>
                <a:tc>
                  <a:txBody>
                    <a:bodyPr/>
                    <a:lstStyle/>
                    <a:p>
                      <a:pPr algn="ctr"/>
                      <a:r>
                        <a:rPr lang="es-ES" dirty="0"/>
                        <a:t>TB</a:t>
                      </a:r>
                      <a:endParaRPr lang="es-PE" dirty="0"/>
                    </a:p>
                  </a:txBody>
                  <a:tcPr anchor="ctr"/>
                </a:tc>
                <a:extLst>
                  <a:ext uri="{0D108BD9-81ED-4DB2-BD59-A6C34878D82A}">
                    <a16:rowId xmlns:a16="http://schemas.microsoft.com/office/drawing/2014/main" val="80929513"/>
                  </a:ext>
                </a:extLst>
              </a:tr>
            </a:tbl>
          </a:graphicData>
        </a:graphic>
      </p:graphicFrame>
      <p:sp>
        <p:nvSpPr>
          <p:cNvPr id="15" name="CuadroTexto 14">
            <a:extLst>
              <a:ext uri="{FF2B5EF4-FFF2-40B4-BE49-F238E27FC236}">
                <a16:creationId xmlns:a16="http://schemas.microsoft.com/office/drawing/2014/main" id="{1873127C-838F-2BCF-84EA-312426A5F1CB}"/>
              </a:ext>
            </a:extLst>
          </p:cNvPr>
          <p:cNvSpPr txBox="1"/>
          <p:nvPr/>
        </p:nvSpPr>
        <p:spPr>
          <a:xfrm>
            <a:off x="516650" y="4502473"/>
            <a:ext cx="11148869" cy="607397"/>
          </a:xfrm>
          <a:prstGeom prst="roundRect">
            <a:avLst>
              <a:gd name="adj" fmla="val 7573"/>
            </a:avLst>
          </a:prstGeom>
          <a:solidFill>
            <a:srgbClr val="7030A0"/>
          </a:solidFill>
        </p:spPr>
        <p:txBody>
          <a:bodyPr wrap="square">
            <a:spAutoFit/>
          </a:bodyPr>
          <a:lstStyle/>
          <a:p>
            <a:pPr algn="ctr"/>
            <a:r>
              <a:rPr lang="es-ES" sz="1600" dirty="0">
                <a:solidFill>
                  <a:srgbClr val="FFFFFF"/>
                </a:solidFill>
              </a:rPr>
              <a:t>El estudiante al seleccionar el NRC de teoría 1020 debe escoger el NRC 1022 de la práctica</a:t>
            </a:r>
          </a:p>
          <a:p>
            <a:pPr algn="ctr"/>
            <a:r>
              <a:rPr lang="es-ES" sz="1600" dirty="0">
                <a:solidFill>
                  <a:srgbClr val="FFFFFF"/>
                </a:solidFill>
              </a:rPr>
              <a:t>El estudiante al seleccionar el NRC de teoría 2021 debe escoger el NRC 1023 de la práctica</a:t>
            </a:r>
          </a:p>
        </p:txBody>
      </p:sp>
    </p:spTree>
    <p:extLst>
      <p:ext uri="{BB962C8B-B14F-4D97-AF65-F5344CB8AC3E}">
        <p14:creationId xmlns:p14="http://schemas.microsoft.com/office/powerpoint/2010/main" val="258621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C70BD109-175A-E007-EBEF-35BEAC7E6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997788" y="2323535"/>
            <a:ext cx="1019642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RESTRICCIONES DE SECCIÓN</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198406" y="4593711"/>
            <a:ext cx="1019642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white"/>
                </a:solidFill>
                <a:effectLst/>
                <a:uLnTx/>
                <a:uFillTx/>
                <a:latin typeface="Aptos" panose="02110004020202020204"/>
                <a:ea typeface="+mn-ea"/>
                <a:cs typeface="+mn-cs"/>
              </a:rPr>
              <a:t>Para permitir o restringir la inscripción de los estudiantes en el NRC.</a:t>
            </a:r>
            <a:endParaRPr kumimoji="0" lang="es-PE"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18577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744428" cy="523220"/>
          </a:xfrm>
          <a:prstGeom prst="rect">
            <a:avLst/>
          </a:prstGeom>
          <a:noFill/>
        </p:spPr>
        <p:txBody>
          <a:bodyPr wrap="none" rtlCol="0">
            <a:spAutoFit/>
          </a:bodyPr>
          <a:lstStyle/>
          <a:p>
            <a:r>
              <a:rPr lang="es-ES" sz="2800" b="1" dirty="0">
                <a:latin typeface="Montserrat" pitchFamily="2" charset="0"/>
              </a:rPr>
              <a:t>RESTRICCIONES DE SECCIÓN - SSARRES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175749" y="241540"/>
            <a:ext cx="40162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1" name="Imagen 10">
            <a:extLst>
              <a:ext uri="{FF2B5EF4-FFF2-40B4-BE49-F238E27FC236}">
                <a16:creationId xmlns:a16="http://schemas.microsoft.com/office/drawing/2014/main" id="{D4D212C6-7D3B-7242-8297-E95E258791E4}"/>
              </a:ext>
            </a:extLst>
          </p:cNvPr>
          <p:cNvPicPr>
            <a:picLocks noChangeAspect="1"/>
          </p:cNvPicPr>
          <p:nvPr/>
        </p:nvPicPr>
        <p:blipFill>
          <a:blip r:embed="rId5"/>
          <a:stretch>
            <a:fillRect/>
          </a:stretch>
        </p:blipFill>
        <p:spPr>
          <a:xfrm>
            <a:off x="385403" y="1002891"/>
            <a:ext cx="11531048" cy="4898890"/>
          </a:xfrm>
          <a:prstGeom prst="rect">
            <a:avLst/>
          </a:prstGeom>
        </p:spPr>
      </p:pic>
      <p:sp>
        <p:nvSpPr>
          <p:cNvPr id="12" name="Rectángulo 11">
            <a:extLst>
              <a:ext uri="{FF2B5EF4-FFF2-40B4-BE49-F238E27FC236}">
                <a16:creationId xmlns:a16="http://schemas.microsoft.com/office/drawing/2014/main" id="{47AF5159-7F3D-9937-4C65-01E3403F501E}"/>
              </a:ext>
            </a:extLst>
          </p:cNvPr>
          <p:cNvSpPr/>
          <p:nvPr/>
        </p:nvSpPr>
        <p:spPr>
          <a:xfrm>
            <a:off x="10569679" y="962198"/>
            <a:ext cx="304800" cy="32012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3" name="Rectángulo: esquinas redondeadas 12">
            <a:extLst>
              <a:ext uri="{FF2B5EF4-FFF2-40B4-BE49-F238E27FC236}">
                <a16:creationId xmlns:a16="http://schemas.microsoft.com/office/drawing/2014/main" id="{9C6304D3-5AED-EDDD-C48F-B1CAD3589B5C}"/>
              </a:ext>
            </a:extLst>
          </p:cNvPr>
          <p:cNvSpPr/>
          <p:nvPr/>
        </p:nvSpPr>
        <p:spPr>
          <a:xfrm>
            <a:off x="10139109" y="1010116"/>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4" name="CuadroTexto 13">
            <a:extLst>
              <a:ext uri="{FF2B5EF4-FFF2-40B4-BE49-F238E27FC236}">
                <a16:creationId xmlns:a16="http://schemas.microsoft.com/office/drawing/2014/main" id="{C493BFC2-E5EA-DC19-27A0-DBBF5DC8A252}"/>
              </a:ext>
            </a:extLst>
          </p:cNvPr>
          <p:cNvSpPr txBox="1"/>
          <p:nvPr/>
        </p:nvSpPr>
        <p:spPr>
          <a:xfrm>
            <a:off x="7522504" y="978401"/>
            <a:ext cx="2509150"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sección </a:t>
            </a:r>
            <a:r>
              <a:rPr lang="es-ES" sz="1200" b="1" dirty="0">
                <a:solidFill>
                  <a:srgbClr val="92D050"/>
                </a:solidFill>
              </a:rPr>
              <a:t>Relacionados </a:t>
            </a:r>
            <a:r>
              <a:rPr lang="es-ES" sz="1200" dirty="0">
                <a:solidFill>
                  <a:schemeClr val="bg1"/>
                </a:solidFill>
              </a:rPr>
              <a:t>desde la página donde se está configurando el NRC (SSASECT)</a:t>
            </a:r>
          </a:p>
        </p:txBody>
      </p:sp>
      <p:sp>
        <p:nvSpPr>
          <p:cNvPr id="16" name="Rectángulo 15">
            <a:extLst>
              <a:ext uri="{FF2B5EF4-FFF2-40B4-BE49-F238E27FC236}">
                <a16:creationId xmlns:a16="http://schemas.microsoft.com/office/drawing/2014/main" id="{9E81BB6E-731B-A5D9-C636-AFCE022FB98F}"/>
              </a:ext>
            </a:extLst>
          </p:cNvPr>
          <p:cNvSpPr/>
          <p:nvPr/>
        </p:nvSpPr>
        <p:spPr>
          <a:xfrm>
            <a:off x="9939498" y="2651021"/>
            <a:ext cx="1839652"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BB7885E1-A4D9-89A3-71C0-E5C819E91C69}"/>
              </a:ext>
            </a:extLst>
          </p:cNvPr>
          <p:cNvSpPr/>
          <p:nvPr/>
        </p:nvSpPr>
        <p:spPr>
          <a:xfrm>
            <a:off x="9589704" y="2731422"/>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8" name="CuadroTexto 17">
            <a:extLst>
              <a:ext uri="{FF2B5EF4-FFF2-40B4-BE49-F238E27FC236}">
                <a16:creationId xmlns:a16="http://schemas.microsoft.com/office/drawing/2014/main" id="{6B376A51-C6D7-4164-0C7F-A17E3F324A9D}"/>
              </a:ext>
            </a:extLst>
          </p:cNvPr>
          <p:cNvSpPr txBox="1"/>
          <p:nvPr/>
        </p:nvSpPr>
        <p:spPr>
          <a:xfrm>
            <a:off x="6973099" y="2621051"/>
            <a:ext cx="2509150" cy="479524"/>
          </a:xfrm>
          <a:prstGeom prst="roundRect">
            <a:avLst>
              <a:gd name="adj" fmla="val 7573"/>
            </a:avLst>
          </a:prstGeom>
          <a:solidFill>
            <a:srgbClr val="7030A0"/>
          </a:solidFill>
        </p:spPr>
        <p:txBody>
          <a:bodyPr wrap="square">
            <a:spAutoFit/>
          </a:bodyPr>
          <a:lstStyle/>
          <a:p>
            <a:pPr algn="ctr"/>
            <a:r>
              <a:rPr lang="es-ES" sz="1200" dirty="0">
                <a:solidFill>
                  <a:srgbClr val="FFFFFF"/>
                </a:solidFill>
              </a:rPr>
              <a:t>Seleccionar la opción </a:t>
            </a:r>
            <a:r>
              <a:rPr lang="es-ES" sz="1200" b="1" dirty="0">
                <a:solidFill>
                  <a:srgbClr val="92D050"/>
                </a:solidFill>
              </a:rPr>
              <a:t>SSARRES (Restricción de Sección)</a:t>
            </a:r>
            <a:endParaRPr lang="es-ES" sz="1200" dirty="0">
              <a:solidFill>
                <a:schemeClr val="bg1"/>
              </a:solidFill>
            </a:endParaRPr>
          </a:p>
        </p:txBody>
      </p:sp>
      <p:sp>
        <p:nvSpPr>
          <p:cNvPr id="19" name="CuadroTexto 18">
            <a:extLst>
              <a:ext uri="{FF2B5EF4-FFF2-40B4-BE49-F238E27FC236}">
                <a16:creationId xmlns:a16="http://schemas.microsoft.com/office/drawing/2014/main" id="{3DEB2FE3-594D-C055-8431-C1258E2B7BDD}"/>
              </a:ext>
            </a:extLst>
          </p:cNvPr>
          <p:cNvSpPr txBox="1"/>
          <p:nvPr/>
        </p:nvSpPr>
        <p:spPr>
          <a:xfrm>
            <a:off x="4056632" y="3520040"/>
            <a:ext cx="2509150"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También se puede ingresar a la página SSARRES, realizando la búsqueda en la lupa</a:t>
            </a:r>
            <a:endParaRPr lang="es-ES" sz="1200" dirty="0">
              <a:solidFill>
                <a:schemeClr val="bg1"/>
              </a:solidFill>
            </a:endParaRPr>
          </a:p>
        </p:txBody>
      </p:sp>
    </p:spTree>
    <p:extLst>
      <p:ext uri="{BB962C8B-B14F-4D97-AF65-F5344CB8AC3E}">
        <p14:creationId xmlns:p14="http://schemas.microsoft.com/office/powerpoint/2010/main" val="64484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dissolve">
                                      <p:cBhvr>
                                        <p:cTn id="14" dur="500"/>
                                        <p:tgtEl>
                                          <p:spTgt spid="11"/>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heel(1)">
                                      <p:cBhvr>
                                        <p:cTn id="18" dur="2000"/>
                                        <p:tgtEl>
                                          <p:spTgt spid="12"/>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heel(1)">
                                      <p:cBhvr>
                                        <p:cTn id="32" dur="2000"/>
                                        <p:tgtEl>
                                          <p:spTgt spid="16"/>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par>
                          <p:cTn id="43" fill="hold">
                            <p:stCondLst>
                              <p:cond delay="7000"/>
                            </p:stCondLst>
                            <p:childTnLst>
                              <p:par>
                                <p:cTn id="44" presetID="10" presetClass="entr" presetSubtype="0"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2" grpId="0" animBg="1"/>
      <p:bldP spid="13" grpId="0" animBg="1"/>
      <p:bldP spid="14" grpId="0" animBg="1"/>
      <p:bldP spid="16" grpId="0" animBg="1"/>
      <p:bldP spid="17" grpId="0" animBg="1"/>
      <p:bldP spid="18"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744428" cy="523220"/>
          </a:xfrm>
          <a:prstGeom prst="rect">
            <a:avLst/>
          </a:prstGeom>
          <a:noFill/>
        </p:spPr>
        <p:txBody>
          <a:bodyPr wrap="none" rtlCol="0">
            <a:spAutoFit/>
          </a:bodyPr>
          <a:lstStyle/>
          <a:p>
            <a:r>
              <a:rPr lang="es-ES" sz="2800" b="1" dirty="0">
                <a:latin typeface="Montserrat" pitchFamily="2" charset="0"/>
              </a:rPr>
              <a:t>RESTRICCIONES DE SECCIÓN - SSARRES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175749" y="241540"/>
            <a:ext cx="40162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9CA27512-9A34-DF14-D0B3-E1C50DEB057A}"/>
              </a:ext>
            </a:extLst>
          </p:cNvPr>
          <p:cNvPicPr>
            <a:picLocks noChangeAspect="1"/>
          </p:cNvPicPr>
          <p:nvPr/>
        </p:nvPicPr>
        <p:blipFill>
          <a:blip r:embed="rId5"/>
          <a:stretch>
            <a:fillRect/>
          </a:stretch>
        </p:blipFill>
        <p:spPr>
          <a:xfrm>
            <a:off x="499237" y="1052053"/>
            <a:ext cx="11419175" cy="4849728"/>
          </a:xfrm>
          <a:prstGeom prst="rect">
            <a:avLst/>
          </a:prstGeom>
        </p:spPr>
      </p:pic>
      <p:sp>
        <p:nvSpPr>
          <p:cNvPr id="9" name="Rectángulo 8">
            <a:extLst>
              <a:ext uri="{FF2B5EF4-FFF2-40B4-BE49-F238E27FC236}">
                <a16:creationId xmlns:a16="http://schemas.microsoft.com/office/drawing/2014/main" id="{0AD35A14-2E15-56C9-DDF2-E9C74A532483}"/>
              </a:ext>
            </a:extLst>
          </p:cNvPr>
          <p:cNvSpPr/>
          <p:nvPr/>
        </p:nvSpPr>
        <p:spPr>
          <a:xfrm>
            <a:off x="975015" y="1345655"/>
            <a:ext cx="7087435" cy="320122"/>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0" name="Rectángulo: esquinas redondeadas 9">
            <a:extLst>
              <a:ext uri="{FF2B5EF4-FFF2-40B4-BE49-F238E27FC236}">
                <a16:creationId xmlns:a16="http://schemas.microsoft.com/office/drawing/2014/main" id="{6DFE9DEA-1B4E-CCCF-F579-1A38A60BB4DE}"/>
              </a:ext>
            </a:extLst>
          </p:cNvPr>
          <p:cNvSpPr/>
          <p:nvPr/>
        </p:nvSpPr>
        <p:spPr>
          <a:xfrm>
            <a:off x="4440770" y="178429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5" name="CuadroTexto 14">
            <a:extLst>
              <a:ext uri="{FF2B5EF4-FFF2-40B4-BE49-F238E27FC236}">
                <a16:creationId xmlns:a16="http://schemas.microsoft.com/office/drawing/2014/main" id="{4E1A39BC-1232-B832-8981-B8034AFBED0F}"/>
              </a:ext>
            </a:extLst>
          </p:cNvPr>
          <p:cNvSpPr txBox="1"/>
          <p:nvPr/>
        </p:nvSpPr>
        <p:spPr>
          <a:xfrm>
            <a:off x="3294025" y="2155928"/>
            <a:ext cx="2509150" cy="1054953"/>
          </a:xfrm>
          <a:prstGeom prst="roundRect">
            <a:avLst>
              <a:gd name="adj" fmla="val 7573"/>
            </a:avLst>
          </a:prstGeom>
          <a:solidFill>
            <a:srgbClr val="7030A0"/>
          </a:solidFill>
        </p:spPr>
        <p:txBody>
          <a:bodyPr wrap="square">
            <a:spAutoFit/>
          </a:bodyPr>
          <a:lstStyle/>
          <a:p>
            <a:pPr algn="ctr"/>
            <a:r>
              <a:rPr lang="es-ES" sz="1200" dirty="0">
                <a:solidFill>
                  <a:srgbClr val="FFFFFF"/>
                </a:solidFill>
              </a:rPr>
              <a:t>Colocar el </a:t>
            </a:r>
            <a:r>
              <a:rPr lang="es-ES" sz="1200" b="1" dirty="0">
                <a:solidFill>
                  <a:srgbClr val="92D050"/>
                </a:solidFill>
              </a:rPr>
              <a:t>periodo</a:t>
            </a:r>
            <a:r>
              <a:rPr lang="es-ES" sz="1200" dirty="0">
                <a:solidFill>
                  <a:srgbClr val="FFFFFF"/>
                </a:solidFill>
              </a:rPr>
              <a:t> y </a:t>
            </a:r>
            <a:r>
              <a:rPr lang="es-ES" sz="1200" b="1" dirty="0">
                <a:solidFill>
                  <a:srgbClr val="92D050"/>
                </a:solidFill>
              </a:rPr>
              <a:t>NRC</a:t>
            </a:r>
            <a:r>
              <a:rPr lang="es-ES" sz="1200" dirty="0">
                <a:solidFill>
                  <a:srgbClr val="FFFFFF"/>
                </a:solidFill>
              </a:rPr>
              <a:t> a configurar la restricción.</a:t>
            </a:r>
          </a:p>
          <a:p>
            <a:pPr algn="ctr"/>
            <a:r>
              <a:rPr lang="es-ES" sz="1200" dirty="0">
                <a:solidFill>
                  <a:srgbClr val="FFFFFF"/>
                </a:solidFill>
              </a:rPr>
              <a:t>Si viene de la página </a:t>
            </a:r>
            <a:r>
              <a:rPr lang="es-ES" sz="1200" b="1" dirty="0">
                <a:solidFill>
                  <a:srgbClr val="92D050"/>
                </a:solidFill>
              </a:rPr>
              <a:t>Relacionados </a:t>
            </a:r>
            <a:r>
              <a:rPr lang="es-ES" sz="1200" dirty="0">
                <a:solidFill>
                  <a:schemeClr val="bg1"/>
                </a:solidFill>
              </a:rPr>
              <a:t>en SSASECT, estos datos se llenan automáticamente.</a:t>
            </a:r>
          </a:p>
        </p:txBody>
      </p:sp>
      <p:sp>
        <p:nvSpPr>
          <p:cNvPr id="20" name="Rectángulo 19">
            <a:extLst>
              <a:ext uri="{FF2B5EF4-FFF2-40B4-BE49-F238E27FC236}">
                <a16:creationId xmlns:a16="http://schemas.microsoft.com/office/drawing/2014/main" id="{61B39695-9A1F-1367-0302-A98838D4EC1B}"/>
              </a:ext>
            </a:extLst>
          </p:cNvPr>
          <p:cNvSpPr/>
          <p:nvPr/>
        </p:nvSpPr>
        <p:spPr>
          <a:xfrm>
            <a:off x="11461034" y="1379467"/>
            <a:ext cx="442497" cy="27310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45C0297D-D43D-7623-0B6B-E0C4B7DD863B}"/>
              </a:ext>
            </a:extLst>
          </p:cNvPr>
          <p:cNvSpPr/>
          <p:nvPr/>
        </p:nvSpPr>
        <p:spPr>
          <a:xfrm>
            <a:off x="11549355" y="1810668"/>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22" name="CuadroTexto 21">
            <a:extLst>
              <a:ext uri="{FF2B5EF4-FFF2-40B4-BE49-F238E27FC236}">
                <a16:creationId xmlns:a16="http://schemas.microsoft.com/office/drawing/2014/main" id="{10BD1B2A-48F6-5D41-31CC-0ABEF12A48E0}"/>
              </a:ext>
            </a:extLst>
          </p:cNvPr>
          <p:cNvSpPr txBox="1"/>
          <p:nvPr/>
        </p:nvSpPr>
        <p:spPr>
          <a:xfrm>
            <a:off x="10188963" y="2169695"/>
            <a:ext cx="1744692" cy="271730"/>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dirty="0">
                <a:solidFill>
                  <a:srgbClr val="FFFFFF"/>
                </a:solidFill>
              </a:rPr>
              <a:t>Seleccionar</a:t>
            </a:r>
            <a:r>
              <a:rPr lang="es-ES" sz="1100" b="0" i="0" u="none" strike="noStrike" dirty="0">
                <a:solidFill>
                  <a:srgbClr val="FFFFFF"/>
                </a:solidFill>
                <a:effectLst/>
              </a:rPr>
              <a:t> </a:t>
            </a:r>
            <a:r>
              <a:rPr lang="es-ES" sz="1100" b="1" dirty="0">
                <a:solidFill>
                  <a:srgbClr val="92D050"/>
                </a:solidFill>
              </a:rPr>
              <a:t>I</a:t>
            </a:r>
            <a:r>
              <a:rPr lang="es-ES" sz="1100" b="1" i="0" u="none" strike="noStrike" dirty="0">
                <a:solidFill>
                  <a:srgbClr val="92D050"/>
                </a:solidFill>
                <a:effectLst/>
              </a:rPr>
              <a:t>r</a:t>
            </a:r>
            <a:endParaRPr lang="es-ES" b="1" dirty="0">
              <a:solidFill>
                <a:srgbClr val="92D050"/>
              </a:solidFill>
              <a:effectLst/>
            </a:endParaRPr>
          </a:p>
        </p:txBody>
      </p:sp>
    </p:spTree>
    <p:extLst>
      <p:ext uri="{BB962C8B-B14F-4D97-AF65-F5344CB8AC3E}">
        <p14:creationId xmlns:p14="http://schemas.microsoft.com/office/powerpoint/2010/main" val="338527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heel(1)">
                                      <p:cBhvr>
                                        <p:cTn id="32" dur="2000"/>
                                        <p:tgtEl>
                                          <p:spTgt spid="20"/>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p:cTn id="36" dur="500" fill="hold"/>
                                        <p:tgtEl>
                                          <p:spTgt spid="21"/>
                                        </p:tgtEl>
                                        <p:attrNameLst>
                                          <p:attrName>ppt_w</p:attrName>
                                        </p:attrNameLst>
                                      </p:cBhvr>
                                      <p:tavLst>
                                        <p:tav tm="0">
                                          <p:val>
                                            <p:fltVal val="0"/>
                                          </p:val>
                                        </p:tav>
                                        <p:tav tm="100000">
                                          <p:val>
                                            <p:strVal val="#ppt_w"/>
                                          </p:val>
                                        </p:tav>
                                      </p:tavLst>
                                    </p:anim>
                                    <p:anim calcmode="lin" valueType="num">
                                      <p:cBhvr>
                                        <p:cTn id="37" dur="500" fill="hold"/>
                                        <p:tgtEl>
                                          <p:spTgt spid="21"/>
                                        </p:tgtEl>
                                        <p:attrNameLst>
                                          <p:attrName>ppt_h</p:attrName>
                                        </p:attrNameLst>
                                      </p:cBhvr>
                                      <p:tavLst>
                                        <p:tav tm="0">
                                          <p:val>
                                            <p:fltVal val="0"/>
                                          </p:val>
                                        </p:tav>
                                        <p:tav tm="100000">
                                          <p:val>
                                            <p:strVal val="#ppt_h"/>
                                          </p:val>
                                        </p:tav>
                                      </p:tavLst>
                                    </p:anim>
                                    <p:animEffect transition="in" filter="fade">
                                      <p:cBhvr>
                                        <p:cTn id="38" dur="500"/>
                                        <p:tgtEl>
                                          <p:spTgt spid="21"/>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5" grpId="0" animBg="1"/>
      <p:bldP spid="20" grpId="0" animBg="1"/>
      <p:bldP spid="21" grpId="0" animBg="1"/>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744428" cy="523220"/>
          </a:xfrm>
          <a:prstGeom prst="rect">
            <a:avLst/>
          </a:prstGeom>
          <a:noFill/>
        </p:spPr>
        <p:txBody>
          <a:bodyPr wrap="none" rtlCol="0">
            <a:spAutoFit/>
          </a:bodyPr>
          <a:lstStyle/>
          <a:p>
            <a:r>
              <a:rPr lang="es-ES" sz="2800" b="1" dirty="0">
                <a:latin typeface="Montserrat" pitchFamily="2" charset="0"/>
              </a:rPr>
              <a:t>RESTRICCIONES DE SECCIÓN - SSARRES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175749" y="241540"/>
            <a:ext cx="40162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8" name="Imagen 17">
            <a:extLst>
              <a:ext uri="{FF2B5EF4-FFF2-40B4-BE49-F238E27FC236}">
                <a16:creationId xmlns:a16="http://schemas.microsoft.com/office/drawing/2014/main" id="{CDDCF318-B01E-C42B-CD7A-71416A4D8748}"/>
              </a:ext>
            </a:extLst>
          </p:cNvPr>
          <p:cNvPicPr>
            <a:picLocks noChangeAspect="1"/>
          </p:cNvPicPr>
          <p:nvPr/>
        </p:nvPicPr>
        <p:blipFill>
          <a:blip r:embed="rId5"/>
          <a:stretch>
            <a:fillRect/>
          </a:stretch>
        </p:blipFill>
        <p:spPr>
          <a:xfrm>
            <a:off x="431320" y="1029112"/>
            <a:ext cx="11367390" cy="4815887"/>
          </a:xfrm>
          <a:prstGeom prst="rect">
            <a:avLst/>
          </a:prstGeom>
        </p:spPr>
      </p:pic>
      <p:sp>
        <p:nvSpPr>
          <p:cNvPr id="23" name="CuadroTexto 22">
            <a:extLst>
              <a:ext uri="{FF2B5EF4-FFF2-40B4-BE49-F238E27FC236}">
                <a16:creationId xmlns:a16="http://schemas.microsoft.com/office/drawing/2014/main" id="{58C22AC1-9FEF-7B1A-B9ED-4FFA785BF2E4}"/>
              </a:ext>
            </a:extLst>
          </p:cNvPr>
          <p:cNvSpPr txBox="1"/>
          <p:nvPr/>
        </p:nvSpPr>
        <p:spPr>
          <a:xfrm>
            <a:off x="565355" y="3869129"/>
            <a:ext cx="11061290" cy="1374636"/>
          </a:xfrm>
          <a:prstGeom prst="roundRect">
            <a:avLst>
              <a:gd name="adj" fmla="val 7573"/>
            </a:avLst>
          </a:prstGeom>
          <a:solidFill>
            <a:srgbClr val="7030A0"/>
          </a:solidFill>
        </p:spPr>
        <p:txBody>
          <a:bodyPr wrap="square">
            <a:spAutoFit/>
          </a:bodyPr>
          <a:lstStyle/>
          <a:p>
            <a:pPr algn="ctr"/>
            <a:r>
              <a:rPr lang="es-ES" sz="1600" dirty="0">
                <a:solidFill>
                  <a:srgbClr val="FFFFFF"/>
                </a:solidFill>
              </a:rPr>
              <a:t>Los registros de restricciones que se encuentren asociados a esta sección (SSARRES) corresponderán a aquellos registros heredados de lo que fuera la configuración de catálogo de curso (SCARRES) de la asignatura, pudiendo ser modificados en esta página administrativa si fuera necesario.</a:t>
            </a:r>
          </a:p>
          <a:p>
            <a:pPr algn="ctr"/>
            <a:r>
              <a:rPr lang="es-ES" sz="1600" dirty="0">
                <a:solidFill>
                  <a:srgbClr val="FFFFFF"/>
                </a:solidFill>
              </a:rPr>
              <a:t>Se pueden añadir restricciones por Nivel, Programa, Campus, Atributo y Cohorte, para permitir o restringir la inscripción de los estudiantes en el NRC</a:t>
            </a:r>
          </a:p>
        </p:txBody>
      </p:sp>
    </p:spTree>
    <p:extLst>
      <p:ext uri="{BB962C8B-B14F-4D97-AF65-F5344CB8AC3E}">
        <p14:creationId xmlns:p14="http://schemas.microsoft.com/office/powerpoint/2010/main" val="322496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dissolve">
                                      <p:cBhvr>
                                        <p:cTn id="14" dur="500"/>
                                        <p:tgtEl>
                                          <p:spTgt spid="18"/>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500" fill="hold"/>
                                        <p:tgtEl>
                                          <p:spTgt spid="23"/>
                                        </p:tgtEl>
                                        <p:attrNameLst>
                                          <p:attrName>ppt_w</p:attrName>
                                        </p:attrNameLst>
                                      </p:cBhvr>
                                      <p:tavLst>
                                        <p:tav tm="0">
                                          <p:val>
                                            <p:fltVal val="0"/>
                                          </p:val>
                                        </p:tav>
                                        <p:tav tm="100000">
                                          <p:val>
                                            <p:strVal val="#ppt_w"/>
                                          </p:val>
                                        </p:tav>
                                      </p:tavLst>
                                    </p:anim>
                                    <p:anim calcmode="lin" valueType="num">
                                      <p:cBhvr>
                                        <p:cTn id="19" dur="500" fill="hold"/>
                                        <p:tgtEl>
                                          <p:spTgt spid="23"/>
                                        </p:tgtEl>
                                        <p:attrNameLst>
                                          <p:attrName>ppt_h</p:attrName>
                                        </p:attrNameLst>
                                      </p:cBhvr>
                                      <p:tavLst>
                                        <p:tav tm="0">
                                          <p:val>
                                            <p:fltVal val="0"/>
                                          </p:val>
                                        </p:tav>
                                        <p:tav tm="100000">
                                          <p:val>
                                            <p:strVal val="#ppt_h"/>
                                          </p:val>
                                        </p:tav>
                                      </p:tavLst>
                                    </p:anim>
                                    <p:animEffect transition="in" filter="fade">
                                      <p:cBhvr>
                                        <p:cTn id="2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744428" cy="523220"/>
          </a:xfrm>
          <a:prstGeom prst="rect">
            <a:avLst/>
          </a:prstGeom>
          <a:noFill/>
        </p:spPr>
        <p:txBody>
          <a:bodyPr wrap="none" rtlCol="0">
            <a:spAutoFit/>
          </a:bodyPr>
          <a:lstStyle/>
          <a:p>
            <a:r>
              <a:rPr lang="es-ES" sz="2800" b="1" dirty="0">
                <a:latin typeface="Montserrat" pitchFamily="2" charset="0"/>
              </a:rPr>
              <a:t>RESTRICCIONES DE SECCIÓN - SSARRES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175749" y="241540"/>
            <a:ext cx="40162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E90BE373-613C-4C67-60B9-618A67CF9F36}"/>
              </a:ext>
            </a:extLst>
          </p:cNvPr>
          <p:cNvPicPr>
            <a:picLocks noChangeAspect="1"/>
          </p:cNvPicPr>
          <p:nvPr/>
        </p:nvPicPr>
        <p:blipFill>
          <a:blip r:embed="rId5"/>
          <a:stretch>
            <a:fillRect/>
          </a:stretch>
        </p:blipFill>
        <p:spPr>
          <a:xfrm>
            <a:off x="351212" y="1002891"/>
            <a:ext cx="11600088" cy="4898890"/>
          </a:xfrm>
          <a:prstGeom prst="rect">
            <a:avLst/>
          </a:prstGeom>
        </p:spPr>
      </p:pic>
      <p:sp>
        <p:nvSpPr>
          <p:cNvPr id="9" name="Rectángulo 8">
            <a:extLst>
              <a:ext uri="{FF2B5EF4-FFF2-40B4-BE49-F238E27FC236}">
                <a16:creationId xmlns:a16="http://schemas.microsoft.com/office/drawing/2014/main" id="{F2500680-F041-CB64-736B-506CB3DE5D25}"/>
              </a:ext>
            </a:extLst>
          </p:cNvPr>
          <p:cNvSpPr/>
          <p:nvPr/>
        </p:nvSpPr>
        <p:spPr>
          <a:xfrm>
            <a:off x="1792354" y="1544858"/>
            <a:ext cx="773866" cy="24461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38B5F1AB-8FEC-471D-06FB-369701498B1D}"/>
              </a:ext>
            </a:extLst>
          </p:cNvPr>
          <p:cNvSpPr/>
          <p:nvPr/>
        </p:nvSpPr>
        <p:spPr>
          <a:xfrm>
            <a:off x="2705922" y="155502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D65C1914-7953-741D-1468-BADF5CCB7F59}"/>
              </a:ext>
            </a:extLst>
          </p:cNvPr>
          <p:cNvSpPr txBox="1"/>
          <p:nvPr/>
        </p:nvSpPr>
        <p:spPr>
          <a:xfrm>
            <a:off x="3048959" y="1331497"/>
            <a:ext cx="2509150"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a:t>
            </a:r>
            <a:r>
              <a:rPr lang="es-ES" sz="1200" b="1" dirty="0">
                <a:solidFill>
                  <a:srgbClr val="92D050"/>
                </a:solidFill>
              </a:rPr>
              <a:t>Clase y Nivel</a:t>
            </a:r>
            <a:r>
              <a:rPr lang="es-ES" sz="1200" dirty="0">
                <a:solidFill>
                  <a:srgbClr val="FFFFFF"/>
                </a:solidFill>
              </a:rPr>
              <a:t>, se ingresa la restricción de Nivel del NRC</a:t>
            </a:r>
          </a:p>
        </p:txBody>
      </p:sp>
      <p:sp>
        <p:nvSpPr>
          <p:cNvPr id="13" name="Rectángulo 12">
            <a:extLst>
              <a:ext uri="{FF2B5EF4-FFF2-40B4-BE49-F238E27FC236}">
                <a16:creationId xmlns:a16="http://schemas.microsoft.com/office/drawing/2014/main" id="{EB1E72E4-C7B8-0609-DC46-31B5F8AF0B91}"/>
              </a:ext>
            </a:extLst>
          </p:cNvPr>
          <p:cNvSpPr/>
          <p:nvPr/>
        </p:nvSpPr>
        <p:spPr>
          <a:xfrm>
            <a:off x="445008" y="2856635"/>
            <a:ext cx="212121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B774D23C-F91C-A204-F01E-BC7B23F99588}"/>
              </a:ext>
            </a:extLst>
          </p:cNvPr>
          <p:cNvSpPr/>
          <p:nvPr/>
        </p:nvSpPr>
        <p:spPr>
          <a:xfrm>
            <a:off x="2660016" y="283630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5" name="CuadroTexto 14">
            <a:extLst>
              <a:ext uri="{FF2B5EF4-FFF2-40B4-BE49-F238E27FC236}">
                <a16:creationId xmlns:a16="http://schemas.microsoft.com/office/drawing/2014/main" id="{5E6066F1-FF84-E889-FB4D-095F6FD8E6B6}"/>
              </a:ext>
            </a:extLst>
          </p:cNvPr>
          <p:cNvSpPr txBox="1"/>
          <p:nvPr/>
        </p:nvSpPr>
        <p:spPr>
          <a:xfrm>
            <a:off x="2952432" y="2197447"/>
            <a:ext cx="6923088" cy="863144"/>
          </a:xfrm>
          <a:prstGeom prst="roundRect">
            <a:avLst>
              <a:gd name="adj" fmla="val 7573"/>
            </a:avLst>
          </a:prstGeom>
          <a:solidFill>
            <a:srgbClr val="7030A0"/>
          </a:solidFill>
        </p:spPr>
        <p:txBody>
          <a:bodyPr wrap="square">
            <a:spAutoFit/>
          </a:bodyPr>
          <a:lstStyle/>
          <a:p>
            <a:r>
              <a:rPr lang="es-ES" sz="1200" dirty="0">
                <a:solidFill>
                  <a:srgbClr val="FFFFFF"/>
                </a:solidFill>
              </a:rPr>
              <a:t>Defina el </a:t>
            </a:r>
            <a:r>
              <a:rPr lang="es-ES" sz="1200" b="1" dirty="0">
                <a:solidFill>
                  <a:srgbClr val="92D050"/>
                </a:solidFill>
              </a:rPr>
              <a:t>Criterio de restricción</a:t>
            </a:r>
            <a:r>
              <a:rPr lang="es-ES" sz="1200" dirty="0">
                <a:solidFill>
                  <a:srgbClr val="FFFFFF"/>
                </a:solidFill>
              </a:rPr>
              <a:t>:</a:t>
            </a:r>
          </a:p>
          <a:p>
            <a:pPr marL="171450" indent="-171450">
              <a:buFont typeface="Arial" panose="020B0604020202020204" pitchFamily="34" charset="0"/>
              <a:buChar char="•"/>
            </a:pPr>
            <a:r>
              <a:rPr lang="es-ES" sz="1200" b="1" dirty="0">
                <a:solidFill>
                  <a:srgbClr val="92D050"/>
                </a:solidFill>
              </a:rPr>
              <a:t>Incluir:</a:t>
            </a:r>
            <a:r>
              <a:rPr lang="es-ES" sz="1200" dirty="0">
                <a:solidFill>
                  <a:srgbClr val="FFFFFF"/>
                </a:solidFill>
              </a:rPr>
              <a:t> solo los estudiantes que tengan el o los niveles que se definan podrán inscribir el NRC.</a:t>
            </a:r>
          </a:p>
          <a:p>
            <a:pPr marL="171450" indent="-171450">
              <a:buFont typeface="Arial" panose="020B0604020202020204" pitchFamily="34" charset="0"/>
              <a:buChar char="•"/>
            </a:pPr>
            <a:r>
              <a:rPr lang="es-ES" sz="1200" b="1" dirty="0">
                <a:solidFill>
                  <a:srgbClr val="92D050"/>
                </a:solidFill>
              </a:rPr>
              <a:t>Excluir:</a:t>
            </a:r>
            <a:r>
              <a:rPr lang="es-ES" sz="1200" dirty="0">
                <a:solidFill>
                  <a:srgbClr val="FFFFFF"/>
                </a:solidFill>
              </a:rPr>
              <a:t> todos los estudiantes, excepto aquellos que tengan el o los niveles definidos, podrán inscribir el NRC.</a:t>
            </a:r>
          </a:p>
        </p:txBody>
      </p:sp>
      <p:sp>
        <p:nvSpPr>
          <p:cNvPr id="16" name="Rectángulo 15">
            <a:extLst>
              <a:ext uri="{FF2B5EF4-FFF2-40B4-BE49-F238E27FC236}">
                <a16:creationId xmlns:a16="http://schemas.microsoft.com/office/drawing/2014/main" id="{FE7C7AE0-3BD3-562D-77E1-D3026DF3346B}"/>
              </a:ext>
            </a:extLst>
          </p:cNvPr>
          <p:cNvSpPr/>
          <p:nvPr/>
        </p:nvSpPr>
        <p:spPr>
          <a:xfrm>
            <a:off x="431320" y="3234887"/>
            <a:ext cx="212121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DAC0612B-6163-C748-0305-6658603E7EED}"/>
              </a:ext>
            </a:extLst>
          </p:cNvPr>
          <p:cNvSpPr/>
          <p:nvPr/>
        </p:nvSpPr>
        <p:spPr>
          <a:xfrm>
            <a:off x="2646328" y="321455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9" name="CuadroTexto 18">
            <a:extLst>
              <a:ext uri="{FF2B5EF4-FFF2-40B4-BE49-F238E27FC236}">
                <a16:creationId xmlns:a16="http://schemas.microsoft.com/office/drawing/2014/main" id="{034B7C21-991C-1057-FD3E-3D5A102757DA}"/>
              </a:ext>
            </a:extLst>
          </p:cNvPr>
          <p:cNvSpPr txBox="1"/>
          <p:nvPr/>
        </p:nvSpPr>
        <p:spPr>
          <a:xfrm>
            <a:off x="2949808" y="3161070"/>
            <a:ext cx="6923088" cy="287715"/>
          </a:xfrm>
          <a:prstGeom prst="roundRect">
            <a:avLst>
              <a:gd name="adj" fmla="val 7573"/>
            </a:avLst>
          </a:prstGeom>
          <a:solidFill>
            <a:srgbClr val="7030A0"/>
          </a:solidFill>
        </p:spPr>
        <p:txBody>
          <a:bodyPr wrap="square">
            <a:spAutoFit/>
          </a:bodyPr>
          <a:lstStyle/>
          <a:p>
            <a:r>
              <a:rPr lang="es-ES" sz="1200" dirty="0">
                <a:solidFill>
                  <a:schemeClr val="bg1"/>
                </a:solidFill>
              </a:rPr>
              <a:t>Seleccione o ingrese el código de </a:t>
            </a:r>
            <a:r>
              <a:rPr lang="es-ES" sz="1200" b="1" dirty="0">
                <a:solidFill>
                  <a:srgbClr val="92D050"/>
                </a:solidFill>
              </a:rPr>
              <a:t>Nivel</a:t>
            </a:r>
            <a:r>
              <a:rPr lang="es-ES" sz="1200" dirty="0">
                <a:solidFill>
                  <a:schemeClr val="bg1"/>
                </a:solidFill>
              </a:rPr>
              <a:t> que desea definir para la restricción de inscripción del NRC.</a:t>
            </a:r>
          </a:p>
        </p:txBody>
      </p:sp>
      <p:sp>
        <p:nvSpPr>
          <p:cNvPr id="20" name="Rectángulo 19">
            <a:extLst>
              <a:ext uri="{FF2B5EF4-FFF2-40B4-BE49-F238E27FC236}">
                <a16:creationId xmlns:a16="http://schemas.microsoft.com/office/drawing/2014/main" id="{DAA4EFBD-E5B5-E77C-5665-83747E148F5E}"/>
              </a:ext>
            </a:extLst>
          </p:cNvPr>
          <p:cNvSpPr/>
          <p:nvPr/>
        </p:nvSpPr>
        <p:spPr>
          <a:xfrm>
            <a:off x="11338487" y="551028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8C3C0288-1869-BBAE-A83F-8DED7EB6EEBC}"/>
              </a:ext>
            </a:extLst>
          </p:cNvPr>
          <p:cNvSpPr/>
          <p:nvPr/>
        </p:nvSpPr>
        <p:spPr>
          <a:xfrm>
            <a:off x="11022184" y="557214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4</a:t>
            </a:r>
            <a:endParaRPr lang="es-PE" sz="1100" b="1" dirty="0"/>
          </a:p>
        </p:txBody>
      </p:sp>
      <p:sp>
        <p:nvSpPr>
          <p:cNvPr id="22" name="CuadroTexto 21">
            <a:extLst>
              <a:ext uri="{FF2B5EF4-FFF2-40B4-BE49-F238E27FC236}">
                <a16:creationId xmlns:a16="http://schemas.microsoft.com/office/drawing/2014/main" id="{DFAC4E41-79C2-C5E2-3FFE-CFB125C178E8}"/>
              </a:ext>
            </a:extLst>
          </p:cNvPr>
          <p:cNvSpPr txBox="1"/>
          <p:nvPr/>
        </p:nvSpPr>
        <p:spPr>
          <a:xfrm>
            <a:off x="8695569" y="537635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23" name="CuadroTexto 22">
            <a:extLst>
              <a:ext uri="{FF2B5EF4-FFF2-40B4-BE49-F238E27FC236}">
                <a16:creationId xmlns:a16="http://schemas.microsoft.com/office/drawing/2014/main" id="{DB1F32D2-40DB-85CA-4937-6172963E42FA}"/>
              </a:ext>
            </a:extLst>
          </p:cNvPr>
          <p:cNvSpPr txBox="1"/>
          <p:nvPr/>
        </p:nvSpPr>
        <p:spPr>
          <a:xfrm>
            <a:off x="4074160" y="4145519"/>
            <a:ext cx="2987040" cy="863144"/>
          </a:xfrm>
          <a:prstGeom prst="roundRect">
            <a:avLst>
              <a:gd name="adj" fmla="val 7573"/>
            </a:avLst>
          </a:prstGeom>
          <a:solidFill>
            <a:srgbClr val="7030A0"/>
          </a:solidFill>
        </p:spPr>
        <p:txBody>
          <a:bodyPr wrap="square">
            <a:spAutoFit/>
          </a:bodyPr>
          <a:lstStyle/>
          <a:p>
            <a:pPr algn="ctr"/>
            <a:r>
              <a:rPr lang="es-ES" sz="1200" dirty="0">
                <a:solidFill>
                  <a:srgbClr val="FFFFFF"/>
                </a:solidFill>
              </a:rPr>
              <a:t>Para ingresar o eliminar niveles  ya ingresados, puede utilizar los símbolos </a:t>
            </a:r>
            <a:r>
              <a:rPr lang="es-ES" sz="1200" b="1" dirty="0">
                <a:solidFill>
                  <a:srgbClr val="92D050"/>
                </a:solidFill>
              </a:rPr>
              <a:t>+</a:t>
            </a:r>
            <a:r>
              <a:rPr lang="es-ES" sz="1200" dirty="0">
                <a:solidFill>
                  <a:srgbClr val="FFFFFF"/>
                </a:solidFill>
              </a:rPr>
              <a:t> y </a:t>
            </a:r>
            <a:r>
              <a:rPr lang="es-ES" sz="1200" b="1" dirty="0">
                <a:solidFill>
                  <a:srgbClr val="92D050"/>
                </a:solidFill>
              </a:rPr>
              <a:t>–</a:t>
            </a:r>
            <a:r>
              <a:rPr lang="es-ES" sz="1200" dirty="0">
                <a:solidFill>
                  <a:srgbClr val="FFFFFF"/>
                </a:solidFill>
              </a:rPr>
              <a:t>  ubicados en la parte superior del apartado de Restricciones de Nivel.</a:t>
            </a:r>
          </a:p>
        </p:txBody>
      </p:sp>
    </p:spTree>
    <p:extLst>
      <p:ext uri="{BB962C8B-B14F-4D97-AF65-F5344CB8AC3E}">
        <p14:creationId xmlns:p14="http://schemas.microsoft.com/office/powerpoint/2010/main" val="161898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heel(1)">
                                      <p:cBhvr>
                                        <p:cTn id="18" dur="2000"/>
                                        <p:tgtEl>
                                          <p:spTgt spid="9"/>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heel(1)">
                                      <p:cBhvr>
                                        <p:cTn id="46" dur="2000"/>
                                        <p:tgtEl>
                                          <p:spTgt spid="16"/>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p:cTn id="50" dur="500" fill="hold"/>
                                        <p:tgtEl>
                                          <p:spTgt spid="17"/>
                                        </p:tgtEl>
                                        <p:attrNameLst>
                                          <p:attrName>ppt_w</p:attrName>
                                        </p:attrNameLst>
                                      </p:cBhvr>
                                      <p:tavLst>
                                        <p:tav tm="0">
                                          <p:val>
                                            <p:fltVal val="0"/>
                                          </p:val>
                                        </p:tav>
                                        <p:tav tm="100000">
                                          <p:val>
                                            <p:strVal val="#ppt_w"/>
                                          </p:val>
                                        </p:tav>
                                      </p:tavLst>
                                    </p:anim>
                                    <p:anim calcmode="lin" valueType="num">
                                      <p:cBhvr>
                                        <p:cTn id="51" dur="500" fill="hold"/>
                                        <p:tgtEl>
                                          <p:spTgt spid="17"/>
                                        </p:tgtEl>
                                        <p:attrNameLst>
                                          <p:attrName>ppt_h</p:attrName>
                                        </p:attrNameLst>
                                      </p:cBhvr>
                                      <p:tavLst>
                                        <p:tav tm="0">
                                          <p:val>
                                            <p:fltVal val="0"/>
                                          </p:val>
                                        </p:tav>
                                        <p:tav tm="100000">
                                          <p:val>
                                            <p:strVal val="#ppt_h"/>
                                          </p:val>
                                        </p:tav>
                                      </p:tavLst>
                                    </p:anim>
                                    <p:animEffect transition="in" filter="fade">
                                      <p:cBhvr>
                                        <p:cTn id="52" dur="500"/>
                                        <p:tgtEl>
                                          <p:spTgt spid="17"/>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par>
                          <p:cTn id="57" fill="hold">
                            <p:stCondLst>
                              <p:cond delay="10000"/>
                            </p:stCondLst>
                            <p:childTnLst>
                              <p:par>
                                <p:cTn id="58" presetID="21" presetClass="entr" presetSubtype="1" fill="hold" grpId="0"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heel(1)">
                                      <p:cBhvr>
                                        <p:cTn id="60" dur="2000"/>
                                        <p:tgtEl>
                                          <p:spTgt spid="20"/>
                                        </p:tgtEl>
                                      </p:cBhvr>
                                    </p:animEffect>
                                  </p:childTnLst>
                                </p:cTn>
                              </p:par>
                            </p:childTnLst>
                          </p:cTn>
                        </p:par>
                        <p:par>
                          <p:cTn id="61" fill="hold">
                            <p:stCondLst>
                              <p:cond delay="12000"/>
                            </p:stCondLst>
                            <p:childTnLst>
                              <p:par>
                                <p:cTn id="62" presetID="53" presetClass="entr" presetSubtype="16" fill="hold" grpId="0" nodeType="after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500" fill="hold"/>
                                        <p:tgtEl>
                                          <p:spTgt spid="21"/>
                                        </p:tgtEl>
                                        <p:attrNameLst>
                                          <p:attrName>ppt_w</p:attrName>
                                        </p:attrNameLst>
                                      </p:cBhvr>
                                      <p:tavLst>
                                        <p:tav tm="0">
                                          <p:val>
                                            <p:fltVal val="0"/>
                                          </p:val>
                                        </p:tav>
                                        <p:tav tm="100000">
                                          <p:val>
                                            <p:strVal val="#ppt_w"/>
                                          </p:val>
                                        </p:tav>
                                      </p:tavLst>
                                    </p:anim>
                                    <p:anim calcmode="lin" valueType="num">
                                      <p:cBhvr>
                                        <p:cTn id="65" dur="500" fill="hold"/>
                                        <p:tgtEl>
                                          <p:spTgt spid="21"/>
                                        </p:tgtEl>
                                        <p:attrNameLst>
                                          <p:attrName>ppt_h</p:attrName>
                                        </p:attrNameLst>
                                      </p:cBhvr>
                                      <p:tavLst>
                                        <p:tav tm="0">
                                          <p:val>
                                            <p:fltVal val="0"/>
                                          </p:val>
                                        </p:tav>
                                        <p:tav tm="100000">
                                          <p:val>
                                            <p:strVal val="#ppt_h"/>
                                          </p:val>
                                        </p:tav>
                                      </p:tavLst>
                                    </p:anim>
                                    <p:animEffect transition="in" filter="fade">
                                      <p:cBhvr>
                                        <p:cTn id="66" dur="500"/>
                                        <p:tgtEl>
                                          <p:spTgt spid="21"/>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par>
                          <p:cTn id="71" fill="hold">
                            <p:stCondLst>
                              <p:cond delay="13000"/>
                            </p:stCondLst>
                            <p:childTnLst>
                              <p:par>
                                <p:cTn id="72" presetID="10" presetClass="entr" presetSubtype="0"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B9FB233C-0397-D273-485E-1D1EE806BADF}"/>
              </a:ext>
            </a:extLst>
          </p:cNvPr>
          <p:cNvPicPr>
            <a:picLocks noChangeAspect="1"/>
          </p:cNvPicPr>
          <p:nvPr/>
        </p:nvPicPr>
        <p:blipFill>
          <a:blip r:embed="rId3"/>
          <a:stretch>
            <a:fillRect/>
          </a:stretch>
        </p:blipFill>
        <p:spPr>
          <a:xfrm>
            <a:off x="347788" y="999713"/>
            <a:ext cx="11599341" cy="4902067"/>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744428" cy="523220"/>
          </a:xfrm>
          <a:prstGeom prst="rect">
            <a:avLst/>
          </a:prstGeom>
          <a:noFill/>
        </p:spPr>
        <p:txBody>
          <a:bodyPr wrap="none" rtlCol="0">
            <a:spAutoFit/>
          </a:bodyPr>
          <a:lstStyle/>
          <a:p>
            <a:r>
              <a:rPr lang="es-ES" sz="2800" b="1" dirty="0">
                <a:latin typeface="Montserrat" pitchFamily="2" charset="0"/>
              </a:rPr>
              <a:t>RESTRICCIONES DE SECCIÓN - SSARRES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175749" y="241540"/>
            <a:ext cx="40162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9" name="Rectángulo 8">
            <a:extLst>
              <a:ext uri="{FF2B5EF4-FFF2-40B4-BE49-F238E27FC236}">
                <a16:creationId xmlns:a16="http://schemas.microsoft.com/office/drawing/2014/main" id="{F2500680-F041-CB64-736B-506CB3DE5D25}"/>
              </a:ext>
            </a:extLst>
          </p:cNvPr>
          <p:cNvSpPr/>
          <p:nvPr/>
        </p:nvSpPr>
        <p:spPr>
          <a:xfrm>
            <a:off x="2552532" y="1544858"/>
            <a:ext cx="846808" cy="23444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38B5F1AB-8FEC-471D-06FB-369701498B1D}"/>
              </a:ext>
            </a:extLst>
          </p:cNvPr>
          <p:cNvSpPr/>
          <p:nvPr/>
        </p:nvSpPr>
        <p:spPr>
          <a:xfrm>
            <a:off x="3539042" y="155502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D65C1914-7953-741D-1468-BADF5CCB7F59}"/>
              </a:ext>
            </a:extLst>
          </p:cNvPr>
          <p:cNvSpPr txBox="1"/>
          <p:nvPr/>
        </p:nvSpPr>
        <p:spPr>
          <a:xfrm>
            <a:off x="3882079" y="1331497"/>
            <a:ext cx="2509150"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a:t>
            </a:r>
            <a:r>
              <a:rPr lang="es-ES" sz="1200" b="1" dirty="0">
                <a:solidFill>
                  <a:srgbClr val="92D050"/>
                </a:solidFill>
              </a:rPr>
              <a:t>Grado y programa</a:t>
            </a:r>
            <a:r>
              <a:rPr lang="es-ES" sz="1200" dirty="0">
                <a:solidFill>
                  <a:srgbClr val="FFFFFF"/>
                </a:solidFill>
              </a:rPr>
              <a:t>, se ingresa la restricción de Programa del NRC</a:t>
            </a:r>
          </a:p>
        </p:txBody>
      </p:sp>
      <p:sp>
        <p:nvSpPr>
          <p:cNvPr id="13" name="Rectángulo 12">
            <a:extLst>
              <a:ext uri="{FF2B5EF4-FFF2-40B4-BE49-F238E27FC236}">
                <a16:creationId xmlns:a16="http://schemas.microsoft.com/office/drawing/2014/main" id="{EB1E72E4-C7B8-0609-DC46-31B5F8AF0B91}"/>
              </a:ext>
            </a:extLst>
          </p:cNvPr>
          <p:cNvSpPr/>
          <p:nvPr/>
        </p:nvSpPr>
        <p:spPr>
          <a:xfrm>
            <a:off x="445008" y="2856635"/>
            <a:ext cx="212121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B774D23C-F91C-A204-F01E-BC7B23F99588}"/>
              </a:ext>
            </a:extLst>
          </p:cNvPr>
          <p:cNvSpPr/>
          <p:nvPr/>
        </p:nvSpPr>
        <p:spPr>
          <a:xfrm>
            <a:off x="2660016" y="283630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5" name="CuadroTexto 14">
            <a:extLst>
              <a:ext uri="{FF2B5EF4-FFF2-40B4-BE49-F238E27FC236}">
                <a16:creationId xmlns:a16="http://schemas.microsoft.com/office/drawing/2014/main" id="{5E6066F1-FF84-E889-FB4D-095F6FD8E6B6}"/>
              </a:ext>
            </a:extLst>
          </p:cNvPr>
          <p:cNvSpPr txBox="1"/>
          <p:nvPr/>
        </p:nvSpPr>
        <p:spPr>
          <a:xfrm>
            <a:off x="2952432" y="2197447"/>
            <a:ext cx="6923088" cy="863144"/>
          </a:xfrm>
          <a:prstGeom prst="roundRect">
            <a:avLst>
              <a:gd name="adj" fmla="val 7573"/>
            </a:avLst>
          </a:prstGeom>
          <a:solidFill>
            <a:srgbClr val="7030A0"/>
          </a:solidFill>
        </p:spPr>
        <p:txBody>
          <a:bodyPr wrap="square">
            <a:spAutoFit/>
          </a:bodyPr>
          <a:lstStyle/>
          <a:p>
            <a:r>
              <a:rPr lang="es-ES" sz="1200" dirty="0">
                <a:solidFill>
                  <a:srgbClr val="FFFFFF"/>
                </a:solidFill>
              </a:rPr>
              <a:t>Defina el </a:t>
            </a:r>
            <a:r>
              <a:rPr lang="es-ES" sz="1200" b="1" dirty="0">
                <a:solidFill>
                  <a:srgbClr val="92D050"/>
                </a:solidFill>
              </a:rPr>
              <a:t>Criterio de restricción</a:t>
            </a:r>
            <a:r>
              <a:rPr lang="es-ES" sz="1200" dirty="0">
                <a:solidFill>
                  <a:srgbClr val="FFFFFF"/>
                </a:solidFill>
              </a:rPr>
              <a:t>:</a:t>
            </a:r>
          </a:p>
          <a:p>
            <a:pPr marL="171450" indent="-171450">
              <a:buFont typeface="Arial" panose="020B0604020202020204" pitchFamily="34" charset="0"/>
              <a:buChar char="•"/>
            </a:pPr>
            <a:r>
              <a:rPr lang="es-ES" sz="1200" b="1" dirty="0">
                <a:solidFill>
                  <a:srgbClr val="92D050"/>
                </a:solidFill>
              </a:rPr>
              <a:t>Incluir:</a:t>
            </a:r>
            <a:r>
              <a:rPr lang="es-ES" sz="1200" dirty="0">
                <a:solidFill>
                  <a:srgbClr val="FFFFFF"/>
                </a:solidFill>
              </a:rPr>
              <a:t> solo los estudiantes que tengan el o los programas que se definan podrán inscribir el NRC.</a:t>
            </a:r>
          </a:p>
          <a:p>
            <a:pPr marL="171450" indent="-171450">
              <a:buFont typeface="Arial" panose="020B0604020202020204" pitchFamily="34" charset="0"/>
              <a:buChar char="•"/>
            </a:pPr>
            <a:r>
              <a:rPr lang="es-ES" sz="1200" b="1" dirty="0">
                <a:solidFill>
                  <a:srgbClr val="92D050"/>
                </a:solidFill>
              </a:rPr>
              <a:t>Excluir:</a:t>
            </a:r>
            <a:r>
              <a:rPr lang="es-ES" sz="1200" dirty="0">
                <a:solidFill>
                  <a:srgbClr val="FFFFFF"/>
                </a:solidFill>
              </a:rPr>
              <a:t> todos los estudiantes, excepto aquellos que tengan el o los programas definidos, podrán inscribir el NRC.</a:t>
            </a:r>
          </a:p>
        </p:txBody>
      </p:sp>
      <p:sp>
        <p:nvSpPr>
          <p:cNvPr id="16" name="Rectángulo 15">
            <a:extLst>
              <a:ext uri="{FF2B5EF4-FFF2-40B4-BE49-F238E27FC236}">
                <a16:creationId xmlns:a16="http://schemas.microsoft.com/office/drawing/2014/main" id="{FE7C7AE0-3BD3-562D-77E1-D3026DF3346B}"/>
              </a:ext>
            </a:extLst>
          </p:cNvPr>
          <p:cNvSpPr/>
          <p:nvPr/>
        </p:nvSpPr>
        <p:spPr>
          <a:xfrm>
            <a:off x="431320" y="3234887"/>
            <a:ext cx="212121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DAC0612B-6163-C748-0305-6658603E7EED}"/>
              </a:ext>
            </a:extLst>
          </p:cNvPr>
          <p:cNvSpPr/>
          <p:nvPr/>
        </p:nvSpPr>
        <p:spPr>
          <a:xfrm>
            <a:off x="2646328" y="321455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9" name="CuadroTexto 18">
            <a:extLst>
              <a:ext uri="{FF2B5EF4-FFF2-40B4-BE49-F238E27FC236}">
                <a16:creationId xmlns:a16="http://schemas.microsoft.com/office/drawing/2014/main" id="{034B7C21-991C-1057-FD3E-3D5A102757DA}"/>
              </a:ext>
            </a:extLst>
          </p:cNvPr>
          <p:cNvSpPr txBox="1"/>
          <p:nvPr/>
        </p:nvSpPr>
        <p:spPr>
          <a:xfrm>
            <a:off x="2949808" y="3161070"/>
            <a:ext cx="6923088" cy="479524"/>
          </a:xfrm>
          <a:prstGeom prst="roundRect">
            <a:avLst>
              <a:gd name="adj" fmla="val 7573"/>
            </a:avLst>
          </a:prstGeom>
          <a:solidFill>
            <a:srgbClr val="7030A0"/>
          </a:solidFill>
        </p:spPr>
        <p:txBody>
          <a:bodyPr wrap="square">
            <a:spAutoFit/>
          </a:bodyPr>
          <a:lstStyle/>
          <a:p>
            <a:r>
              <a:rPr lang="es-ES" sz="1200" dirty="0">
                <a:solidFill>
                  <a:schemeClr val="bg1"/>
                </a:solidFill>
              </a:rPr>
              <a:t>Seleccione o ingrese el código de </a:t>
            </a:r>
            <a:r>
              <a:rPr lang="es-ES" sz="1200" b="1" dirty="0">
                <a:solidFill>
                  <a:srgbClr val="92D050"/>
                </a:solidFill>
              </a:rPr>
              <a:t>Programa</a:t>
            </a:r>
            <a:r>
              <a:rPr lang="es-ES" sz="1200" dirty="0">
                <a:solidFill>
                  <a:schemeClr val="bg1"/>
                </a:solidFill>
              </a:rPr>
              <a:t> que desea definir para la restricción de inscripción del NRC.</a:t>
            </a:r>
          </a:p>
        </p:txBody>
      </p:sp>
      <p:sp>
        <p:nvSpPr>
          <p:cNvPr id="20" name="Rectángulo 19">
            <a:extLst>
              <a:ext uri="{FF2B5EF4-FFF2-40B4-BE49-F238E27FC236}">
                <a16:creationId xmlns:a16="http://schemas.microsoft.com/office/drawing/2014/main" id="{DAA4EFBD-E5B5-E77C-5665-83747E148F5E}"/>
              </a:ext>
            </a:extLst>
          </p:cNvPr>
          <p:cNvSpPr/>
          <p:nvPr/>
        </p:nvSpPr>
        <p:spPr>
          <a:xfrm>
            <a:off x="11338487" y="551028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8C3C0288-1869-BBAE-A83F-8DED7EB6EEBC}"/>
              </a:ext>
            </a:extLst>
          </p:cNvPr>
          <p:cNvSpPr/>
          <p:nvPr/>
        </p:nvSpPr>
        <p:spPr>
          <a:xfrm>
            <a:off x="11022184" y="557214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4</a:t>
            </a:r>
            <a:endParaRPr lang="es-PE" sz="1100" b="1" dirty="0"/>
          </a:p>
        </p:txBody>
      </p:sp>
      <p:sp>
        <p:nvSpPr>
          <p:cNvPr id="22" name="CuadroTexto 21">
            <a:extLst>
              <a:ext uri="{FF2B5EF4-FFF2-40B4-BE49-F238E27FC236}">
                <a16:creationId xmlns:a16="http://schemas.microsoft.com/office/drawing/2014/main" id="{DFAC4E41-79C2-C5E2-3FFE-CFB125C178E8}"/>
              </a:ext>
            </a:extLst>
          </p:cNvPr>
          <p:cNvSpPr txBox="1"/>
          <p:nvPr/>
        </p:nvSpPr>
        <p:spPr>
          <a:xfrm>
            <a:off x="8695569" y="537635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23" name="CuadroTexto 22">
            <a:extLst>
              <a:ext uri="{FF2B5EF4-FFF2-40B4-BE49-F238E27FC236}">
                <a16:creationId xmlns:a16="http://schemas.microsoft.com/office/drawing/2014/main" id="{DB1F32D2-40DB-85CA-4937-6172963E42FA}"/>
              </a:ext>
            </a:extLst>
          </p:cNvPr>
          <p:cNvSpPr txBox="1"/>
          <p:nvPr/>
        </p:nvSpPr>
        <p:spPr>
          <a:xfrm>
            <a:off x="4074160" y="4145519"/>
            <a:ext cx="2987040" cy="863144"/>
          </a:xfrm>
          <a:prstGeom prst="roundRect">
            <a:avLst>
              <a:gd name="adj" fmla="val 7573"/>
            </a:avLst>
          </a:prstGeom>
          <a:solidFill>
            <a:srgbClr val="7030A0"/>
          </a:solidFill>
        </p:spPr>
        <p:txBody>
          <a:bodyPr wrap="square">
            <a:spAutoFit/>
          </a:bodyPr>
          <a:lstStyle/>
          <a:p>
            <a:pPr algn="ctr"/>
            <a:r>
              <a:rPr lang="es-ES" sz="1200" dirty="0">
                <a:solidFill>
                  <a:srgbClr val="FFFFFF"/>
                </a:solidFill>
              </a:rPr>
              <a:t>Para ingresar o eliminar programas  ya ingresados, puede utilizar los símbolos </a:t>
            </a:r>
            <a:r>
              <a:rPr lang="es-ES" sz="1200" b="1" dirty="0">
                <a:solidFill>
                  <a:srgbClr val="92D050"/>
                </a:solidFill>
              </a:rPr>
              <a:t>+</a:t>
            </a:r>
            <a:r>
              <a:rPr lang="es-ES" sz="1200" dirty="0">
                <a:solidFill>
                  <a:srgbClr val="FFFFFF"/>
                </a:solidFill>
              </a:rPr>
              <a:t> y </a:t>
            </a:r>
            <a:r>
              <a:rPr lang="es-ES" sz="1200" b="1" dirty="0">
                <a:solidFill>
                  <a:srgbClr val="92D050"/>
                </a:solidFill>
              </a:rPr>
              <a:t>–</a:t>
            </a:r>
            <a:r>
              <a:rPr lang="es-ES" sz="1200" dirty="0">
                <a:solidFill>
                  <a:srgbClr val="FFFFFF"/>
                </a:solidFill>
              </a:rPr>
              <a:t>  ubicados en la parte superior del apartado de Restricciones de Programa.</a:t>
            </a:r>
          </a:p>
        </p:txBody>
      </p:sp>
    </p:spTree>
    <p:extLst>
      <p:ext uri="{BB962C8B-B14F-4D97-AF65-F5344CB8AC3E}">
        <p14:creationId xmlns:p14="http://schemas.microsoft.com/office/powerpoint/2010/main" val="301624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1" presetClass="entr" presetSubtype="1"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heel(1)">
                                      <p:cBhvr>
                                        <p:cTn id="14" dur="2000"/>
                                        <p:tgtEl>
                                          <p:spTgt spid="9"/>
                                        </p:tgtEl>
                                      </p:cBhvr>
                                    </p:animEffect>
                                  </p:childTnLst>
                                </p:cTn>
                              </p:par>
                            </p:childTnLst>
                          </p:cTn>
                        </p:par>
                        <p:par>
                          <p:cTn id="15" fill="hold">
                            <p:stCondLst>
                              <p:cond delay="2500"/>
                            </p:stCondLst>
                            <p:childTnLst>
                              <p:par>
                                <p:cTn id="16" presetID="53" presetClass="entr" presetSubtype="16"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3500"/>
                            </p:stCondLst>
                            <p:childTnLst>
                              <p:par>
                                <p:cTn id="26" presetID="21" presetClass="entr" presetSubtype="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heel(1)">
                                      <p:cBhvr>
                                        <p:cTn id="28" dur="2000"/>
                                        <p:tgtEl>
                                          <p:spTgt spid="13"/>
                                        </p:tgtEl>
                                      </p:cBhvr>
                                    </p:animEffect>
                                  </p:childTnLst>
                                </p:cTn>
                              </p:par>
                            </p:childTnLst>
                          </p:cTn>
                        </p:par>
                        <p:par>
                          <p:cTn id="29" fill="hold">
                            <p:stCondLst>
                              <p:cond delay="5500"/>
                            </p:stCondLst>
                            <p:childTnLst>
                              <p:par>
                                <p:cTn id="30" presetID="53" presetClass="entr" presetSubtype="16"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par>
                          <p:cTn id="35" fill="hold">
                            <p:stCondLst>
                              <p:cond delay="600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par>
                          <p:cTn id="39" fill="hold">
                            <p:stCondLst>
                              <p:cond delay="6500"/>
                            </p:stCondLst>
                            <p:childTnLst>
                              <p:par>
                                <p:cTn id="40" presetID="21" presetClass="entr" presetSubtype="1"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heel(1)">
                                      <p:cBhvr>
                                        <p:cTn id="42" dur="2000"/>
                                        <p:tgtEl>
                                          <p:spTgt spid="16"/>
                                        </p:tgtEl>
                                      </p:cBhvr>
                                    </p:animEffect>
                                  </p:childTnLst>
                                </p:cTn>
                              </p:par>
                            </p:childTnLst>
                          </p:cTn>
                        </p:par>
                        <p:par>
                          <p:cTn id="43" fill="hold">
                            <p:stCondLst>
                              <p:cond delay="8500"/>
                            </p:stCondLst>
                            <p:childTnLst>
                              <p:par>
                                <p:cTn id="44" presetID="53" presetClass="entr" presetSubtype="16"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
                                          </p:val>
                                        </p:tav>
                                        <p:tav tm="100000">
                                          <p:val>
                                            <p:strVal val="#ppt_w"/>
                                          </p:val>
                                        </p:tav>
                                      </p:tavLst>
                                    </p:anim>
                                    <p:anim calcmode="lin" valueType="num">
                                      <p:cBhvr>
                                        <p:cTn id="47" dur="500" fill="hold"/>
                                        <p:tgtEl>
                                          <p:spTgt spid="17"/>
                                        </p:tgtEl>
                                        <p:attrNameLst>
                                          <p:attrName>ppt_h</p:attrName>
                                        </p:attrNameLst>
                                      </p:cBhvr>
                                      <p:tavLst>
                                        <p:tav tm="0">
                                          <p:val>
                                            <p:fltVal val="0"/>
                                          </p:val>
                                        </p:tav>
                                        <p:tav tm="100000">
                                          <p:val>
                                            <p:strVal val="#ppt_h"/>
                                          </p:val>
                                        </p:tav>
                                      </p:tavLst>
                                    </p:anim>
                                    <p:animEffect transition="in" filter="fade">
                                      <p:cBhvr>
                                        <p:cTn id="48" dur="500"/>
                                        <p:tgtEl>
                                          <p:spTgt spid="17"/>
                                        </p:tgtEl>
                                      </p:cBhvr>
                                    </p:animEffect>
                                  </p:childTnLst>
                                </p:cTn>
                              </p:par>
                            </p:childTnLst>
                          </p:cTn>
                        </p:par>
                        <p:par>
                          <p:cTn id="49" fill="hold">
                            <p:stCondLst>
                              <p:cond delay="9000"/>
                            </p:stCondLst>
                            <p:childTnLst>
                              <p:par>
                                <p:cTn id="50" presetID="10" presetClass="entr" presetSubtype="0"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par>
                          <p:cTn id="53" fill="hold">
                            <p:stCondLst>
                              <p:cond delay="9500"/>
                            </p:stCondLst>
                            <p:childTnLst>
                              <p:par>
                                <p:cTn id="54" presetID="21" presetClass="entr" presetSubtype="1"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heel(1)">
                                      <p:cBhvr>
                                        <p:cTn id="56" dur="2000"/>
                                        <p:tgtEl>
                                          <p:spTgt spid="20"/>
                                        </p:tgtEl>
                                      </p:cBhvr>
                                    </p:animEffect>
                                  </p:childTnLst>
                                </p:cTn>
                              </p:par>
                            </p:childTnLst>
                          </p:cTn>
                        </p:par>
                        <p:par>
                          <p:cTn id="57" fill="hold">
                            <p:stCondLst>
                              <p:cond delay="11500"/>
                            </p:stCondLst>
                            <p:childTnLst>
                              <p:par>
                                <p:cTn id="58" presetID="53" presetClass="entr" presetSubtype="16"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p:cTn id="60" dur="500" fill="hold"/>
                                        <p:tgtEl>
                                          <p:spTgt spid="21"/>
                                        </p:tgtEl>
                                        <p:attrNameLst>
                                          <p:attrName>ppt_w</p:attrName>
                                        </p:attrNameLst>
                                      </p:cBhvr>
                                      <p:tavLst>
                                        <p:tav tm="0">
                                          <p:val>
                                            <p:fltVal val="0"/>
                                          </p:val>
                                        </p:tav>
                                        <p:tav tm="100000">
                                          <p:val>
                                            <p:strVal val="#ppt_w"/>
                                          </p:val>
                                        </p:tav>
                                      </p:tavLst>
                                    </p:anim>
                                    <p:anim calcmode="lin" valueType="num">
                                      <p:cBhvr>
                                        <p:cTn id="61" dur="500" fill="hold"/>
                                        <p:tgtEl>
                                          <p:spTgt spid="21"/>
                                        </p:tgtEl>
                                        <p:attrNameLst>
                                          <p:attrName>ppt_h</p:attrName>
                                        </p:attrNameLst>
                                      </p:cBhvr>
                                      <p:tavLst>
                                        <p:tav tm="0">
                                          <p:val>
                                            <p:fltVal val="0"/>
                                          </p:val>
                                        </p:tav>
                                        <p:tav tm="100000">
                                          <p:val>
                                            <p:strVal val="#ppt_h"/>
                                          </p:val>
                                        </p:tav>
                                      </p:tavLst>
                                    </p:anim>
                                    <p:animEffect transition="in" filter="fade">
                                      <p:cBhvr>
                                        <p:cTn id="62" dur="500"/>
                                        <p:tgtEl>
                                          <p:spTgt spid="21"/>
                                        </p:tgtEl>
                                      </p:cBhvr>
                                    </p:animEffect>
                                  </p:childTnLst>
                                </p:cTn>
                              </p:par>
                            </p:childTnLst>
                          </p:cTn>
                        </p:par>
                        <p:par>
                          <p:cTn id="63" fill="hold">
                            <p:stCondLst>
                              <p:cond delay="12000"/>
                            </p:stCondLst>
                            <p:childTnLst>
                              <p:par>
                                <p:cTn id="64" presetID="10" presetClass="entr" presetSubtype="0"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85EC0D5-12F3-7A2B-DB67-13CCE77CECF3}"/>
              </a:ext>
            </a:extLst>
          </p:cNvPr>
          <p:cNvPicPr>
            <a:picLocks noChangeAspect="1"/>
          </p:cNvPicPr>
          <p:nvPr/>
        </p:nvPicPr>
        <p:blipFill>
          <a:blip r:embed="rId3"/>
          <a:stretch>
            <a:fillRect/>
          </a:stretch>
        </p:blipFill>
        <p:spPr>
          <a:xfrm>
            <a:off x="314960" y="966903"/>
            <a:ext cx="11648254" cy="4934878"/>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744428" cy="523220"/>
          </a:xfrm>
          <a:prstGeom prst="rect">
            <a:avLst/>
          </a:prstGeom>
          <a:noFill/>
        </p:spPr>
        <p:txBody>
          <a:bodyPr wrap="none" rtlCol="0">
            <a:spAutoFit/>
          </a:bodyPr>
          <a:lstStyle/>
          <a:p>
            <a:r>
              <a:rPr lang="es-ES" sz="2800" b="1" dirty="0">
                <a:latin typeface="Montserrat" pitchFamily="2" charset="0"/>
              </a:rPr>
              <a:t>RESTRICCIONES DE SECCIÓN - SSARRES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175749" y="241540"/>
            <a:ext cx="40162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9" name="Rectángulo 8">
            <a:extLst>
              <a:ext uri="{FF2B5EF4-FFF2-40B4-BE49-F238E27FC236}">
                <a16:creationId xmlns:a16="http://schemas.microsoft.com/office/drawing/2014/main" id="{F2500680-F041-CB64-736B-506CB3DE5D25}"/>
              </a:ext>
            </a:extLst>
          </p:cNvPr>
          <p:cNvSpPr/>
          <p:nvPr/>
        </p:nvSpPr>
        <p:spPr>
          <a:xfrm>
            <a:off x="3416132" y="1524538"/>
            <a:ext cx="846808" cy="23444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38B5F1AB-8FEC-471D-06FB-369701498B1D}"/>
              </a:ext>
            </a:extLst>
          </p:cNvPr>
          <p:cNvSpPr/>
          <p:nvPr/>
        </p:nvSpPr>
        <p:spPr>
          <a:xfrm>
            <a:off x="4402642" y="153470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D65C1914-7953-741D-1468-BADF5CCB7F59}"/>
              </a:ext>
            </a:extLst>
          </p:cNvPr>
          <p:cNvSpPr txBox="1"/>
          <p:nvPr/>
        </p:nvSpPr>
        <p:spPr>
          <a:xfrm>
            <a:off x="4745679" y="1107977"/>
            <a:ext cx="2509150" cy="671334"/>
          </a:xfrm>
          <a:prstGeom prst="roundRect">
            <a:avLst>
              <a:gd name="adj" fmla="val 7573"/>
            </a:avLst>
          </a:prstGeom>
          <a:solidFill>
            <a:srgbClr val="7030A0"/>
          </a:solidFill>
        </p:spPr>
        <p:txBody>
          <a:bodyPr wrap="square">
            <a:spAutoFit/>
          </a:bodyPr>
          <a:lstStyle/>
          <a:p>
            <a:pPr algn="ctr"/>
            <a:r>
              <a:rPr lang="es-ES" sz="1200" dirty="0">
                <a:solidFill>
                  <a:srgbClr val="FFFFFF"/>
                </a:solidFill>
              </a:rPr>
              <a:t>En la pestaña </a:t>
            </a:r>
            <a:r>
              <a:rPr lang="es-ES" sz="1200" b="1" dirty="0">
                <a:solidFill>
                  <a:srgbClr val="92D050"/>
                </a:solidFill>
              </a:rPr>
              <a:t>Campus y escuela</a:t>
            </a:r>
            <a:r>
              <a:rPr lang="es-ES" sz="1200" dirty="0">
                <a:solidFill>
                  <a:srgbClr val="FFFFFF"/>
                </a:solidFill>
              </a:rPr>
              <a:t>, se ingresa la restricción de Programa del NRC</a:t>
            </a:r>
          </a:p>
        </p:txBody>
      </p:sp>
      <p:sp>
        <p:nvSpPr>
          <p:cNvPr id="13" name="Rectángulo 12">
            <a:extLst>
              <a:ext uri="{FF2B5EF4-FFF2-40B4-BE49-F238E27FC236}">
                <a16:creationId xmlns:a16="http://schemas.microsoft.com/office/drawing/2014/main" id="{EB1E72E4-C7B8-0609-DC46-31B5F8AF0B91}"/>
              </a:ext>
            </a:extLst>
          </p:cNvPr>
          <p:cNvSpPr/>
          <p:nvPr/>
        </p:nvSpPr>
        <p:spPr>
          <a:xfrm>
            <a:off x="445008" y="1901595"/>
            <a:ext cx="212121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B774D23C-F91C-A204-F01E-BC7B23F99588}"/>
              </a:ext>
            </a:extLst>
          </p:cNvPr>
          <p:cNvSpPr/>
          <p:nvPr/>
        </p:nvSpPr>
        <p:spPr>
          <a:xfrm>
            <a:off x="2660016" y="188126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5" name="CuadroTexto 14">
            <a:extLst>
              <a:ext uri="{FF2B5EF4-FFF2-40B4-BE49-F238E27FC236}">
                <a16:creationId xmlns:a16="http://schemas.microsoft.com/office/drawing/2014/main" id="{5E6066F1-FF84-E889-FB4D-095F6FD8E6B6}"/>
              </a:ext>
            </a:extLst>
          </p:cNvPr>
          <p:cNvSpPr txBox="1"/>
          <p:nvPr/>
        </p:nvSpPr>
        <p:spPr>
          <a:xfrm>
            <a:off x="2952432" y="1872327"/>
            <a:ext cx="6923088" cy="863144"/>
          </a:xfrm>
          <a:prstGeom prst="roundRect">
            <a:avLst>
              <a:gd name="adj" fmla="val 7573"/>
            </a:avLst>
          </a:prstGeom>
          <a:solidFill>
            <a:srgbClr val="7030A0"/>
          </a:solidFill>
        </p:spPr>
        <p:txBody>
          <a:bodyPr wrap="square">
            <a:spAutoFit/>
          </a:bodyPr>
          <a:lstStyle/>
          <a:p>
            <a:r>
              <a:rPr lang="es-ES" sz="1200" dirty="0">
                <a:solidFill>
                  <a:srgbClr val="FFFFFF"/>
                </a:solidFill>
              </a:rPr>
              <a:t>Defina el </a:t>
            </a:r>
            <a:r>
              <a:rPr lang="es-ES" sz="1200" b="1" dirty="0">
                <a:solidFill>
                  <a:srgbClr val="92D050"/>
                </a:solidFill>
              </a:rPr>
              <a:t>Criterio de restricción</a:t>
            </a:r>
            <a:r>
              <a:rPr lang="es-ES" sz="1200" dirty="0">
                <a:solidFill>
                  <a:srgbClr val="FFFFFF"/>
                </a:solidFill>
              </a:rPr>
              <a:t>:</a:t>
            </a:r>
          </a:p>
          <a:p>
            <a:pPr marL="171450" indent="-171450">
              <a:buFont typeface="Arial" panose="020B0604020202020204" pitchFamily="34" charset="0"/>
              <a:buChar char="•"/>
            </a:pPr>
            <a:r>
              <a:rPr lang="es-ES" sz="1200" b="1" dirty="0">
                <a:solidFill>
                  <a:srgbClr val="92D050"/>
                </a:solidFill>
              </a:rPr>
              <a:t>Incluir:</a:t>
            </a:r>
            <a:r>
              <a:rPr lang="es-ES" sz="1200" dirty="0">
                <a:solidFill>
                  <a:srgbClr val="FFFFFF"/>
                </a:solidFill>
              </a:rPr>
              <a:t> solo los estudiantes que tengan el o los campus que se definan podrán inscribir el NRC.</a:t>
            </a:r>
          </a:p>
          <a:p>
            <a:pPr marL="171450" indent="-171450">
              <a:buFont typeface="Arial" panose="020B0604020202020204" pitchFamily="34" charset="0"/>
              <a:buChar char="•"/>
            </a:pPr>
            <a:r>
              <a:rPr lang="es-ES" sz="1200" b="1" dirty="0">
                <a:solidFill>
                  <a:srgbClr val="92D050"/>
                </a:solidFill>
              </a:rPr>
              <a:t>Excluir:</a:t>
            </a:r>
            <a:r>
              <a:rPr lang="es-ES" sz="1200" dirty="0">
                <a:solidFill>
                  <a:srgbClr val="FFFFFF"/>
                </a:solidFill>
              </a:rPr>
              <a:t> todos los estudiantes, excepto aquellos que tengan el o los campus definidos, podrán inscribir el NRC.</a:t>
            </a:r>
          </a:p>
        </p:txBody>
      </p:sp>
      <p:sp>
        <p:nvSpPr>
          <p:cNvPr id="16" name="Rectángulo 15">
            <a:extLst>
              <a:ext uri="{FF2B5EF4-FFF2-40B4-BE49-F238E27FC236}">
                <a16:creationId xmlns:a16="http://schemas.microsoft.com/office/drawing/2014/main" id="{FE7C7AE0-3BD3-562D-77E1-D3026DF3346B}"/>
              </a:ext>
            </a:extLst>
          </p:cNvPr>
          <p:cNvSpPr/>
          <p:nvPr/>
        </p:nvSpPr>
        <p:spPr>
          <a:xfrm>
            <a:off x="431320" y="2259527"/>
            <a:ext cx="2121212" cy="224286"/>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7" name="Rectángulo: esquinas redondeadas 16">
            <a:extLst>
              <a:ext uri="{FF2B5EF4-FFF2-40B4-BE49-F238E27FC236}">
                <a16:creationId xmlns:a16="http://schemas.microsoft.com/office/drawing/2014/main" id="{DAC0612B-6163-C748-0305-6658603E7EED}"/>
              </a:ext>
            </a:extLst>
          </p:cNvPr>
          <p:cNvSpPr/>
          <p:nvPr/>
        </p:nvSpPr>
        <p:spPr>
          <a:xfrm>
            <a:off x="1335688" y="259479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9" name="CuadroTexto 18">
            <a:extLst>
              <a:ext uri="{FF2B5EF4-FFF2-40B4-BE49-F238E27FC236}">
                <a16:creationId xmlns:a16="http://schemas.microsoft.com/office/drawing/2014/main" id="{034B7C21-991C-1057-FD3E-3D5A102757DA}"/>
              </a:ext>
            </a:extLst>
          </p:cNvPr>
          <p:cNvSpPr txBox="1"/>
          <p:nvPr/>
        </p:nvSpPr>
        <p:spPr>
          <a:xfrm>
            <a:off x="374753" y="2918651"/>
            <a:ext cx="6923088" cy="479524"/>
          </a:xfrm>
          <a:prstGeom prst="roundRect">
            <a:avLst>
              <a:gd name="adj" fmla="val 7573"/>
            </a:avLst>
          </a:prstGeom>
          <a:solidFill>
            <a:srgbClr val="7030A0"/>
          </a:solidFill>
        </p:spPr>
        <p:txBody>
          <a:bodyPr wrap="square">
            <a:spAutoFit/>
          </a:bodyPr>
          <a:lstStyle/>
          <a:p>
            <a:r>
              <a:rPr lang="es-ES" sz="1200" dirty="0">
                <a:solidFill>
                  <a:schemeClr val="bg1"/>
                </a:solidFill>
              </a:rPr>
              <a:t>Seleccione o ingrese el código de </a:t>
            </a:r>
            <a:r>
              <a:rPr lang="es-ES" sz="1200" b="1" dirty="0">
                <a:solidFill>
                  <a:srgbClr val="92D050"/>
                </a:solidFill>
              </a:rPr>
              <a:t>Campus</a:t>
            </a:r>
            <a:r>
              <a:rPr lang="es-ES" sz="1200" dirty="0">
                <a:solidFill>
                  <a:schemeClr val="bg1"/>
                </a:solidFill>
              </a:rPr>
              <a:t> que desea definir para la restricción de inscripción del NRC.</a:t>
            </a:r>
          </a:p>
        </p:txBody>
      </p:sp>
      <p:sp>
        <p:nvSpPr>
          <p:cNvPr id="20" name="Rectángulo 19">
            <a:extLst>
              <a:ext uri="{FF2B5EF4-FFF2-40B4-BE49-F238E27FC236}">
                <a16:creationId xmlns:a16="http://schemas.microsoft.com/office/drawing/2014/main" id="{DAA4EFBD-E5B5-E77C-5665-83747E148F5E}"/>
              </a:ext>
            </a:extLst>
          </p:cNvPr>
          <p:cNvSpPr/>
          <p:nvPr/>
        </p:nvSpPr>
        <p:spPr>
          <a:xfrm>
            <a:off x="11338487" y="5510288"/>
            <a:ext cx="684363" cy="34799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8C3C0288-1869-BBAE-A83F-8DED7EB6EEBC}"/>
              </a:ext>
            </a:extLst>
          </p:cNvPr>
          <p:cNvSpPr/>
          <p:nvPr/>
        </p:nvSpPr>
        <p:spPr>
          <a:xfrm>
            <a:off x="11022184" y="5572144"/>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1100" b="1" dirty="0"/>
              <a:t>4</a:t>
            </a:r>
            <a:endParaRPr lang="es-PE" sz="1100" b="1" dirty="0"/>
          </a:p>
        </p:txBody>
      </p:sp>
      <p:sp>
        <p:nvSpPr>
          <p:cNvPr id="22" name="CuadroTexto 21">
            <a:extLst>
              <a:ext uri="{FF2B5EF4-FFF2-40B4-BE49-F238E27FC236}">
                <a16:creationId xmlns:a16="http://schemas.microsoft.com/office/drawing/2014/main" id="{DFAC4E41-79C2-C5E2-3FFE-CFB125C178E8}"/>
              </a:ext>
            </a:extLst>
          </p:cNvPr>
          <p:cNvSpPr txBox="1"/>
          <p:nvPr/>
        </p:nvSpPr>
        <p:spPr>
          <a:xfrm>
            <a:off x="8695569" y="5376356"/>
            <a:ext cx="2242868" cy="623381"/>
          </a:xfrm>
          <a:prstGeom prst="roundRect">
            <a:avLst>
              <a:gd name="adj" fmla="val 7573"/>
            </a:avLst>
          </a:prstGeom>
          <a:solidFill>
            <a:srgbClr val="7030A0"/>
          </a:solidFill>
        </p:spPr>
        <p:txBody>
          <a:bodyPr wrap="square">
            <a:spAutoFit/>
          </a:bodyPr>
          <a:lstStyle/>
          <a:p>
            <a:pPr algn="ctr"/>
            <a:r>
              <a:rPr lang="es-ES" sz="1100" dirty="0">
                <a:solidFill>
                  <a:srgbClr val="FFFFFF"/>
                </a:solidFill>
              </a:rPr>
              <a:t>Se debe presionar </a:t>
            </a:r>
            <a:r>
              <a:rPr lang="es-ES" sz="1100" b="1" dirty="0">
                <a:solidFill>
                  <a:srgbClr val="92D050"/>
                </a:solidFill>
              </a:rPr>
              <a:t>Guardar</a:t>
            </a:r>
            <a:r>
              <a:rPr lang="es-ES" sz="1100" dirty="0">
                <a:solidFill>
                  <a:srgbClr val="FFFFFF"/>
                </a:solidFill>
              </a:rPr>
              <a:t> para que la información quede registrada en el sistema</a:t>
            </a:r>
          </a:p>
        </p:txBody>
      </p:sp>
      <p:sp>
        <p:nvSpPr>
          <p:cNvPr id="23" name="CuadroTexto 22">
            <a:extLst>
              <a:ext uri="{FF2B5EF4-FFF2-40B4-BE49-F238E27FC236}">
                <a16:creationId xmlns:a16="http://schemas.microsoft.com/office/drawing/2014/main" id="{DB1F32D2-40DB-85CA-4937-6172963E42FA}"/>
              </a:ext>
            </a:extLst>
          </p:cNvPr>
          <p:cNvSpPr txBox="1"/>
          <p:nvPr/>
        </p:nvSpPr>
        <p:spPr>
          <a:xfrm>
            <a:off x="4074160" y="4145519"/>
            <a:ext cx="2987040" cy="863144"/>
          </a:xfrm>
          <a:prstGeom prst="roundRect">
            <a:avLst>
              <a:gd name="adj" fmla="val 7573"/>
            </a:avLst>
          </a:prstGeom>
          <a:solidFill>
            <a:srgbClr val="7030A0"/>
          </a:solidFill>
        </p:spPr>
        <p:txBody>
          <a:bodyPr wrap="square">
            <a:spAutoFit/>
          </a:bodyPr>
          <a:lstStyle/>
          <a:p>
            <a:pPr algn="ctr"/>
            <a:r>
              <a:rPr lang="es-ES" sz="1200" dirty="0">
                <a:solidFill>
                  <a:srgbClr val="FFFFFF"/>
                </a:solidFill>
              </a:rPr>
              <a:t>Para ingresar o eliminar campus  ya ingresados, puede utilizar los símbolos </a:t>
            </a:r>
            <a:r>
              <a:rPr lang="es-ES" sz="1200" b="1" dirty="0">
                <a:solidFill>
                  <a:srgbClr val="92D050"/>
                </a:solidFill>
              </a:rPr>
              <a:t>+</a:t>
            </a:r>
            <a:r>
              <a:rPr lang="es-ES" sz="1200" dirty="0">
                <a:solidFill>
                  <a:srgbClr val="FFFFFF"/>
                </a:solidFill>
              </a:rPr>
              <a:t> y </a:t>
            </a:r>
            <a:r>
              <a:rPr lang="es-ES" sz="1200" b="1" dirty="0">
                <a:solidFill>
                  <a:srgbClr val="92D050"/>
                </a:solidFill>
              </a:rPr>
              <a:t>–</a:t>
            </a:r>
            <a:r>
              <a:rPr lang="es-ES" sz="1200" dirty="0">
                <a:solidFill>
                  <a:srgbClr val="FFFFFF"/>
                </a:solidFill>
              </a:rPr>
              <a:t>  ubicados en la parte superior del apartado de Restricciones de Campus.</a:t>
            </a:r>
          </a:p>
        </p:txBody>
      </p:sp>
    </p:spTree>
    <p:extLst>
      <p:ext uri="{BB962C8B-B14F-4D97-AF65-F5344CB8AC3E}">
        <p14:creationId xmlns:p14="http://schemas.microsoft.com/office/powerpoint/2010/main" val="328492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1" presetClass="entr" presetSubtype="1"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heel(1)">
                                      <p:cBhvr>
                                        <p:cTn id="14" dur="2000"/>
                                        <p:tgtEl>
                                          <p:spTgt spid="9"/>
                                        </p:tgtEl>
                                      </p:cBhvr>
                                    </p:animEffect>
                                  </p:childTnLst>
                                </p:cTn>
                              </p:par>
                            </p:childTnLst>
                          </p:cTn>
                        </p:par>
                        <p:par>
                          <p:cTn id="15" fill="hold">
                            <p:stCondLst>
                              <p:cond delay="2500"/>
                            </p:stCondLst>
                            <p:childTnLst>
                              <p:par>
                                <p:cTn id="16" presetID="53" presetClass="entr" presetSubtype="16"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par>
                          <p:cTn id="21" fill="hold">
                            <p:stCondLst>
                              <p:cond delay="30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3500"/>
                            </p:stCondLst>
                            <p:childTnLst>
                              <p:par>
                                <p:cTn id="26" presetID="21" presetClass="entr" presetSubtype="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heel(1)">
                                      <p:cBhvr>
                                        <p:cTn id="28" dur="2000"/>
                                        <p:tgtEl>
                                          <p:spTgt spid="13"/>
                                        </p:tgtEl>
                                      </p:cBhvr>
                                    </p:animEffect>
                                  </p:childTnLst>
                                </p:cTn>
                              </p:par>
                            </p:childTnLst>
                          </p:cTn>
                        </p:par>
                        <p:par>
                          <p:cTn id="29" fill="hold">
                            <p:stCondLst>
                              <p:cond delay="5500"/>
                            </p:stCondLst>
                            <p:childTnLst>
                              <p:par>
                                <p:cTn id="30" presetID="53" presetClass="entr" presetSubtype="16"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par>
                          <p:cTn id="35" fill="hold">
                            <p:stCondLst>
                              <p:cond delay="600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par>
                          <p:cTn id="39" fill="hold">
                            <p:stCondLst>
                              <p:cond delay="6500"/>
                            </p:stCondLst>
                            <p:childTnLst>
                              <p:par>
                                <p:cTn id="40" presetID="21" presetClass="entr" presetSubtype="1"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heel(1)">
                                      <p:cBhvr>
                                        <p:cTn id="42" dur="2000"/>
                                        <p:tgtEl>
                                          <p:spTgt spid="16"/>
                                        </p:tgtEl>
                                      </p:cBhvr>
                                    </p:animEffect>
                                  </p:childTnLst>
                                </p:cTn>
                              </p:par>
                            </p:childTnLst>
                          </p:cTn>
                        </p:par>
                        <p:par>
                          <p:cTn id="43" fill="hold">
                            <p:stCondLst>
                              <p:cond delay="8500"/>
                            </p:stCondLst>
                            <p:childTnLst>
                              <p:par>
                                <p:cTn id="44" presetID="53" presetClass="entr" presetSubtype="16"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
                                          </p:val>
                                        </p:tav>
                                        <p:tav tm="100000">
                                          <p:val>
                                            <p:strVal val="#ppt_w"/>
                                          </p:val>
                                        </p:tav>
                                      </p:tavLst>
                                    </p:anim>
                                    <p:anim calcmode="lin" valueType="num">
                                      <p:cBhvr>
                                        <p:cTn id="47" dur="500" fill="hold"/>
                                        <p:tgtEl>
                                          <p:spTgt spid="17"/>
                                        </p:tgtEl>
                                        <p:attrNameLst>
                                          <p:attrName>ppt_h</p:attrName>
                                        </p:attrNameLst>
                                      </p:cBhvr>
                                      <p:tavLst>
                                        <p:tav tm="0">
                                          <p:val>
                                            <p:fltVal val="0"/>
                                          </p:val>
                                        </p:tav>
                                        <p:tav tm="100000">
                                          <p:val>
                                            <p:strVal val="#ppt_h"/>
                                          </p:val>
                                        </p:tav>
                                      </p:tavLst>
                                    </p:anim>
                                    <p:animEffect transition="in" filter="fade">
                                      <p:cBhvr>
                                        <p:cTn id="48" dur="500"/>
                                        <p:tgtEl>
                                          <p:spTgt spid="17"/>
                                        </p:tgtEl>
                                      </p:cBhvr>
                                    </p:animEffect>
                                  </p:childTnLst>
                                </p:cTn>
                              </p:par>
                            </p:childTnLst>
                          </p:cTn>
                        </p:par>
                        <p:par>
                          <p:cTn id="49" fill="hold">
                            <p:stCondLst>
                              <p:cond delay="9000"/>
                            </p:stCondLst>
                            <p:childTnLst>
                              <p:par>
                                <p:cTn id="50" presetID="10" presetClass="entr" presetSubtype="0"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par>
                          <p:cTn id="53" fill="hold">
                            <p:stCondLst>
                              <p:cond delay="9500"/>
                            </p:stCondLst>
                            <p:childTnLst>
                              <p:par>
                                <p:cTn id="54" presetID="21" presetClass="entr" presetSubtype="1"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heel(1)">
                                      <p:cBhvr>
                                        <p:cTn id="56" dur="2000"/>
                                        <p:tgtEl>
                                          <p:spTgt spid="20"/>
                                        </p:tgtEl>
                                      </p:cBhvr>
                                    </p:animEffect>
                                  </p:childTnLst>
                                </p:cTn>
                              </p:par>
                            </p:childTnLst>
                          </p:cTn>
                        </p:par>
                        <p:par>
                          <p:cTn id="57" fill="hold">
                            <p:stCondLst>
                              <p:cond delay="11500"/>
                            </p:stCondLst>
                            <p:childTnLst>
                              <p:par>
                                <p:cTn id="58" presetID="53" presetClass="entr" presetSubtype="16"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p:cTn id="60" dur="500" fill="hold"/>
                                        <p:tgtEl>
                                          <p:spTgt spid="21"/>
                                        </p:tgtEl>
                                        <p:attrNameLst>
                                          <p:attrName>ppt_w</p:attrName>
                                        </p:attrNameLst>
                                      </p:cBhvr>
                                      <p:tavLst>
                                        <p:tav tm="0">
                                          <p:val>
                                            <p:fltVal val="0"/>
                                          </p:val>
                                        </p:tav>
                                        <p:tav tm="100000">
                                          <p:val>
                                            <p:strVal val="#ppt_w"/>
                                          </p:val>
                                        </p:tav>
                                      </p:tavLst>
                                    </p:anim>
                                    <p:anim calcmode="lin" valueType="num">
                                      <p:cBhvr>
                                        <p:cTn id="61" dur="500" fill="hold"/>
                                        <p:tgtEl>
                                          <p:spTgt spid="21"/>
                                        </p:tgtEl>
                                        <p:attrNameLst>
                                          <p:attrName>ppt_h</p:attrName>
                                        </p:attrNameLst>
                                      </p:cBhvr>
                                      <p:tavLst>
                                        <p:tav tm="0">
                                          <p:val>
                                            <p:fltVal val="0"/>
                                          </p:val>
                                        </p:tav>
                                        <p:tav tm="100000">
                                          <p:val>
                                            <p:strVal val="#ppt_h"/>
                                          </p:val>
                                        </p:tav>
                                      </p:tavLst>
                                    </p:anim>
                                    <p:animEffect transition="in" filter="fade">
                                      <p:cBhvr>
                                        <p:cTn id="62" dur="500"/>
                                        <p:tgtEl>
                                          <p:spTgt spid="21"/>
                                        </p:tgtEl>
                                      </p:cBhvr>
                                    </p:animEffect>
                                  </p:childTnLst>
                                </p:cTn>
                              </p:par>
                            </p:childTnLst>
                          </p:cTn>
                        </p:par>
                        <p:par>
                          <p:cTn id="63" fill="hold">
                            <p:stCondLst>
                              <p:cond delay="12000"/>
                            </p:stCondLst>
                            <p:childTnLst>
                              <p:par>
                                <p:cTn id="64" presetID="10" presetClass="entr" presetSubtype="0"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par>
                          <p:cTn id="67" fill="hold">
                            <p:stCondLst>
                              <p:cond delay="12500"/>
                            </p:stCondLst>
                            <p:childTnLst>
                              <p:par>
                                <p:cTn id="68" presetID="10" presetClass="entr" presetSubtype="0"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Forma, Cuadrado&#10;&#10;El contenido generado por IA puede ser incorrecto.">
            <a:extLst>
              <a:ext uri="{FF2B5EF4-FFF2-40B4-BE49-F238E27FC236}">
                <a16:creationId xmlns:a16="http://schemas.microsoft.com/office/drawing/2014/main" id="{D4E63572-DF68-DC51-6555-40AD82ECE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spTree>
    <p:extLst>
      <p:ext uri="{BB962C8B-B14F-4D97-AF65-F5344CB8AC3E}">
        <p14:creationId xmlns:p14="http://schemas.microsoft.com/office/powerpoint/2010/main" val="224331458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4.xml><?xml version="1.0" encoding="utf-8"?>
<a:theme xmlns:a="http://schemas.openxmlformats.org/drawingml/2006/main" name="1_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16953</TotalTime>
  <Words>4523</Words>
  <Application>Microsoft Office PowerPoint</Application>
  <PresentationFormat>Panorámica</PresentationFormat>
  <Paragraphs>597</Paragraphs>
  <Slides>50</Slides>
  <Notes>31</Notes>
  <HiddenSlides>0</HiddenSlides>
  <MMClips>0</MMClips>
  <ScaleCrop>false</ScaleCrop>
  <HeadingPairs>
    <vt:vector size="6" baseType="variant">
      <vt:variant>
        <vt:lpstr>Fuentes usadas</vt:lpstr>
      </vt:variant>
      <vt:variant>
        <vt:i4>7</vt:i4>
      </vt:variant>
      <vt:variant>
        <vt:lpstr>Tema</vt:lpstr>
      </vt:variant>
      <vt:variant>
        <vt:i4>4</vt:i4>
      </vt:variant>
      <vt:variant>
        <vt:lpstr>Títulos de diapositiva</vt:lpstr>
      </vt:variant>
      <vt:variant>
        <vt:i4>50</vt:i4>
      </vt:variant>
    </vt:vector>
  </HeadingPairs>
  <TitlesOfParts>
    <vt:vector size="61" baseType="lpstr">
      <vt:lpstr>Aptos</vt:lpstr>
      <vt:lpstr>Aptos Display</vt:lpstr>
      <vt:lpstr>Arial</vt:lpstr>
      <vt:lpstr>Courier New</vt:lpstr>
      <vt:lpstr>Helvetica Neue</vt:lpstr>
      <vt:lpstr>Montserrat</vt:lpstr>
      <vt:lpstr>Wingdings</vt:lpstr>
      <vt:lpstr>Tema de Office</vt:lpstr>
      <vt:lpstr>1_Ellucian Main Layouts</vt:lpstr>
      <vt:lpstr>Ellucian_April 2025</vt:lpstr>
      <vt:lpstr>1_Ellucian_April 2025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ADMINIST</dc:creator>
  <cp:lastModifiedBy>SIPAN</cp:lastModifiedBy>
  <cp:revision>50</cp:revision>
  <dcterms:created xsi:type="dcterms:W3CDTF">2026-08-24T19:57:14Z</dcterms:created>
  <dcterms:modified xsi:type="dcterms:W3CDTF">2026-10-13T15:11:56Z</dcterms:modified>
</cp:coreProperties>
</file>
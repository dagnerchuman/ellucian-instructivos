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heme/themeOverride1.xml" ContentType="application/vnd.openxmlformats-officedocument.themeOverr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 id="2147483765" r:id="rId2"/>
  </p:sldMasterIdLst>
  <p:notesMasterIdLst>
    <p:notesMasterId r:id="rId82"/>
  </p:notesMasterIdLst>
  <p:sldIdLst>
    <p:sldId id="1486" r:id="rId3"/>
    <p:sldId id="423" r:id="rId4"/>
    <p:sldId id="1174" r:id="rId5"/>
    <p:sldId id="569" r:id="rId6"/>
    <p:sldId id="1250" r:id="rId7"/>
    <p:sldId id="1251" r:id="rId8"/>
    <p:sldId id="1495" r:id="rId9"/>
    <p:sldId id="1292" r:id="rId10"/>
    <p:sldId id="1119" r:id="rId11"/>
    <p:sldId id="1496" r:id="rId12"/>
    <p:sldId id="1226" r:id="rId13"/>
    <p:sldId id="1429" r:id="rId14"/>
    <p:sldId id="1497" r:id="rId15"/>
    <p:sldId id="1431" r:id="rId16"/>
    <p:sldId id="1498" r:id="rId17"/>
    <p:sldId id="1433" r:id="rId18"/>
    <p:sldId id="1377" r:id="rId19"/>
    <p:sldId id="1478" r:id="rId20"/>
    <p:sldId id="1499" r:id="rId21"/>
    <p:sldId id="1354" r:id="rId22"/>
    <p:sldId id="1355" r:id="rId23"/>
    <p:sldId id="1500" r:id="rId24"/>
    <p:sldId id="1364" r:id="rId25"/>
    <p:sldId id="1460" r:id="rId26"/>
    <p:sldId id="1434" r:id="rId27"/>
    <p:sldId id="1435" r:id="rId28"/>
    <p:sldId id="1438" r:id="rId29"/>
    <p:sldId id="1501" r:id="rId30"/>
    <p:sldId id="1487" r:id="rId31"/>
    <p:sldId id="1488" r:id="rId32"/>
    <p:sldId id="1489" r:id="rId33"/>
    <p:sldId id="1490" r:id="rId34"/>
    <p:sldId id="1491" r:id="rId35"/>
    <p:sldId id="1492" r:id="rId36"/>
    <p:sldId id="1493" r:id="rId37"/>
    <p:sldId id="1494" r:id="rId38"/>
    <p:sldId id="1403" r:id="rId39"/>
    <p:sldId id="1402" r:id="rId40"/>
    <p:sldId id="1260" r:id="rId41"/>
    <p:sldId id="1288" r:id="rId42"/>
    <p:sldId id="1441" r:id="rId43"/>
    <p:sldId id="1279" r:id="rId44"/>
    <p:sldId id="1352" r:id="rId45"/>
    <p:sldId id="1442" r:id="rId46"/>
    <p:sldId id="1443" r:id="rId47"/>
    <p:sldId id="1444" r:id="rId48"/>
    <p:sldId id="1445" r:id="rId49"/>
    <p:sldId id="1446" r:id="rId50"/>
    <p:sldId id="1448" r:id="rId51"/>
    <p:sldId id="1447" r:id="rId52"/>
    <p:sldId id="1449" r:id="rId53"/>
    <p:sldId id="1450" r:id="rId54"/>
    <p:sldId id="1451" r:id="rId55"/>
    <p:sldId id="1452" r:id="rId56"/>
    <p:sldId id="1477" r:id="rId57"/>
    <p:sldId id="1480" r:id="rId58"/>
    <p:sldId id="1482" r:id="rId59"/>
    <p:sldId id="1484" r:id="rId60"/>
    <p:sldId id="1483" r:id="rId61"/>
    <p:sldId id="1485" r:id="rId62"/>
    <p:sldId id="1453" r:id="rId63"/>
    <p:sldId id="1456" r:id="rId64"/>
    <p:sldId id="1458" r:id="rId65"/>
    <p:sldId id="1457" r:id="rId66"/>
    <p:sldId id="1502" r:id="rId67"/>
    <p:sldId id="1467" r:id="rId68"/>
    <p:sldId id="1468" r:id="rId69"/>
    <p:sldId id="1470" r:id="rId70"/>
    <p:sldId id="1503" r:id="rId71"/>
    <p:sldId id="1459" r:id="rId72"/>
    <p:sldId id="1461" r:id="rId73"/>
    <p:sldId id="1462" r:id="rId74"/>
    <p:sldId id="1463" r:id="rId75"/>
    <p:sldId id="1504" r:id="rId76"/>
    <p:sldId id="1473" r:id="rId77"/>
    <p:sldId id="1474" r:id="rId78"/>
    <p:sldId id="1476" r:id="rId79"/>
    <p:sldId id="1221" r:id="rId80"/>
    <p:sldId id="322"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19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viewProps" Target="view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3C117-F0D1-46E6-B911-20932DF680A3}" type="datetimeFigureOut">
              <a:rPr lang="es-419" smtClean="0"/>
              <a:t>17/4/2026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C308A-25FC-453F-866C-E0840FC3618C}" type="slidenum">
              <a:rPr lang="es-419" smtClean="0"/>
              <a:t>‹#›</a:t>
            </a:fld>
            <a:endParaRPr lang="es-419"/>
          </a:p>
        </p:txBody>
      </p:sp>
    </p:spTree>
    <p:extLst>
      <p:ext uri="{BB962C8B-B14F-4D97-AF65-F5344CB8AC3E}">
        <p14:creationId xmlns:p14="http://schemas.microsoft.com/office/powerpoint/2010/main" val="3095982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a:lstStyle/>
          <a:p>
            <a:endParaRPr lang="es-ES_tradnl" dirty="0"/>
          </a:p>
        </p:txBody>
      </p:sp>
      <p:sp>
        <p:nvSpPr>
          <p:cNvPr id="4" name="Marcador de posición de número de diapositiva 3"/>
          <p:cNvSpPr>
            <a:spLocks noGrp="1"/>
          </p:cNvSpPr>
          <p:nvPr>
            <p:ph type="sldNum" sz="quarter" idx="10"/>
          </p:nvPr>
        </p:nvSpPr>
        <p:spPr/>
        <p:txBody>
          <a:bodyPr/>
          <a:lstStyle/>
          <a:p>
            <a:fld id="{CF541D2A-E99A-2F4F-B8C9-28142709F87F}" type="slidenum">
              <a:rPr lang="en-US" smtClean="0"/>
              <a:pPr/>
              <a:t>1</a:t>
            </a:fld>
            <a:endParaRPr lang="en-US"/>
          </a:p>
        </p:txBody>
      </p:sp>
    </p:spTree>
    <p:extLst>
      <p:ext uri="{BB962C8B-B14F-4D97-AF65-F5344CB8AC3E}">
        <p14:creationId xmlns:p14="http://schemas.microsoft.com/office/powerpoint/2010/main" val="4244852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11</a:t>
            </a:fld>
            <a:endParaRPr lang="en-US"/>
          </a:p>
        </p:txBody>
      </p:sp>
    </p:spTree>
    <p:extLst>
      <p:ext uri="{BB962C8B-B14F-4D97-AF65-F5344CB8AC3E}">
        <p14:creationId xmlns:p14="http://schemas.microsoft.com/office/powerpoint/2010/main" val="1123893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12</a:t>
            </a:fld>
            <a:endParaRPr lang="en-US"/>
          </a:p>
        </p:txBody>
      </p:sp>
    </p:spTree>
    <p:extLst>
      <p:ext uri="{BB962C8B-B14F-4D97-AF65-F5344CB8AC3E}">
        <p14:creationId xmlns:p14="http://schemas.microsoft.com/office/powerpoint/2010/main" val="1208743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2284212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16</a:t>
            </a:fld>
            <a:endParaRPr lang="en-US"/>
          </a:p>
        </p:txBody>
      </p:sp>
    </p:spTree>
    <p:extLst>
      <p:ext uri="{BB962C8B-B14F-4D97-AF65-F5344CB8AC3E}">
        <p14:creationId xmlns:p14="http://schemas.microsoft.com/office/powerpoint/2010/main" val="1123893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17</a:t>
            </a:fld>
            <a:endParaRPr lang="en-US"/>
          </a:p>
        </p:txBody>
      </p:sp>
    </p:spTree>
    <p:extLst>
      <p:ext uri="{BB962C8B-B14F-4D97-AF65-F5344CB8AC3E}">
        <p14:creationId xmlns:p14="http://schemas.microsoft.com/office/powerpoint/2010/main" val="4009972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18</a:t>
            </a:fld>
            <a:endParaRPr lang="en-US"/>
          </a:p>
        </p:txBody>
      </p:sp>
    </p:spTree>
    <p:extLst>
      <p:ext uri="{BB962C8B-B14F-4D97-AF65-F5344CB8AC3E}">
        <p14:creationId xmlns:p14="http://schemas.microsoft.com/office/powerpoint/2010/main" val="2929347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20</a:t>
            </a:fld>
            <a:endParaRPr lang="en-US"/>
          </a:p>
        </p:txBody>
      </p:sp>
    </p:spTree>
    <p:extLst>
      <p:ext uri="{BB962C8B-B14F-4D97-AF65-F5344CB8AC3E}">
        <p14:creationId xmlns:p14="http://schemas.microsoft.com/office/powerpoint/2010/main" val="13626400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21</a:t>
            </a:fld>
            <a:endParaRPr lang="en-US"/>
          </a:p>
        </p:txBody>
      </p:sp>
    </p:spTree>
    <p:extLst>
      <p:ext uri="{BB962C8B-B14F-4D97-AF65-F5344CB8AC3E}">
        <p14:creationId xmlns:p14="http://schemas.microsoft.com/office/powerpoint/2010/main" val="1380028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23</a:t>
            </a:fld>
            <a:endParaRPr lang="en-US"/>
          </a:p>
        </p:txBody>
      </p:sp>
    </p:spTree>
    <p:extLst>
      <p:ext uri="{BB962C8B-B14F-4D97-AF65-F5344CB8AC3E}">
        <p14:creationId xmlns:p14="http://schemas.microsoft.com/office/powerpoint/2010/main" val="33929587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24</a:t>
            </a:fld>
            <a:endParaRPr lang="en-US"/>
          </a:p>
        </p:txBody>
      </p:sp>
    </p:spTree>
    <p:extLst>
      <p:ext uri="{BB962C8B-B14F-4D97-AF65-F5344CB8AC3E}">
        <p14:creationId xmlns:p14="http://schemas.microsoft.com/office/powerpoint/2010/main" val="1578535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25</a:t>
            </a:fld>
            <a:endParaRPr lang="en-US"/>
          </a:p>
        </p:txBody>
      </p:sp>
    </p:spTree>
    <p:extLst>
      <p:ext uri="{BB962C8B-B14F-4D97-AF65-F5344CB8AC3E}">
        <p14:creationId xmlns:p14="http://schemas.microsoft.com/office/powerpoint/2010/main" val="23203972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26</a:t>
            </a:fld>
            <a:endParaRPr lang="en-US"/>
          </a:p>
        </p:txBody>
      </p:sp>
    </p:spTree>
    <p:extLst>
      <p:ext uri="{BB962C8B-B14F-4D97-AF65-F5344CB8AC3E}">
        <p14:creationId xmlns:p14="http://schemas.microsoft.com/office/powerpoint/2010/main" val="33607599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27</a:t>
            </a:fld>
            <a:endParaRPr lang="en-US"/>
          </a:p>
        </p:txBody>
      </p:sp>
    </p:spTree>
    <p:extLst>
      <p:ext uri="{BB962C8B-B14F-4D97-AF65-F5344CB8AC3E}">
        <p14:creationId xmlns:p14="http://schemas.microsoft.com/office/powerpoint/2010/main" val="3033888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29</a:t>
            </a:fld>
            <a:endParaRPr lang="en-US"/>
          </a:p>
        </p:txBody>
      </p:sp>
    </p:spTree>
    <p:extLst>
      <p:ext uri="{BB962C8B-B14F-4D97-AF65-F5344CB8AC3E}">
        <p14:creationId xmlns:p14="http://schemas.microsoft.com/office/powerpoint/2010/main" val="3739185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30</a:t>
            </a:fld>
            <a:endParaRPr lang="en-US"/>
          </a:p>
        </p:txBody>
      </p:sp>
    </p:spTree>
    <p:extLst>
      <p:ext uri="{BB962C8B-B14F-4D97-AF65-F5344CB8AC3E}">
        <p14:creationId xmlns:p14="http://schemas.microsoft.com/office/powerpoint/2010/main" val="18433192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31</a:t>
            </a:fld>
            <a:endParaRPr lang="en-US"/>
          </a:p>
        </p:txBody>
      </p:sp>
    </p:spTree>
    <p:extLst>
      <p:ext uri="{BB962C8B-B14F-4D97-AF65-F5344CB8AC3E}">
        <p14:creationId xmlns:p14="http://schemas.microsoft.com/office/powerpoint/2010/main" val="42094624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32</a:t>
            </a:fld>
            <a:endParaRPr lang="en-US"/>
          </a:p>
        </p:txBody>
      </p:sp>
    </p:spTree>
    <p:extLst>
      <p:ext uri="{BB962C8B-B14F-4D97-AF65-F5344CB8AC3E}">
        <p14:creationId xmlns:p14="http://schemas.microsoft.com/office/powerpoint/2010/main" val="19194338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33</a:t>
            </a:fld>
            <a:endParaRPr lang="en-US"/>
          </a:p>
        </p:txBody>
      </p:sp>
    </p:spTree>
    <p:extLst>
      <p:ext uri="{BB962C8B-B14F-4D97-AF65-F5344CB8AC3E}">
        <p14:creationId xmlns:p14="http://schemas.microsoft.com/office/powerpoint/2010/main" val="23564290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34</a:t>
            </a:fld>
            <a:endParaRPr lang="en-US"/>
          </a:p>
        </p:txBody>
      </p:sp>
    </p:spTree>
    <p:extLst>
      <p:ext uri="{BB962C8B-B14F-4D97-AF65-F5344CB8AC3E}">
        <p14:creationId xmlns:p14="http://schemas.microsoft.com/office/powerpoint/2010/main" val="22501921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35</a:t>
            </a:fld>
            <a:endParaRPr lang="en-US"/>
          </a:p>
        </p:txBody>
      </p:sp>
    </p:spTree>
    <p:extLst>
      <p:ext uri="{BB962C8B-B14F-4D97-AF65-F5344CB8AC3E}">
        <p14:creationId xmlns:p14="http://schemas.microsoft.com/office/powerpoint/2010/main" val="8303061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36</a:t>
            </a:fld>
            <a:endParaRPr lang="en-US"/>
          </a:p>
        </p:txBody>
      </p:sp>
    </p:spTree>
    <p:extLst>
      <p:ext uri="{BB962C8B-B14F-4D97-AF65-F5344CB8AC3E}">
        <p14:creationId xmlns:p14="http://schemas.microsoft.com/office/powerpoint/2010/main" val="1622947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37</a:t>
            </a:fld>
            <a:endParaRPr lang="en-US"/>
          </a:p>
        </p:txBody>
      </p:sp>
    </p:spTree>
    <p:extLst>
      <p:ext uri="{BB962C8B-B14F-4D97-AF65-F5344CB8AC3E}">
        <p14:creationId xmlns:p14="http://schemas.microsoft.com/office/powerpoint/2010/main" val="16229470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38</a:t>
            </a:fld>
            <a:endParaRPr lang="en-US"/>
          </a:p>
        </p:txBody>
      </p:sp>
    </p:spTree>
    <p:extLst>
      <p:ext uri="{BB962C8B-B14F-4D97-AF65-F5344CB8AC3E}">
        <p14:creationId xmlns:p14="http://schemas.microsoft.com/office/powerpoint/2010/main" val="32071365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40</a:t>
            </a:fld>
            <a:endParaRPr lang="en-US"/>
          </a:p>
        </p:txBody>
      </p:sp>
    </p:spTree>
    <p:extLst>
      <p:ext uri="{BB962C8B-B14F-4D97-AF65-F5344CB8AC3E}">
        <p14:creationId xmlns:p14="http://schemas.microsoft.com/office/powerpoint/2010/main" val="24791903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41</a:t>
            </a:fld>
            <a:endParaRPr lang="en-US"/>
          </a:p>
        </p:txBody>
      </p:sp>
    </p:spTree>
    <p:extLst>
      <p:ext uri="{BB962C8B-B14F-4D97-AF65-F5344CB8AC3E}">
        <p14:creationId xmlns:p14="http://schemas.microsoft.com/office/powerpoint/2010/main" val="3689713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43</a:t>
            </a:fld>
            <a:endParaRPr lang="en-US"/>
          </a:p>
        </p:txBody>
      </p:sp>
    </p:spTree>
    <p:extLst>
      <p:ext uri="{BB962C8B-B14F-4D97-AF65-F5344CB8AC3E}">
        <p14:creationId xmlns:p14="http://schemas.microsoft.com/office/powerpoint/2010/main" val="34069714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44</a:t>
            </a:fld>
            <a:endParaRPr lang="en-US"/>
          </a:p>
        </p:txBody>
      </p:sp>
    </p:spTree>
    <p:extLst>
      <p:ext uri="{BB962C8B-B14F-4D97-AF65-F5344CB8AC3E}">
        <p14:creationId xmlns:p14="http://schemas.microsoft.com/office/powerpoint/2010/main" val="26272359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45</a:t>
            </a:fld>
            <a:endParaRPr lang="en-US"/>
          </a:p>
        </p:txBody>
      </p:sp>
    </p:spTree>
    <p:extLst>
      <p:ext uri="{BB962C8B-B14F-4D97-AF65-F5344CB8AC3E}">
        <p14:creationId xmlns:p14="http://schemas.microsoft.com/office/powerpoint/2010/main" val="31278588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46</a:t>
            </a:fld>
            <a:endParaRPr lang="en-US"/>
          </a:p>
        </p:txBody>
      </p:sp>
    </p:spTree>
    <p:extLst>
      <p:ext uri="{BB962C8B-B14F-4D97-AF65-F5344CB8AC3E}">
        <p14:creationId xmlns:p14="http://schemas.microsoft.com/office/powerpoint/2010/main" val="21385502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47</a:t>
            </a:fld>
            <a:endParaRPr lang="en-US"/>
          </a:p>
        </p:txBody>
      </p:sp>
    </p:spTree>
    <p:extLst>
      <p:ext uri="{BB962C8B-B14F-4D97-AF65-F5344CB8AC3E}">
        <p14:creationId xmlns:p14="http://schemas.microsoft.com/office/powerpoint/2010/main" val="23393697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48</a:t>
            </a:fld>
            <a:endParaRPr lang="en-US"/>
          </a:p>
        </p:txBody>
      </p:sp>
    </p:spTree>
    <p:extLst>
      <p:ext uri="{BB962C8B-B14F-4D97-AF65-F5344CB8AC3E}">
        <p14:creationId xmlns:p14="http://schemas.microsoft.com/office/powerpoint/2010/main" val="33398222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49</a:t>
            </a:fld>
            <a:endParaRPr lang="en-US"/>
          </a:p>
        </p:txBody>
      </p:sp>
    </p:spTree>
    <p:extLst>
      <p:ext uri="{BB962C8B-B14F-4D97-AF65-F5344CB8AC3E}">
        <p14:creationId xmlns:p14="http://schemas.microsoft.com/office/powerpoint/2010/main" val="3857011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50</a:t>
            </a:fld>
            <a:endParaRPr lang="en-US"/>
          </a:p>
        </p:txBody>
      </p:sp>
    </p:spTree>
    <p:extLst>
      <p:ext uri="{BB962C8B-B14F-4D97-AF65-F5344CB8AC3E}">
        <p14:creationId xmlns:p14="http://schemas.microsoft.com/office/powerpoint/2010/main" val="42152436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51</a:t>
            </a:fld>
            <a:endParaRPr lang="en-US"/>
          </a:p>
        </p:txBody>
      </p:sp>
    </p:spTree>
    <p:extLst>
      <p:ext uri="{BB962C8B-B14F-4D97-AF65-F5344CB8AC3E}">
        <p14:creationId xmlns:p14="http://schemas.microsoft.com/office/powerpoint/2010/main" val="6852253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52</a:t>
            </a:fld>
            <a:endParaRPr lang="en-US"/>
          </a:p>
        </p:txBody>
      </p:sp>
    </p:spTree>
    <p:extLst>
      <p:ext uri="{BB962C8B-B14F-4D97-AF65-F5344CB8AC3E}">
        <p14:creationId xmlns:p14="http://schemas.microsoft.com/office/powerpoint/2010/main" val="2238055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53</a:t>
            </a:fld>
            <a:endParaRPr lang="en-US"/>
          </a:p>
        </p:txBody>
      </p:sp>
    </p:spTree>
    <p:extLst>
      <p:ext uri="{BB962C8B-B14F-4D97-AF65-F5344CB8AC3E}">
        <p14:creationId xmlns:p14="http://schemas.microsoft.com/office/powerpoint/2010/main" val="35167277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54</a:t>
            </a:fld>
            <a:endParaRPr lang="en-US"/>
          </a:p>
        </p:txBody>
      </p:sp>
    </p:spTree>
    <p:extLst>
      <p:ext uri="{BB962C8B-B14F-4D97-AF65-F5344CB8AC3E}">
        <p14:creationId xmlns:p14="http://schemas.microsoft.com/office/powerpoint/2010/main" val="27670887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55</a:t>
            </a:fld>
            <a:endParaRPr lang="en-US"/>
          </a:p>
        </p:txBody>
      </p:sp>
    </p:spTree>
    <p:extLst>
      <p:ext uri="{BB962C8B-B14F-4D97-AF65-F5344CB8AC3E}">
        <p14:creationId xmlns:p14="http://schemas.microsoft.com/office/powerpoint/2010/main" val="17869523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46073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996185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721391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07310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90553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40537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665245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5364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963492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1419884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5910893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41591955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261573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8133206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6921165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980518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741718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993739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763181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441084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9208459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715390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790002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2765482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4895712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28425576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8309490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199125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83181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441762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00634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016916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6012883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2902774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F57A3D79-8EB8-420C-9CED-F27F00CFFC96}" type="slidenum">
              <a:rPr lang="es-419" smtClean="0"/>
              <a:t>‹#›</a:t>
            </a:fld>
            <a:endParaRPr lang="es-419"/>
          </a:p>
        </p:txBody>
      </p:sp>
      <p:sp>
        <p:nvSpPr>
          <p:cNvPr id="3" name="Rectangle 2">
            <a:extLst>
              <a:ext uri="{FF2B5EF4-FFF2-40B4-BE49-F238E27FC236}">
                <a16:creationId xmlns:a16="http://schemas.microsoft.com/office/drawing/2014/main" id="{FE8212FD-BCCF-D5D3-8EAB-19CFB42B1EF8}"/>
              </a:ext>
            </a:extLst>
          </p:cNvPr>
          <p:cNvSpPr/>
          <p:nvPr userDrawn="1"/>
        </p:nvSpPr>
        <p:spPr>
          <a:xfrm>
            <a:off x="9252857" y="6466114"/>
            <a:ext cx="2318657" cy="25536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78BACAE2-A5A7-FDBE-026D-28F58E8954DD}"/>
              </a:ext>
            </a:extLst>
          </p:cNvPr>
          <p:cNvPicPr>
            <a:picLocks noChangeAspect="1"/>
          </p:cNvPicPr>
          <p:nvPr userDrawn="1"/>
        </p:nvPicPr>
        <p:blipFill>
          <a:blip r:embed="rId2"/>
          <a:stretch>
            <a:fillRect/>
          </a:stretch>
        </p:blipFill>
        <p:spPr>
          <a:xfrm>
            <a:off x="9730352" y="6512820"/>
            <a:ext cx="2135629" cy="208654"/>
          </a:xfrm>
          <a:prstGeom prst="rect">
            <a:avLst/>
          </a:prstGeom>
        </p:spPr>
      </p:pic>
    </p:spTree>
    <p:extLst>
      <p:ext uri="{BB962C8B-B14F-4D97-AF65-F5344CB8AC3E}">
        <p14:creationId xmlns:p14="http://schemas.microsoft.com/office/powerpoint/2010/main" val="4182387357"/>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F57A3D79-8EB8-420C-9CED-F27F00CFFC96}" type="slidenum">
              <a:rPr lang="es-419" smtClean="0"/>
              <a:t>‹#›</a:t>
            </a:fld>
            <a:endParaRPr lang="es-419"/>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2" name="Rectangle 1">
            <a:extLst>
              <a:ext uri="{FF2B5EF4-FFF2-40B4-BE49-F238E27FC236}">
                <a16:creationId xmlns:a16="http://schemas.microsoft.com/office/drawing/2014/main" id="{E003406E-D174-05D1-681F-A3464CC7B786}"/>
              </a:ext>
            </a:extLst>
          </p:cNvPr>
          <p:cNvSpPr/>
          <p:nvPr userDrawn="1"/>
        </p:nvSpPr>
        <p:spPr>
          <a:xfrm>
            <a:off x="9198429" y="6477000"/>
            <a:ext cx="2383968" cy="2444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6" name="Picture 5">
            <a:extLst>
              <a:ext uri="{FF2B5EF4-FFF2-40B4-BE49-F238E27FC236}">
                <a16:creationId xmlns:a16="http://schemas.microsoft.com/office/drawing/2014/main" id="{D22AA9D9-40CF-B795-F2D7-95A907FBD169}"/>
              </a:ext>
            </a:extLst>
          </p:cNvPr>
          <p:cNvPicPr>
            <a:picLocks noChangeAspect="1"/>
          </p:cNvPicPr>
          <p:nvPr userDrawn="1"/>
        </p:nvPicPr>
        <p:blipFill>
          <a:blip r:embed="rId2"/>
          <a:stretch>
            <a:fillRect/>
          </a:stretch>
        </p:blipFill>
        <p:spPr>
          <a:xfrm>
            <a:off x="9409903" y="6446216"/>
            <a:ext cx="2376815" cy="244473"/>
          </a:xfrm>
          <a:prstGeom prst="rect">
            <a:avLst/>
          </a:prstGeom>
        </p:spPr>
      </p:pic>
    </p:spTree>
    <p:extLst>
      <p:ext uri="{BB962C8B-B14F-4D97-AF65-F5344CB8AC3E}">
        <p14:creationId xmlns:p14="http://schemas.microsoft.com/office/powerpoint/2010/main" val="138313614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F57A3D79-8EB8-420C-9CED-F27F00CFFC96}" type="slidenum">
              <a:rPr lang="es-419" smtClean="0"/>
              <a:t>‹#›</a:t>
            </a:fld>
            <a:endParaRPr lang="es-419"/>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pic>
        <p:nvPicPr>
          <p:cNvPr id="4" name="Picture 3">
            <a:extLst>
              <a:ext uri="{FF2B5EF4-FFF2-40B4-BE49-F238E27FC236}">
                <a16:creationId xmlns:a16="http://schemas.microsoft.com/office/drawing/2014/main" id="{87D18CDF-2194-8BDE-29F5-AC8281F99461}"/>
              </a:ext>
            </a:extLst>
          </p:cNvPr>
          <p:cNvPicPr>
            <a:picLocks noChangeAspect="1"/>
          </p:cNvPicPr>
          <p:nvPr userDrawn="1"/>
        </p:nvPicPr>
        <p:blipFill>
          <a:blip r:embed="rId2"/>
          <a:stretch>
            <a:fillRect/>
          </a:stretch>
        </p:blipFill>
        <p:spPr>
          <a:xfrm>
            <a:off x="9127909" y="6505534"/>
            <a:ext cx="2531727" cy="260406"/>
          </a:xfrm>
          <a:prstGeom prst="rect">
            <a:avLst/>
          </a:prstGeom>
        </p:spPr>
      </p:pic>
    </p:spTree>
    <p:extLst>
      <p:ext uri="{BB962C8B-B14F-4D97-AF65-F5344CB8AC3E}">
        <p14:creationId xmlns:p14="http://schemas.microsoft.com/office/powerpoint/2010/main" val="2227565304"/>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MX"/>
              <a:t>Haz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pic>
        <p:nvPicPr>
          <p:cNvPr id="6" name="Picture 3">
            <a:extLst>
              <a:ext uri="{FF2B5EF4-FFF2-40B4-BE49-F238E27FC236}">
                <a16:creationId xmlns:a16="http://schemas.microsoft.com/office/drawing/2014/main" id="{4FF518D6-807B-E484-6126-BFD67CAD926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7" name="Trapezoid 3">
            <a:extLst>
              <a:ext uri="{FF2B5EF4-FFF2-40B4-BE49-F238E27FC236}">
                <a16:creationId xmlns:a16="http://schemas.microsoft.com/office/drawing/2014/main" id="{86A93A14-5014-701C-5BA5-EE530F43918E}"/>
              </a:ext>
            </a:extLst>
          </p:cNvPr>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8" name="Title 1">
            <a:extLst>
              <a:ext uri="{FF2B5EF4-FFF2-40B4-BE49-F238E27FC236}">
                <a16:creationId xmlns:a16="http://schemas.microsoft.com/office/drawing/2014/main" id="{8C89A664-4F5B-A489-A2D3-6300144BAC58}"/>
              </a:ext>
            </a:extLst>
          </p:cNvPr>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9" name="Picture 4" descr="ellucian_purple.png">
            <a:extLst>
              <a:ext uri="{FF2B5EF4-FFF2-40B4-BE49-F238E27FC236}">
                <a16:creationId xmlns:a16="http://schemas.microsoft.com/office/drawing/2014/main" id="{AD480E5D-6AEE-A732-2768-4B3D237D142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2" name="Text Placeholder 12">
            <a:extLst>
              <a:ext uri="{FF2B5EF4-FFF2-40B4-BE49-F238E27FC236}">
                <a16:creationId xmlns:a16="http://schemas.microsoft.com/office/drawing/2014/main" id="{CC8F8653-171D-9F1F-0B8F-C8FCC6EF2EFE}"/>
              </a:ext>
            </a:extLst>
          </p:cNvPr>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14" name="Right Triangle 2">
            <a:extLst>
              <a:ext uri="{FF2B5EF4-FFF2-40B4-BE49-F238E27FC236}">
                <a16:creationId xmlns:a16="http://schemas.microsoft.com/office/drawing/2014/main" id="{C8EC2A3A-9139-2923-B571-6EFE6BD5FA5B}"/>
              </a:ext>
            </a:extLst>
          </p:cNvPr>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Tree>
    <p:extLst>
      <p:ext uri="{BB962C8B-B14F-4D97-AF65-F5344CB8AC3E}">
        <p14:creationId xmlns:p14="http://schemas.microsoft.com/office/powerpoint/2010/main" val="3415570878"/>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143964054"/>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cSld name="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s-MX"/>
              <a:t>Haz clic para modificar el estilo de título del patrón</a:t>
            </a:r>
            <a:endParaRPr lang="en-US" dirty="0"/>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s-MX"/>
              <a:t>Haz clic para editar el estilo de subtítulo del patrón</a:t>
            </a:r>
            <a:endParaRPr lang="en-US" dirty="0"/>
          </a:p>
        </p:txBody>
      </p:sp>
      <p:sp>
        <p:nvSpPr>
          <p:cNvPr id="20" name="Footer Placeholder 4"/>
          <p:cNvSpPr txBox="1">
            <a:spLocks/>
          </p:cNvSpPr>
          <p:nvPr/>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
        <p:nvSpPr>
          <p:cNvPr id="4" name="Title 1">
            <a:extLst>
              <a:ext uri="{FF2B5EF4-FFF2-40B4-BE49-F238E27FC236}">
                <a16:creationId xmlns:a16="http://schemas.microsoft.com/office/drawing/2014/main" id="{6F469D93-DA44-27A2-DB24-D3FDA8A55EB8}"/>
              </a:ext>
            </a:extLst>
          </p:cNvPr>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8F9937FE-F855-F701-8B8E-656E65FE8E8C}"/>
              </a:ext>
            </a:extLst>
          </p:cNvPr>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6" name="Footer Placeholder 4">
            <a:extLst>
              <a:ext uri="{FF2B5EF4-FFF2-40B4-BE49-F238E27FC236}">
                <a16:creationId xmlns:a16="http://schemas.microsoft.com/office/drawing/2014/main" id="{74E5A8FD-E1AC-784A-796B-59F4AE11F5C1}"/>
              </a:ext>
            </a:extLst>
          </p:cNvPr>
          <p:cNvSpPr txBox="1">
            <a:spLocks/>
          </p:cNvSpPr>
          <p:nvPr userDrawn="1"/>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7" name="Picture 20" descr="ellucian_white.png">
            <a:extLst>
              <a:ext uri="{FF2B5EF4-FFF2-40B4-BE49-F238E27FC236}">
                <a16:creationId xmlns:a16="http://schemas.microsoft.com/office/drawing/2014/main" id="{74E01415-7988-941A-3426-B1DA02BEFD3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8" name="Slide Number Placeholder 3">
            <a:extLst>
              <a:ext uri="{FF2B5EF4-FFF2-40B4-BE49-F238E27FC236}">
                <a16:creationId xmlns:a16="http://schemas.microsoft.com/office/drawing/2014/main" id="{9F02B437-2C7B-C767-B647-573BDF6BC7E2}"/>
              </a:ext>
            </a:extLst>
          </p:cNvPr>
          <p:cNvSpPr txBox="1">
            <a:spLocks/>
          </p:cNvSpPr>
          <p:nvPr userDrawn="1"/>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Tree>
    <p:extLst>
      <p:ext uri="{BB962C8B-B14F-4D97-AF65-F5344CB8AC3E}">
        <p14:creationId xmlns:p14="http://schemas.microsoft.com/office/powerpoint/2010/main" val="4148238954"/>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Single column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488" y="1600200"/>
            <a:ext cx="11267392" cy="4343400"/>
          </a:xfrm>
        </p:spPr>
        <p:txBody>
          <a:bodyPr>
            <a:noAutofit/>
          </a:bodyPr>
          <a:lstStyle>
            <a:lvl1pPr marL="0" indent="0" algn="l" defTabSz="609585" rtl="0" eaLnBrk="1" latinLnBrk="0" hangingPunct="1">
              <a:spcBef>
                <a:spcPts val="1200"/>
              </a:spcBef>
              <a:buFontTx/>
              <a:buNone/>
              <a:defRPr lang="en-US" sz="2133" b="1" kern="1200" dirty="0" smtClean="0">
                <a:solidFill>
                  <a:srgbClr val="45A1AA"/>
                </a:solidFill>
                <a:latin typeface="Arial"/>
                <a:ea typeface="+mn-ea"/>
                <a:cs typeface="Arial"/>
              </a:defRPr>
            </a:lvl1pPr>
            <a:lvl2pPr marL="380990" indent="-380990" algn="l" defTabSz="609585" rtl="0" eaLnBrk="1" latinLnBrk="0" hangingPunct="1">
              <a:lnSpc>
                <a:spcPct val="95000"/>
              </a:lnSpc>
              <a:spcBef>
                <a:spcPts val="1200"/>
              </a:spcBef>
              <a:buClr>
                <a:schemeClr val="tx1"/>
              </a:buClr>
              <a:buFont typeface="Arial" pitchFamily="34" charset="0"/>
              <a:buChar char="•"/>
              <a:defRPr lang="en-US" sz="2133" b="0" kern="1200" dirty="0" smtClean="0">
                <a:solidFill>
                  <a:schemeClr val="tx1"/>
                </a:solidFill>
                <a:latin typeface="Arial"/>
                <a:ea typeface="+mn-ea"/>
                <a:cs typeface="Arial"/>
              </a:defRPr>
            </a:lvl2pPr>
            <a:lvl3pPr marL="683667" indent="-380990" algn="l" defTabSz="609585" rtl="0" eaLnBrk="1" latinLnBrk="0" hangingPunct="1">
              <a:spcBef>
                <a:spcPts val="1200"/>
              </a:spcBef>
              <a:buClr>
                <a:srgbClr val="642673"/>
              </a:buClr>
              <a:buFont typeface="Arial"/>
              <a:buChar char="•"/>
              <a:defRPr lang="en-US" sz="1867" kern="1200" dirty="0" smtClean="0">
                <a:solidFill>
                  <a:srgbClr val="414042"/>
                </a:solidFill>
                <a:latin typeface="Arial"/>
                <a:ea typeface="+mn-ea"/>
                <a:cs typeface="Arial"/>
              </a:defRPr>
            </a:lvl3pPr>
            <a:lvl4pPr marL="916493" indent="-380990" algn="l" defTabSz="609585" rtl="0" eaLnBrk="1" latinLnBrk="0" hangingPunct="1">
              <a:spcBef>
                <a:spcPts val="1200"/>
              </a:spcBef>
              <a:buClr>
                <a:srgbClr val="45A1AA"/>
              </a:buClr>
              <a:buFont typeface="Arial" panose="020B0604020202020204" pitchFamily="34" charset="0"/>
              <a:buChar char="•"/>
              <a:defRPr lang="en-US" sz="1600" kern="1200" dirty="0" smtClean="0">
                <a:solidFill>
                  <a:srgbClr val="414042"/>
                </a:solidFill>
                <a:latin typeface="Arial"/>
                <a:ea typeface="+mn-ea"/>
                <a:cs typeface="Arial"/>
              </a:defRPr>
            </a:lvl4pPr>
            <a:lvl5pPr marL="916493" indent="-380990" algn="l" defTabSz="609585" rtl="0" eaLnBrk="1" latinLnBrk="0" hangingPunct="1">
              <a:spcBef>
                <a:spcPts val="1200"/>
              </a:spcBef>
              <a:buClr>
                <a:srgbClr val="414042"/>
              </a:buClr>
              <a:buFont typeface="Arial" panose="020B0604020202020204" pitchFamily="34" charset="0"/>
              <a:buChar char="̶"/>
              <a:defRPr lang="en-US" sz="1600" kern="1200" dirty="0">
                <a:solidFill>
                  <a:srgbClr val="414042"/>
                </a:solidFill>
                <a:latin typeface="Arial"/>
                <a:ea typeface="+mn-ea"/>
                <a:cs typeface="Arial"/>
              </a:defRPr>
            </a:lvl5pPr>
          </a:lstStyle>
          <a:p>
            <a:pPr marL="457189" lvl="0" indent="-457189" algn="l" defTabSz="609585" rtl="0" eaLnBrk="1" latinLnBrk="0" hangingPunct="1">
              <a:spcBef>
                <a:spcPts val="1600"/>
              </a:spcBef>
              <a:buFontTx/>
              <a:buNone/>
            </a:pPr>
            <a:r>
              <a:rPr lang="es-MX"/>
              <a:t>Haga clic para modificar los estilos de texto del patrón</a:t>
            </a:r>
          </a:p>
          <a:p>
            <a:pPr marL="457189" lvl="1" indent="-457189" algn="l" defTabSz="609585" rtl="0" eaLnBrk="1" latinLnBrk="0" hangingPunct="1">
              <a:spcBef>
                <a:spcPts val="1600"/>
              </a:spcBef>
              <a:buFontTx/>
              <a:buNone/>
            </a:pPr>
            <a:r>
              <a:rPr lang="es-MX"/>
              <a:t>Segundo nivel</a:t>
            </a:r>
          </a:p>
          <a:p>
            <a:pPr marL="457189" lvl="2" indent="-457189" algn="l" defTabSz="609585" rtl="0" eaLnBrk="1" latinLnBrk="0" hangingPunct="1">
              <a:spcBef>
                <a:spcPts val="1600"/>
              </a:spcBef>
              <a:buFontTx/>
              <a:buNone/>
            </a:pPr>
            <a:r>
              <a:rPr lang="es-MX"/>
              <a:t>Tercer nivel</a:t>
            </a:r>
          </a:p>
          <a:p>
            <a:pPr marL="457189" lvl="3" indent="-457189" algn="l" defTabSz="609585" rtl="0" eaLnBrk="1" latinLnBrk="0" hangingPunct="1">
              <a:spcBef>
                <a:spcPts val="1600"/>
              </a:spcBef>
              <a:buFontTx/>
              <a:buNone/>
            </a:pPr>
            <a:r>
              <a:rPr lang="es-MX"/>
              <a:t>Cuarto nivel</a:t>
            </a:r>
          </a:p>
          <a:p>
            <a:pPr marL="457189" lvl="4" indent="-457189" algn="l" defTabSz="609585" rtl="0" eaLnBrk="1" latinLnBrk="0" hangingPunct="1">
              <a:spcBef>
                <a:spcPts val="1600"/>
              </a:spcBef>
              <a:buFontTx/>
              <a:buNone/>
            </a:pPr>
            <a:r>
              <a:rPr lang="es-MX"/>
              <a:t>Quinto nivel</a:t>
            </a:r>
            <a:endParaRPr lang="en-US" dirty="0"/>
          </a:p>
        </p:txBody>
      </p:sp>
      <p:sp>
        <p:nvSpPr>
          <p:cNvPr id="5" name="Title Placeholder 1"/>
          <p:cNvSpPr>
            <a:spLocks noGrp="1"/>
          </p:cNvSpPr>
          <p:nvPr>
            <p:ph type="title"/>
          </p:nvPr>
        </p:nvSpPr>
        <p:spPr>
          <a:xfrm>
            <a:off x="475488" y="487681"/>
            <a:ext cx="11267392" cy="582679"/>
          </a:xfrm>
          <a:prstGeom prst="rect">
            <a:avLst/>
          </a:prstGeom>
        </p:spPr>
        <p:txBody>
          <a:bodyPr vert="horz" lIns="0" tIns="0" rIns="0" bIns="0" rtlCol="0" anchor="t">
            <a:noAutofit/>
          </a:bodyPr>
          <a:lstStyle/>
          <a:p>
            <a:r>
              <a:rPr lang="es-MX"/>
              <a:t>Haz clic para modificar el estilo de título del patrón</a:t>
            </a:r>
            <a:endParaRPr lang="en-US" dirty="0"/>
          </a:p>
        </p:txBody>
      </p:sp>
    </p:spTree>
    <p:extLst>
      <p:ext uri="{BB962C8B-B14F-4D97-AF65-F5344CB8AC3E}">
        <p14:creationId xmlns:p14="http://schemas.microsoft.com/office/powerpoint/2010/main" val="1896848928"/>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Thank you slide">
    <p:spTree>
      <p:nvGrpSpPr>
        <p:cNvPr id="1" name=""/>
        <p:cNvGrpSpPr/>
        <p:nvPr/>
      </p:nvGrpSpPr>
      <p:grpSpPr>
        <a:xfrm>
          <a:off x="0" y="0"/>
          <a:ext cx="0" cy="0"/>
          <a:chOff x="0" y="0"/>
          <a:chExt cx="0" cy="0"/>
        </a:xfrm>
      </p:grpSpPr>
      <p:pic>
        <p:nvPicPr>
          <p:cNvPr id="6" name="Picture 5" descr="iStock-646457628.jpg"/>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contrast="-46000"/>
                    </a14:imgEffect>
                  </a14:imgLayer>
                </a14:imgProps>
              </a:ext>
              <a:ext uri="{28A0092B-C50C-407E-A947-70E740481C1C}">
                <a14:useLocalDpi xmlns:a14="http://schemas.microsoft.com/office/drawing/2010/main"/>
              </a:ext>
            </a:extLst>
          </a:blip>
          <a:srcRect/>
          <a:stretch/>
        </p:blipFill>
        <p:spPr>
          <a:xfrm>
            <a:off x="0" y="0"/>
            <a:ext cx="12192000" cy="6861779"/>
          </a:xfrm>
          <a:prstGeom prst="rect">
            <a:avLst/>
          </a:prstGeom>
        </p:spPr>
      </p:pic>
      <p:sp>
        <p:nvSpPr>
          <p:cNvPr id="9" name="Rectangle 8"/>
          <p:cNvSpPr/>
          <p:nvPr/>
        </p:nvSpPr>
        <p:spPr>
          <a:xfrm>
            <a:off x="0" y="3779"/>
            <a:ext cx="12192000" cy="6858000"/>
          </a:xfrm>
          <a:prstGeom prst="rect">
            <a:avLst/>
          </a:prstGeom>
          <a:solidFill>
            <a:schemeClr val="accent4">
              <a:alpha val="6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Right Triangle 21"/>
          <p:cNvSpPr/>
          <p:nvPr/>
        </p:nvSpPr>
        <p:spPr>
          <a:xfrm flipH="1">
            <a:off x="7632095" y="-7814"/>
            <a:ext cx="4559904" cy="6865815"/>
          </a:xfrm>
          <a:custGeom>
            <a:avLst/>
            <a:gdLst>
              <a:gd name="connsiteX0" fmla="*/ 0 w 3419928"/>
              <a:gd name="connsiteY0" fmla="*/ 5143500 h 5143500"/>
              <a:gd name="connsiteX1" fmla="*/ 0 w 3419928"/>
              <a:gd name="connsiteY1" fmla="*/ 0 h 5143500"/>
              <a:gd name="connsiteX2" fmla="*/ 3419928 w 3419928"/>
              <a:gd name="connsiteY2" fmla="*/ 5143500 h 5143500"/>
              <a:gd name="connsiteX3" fmla="*/ 0 w 3419928"/>
              <a:gd name="connsiteY3" fmla="*/ 5143500 h 5143500"/>
              <a:gd name="connsiteX0" fmla="*/ 0 w 3419928"/>
              <a:gd name="connsiteY0" fmla="*/ 5143500 h 5143500"/>
              <a:gd name="connsiteX1" fmla="*/ 0 w 3419928"/>
              <a:gd name="connsiteY1" fmla="*/ 0 h 5143500"/>
              <a:gd name="connsiteX2" fmla="*/ 992980 w 3419928"/>
              <a:gd name="connsiteY2" fmla="*/ 1485900 h 5143500"/>
              <a:gd name="connsiteX3" fmla="*/ 3419928 w 3419928"/>
              <a:gd name="connsiteY3" fmla="*/ 5143500 h 5143500"/>
              <a:gd name="connsiteX4" fmla="*/ 0 w 3419928"/>
              <a:gd name="connsiteY4" fmla="*/ 5143500 h 5143500"/>
              <a:gd name="connsiteX0" fmla="*/ 0 w 3419928"/>
              <a:gd name="connsiteY0" fmla="*/ 5157788 h 5157788"/>
              <a:gd name="connsiteX1" fmla="*/ 0 w 3419928"/>
              <a:gd name="connsiteY1" fmla="*/ 14288 h 5157788"/>
              <a:gd name="connsiteX2" fmla="*/ 1257299 w 3419928"/>
              <a:gd name="connsiteY2" fmla="*/ 0 h 5157788"/>
              <a:gd name="connsiteX3" fmla="*/ 3419928 w 3419928"/>
              <a:gd name="connsiteY3" fmla="*/ 5157788 h 5157788"/>
              <a:gd name="connsiteX4" fmla="*/ 0 w 3419928"/>
              <a:gd name="connsiteY4" fmla="*/ 5157788 h 5157788"/>
              <a:gd name="connsiteX0" fmla="*/ 0 w 3419928"/>
              <a:gd name="connsiteY0" fmla="*/ 5145147 h 5145147"/>
              <a:gd name="connsiteX1" fmla="*/ 0 w 3419928"/>
              <a:gd name="connsiteY1" fmla="*/ 1647 h 5145147"/>
              <a:gd name="connsiteX2" fmla="*/ 1263619 w 3419928"/>
              <a:gd name="connsiteY2" fmla="*/ 0 h 5145147"/>
              <a:gd name="connsiteX3" fmla="*/ 3419928 w 3419928"/>
              <a:gd name="connsiteY3" fmla="*/ 5145147 h 5145147"/>
              <a:gd name="connsiteX4" fmla="*/ 0 w 3419928"/>
              <a:gd name="connsiteY4" fmla="*/ 5145147 h 5145147"/>
              <a:gd name="connsiteX0" fmla="*/ 0 w 3419928"/>
              <a:gd name="connsiteY0" fmla="*/ 5143500 h 5143500"/>
              <a:gd name="connsiteX1" fmla="*/ 0 w 3419928"/>
              <a:gd name="connsiteY1" fmla="*/ 0 h 5143500"/>
              <a:gd name="connsiteX2" fmla="*/ 1200412 w 3419928"/>
              <a:gd name="connsiteY2" fmla="*/ 103699 h 5143500"/>
              <a:gd name="connsiteX3" fmla="*/ 3419928 w 3419928"/>
              <a:gd name="connsiteY3" fmla="*/ 5143500 h 5143500"/>
              <a:gd name="connsiteX4" fmla="*/ 0 w 3419928"/>
              <a:gd name="connsiteY4" fmla="*/ 5143500 h 5143500"/>
              <a:gd name="connsiteX0" fmla="*/ 0 w 3419928"/>
              <a:gd name="connsiteY0" fmla="*/ 5151467 h 5151467"/>
              <a:gd name="connsiteX1" fmla="*/ 0 w 3419928"/>
              <a:gd name="connsiteY1" fmla="*/ 7967 h 5151467"/>
              <a:gd name="connsiteX2" fmla="*/ 1261512 w 3419928"/>
              <a:gd name="connsiteY2" fmla="*/ 0 h 5151467"/>
              <a:gd name="connsiteX3" fmla="*/ 3419928 w 3419928"/>
              <a:gd name="connsiteY3" fmla="*/ 5151467 h 5151467"/>
              <a:gd name="connsiteX4" fmla="*/ 0 w 3419928"/>
              <a:gd name="connsiteY4" fmla="*/ 5151467 h 5151467"/>
              <a:gd name="connsiteX0" fmla="*/ 0 w 3419928"/>
              <a:gd name="connsiteY0" fmla="*/ 5149361 h 5149361"/>
              <a:gd name="connsiteX1" fmla="*/ 0 w 3419928"/>
              <a:gd name="connsiteY1" fmla="*/ 5861 h 5149361"/>
              <a:gd name="connsiteX2" fmla="*/ 1261512 w 3419928"/>
              <a:gd name="connsiteY2" fmla="*/ 0 h 5149361"/>
              <a:gd name="connsiteX3" fmla="*/ 3419928 w 3419928"/>
              <a:gd name="connsiteY3" fmla="*/ 5149361 h 5149361"/>
              <a:gd name="connsiteX4" fmla="*/ 0 w 3419928"/>
              <a:gd name="connsiteY4" fmla="*/ 5149361 h 514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9928" h="5149361">
                <a:moveTo>
                  <a:pt x="0" y="5149361"/>
                </a:moveTo>
                <a:lnTo>
                  <a:pt x="0" y="5861"/>
                </a:lnTo>
                <a:lnTo>
                  <a:pt x="1261512" y="0"/>
                </a:lnTo>
                <a:lnTo>
                  <a:pt x="3419928" y="5149361"/>
                </a:lnTo>
                <a:lnTo>
                  <a:pt x="0" y="5149361"/>
                </a:lnTo>
                <a:close/>
              </a:path>
            </a:pathLst>
          </a:custGeom>
          <a:solidFill>
            <a:schemeClr val="accent2">
              <a:alpha val="6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5" name="Right Triangle 14"/>
          <p:cNvSpPr/>
          <p:nvPr/>
        </p:nvSpPr>
        <p:spPr>
          <a:xfrm flipH="1" flipV="1">
            <a:off x="8273143" y="-8162"/>
            <a:ext cx="3918856" cy="3905907"/>
          </a:xfrm>
          <a:prstGeom prst="rtTriangle">
            <a:avLst/>
          </a:prstGeom>
          <a:solidFill>
            <a:schemeClr val="accent4">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2" name="Title 1"/>
          <p:cNvSpPr>
            <a:spLocks noGrp="1"/>
          </p:cNvSpPr>
          <p:nvPr>
            <p:ph type="title"/>
          </p:nvPr>
        </p:nvSpPr>
        <p:spPr>
          <a:xfrm>
            <a:off x="461310" y="3625511"/>
            <a:ext cx="5695167" cy="1161143"/>
          </a:xfrm>
        </p:spPr>
        <p:txBody>
          <a:bodyPr>
            <a:normAutofit/>
          </a:bodyPr>
          <a:lstStyle>
            <a:lvl1pPr>
              <a:defRPr sz="5333">
                <a:solidFill>
                  <a:schemeClr val="bg1"/>
                </a:solidFill>
              </a:defRPr>
            </a:lvl1pPr>
          </a:lstStyle>
          <a:p>
            <a:r>
              <a:rPr lang="es-MX"/>
              <a:t>Haz clic para modificar el estilo de título del patrón</a:t>
            </a:r>
            <a:endParaRPr lang="en-US" dirty="0"/>
          </a:p>
        </p:txBody>
      </p:sp>
      <p:pic>
        <p:nvPicPr>
          <p:cNvPr id="13" name="Picture 12" descr="ellucian_white.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1310" y="866875"/>
            <a:ext cx="2164695" cy="443247"/>
          </a:xfrm>
          <a:prstGeom prst="rect">
            <a:avLst/>
          </a:prstGeom>
        </p:spPr>
      </p:pic>
      <p:sp>
        <p:nvSpPr>
          <p:cNvPr id="12" name="Text Placeholder 12"/>
          <p:cNvSpPr>
            <a:spLocks noGrp="1"/>
          </p:cNvSpPr>
          <p:nvPr>
            <p:ph type="body" sz="quarter" idx="11" hasCustomPrompt="1"/>
          </p:nvPr>
        </p:nvSpPr>
        <p:spPr>
          <a:xfrm>
            <a:off x="463297" y="4911366"/>
            <a:ext cx="7640512" cy="1589695"/>
          </a:xfrm>
        </p:spPr>
        <p:txBody>
          <a:bodyPr anchor="t" anchorCtr="0">
            <a:normAutofit/>
          </a:bodyPr>
          <a:lstStyle>
            <a:lvl1pPr>
              <a:spcBef>
                <a:spcPts val="0"/>
              </a:spcBef>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Title title title, </a:t>
            </a:r>
            <a:r>
              <a:rPr lang="en-US" dirty="0" err="1"/>
              <a:t>Ellucian</a:t>
            </a:r>
            <a:br>
              <a:rPr lang="en-US" dirty="0"/>
            </a:br>
            <a:r>
              <a:rPr lang="en-US" dirty="0" err="1"/>
              <a:t>firstname.lastname@ellucian.com</a:t>
            </a:r>
            <a:endParaRPr lang="en-US" dirty="0"/>
          </a:p>
        </p:txBody>
      </p:sp>
      <p:sp>
        <p:nvSpPr>
          <p:cNvPr id="10" name="Text Placeholder 12"/>
          <p:cNvSpPr>
            <a:spLocks noGrp="1"/>
          </p:cNvSpPr>
          <p:nvPr>
            <p:ph type="body" sz="quarter" idx="12" hasCustomPrompt="1"/>
          </p:nvPr>
        </p:nvSpPr>
        <p:spPr>
          <a:xfrm>
            <a:off x="457200" y="4053544"/>
            <a:ext cx="6656832" cy="835251"/>
          </a:xfrm>
        </p:spPr>
        <p:txBody>
          <a:bodyPr anchor="b">
            <a:noAutofit/>
          </a:bodyPr>
          <a:lstStyle>
            <a:lvl1pPr>
              <a:buNone/>
              <a:defRPr sz="2267" b="1" cap="all"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3492180268"/>
      </p:ext>
    </p:extLst>
  </p:cSld>
  <p:clrMapOvr>
    <a:masterClrMapping/>
  </p:clrMapOvr>
  <p:transition spd="slow">
    <p:wipe dir="r"/>
  </p:transition>
  <p:extLst>
    <p:ext uri="{DCECCB84-F9BA-43D5-87BE-67443E8EF086}">
      <p15:sldGuideLst xmlns:p15="http://schemas.microsoft.com/office/powerpoint/2012/main">
        <p15:guide id="1" orient="horz" pos="1620">
          <p15:clr>
            <a:srgbClr val="FBAE40"/>
          </p15:clr>
        </p15:guide>
        <p15:guide id="2" orient="horz" pos="2453">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1_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userDrawn="1">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5" name="Picture 4" descr="ellucian_purpl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userDrawn="1">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100155739"/>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3821010585"/>
      </p:ext>
    </p:extLst>
  </p:cSld>
  <p:clrMapOvr>
    <a:masterClrMapping/>
  </p:clrMapOvr>
  <p:transition spd="slow">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1_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userDrawn="1">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n-US" dirty="0"/>
              <a:t>Click to edit Master title style</a:t>
            </a:r>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userDrawn="1">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20" name="Footer Placeholder 4"/>
          <p:cNvSpPr txBox="1">
            <a:spLocks/>
          </p:cNvSpPr>
          <p:nvPr userDrawn="1"/>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userDrawn="1"/>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Tree>
    <p:extLst>
      <p:ext uri="{BB962C8B-B14F-4D97-AF65-F5344CB8AC3E}">
        <p14:creationId xmlns:p14="http://schemas.microsoft.com/office/powerpoint/2010/main" val="2912799733"/>
      </p:ext>
    </p:extLst>
  </p:cSld>
  <p:clrMapOvr>
    <a:masterClrMapping/>
  </p:clrMapOvr>
  <p:transition spd="slow">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Title slide al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2"/>
          <p:cNvSpPr>
            <a:spLocks noGrp="1"/>
          </p:cNvSpPr>
          <p:nvPr>
            <p:ph type="body" sz="quarter" idx="11" hasCustomPrompt="1"/>
          </p:nvPr>
        </p:nvSpPr>
        <p:spPr>
          <a:xfrm>
            <a:off x="475488" y="4264233"/>
            <a:ext cx="7640512" cy="1589695"/>
          </a:xfrm>
        </p:spPr>
        <p:txBody>
          <a:bodyPr anchor="b">
            <a:noAutofit/>
          </a:bodyPr>
          <a:lstStyle>
            <a:lvl1pPr>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 Title, </a:t>
            </a:r>
            <a:r>
              <a:rPr lang="en-US" dirty="0" err="1"/>
              <a:t>Ellucian</a:t>
            </a:r>
            <a:endParaRPr lang="en-US" dirty="0"/>
          </a:p>
        </p:txBody>
      </p:sp>
      <p:sp>
        <p:nvSpPr>
          <p:cNvPr id="13" name="Text Placeholder 12"/>
          <p:cNvSpPr>
            <a:spLocks noGrp="1"/>
          </p:cNvSpPr>
          <p:nvPr>
            <p:ph type="body" sz="quarter" idx="10" hasCustomPrompt="1"/>
          </p:nvPr>
        </p:nvSpPr>
        <p:spPr>
          <a:xfrm>
            <a:off x="475488" y="581175"/>
            <a:ext cx="5971371" cy="351367"/>
          </a:xfrm>
        </p:spPr>
        <p:txBody>
          <a:bodyPr>
            <a:noAutofit/>
          </a:bodyPr>
          <a:lstStyle>
            <a:lvl1pPr>
              <a:buNone/>
              <a:defRPr sz="2133" spc="133">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WEBINAR [optional]</a:t>
            </a:r>
          </a:p>
        </p:txBody>
      </p:sp>
      <p:sp>
        <p:nvSpPr>
          <p:cNvPr id="2" name="Title 1"/>
          <p:cNvSpPr>
            <a:spLocks noGrp="1"/>
          </p:cNvSpPr>
          <p:nvPr userDrawn="1">
            <p:ph type="ctrTitle" hasCustomPrompt="1"/>
          </p:nvPr>
        </p:nvSpPr>
        <p:spPr>
          <a:xfrm>
            <a:off x="475488" y="1117442"/>
            <a:ext cx="5971371" cy="3790903"/>
          </a:xfrm>
        </p:spPr>
        <p:txBody>
          <a:bodyPr tIns="0" bIns="0" anchor="t">
            <a:noAutofit/>
          </a:bodyPr>
          <a:lstStyle>
            <a:lvl1pPr algn="l">
              <a:lnSpc>
                <a:spcPct val="90000"/>
              </a:lnSpc>
              <a:defRPr sz="4933" b="0" baseline="0">
                <a:solidFill>
                  <a:schemeClr val="bg1"/>
                </a:solidFill>
              </a:defRPr>
            </a:lvl1pPr>
          </a:lstStyle>
          <a:p>
            <a:r>
              <a:rPr lang="en-US" dirty="0"/>
              <a:t>Master title style</a:t>
            </a:r>
          </a:p>
        </p:txBody>
      </p:sp>
      <p:pic>
        <p:nvPicPr>
          <p:cNvPr id="5" name="Picture 4"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407" y="5558586"/>
            <a:ext cx="2164695" cy="443247"/>
          </a:xfrm>
          <a:prstGeom prst="rect">
            <a:avLst/>
          </a:prstGeom>
        </p:spPr>
      </p:pic>
      <p:sp>
        <p:nvSpPr>
          <p:cNvPr id="7" name="Rectangle 6"/>
          <p:cNvSpPr/>
          <p:nvPr userDrawn="1"/>
        </p:nvSpPr>
        <p:spPr>
          <a:xfrm>
            <a:off x="0" y="6431280"/>
            <a:ext cx="12192000" cy="426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193322890"/>
      </p:ext>
    </p:extLst>
  </p:cSld>
  <p:clrMapOvr>
    <a:masterClrMapping/>
  </p:clrMapOvr>
  <p:transition spd="slow">
    <p:wipe dir="r"/>
  </p:transition>
  <p:extLst>
    <p:ext uri="{DCECCB84-F9BA-43D5-87BE-67443E8EF086}">
      <p15:sldGuideLst xmlns:p15="http://schemas.microsoft.com/office/powerpoint/2012/main">
        <p15:guide id="1" orient="horz" pos="7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40801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9198766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7058212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0632731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17607073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62198066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6108603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3257652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4897413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9190979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302024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7928088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766621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7772604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1738501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1713285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3225210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0356227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59037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theme" Target="../theme/theme2.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56088727"/>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48" r:id="rId30"/>
    <p:sldLayoutId id="2147483749" r:id="rId31"/>
    <p:sldLayoutId id="2147483750" r:id="rId32"/>
    <p:sldLayoutId id="2147483751" r:id="rId33"/>
    <p:sldLayoutId id="2147483752" r:id="rId34"/>
    <p:sldLayoutId id="2147483753" r:id="rId35"/>
    <p:sldLayoutId id="2147483754" r:id="rId36"/>
    <p:sldLayoutId id="2147483757" r:id="rId37"/>
    <p:sldLayoutId id="2147483758" r:id="rId38"/>
    <p:sldLayoutId id="2147483759" r:id="rId39"/>
    <p:sldLayoutId id="2147483760" r:id="rId40"/>
    <p:sldLayoutId id="2147483761" r:id="rId41"/>
    <p:sldLayoutId id="2147483762" r:id="rId42"/>
    <p:sldLayoutId id="2147483712" r:id="rId43"/>
    <p:sldLayoutId id="2147483713" r:id="rId44"/>
    <p:sldLayoutId id="2147483714" r:id="rId45"/>
    <p:sldLayoutId id="2147483717" r:id="rId46"/>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8711298"/>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 id="2147483783" r:id="rId18"/>
    <p:sldLayoutId id="2147483784"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7.xml"/><Relationship Id="rId1" Type="http://schemas.openxmlformats.org/officeDocument/2006/relationships/themeOverride" Target="../theme/themeOverride1.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37.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8.xml"/><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37.xml"/></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37.xml"/></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37.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4.xml"/><Relationship Id="rId1" Type="http://schemas.openxmlformats.org/officeDocument/2006/relationships/slideLayout" Target="../slideLayouts/slideLayout37.xml"/></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5.xml"/><Relationship Id="rId1" Type="http://schemas.openxmlformats.org/officeDocument/2006/relationships/slideLayout" Target="../slideLayouts/slideLayout37.xml"/></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6.xml"/><Relationship Id="rId1" Type="http://schemas.openxmlformats.org/officeDocument/2006/relationships/slideLayout" Target="../slideLayouts/slideLayout37.xml"/></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37.xml"/></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8.xml"/><Relationship Id="rId1" Type="http://schemas.openxmlformats.org/officeDocument/2006/relationships/slideLayout" Target="../slideLayouts/slideLayout37.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9.xml"/><Relationship Id="rId1" Type="http://schemas.openxmlformats.org/officeDocument/2006/relationships/slideLayout" Target="../slideLayouts/slideLayout3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7.xml"/></Relationships>
</file>

<file path=ppt/slides/_rels/slide5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7.xml"/></Relationships>
</file>

<file path=ppt/slides/_rels/slide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7.xml"/></Relationships>
</file>

<file path=ppt/slides/_rels/slide6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7.xml"/></Relationships>
</file>

<file path=ppt/slides/_rels/slide6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7.xml"/></Relationships>
</file>

<file path=ppt/slides/_rels/slide6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7.xml"/></Relationships>
</file>

<file path=ppt/slides/_rels/slide6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37.xml"/></Relationships>
</file>

<file path=ppt/slides/_rels/slide6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7.xml"/></Relationships>
</file>

<file path=ppt/slides/_rels/slide7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7.xml"/></Relationships>
</file>

<file path=ppt/slides/_rels/slide7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7.png"/><Relationship Id="rId1" Type="http://schemas.openxmlformats.org/officeDocument/2006/relationships/slideLayout" Target="../slideLayouts/slideLayout37.xml"/></Relationships>
</file>

<file path=ppt/slides/_rels/slide7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3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37.xml"/></Relationships>
</file>

<file path=ppt/slides/_rels/slide7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37.xml"/></Relationships>
</file>

<file path=ppt/slides/_rels/slide7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9.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png"/><Relationship Id="rId1" Type="http://schemas.openxmlformats.org/officeDocument/2006/relationships/slideLayout" Target="../slideLayouts/slideLayout35.xml"/><Relationship Id="rId5" Type="http://schemas.openxmlformats.org/officeDocument/2006/relationships/image" Target="../media/image75.svg"/><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54DC2834-C0BC-1E9E-35AB-295707DC0D27}"/>
              </a:ext>
            </a:extLst>
          </p:cNvPr>
          <p:cNvSpPr>
            <a:spLocks noGrp="1"/>
          </p:cNvSpPr>
          <p:nvPr>
            <p:ph type="body" sz="quarter" idx="11"/>
          </p:nvPr>
        </p:nvSpPr>
        <p:spPr>
          <a:xfrm>
            <a:off x="556902" y="4143944"/>
            <a:ext cx="5427132" cy="740459"/>
          </a:xfrm>
        </p:spPr>
        <p:txBody>
          <a:bodyPr/>
          <a:lstStyle/>
          <a:p>
            <a:r>
              <a:rPr lang="es-ES" dirty="0"/>
              <a:t>Instructivo</a:t>
            </a:r>
            <a:endParaRPr lang="es-419" dirty="0"/>
          </a:p>
          <a:p>
            <a:endParaRPr lang="es-419" dirty="0"/>
          </a:p>
        </p:txBody>
      </p:sp>
      <p:sp>
        <p:nvSpPr>
          <p:cNvPr id="6" name="Marcador de texto 5">
            <a:extLst>
              <a:ext uri="{FF2B5EF4-FFF2-40B4-BE49-F238E27FC236}">
                <a16:creationId xmlns:a16="http://schemas.microsoft.com/office/drawing/2014/main" id="{26DA71FA-37DD-30F0-5182-663EBEE7A9EF}"/>
              </a:ext>
            </a:extLst>
          </p:cNvPr>
          <p:cNvSpPr>
            <a:spLocks noGrp="1"/>
          </p:cNvSpPr>
          <p:nvPr>
            <p:ph type="body" sz="quarter" idx="13"/>
          </p:nvPr>
        </p:nvSpPr>
        <p:spPr/>
        <p:txBody>
          <a:bodyPr/>
          <a:lstStyle/>
          <a:p>
            <a:r>
              <a:rPr lang="es-CL" dirty="0"/>
              <a:t>Mes, Año</a:t>
            </a:r>
          </a:p>
        </p:txBody>
      </p:sp>
      <p:sp>
        <p:nvSpPr>
          <p:cNvPr id="2" name="Title 1"/>
          <p:cNvSpPr>
            <a:spLocks noGrp="1"/>
          </p:cNvSpPr>
          <p:nvPr>
            <p:ph type="title" idx="4294967295"/>
          </p:nvPr>
        </p:nvSpPr>
        <p:spPr>
          <a:xfrm>
            <a:off x="444935" y="2183599"/>
            <a:ext cx="5651066" cy="2330574"/>
          </a:xfrm>
        </p:spPr>
        <p:txBody>
          <a:bodyPr/>
          <a:lstStyle/>
          <a:p>
            <a:pPr>
              <a:spcBef>
                <a:spcPts val="0"/>
              </a:spcBef>
              <a:spcAft>
                <a:spcPts val="600"/>
              </a:spcAft>
            </a:pPr>
            <a:r>
              <a:rPr lang="es-419" sz="4200" dirty="0">
                <a:solidFill>
                  <a:schemeClr val="bg1"/>
                </a:solidFill>
                <a:latin typeface="+mn-lt"/>
                <a:ea typeface="+mn-ea"/>
                <a:cs typeface="+mn-cs"/>
              </a:rPr>
              <a:t>Ingresar calificaciones a través de Autoservicio </a:t>
            </a:r>
            <a:br>
              <a:rPr lang="es-419" sz="4000" dirty="0"/>
            </a:br>
            <a:endParaRPr lang="es-ES_tradnl" sz="4200" dirty="0">
              <a:solidFill>
                <a:schemeClr val="bg1"/>
              </a:solidFill>
              <a:latin typeface="+mn-lt"/>
              <a:ea typeface="+mn-ea"/>
              <a:cs typeface="+mn-cs"/>
            </a:endParaRPr>
          </a:p>
        </p:txBody>
      </p:sp>
      <p:pic>
        <p:nvPicPr>
          <p:cNvPr id="8" name="Marcador de posición de imagen 8" descr="Un par de personas sentadas en una mesa&#10;&#10;El contenido generado por IA puede ser incorrecto.">
            <a:extLst>
              <a:ext uri="{FF2B5EF4-FFF2-40B4-BE49-F238E27FC236}">
                <a16:creationId xmlns:a16="http://schemas.microsoft.com/office/drawing/2014/main" id="{4F7B45E6-A22E-4AC7-1472-85D0784AA90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7869" r="17869"/>
          <a:stretch>
            <a:fillRect/>
          </a:stretch>
        </p:blipFill>
        <p:spPr>
          <a:xfrm>
            <a:off x="6689725" y="574675"/>
            <a:ext cx="5502275" cy="5710238"/>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
        <p:nvSpPr>
          <p:cNvPr id="10" name="Marcador de texto 9">
            <a:extLst>
              <a:ext uri="{FF2B5EF4-FFF2-40B4-BE49-F238E27FC236}">
                <a16:creationId xmlns:a16="http://schemas.microsoft.com/office/drawing/2014/main" id="{64F96709-410B-0915-4195-6E4BDF25CC08}"/>
              </a:ext>
            </a:extLst>
          </p:cNvPr>
          <p:cNvSpPr>
            <a:spLocks noGrp="1"/>
          </p:cNvSpPr>
          <p:nvPr>
            <p:ph type="body" sz="quarter" idx="12"/>
          </p:nvPr>
        </p:nvSpPr>
        <p:spPr>
          <a:xfrm>
            <a:off x="556902" y="5609784"/>
            <a:ext cx="3032274" cy="398058"/>
          </a:xfrm>
        </p:spPr>
        <p:txBody>
          <a:bodyPr/>
          <a:lstStyle/>
          <a:p>
            <a:r>
              <a:rPr lang="es-CL" dirty="0"/>
              <a:t>Consultor</a:t>
            </a:r>
            <a:br>
              <a:rPr lang="es-CL" dirty="0"/>
            </a:br>
            <a:r>
              <a:rPr lang="es-CL" dirty="0"/>
              <a:t>Cargo</a:t>
            </a:r>
          </a:p>
        </p:txBody>
      </p:sp>
    </p:spTree>
    <p:extLst>
      <p:ext uri="{BB962C8B-B14F-4D97-AF65-F5344CB8AC3E}">
        <p14:creationId xmlns:p14="http://schemas.microsoft.com/office/powerpoint/2010/main" val="321654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dirty="0"/>
              <a:t>Ingresar calificaciones a través de Autoservicio </a:t>
            </a:r>
          </a:p>
        </p:txBody>
      </p:sp>
      <p:graphicFrame>
        <p:nvGraphicFramePr>
          <p:cNvPr id="3" name="Table 2">
            <a:extLst>
              <a:ext uri="{FF2B5EF4-FFF2-40B4-BE49-F238E27FC236}">
                <a16:creationId xmlns:a16="http://schemas.microsoft.com/office/drawing/2014/main" id="{A225AFDA-60B1-A9BB-2927-2498EBB648DA}"/>
              </a:ext>
            </a:extLst>
          </p:cNvPr>
          <p:cNvGraphicFramePr>
            <a:graphicFrameLocks noGrp="1"/>
          </p:cNvGraphicFramePr>
          <p:nvPr>
            <p:extLst>
              <p:ext uri="{D42A27DB-BD31-4B8C-83A1-F6EECF244321}">
                <p14:modId xmlns:p14="http://schemas.microsoft.com/office/powerpoint/2010/main" val="562957817"/>
              </p:ext>
            </p:extLst>
          </p:nvPr>
        </p:nvGraphicFramePr>
        <p:xfrm>
          <a:off x="1043940" y="1231265"/>
          <a:ext cx="8916155" cy="4043515"/>
        </p:xfrm>
        <a:graphic>
          <a:graphicData uri="http://schemas.openxmlformats.org/drawingml/2006/table">
            <a:tbl>
              <a:tblPr firstRow="1" bandRow="1">
                <a:tableStyleId>{5C22544A-7EE6-4342-B048-85BDC9FD1C3A}</a:tableStyleId>
              </a:tblPr>
              <a:tblGrid>
                <a:gridCol w="813015">
                  <a:extLst>
                    <a:ext uri="{9D8B030D-6E8A-4147-A177-3AD203B41FA5}">
                      <a16:colId xmlns:a16="http://schemas.microsoft.com/office/drawing/2014/main" val="1758753895"/>
                    </a:ext>
                  </a:extLst>
                </a:gridCol>
                <a:gridCol w="8103140">
                  <a:extLst>
                    <a:ext uri="{9D8B030D-6E8A-4147-A177-3AD203B41FA5}">
                      <a16:colId xmlns:a16="http://schemas.microsoft.com/office/drawing/2014/main" val="2430301172"/>
                    </a:ext>
                  </a:extLst>
                </a:gridCol>
              </a:tblGrid>
              <a:tr h="617939">
                <a:tc>
                  <a:txBody>
                    <a:bodyPr/>
                    <a:lstStyle/>
                    <a:p>
                      <a:r>
                        <a:rPr lang="es-ES_tradnl" sz="2400" b="1" kern="1200" noProof="0" dirty="0">
                          <a:solidFill>
                            <a:schemeClr val="bg1"/>
                          </a:solidFill>
                          <a:latin typeface="+mn-lt"/>
                          <a:ea typeface="+mn-ea"/>
                          <a:cs typeface="+mn-cs"/>
                        </a:rPr>
                        <a:t>01</a:t>
                      </a:r>
                    </a:p>
                  </a:txBody>
                  <a:tcPr marL="121920" marR="121920" marT="60960" marB="60960"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s-ES_tradnl" sz="1800" b="0" kern="1200" noProof="0" dirty="0">
                        <a:solidFill>
                          <a:srgbClr val="414042"/>
                        </a:solidFill>
                        <a:latin typeface="Arial"/>
                        <a:ea typeface="+mn-ea"/>
                        <a:cs typeface="Arial"/>
                      </a:endParaRPr>
                    </a:p>
                    <a:p>
                      <a:r>
                        <a:rPr lang="es-ES_tradnl" sz="2400" b="1" kern="1200" noProof="0" dirty="0" err="1">
                          <a:solidFill>
                            <a:schemeClr val="bg1"/>
                          </a:solidFill>
                          <a:latin typeface="+mn-lt"/>
                          <a:ea typeface="+mn-ea"/>
                          <a:cs typeface="+mn-cs"/>
                        </a:rPr>
                        <a:t>Overview</a:t>
                      </a:r>
                      <a:endParaRPr lang="es-ES_tradnl" sz="2400" b="1" kern="1200" noProof="0" dirty="0">
                        <a:solidFill>
                          <a:schemeClr val="bg1"/>
                        </a:solidFill>
                        <a:latin typeface="+mn-lt"/>
                        <a:ea typeface="+mn-ea"/>
                        <a:cs typeface="+mn-cs"/>
                      </a:endParaRPr>
                    </a:p>
                  </a:txBody>
                  <a:tcPr marL="121920" marR="121920" marT="60960" marB="97536"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916344"/>
                  </a:ext>
                </a:extLst>
              </a:tr>
              <a:tr h="649590">
                <a:tc>
                  <a:txBody>
                    <a:bodyPr/>
                    <a:lstStyle/>
                    <a:p>
                      <a:pPr marL="0" algn="l" defTabSz="914400" rtl="0" eaLnBrk="1" latinLnBrk="0" hangingPunct="1"/>
                      <a:r>
                        <a:rPr lang="es-ES_tradnl" sz="2400" b="1" kern="1200" noProof="0" dirty="0">
                          <a:solidFill>
                            <a:schemeClr val="bg1"/>
                          </a:solidFill>
                          <a:latin typeface="+mn-lt"/>
                          <a:ea typeface="+mn-ea"/>
                          <a:cs typeface="+mn-cs"/>
                        </a:rPr>
                        <a:t>02</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s-ES" sz="2400" b="1" kern="1200" noProof="0" dirty="0">
                          <a:solidFill>
                            <a:schemeClr val="bg1"/>
                          </a:solidFill>
                          <a:latin typeface="+mn-lt"/>
                          <a:ea typeface="+mn-ea"/>
                          <a:cs typeface="+mn-cs"/>
                        </a:rPr>
                        <a:t>Configuraciones </a:t>
                      </a:r>
                      <a:endParaRPr lang="es-ES_tradnl" sz="24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8678695"/>
                  </a:ext>
                </a:extLst>
              </a:tr>
              <a:tr h="644425">
                <a:tc>
                  <a:txBody>
                    <a:bodyPr/>
                    <a:lstStyle/>
                    <a:p>
                      <a:pPr marL="0" algn="l" defTabSz="914400" rtl="0" eaLnBrk="1" latinLnBrk="0" hangingPunct="1"/>
                      <a:r>
                        <a:rPr lang="es-ES_tradnl" sz="2400" b="1" kern="1200" noProof="0" dirty="0">
                          <a:solidFill>
                            <a:schemeClr val="bg1"/>
                          </a:solidFill>
                          <a:latin typeface="+mn-lt"/>
                          <a:ea typeface="+mn-ea"/>
                          <a:cs typeface="+mn-cs"/>
                        </a:rPr>
                        <a:t>03</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400" b="1" kern="1200" noProof="0" dirty="0">
                          <a:solidFill>
                            <a:schemeClr val="bg1"/>
                          </a:solidFill>
                          <a:latin typeface="+mn-lt"/>
                          <a:ea typeface="+mn-ea"/>
                          <a:cs typeface="+mn-cs"/>
                        </a:rPr>
                        <a:t>Calendario de Ingreso de calificaciones</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1000625"/>
                  </a:ext>
                </a:extLst>
              </a:tr>
              <a:tr h="648988">
                <a:tc>
                  <a:txBody>
                    <a:bodyPr/>
                    <a:lstStyle/>
                    <a:p>
                      <a:pPr marL="0" algn="l" defTabSz="914400" rtl="0" eaLnBrk="1" latinLnBrk="0" hangingPunct="1"/>
                      <a:r>
                        <a:rPr lang="es-419" sz="2400" b="1" kern="1200" dirty="0">
                          <a:solidFill>
                            <a:schemeClr val="bg1"/>
                          </a:solidFill>
                          <a:latin typeface="+mn-lt"/>
                          <a:ea typeface="+mn-ea"/>
                          <a:cs typeface="+mn-cs"/>
                        </a:rPr>
                        <a:t>04</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400" b="1" kern="1200" noProof="0" dirty="0">
                          <a:solidFill>
                            <a:schemeClr val="bg1"/>
                          </a:solidFill>
                          <a:latin typeface="+mn-lt"/>
                          <a:ea typeface="+mn-ea"/>
                          <a:cs typeface="+mn-cs"/>
                        </a:rPr>
                        <a:t>Registrar el Plan de Evaluación del docente</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1004511"/>
                  </a:ext>
                </a:extLst>
              </a:tr>
              <a:tr h="643823">
                <a:tc>
                  <a:txBody>
                    <a:bodyPr/>
                    <a:lstStyle/>
                    <a:p>
                      <a:pPr marL="0" algn="l" defTabSz="914400" rtl="0" eaLnBrk="1" latinLnBrk="0" hangingPunct="1"/>
                      <a:r>
                        <a:rPr lang="es-419" sz="2400" b="1" kern="1200" dirty="0">
                          <a:solidFill>
                            <a:schemeClr val="bg1"/>
                          </a:solidFill>
                          <a:latin typeface="+mn-lt"/>
                          <a:ea typeface="+mn-ea"/>
                          <a:cs typeface="+mn-cs"/>
                        </a:rPr>
                        <a:t>05</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400" b="1" kern="1200" noProof="0" dirty="0">
                          <a:solidFill>
                            <a:schemeClr val="bg1"/>
                          </a:solidFill>
                          <a:latin typeface="+mn-lt"/>
                          <a:ea typeface="+mn-ea"/>
                          <a:cs typeface="+mn-cs"/>
                        </a:rPr>
                        <a:t>Registro de libro de calificaciones</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3525370"/>
                  </a:ext>
                </a:extLst>
              </a:tr>
              <a:tr h="658113">
                <a:tc>
                  <a:txBody>
                    <a:bodyPr/>
                    <a:lstStyle/>
                    <a:p>
                      <a:pPr marL="0" algn="l" defTabSz="914400" rtl="0" eaLnBrk="1" latinLnBrk="0" hangingPunct="1"/>
                      <a:r>
                        <a:rPr lang="es-419" sz="2400" b="1" kern="1200" dirty="0">
                          <a:solidFill>
                            <a:schemeClr val="bg1"/>
                          </a:solidFill>
                          <a:latin typeface="+mn-lt"/>
                          <a:ea typeface="+mn-ea"/>
                          <a:cs typeface="+mn-cs"/>
                        </a:rPr>
                        <a:t>06</a:t>
                      </a:r>
                    </a:p>
                  </a:txBody>
                  <a:tcPr marL="121920" marR="121920" marT="60960" marB="60960"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400" b="1" kern="1200" noProof="0" dirty="0">
                          <a:solidFill>
                            <a:schemeClr val="bg1"/>
                          </a:solidFill>
                          <a:latin typeface="+mn-lt"/>
                          <a:ea typeface="+mn-ea"/>
                          <a:cs typeface="+mn-cs"/>
                        </a:rPr>
                        <a:t>Resumen</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686099"/>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EEB262EA-17F2-0141-65EE-C84E22C29CEB}"/>
              </a:ext>
            </a:extLst>
          </p:cNvPr>
          <p:cNvSpPr>
            <a:spLocks noGrp="1"/>
          </p:cNvSpPr>
          <p:nvPr>
            <p:ph type="body" orient="vert" sz="quarter" idx="10"/>
          </p:nvPr>
        </p:nvSpPr>
        <p:spPr/>
        <p:txBody>
          <a:bodyPr/>
          <a:lstStyle/>
          <a:p>
            <a:r>
              <a:rPr lang="es-419" sz="1200" dirty="0"/>
              <a:t>Ingresar calificaciones a través de Autoservicio </a:t>
            </a:r>
            <a:endParaRPr lang="es-419" dirty="0"/>
          </a:p>
        </p:txBody>
      </p:sp>
      <p:sp>
        <p:nvSpPr>
          <p:cNvPr id="2" name="Title 1"/>
          <p:cNvSpPr>
            <a:spLocks noGrp="1"/>
          </p:cNvSpPr>
          <p:nvPr>
            <p:ph type="title"/>
          </p:nvPr>
        </p:nvSpPr>
        <p:spPr/>
        <p:txBody>
          <a:bodyPr/>
          <a:lstStyle/>
          <a:p>
            <a:r>
              <a:rPr lang="es-ES_tradnl" dirty="0" err="1"/>
              <a:t>Overview</a:t>
            </a:r>
            <a:endParaRPr lang="es-ES_tradnl" dirty="0"/>
          </a:p>
        </p:txBody>
      </p:sp>
      <p:sp>
        <p:nvSpPr>
          <p:cNvPr id="5" name="Marcador de texto 4">
            <a:extLst>
              <a:ext uri="{FF2B5EF4-FFF2-40B4-BE49-F238E27FC236}">
                <a16:creationId xmlns:a16="http://schemas.microsoft.com/office/drawing/2014/main" id="{321709B6-3D7D-7AA3-22D3-520F8F6543AC}"/>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239389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dirty="0"/>
              <a:t>Ingresar calificaciones a través de Autoservicio </a:t>
            </a:r>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439345" y="2662645"/>
            <a:ext cx="1624395" cy="62919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EA264FA8-8D88-4C07-B119-8483D8339E48}"/>
              </a:ext>
            </a:extLst>
          </p:cNvPr>
          <p:cNvSpPr txBox="1">
            <a:spLocks/>
          </p:cNvSpPr>
          <p:nvPr/>
        </p:nvSpPr>
        <p:spPr>
          <a:xfrm>
            <a:off x="449120" y="488643"/>
            <a:ext cx="11267392" cy="582679"/>
          </a:xfrm>
          <a:prstGeom prst="rect">
            <a:avLst/>
          </a:prstGeom>
        </p:spPr>
        <p:txBody>
          <a:bodyPr vert="horz" lIns="0" tIns="0" rIns="0" bIns="0" rtlCol="0" anchor="t">
            <a:noAutofit/>
          </a:bodyPr>
          <a:lstStyle>
            <a:lvl1pPr algn="l" defTabSz="457200" rtl="0" eaLnBrk="1" latinLnBrk="0" hangingPunct="1">
              <a:lnSpc>
                <a:spcPct val="90000"/>
              </a:lnSpc>
              <a:spcBef>
                <a:spcPct val="0"/>
              </a:spcBef>
              <a:buNone/>
              <a:defRPr sz="2600" b="0" kern="1200">
                <a:solidFill>
                  <a:schemeClr val="tx1"/>
                </a:solidFill>
                <a:latin typeface="Arial"/>
                <a:ea typeface="+mj-ea"/>
                <a:cs typeface="Arial"/>
              </a:defRPr>
            </a:lvl1pPr>
          </a:lstStyle>
          <a:p>
            <a:endParaRPr lang="es-ES_tradnl" sz="3467" b="1" dirty="0"/>
          </a:p>
        </p:txBody>
      </p:sp>
      <p:sp>
        <p:nvSpPr>
          <p:cNvPr id="4" name="Marcador de texto 3">
            <a:extLst>
              <a:ext uri="{FF2B5EF4-FFF2-40B4-BE49-F238E27FC236}">
                <a16:creationId xmlns:a16="http://schemas.microsoft.com/office/drawing/2014/main" id="{ADE6F1F6-6376-A432-54A8-2DC50D4AC5F2}"/>
              </a:ext>
            </a:extLst>
          </p:cNvPr>
          <p:cNvSpPr>
            <a:spLocks noGrp="1"/>
          </p:cNvSpPr>
          <p:nvPr>
            <p:ph type="body" sz="quarter" idx="18"/>
          </p:nvPr>
        </p:nvSpPr>
        <p:spPr/>
        <p:txBody>
          <a:bodyPr/>
          <a:lstStyle/>
          <a:p>
            <a:pPr lvl="1" algn="just"/>
            <a:r>
              <a:rPr lang="es-419" sz="1600" dirty="0"/>
              <a:t>Mediante este procedimiento se crean las reglas de procesamiento para que los docentes puedan registrar las calificaciones de los alumnos inscritos en sus NRC.</a:t>
            </a:r>
          </a:p>
          <a:p>
            <a:pPr lvl="1" algn="just"/>
            <a:r>
              <a:rPr lang="es-419" sz="1600" dirty="0"/>
              <a:t>A través de las páginas de Autoservicio los docentes podrán ingresar las calificaciones de sus estudiantes, previa configuración del plan de evaluación para cada NRC por parte de Registro Académico.</a:t>
            </a:r>
          </a:p>
          <a:p>
            <a:pPr lvl="1" algn="just"/>
            <a:r>
              <a:rPr lang="es-419" sz="1600" dirty="0"/>
              <a:t>La configuración de las fechas para la carga de calificaciones se puede hacer a nivel de período, parte de período o para un NRC específico.</a:t>
            </a:r>
          </a:p>
          <a:p>
            <a:pPr lvl="1" algn="just"/>
            <a:r>
              <a:rPr lang="es-419" sz="1600" dirty="0"/>
              <a:t>Se deben realizar algunas configuraciones adicionales para el despliegue de las páginas en el autoservicio.</a:t>
            </a:r>
          </a:p>
          <a:p>
            <a:pPr marL="0" indent="0">
              <a:buNone/>
            </a:pPr>
            <a:endParaRPr lang="es-419" dirty="0"/>
          </a:p>
        </p:txBody>
      </p:sp>
      <p:sp>
        <p:nvSpPr>
          <p:cNvPr id="3" name="Marcador de texto vertical 2">
            <a:extLst>
              <a:ext uri="{FF2B5EF4-FFF2-40B4-BE49-F238E27FC236}">
                <a16:creationId xmlns:a16="http://schemas.microsoft.com/office/drawing/2014/main" id="{C6F371D0-37ED-3E35-97F4-2CEDBED2385A}"/>
              </a:ext>
            </a:extLst>
          </p:cNvPr>
          <p:cNvSpPr>
            <a:spLocks noGrp="1"/>
          </p:cNvSpPr>
          <p:nvPr>
            <p:ph type="body" orient="vert" sz="quarter" idx="17"/>
          </p:nvPr>
        </p:nvSpPr>
        <p:spPr/>
        <p:txBody>
          <a:bodyPr/>
          <a:lstStyle/>
          <a:p>
            <a:r>
              <a:rPr lang="es-419" dirty="0"/>
              <a:t>Ingresar calificaciones a través de Autoservicio </a:t>
            </a:r>
          </a:p>
        </p:txBody>
      </p:sp>
      <p:sp>
        <p:nvSpPr>
          <p:cNvPr id="2" name="Título 1">
            <a:extLst>
              <a:ext uri="{FF2B5EF4-FFF2-40B4-BE49-F238E27FC236}">
                <a16:creationId xmlns:a16="http://schemas.microsoft.com/office/drawing/2014/main" id="{71873B57-21C0-B73C-0651-BC5FB30B9C1F}"/>
              </a:ext>
            </a:extLst>
          </p:cNvPr>
          <p:cNvSpPr>
            <a:spLocks noGrp="1"/>
          </p:cNvSpPr>
          <p:nvPr>
            <p:ph type="title"/>
          </p:nvPr>
        </p:nvSpPr>
        <p:spPr/>
        <p:txBody>
          <a:bodyPr/>
          <a:lstStyle/>
          <a:p>
            <a:r>
              <a:rPr lang="es-ES_tradnl" sz="3467" dirty="0" err="1">
                <a:solidFill>
                  <a:schemeClr val="accent1"/>
                </a:solidFill>
              </a:rPr>
              <a:t>Overview</a:t>
            </a:r>
            <a:r>
              <a:rPr lang="es-ES_tradnl" sz="3467" dirty="0">
                <a:solidFill>
                  <a:schemeClr val="accent1"/>
                </a:solidFill>
              </a:rPr>
              <a:t>: </a:t>
            </a:r>
            <a:r>
              <a:rPr lang="es-419" sz="3200" dirty="0">
                <a:solidFill>
                  <a:schemeClr val="accent1"/>
                </a:solidFill>
              </a:rPr>
              <a:t>Ingresar calificaciones a través de Autoservicio </a:t>
            </a:r>
            <a:br>
              <a:rPr lang="es-ES_tradnl" sz="3467" dirty="0">
                <a:solidFill>
                  <a:schemeClr val="accent1"/>
                </a:solidFill>
              </a:rPr>
            </a:br>
            <a:endParaRPr lang="es-419" dirty="0">
              <a:solidFill>
                <a:schemeClr val="accent1"/>
              </a:solidFill>
            </a:endParaRPr>
          </a:p>
        </p:txBody>
      </p:sp>
    </p:spTree>
    <p:extLst>
      <p:ext uri="{BB962C8B-B14F-4D97-AF65-F5344CB8AC3E}">
        <p14:creationId xmlns:p14="http://schemas.microsoft.com/office/powerpoint/2010/main" val="1491982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FB3D023-ED79-7E91-BC0A-C4048E0DD771}"/>
              </a:ext>
            </a:extLst>
          </p:cNvPr>
          <p:cNvSpPr>
            <a:spLocks noGrp="1"/>
          </p:cNvSpPr>
          <p:nvPr>
            <p:ph type="body" orient="vert" sz="quarter" idx="17"/>
          </p:nvPr>
        </p:nvSpPr>
        <p:spPr/>
        <p:txBody>
          <a:bodyPr/>
          <a:lstStyle/>
          <a:p>
            <a:r>
              <a:rPr lang="es-419" sz="1200" dirty="0"/>
              <a:t>Ingresar calificaciones a través de Autoservicio </a:t>
            </a:r>
            <a:endParaRPr lang="es-419" dirty="0"/>
          </a:p>
        </p:txBody>
      </p:sp>
      <p:sp>
        <p:nvSpPr>
          <p:cNvPr id="13" name="Title 12"/>
          <p:cNvSpPr>
            <a:spLocks noGrp="1"/>
          </p:cNvSpPr>
          <p:nvPr>
            <p:ph type="title"/>
          </p:nvPr>
        </p:nvSpPr>
        <p:spPr/>
        <p:txBody>
          <a:bodyPr/>
          <a:lstStyle/>
          <a:p>
            <a:r>
              <a:rPr lang="es-ES_tradnl" dirty="0" err="1">
                <a:solidFill>
                  <a:schemeClr val="accent1"/>
                </a:solidFill>
              </a:rPr>
              <a:t>Overview</a:t>
            </a:r>
            <a:r>
              <a:rPr lang="es-ES_tradnl" dirty="0">
                <a:solidFill>
                  <a:schemeClr val="accent1"/>
                </a:solidFill>
              </a:rPr>
              <a:t>: </a:t>
            </a:r>
            <a:r>
              <a:rPr lang="es-CO" dirty="0">
                <a:solidFill>
                  <a:schemeClr val="accent1"/>
                </a:solidFill>
              </a:rPr>
              <a:t>Registrar la asistencia a clases</a:t>
            </a:r>
            <a:br>
              <a:rPr lang="es-CO" dirty="0">
                <a:solidFill>
                  <a:schemeClr val="accent1"/>
                </a:solidFill>
              </a:rPr>
            </a:br>
            <a:endParaRPr lang="es-ES_tradnl" dirty="0">
              <a:solidFill>
                <a:schemeClr val="accent1"/>
              </a:solidFill>
            </a:endParaRPr>
          </a:p>
        </p:txBody>
      </p:sp>
      <p:pic>
        <p:nvPicPr>
          <p:cNvPr id="1026" name="Picture 2">
            <a:extLst>
              <a:ext uri="{FF2B5EF4-FFF2-40B4-BE49-F238E27FC236}">
                <a16:creationId xmlns:a16="http://schemas.microsoft.com/office/drawing/2014/main" id="{7B65C53E-2EFE-4EC6-EAD3-A514D0FE85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 y="1745615"/>
            <a:ext cx="11757660" cy="3662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0803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F9F5-4D73-0F95-7678-0AE0FCC4FF5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9F9B5C96-8DBC-65FF-FAE3-4F645679D6ED}"/>
              </a:ext>
            </a:extLst>
          </p:cNvPr>
          <p:cNvSpPr>
            <a:spLocks noGrp="1"/>
          </p:cNvSpPr>
          <p:nvPr>
            <p:ph type="body" sz="quarter" idx="10"/>
          </p:nvPr>
        </p:nvSpPr>
        <p:spPr>
          <a:xfrm>
            <a:off x="522515" y="361822"/>
            <a:ext cx="11122188" cy="446084"/>
          </a:xfrm>
        </p:spPr>
        <p:txBody>
          <a:bodyPr/>
          <a:lstStyle/>
          <a:p>
            <a:r>
              <a:rPr lang="es-ES_tradnl" dirty="0" err="1"/>
              <a:t>Overview</a:t>
            </a:r>
            <a:r>
              <a:rPr lang="es-ES_tradnl" dirty="0"/>
              <a:t>: Región donde aplica</a:t>
            </a:r>
            <a:endParaRPr lang="es-419" dirty="0"/>
          </a:p>
        </p:txBody>
      </p:sp>
      <p:sp>
        <p:nvSpPr>
          <p:cNvPr id="9" name="CuadroTexto 8">
            <a:extLst>
              <a:ext uri="{FF2B5EF4-FFF2-40B4-BE49-F238E27FC236}">
                <a16:creationId xmlns:a16="http://schemas.microsoft.com/office/drawing/2014/main" id="{63F52F2A-F8BB-F72D-A754-DB9173333620}"/>
              </a:ext>
            </a:extLst>
          </p:cNvPr>
          <p:cNvSpPr txBox="1"/>
          <p:nvPr/>
        </p:nvSpPr>
        <p:spPr>
          <a:xfrm>
            <a:off x="8400287" y="3429000"/>
            <a:ext cx="1197828" cy="369332"/>
          </a:xfrm>
          <a:prstGeom prst="rect">
            <a:avLst/>
          </a:prstGeom>
          <a:noFill/>
        </p:spPr>
        <p:txBody>
          <a:bodyPr wrap="none" rtlCol="0">
            <a:spAutoFit/>
          </a:bodyPr>
          <a:lstStyle/>
          <a:p>
            <a:r>
              <a:rPr lang="es-ES_tradnl" dirty="0"/>
              <a:t>Todo LAC</a:t>
            </a:r>
          </a:p>
        </p:txBody>
      </p:sp>
      <p:pic>
        <p:nvPicPr>
          <p:cNvPr id="10" name="Picture 9" descr="A purple map of south america&#10;&#10;AI-generated content may be incorrect.">
            <a:extLst>
              <a:ext uri="{FF2B5EF4-FFF2-40B4-BE49-F238E27FC236}">
                <a16:creationId xmlns:a16="http://schemas.microsoft.com/office/drawing/2014/main" id="{BC199AD4-C762-DD9E-693C-C0737DFB4E5D}"/>
              </a:ext>
            </a:extLst>
          </p:cNvPr>
          <p:cNvPicPr>
            <a:picLocks noChangeAspect="1"/>
          </p:cNvPicPr>
          <p:nvPr/>
        </p:nvPicPr>
        <p:blipFill>
          <a:blip r:embed="rId2"/>
          <a:stretch>
            <a:fillRect/>
          </a:stretch>
        </p:blipFill>
        <p:spPr>
          <a:xfrm>
            <a:off x="2383972" y="807906"/>
            <a:ext cx="5780314" cy="5780314"/>
          </a:xfrm>
          <a:prstGeom prst="rect">
            <a:avLst/>
          </a:prstGeom>
        </p:spPr>
      </p:pic>
    </p:spTree>
    <p:extLst>
      <p:ext uri="{BB962C8B-B14F-4D97-AF65-F5344CB8AC3E}">
        <p14:creationId xmlns:p14="http://schemas.microsoft.com/office/powerpoint/2010/main" val="2747507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33C43E5D-5D90-9AA1-C4E7-B8A2D164D43C}"/>
              </a:ext>
            </a:extLst>
          </p:cNvPr>
          <p:cNvSpPr>
            <a:spLocks noGrp="1"/>
          </p:cNvSpPr>
          <p:nvPr>
            <p:ph type="body" orient="vert" sz="quarter" idx="17"/>
          </p:nvPr>
        </p:nvSpPr>
        <p:spPr/>
        <p:txBody>
          <a:bodyPr/>
          <a:lstStyle/>
          <a:p>
            <a:r>
              <a:rPr lang="es-419" sz="1200" dirty="0"/>
              <a:t>Ingresar calificaciones a través de Autoservicio </a:t>
            </a:r>
            <a:endParaRPr lang="es-419" dirty="0"/>
          </a:p>
        </p:txBody>
      </p:sp>
      <p:sp>
        <p:nvSpPr>
          <p:cNvPr id="13" name="Title 12"/>
          <p:cNvSpPr>
            <a:spLocks noGrp="1"/>
          </p:cNvSpPr>
          <p:nvPr>
            <p:ph type="title"/>
          </p:nvPr>
        </p:nvSpPr>
        <p:spPr>
          <a:xfrm>
            <a:off x="1007623" y="236522"/>
            <a:ext cx="10477497" cy="898555"/>
          </a:xfrm>
        </p:spPr>
        <p:txBody>
          <a:bodyPr/>
          <a:lstStyle/>
          <a:p>
            <a:r>
              <a:rPr lang="es-ES_tradnl" b="0" dirty="0" err="1">
                <a:solidFill>
                  <a:schemeClr val="bg2">
                    <a:lumMod val="25000"/>
                  </a:schemeClr>
                </a:solidFill>
              </a:rPr>
              <a:t>Overview</a:t>
            </a:r>
            <a:r>
              <a:rPr lang="es-ES_tradnl" b="0" dirty="0">
                <a:solidFill>
                  <a:schemeClr val="bg2">
                    <a:lumMod val="25000"/>
                  </a:schemeClr>
                </a:solidFill>
              </a:rPr>
              <a:t>: </a:t>
            </a:r>
            <a:r>
              <a:rPr lang="es-419" sz="3200" dirty="0"/>
              <a:t>Ingresar calificaciones a través de Autoservicio </a:t>
            </a:r>
            <a:br>
              <a:rPr lang="es-419" dirty="0"/>
            </a:br>
            <a:endParaRPr lang="es-ES_tradnl" b="1" dirty="0"/>
          </a:p>
        </p:txBody>
      </p:sp>
      <p:graphicFrame>
        <p:nvGraphicFramePr>
          <p:cNvPr id="5" name="Tabla 4">
            <a:extLst>
              <a:ext uri="{FF2B5EF4-FFF2-40B4-BE49-F238E27FC236}">
                <a16:creationId xmlns:a16="http://schemas.microsoft.com/office/drawing/2014/main" id="{C2FBF0DB-AA49-19BE-7699-FE95F7C4143B}"/>
              </a:ext>
            </a:extLst>
          </p:cNvPr>
          <p:cNvGraphicFramePr>
            <a:graphicFrameLocks noGrp="1"/>
          </p:cNvGraphicFramePr>
          <p:nvPr>
            <p:extLst>
              <p:ext uri="{D42A27DB-BD31-4B8C-83A1-F6EECF244321}">
                <p14:modId xmlns:p14="http://schemas.microsoft.com/office/powerpoint/2010/main" val="3047664972"/>
              </p:ext>
            </p:extLst>
          </p:nvPr>
        </p:nvGraphicFramePr>
        <p:xfrm>
          <a:off x="1007623" y="1260684"/>
          <a:ext cx="10620983" cy="4454316"/>
        </p:xfrm>
        <a:graphic>
          <a:graphicData uri="http://schemas.openxmlformats.org/drawingml/2006/table">
            <a:tbl>
              <a:tblPr firstRow="1" bandRow="1">
                <a:tableStyleId>{5C22544A-7EE6-4342-B048-85BDC9FD1C3A}</a:tableStyleId>
              </a:tblPr>
              <a:tblGrid>
                <a:gridCol w="1538964">
                  <a:extLst>
                    <a:ext uri="{9D8B030D-6E8A-4147-A177-3AD203B41FA5}">
                      <a16:colId xmlns:a16="http://schemas.microsoft.com/office/drawing/2014/main" val="34381708"/>
                    </a:ext>
                  </a:extLst>
                </a:gridCol>
                <a:gridCol w="9082019">
                  <a:extLst>
                    <a:ext uri="{9D8B030D-6E8A-4147-A177-3AD203B41FA5}">
                      <a16:colId xmlns:a16="http://schemas.microsoft.com/office/drawing/2014/main" val="1628494477"/>
                    </a:ext>
                  </a:extLst>
                </a:gridCol>
              </a:tblGrid>
              <a:tr h="540000">
                <a:tc>
                  <a:txBody>
                    <a:bodyPr/>
                    <a:lstStyle/>
                    <a:p>
                      <a:pPr algn="ctr">
                        <a:spcAft>
                          <a:spcPts val="0"/>
                        </a:spcAft>
                      </a:pPr>
                      <a:r>
                        <a:rPr lang="es-ES" sz="1200" dirty="0">
                          <a:effectLst/>
                        </a:rPr>
                        <a:t>Concepto</a:t>
                      </a:r>
                      <a:endParaRPr lang="es-CO" sz="12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200" dirty="0">
                          <a:effectLst/>
                        </a:rPr>
                        <a:t>Descripción</a:t>
                      </a:r>
                      <a:endParaRPr lang="es-CO" sz="12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379149428"/>
                  </a:ext>
                </a:extLst>
              </a:tr>
              <a:tr h="540000">
                <a:tc>
                  <a:txBody>
                    <a:bodyPr/>
                    <a:lstStyle/>
                    <a:p>
                      <a:pPr>
                        <a:spcAft>
                          <a:spcPts val="0"/>
                        </a:spcAft>
                      </a:pPr>
                      <a:r>
                        <a:rPr lang="es-ES" sz="1400" b="1" dirty="0">
                          <a:effectLst/>
                        </a:rPr>
                        <a:t>Número de Referencia de Curso (NRC)</a:t>
                      </a:r>
                      <a:endPar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_tradnl" sz="1300" dirty="0">
                          <a:solidFill>
                            <a:schemeClr val="tx1"/>
                          </a:solidFill>
                        </a:rPr>
                        <a:t>Es un </a:t>
                      </a:r>
                      <a:r>
                        <a:rPr lang="es-CO" sz="1300" dirty="0"/>
                        <a:t>valor numérico único, en un periodo, que identifica la oferta de un curso en un horario específico y con uno o varios docentes que lo dictan</a:t>
                      </a:r>
                      <a:r>
                        <a:rPr lang="es-419" sz="1300" dirty="0"/>
                        <a:t>.</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227877135"/>
                  </a:ext>
                </a:extLst>
              </a:tr>
              <a:tr h="596524">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Calificación</a:t>
                      </a:r>
                    </a:p>
                  </a:txBody>
                  <a:tcPr marL="36830" marR="36830" marT="36830" marB="36830" anchor="ctr"/>
                </a:tc>
                <a:tc>
                  <a:txBody>
                    <a:bodyPr/>
                    <a:lstStyle/>
                    <a:p>
                      <a:pPr algn="just">
                        <a:spcAft>
                          <a:spcPts val="0"/>
                        </a:spcAft>
                      </a:pPr>
                      <a:r>
                        <a:rPr lang="es-CO" sz="1300" dirty="0"/>
                        <a:t>Valoración cuantitativa de las competencias alcanzadas por el estudiante asignado a la actividad desarrolladas</a:t>
                      </a:r>
                      <a:r>
                        <a:rPr lang="es-CO" sz="1300" dirty="0">
                          <a:solidFill>
                            <a:schemeClr val="tx1"/>
                          </a:solidFill>
                        </a:rPr>
                        <a:t>.</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980877216"/>
                  </a:ext>
                </a:extLst>
              </a:tr>
              <a:tr h="655982">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Calificación Parcial</a:t>
                      </a:r>
                    </a:p>
                  </a:txBody>
                  <a:tcPr marL="36830" marR="36830" marT="36830" marB="36830" anchor="ctr"/>
                </a:tc>
                <a:tc>
                  <a:txBody>
                    <a:bodyPr/>
                    <a:lstStyle/>
                    <a:p>
                      <a:pPr algn="just">
                        <a:spcAft>
                          <a:spcPts val="0"/>
                        </a:spcAft>
                      </a:pPr>
                      <a:r>
                        <a:rPr lang="es-CO" sz="1300" dirty="0"/>
                        <a:t>Calificaciones obtenidas a lo largo del periodo académico por un estudiante en una asignatura.</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117023059"/>
                  </a:ext>
                </a:extLst>
              </a:tr>
              <a:tr h="626166">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Calificación Final</a:t>
                      </a:r>
                    </a:p>
                  </a:txBody>
                  <a:tcPr marL="36830" marR="36830" marT="36830" marB="36830" anchor="ctr"/>
                </a:tc>
                <a:tc>
                  <a:txBody>
                    <a:bodyPr/>
                    <a:lstStyle/>
                    <a:p>
                      <a:pPr algn="just">
                        <a:spcAft>
                          <a:spcPts val="0"/>
                        </a:spcAft>
                      </a:pPr>
                      <a:r>
                        <a:rPr lang="es-CO" sz="1300" dirty="0"/>
                        <a:t>Calificación final que obtiene un estudiante en una asignatura, que determina si ha aprobado o reprobado. Comúnmente es un promedio ponderado de las calificaciones parciales obtenidas a lo largo del periodo académico.</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324545965"/>
                  </a:ext>
                </a:extLst>
              </a:tr>
              <a:tr h="626165">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Componente de calificación</a:t>
                      </a:r>
                    </a:p>
                  </a:txBody>
                  <a:tcPr marL="36830" marR="36830" marT="36830" marB="36830" anchor="ctr"/>
                </a:tc>
                <a:tc>
                  <a:txBody>
                    <a:bodyPr/>
                    <a:lstStyle/>
                    <a:p>
                      <a:pPr algn="just">
                        <a:spcAft>
                          <a:spcPts val="0"/>
                        </a:spcAft>
                      </a:pPr>
                      <a:r>
                        <a:rPr lang="es-ES_tradnl" sz="1300" dirty="0"/>
                        <a:t>Elementos en los que se divide en plan de evaluación de un NRC para obtener la calificación de este.</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545342843"/>
                  </a:ext>
                </a:extLst>
              </a:tr>
              <a:tr h="695739">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Subcomponente de calificación</a:t>
                      </a:r>
                    </a:p>
                  </a:txBody>
                  <a:tcPr marL="36830" marR="36830" marT="36830" marB="36830" anchor="ctr"/>
                </a:tc>
                <a:tc>
                  <a:txBody>
                    <a:bodyPr/>
                    <a:lstStyle/>
                    <a:p>
                      <a:pPr algn="just">
                        <a:spcAft>
                          <a:spcPts val="0"/>
                        </a:spcAft>
                      </a:pPr>
                      <a:r>
                        <a:rPr lang="es-ES_tradnl" sz="1300" dirty="0"/>
                        <a:t>Un componente de calificación puede dividirse, a su vez, en varias evaluaciones para poder obtener su valoración.</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3242057708"/>
                  </a:ext>
                </a:extLst>
              </a:tr>
            </a:tbl>
          </a:graphicData>
        </a:graphic>
      </p:graphicFrame>
    </p:spTree>
    <p:extLst>
      <p:ext uri="{BB962C8B-B14F-4D97-AF65-F5344CB8AC3E}">
        <p14:creationId xmlns:p14="http://schemas.microsoft.com/office/powerpoint/2010/main" val="190034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419" dirty="0"/>
              <a:t>Ingresar calificaciones a través de Autoservicio </a:t>
            </a:r>
            <a:endParaRPr lang="es-ES_tradnl" dirty="0"/>
          </a:p>
        </p:txBody>
      </p:sp>
      <p:sp>
        <p:nvSpPr>
          <p:cNvPr id="2" name="Title 1"/>
          <p:cNvSpPr>
            <a:spLocks noGrp="1"/>
          </p:cNvSpPr>
          <p:nvPr>
            <p:ph type="title"/>
          </p:nvPr>
        </p:nvSpPr>
        <p:spPr/>
        <p:txBody>
          <a:bodyPr/>
          <a:lstStyle/>
          <a:p>
            <a:r>
              <a:rPr lang="es-ES_tradnl" dirty="0"/>
              <a:t>Configuraciones</a:t>
            </a:r>
          </a:p>
        </p:txBody>
      </p:sp>
      <p:sp>
        <p:nvSpPr>
          <p:cNvPr id="3" name="Marcador de texto 2">
            <a:extLst>
              <a:ext uri="{FF2B5EF4-FFF2-40B4-BE49-F238E27FC236}">
                <a16:creationId xmlns:a16="http://schemas.microsoft.com/office/drawing/2014/main" id="{04AA9394-E69C-C63E-8DAA-4B80F997EEAB}"/>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1001964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546D4-4A6B-B576-7A54-8289ED8DD7BE}"/>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DAAD3113-3667-841B-9885-67BCB9F45273}"/>
              </a:ext>
            </a:extLst>
          </p:cNvPr>
          <p:cNvSpPr>
            <a:spLocks noGrp="1"/>
          </p:cNvSpPr>
          <p:nvPr>
            <p:ph type="body" orient="vert" sz="quarter" idx="10"/>
          </p:nvPr>
        </p:nvSpPr>
        <p:spPr/>
        <p:txBody>
          <a:bodyPr/>
          <a:lstStyle/>
          <a:p>
            <a:r>
              <a:rPr lang="es-419" dirty="0"/>
              <a:t>Ingresar calificaciones a través de Autoservicio </a:t>
            </a:r>
            <a:endParaRPr lang="es-ES_tradnl" dirty="0"/>
          </a:p>
        </p:txBody>
      </p:sp>
      <p:sp>
        <p:nvSpPr>
          <p:cNvPr id="2" name="Title 1">
            <a:extLst>
              <a:ext uri="{FF2B5EF4-FFF2-40B4-BE49-F238E27FC236}">
                <a16:creationId xmlns:a16="http://schemas.microsoft.com/office/drawing/2014/main" id="{18A08905-F603-EEB1-CDD1-04F1361A4B7B}"/>
              </a:ext>
            </a:extLst>
          </p:cNvPr>
          <p:cNvSpPr>
            <a:spLocks noGrp="1"/>
          </p:cNvSpPr>
          <p:nvPr>
            <p:ph type="title"/>
          </p:nvPr>
        </p:nvSpPr>
        <p:spPr/>
        <p:txBody>
          <a:bodyPr/>
          <a:lstStyle/>
          <a:p>
            <a:r>
              <a:rPr lang="es-CO" dirty="0"/>
              <a:t>Razones de cambio de calificaciones </a:t>
            </a:r>
            <a:endParaRPr lang="es-ES_tradnl" dirty="0"/>
          </a:p>
        </p:txBody>
      </p:sp>
      <p:sp>
        <p:nvSpPr>
          <p:cNvPr id="3" name="Marcador de texto 2">
            <a:extLst>
              <a:ext uri="{FF2B5EF4-FFF2-40B4-BE49-F238E27FC236}">
                <a16:creationId xmlns:a16="http://schemas.microsoft.com/office/drawing/2014/main" id="{CB6D9D5F-6AEA-EA72-A59C-A505F30F851F}"/>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696578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94E54EE-A3DA-431E-44F4-FE45D3EA8E33}"/>
              </a:ext>
            </a:extLst>
          </p:cNvPr>
          <p:cNvPicPr>
            <a:picLocks noChangeAspect="1"/>
          </p:cNvPicPr>
          <p:nvPr/>
        </p:nvPicPr>
        <p:blipFill>
          <a:blip r:embed="rId3"/>
          <a:stretch>
            <a:fillRect/>
          </a:stretch>
        </p:blipFill>
        <p:spPr>
          <a:xfrm>
            <a:off x="853105" y="1231992"/>
            <a:ext cx="10739234" cy="5081410"/>
          </a:xfrm>
          <a:prstGeom prst="rect">
            <a:avLst/>
          </a:prstGeom>
        </p:spPr>
      </p:pic>
      <p:sp>
        <p:nvSpPr>
          <p:cNvPr id="2" name="Marcador de texto vertical 1">
            <a:extLst>
              <a:ext uri="{FF2B5EF4-FFF2-40B4-BE49-F238E27FC236}">
                <a16:creationId xmlns:a16="http://schemas.microsoft.com/office/drawing/2014/main" id="{23BA1EC3-F28D-706C-1D09-F75F6970B207}"/>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861398" y="324440"/>
            <a:ext cx="10477497" cy="898555"/>
          </a:xfrm>
        </p:spPr>
        <p:txBody>
          <a:bodyPr/>
          <a:lstStyle/>
          <a:p>
            <a:r>
              <a:rPr lang="es-ES_tradnl" dirty="0">
                <a:solidFill>
                  <a:schemeClr val="accent1"/>
                </a:solidFill>
              </a:rPr>
              <a:t> </a:t>
            </a:r>
            <a:r>
              <a:rPr lang="es-CO" dirty="0">
                <a:solidFill>
                  <a:schemeClr val="accent1"/>
                </a:solidFill>
              </a:rPr>
              <a:t>Razones de cambio de calificaciones (</a:t>
            </a:r>
            <a:r>
              <a:rPr lang="es-419" b="1" dirty="0">
                <a:solidFill>
                  <a:schemeClr val="accent1"/>
                </a:solidFill>
                <a:effectLst/>
              </a:rPr>
              <a:t>STVGCHG</a:t>
            </a:r>
            <a:r>
              <a:rPr lang="es-CO" dirty="0">
                <a:solidFill>
                  <a:schemeClr val="accent1"/>
                </a:solidFill>
              </a:rPr>
              <a:t>)</a:t>
            </a:r>
            <a:endParaRPr lang="es-ES_tradnl" b="1" dirty="0">
              <a:solidFill>
                <a:schemeClr val="accent1"/>
              </a:solidFill>
            </a:endParaRPr>
          </a:p>
        </p:txBody>
      </p:sp>
      <p:sp>
        <p:nvSpPr>
          <p:cNvPr id="8" name="Rectángulo redondeado 5">
            <a:extLst>
              <a:ext uri="{FF2B5EF4-FFF2-40B4-BE49-F238E27FC236}">
                <a16:creationId xmlns:a16="http://schemas.microsoft.com/office/drawing/2014/main" id="{5C365D31-D788-0F72-0C35-969C91A0AC7A}"/>
              </a:ext>
            </a:extLst>
          </p:cNvPr>
          <p:cNvSpPr/>
          <p:nvPr/>
        </p:nvSpPr>
        <p:spPr>
          <a:xfrm>
            <a:off x="1383133" y="4323522"/>
            <a:ext cx="9891224" cy="1474163"/>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ES_tradnl" sz="1200" dirty="0"/>
              <a:t>Los códigos de razón de cambio de calificaciones  se definen en la página </a:t>
            </a:r>
            <a:r>
              <a:rPr lang="es-419" sz="1200" b="1" dirty="0">
                <a:effectLst/>
              </a:rPr>
              <a:t>STVGCHG</a:t>
            </a:r>
            <a:r>
              <a:rPr lang="es-ES_tradnl" sz="1200" dirty="0"/>
              <a:t>. Si desea crear un nuevo código siga los pasos que a continuación se indican:</a:t>
            </a:r>
          </a:p>
          <a:p>
            <a:pPr marL="228600" indent="-228600">
              <a:buFont typeface="+mj-lt"/>
              <a:buAutoNum type="arabicPeriod"/>
            </a:pPr>
            <a:r>
              <a:rPr lang="es-ES_tradnl" sz="1200" dirty="0"/>
              <a:t>Para ingresar un nuevo código debe hacer clic en </a:t>
            </a:r>
            <a:r>
              <a:rPr lang="es-ES_tradnl" sz="1200" b="1" dirty="0"/>
              <a:t>Insertar</a:t>
            </a:r>
          </a:p>
          <a:p>
            <a:pPr marL="228600" indent="-228600">
              <a:buFont typeface="+mj-lt"/>
              <a:buAutoNum type="arabicPeriod"/>
            </a:pPr>
            <a:r>
              <a:rPr lang="es-ES_tradnl" sz="1200" dirty="0"/>
              <a:t>Ingrese el </a:t>
            </a:r>
            <a:r>
              <a:rPr lang="es-ES_tradnl" sz="1200" b="1" dirty="0"/>
              <a:t>código</a:t>
            </a:r>
            <a:r>
              <a:rPr lang="es-ES_tradnl" sz="1200" dirty="0"/>
              <a:t> para la razón de cambio </a:t>
            </a:r>
          </a:p>
          <a:p>
            <a:pPr marL="228600" indent="-228600">
              <a:buFont typeface="+mj-lt"/>
              <a:buAutoNum type="arabicPeriod"/>
            </a:pPr>
            <a:r>
              <a:rPr lang="es-ES_tradnl" sz="1200" dirty="0"/>
              <a:t>Incorpore la </a:t>
            </a:r>
            <a:r>
              <a:rPr lang="es-ES_tradnl" sz="1200" b="1" dirty="0"/>
              <a:t>Descripción</a:t>
            </a:r>
            <a:r>
              <a:rPr lang="es-ES_tradnl" sz="1200" dirty="0"/>
              <a:t> del código correspondiente</a:t>
            </a:r>
          </a:p>
          <a:p>
            <a:pPr marL="228600" indent="-228600">
              <a:buFont typeface="+mj-lt"/>
              <a:buAutoNum type="arabicPeriod"/>
            </a:pPr>
            <a:r>
              <a:rPr lang="es-CO" sz="1200" dirty="0"/>
              <a:t>Ingrese el código y descripción del </a:t>
            </a:r>
            <a:r>
              <a:rPr lang="es-CO" sz="1200" b="1" dirty="0"/>
              <a:t>atributo</a:t>
            </a:r>
            <a:r>
              <a:rPr lang="es-CO" sz="1200" dirty="0"/>
              <a:t> de razón de cambio requerido para el procesamiento de libro de calificación electrónico.</a:t>
            </a:r>
            <a:endParaRPr lang="es-ES_tradnl" sz="1200" dirty="0"/>
          </a:p>
          <a:p>
            <a:pPr marL="228600" indent="-228600">
              <a:buFont typeface="+mj-lt"/>
              <a:buAutoNum type="arabicPeriod"/>
            </a:pPr>
            <a:r>
              <a:rPr lang="es-ES_tradnl" sz="1200" b="1" dirty="0"/>
              <a:t>Guarde</a:t>
            </a:r>
            <a:r>
              <a:rPr lang="es-ES_tradnl" sz="1200" dirty="0"/>
              <a:t> la información</a:t>
            </a:r>
          </a:p>
        </p:txBody>
      </p:sp>
      <p:sp>
        <p:nvSpPr>
          <p:cNvPr id="5" name="Rectángulo 4">
            <a:extLst>
              <a:ext uri="{FF2B5EF4-FFF2-40B4-BE49-F238E27FC236}">
                <a16:creationId xmlns:a16="http://schemas.microsoft.com/office/drawing/2014/main" id="{6F2013EE-46B9-C4DD-B459-AB845E83A9D6}"/>
              </a:ext>
            </a:extLst>
          </p:cNvPr>
          <p:cNvSpPr/>
          <p:nvPr/>
        </p:nvSpPr>
        <p:spPr>
          <a:xfrm>
            <a:off x="10888720" y="1661736"/>
            <a:ext cx="237744"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CuadroTexto 5">
            <a:extLst>
              <a:ext uri="{FF2B5EF4-FFF2-40B4-BE49-F238E27FC236}">
                <a16:creationId xmlns:a16="http://schemas.microsoft.com/office/drawing/2014/main" id="{3C2ECC01-59B8-861F-7327-99A7E847FB94}"/>
              </a:ext>
            </a:extLst>
          </p:cNvPr>
          <p:cNvSpPr txBox="1"/>
          <p:nvPr/>
        </p:nvSpPr>
        <p:spPr>
          <a:xfrm>
            <a:off x="10352878" y="1661736"/>
            <a:ext cx="301753" cy="215444"/>
          </a:xfrm>
          <a:prstGeom prst="rect">
            <a:avLst/>
          </a:prstGeom>
          <a:solidFill>
            <a:schemeClr val="accent1"/>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9" name="CuadroTexto 8">
            <a:extLst>
              <a:ext uri="{FF2B5EF4-FFF2-40B4-BE49-F238E27FC236}">
                <a16:creationId xmlns:a16="http://schemas.microsoft.com/office/drawing/2014/main" id="{FA97A25A-2F57-C4FD-30F2-9768EA11FFDF}"/>
              </a:ext>
            </a:extLst>
          </p:cNvPr>
          <p:cNvSpPr txBox="1"/>
          <p:nvPr/>
        </p:nvSpPr>
        <p:spPr>
          <a:xfrm>
            <a:off x="551352" y="1999016"/>
            <a:ext cx="301753" cy="215444"/>
          </a:xfrm>
          <a:prstGeom prst="rect">
            <a:avLst/>
          </a:prstGeom>
          <a:solidFill>
            <a:schemeClr val="accent1"/>
          </a:solidFill>
        </p:spPr>
        <p:txBody>
          <a:bodyPr wrap="square" rtlCol="0">
            <a:spAutoFit/>
          </a:bodyPr>
          <a:lstStyle/>
          <a:p>
            <a:r>
              <a:rPr lang="es-CO" sz="800" b="1" dirty="0">
                <a:solidFill>
                  <a:schemeClr val="bg1"/>
                </a:solidFill>
              </a:rPr>
              <a:t>2</a:t>
            </a:r>
            <a:endParaRPr lang="en-US" sz="800" b="1" dirty="0">
              <a:solidFill>
                <a:schemeClr val="bg1"/>
              </a:solidFill>
            </a:endParaRPr>
          </a:p>
        </p:txBody>
      </p:sp>
      <p:sp>
        <p:nvSpPr>
          <p:cNvPr id="12" name="CuadroTexto 11">
            <a:extLst>
              <a:ext uri="{FF2B5EF4-FFF2-40B4-BE49-F238E27FC236}">
                <a16:creationId xmlns:a16="http://schemas.microsoft.com/office/drawing/2014/main" id="{8477C030-BD76-2C65-DAAA-1C79347D85C5}"/>
              </a:ext>
            </a:extLst>
          </p:cNvPr>
          <p:cNvSpPr txBox="1"/>
          <p:nvPr/>
        </p:nvSpPr>
        <p:spPr>
          <a:xfrm>
            <a:off x="2232495" y="2048359"/>
            <a:ext cx="301753" cy="215444"/>
          </a:xfrm>
          <a:prstGeom prst="rect">
            <a:avLst/>
          </a:prstGeom>
          <a:solidFill>
            <a:schemeClr val="accent1"/>
          </a:solidFill>
        </p:spPr>
        <p:txBody>
          <a:bodyPr wrap="square" rtlCol="0">
            <a:spAutoFit/>
          </a:bodyPr>
          <a:lstStyle/>
          <a:p>
            <a:r>
              <a:rPr lang="en-US" sz="800" b="1" dirty="0">
                <a:solidFill>
                  <a:schemeClr val="bg1"/>
                </a:solidFill>
              </a:rPr>
              <a:t>3</a:t>
            </a:r>
          </a:p>
        </p:txBody>
      </p:sp>
      <p:sp>
        <p:nvSpPr>
          <p:cNvPr id="14" name="Flecha: hacia la izquierda 13">
            <a:extLst>
              <a:ext uri="{FF2B5EF4-FFF2-40B4-BE49-F238E27FC236}">
                <a16:creationId xmlns:a16="http://schemas.microsoft.com/office/drawing/2014/main" id="{BD032F2C-2A07-BD64-A917-1463F5AE887F}"/>
              </a:ext>
            </a:extLst>
          </p:cNvPr>
          <p:cNvSpPr/>
          <p:nvPr/>
        </p:nvSpPr>
        <p:spPr>
          <a:xfrm>
            <a:off x="2760628" y="1723738"/>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1B4A9A05-5F4E-23AD-FEB4-F22FCEA6DF26}"/>
              </a:ext>
            </a:extLst>
          </p:cNvPr>
          <p:cNvSpPr txBox="1"/>
          <p:nvPr/>
        </p:nvSpPr>
        <p:spPr>
          <a:xfrm>
            <a:off x="10856715" y="6064477"/>
            <a:ext cx="301753" cy="215444"/>
          </a:xfrm>
          <a:prstGeom prst="rect">
            <a:avLst/>
          </a:prstGeom>
          <a:solidFill>
            <a:schemeClr val="accent1"/>
          </a:solidFill>
        </p:spPr>
        <p:txBody>
          <a:bodyPr wrap="square" rtlCol="0">
            <a:spAutoFit/>
          </a:bodyPr>
          <a:lstStyle/>
          <a:p>
            <a:r>
              <a:rPr lang="es-CO" sz="800" b="1" dirty="0">
                <a:solidFill>
                  <a:schemeClr val="bg1"/>
                </a:solidFill>
              </a:rPr>
              <a:t>5</a:t>
            </a:r>
            <a:endParaRPr lang="en-US" sz="800" b="1" dirty="0">
              <a:solidFill>
                <a:schemeClr val="bg1"/>
              </a:solidFill>
            </a:endParaRPr>
          </a:p>
        </p:txBody>
      </p:sp>
      <p:sp>
        <p:nvSpPr>
          <p:cNvPr id="19" name="CuadroTexto 18">
            <a:extLst>
              <a:ext uri="{FF2B5EF4-FFF2-40B4-BE49-F238E27FC236}">
                <a16:creationId xmlns:a16="http://schemas.microsoft.com/office/drawing/2014/main" id="{355C2F22-3ED5-A13D-BDE8-49BC8511E759}"/>
              </a:ext>
            </a:extLst>
          </p:cNvPr>
          <p:cNvSpPr txBox="1"/>
          <p:nvPr/>
        </p:nvSpPr>
        <p:spPr>
          <a:xfrm>
            <a:off x="2656000" y="2200929"/>
            <a:ext cx="301753" cy="215444"/>
          </a:xfrm>
          <a:prstGeom prst="rect">
            <a:avLst/>
          </a:prstGeom>
          <a:solidFill>
            <a:schemeClr val="accent1"/>
          </a:solidFill>
        </p:spPr>
        <p:txBody>
          <a:bodyPr wrap="square" rtlCol="0">
            <a:spAutoFit/>
          </a:bodyPr>
          <a:lstStyle/>
          <a:p>
            <a:r>
              <a:rPr lang="en-US" sz="800" b="1" dirty="0">
                <a:solidFill>
                  <a:schemeClr val="bg1"/>
                </a:solidFill>
              </a:rPr>
              <a:t>4</a:t>
            </a:r>
          </a:p>
        </p:txBody>
      </p:sp>
    </p:spTree>
    <p:extLst>
      <p:ext uri="{BB962C8B-B14F-4D97-AF65-F5344CB8AC3E}">
        <p14:creationId xmlns:p14="http://schemas.microsoft.com/office/powerpoint/2010/main" val="293615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55F8610-A1EB-7D05-791F-1950B1D5FE11}"/>
              </a:ext>
            </a:extLst>
          </p:cNvPr>
          <p:cNvPicPr>
            <a:picLocks noChangeAspect="1"/>
          </p:cNvPicPr>
          <p:nvPr/>
        </p:nvPicPr>
        <p:blipFill>
          <a:blip r:embed="rId3"/>
          <a:stretch>
            <a:fillRect/>
          </a:stretch>
        </p:blipFill>
        <p:spPr>
          <a:xfrm>
            <a:off x="853105" y="1231992"/>
            <a:ext cx="10739234" cy="5081410"/>
          </a:xfrm>
          <a:prstGeom prst="rect">
            <a:avLst/>
          </a:prstGeom>
        </p:spPr>
      </p:pic>
      <p:sp>
        <p:nvSpPr>
          <p:cNvPr id="2" name="Marcador de texto vertical 1">
            <a:extLst>
              <a:ext uri="{FF2B5EF4-FFF2-40B4-BE49-F238E27FC236}">
                <a16:creationId xmlns:a16="http://schemas.microsoft.com/office/drawing/2014/main" id="{23BA1EC3-F28D-706C-1D09-F75F6970B207}"/>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861398" y="324440"/>
            <a:ext cx="10477497" cy="898555"/>
          </a:xfrm>
        </p:spPr>
        <p:txBody>
          <a:bodyPr/>
          <a:lstStyle/>
          <a:p>
            <a:r>
              <a:rPr lang="es-ES_tradnl" dirty="0">
                <a:solidFill>
                  <a:schemeClr val="accent1"/>
                </a:solidFill>
              </a:rPr>
              <a:t> </a:t>
            </a:r>
            <a:r>
              <a:rPr lang="es-CO" dirty="0">
                <a:solidFill>
                  <a:schemeClr val="accent1"/>
                </a:solidFill>
              </a:rPr>
              <a:t>Razones de cambio de calificaciones (</a:t>
            </a:r>
            <a:r>
              <a:rPr lang="es-419" b="1" dirty="0">
                <a:solidFill>
                  <a:schemeClr val="accent1"/>
                </a:solidFill>
                <a:effectLst/>
              </a:rPr>
              <a:t>STVGCHG</a:t>
            </a:r>
            <a:r>
              <a:rPr lang="es-CO" dirty="0">
                <a:solidFill>
                  <a:schemeClr val="accent1"/>
                </a:solidFill>
              </a:rPr>
              <a:t>)</a:t>
            </a:r>
            <a:endParaRPr lang="es-ES_tradnl" b="1" dirty="0">
              <a:solidFill>
                <a:schemeClr val="accent1"/>
              </a:solidFill>
            </a:endParaRPr>
          </a:p>
        </p:txBody>
      </p:sp>
      <p:sp>
        <p:nvSpPr>
          <p:cNvPr id="8" name="Rectángulo redondeado 5">
            <a:extLst>
              <a:ext uri="{FF2B5EF4-FFF2-40B4-BE49-F238E27FC236}">
                <a16:creationId xmlns:a16="http://schemas.microsoft.com/office/drawing/2014/main" id="{5C365D31-D788-0F72-0C35-969C91A0AC7A}"/>
              </a:ext>
            </a:extLst>
          </p:cNvPr>
          <p:cNvSpPr/>
          <p:nvPr/>
        </p:nvSpPr>
        <p:spPr>
          <a:xfrm>
            <a:off x="1383133" y="3776870"/>
            <a:ext cx="9891224" cy="2211769"/>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342900" indent="-342900" algn="just">
              <a:buFont typeface="+mj-lt"/>
              <a:buAutoNum type="arabicPeriod" startAt="6"/>
            </a:pPr>
            <a:r>
              <a:rPr lang="es-CO" sz="1100" dirty="0"/>
              <a:t>Active las casillas que se indican a continuación, según corresponda:</a:t>
            </a:r>
            <a:endParaRPr lang="es-ES_tradnl" sz="1100" b="1" dirty="0"/>
          </a:p>
          <a:p>
            <a:pPr marL="800100" lvl="1" indent="-342900" algn="just">
              <a:buFont typeface="Arial" panose="020B0604020202020204" pitchFamily="34" charset="0"/>
              <a:buChar char="•"/>
            </a:pPr>
            <a:r>
              <a:rPr lang="es-CO" sz="1100" b="1" dirty="0"/>
              <a:t>Permitir duplicados</a:t>
            </a:r>
            <a:r>
              <a:rPr lang="es-CO" sz="1100" dirty="0"/>
              <a:t>: Active la casilla si el código de razón de cambio puede usarse más de una vez para calificar a un alumno en un NRC.</a:t>
            </a:r>
          </a:p>
          <a:p>
            <a:pPr marL="800100" lvl="1" indent="-342900" algn="just">
              <a:buFont typeface="Arial" panose="020B0604020202020204" pitchFamily="34" charset="0"/>
              <a:buChar char="•"/>
            </a:pPr>
            <a:r>
              <a:rPr lang="es-ES_tradnl" sz="1100" b="1" dirty="0"/>
              <a:t>Definitivo</a:t>
            </a:r>
            <a:r>
              <a:rPr lang="es-ES_tradnl" sz="1100" dirty="0"/>
              <a:t>: </a:t>
            </a:r>
            <a:r>
              <a:rPr lang="es-CO" sz="1100" dirty="0"/>
              <a:t>Active la casilla si el código correspondiente no debe sobrescribirse por un cálculo automático</a:t>
            </a:r>
            <a:r>
              <a:rPr lang="es-ES_tradnl" sz="1100" dirty="0"/>
              <a:t>.</a:t>
            </a:r>
          </a:p>
          <a:p>
            <a:pPr marL="800100" lvl="1" indent="-342900" algn="just">
              <a:buFont typeface="Arial" panose="020B0604020202020204" pitchFamily="34" charset="0"/>
              <a:buChar char="•"/>
            </a:pPr>
            <a:r>
              <a:rPr lang="es-CO" sz="1100" b="1" dirty="0"/>
              <a:t>Calculado</a:t>
            </a:r>
            <a:r>
              <a:rPr lang="es-CO" sz="1100" dirty="0"/>
              <a:t>: Active la casilla si el código se usará para registrar el resultado de un cálculo automático de calificaciones. Una razón con este indicador seleccionado no se puede seleccionar por los usuarios</a:t>
            </a:r>
            <a:r>
              <a:rPr lang="es-ES_tradnl" sz="1100" dirty="0"/>
              <a:t>.</a:t>
            </a:r>
            <a:r>
              <a:rPr lang="es-CO" sz="1100" dirty="0"/>
              <a:t> </a:t>
            </a:r>
          </a:p>
          <a:p>
            <a:pPr marL="800100" lvl="1" indent="-342900" algn="just">
              <a:buFont typeface="Arial" panose="020B0604020202020204" pitchFamily="34" charset="0"/>
              <a:buChar char="•"/>
            </a:pPr>
            <a:r>
              <a:rPr lang="es-CO" sz="1100" b="1" dirty="0"/>
              <a:t>Autoservicio</a:t>
            </a:r>
            <a:r>
              <a:rPr lang="es-CO" sz="1100" dirty="0"/>
              <a:t>: active la casilla si el código de razón de cambio puede ser utilizado por el profesor en la carga de calificaciones de curso por el autoservicio.</a:t>
            </a:r>
          </a:p>
          <a:p>
            <a:pPr marL="800100" lvl="1" indent="-342900" algn="just">
              <a:buFont typeface="Arial" panose="020B0604020202020204" pitchFamily="34" charset="0"/>
              <a:buChar char="•"/>
            </a:pPr>
            <a:r>
              <a:rPr lang="es-CO" sz="1100" b="1" dirty="0"/>
              <a:t>Historia Académica</a:t>
            </a:r>
            <a:r>
              <a:rPr lang="es-CO" sz="1100" dirty="0"/>
              <a:t>: active la casilla si el código de razón de cambio se va a usar para registrar un cambio de calificación en la Historia Académica.</a:t>
            </a:r>
          </a:p>
          <a:p>
            <a:pPr marL="800100" lvl="1" indent="-342900" algn="just">
              <a:buFont typeface="Arial" panose="020B0604020202020204" pitchFamily="34" charset="0"/>
              <a:buChar char="•"/>
            </a:pPr>
            <a:r>
              <a:rPr lang="es-CO" sz="1100" b="1" dirty="0"/>
              <a:t>Reestimación</a:t>
            </a:r>
            <a:r>
              <a:rPr lang="es-CO" sz="1100" dirty="0"/>
              <a:t>: No aplica para el UAI.</a:t>
            </a:r>
          </a:p>
          <a:p>
            <a:pPr marL="800100" lvl="1" indent="-342900" algn="just">
              <a:buFont typeface="Arial" panose="020B0604020202020204" pitchFamily="34" charset="0"/>
              <a:buChar char="•"/>
            </a:pPr>
            <a:r>
              <a:rPr lang="es-CO" sz="1100" b="1" dirty="0"/>
              <a:t>Indicador de exención</a:t>
            </a:r>
            <a:r>
              <a:rPr lang="es-CO" sz="1100" dirty="0"/>
              <a:t>: No aplica para el UAI.</a:t>
            </a:r>
          </a:p>
          <a:p>
            <a:pPr marL="357188" indent="-342900" algn="just">
              <a:buFont typeface="+mj-lt"/>
              <a:buAutoNum type="arabicPeriod" startAt="7"/>
            </a:pPr>
            <a:r>
              <a:rPr lang="es-CO" sz="1100" b="1" dirty="0"/>
              <a:t>Guarde</a:t>
            </a:r>
            <a:r>
              <a:rPr lang="es-CO" sz="1100" dirty="0"/>
              <a:t> la información</a:t>
            </a:r>
          </a:p>
        </p:txBody>
      </p:sp>
      <p:sp>
        <p:nvSpPr>
          <p:cNvPr id="5" name="Rectángulo 4">
            <a:extLst>
              <a:ext uri="{FF2B5EF4-FFF2-40B4-BE49-F238E27FC236}">
                <a16:creationId xmlns:a16="http://schemas.microsoft.com/office/drawing/2014/main" id="{6F2013EE-46B9-C4DD-B459-AB845E83A9D6}"/>
              </a:ext>
            </a:extLst>
          </p:cNvPr>
          <p:cNvSpPr/>
          <p:nvPr/>
        </p:nvSpPr>
        <p:spPr>
          <a:xfrm>
            <a:off x="4704176" y="1892463"/>
            <a:ext cx="6844106" cy="74940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CuadroTexto 5">
            <a:extLst>
              <a:ext uri="{FF2B5EF4-FFF2-40B4-BE49-F238E27FC236}">
                <a16:creationId xmlns:a16="http://schemas.microsoft.com/office/drawing/2014/main" id="{3C2ECC01-59B8-861F-7327-99A7E847FB94}"/>
              </a:ext>
            </a:extLst>
          </p:cNvPr>
          <p:cNvSpPr txBox="1"/>
          <p:nvPr/>
        </p:nvSpPr>
        <p:spPr>
          <a:xfrm>
            <a:off x="4280671" y="2139787"/>
            <a:ext cx="301753" cy="215444"/>
          </a:xfrm>
          <a:prstGeom prst="rect">
            <a:avLst/>
          </a:prstGeom>
          <a:solidFill>
            <a:schemeClr val="accent1"/>
          </a:solidFill>
        </p:spPr>
        <p:txBody>
          <a:bodyPr wrap="square" rtlCol="0">
            <a:spAutoFit/>
          </a:bodyPr>
          <a:lstStyle/>
          <a:p>
            <a:r>
              <a:rPr lang="es-CO" sz="800" b="1" dirty="0">
                <a:solidFill>
                  <a:schemeClr val="bg1"/>
                </a:solidFill>
              </a:rPr>
              <a:t>6</a:t>
            </a:r>
            <a:endParaRPr lang="en-US" sz="800" b="1" dirty="0">
              <a:solidFill>
                <a:schemeClr val="bg1"/>
              </a:solidFill>
            </a:endParaRPr>
          </a:p>
        </p:txBody>
      </p:sp>
      <p:sp>
        <p:nvSpPr>
          <p:cNvPr id="15" name="CuadroTexto 14">
            <a:extLst>
              <a:ext uri="{FF2B5EF4-FFF2-40B4-BE49-F238E27FC236}">
                <a16:creationId xmlns:a16="http://schemas.microsoft.com/office/drawing/2014/main" id="{1B4A9A05-5F4E-23AD-FEB4-F22FCEA6DF26}"/>
              </a:ext>
            </a:extLst>
          </p:cNvPr>
          <p:cNvSpPr txBox="1"/>
          <p:nvPr/>
        </p:nvSpPr>
        <p:spPr>
          <a:xfrm>
            <a:off x="10764476" y="6043298"/>
            <a:ext cx="301753" cy="215444"/>
          </a:xfrm>
          <a:prstGeom prst="rect">
            <a:avLst/>
          </a:prstGeom>
          <a:solidFill>
            <a:schemeClr val="accent1"/>
          </a:solidFill>
        </p:spPr>
        <p:txBody>
          <a:bodyPr wrap="square" rtlCol="0">
            <a:spAutoFit/>
          </a:bodyPr>
          <a:lstStyle/>
          <a:p>
            <a:r>
              <a:rPr lang="es-CO" sz="800" b="1" dirty="0">
                <a:solidFill>
                  <a:schemeClr val="bg1"/>
                </a:solidFill>
              </a:rPr>
              <a:t>7</a:t>
            </a:r>
            <a:endParaRPr lang="en-US" sz="800" b="1" dirty="0">
              <a:solidFill>
                <a:schemeClr val="bg1"/>
              </a:solidFill>
            </a:endParaRPr>
          </a:p>
        </p:txBody>
      </p:sp>
    </p:spTree>
    <p:extLst>
      <p:ext uri="{BB962C8B-B14F-4D97-AF65-F5344CB8AC3E}">
        <p14:creationId xmlns:p14="http://schemas.microsoft.com/office/powerpoint/2010/main" val="1677307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49E6A-CA1D-E6ED-3853-C8CD0EA6E414}"/>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82235345-30E9-8946-37C2-7B0C26AAB10B}"/>
              </a:ext>
            </a:extLst>
          </p:cNvPr>
          <p:cNvSpPr>
            <a:spLocks noGrp="1"/>
          </p:cNvSpPr>
          <p:nvPr>
            <p:ph type="body" orient="vert" sz="quarter" idx="10"/>
          </p:nvPr>
        </p:nvSpPr>
        <p:spPr/>
        <p:txBody>
          <a:bodyPr/>
          <a:lstStyle/>
          <a:p>
            <a:r>
              <a:rPr lang="es-419" dirty="0"/>
              <a:t>Ingresar calificaciones a través de Autoservicio </a:t>
            </a:r>
            <a:endParaRPr lang="es-ES_tradnl" dirty="0"/>
          </a:p>
        </p:txBody>
      </p:sp>
      <p:sp>
        <p:nvSpPr>
          <p:cNvPr id="3" name="Marcador de texto 2">
            <a:extLst>
              <a:ext uri="{FF2B5EF4-FFF2-40B4-BE49-F238E27FC236}">
                <a16:creationId xmlns:a16="http://schemas.microsoft.com/office/drawing/2014/main" id="{8218E1F6-B831-C0AF-E8FB-08BADCFA853D}"/>
              </a:ext>
            </a:extLst>
          </p:cNvPr>
          <p:cNvSpPr>
            <a:spLocks noGrp="1"/>
          </p:cNvSpPr>
          <p:nvPr>
            <p:ph type="body" sz="quarter" idx="18"/>
          </p:nvPr>
        </p:nvSpPr>
        <p:spPr/>
        <p:txBody>
          <a:bodyPr/>
          <a:lstStyle/>
          <a:p>
            <a:r>
              <a:rPr lang="es-CO" dirty="0"/>
              <a:t>Los NRC ya deben estar creados previamente en SSASECT y deben tener el docente asignado</a:t>
            </a:r>
            <a:endParaRPr lang="es-ES_tradnl" dirty="0"/>
          </a:p>
          <a:p>
            <a:endParaRPr lang="es-419" dirty="0"/>
          </a:p>
        </p:txBody>
      </p:sp>
      <p:sp>
        <p:nvSpPr>
          <p:cNvPr id="5" name="Title 4">
            <a:extLst>
              <a:ext uri="{FF2B5EF4-FFF2-40B4-BE49-F238E27FC236}">
                <a16:creationId xmlns:a16="http://schemas.microsoft.com/office/drawing/2014/main" id="{4837472B-51E3-EFCB-A3A3-C050FB7A52F6}"/>
              </a:ext>
            </a:extLst>
          </p:cNvPr>
          <p:cNvSpPr>
            <a:spLocks noGrp="1"/>
          </p:cNvSpPr>
          <p:nvPr>
            <p:ph type="title"/>
          </p:nvPr>
        </p:nvSpPr>
        <p:spPr/>
        <p:txBody>
          <a:bodyPr/>
          <a:lstStyle/>
          <a:p>
            <a:r>
              <a:rPr lang="es-CO" dirty="0"/>
              <a:t>Programación Académica</a:t>
            </a:r>
            <a:endParaRPr lang="es-419" dirty="0"/>
          </a:p>
        </p:txBody>
      </p:sp>
    </p:spTree>
    <p:extLst>
      <p:ext uri="{BB962C8B-B14F-4D97-AF65-F5344CB8AC3E}">
        <p14:creationId xmlns:p14="http://schemas.microsoft.com/office/powerpoint/2010/main" val="2869558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553D02E-D1C7-9925-47D3-9EB9EA8BD5CD}"/>
              </a:ext>
            </a:extLst>
          </p:cNvPr>
          <p:cNvPicPr>
            <a:picLocks noChangeAspect="1"/>
          </p:cNvPicPr>
          <p:nvPr/>
        </p:nvPicPr>
        <p:blipFill>
          <a:blip r:embed="rId3"/>
          <a:stretch>
            <a:fillRect/>
          </a:stretch>
        </p:blipFill>
        <p:spPr>
          <a:xfrm>
            <a:off x="840121" y="1187468"/>
            <a:ext cx="10511757" cy="4984731"/>
          </a:xfrm>
          <a:prstGeom prst="rect">
            <a:avLst/>
          </a:prstGeom>
        </p:spPr>
      </p:pic>
      <p:sp>
        <p:nvSpPr>
          <p:cNvPr id="2" name="Marcador de texto vertical 1">
            <a:extLst>
              <a:ext uri="{FF2B5EF4-FFF2-40B4-BE49-F238E27FC236}">
                <a16:creationId xmlns:a16="http://schemas.microsoft.com/office/drawing/2014/main" id="{23BA1EC3-F28D-706C-1D09-F75F6970B207}"/>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861398" y="324440"/>
            <a:ext cx="10477497" cy="898555"/>
          </a:xfrm>
        </p:spPr>
        <p:txBody>
          <a:bodyPr/>
          <a:lstStyle/>
          <a:p>
            <a:r>
              <a:rPr lang="es-ES_tradnl" dirty="0">
                <a:solidFill>
                  <a:schemeClr val="accent1"/>
                </a:solidFill>
              </a:rPr>
              <a:t> </a:t>
            </a:r>
            <a:r>
              <a:rPr lang="es-CO" dirty="0">
                <a:solidFill>
                  <a:schemeClr val="accent1"/>
                </a:solidFill>
              </a:rPr>
              <a:t>Programación Académica (</a:t>
            </a:r>
            <a:r>
              <a:rPr lang="es-419" b="1" dirty="0">
                <a:solidFill>
                  <a:schemeClr val="accent1"/>
                </a:solidFill>
                <a:effectLst/>
              </a:rPr>
              <a:t>SSASECT</a:t>
            </a:r>
            <a:r>
              <a:rPr lang="es-CO" dirty="0">
                <a:solidFill>
                  <a:schemeClr val="accent1"/>
                </a:solidFill>
              </a:rPr>
              <a:t>)</a:t>
            </a:r>
            <a:endParaRPr lang="es-ES_tradnl" b="1" dirty="0">
              <a:solidFill>
                <a:schemeClr val="accent1"/>
              </a:solidFill>
            </a:endParaRPr>
          </a:p>
        </p:txBody>
      </p:sp>
      <p:sp>
        <p:nvSpPr>
          <p:cNvPr id="8" name="Rectángulo redondeado 5">
            <a:extLst>
              <a:ext uri="{FF2B5EF4-FFF2-40B4-BE49-F238E27FC236}">
                <a16:creationId xmlns:a16="http://schemas.microsoft.com/office/drawing/2014/main" id="{5C365D31-D788-0F72-0C35-969C91A0AC7A}"/>
              </a:ext>
            </a:extLst>
          </p:cNvPr>
          <p:cNvSpPr/>
          <p:nvPr/>
        </p:nvSpPr>
        <p:spPr>
          <a:xfrm>
            <a:off x="3361021" y="3796747"/>
            <a:ext cx="4908337" cy="898555"/>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a:r>
              <a:rPr lang="es-ES_tradnl" sz="1200" dirty="0"/>
              <a:t>Los NRC programados deben tener docentes asignados.</a:t>
            </a:r>
          </a:p>
        </p:txBody>
      </p:sp>
    </p:spTree>
    <p:extLst>
      <p:ext uri="{BB962C8B-B14F-4D97-AF65-F5344CB8AC3E}">
        <p14:creationId xmlns:p14="http://schemas.microsoft.com/office/powerpoint/2010/main" val="10539173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FB5ED-FC98-00C8-C689-E0F353DD52B7}"/>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09B4E560-A2BC-9636-7F5A-206023DC4620}"/>
              </a:ext>
            </a:extLst>
          </p:cNvPr>
          <p:cNvSpPr>
            <a:spLocks noGrp="1"/>
          </p:cNvSpPr>
          <p:nvPr>
            <p:ph type="body" orient="vert" sz="quarter" idx="10"/>
          </p:nvPr>
        </p:nvSpPr>
        <p:spPr/>
        <p:txBody>
          <a:bodyPr/>
          <a:lstStyle/>
          <a:p>
            <a:r>
              <a:rPr lang="es-419" dirty="0"/>
              <a:t>Ingresar calificaciones a través de Autoservicio </a:t>
            </a:r>
            <a:endParaRPr lang="es-ES_tradnl" dirty="0"/>
          </a:p>
        </p:txBody>
      </p:sp>
      <p:sp>
        <p:nvSpPr>
          <p:cNvPr id="5" name="Title 4">
            <a:extLst>
              <a:ext uri="{FF2B5EF4-FFF2-40B4-BE49-F238E27FC236}">
                <a16:creationId xmlns:a16="http://schemas.microsoft.com/office/drawing/2014/main" id="{A5C466BC-F3EB-BCC6-FE78-CD40A02F3795}"/>
              </a:ext>
            </a:extLst>
          </p:cNvPr>
          <p:cNvSpPr>
            <a:spLocks noGrp="1"/>
          </p:cNvSpPr>
          <p:nvPr>
            <p:ph type="title"/>
          </p:nvPr>
        </p:nvSpPr>
        <p:spPr/>
        <p:txBody>
          <a:bodyPr/>
          <a:lstStyle/>
          <a:p>
            <a:r>
              <a:rPr lang="es-ES" dirty="0"/>
              <a:t>Control de período</a:t>
            </a:r>
            <a:endParaRPr lang="es-419" dirty="0"/>
          </a:p>
        </p:txBody>
      </p:sp>
      <p:sp>
        <p:nvSpPr>
          <p:cNvPr id="4" name="Text Placeholder 3">
            <a:extLst>
              <a:ext uri="{FF2B5EF4-FFF2-40B4-BE49-F238E27FC236}">
                <a16:creationId xmlns:a16="http://schemas.microsoft.com/office/drawing/2014/main" id="{45DAC73A-55B9-E718-7AF5-9ED7E3603521}"/>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2195870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39A2C581-23A5-715B-0AD4-B1D4899482B8}"/>
              </a:ext>
            </a:extLst>
          </p:cNvPr>
          <p:cNvPicPr>
            <a:picLocks noChangeAspect="1"/>
          </p:cNvPicPr>
          <p:nvPr/>
        </p:nvPicPr>
        <p:blipFill>
          <a:blip r:embed="rId3"/>
          <a:stretch>
            <a:fillRect/>
          </a:stretch>
        </p:blipFill>
        <p:spPr>
          <a:xfrm>
            <a:off x="786384" y="1248216"/>
            <a:ext cx="10707624" cy="5063512"/>
          </a:xfrm>
          <a:prstGeom prst="rect">
            <a:avLst/>
          </a:prstGeom>
        </p:spPr>
      </p:pic>
      <p:sp>
        <p:nvSpPr>
          <p:cNvPr id="2" name="Marcador de texto vertical 1">
            <a:extLst>
              <a:ext uri="{FF2B5EF4-FFF2-40B4-BE49-F238E27FC236}">
                <a16:creationId xmlns:a16="http://schemas.microsoft.com/office/drawing/2014/main" id="{23BA1EC3-F28D-706C-1D09-F75F6970B207}"/>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861398" y="324440"/>
            <a:ext cx="10477497" cy="898555"/>
          </a:xfrm>
        </p:spPr>
        <p:txBody>
          <a:bodyPr/>
          <a:lstStyle/>
          <a:p>
            <a:r>
              <a:rPr lang="es-ES_tradnl" dirty="0">
                <a:solidFill>
                  <a:schemeClr val="accent1"/>
                </a:solidFill>
              </a:rPr>
              <a:t> </a:t>
            </a:r>
            <a:r>
              <a:rPr lang="es-ES_tradnl" b="1" dirty="0">
                <a:solidFill>
                  <a:schemeClr val="accent1"/>
                </a:solidFill>
              </a:rPr>
              <a:t>Control de período (SOATERM)</a:t>
            </a:r>
          </a:p>
        </p:txBody>
      </p:sp>
      <p:sp>
        <p:nvSpPr>
          <p:cNvPr id="8" name="Rectángulo redondeado 5">
            <a:extLst>
              <a:ext uri="{FF2B5EF4-FFF2-40B4-BE49-F238E27FC236}">
                <a16:creationId xmlns:a16="http://schemas.microsoft.com/office/drawing/2014/main" id="{5C365D31-D788-0F72-0C35-969C91A0AC7A}"/>
              </a:ext>
            </a:extLst>
          </p:cNvPr>
          <p:cNvSpPr/>
          <p:nvPr/>
        </p:nvSpPr>
        <p:spPr>
          <a:xfrm>
            <a:off x="4602988" y="4897273"/>
            <a:ext cx="5669420" cy="1083481"/>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defTabSz="457200"/>
            <a:r>
              <a:rPr lang="es-ES_tradnl" sz="1200" dirty="0">
                <a:solidFill>
                  <a:schemeClr val="bg1"/>
                </a:solidFill>
                <a:cs typeface="Arial"/>
              </a:rPr>
              <a:t>Solo los períodos que tengan activa la opción </a:t>
            </a:r>
            <a:r>
              <a:rPr lang="es-ES_tradnl" sz="1200" b="1" dirty="0">
                <a:solidFill>
                  <a:schemeClr val="bg1"/>
                </a:solidFill>
                <a:cs typeface="Arial"/>
              </a:rPr>
              <a:t>Control de período web maestro</a:t>
            </a:r>
            <a:r>
              <a:rPr lang="es-ES_tradnl" sz="1200" dirty="0">
                <a:solidFill>
                  <a:schemeClr val="bg1"/>
                </a:solidFill>
                <a:cs typeface="Arial"/>
              </a:rPr>
              <a:t>, la página </a:t>
            </a:r>
            <a:r>
              <a:rPr lang="es-ES_tradnl" sz="1200" b="1" dirty="0">
                <a:solidFill>
                  <a:schemeClr val="bg1"/>
                </a:solidFill>
                <a:cs typeface="Arial"/>
              </a:rPr>
              <a:t>SOATERM</a:t>
            </a:r>
            <a:r>
              <a:rPr lang="es-ES_tradnl" sz="1200" dirty="0">
                <a:solidFill>
                  <a:schemeClr val="bg1"/>
                </a:solidFill>
                <a:cs typeface="Arial"/>
              </a:rPr>
              <a:t> (pestaña Inscripción) se mostrarán en los autoservicios. </a:t>
            </a:r>
          </a:p>
        </p:txBody>
      </p:sp>
      <p:sp>
        <p:nvSpPr>
          <p:cNvPr id="5" name="Rectángulo 4">
            <a:extLst>
              <a:ext uri="{FF2B5EF4-FFF2-40B4-BE49-F238E27FC236}">
                <a16:creationId xmlns:a16="http://schemas.microsoft.com/office/drawing/2014/main" id="{497D55F0-0A05-879A-AF75-14FBADA67300}"/>
              </a:ext>
            </a:extLst>
          </p:cNvPr>
          <p:cNvSpPr/>
          <p:nvPr/>
        </p:nvSpPr>
        <p:spPr>
          <a:xfrm>
            <a:off x="2350008" y="5422392"/>
            <a:ext cx="1408176" cy="274320"/>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030457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40B848F3-3E26-16F7-4BB9-F04E4C22302C}"/>
              </a:ext>
            </a:extLst>
          </p:cNvPr>
          <p:cNvPicPr>
            <a:picLocks noChangeAspect="1"/>
          </p:cNvPicPr>
          <p:nvPr/>
        </p:nvPicPr>
        <p:blipFill>
          <a:blip r:embed="rId3"/>
          <a:stretch>
            <a:fillRect/>
          </a:stretch>
        </p:blipFill>
        <p:spPr>
          <a:xfrm>
            <a:off x="853104" y="1274033"/>
            <a:ext cx="10655405" cy="5036192"/>
          </a:xfrm>
          <a:prstGeom prst="rect">
            <a:avLst/>
          </a:prstGeom>
        </p:spPr>
      </p:pic>
      <p:sp>
        <p:nvSpPr>
          <p:cNvPr id="2" name="Marcador de texto vertical 1">
            <a:extLst>
              <a:ext uri="{FF2B5EF4-FFF2-40B4-BE49-F238E27FC236}">
                <a16:creationId xmlns:a16="http://schemas.microsoft.com/office/drawing/2014/main" id="{23BA1EC3-F28D-706C-1D09-F75F6970B207}"/>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861398" y="324440"/>
            <a:ext cx="10477497" cy="898555"/>
          </a:xfrm>
        </p:spPr>
        <p:txBody>
          <a:bodyPr/>
          <a:lstStyle/>
          <a:p>
            <a:r>
              <a:rPr lang="es-ES_tradnl" dirty="0">
                <a:solidFill>
                  <a:schemeClr val="accent1"/>
                </a:solidFill>
              </a:rPr>
              <a:t> </a:t>
            </a:r>
            <a:r>
              <a:rPr lang="es-ES_tradnl" b="1" dirty="0">
                <a:solidFill>
                  <a:schemeClr val="accent1"/>
                </a:solidFill>
              </a:rPr>
              <a:t>Control de período (SOATERM)</a:t>
            </a:r>
          </a:p>
        </p:txBody>
      </p:sp>
      <p:sp>
        <p:nvSpPr>
          <p:cNvPr id="8" name="Rectángulo redondeado 5">
            <a:extLst>
              <a:ext uri="{FF2B5EF4-FFF2-40B4-BE49-F238E27FC236}">
                <a16:creationId xmlns:a16="http://schemas.microsoft.com/office/drawing/2014/main" id="{5C365D31-D788-0F72-0C35-969C91A0AC7A}"/>
              </a:ext>
            </a:extLst>
          </p:cNvPr>
          <p:cNvSpPr/>
          <p:nvPr/>
        </p:nvSpPr>
        <p:spPr>
          <a:xfrm>
            <a:off x="3261290" y="3808266"/>
            <a:ext cx="5669420" cy="1083481"/>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defTabSz="457200"/>
            <a:r>
              <a:rPr lang="es-ES_tradnl" sz="1200" dirty="0">
                <a:solidFill>
                  <a:schemeClr val="bg1"/>
                </a:solidFill>
                <a:cs typeface="Arial"/>
              </a:rPr>
              <a:t>En la pestaña </a:t>
            </a:r>
            <a:r>
              <a:rPr lang="es-ES_tradnl" sz="1200" b="1" dirty="0">
                <a:solidFill>
                  <a:schemeClr val="bg1"/>
                </a:solidFill>
                <a:cs typeface="Arial"/>
              </a:rPr>
              <a:t>Controles de inscripción de partes de período y web </a:t>
            </a:r>
            <a:r>
              <a:rPr lang="es-ES_tradnl" sz="1200" dirty="0">
                <a:solidFill>
                  <a:schemeClr val="bg1"/>
                </a:solidFill>
                <a:cs typeface="Arial"/>
              </a:rPr>
              <a:t>de la página </a:t>
            </a:r>
            <a:r>
              <a:rPr lang="es-ES_tradnl" sz="1200" b="1" dirty="0">
                <a:solidFill>
                  <a:schemeClr val="bg1"/>
                </a:solidFill>
                <a:cs typeface="Arial"/>
              </a:rPr>
              <a:t>SOATERM</a:t>
            </a:r>
            <a:r>
              <a:rPr lang="es-ES_tradnl" sz="1200" dirty="0">
                <a:solidFill>
                  <a:schemeClr val="bg1"/>
                </a:solidFill>
                <a:cs typeface="Arial"/>
              </a:rPr>
              <a:t> deben estar las fechas de inicio y fin en las que los docentes podrán acceder a autoservicios, incluyendo la carga de calificaciones, para el período configurado.</a:t>
            </a:r>
          </a:p>
        </p:txBody>
      </p:sp>
      <p:sp>
        <p:nvSpPr>
          <p:cNvPr id="6" name="Rectángulo 5">
            <a:extLst>
              <a:ext uri="{FF2B5EF4-FFF2-40B4-BE49-F238E27FC236}">
                <a16:creationId xmlns:a16="http://schemas.microsoft.com/office/drawing/2014/main" id="{F7FF2411-B49A-3CAA-B6AC-85F22BB22606}"/>
              </a:ext>
            </a:extLst>
          </p:cNvPr>
          <p:cNvSpPr/>
          <p:nvPr/>
        </p:nvSpPr>
        <p:spPr>
          <a:xfrm>
            <a:off x="683491" y="5006755"/>
            <a:ext cx="10825018" cy="756736"/>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78364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314D62F-87FB-7A25-B5D6-760691B9AA5B}"/>
              </a:ext>
            </a:extLst>
          </p:cNvPr>
          <p:cNvPicPr>
            <a:picLocks noChangeAspect="1"/>
          </p:cNvPicPr>
          <p:nvPr/>
        </p:nvPicPr>
        <p:blipFill>
          <a:blip r:embed="rId3"/>
          <a:stretch>
            <a:fillRect/>
          </a:stretch>
        </p:blipFill>
        <p:spPr>
          <a:xfrm>
            <a:off x="853104" y="1274033"/>
            <a:ext cx="10655405" cy="5036192"/>
          </a:xfrm>
          <a:prstGeom prst="rect">
            <a:avLst/>
          </a:prstGeom>
        </p:spPr>
      </p:pic>
      <p:sp>
        <p:nvSpPr>
          <p:cNvPr id="2" name="Marcador de texto vertical 1">
            <a:extLst>
              <a:ext uri="{FF2B5EF4-FFF2-40B4-BE49-F238E27FC236}">
                <a16:creationId xmlns:a16="http://schemas.microsoft.com/office/drawing/2014/main" id="{23BA1EC3-F28D-706C-1D09-F75F6970B207}"/>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861398" y="324440"/>
            <a:ext cx="10477497" cy="898555"/>
          </a:xfrm>
        </p:spPr>
        <p:txBody>
          <a:bodyPr/>
          <a:lstStyle/>
          <a:p>
            <a:r>
              <a:rPr lang="es-ES_tradnl" dirty="0">
                <a:solidFill>
                  <a:schemeClr val="accent1"/>
                </a:solidFill>
              </a:rPr>
              <a:t> </a:t>
            </a:r>
            <a:r>
              <a:rPr lang="es-ES_tradnl" b="1" dirty="0">
                <a:solidFill>
                  <a:schemeClr val="accent1"/>
                </a:solidFill>
              </a:rPr>
              <a:t>Control de período (SOATERM)</a:t>
            </a:r>
          </a:p>
        </p:txBody>
      </p:sp>
      <p:sp>
        <p:nvSpPr>
          <p:cNvPr id="8" name="Rectángulo redondeado 5">
            <a:extLst>
              <a:ext uri="{FF2B5EF4-FFF2-40B4-BE49-F238E27FC236}">
                <a16:creationId xmlns:a16="http://schemas.microsoft.com/office/drawing/2014/main" id="{5C365D31-D788-0F72-0C35-969C91A0AC7A}"/>
              </a:ext>
            </a:extLst>
          </p:cNvPr>
          <p:cNvSpPr/>
          <p:nvPr/>
        </p:nvSpPr>
        <p:spPr>
          <a:xfrm>
            <a:off x="2869660" y="4319081"/>
            <a:ext cx="6138152" cy="1496303"/>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defTabSz="457200"/>
            <a:r>
              <a:rPr lang="es-ES_tradnl" sz="1200" dirty="0">
                <a:solidFill>
                  <a:schemeClr val="bg1"/>
                </a:solidFill>
                <a:cs typeface="Arial"/>
              </a:rPr>
              <a:t>En la pestaña </a:t>
            </a:r>
            <a:r>
              <a:rPr lang="es-ES_tradnl" sz="1200" b="1" dirty="0">
                <a:solidFill>
                  <a:schemeClr val="bg1"/>
                </a:solidFill>
                <a:cs typeface="Arial"/>
              </a:rPr>
              <a:t>Controles de inscripción de partes de período y web </a:t>
            </a:r>
            <a:r>
              <a:rPr lang="es-ES_tradnl" sz="1200" dirty="0">
                <a:solidFill>
                  <a:schemeClr val="bg1"/>
                </a:solidFill>
                <a:cs typeface="Arial"/>
              </a:rPr>
              <a:t>de la página </a:t>
            </a:r>
            <a:r>
              <a:rPr lang="es-ES_tradnl" sz="1200" b="1" dirty="0">
                <a:solidFill>
                  <a:schemeClr val="bg1"/>
                </a:solidFill>
                <a:cs typeface="Arial"/>
              </a:rPr>
              <a:t>SOATERM </a:t>
            </a:r>
            <a:r>
              <a:rPr lang="es-ES_tradnl" sz="1200" dirty="0">
                <a:solidFill>
                  <a:schemeClr val="bg1"/>
                </a:solidFill>
                <a:cs typeface="Arial"/>
              </a:rPr>
              <a:t>se define el acceso de los docentes para cargar las calificaciones parciales o finales de los estudiantes.</a:t>
            </a:r>
          </a:p>
          <a:p>
            <a:pPr marL="171450" indent="-171450" defTabSz="457200">
              <a:buFont typeface="Arial" panose="020B0604020202020204" pitchFamily="34" charset="0"/>
              <a:buChar char="•"/>
            </a:pPr>
            <a:r>
              <a:rPr lang="es-ES_tradnl" sz="1200" dirty="0">
                <a:solidFill>
                  <a:schemeClr val="bg1"/>
                </a:solidFill>
                <a:cs typeface="Arial"/>
              </a:rPr>
              <a:t>Para aquellas partes de período en los que las calificaciones se cargarán por medio de </a:t>
            </a:r>
            <a:r>
              <a:rPr lang="es-ES_tradnl" sz="1200" b="1" dirty="0">
                <a:solidFill>
                  <a:schemeClr val="bg1"/>
                </a:solidFill>
                <a:cs typeface="Arial"/>
              </a:rPr>
              <a:t>libro de calificaciones</a:t>
            </a:r>
            <a:r>
              <a:rPr lang="es-ES_tradnl" sz="1200" dirty="0">
                <a:solidFill>
                  <a:schemeClr val="bg1"/>
                </a:solidFill>
                <a:cs typeface="Arial"/>
              </a:rPr>
              <a:t>, </a:t>
            </a:r>
            <a:r>
              <a:rPr lang="es-ES_tradnl" sz="1200" b="1" dirty="0">
                <a:solidFill>
                  <a:schemeClr val="bg1"/>
                </a:solidFill>
                <a:cs typeface="Arial"/>
              </a:rPr>
              <a:t>inactive los campos indicados</a:t>
            </a:r>
            <a:r>
              <a:rPr lang="es-ES_tradnl" sz="1200" dirty="0">
                <a:solidFill>
                  <a:schemeClr val="bg1"/>
                </a:solidFill>
                <a:cs typeface="Arial"/>
              </a:rPr>
              <a:t>.</a:t>
            </a:r>
          </a:p>
          <a:p>
            <a:pPr marL="171450" indent="-171450" defTabSz="457200">
              <a:buFont typeface="Arial" panose="020B0604020202020204" pitchFamily="34" charset="0"/>
              <a:buChar char="•"/>
            </a:pPr>
            <a:r>
              <a:rPr lang="es-ES_tradnl" sz="1200" dirty="0">
                <a:solidFill>
                  <a:schemeClr val="bg1"/>
                </a:solidFill>
                <a:cs typeface="Arial"/>
              </a:rPr>
              <a:t>Para aquellas partes de período en las que las </a:t>
            </a:r>
            <a:r>
              <a:rPr lang="es-ES_tradnl" sz="1200" b="1" dirty="0">
                <a:solidFill>
                  <a:schemeClr val="bg1"/>
                </a:solidFill>
                <a:cs typeface="Arial"/>
              </a:rPr>
              <a:t>calificaciones finales </a:t>
            </a:r>
            <a:r>
              <a:rPr lang="es-ES_tradnl" sz="1200" dirty="0">
                <a:solidFill>
                  <a:schemeClr val="bg1"/>
                </a:solidFill>
                <a:cs typeface="Arial"/>
              </a:rPr>
              <a:t>serán cargadas directamente por los docentes, </a:t>
            </a:r>
            <a:r>
              <a:rPr lang="es-ES_tradnl" sz="1200" b="1" dirty="0">
                <a:solidFill>
                  <a:schemeClr val="bg1"/>
                </a:solidFill>
                <a:cs typeface="Arial"/>
              </a:rPr>
              <a:t>active la casilla </a:t>
            </a:r>
            <a:r>
              <a:rPr lang="es-ES_tradnl" sz="1200" dirty="0">
                <a:solidFill>
                  <a:schemeClr val="bg1"/>
                </a:solidFill>
                <a:cs typeface="Arial"/>
              </a:rPr>
              <a:t>correspondiente.</a:t>
            </a:r>
          </a:p>
          <a:p>
            <a:pPr marL="171450" indent="-171450" defTabSz="457200">
              <a:buFont typeface="Arial" panose="020B0604020202020204" pitchFamily="34" charset="0"/>
              <a:buChar char="•"/>
            </a:pPr>
            <a:r>
              <a:rPr lang="es-ES_tradnl" sz="1200" dirty="0">
                <a:solidFill>
                  <a:schemeClr val="bg1"/>
                </a:solidFill>
                <a:cs typeface="Arial"/>
              </a:rPr>
              <a:t>La casilla </a:t>
            </a:r>
            <a:r>
              <a:rPr lang="es-ES_tradnl" sz="1200" b="1" dirty="0">
                <a:solidFill>
                  <a:schemeClr val="bg1"/>
                </a:solidFill>
                <a:cs typeface="Arial"/>
              </a:rPr>
              <a:t>calificaciones parciales </a:t>
            </a:r>
            <a:r>
              <a:rPr lang="es-ES_tradnl" sz="1200" dirty="0">
                <a:solidFill>
                  <a:schemeClr val="bg1"/>
                </a:solidFill>
                <a:cs typeface="Arial"/>
              </a:rPr>
              <a:t>debe estar </a:t>
            </a:r>
            <a:r>
              <a:rPr lang="es-ES_tradnl" sz="1200" b="1">
                <a:solidFill>
                  <a:schemeClr val="bg1"/>
                </a:solidFill>
                <a:cs typeface="Arial"/>
              </a:rPr>
              <a:t>desmarcada</a:t>
            </a:r>
            <a:r>
              <a:rPr lang="es-ES_tradnl" sz="1200">
                <a:solidFill>
                  <a:schemeClr val="bg1"/>
                </a:solidFill>
                <a:cs typeface="Arial"/>
              </a:rPr>
              <a:t>.</a:t>
            </a:r>
            <a:endParaRPr lang="es-ES_tradnl" sz="1200" dirty="0">
              <a:solidFill>
                <a:schemeClr val="bg1"/>
              </a:solidFill>
              <a:cs typeface="Arial"/>
            </a:endParaRPr>
          </a:p>
        </p:txBody>
      </p:sp>
      <p:sp>
        <p:nvSpPr>
          <p:cNvPr id="5" name="Rectángulo 4">
            <a:extLst>
              <a:ext uri="{FF2B5EF4-FFF2-40B4-BE49-F238E27FC236}">
                <a16:creationId xmlns:a16="http://schemas.microsoft.com/office/drawing/2014/main" id="{549F32A5-E484-7256-AF88-C016BF6D281D}"/>
              </a:ext>
            </a:extLst>
          </p:cNvPr>
          <p:cNvSpPr/>
          <p:nvPr/>
        </p:nvSpPr>
        <p:spPr>
          <a:xfrm>
            <a:off x="9210368" y="2271387"/>
            <a:ext cx="1753386" cy="756736"/>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9703612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2A244-A22E-BBF0-560E-FEDA29131122}"/>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A2A6752B-E084-0CEB-E57A-7A1C8789ECCE}"/>
              </a:ext>
            </a:extLst>
          </p:cNvPr>
          <p:cNvSpPr>
            <a:spLocks noGrp="1"/>
          </p:cNvSpPr>
          <p:nvPr>
            <p:ph type="body" orient="vert" sz="quarter" idx="10"/>
          </p:nvPr>
        </p:nvSpPr>
        <p:spPr/>
        <p:txBody>
          <a:bodyPr/>
          <a:lstStyle/>
          <a:p>
            <a:r>
              <a:rPr lang="es-419" dirty="0"/>
              <a:t>Ingresar calificaciones a través de Autoservicio </a:t>
            </a:r>
            <a:endParaRPr lang="es-ES_tradnl" dirty="0"/>
          </a:p>
        </p:txBody>
      </p:sp>
      <p:sp>
        <p:nvSpPr>
          <p:cNvPr id="5" name="Title 4">
            <a:extLst>
              <a:ext uri="{FF2B5EF4-FFF2-40B4-BE49-F238E27FC236}">
                <a16:creationId xmlns:a16="http://schemas.microsoft.com/office/drawing/2014/main" id="{139736CB-EAB6-73C0-E66A-F9C07943AC23}"/>
              </a:ext>
            </a:extLst>
          </p:cNvPr>
          <p:cNvSpPr>
            <a:spLocks noGrp="1"/>
          </p:cNvSpPr>
          <p:nvPr>
            <p:ph type="title"/>
          </p:nvPr>
        </p:nvSpPr>
        <p:spPr/>
        <p:txBody>
          <a:bodyPr/>
          <a:lstStyle/>
          <a:p>
            <a:r>
              <a:rPr lang="es-ES" dirty="0"/>
              <a:t>Perfil de acceso de los docentes</a:t>
            </a:r>
            <a:endParaRPr lang="es-419" dirty="0"/>
          </a:p>
        </p:txBody>
      </p:sp>
      <p:sp>
        <p:nvSpPr>
          <p:cNvPr id="4" name="Text Placeholder 3">
            <a:extLst>
              <a:ext uri="{FF2B5EF4-FFF2-40B4-BE49-F238E27FC236}">
                <a16:creationId xmlns:a16="http://schemas.microsoft.com/office/drawing/2014/main" id="{80017DAF-1EEE-A037-B78C-CEB2797A842E}"/>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13955844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1BAB103-2E78-1FEC-682E-D7848AC87899}"/>
              </a:ext>
            </a:extLst>
          </p:cNvPr>
          <p:cNvPicPr>
            <a:picLocks noChangeAspect="1"/>
          </p:cNvPicPr>
          <p:nvPr/>
        </p:nvPicPr>
        <p:blipFill>
          <a:blip r:embed="rId3"/>
          <a:stretch>
            <a:fillRect/>
          </a:stretch>
        </p:blipFill>
        <p:spPr>
          <a:xfrm>
            <a:off x="774914" y="1275675"/>
            <a:ext cx="10642171" cy="5040736"/>
          </a:xfrm>
          <a:prstGeom prst="rect">
            <a:avLst/>
          </a:prstGeom>
        </p:spPr>
      </p:pic>
      <p:sp>
        <p:nvSpPr>
          <p:cNvPr id="2" name="Marcador de texto vertical 1">
            <a:extLst>
              <a:ext uri="{FF2B5EF4-FFF2-40B4-BE49-F238E27FC236}">
                <a16:creationId xmlns:a16="http://schemas.microsoft.com/office/drawing/2014/main" id="{8138B725-C426-4132-9A89-C7A5DD2722AF}"/>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939588" y="511401"/>
            <a:ext cx="10477497" cy="898555"/>
          </a:xfrm>
        </p:spPr>
        <p:txBody>
          <a:bodyPr/>
          <a:lstStyle/>
          <a:p>
            <a:r>
              <a:rPr lang="es-ES_tradnl" dirty="0">
                <a:solidFill>
                  <a:schemeClr val="accent1"/>
                </a:solidFill>
              </a:rPr>
              <a:t>Perfil de acceso de los docentes</a:t>
            </a:r>
            <a:endParaRPr lang="es-ES_tradnl" b="1" dirty="0">
              <a:solidFill>
                <a:schemeClr val="accent1"/>
              </a:solidFill>
            </a:endParaRPr>
          </a:p>
        </p:txBody>
      </p:sp>
      <p:sp>
        <p:nvSpPr>
          <p:cNvPr id="8" name="Rectángulo redondeado 5">
            <a:extLst>
              <a:ext uri="{FF2B5EF4-FFF2-40B4-BE49-F238E27FC236}">
                <a16:creationId xmlns:a16="http://schemas.microsoft.com/office/drawing/2014/main" id="{70A051DA-0BF5-9528-0AC8-C96E5D29EA31}"/>
              </a:ext>
            </a:extLst>
          </p:cNvPr>
          <p:cNvSpPr/>
          <p:nvPr/>
        </p:nvSpPr>
        <p:spPr>
          <a:xfrm>
            <a:off x="3334797" y="4689861"/>
            <a:ext cx="5669420" cy="1083481"/>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a:r>
              <a:rPr lang="es-ES_tradnl" sz="1200" dirty="0"/>
              <a:t>El proceso </a:t>
            </a:r>
            <a:r>
              <a:rPr lang="es-ES_tradnl" sz="1200" b="1" dirty="0"/>
              <a:t>ENTERGRADES</a:t>
            </a:r>
            <a:r>
              <a:rPr lang="es-ES_tradnl" sz="1200" dirty="0"/>
              <a:t> debe estar configurado para los Docentes y/ o Asesores, según la política de la institución en el autoservicio. A continuación, se indican los principales aspectos de esta configuración.</a:t>
            </a:r>
          </a:p>
        </p:txBody>
      </p:sp>
      <p:sp>
        <p:nvSpPr>
          <p:cNvPr id="5" name="Rectángulo 4">
            <a:extLst>
              <a:ext uri="{FF2B5EF4-FFF2-40B4-BE49-F238E27FC236}">
                <a16:creationId xmlns:a16="http://schemas.microsoft.com/office/drawing/2014/main" id="{FF04B383-7CC7-68AA-CB94-DAA29DA32136}"/>
              </a:ext>
            </a:extLst>
          </p:cNvPr>
          <p:cNvSpPr/>
          <p:nvPr/>
        </p:nvSpPr>
        <p:spPr>
          <a:xfrm>
            <a:off x="785091" y="4498109"/>
            <a:ext cx="2355273" cy="19175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902529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04D66AB-D7F3-832A-123F-68DDBBD68E77}"/>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861398" y="478137"/>
            <a:ext cx="10477497" cy="898555"/>
          </a:xfrm>
        </p:spPr>
        <p:txBody>
          <a:bodyPr/>
          <a:lstStyle/>
          <a:p>
            <a:r>
              <a:rPr lang="es-ES_tradnl" dirty="0">
                <a:solidFill>
                  <a:schemeClr val="accent1"/>
                </a:solidFill>
              </a:rPr>
              <a:t>Perfil de acceso de los docentes</a:t>
            </a:r>
            <a:endParaRPr lang="es-ES_tradnl" b="1" dirty="0">
              <a:solidFill>
                <a:schemeClr val="accent1"/>
              </a:solidFill>
            </a:endParaRPr>
          </a:p>
        </p:txBody>
      </p:sp>
      <p:graphicFrame>
        <p:nvGraphicFramePr>
          <p:cNvPr id="3" name="Tabla 2">
            <a:extLst>
              <a:ext uri="{FF2B5EF4-FFF2-40B4-BE49-F238E27FC236}">
                <a16:creationId xmlns:a16="http://schemas.microsoft.com/office/drawing/2014/main" id="{0D4312AB-AD18-4B15-82B2-BB508E802216}"/>
              </a:ext>
            </a:extLst>
          </p:cNvPr>
          <p:cNvGraphicFramePr>
            <a:graphicFrameLocks noGrp="1"/>
          </p:cNvGraphicFramePr>
          <p:nvPr>
            <p:extLst>
              <p:ext uri="{D42A27DB-BD31-4B8C-83A1-F6EECF244321}">
                <p14:modId xmlns:p14="http://schemas.microsoft.com/office/powerpoint/2010/main" val="4199789702"/>
              </p:ext>
            </p:extLst>
          </p:nvPr>
        </p:nvGraphicFramePr>
        <p:xfrm>
          <a:off x="1052728" y="969663"/>
          <a:ext cx="10086543" cy="5410200"/>
        </p:xfrm>
        <a:graphic>
          <a:graphicData uri="http://schemas.openxmlformats.org/drawingml/2006/table">
            <a:tbl>
              <a:tblPr firstRow="1" bandRow="1">
                <a:tableStyleId>{5C22544A-7EE6-4342-B048-85BDC9FD1C3A}</a:tableStyleId>
              </a:tblPr>
              <a:tblGrid>
                <a:gridCol w="1946614">
                  <a:extLst>
                    <a:ext uri="{9D8B030D-6E8A-4147-A177-3AD203B41FA5}">
                      <a16:colId xmlns:a16="http://schemas.microsoft.com/office/drawing/2014/main" val="202264394"/>
                    </a:ext>
                  </a:extLst>
                </a:gridCol>
                <a:gridCol w="8139929">
                  <a:extLst>
                    <a:ext uri="{9D8B030D-6E8A-4147-A177-3AD203B41FA5}">
                      <a16:colId xmlns:a16="http://schemas.microsoft.com/office/drawing/2014/main" val="1024685917"/>
                    </a:ext>
                  </a:extLst>
                </a:gridCol>
              </a:tblGrid>
              <a:tr h="370840">
                <a:tc>
                  <a:txBody>
                    <a:bodyPr/>
                    <a:lstStyle/>
                    <a:p>
                      <a:r>
                        <a:rPr lang="es-419" sz="1600" dirty="0"/>
                        <a:t>Concepto</a:t>
                      </a:r>
                    </a:p>
                  </a:txBody>
                  <a:tcPr/>
                </a:tc>
                <a:tc>
                  <a:txBody>
                    <a:bodyPr/>
                    <a:lstStyle/>
                    <a:p>
                      <a:r>
                        <a:rPr lang="es-419" sz="1600" dirty="0"/>
                        <a:t>Descripción</a:t>
                      </a:r>
                    </a:p>
                  </a:txBody>
                  <a:tcPr/>
                </a:tc>
                <a:extLst>
                  <a:ext uri="{0D108BD9-81ED-4DB2-BD59-A6C34878D82A}">
                    <a16:rowId xmlns:a16="http://schemas.microsoft.com/office/drawing/2014/main" val="1034691894"/>
                  </a:ext>
                </a:extLst>
              </a:tr>
              <a:tr h="370840">
                <a:tc>
                  <a:txBody>
                    <a:bodyPr/>
                    <a:lstStyle/>
                    <a:p>
                      <a:r>
                        <a:rPr lang="es-419" sz="1400" dirty="0"/>
                        <a:t>Docente o asesor</a:t>
                      </a:r>
                    </a:p>
                  </a:txBody>
                  <a:tcPr/>
                </a:tc>
                <a:tc>
                  <a:txBody>
                    <a:bodyPr/>
                    <a:lstStyle/>
                    <a:p>
                      <a:r>
                        <a:rPr lang="es-419" sz="1400" dirty="0"/>
                        <a:t>Se selecciona el perfil que tendrá acceso al proceso.</a:t>
                      </a:r>
                    </a:p>
                  </a:txBody>
                  <a:tcPr/>
                </a:tc>
                <a:extLst>
                  <a:ext uri="{0D108BD9-81ED-4DB2-BD59-A6C34878D82A}">
                    <a16:rowId xmlns:a16="http://schemas.microsoft.com/office/drawing/2014/main" val="1550262179"/>
                  </a:ext>
                </a:extLst>
              </a:tr>
              <a:tr h="370840">
                <a:tc>
                  <a:txBody>
                    <a:bodyPr/>
                    <a:lstStyle/>
                    <a:p>
                      <a:r>
                        <a:rPr lang="es-419" sz="1400" dirty="0"/>
                        <a:t>Proceso disponible en el autoservicio</a:t>
                      </a:r>
                    </a:p>
                  </a:txBody>
                  <a:tcPr/>
                </a:tc>
                <a:tc>
                  <a:txBody>
                    <a:bodyPr/>
                    <a:lstStyle/>
                    <a:p>
                      <a:r>
                        <a:rPr lang="es-419" sz="1400" dirty="0"/>
                        <a:t>Este indicador debe estar marcado para la regla de proceso a usar en el autoservicio</a:t>
                      </a:r>
                    </a:p>
                  </a:txBody>
                  <a:tcPr/>
                </a:tc>
                <a:extLst>
                  <a:ext uri="{0D108BD9-81ED-4DB2-BD59-A6C34878D82A}">
                    <a16:rowId xmlns:a16="http://schemas.microsoft.com/office/drawing/2014/main" val="2543645826"/>
                  </a:ext>
                </a:extLst>
              </a:tr>
              <a:tr h="370840">
                <a:tc>
                  <a:txBody>
                    <a:bodyPr/>
                    <a:lstStyle/>
                    <a:p>
                      <a:r>
                        <a:rPr lang="es-419" sz="1400" dirty="0"/>
                        <a:t>Control de NIP</a:t>
                      </a:r>
                    </a:p>
                  </a:txBody>
                  <a:tcPr/>
                </a:tc>
                <a:tc>
                  <a:txBody>
                    <a:bodyPr/>
                    <a:lstStyle/>
                    <a:p>
                      <a:r>
                        <a:rPr lang="es-419" sz="1400" dirty="0"/>
                        <a:t>La configuración de este indicador no aplica para ingreso de calificaciones.</a:t>
                      </a:r>
                    </a:p>
                  </a:txBody>
                  <a:tcPr/>
                </a:tc>
                <a:extLst>
                  <a:ext uri="{0D108BD9-81ED-4DB2-BD59-A6C34878D82A}">
                    <a16:rowId xmlns:a16="http://schemas.microsoft.com/office/drawing/2014/main" val="1582196101"/>
                  </a:ext>
                </a:extLst>
              </a:tr>
              <a:tr h="370840">
                <a:tc>
                  <a:txBody>
                    <a:bodyPr/>
                    <a:lstStyle/>
                    <a:p>
                      <a:r>
                        <a:rPr lang="es-419" sz="1400" dirty="0"/>
                        <a:t>Todos los accesos</a:t>
                      </a:r>
                    </a:p>
                  </a:txBody>
                  <a:tcPr/>
                </a:tc>
                <a:tc>
                  <a:txBody>
                    <a:bodyPr/>
                    <a:lstStyle/>
                    <a:p>
                      <a:r>
                        <a:rPr lang="es-419" sz="1400" dirty="0"/>
                        <a:t>Este indicador debe estar seleccionado, para que se muestre en autoservicio la carga de calificaciones a todos los docentes asignados al NRC.</a:t>
                      </a:r>
                    </a:p>
                  </a:txBody>
                  <a:tcPr/>
                </a:tc>
                <a:extLst>
                  <a:ext uri="{0D108BD9-81ED-4DB2-BD59-A6C34878D82A}">
                    <a16:rowId xmlns:a16="http://schemas.microsoft.com/office/drawing/2014/main" val="736871640"/>
                  </a:ext>
                </a:extLst>
              </a:tr>
              <a:tr h="370840">
                <a:tc>
                  <a:txBody>
                    <a:bodyPr/>
                    <a:lstStyle/>
                    <a:p>
                      <a:r>
                        <a:rPr lang="es-419" sz="1400" dirty="0"/>
                        <a:t>Relación</a:t>
                      </a:r>
                    </a:p>
                  </a:txBody>
                  <a:tcPr/>
                </a:tc>
                <a:tc>
                  <a:txBody>
                    <a:bodyPr/>
                    <a:lstStyle/>
                    <a:p>
                      <a:r>
                        <a:rPr lang="es-419" sz="1400" kern="1200" dirty="0">
                          <a:solidFill>
                            <a:schemeClr val="dk1"/>
                          </a:solidFill>
                          <a:latin typeface="+mn-lt"/>
                          <a:ea typeface="+mn-ea"/>
                          <a:cs typeface="+mn-cs"/>
                        </a:rPr>
                        <a:t>Cuando este indicador está seleccionado, el docente o asesor debe cumplir con lo siguiente para poder realizar las acciones del proceso correspondiente:</a:t>
                      </a:r>
                    </a:p>
                    <a:p>
                      <a:pPr marL="285750" indent="-285750">
                        <a:buFont typeface="Arial" panose="020B0604020202020204" pitchFamily="34" charset="0"/>
                        <a:buChar char="•"/>
                      </a:pPr>
                      <a:r>
                        <a:rPr lang="es-419" sz="1400" kern="1200" dirty="0">
                          <a:solidFill>
                            <a:schemeClr val="dk1"/>
                          </a:solidFill>
                          <a:latin typeface="+mn-lt"/>
                          <a:ea typeface="+mn-ea"/>
                          <a:cs typeface="+mn-cs"/>
                        </a:rPr>
                        <a:t>El docente debe tener una relación de enseñanza con el alumno, de que es el instructor para una sección (NRC) en la que está inscrito el alumno. No tiene que ser el instructor principal.</a:t>
                      </a:r>
                    </a:p>
                    <a:p>
                      <a:pPr marL="285750" indent="-285750">
                        <a:buFont typeface="Arial" panose="020B0604020202020204" pitchFamily="34" charset="0"/>
                        <a:buChar char="•"/>
                      </a:pPr>
                      <a:r>
                        <a:rPr lang="es-419" sz="1400" kern="1200" dirty="0">
                          <a:solidFill>
                            <a:schemeClr val="dk1"/>
                          </a:solidFill>
                          <a:latin typeface="+mn-lt"/>
                          <a:ea typeface="+mn-ea"/>
                          <a:cs typeface="+mn-cs"/>
                        </a:rPr>
                        <a:t>El asesor debe tener una relación de asesor con el alumno, que está relacionado con el alumno en la página Asesor múltiple (SGAADVR). No tiene que ser el asesor principal.</a:t>
                      </a:r>
                    </a:p>
                  </a:txBody>
                  <a:tcPr/>
                </a:tc>
                <a:extLst>
                  <a:ext uri="{0D108BD9-81ED-4DB2-BD59-A6C34878D82A}">
                    <a16:rowId xmlns:a16="http://schemas.microsoft.com/office/drawing/2014/main" val="76560121"/>
                  </a:ext>
                </a:extLst>
              </a:tr>
              <a:tr h="370840">
                <a:tc>
                  <a:txBody>
                    <a:bodyPr/>
                    <a:lstStyle/>
                    <a:p>
                      <a:r>
                        <a:rPr lang="es-419" sz="1400" dirty="0"/>
                        <a:t>Principal</a:t>
                      </a:r>
                    </a:p>
                  </a:txBody>
                  <a:tcPr/>
                </a:tc>
                <a:tc>
                  <a:txBody>
                    <a:bodyPr/>
                    <a:lstStyle/>
                    <a:p>
                      <a:pPr marL="0" indent="0">
                        <a:buFont typeface="Arial" panose="020B0604020202020204" pitchFamily="34" charset="0"/>
                        <a:buNone/>
                      </a:pPr>
                      <a:r>
                        <a:rPr lang="es-419" sz="1400" kern="1200" dirty="0">
                          <a:solidFill>
                            <a:schemeClr val="dk1"/>
                          </a:solidFill>
                          <a:latin typeface="+mn-lt"/>
                          <a:ea typeface="+mn-ea"/>
                          <a:cs typeface="+mn-cs"/>
                        </a:rPr>
                        <a:t>Cuando este indicador está seleccionado, el docente debe ser el instructor principal y el asesor debe ser el asesor principal para poder realizar las acciones del proceso correspondiente:</a:t>
                      </a:r>
                    </a:p>
                    <a:p>
                      <a:pPr marL="285750" indent="-285750">
                        <a:buFont typeface="Arial" panose="020B0604020202020204" pitchFamily="34" charset="0"/>
                        <a:buChar char="•"/>
                      </a:pPr>
                      <a:r>
                        <a:rPr lang="es-419" sz="1400" kern="1200" dirty="0">
                          <a:solidFill>
                            <a:schemeClr val="dk1"/>
                          </a:solidFill>
                          <a:latin typeface="+mn-lt"/>
                          <a:ea typeface="+mn-ea"/>
                          <a:cs typeface="+mn-cs"/>
                        </a:rPr>
                        <a:t>El docente debe tener el Indicador de principal seleccionado en la página Horario (SSASECT).</a:t>
                      </a:r>
                    </a:p>
                    <a:p>
                      <a:pPr marL="285750" indent="-285750">
                        <a:buFont typeface="Arial" panose="020B0604020202020204" pitchFamily="34" charset="0"/>
                        <a:buChar char="•"/>
                      </a:pPr>
                      <a:r>
                        <a:rPr lang="es-419" sz="1400" kern="1200" dirty="0">
                          <a:solidFill>
                            <a:schemeClr val="dk1"/>
                          </a:solidFill>
                          <a:latin typeface="+mn-lt"/>
                          <a:ea typeface="+mn-ea"/>
                          <a:cs typeface="+mn-cs"/>
                        </a:rPr>
                        <a:t>El asesor debe tener el Indicador de principal seleccionado en la página Asesor múltiple (SGAADVR).</a:t>
                      </a:r>
                    </a:p>
                    <a:p>
                      <a:pPr marL="0" indent="0">
                        <a:buFont typeface="Arial" panose="020B0604020202020204" pitchFamily="34" charset="0"/>
                        <a:buNone/>
                      </a:pPr>
                      <a:r>
                        <a:rPr lang="es-419" sz="1400" kern="1200" dirty="0">
                          <a:solidFill>
                            <a:schemeClr val="dk1"/>
                          </a:solidFill>
                          <a:latin typeface="+mn-lt"/>
                          <a:ea typeface="+mn-ea"/>
                          <a:cs typeface="+mn-cs"/>
                        </a:rPr>
                        <a:t>No aplica para carga de calificaciones. En la sección reglas de validación se define este criterio.</a:t>
                      </a:r>
                    </a:p>
                  </a:txBody>
                  <a:tcPr/>
                </a:tc>
                <a:extLst>
                  <a:ext uri="{0D108BD9-81ED-4DB2-BD59-A6C34878D82A}">
                    <a16:rowId xmlns:a16="http://schemas.microsoft.com/office/drawing/2014/main" val="228352512"/>
                  </a:ext>
                </a:extLst>
              </a:tr>
              <a:tr h="370840">
                <a:tc>
                  <a:txBody>
                    <a:bodyPr/>
                    <a:lstStyle/>
                    <a:p>
                      <a:r>
                        <a:rPr lang="es-419" sz="1400" dirty="0"/>
                        <a:t>Verificación de tipo de atributo</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419" sz="1400" dirty="0"/>
                        <a:t>La configuración de este indicador no aplica para ingreso de calificaciones.</a:t>
                      </a:r>
                    </a:p>
                  </a:txBody>
                  <a:tcPr/>
                </a:tc>
                <a:extLst>
                  <a:ext uri="{0D108BD9-81ED-4DB2-BD59-A6C34878D82A}">
                    <a16:rowId xmlns:a16="http://schemas.microsoft.com/office/drawing/2014/main" val="3412855451"/>
                  </a:ext>
                </a:extLst>
              </a:tr>
            </a:tbl>
          </a:graphicData>
        </a:graphic>
      </p:graphicFrame>
    </p:spTree>
    <p:extLst>
      <p:ext uri="{BB962C8B-B14F-4D97-AF65-F5344CB8AC3E}">
        <p14:creationId xmlns:p14="http://schemas.microsoft.com/office/powerpoint/2010/main" val="4228153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7D7BB-181C-A68A-AAA0-510ADAB30615}"/>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9FC60784-67F0-602C-377D-BEB032D4FC4C}"/>
              </a:ext>
            </a:extLst>
          </p:cNvPr>
          <p:cNvSpPr>
            <a:spLocks noGrp="1"/>
          </p:cNvSpPr>
          <p:nvPr>
            <p:ph type="body" orient="vert" sz="quarter" idx="10"/>
          </p:nvPr>
        </p:nvSpPr>
        <p:spPr/>
        <p:txBody>
          <a:bodyPr/>
          <a:lstStyle/>
          <a:p>
            <a:r>
              <a:rPr lang="es-419" dirty="0"/>
              <a:t>Ingresar calificaciones a través de Autoservicio </a:t>
            </a:r>
            <a:endParaRPr lang="es-ES_tradnl" dirty="0"/>
          </a:p>
        </p:txBody>
      </p:sp>
      <p:sp>
        <p:nvSpPr>
          <p:cNvPr id="5" name="Title 4">
            <a:extLst>
              <a:ext uri="{FF2B5EF4-FFF2-40B4-BE49-F238E27FC236}">
                <a16:creationId xmlns:a16="http://schemas.microsoft.com/office/drawing/2014/main" id="{EF5A2E40-A2A0-5131-4B5B-D123D3512F6E}"/>
              </a:ext>
            </a:extLst>
          </p:cNvPr>
          <p:cNvSpPr>
            <a:spLocks noGrp="1"/>
          </p:cNvSpPr>
          <p:nvPr>
            <p:ph type="title"/>
          </p:nvPr>
        </p:nvSpPr>
        <p:spPr/>
        <p:txBody>
          <a:bodyPr/>
          <a:lstStyle/>
          <a:p>
            <a:r>
              <a:rPr lang="es-ES" dirty="0"/>
              <a:t>Reglas de validación</a:t>
            </a:r>
            <a:endParaRPr lang="es-419" dirty="0"/>
          </a:p>
        </p:txBody>
      </p:sp>
      <p:sp>
        <p:nvSpPr>
          <p:cNvPr id="4" name="Text Placeholder 3">
            <a:extLst>
              <a:ext uri="{FF2B5EF4-FFF2-40B4-BE49-F238E27FC236}">
                <a16:creationId xmlns:a16="http://schemas.microsoft.com/office/drawing/2014/main" id="{BAC29EC0-2A39-2050-77BC-A0278C4E3F53}"/>
              </a:ext>
            </a:extLst>
          </p:cNvPr>
          <p:cNvSpPr>
            <a:spLocks noGrp="1"/>
          </p:cNvSpPr>
          <p:nvPr>
            <p:ph type="body" sz="quarter" idx="18"/>
          </p:nvPr>
        </p:nvSpPr>
        <p:spPr/>
        <p:txBody>
          <a:bodyPr/>
          <a:lstStyle/>
          <a:p>
            <a:r>
              <a:rPr lang="es-419" dirty="0"/>
              <a:t>GTVSDAX</a:t>
            </a:r>
          </a:p>
          <a:p>
            <a:endParaRPr lang="es-419" dirty="0"/>
          </a:p>
        </p:txBody>
      </p:sp>
    </p:spTree>
    <p:extLst>
      <p:ext uri="{BB962C8B-B14F-4D97-AF65-F5344CB8AC3E}">
        <p14:creationId xmlns:p14="http://schemas.microsoft.com/office/powerpoint/2010/main" val="28817420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514FB50-42D7-0079-7A5E-30229A85A79B}"/>
              </a:ext>
            </a:extLst>
          </p:cNvPr>
          <p:cNvPicPr>
            <a:picLocks noChangeAspect="1"/>
          </p:cNvPicPr>
          <p:nvPr/>
        </p:nvPicPr>
        <p:blipFill>
          <a:blip r:embed="rId3"/>
          <a:stretch>
            <a:fillRect/>
          </a:stretch>
        </p:blipFill>
        <p:spPr>
          <a:xfrm>
            <a:off x="829650" y="1175911"/>
            <a:ext cx="10863586" cy="5133966"/>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884853" y="382637"/>
            <a:ext cx="10477497" cy="898555"/>
          </a:xfrm>
        </p:spPr>
        <p:txBody>
          <a:bodyPr/>
          <a:lstStyle/>
          <a:p>
            <a:r>
              <a:rPr lang="es-ES_tradnl" b="1" dirty="0">
                <a:solidFill>
                  <a:schemeClr val="accent1"/>
                </a:solidFill>
              </a:rPr>
              <a:t>Reglas de validación: Calificaciones por Modo de calificación</a:t>
            </a:r>
          </a:p>
        </p:txBody>
      </p:sp>
      <p:sp>
        <p:nvSpPr>
          <p:cNvPr id="24" name="Rectángulo redondeado 5">
            <a:extLst>
              <a:ext uri="{FF2B5EF4-FFF2-40B4-BE49-F238E27FC236}">
                <a16:creationId xmlns:a16="http://schemas.microsoft.com/office/drawing/2014/main" id="{85E73F45-3A19-4DD6-B712-13271ABAC45D}"/>
              </a:ext>
            </a:extLst>
          </p:cNvPr>
          <p:cNvSpPr/>
          <p:nvPr/>
        </p:nvSpPr>
        <p:spPr>
          <a:xfrm>
            <a:off x="2915972" y="4800600"/>
            <a:ext cx="7431933" cy="1422767"/>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CO" sz="1200" dirty="0"/>
              <a:t>La regla de </a:t>
            </a:r>
            <a:r>
              <a:rPr lang="es-CO" sz="1200" b="1" dirty="0"/>
              <a:t>GMODGRD</a:t>
            </a:r>
            <a:r>
              <a:rPr lang="es-CO" sz="1200" dirty="0"/>
              <a:t> se usa para indicar si las calificaciones que se ingresen deben corresponder al nivel del alumno. Las opciones son:</a:t>
            </a:r>
          </a:p>
          <a:p>
            <a:pPr marL="171450" indent="-171450">
              <a:buFont typeface="Arial" panose="020B0604020202020204" pitchFamily="34" charset="0"/>
              <a:buChar char="•"/>
            </a:pPr>
            <a:r>
              <a:rPr lang="es-CO" sz="1200" b="1" dirty="0"/>
              <a:t>N</a:t>
            </a:r>
            <a:r>
              <a:rPr lang="es-CO" sz="1200" dirty="0"/>
              <a:t>: si las listas desplegables en el autoservicio deben incluir solo las calificaciones que coinciden con el nivel del curso inscrito por el estudiante.</a:t>
            </a:r>
          </a:p>
          <a:p>
            <a:pPr marL="171450" indent="-171450">
              <a:buFont typeface="Arial" panose="020B0604020202020204" pitchFamily="34" charset="0"/>
              <a:buChar char="•"/>
            </a:pPr>
            <a:r>
              <a:rPr lang="es-CO" sz="1200" b="1" dirty="0"/>
              <a:t>Y</a:t>
            </a:r>
            <a:r>
              <a:rPr lang="es-CO" sz="1200" dirty="0"/>
              <a:t>: si las listas desplegables en el autoservicio deben incluir solo las calificaciones que coinciden con el modo de calificación asociado con el estudiante y con el nivel de curso.</a:t>
            </a:r>
          </a:p>
        </p:txBody>
      </p:sp>
      <p:sp>
        <p:nvSpPr>
          <p:cNvPr id="25" name="Rectángulo 24">
            <a:extLst>
              <a:ext uri="{FF2B5EF4-FFF2-40B4-BE49-F238E27FC236}">
                <a16:creationId xmlns:a16="http://schemas.microsoft.com/office/drawing/2014/main" id="{C05F024C-157B-4B78-9C25-998E006664FF}"/>
              </a:ext>
            </a:extLst>
          </p:cNvPr>
          <p:cNvSpPr/>
          <p:nvPr/>
        </p:nvSpPr>
        <p:spPr>
          <a:xfrm>
            <a:off x="1245537" y="2253517"/>
            <a:ext cx="1470347" cy="17474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1056467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88327A0-EEC0-06BE-1222-FEDF5E01BDAD}"/>
              </a:ext>
            </a:extLst>
          </p:cNvPr>
          <p:cNvPicPr>
            <a:picLocks noChangeAspect="1"/>
          </p:cNvPicPr>
          <p:nvPr/>
        </p:nvPicPr>
        <p:blipFill>
          <a:blip r:embed="rId3"/>
          <a:stretch>
            <a:fillRect/>
          </a:stretch>
        </p:blipFill>
        <p:spPr>
          <a:xfrm>
            <a:off x="829650" y="1273307"/>
            <a:ext cx="10632677" cy="5052327"/>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884853" y="382637"/>
            <a:ext cx="10477497" cy="898555"/>
          </a:xfrm>
        </p:spPr>
        <p:txBody>
          <a:bodyPr/>
          <a:lstStyle/>
          <a:p>
            <a:r>
              <a:rPr lang="es-ES_tradnl" b="1" dirty="0">
                <a:solidFill>
                  <a:schemeClr val="accent1"/>
                </a:solidFill>
              </a:rPr>
              <a:t>Reglas de validación: Instructor Principal</a:t>
            </a:r>
          </a:p>
        </p:txBody>
      </p:sp>
      <p:sp>
        <p:nvSpPr>
          <p:cNvPr id="24" name="Rectángulo redondeado 5">
            <a:extLst>
              <a:ext uri="{FF2B5EF4-FFF2-40B4-BE49-F238E27FC236}">
                <a16:creationId xmlns:a16="http://schemas.microsoft.com/office/drawing/2014/main" id="{85E73F45-3A19-4DD6-B712-13271ABAC45D}"/>
              </a:ext>
            </a:extLst>
          </p:cNvPr>
          <p:cNvSpPr/>
          <p:nvPr/>
        </p:nvSpPr>
        <p:spPr>
          <a:xfrm>
            <a:off x="2915972" y="4800600"/>
            <a:ext cx="7431933" cy="1422767"/>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CO" sz="1200" dirty="0"/>
              <a:t>La regla de </a:t>
            </a:r>
            <a:r>
              <a:rPr lang="es-CO" sz="1200" b="1" dirty="0"/>
              <a:t>PRIMINSTR</a:t>
            </a:r>
            <a:r>
              <a:rPr lang="es-CO" sz="1200" dirty="0"/>
              <a:t> se usa para indicar si las calificaciones se deben ingresar solo por el instructor principal o por cualquier docente que esté asignado al NRC.</a:t>
            </a:r>
          </a:p>
          <a:p>
            <a:pPr marL="171450" indent="-171450">
              <a:buFont typeface="Arial" panose="020B0604020202020204" pitchFamily="34" charset="0"/>
              <a:buChar char="•"/>
            </a:pPr>
            <a:r>
              <a:rPr lang="es-CO" sz="1200" b="1" dirty="0"/>
              <a:t>N</a:t>
            </a:r>
            <a:r>
              <a:rPr lang="es-CO" sz="1200" dirty="0"/>
              <a:t>: si todos los docentes asignados al NRC pueden cargar calificaciones.</a:t>
            </a:r>
          </a:p>
          <a:p>
            <a:pPr marL="171450" indent="-171450">
              <a:buFont typeface="Arial" panose="020B0604020202020204" pitchFamily="34" charset="0"/>
              <a:buChar char="•"/>
            </a:pPr>
            <a:r>
              <a:rPr lang="es-CO" sz="1200" b="1" dirty="0"/>
              <a:t>Y</a:t>
            </a:r>
            <a:r>
              <a:rPr lang="es-CO" sz="1200" dirty="0"/>
              <a:t>: si solamente el instructor principal de los NRC pueden ingresar calificaciones.</a:t>
            </a:r>
          </a:p>
        </p:txBody>
      </p:sp>
      <p:sp>
        <p:nvSpPr>
          <p:cNvPr id="25" name="Rectángulo 24">
            <a:extLst>
              <a:ext uri="{FF2B5EF4-FFF2-40B4-BE49-F238E27FC236}">
                <a16:creationId xmlns:a16="http://schemas.microsoft.com/office/drawing/2014/main" id="{C05F024C-157B-4B78-9C25-998E006664FF}"/>
              </a:ext>
            </a:extLst>
          </p:cNvPr>
          <p:cNvSpPr/>
          <p:nvPr/>
        </p:nvSpPr>
        <p:spPr>
          <a:xfrm>
            <a:off x="1208591" y="2328813"/>
            <a:ext cx="1470347" cy="17474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6191121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C1445F4-F7AE-0D30-A637-AAFCE4909456}"/>
              </a:ext>
            </a:extLst>
          </p:cNvPr>
          <p:cNvPicPr>
            <a:picLocks noChangeAspect="1"/>
          </p:cNvPicPr>
          <p:nvPr/>
        </p:nvPicPr>
        <p:blipFill>
          <a:blip r:embed="rId3"/>
          <a:stretch>
            <a:fillRect/>
          </a:stretch>
        </p:blipFill>
        <p:spPr>
          <a:xfrm>
            <a:off x="829650" y="1281192"/>
            <a:ext cx="10623170" cy="5039907"/>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884853" y="382637"/>
            <a:ext cx="10477497" cy="898555"/>
          </a:xfrm>
        </p:spPr>
        <p:txBody>
          <a:bodyPr/>
          <a:lstStyle/>
          <a:p>
            <a:r>
              <a:rPr lang="es-ES_tradnl" b="1" dirty="0">
                <a:solidFill>
                  <a:schemeClr val="accent1"/>
                </a:solidFill>
              </a:rPr>
              <a:t>Reglas de validación: Cantidad de decimales</a:t>
            </a:r>
          </a:p>
        </p:txBody>
      </p:sp>
      <p:sp>
        <p:nvSpPr>
          <p:cNvPr id="24" name="Rectángulo redondeado 5">
            <a:extLst>
              <a:ext uri="{FF2B5EF4-FFF2-40B4-BE49-F238E27FC236}">
                <a16:creationId xmlns:a16="http://schemas.microsoft.com/office/drawing/2014/main" id="{85E73F45-3A19-4DD6-B712-13271ABAC45D}"/>
              </a:ext>
            </a:extLst>
          </p:cNvPr>
          <p:cNvSpPr/>
          <p:nvPr/>
        </p:nvSpPr>
        <p:spPr>
          <a:xfrm>
            <a:off x="2856338" y="4879921"/>
            <a:ext cx="6317480" cy="1043801"/>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CO" sz="1200" dirty="0"/>
              <a:t>La regla de </a:t>
            </a:r>
            <a:r>
              <a:rPr lang="es-CO" sz="1200" b="1" dirty="0"/>
              <a:t>SCALELIMIT</a:t>
            </a:r>
            <a:r>
              <a:rPr lang="es-CO" sz="1200" dirty="0"/>
              <a:t> se usa para definir el número de dígitos a desplegar después del punto decimal para los campos de Puntaje y Porcentaje en el Autoservicio. El valor predefinido es 2 y los valores aceptados son desde 1 a 6.</a:t>
            </a:r>
          </a:p>
        </p:txBody>
      </p:sp>
      <p:sp>
        <p:nvSpPr>
          <p:cNvPr id="25" name="Rectángulo 24">
            <a:extLst>
              <a:ext uri="{FF2B5EF4-FFF2-40B4-BE49-F238E27FC236}">
                <a16:creationId xmlns:a16="http://schemas.microsoft.com/office/drawing/2014/main" id="{C05F024C-157B-4B78-9C25-998E006664FF}"/>
              </a:ext>
            </a:extLst>
          </p:cNvPr>
          <p:cNvSpPr/>
          <p:nvPr/>
        </p:nvSpPr>
        <p:spPr>
          <a:xfrm>
            <a:off x="1254774" y="2308935"/>
            <a:ext cx="1470347" cy="19462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057586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A722597D-F6CD-757C-3ED9-C528CECDDCA1}"/>
              </a:ext>
            </a:extLst>
          </p:cNvPr>
          <p:cNvPicPr>
            <a:picLocks noChangeAspect="1"/>
          </p:cNvPicPr>
          <p:nvPr/>
        </p:nvPicPr>
        <p:blipFill>
          <a:blip r:embed="rId3"/>
          <a:stretch>
            <a:fillRect/>
          </a:stretch>
        </p:blipFill>
        <p:spPr>
          <a:xfrm>
            <a:off x="829650" y="1225434"/>
            <a:ext cx="10755798" cy="5086293"/>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884853" y="382637"/>
            <a:ext cx="10477497" cy="898555"/>
          </a:xfrm>
        </p:spPr>
        <p:txBody>
          <a:bodyPr/>
          <a:lstStyle/>
          <a:p>
            <a:r>
              <a:rPr lang="es-ES_tradnl" b="1" dirty="0">
                <a:solidFill>
                  <a:schemeClr val="accent1"/>
                </a:solidFill>
              </a:rPr>
              <a:t>Reglas de validación: Comentarios de componentes</a:t>
            </a:r>
          </a:p>
        </p:txBody>
      </p:sp>
      <p:sp>
        <p:nvSpPr>
          <p:cNvPr id="24" name="Rectángulo redondeado 5">
            <a:extLst>
              <a:ext uri="{FF2B5EF4-FFF2-40B4-BE49-F238E27FC236}">
                <a16:creationId xmlns:a16="http://schemas.microsoft.com/office/drawing/2014/main" id="{85E73F45-3A19-4DD6-B712-13271ABAC45D}"/>
              </a:ext>
            </a:extLst>
          </p:cNvPr>
          <p:cNvSpPr/>
          <p:nvPr/>
        </p:nvSpPr>
        <p:spPr>
          <a:xfrm>
            <a:off x="1536154" y="4293705"/>
            <a:ext cx="9064487" cy="1351721"/>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CO" sz="1200" dirty="0"/>
              <a:t>En las reglas del Grupo </a:t>
            </a:r>
            <a:r>
              <a:rPr lang="es-CO" sz="1200" b="1" dirty="0"/>
              <a:t>EGBCOMPONENTCOMMENT</a:t>
            </a:r>
            <a:r>
              <a:rPr lang="es-CO" sz="1200" dirty="0"/>
              <a:t> se definen los comentarios que los docentes pueden seleccionar al cargar calificaciones a los componentes desde autoservicios.</a:t>
            </a:r>
          </a:p>
          <a:p>
            <a:r>
              <a:rPr lang="es-CO" sz="1200" dirty="0"/>
              <a:t>Por defecto, se tiene un comentario con la </a:t>
            </a:r>
            <a:r>
              <a:rPr lang="es-CO" sz="1200" b="1" dirty="0"/>
              <a:t>descripción</a:t>
            </a:r>
            <a:r>
              <a:rPr lang="es-CO" sz="1200" dirty="0"/>
              <a:t> “</a:t>
            </a:r>
            <a:r>
              <a:rPr lang="es-CO" sz="1200" dirty="0" err="1"/>
              <a:t>Component</a:t>
            </a:r>
            <a:r>
              <a:rPr lang="es-CO" sz="1200" dirty="0"/>
              <a:t> </a:t>
            </a:r>
            <a:r>
              <a:rPr lang="es-CO" sz="1200" dirty="0" err="1"/>
              <a:t>Comment</a:t>
            </a:r>
            <a:r>
              <a:rPr lang="es-CO" sz="1200" dirty="0"/>
              <a:t> 1”, que se puede modificar (ese es el valor que tomará el comentario del docente). Adicionalmente se pueden ingresar otros comentarios siguiendo los pasos que a continuación se indican:</a:t>
            </a:r>
          </a:p>
        </p:txBody>
      </p:sp>
      <p:sp>
        <p:nvSpPr>
          <p:cNvPr id="6" name="Rectángulo 5">
            <a:extLst>
              <a:ext uri="{FF2B5EF4-FFF2-40B4-BE49-F238E27FC236}">
                <a16:creationId xmlns:a16="http://schemas.microsoft.com/office/drawing/2014/main" id="{1FA95A42-7937-50A8-3958-D7F719CDFCC0}"/>
              </a:ext>
            </a:extLst>
          </p:cNvPr>
          <p:cNvSpPr/>
          <p:nvPr/>
        </p:nvSpPr>
        <p:spPr>
          <a:xfrm>
            <a:off x="1266322" y="2564295"/>
            <a:ext cx="1913802" cy="21275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5580239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AF1F4A7-1CBF-BD0A-0874-E92F43ACD3CB}"/>
              </a:ext>
            </a:extLst>
          </p:cNvPr>
          <p:cNvPicPr>
            <a:picLocks noChangeAspect="1"/>
          </p:cNvPicPr>
          <p:nvPr/>
        </p:nvPicPr>
        <p:blipFill>
          <a:blip r:embed="rId3"/>
          <a:stretch>
            <a:fillRect/>
          </a:stretch>
        </p:blipFill>
        <p:spPr>
          <a:xfrm>
            <a:off x="829650" y="1174721"/>
            <a:ext cx="10865526" cy="5135504"/>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829650" y="382637"/>
            <a:ext cx="11027733" cy="898555"/>
          </a:xfrm>
        </p:spPr>
        <p:txBody>
          <a:bodyPr/>
          <a:lstStyle/>
          <a:p>
            <a:r>
              <a:rPr lang="es-ES_tradnl" b="1" dirty="0">
                <a:solidFill>
                  <a:schemeClr val="accent1"/>
                </a:solidFill>
              </a:rPr>
              <a:t>Reglas de validación: Comentarios de subcomponentes</a:t>
            </a:r>
          </a:p>
        </p:txBody>
      </p:sp>
      <p:sp>
        <p:nvSpPr>
          <p:cNvPr id="24" name="Rectángulo redondeado 5">
            <a:extLst>
              <a:ext uri="{FF2B5EF4-FFF2-40B4-BE49-F238E27FC236}">
                <a16:creationId xmlns:a16="http://schemas.microsoft.com/office/drawing/2014/main" id="{85E73F45-3A19-4DD6-B712-13271ABAC45D}"/>
              </a:ext>
            </a:extLst>
          </p:cNvPr>
          <p:cNvSpPr/>
          <p:nvPr/>
        </p:nvSpPr>
        <p:spPr>
          <a:xfrm>
            <a:off x="1536154" y="4293705"/>
            <a:ext cx="9064487" cy="1351721"/>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CO" sz="1200" dirty="0"/>
              <a:t>En las reglas del Grupo </a:t>
            </a:r>
            <a:r>
              <a:rPr lang="es-CO" sz="1200" b="1" dirty="0"/>
              <a:t>EGBSUBCOMPCOMMENT</a:t>
            </a:r>
            <a:r>
              <a:rPr lang="es-CO" sz="1200" dirty="0"/>
              <a:t> se definen los comentarios que los docentes pueden seleccionar al cargar calificaciones a los subcomponentes desde autoservicios.</a:t>
            </a:r>
          </a:p>
          <a:p>
            <a:r>
              <a:rPr lang="es-CO" sz="1200" dirty="0"/>
              <a:t>Por defecto, se tiene un comentario con la </a:t>
            </a:r>
            <a:r>
              <a:rPr lang="es-CO" sz="1200" b="1" dirty="0"/>
              <a:t>descripción</a:t>
            </a:r>
            <a:r>
              <a:rPr lang="es-CO" sz="1200" dirty="0"/>
              <a:t> “</a:t>
            </a:r>
            <a:r>
              <a:rPr lang="es-CO" sz="1200" dirty="0" err="1"/>
              <a:t>Subcomponent</a:t>
            </a:r>
            <a:r>
              <a:rPr lang="es-CO" sz="1200" dirty="0"/>
              <a:t> </a:t>
            </a:r>
            <a:r>
              <a:rPr lang="es-CO" sz="1200" dirty="0" err="1"/>
              <a:t>Comment</a:t>
            </a:r>
            <a:r>
              <a:rPr lang="es-CO" sz="1200" dirty="0"/>
              <a:t> 1”, que se puede modificar (ese es el valor que tomará el comentario del docente). Adicionalmente se pueden ingresar otros comentarios siguiendo los pasos que a continuación se indican:</a:t>
            </a:r>
          </a:p>
        </p:txBody>
      </p:sp>
      <p:sp>
        <p:nvSpPr>
          <p:cNvPr id="6" name="Rectángulo 5">
            <a:extLst>
              <a:ext uri="{FF2B5EF4-FFF2-40B4-BE49-F238E27FC236}">
                <a16:creationId xmlns:a16="http://schemas.microsoft.com/office/drawing/2014/main" id="{1FA95A42-7937-50A8-3958-D7F719CDFCC0}"/>
              </a:ext>
            </a:extLst>
          </p:cNvPr>
          <p:cNvSpPr/>
          <p:nvPr/>
        </p:nvSpPr>
        <p:spPr>
          <a:xfrm>
            <a:off x="1147450" y="2530444"/>
            <a:ext cx="1913802" cy="21275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1920810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EAEF4-8909-1D32-D824-132A98E81BF0}"/>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AB05A416-A230-3572-F9D0-37BBE2C7AD27}"/>
              </a:ext>
            </a:extLst>
          </p:cNvPr>
          <p:cNvSpPr>
            <a:spLocks noGrp="1"/>
          </p:cNvSpPr>
          <p:nvPr>
            <p:ph type="body" orient="vert" sz="quarter" idx="10"/>
          </p:nvPr>
        </p:nvSpPr>
        <p:spPr/>
        <p:txBody>
          <a:bodyPr/>
          <a:lstStyle/>
          <a:p>
            <a:r>
              <a:rPr lang="es-419" dirty="0"/>
              <a:t>Ingresar calificaciones a través de Autoservicio </a:t>
            </a:r>
            <a:endParaRPr lang="es-ES_tradnl" dirty="0"/>
          </a:p>
        </p:txBody>
      </p:sp>
      <p:sp>
        <p:nvSpPr>
          <p:cNvPr id="5" name="Title 4">
            <a:extLst>
              <a:ext uri="{FF2B5EF4-FFF2-40B4-BE49-F238E27FC236}">
                <a16:creationId xmlns:a16="http://schemas.microsoft.com/office/drawing/2014/main" id="{FCEE2124-0F49-BBA5-C012-9CDD2058B89A}"/>
              </a:ext>
            </a:extLst>
          </p:cNvPr>
          <p:cNvSpPr>
            <a:spLocks noGrp="1"/>
          </p:cNvSpPr>
          <p:nvPr>
            <p:ph type="title"/>
          </p:nvPr>
        </p:nvSpPr>
        <p:spPr/>
        <p:txBody>
          <a:bodyPr/>
          <a:lstStyle/>
          <a:p>
            <a:r>
              <a:rPr lang="es-ES" dirty="0"/>
              <a:t>Despliegue de nombre del alumno</a:t>
            </a:r>
            <a:endParaRPr lang="es-419" dirty="0"/>
          </a:p>
        </p:txBody>
      </p:sp>
      <p:sp>
        <p:nvSpPr>
          <p:cNvPr id="4" name="Text Placeholder 3">
            <a:extLst>
              <a:ext uri="{FF2B5EF4-FFF2-40B4-BE49-F238E27FC236}">
                <a16:creationId xmlns:a16="http://schemas.microsoft.com/office/drawing/2014/main" id="{D08D682B-4AFB-EED9-7E5C-2616033F2BF7}"/>
              </a:ext>
            </a:extLst>
          </p:cNvPr>
          <p:cNvSpPr>
            <a:spLocks noGrp="1"/>
          </p:cNvSpPr>
          <p:nvPr>
            <p:ph type="body" sz="quarter" idx="18"/>
          </p:nvPr>
        </p:nvSpPr>
        <p:spPr/>
        <p:txBody>
          <a:bodyPr/>
          <a:lstStyle/>
          <a:p>
            <a:endParaRPr lang="es-419" dirty="0"/>
          </a:p>
        </p:txBody>
      </p:sp>
    </p:spTree>
    <p:extLst>
      <p:ext uri="{BB962C8B-B14F-4D97-AF65-F5344CB8AC3E}">
        <p14:creationId xmlns:p14="http://schemas.microsoft.com/office/powerpoint/2010/main" val="41625796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617D030-AD87-D895-A4B6-3246942B32C9}"/>
              </a:ext>
            </a:extLst>
          </p:cNvPr>
          <p:cNvPicPr>
            <a:picLocks noChangeAspect="1"/>
          </p:cNvPicPr>
          <p:nvPr/>
        </p:nvPicPr>
        <p:blipFill>
          <a:blip r:embed="rId3"/>
          <a:stretch>
            <a:fillRect/>
          </a:stretch>
        </p:blipFill>
        <p:spPr>
          <a:xfrm>
            <a:off x="685800" y="1115204"/>
            <a:ext cx="10962861" cy="5211946"/>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dirty="0">
                <a:solidFill>
                  <a:schemeClr val="accent1"/>
                </a:solidFill>
              </a:rPr>
              <a:t>D</a:t>
            </a:r>
            <a:r>
              <a:rPr lang="es-ES_tradnl" b="1" dirty="0">
                <a:solidFill>
                  <a:schemeClr val="accent1"/>
                </a:solidFill>
              </a:rPr>
              <a:t>espliegue de nombre del alumno en </a:t>
            </a:r>
            <a:r>
              <a:rPr lang="es-ES_tradnl" dirty="0">
                <a:solidFill>
                  <a:schemeClr val="accent1"/>
                </a:solidFill>
              </a:rPr>
              <a:t>calificaciones</a:t>
            </a:r>
            <a:endParaRPr lang="es-ES_tradnl" b="1" dirty="0">
              <a:solidFill>
                <a:schemeClr val="accent1"/>
              </a:solidFill>
            </a:endParaRPr>
          </a:p>
        </p:txBody>
      </p:sp>
      <p:sp>
        <p:nvSpPr>
          <p:cNvPr id="24" name="Rectángulo redondeado 5">
            <a:extLst>
              <a:ext uri="{FF2B5EF4-FFF2-40B4-BE49-F238E27FC236}">
                <a16:creationId xmlns:a16="http://schemas.microsoft.com/office/drawing/2014/main" id="{85E73F45-3A19-4DD6-B712-13271ABAC45D}"/>
              </a:ext>
            </a:extLst>
          </p:cNvPr>
          <p:cNvSpPr/>
          <p:nvPr/>
        </p:nvSpPr>
        <p:spPr>
          <a:xfrm>
            <a:off x="1313236" y="3236356"/>
            <a:ext cx="8677070" cy="1147172"/>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419" sz="1200" dirty="0"/>
              <a:t>En la página </a:t>
            </a:r>
            <a:r>
              <a:rPr lang="es-419" sz="1200" b="1" dirty="0"/>
              <a:t>GUANDSP</a:t>
            </a:r>
            <a:r>
              <a:rPr lang="es-419" sz="1200" dirty="0"/>
              <a:t> existen reglas de despliegue de nombre predefinidas. Antes de crear una nueva regla, verifique si una de las que ya existen corresponde a lo requerido por la institución.</a:t>
            </a:r>
          </a:p>
          <a:p>
            <a:r>
              <a:rPr lang="es-419" sz="1200" dirty="0"/>
              <a:t>A continuación, se muestran la definición de la regla LEGAL, como ejemplo para su definición:</a:t>
            </a:r>
            <a:endParaRPr lang="es-CO" sz="1200" dirty="0"/>
          </a:p>
        </p:txBody>
      </p:sp>
    </p:spTree>
    <p:extLst>
      <p:ext uri="{BB962C8B-B14F-4D97-AF65-F5344CB8AC3E}">
        <p14:creationId xmlns:p14="http://schemas.microsoft.com/office/powerpoint/2010/main" val="2424265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FEE44B10-B2CB-0031-4F61-E02FFE3BC088}"/>
              </a:ext>
            </a:extLst>
          </p:cNvPr>
          <p:cNvPicPr>
            <a:picLocks noChangeAspect="1"/>
          </p:cNvPicPr>
          <p:nvPr/>
        </p:nvPicPr>
        <p:blipFill>
          <a:blip r:embed="rId3"/>
          <a:stretch>
            <a:fillRect/>
          </a:stretch>
        </p:blipFill>
        <p:spPr>
          <a:xfrm>
            <a:off x="685800" y="1115204"/>
            <a:ext cx="10962861" cy="5211946"/>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dirty="0">
                <a:solidFill>
                  <a:schemeClr val="accent1"/>
                </a:solidFill>
              </a:rPr>
              <a:t>D</a:t>
            </a:r>
            <a:r>
              <a:rPr lang="es-ES_tradnl" b="1" dirty="0">
                <a:solidFill>
                  <a:schemeClr val="accent1"/>
                </a:solidFill>
              </a:rPr>
              <a:t>espliegue de nombre del alumno en </a:t>
            </a:r>
            <a:r>
              <a:rPr lang="es-ES_tradnl" dirty="0">
                <a:solidFill>
                  <a:schemeClr val="accent1"/>
                </a:solidFill>
              </a:rPr>
              <a:t>calificaciones</a:t>
            </a:r>
            <a:endParaRPr lang="es-ES_tradnl" b="1" dirty="0">
              <a:solidFill>
                <a:schemeClr val="accent1"/>
              </a:solidFill>
            </a:endParaRPr>
          </a:p>
        </p:txBody>
      </p:sp>
      <p:sp>
        <p:nvSpPr>
          <p:cNvPr id="2" name="Rectángulo 1">
            <a:extLst>
              <a:ext uri="{FF2B5EF4-FFF2-40B4-BE49-F238E27FC236}">
                <a16:creationId xmlns:a16="http://schemas.microsoft.com/office/drawing/2014/main" id="{4FC106CF-8413-4CA5-8133-2E45DB01343B}"/>
              </a:ext>
            </a:extLst>
          </p:cNvPr>
          <p:cNvSpPr/>
          <p:nvPr/>
        </p:nvSpPr>
        <p:spPr>
          <a:xfrm>
            <a:off x="569891" y="2191173"/>
            <a:ext cx="10792459" cy="108287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redondeado 5">
            <a:extLst>
              <a:ext uri="{FF2B5EF4-FFF2-40B4-BE49-F238E27FC236}">
                <a16:creationId xmlns:a16="http://schemas.microsoft.com/office/drawing/2014/main" id="{CF5AA708-20E0-EEEC-FD95-BE9901127D3E}"/>
              </a:ext>
            </a:extLst>
          </p:cNvPr>
          <p:cNvSpPr/>
          <p:nvPr/>
        </p:nvSpPr>
        <p:spPr>
          <a:xfrm>
            <a:off x="1335755" y="3936337"/>
            <a:ext cx="9260730" cy="1728523"/>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419" sz="1200" dirty="0"/>
              <a:t>En la pestaña Único, bloque </a:t>
            </a:r>
            <a:r>
              <a:rPr lang="es-419" sz="1200" b="1" dirty="0"/>
              <a:t>Regla de nombre único</a:t>
            </a:r>
            <a:r>
              <a:rPr lang="es-419" sz="1200" dirty="0"/>
              <a:t>, se visualizan:</a:t>
            </a:r>
          </a:p>
          <a:p>
            <a:pPr marL="171450" indent="-171450">
              <a:buFont typeface="Arial" panose="020B0604020202020204" pitchFamily="34" charset="0"/>
              <a:buChar char="•"/>
            </a:pPr>
            <a:r>
              <a:rPr lang="es-419" sz="1200" dirty="0"/>
              <a:t>El </a:t>
            </a:r>
            <a:r>
              <a:rPr lang="es-419" sz="1200" b="1" dirty="0"/>
              <a:t>nombre de uso</a:t>
            </a:r>
          </a:p>
          <a:p>
            <a:pPr marL="171450" indent="-171450">
              <a:buFont typeface="Arial" panose="020B0604020202020204" pitchFamily="34" charset="0"/>
              <a:buChar char="•"/>
            </a:pPr>
            <a:r>
              <a:rPr lang="es-419" sz="1200" dirty="0"/>
              <a:t>La </a:t>
            </a:r>
            <a:r>
              <a:rPr lang="es-419" sz="1200" b="1" dirty="0"/>
              <a:t>prioridad</a:t>
            </a:r>
            <a:r>
              <a:rPr lang="es-419" sz="1200" dirty="0"/>
              <a:t> que se da a esta regla</a:t>
            </a:r>
            <a:r>
              <a:rPr lang="es-CO" sz="1200" dirty="0"/>
              <a:t> (en aquellos procesos en los que no haya una regla establecida, se aplica el orden de prioridad)</a:t>
            </a:r>
          </a:p>
          <a:p>
            <a:pPr marL="171450" indent="-171450">
              <a:buFont typeface="Arial" panose="020B0604020202020204" pitchFamily="34" charset="0"/>
              <a:buChar char="•"/>
            </a:pPr>
            <a:r>
              <a:rPr lang="es-419" sz="1200" dirty="0"/>
              <a:t>El </a:t>
            </a:r>
            <a:r>
              <a:rPr lang="es-419" sz="1200" b="1" dirty="0"/>
              <a:t>tipo de nombre </a:t>
            </a:r>
            <a:r>
              <a:rPr lang="es-419" sz="1200" dirty="0"/>
              <a:t>que debe tomar de la página SPAIDEN. Si el valor es ***, toma el registro actual de la persona en SPAIDEN.</a:t>
            </a:r>
          </a:p>
          <a:p>
            <a:pPr marL="171450" indent="-171450">
              <a:buFont typeface="Arial" panose="020B0604020202020204" pitchFamily="34" charset="0"/>
              <a:buChar char="•"/>
            </a:pPr>
            <a:r>
              <a:rPr lang="es-419" sz="1200" b="1" dirty="0"/>
              <a:t>Activo</a:t>
            </a:r>
            <a:r>
              <a:rPr lang="es-419" sz="1200" dirty="0"/>
              <a:t> (si está marcado se puede usar la regla)</a:t>
            </a:r>
          </a:p>
          <a:p>
            <a:pPr marL="171450" indent="-171450">
              <a:buFont typeface="Arial" panose="020B0604020202020204" pitchFamily="34" charset="0"/>
              <a:buChar char="•"/>
            </a:pPr>
            <a:r>
              <a:rPr lang="es-419" sz="1200" b="1" dirty="0"/>
              <a:t>Longitud máxima</a:t>
            </a:r>
            <a:r>
              <a:rPr lang="es-419" sz="1200" dirty="0"/>
              <a:t>, en donde está definido el máximo de caracteres que se visualizarán en el nombre a desplegar</a:t>
            </a:r>
          </a:p>
          <a:p>
            <a:pPr marL="171450" indent="-171450">
              <a:buFont typeface="Arial" panose="020B0604020202020204" pitchFamily="34" charset="0"/>
              <a:buChar char="•"/>
            </a:pPr>
            <a:r>
              <a:rPr lang="es-419" sz="1200" b="1" dirty="0"/>
              <a:t>Comentarios</a:t>
            </a:r>
            <a:r>
              <a:rPr lang="es-419" sz="1200" dirty="0"/>
              <a:t>, si aplica.</a:t>
            </a:r>
          </a:p>
        </p:txBody>
      </p:sp>
    </p:spTree>
    <p:extLst>
      <p:ext uri="{BB962C8B-B14F-4D97-AF65-F5344CB8AC3E}">
        <p14:creationId xmlns:p14="http://schemas.microsoft.com/office/powerpoint/2010/main" val="19194570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375A9C85-22D5-4D36-818F-6CC2A32DE1E4}"/>
              </a:ext>
            </a:extLst>
          </p:cNvPr>
          <p:cNvPicPr>
            <a:picLocks noChangeAspect="1"/>
          </p:cNvPicPr>
          <p:nvPr/>
        </p:nvPicPr>
        <p:blipFill>
          <a:blip r:embed="rId3"/>
          <a:stretch>
            <a:fillRect/>
          </a:stretch>
        </p:blipFill>
        <p:spPr>
          <a:xfrm>
            <a:off x="829650" y="1118624"/>
            <a:ext cx="10968098" cy="5201131"/>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dirty="0">
                <a:solidFill>
                  <a:schemeClr val="accent1"/>
                </a:solidFill>
              </a:rPr>
              <a:t>D</a:t>
            </a:r>
            <a:r>
              <a:rPr lang="es-ES_tradnl" b="1" dirty="0">
                <a:solidFill>
                  <a:schemeClr val="accent1"/>
                </a:solidFill>
              </a:rPr>
              <a:t>espliegue de nombre del alumno en </a:t>
            </a:r>
            <a:r>
              <a:rPr lang="es-ES_tradnl" dirty="0">
                <a:solidFill>
                  <a:schemeClr val="accent1"/>
                </a:solidFill>
              </a:rPr>
              <a:t>calificaciones</a:t>
            </a:r>
            <a:endParaRPr lang="es-ES_tradnl" b="1" dirty="0">
              <a:solidFill>
                <a:schemeClr val="accent1"/>
              </a:solidFill>
            </a:endParaRPr>
          </a:p>
        </p:txBody>
      </p:sp>
      <p:sp>
        <p:nvSpPr>
          <p:cNvPr id="2" name="Rectángulo 1">
            <a:extLst>
              <a:ext uri="{FF2B5EF4-FFF2-40B4-BE49-F238E27FC236}">
                <a16:creationId xmlns:a16="http://schemas.microsoft.com/office/drawing/2014/main" id="{4FC106CF-8413-4CA5-8133-2E45DB01343B}"/>
              </a:ext>
            </a:extLst>
          </p:cNvPr>
          <p:cNvSpPr/>
          <p:nvPr/>
        </p:nvSpPr>
        <p:spPr>
          <a:xfrm>
            <a:off x="901825" y="2311954"/>
            <a:ext cx="10792459" cy="230750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redondeado 5">
            <a:extLst>
              <a:ext uri="{FF2B5EF4-FFF2-40B4-BE49-F238E27FC236}">
                <a16:creationId xmlns:a16="http://schemas.microsoft.com/office/drawing/2014/main" id="{CF5AA708-20E0-EEEC-FD95-BE9901127D3E}"/>
              </a:ext>
            </a:extLst>
          </p:cNvPr>
          <p:cNvSpPr/>
          <p:nvPr/>
        </p:nvSpPr>
        <p:spPr>
          <a:xfrm>
            <a:off x="2273031" y="4658368"/>
            <a:ext cx="9260730" cy="1728523"/>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419" sz="1200" dirty="0"/>
              <a:t>En la pestaña </a:t>
            </a:r>
            <a:r>
              <a:rPr lang="es-419" sz="1200" b="1" dirty="0"/>
              <a:t>Único</a:t>
            </a:r>
            <a:r>
              <a:rPr lang="es-419" sz="1200" dirty="0"/>
              <a:t>, bloque </a:t>
            </a:r>
            <a:r>
              <a:rPr lang="es-419" sz="1200" b="1" dirty="0"/>
              <a:t>Secuencia de nombre</a:t>
            </a:r>
            <a:r>
              <a:rPr lang="es-419" sz="1200" dirty="0"/>
              <a:t>, se visualiza el orden en el que la regla organizará los elementos de SPAIDEN para el despliegue del nombre. En la imagen de esta diapositiva la regla ordena el nombre de la siguiente manera:</a:t>
            </a:r>
          </a:p>
          <a:p>
            <a:pPr marL="228600" indent="-228600">
              <a:buAutoNum type="arabicPeriod"/>
            </a:pPr>
            <a:r>
              <a:rPr lang="es-419" sz="1200" dirty="0"/>
              <a:t>Nombre</a:t>
            </a:r>
          </a:p>
          <a:p>
            <a:pPr marL="228600" indent="-228600">
              <a:buAutoNum type="arabicPeriod"/>
            </a:pPr>
            <a:r>
              <a:rPr lang="es-419" sz="1200" dirty="0"/>
              <a:t>Prefijo de apellido</a:t>
            </a:r>
          </a:p>
          <a:p>
            <a:pPr marL="228600" indent="-228600">
              <a:buAutoNum type="arabicPeriod"/>
            </a:pPr>
            <a:r>
              <a:rPr lang="es-419" sz="1200" dirty="0"/>
              <a:t>Apellido</a:t>
            </a:r>
          </a:p>
          <a:p>
            <a:r>
              <a:rPr lang="es-419" sz="1200" dirty="0"/>
              <a:t>Todos los elementos los trae de SPAIDEN.</a:t>
            </a:r>
          </a:p>
        </p:txBody>
      </p:sp>
    </p:spTree>
    <p:extLst>
      <p:ext uri="{BB962C8B-B14F-4D97-AF65-F5344CB8AC3E}">
        <p14:creationId xmlns:p14="http://schemas.microsoft.com/office/powerpoint/2010/main" val="597443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alpha val="20231"/>
          </a:schemeClr>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95F13C51-76C0-510B-58AB-0C6B64825E62}"/>
              </a:ext>
            </a:extLst>
          </p:cNvPr>
          <p:cNvPicPr>
            <a:picLocks noChangeAspect="1"/>
          </p:cNvPicPr>
          <p:nvPr/>
        </p:nvPicPr>
        <p:blipFill>
          <a:blip r:embed="rId4"/>
          <a:stretch>
            <a:fillRect/>
          </a:stretch>
        </p:blipFill>
        <p:spPr>
          <a:xfrm>
            <a:off x="829650" y="1118624"/>
            <a:ext cx="10968098" cy="5201131"/>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dirty="0">
                <a:solidFill>
                  <a:schemeClr val="accent1"/>
                </a:solidFill>
              </a:rPr>
              <a:t>D</a:t>
            </a:r>
            <a:r>
              <a:rPr lang="es-ES_tradnl" b="1" dirty="0">
                <a:solidFill>
                  <a:schemeClr val="accent1"/>
                </a:solidFill>
              </a:rPr>
              <a:t>espliegue de nombre del alumno en </a:t>
            </a:r>
            <a:r>
              <a:rPr lang="es-ES_tradnl" dirty="0">
                <a:solidFill>
                  <a:schemeClr val="accent1"/>
                </a:solidFill>
              </a:rPr>
              <a:t>calificaciones</a:t>
            </a:r>
            <a:endParaRPr lang="es-ES_tradnl" b="1" dirty="0">
              <a:solidFill>
                <a:schemeClr val="accent1"/>
              </a:solidFill>
            </a:endParaRPr>
          </a:p>
        </p:txBody>
      </p:sp>
      <p:sp>
        <p:nvSpPr>
          <p:cNvPr id="2" name="Rectángulo 1">
            <a:extLst>
              <a:ext uri="{FF2B5EF4-FFF2-40B4-BE49-F238E27FC236}">
                <a16:creationId xmlns:a16="http://schemas.microsoft.com/office/drawing/2014/main" id="{4FC106CF-8413-4CA5-8133-2E45DB01343B}"/>
              </a:ext>
            </a:extLst>
          </p:cNvPr>
          <p:cNvSpPr/>
          <p:nvPr/>
        </p:nvSpPr>
        <p:spPr>
          <a:xfrm>
            <a:off x="754360" y="5326951"/>
            <a:ext cx="10683279" cy="114460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redondeado 5">
            <a:extLst>
              <a:ext uri="{FF2B5EF4-FFF2-40B4-BE49-F238E27FC236}">
                <a16:creationId xmlns:a16="http://schemas.microsoft.com/office/drawing/2014/main" id="{CF5AA708-20E0-EEEC-FD95-BE9901127D3E}"/>
              </a:ext>
            </a:extLst>
          </p:cNvPr>
          <p:cNvSpPr/>
          <p:nvPr/>
        </p:nvSpPr>
        <p:spPr>
          <a:xfrm>
            <a:off x="2890226" y="2503428"/>
            <a:ext cx="9002037" cy="1728523"/>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419" sz="1200" dirty="0"/>
              <a:t>En la pestaña </a:t>
            </a:r>
            <a:r>
              <a:rPr lang="es-419" sz="1200" b="1" dirty="0"/>
              <a:t>Único</a:t>
            </a:r>
            <a:r>
              <a:rPr lang="es-419" sz="1200" dirty="0"/>
              <a:t>, bloque </a:t>
            </a:r>
            <a:r>
              <a:rPr lang="es-419" sz="1200" b="1" dirty="0"/>
              <a:t>Secuencia de literal</a:t>
            </a:r>
            <a:r>
              <a:rPr lang="es-419" sz="1200" dirty="0"/>
              <a:t>, se visualiza, si aplica, el ordenen que se agregaría un literal o símbolo que se agregue en el despliegue del nombre. La secuencia de nombre y la secuencia de literal deben estar “combinadas”. En la imagen de esta diapositiva la regla ordena el nombre de la siguiente manera:</a:t>
            </a:r>
          </a:p>
          <a:p>
            <a:pPr marL="228600" indent="-228600">
              <a:buAutoNum type="arabicPeriod"/>
            </a:pPr>
            <a:r>
              <a:rPr lang="es-419" sz="1200" dirty="0"/>
              <a:t>Apellido</a:t>
            </a:r>
          </a:p>
          <a:p>
            <a:pPr marL="228600" indent="-228600">
              <a:buAutoNum type="arabicPeriod"/>
            </a:pPr>
            <a:r>
              <a:rPr lang="es-419" sz="1200" dirty="0"/>
              <a:t>El símbolo </a:t>
            </a:r>
            <a:r>
              <a:rPr lang="es-419" sz="1200" b="1" dirty="0"/>
              <a:t>,</a:t>
            </a:r>
            <a:r>
              <a:rPr lang="es-419" sz="1200" dirty="0"/>
              <a:t> </a:t>
            </a:r>
          </a:p>
          <a:p>
            <a:pPr marL="228600" indent="-228600">
              <a:buAutoNum type="arabicPeriod"/>
            </a:pPr>
            <a:r>
              <a:rPr lang="es-419" sz="1200" dirty="0"/>
              <a:t>Nombre</a:t>
            </a:r>
          </a:p>
          <a:p>
            <a:r>
              <a:rPr lang="es-419" sz="1200" dirty="0"/>
              <a:t>Los símbolos o literales siempre deben estar ingresados entre corchetes.</a:t>
            </a:r>
          </a:p>
        </p:txBody>
      </p:sp>
    </p:spTree>
    <p:extLst>
      <p:ext uri="{BB962C8B-B14F-4D97-AF65-F5344CB8AC3E}">
        <p14:creationId xmlns:p14="http://schemas.microsoft.com/office/powerpoint/2010/main" val="1760552984"/>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181EDE7B-929E-C04F-EF23-31D3D64F6B3D}"/>
              </a:ext>
            </a:extLst>
          </p:cNvPr>
          <p:cNvPicPr>
            <a:picLocks noChangeAspect="1"/>
          </p:cNvPicPr>
          <p:nvPr/>
        </p:nvPicPr>
        <p:blipFill>
          <a:blip r:embed="rId3"/>
          <a:stretch>
            <a:fillRect/>
          </a:stretch>
        </p:blipFill>
        <p:spPr>
          <a:xfrm>
            <a:off x="609600" y="1253299"/>
            <a:ext cx="10707043" cy="5052071"/>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dirty="0">
                <a:solidFill>
                  <a:schemeClr val="accent1"/>
                </a:solidFill>
              </a:rPr>
              <a:t>D</a:t>
            </a:r>
            <a:r>
              <a:rPr lang="es-ES_tradnl" b="1" dirty="0">
                <a:solidFill>
                  <a:schemeClr val="accent1"/>
                </a:solidFill>
              </a:rPr>
              <a:t>espliegue de nombre del alumno en </a:t>
            </a:r>
            <a:r>
              <a:rPr lang="es-ES_tradnl" dirty="0">
                <a:solidFill>
                  <a:schemeClr val="accent1"/>
                </a:solidFill>
              </a:rPr>
              <a:t>calificaciones</a:t>
            </a:r>
            <a:endParaRPr lang="es-ES_tradnl" b="1" dirty="0">
              <a:solidFill>
                <a:schemeClr val="accent1"/>
              </a:solidFill>
            </a:endParaRPr>
          </a:p>
        </p:txBody>
      </p:sp>
      <p:sp>
        <p:nvSpPr>
          <p:cNvPr id="2" name="Rectángulo 1">
            <a:extLst>
              <a:ext uri="{FF2B5EF4-FFF2-40B4-BE49-F238E27FC236}">
                <a16:creationId xmlns:a16="http://schemas.microsoft.com/office/drawing/2014/main" id="{4FC106CF-8413-4CA5-8133-2E45DB01343B}"/>
              </a:ext>
            </a:extLst>
          </p:cNvPr>
          <p:cNvSpPr/>
          <p:nvPr/>
        </p:nvSpPr>
        <p:spPr>
          <a:xfrm>
            <a:off x="1742449" y="1740491"/>
            <a:ext cx="674056" cy="15925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redondeado 5">
            <a:extLst>
              <a:ext uri="{FF2B5EF4-FFF2-40B4-BE49-F238E27FC236}">
                <a16:creationId xmlns:a16="http://schemas.microsoft.com/office/drawing/2014/main" id="{CF5AA708-20E0-EEEC-FD95-BE9901127D3E}"/>
              </a:ext>
            </a:extLst>
          </p:cNvPr>
          <p:cNvSpPr/>
          <p:nvPr/>
        </p:nvSpPr>
        <p:spPr>
          <a:xfrm>
            <a:off x="1332332" y="4218531"/>
            <a:ext cx="9002037" cy="1728523"/>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228600" indent="-228600">
              <a:buFont typeface="+mj-lt"/>
              <a:buAutoNum type="arabicPeriod"/>
            </a:pPr>
            <a:r>
              <a:rPr lang="es-419" sz="1200" dirty="0"/>
              <a:t>Si desea </a:t>
            </a:r>
            <a:r>
              <a:rPr lang="es-419" sz="1200" dirty="0" err="1"/>
              <a:t>pre-visualizar</a:t>
            </a:r>
            <a:r>
              <a:rPr lang="es-419" sz="1200" dirty="0"/>
              <a:t> el despliegue del nombre en las reglas existentes, presione la pestaña </a:t>
            </a:r>
            <a:r>
              <a:rPr lang="es-419" sz="1200" b="1" dirty="0"/>
              <a:t>Reglas de Prueba</a:t>
            </a:r>
          </a:p>
          <a:p>
            <a:pPr marL="228600" indent="-228600">
              <a:buFont typeface="+mj-lt"/>
              <a:buAutoNum type="arabicPeriod"/>
            </a:pPr>
            <a:r>
              <a:rPr lang="es-419" sz="1200" dirty="0"/>
              <a:t>Ingrese un </a:t>
            </a:r>
            <a:r>
              <a:rPr lang="es-419" sz="1200" b="1" dirty="0"/>
              <a:t>ID</a:t>
            </a:r>
            <a:r>
              <a:rPr lang="es-419" sz="1200" dirty="0"/>
              <a:t> de una persona que exista en el sistema</a:t>
            </a:r>
          </a:p>
          <a:p>
            <a:pPr marL="228600" indent="-228600">
              <a:buFont typeface="+mj-lt"/>
              <a:buAutoNum type="arabicPeriod"/>
            </a:pPr>
            <a:r>
              <a:rPr lang="es-419" sz="1200" dirty="0"/>
              <a:t>Digite el código del nombre de </a:t>
            </a:r>
            <a:r>
              <a:rPr lang="es-419" sz="1200" b="1" dirty="0"/>
              <a:t>Uso</a:t>
            </a:r>
            <a:r>
              <a:rPr lang="es-419" sz="1200" dirty="0"/>
              <a:t> que desea visualizar</a:t>
            </a:r>
          </a:p>
          <a:p>
            <a:pPr marL="228600" indent="-228600">
              <a:buFont typeface="+mj-lt"/>
              <a:buAutoNum type="arabicPeriod"/>
            </a:pPr>
            <a:r>
              <a:rPr lang="es-419" sz="1200" dirty="0"/>
              <a:t>Presione el botón </a:t>
            </a:r>
            <a:r>
              <a:rPr lang="es-419" sz="1200" b="1" dirty="0"/>
              <a:t>Prueba</a:t>
            </a:r>
          </a:p>
          <a:p>
            <a:pPr marL="228600" indent="-228600">
              <a:buFont typeface="+mj-lt"/>
              <a:buAutoNum type="arabicPeriod"/>
            </a:pPr>
            <a:r>
              <a:rPr lang="es-419" sz="1200" dirty="0"/>
              <a:t>El sistema desplegará el ejemplo de cómo se desplegará el nombre de la persona a la que pertenece el ID</a:t>
            </a:r>
            <a:r>
              <a:rPr lang="es-419" sz="1200" b="1" dirty="0"/>
              <a:t>. </a:t>
            </a:r>
          </a:p>
          <a:p>
            <a:endParaRPr lang="es-419" sz="1200" b="1" dirty="0"/>
          </a:p>
          <a:p>
            <a:r>
              <a:rPr lang="es-419" sz="1200" dirty="0"/>
              <a:t>En la diapositiva siguiente se muestran los resultados para las reglas de uso vistas en este apartado para la misma persona</a:t>
            </a:r>
          </a:p>
        </p:txBody>
      </p:sp>
      <p:sp>
        <p:nvSpPr>
          <p:cNvPr id="8" name="CuadroTexto 7">
            <a:extLst>
              <a:ext uri="{FF2B5EF4-FFF2-40B4-BE49-F238E27FC236}">
                <a16:creationId xmlns:a16="http://schemas.microsoft.com/office/drawing/2014/main" id="{19B282D5-B118-FC92-0A95-4643EBBBFB33}"/>
              </a:ext>
            </a:extLst>
          </p:cNvPr>
          <p:cNvSpPr txBox="1"/>
          <p:nvPr/>
        </p:nvSpPr>
        <p:spPr>
          <a:xfrm>
            <a:off x="1362514" y="1688758"/>
            <a:ext cx="301753"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s-CO"/>
              <a:t>1</a:t>
            </a:r>
            <a:endParaRPr lang="en-US" dirty="0"/>
          </a:p>
        </p:txBody>
      </p:sp>
      <p:sp>
        <p:nvSpPr>
          <p:cNvPr id="10" name="CuadroTexto 9">
            <a:extLst>
              <a:ext uri="{FF2B5EF4-FFF2-40B4-BE49-F238E27FC236}">
                <a16:creationId xmlns:a16="http://schemas.microsoft.com/office/drawing/2014/main" id="{E2405009-64BB-02A0-8F72-1C4086EE5640}"/>
              </a:ext>
            </a:extLst>
          </p:cNvPr>
          <p:cNvSpPr txBox="1"/>
          <p:nvPr/>
        </p:nvSpPr>
        <p:spPr>
          <a:xfrm>
            <a:off x="733976" y="1936410"/>
            <a:ext cx="301753"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s-CO"/>
              <a:t>2</a:t>
            </a:r>
            <a:endParaRPr lang="en-US" dirty="0"/>
          </a:p>
        </p:txBody>
      </p:sp>
      <p:sp>
        <p:nvSpPr>
          <p:cNvPr id="12" name="CuadroTexto 11">
            <a:extLst>
              <a:ext uri="{FF2B5EF4-FFF2-40B4-BE49-F238E27FC236}">
                <a16:creationId xmlns:a16="http://schemas.microsoft.com/office/drawing/2014/main" id="{E3249A59-F33C-CD57-BC50-2688DFA866DE}"/>
              </a:ext>
            </a:extLst>
          </p:cNvPr>
          <p:cNvSpPr txBox="1"/>
          <p:nvPr/>
        </p:nvSpPr>
        <p:spPr>
          <a:xfrm>
            <a:off x="1957706" y="2095301"/>
            <a:ext cx="301753" cy="215444"/>
          </a:xfrm>
          <a:prstGeom prst="rect">
            <a:avLst/>
          </a:prstGeom>
          <a:solidFill>
            <a:schemeClr val="accent1"/>
          </a:solidFill>
        </p:spPr>
        <p:txBody>
          <a:bodyPr wrap="square" rtlCol="0">
            <a:spAutoFit/>
          </a:bodyPr>
          <a:lstStyle/>
          <a:p>
            <a:r>
              <a:rPr lang="en-US" sz="800" b="1" dirty="0">
                <a:solidFill>
                  <a:schemeClr val="bg1"/>
                </a:solidFill>
              </a:rPr>
              <a:t>3</a:t>
            </a:r>
          </a:p>
        </p:txBody>
      </p:sp>
      <p:sp>
        <p:nvSpPr>
          <p:cNvPr id="15" name="CuadroTexto 14">
            <a:extLst>
              <a:ext uri="{FF2B5EF4-FFF2-40B4-BE49-F238E27FC236}">
                <a16:creationId xmlns:a16="http://schemas.microsoft.com/office/drawing/2014/main" id="{56D0AA85-B600-23FD-291F-57E7B383BE68}"/>
              </a:ext>
            </a:extLst>
          </p:cNvPr>
          <p:cNvSpPr txBox="1"/>
          <p:nvPr/>
        </p:nvSpPr>
        <p:spPr>
          <a:xfrm>
            <a:off x="6239952" y="2044132"/>
            <a:ext cx="301753" cy="215444"/>
          </a:xfrm>
          <a:prstGeom prst="rect">
            <a:avLst/>
          </a:prstGeom>
          <a:solidFill>
            <a:schemeClr val="accent1"/>
          </a:solidFill>
        </p:spPr>
        <p:txBody>
          <a:bodyPr wrap="square" rtlCol="0">
            <a:spAutoFit/>
          </a:bodyPr>
          <a:lstStyle>
            <a:defPPr>
              <a:defRPr lang="en-US"/>
            </a:defPPr>
            <a:lvl1pPr>
              <a:defRPr sz="800" b="1">
                <a:solidFill>
                  <a:schemeClr val="bg1"/>
                </a:solidFill>
              </a:defRPr>
            </a:lvl1pPr>
          </a:lstStyle>
          <a:p>
            <a:r>
              <a:rPr lang="en-US" dirty="0"/>
              <a:t>4</a:t>
            </a:r>
          </a:p>
        </p:txBody>
      </p:sp>
    </p:spTree>
    <p:extLst>
      <p:ext uri="{BB962C8B-B14F-4D97-AF65-F5344CB8AC3E}">
        <p14:creationId xmlns:p14="http://schemas.microsoft.com/office/powerpoint/2010/main" val="5079670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AB4FB50-AB71-91A7-8A7A-E37C1173566F}"/>
              </a:ext>
            </a:extLst>
          </p:cNvPr>
          <p:cNvPicPr>
            <a:picLocks noChangeAspect="1"/>
          </p:cNvPicPr>
          <p:nvPr/>
        </p:nvPicPr>
        <p:blipFill>
          <a:blip r:embed="rId3"/>
          <a:stretch>
            <a:fillRect/>
          </a:stretch>
        </p:blipFill>
        <p:spPr>
          <a:xfrm>
            <a:off x="695739" y="1186302"/>
            <a:ext cx="10823714" cy="5134471"/>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dirty="0">
                <a:solidFill>
                  <a:schemeClr val="accent1"/>
                </a:solidFill>
              </a:rPr>
              <a:t>D</a:t>
            </a:r>
            <a:r>
              <a:rPr lang="es-ES_tradnl" b="1" dirty="0">
                <a:solidFill>
                  <a:schemeClr val="accent1"/>
                </a:solidFill>
              </a:rPr>
              <a:t>espliegue de nombre del alumno en </a:t>
            </a:r>
            <a:r>
              <a:rPr lang="es-ES_tradnl" dirty="0">
                <a:solidFill>
                  <a:schemeClr val="accent1"/>
                </a:solidFill>
              </a:rPr>
              <a:t>calificaciones</a:t>
            </a:r>
            <a:endParaRPr lang="es-ES_tradnl" b="1" dirty="0">
              <a:solidFill>
                <a:schemeClr val="accent1"/>
              </a:solidFill>
            </a:endParaRPr>
          </a:p>
        </p:txBody>
      </p:sp>
      <p:sp>
        <p:nvSpPr>
          <p:cNvPr id="2" name="Rectángulo 1">
            <a:extLst>
              <a:ext uri="{FF2B5EF4-FFF2-40B4-BE49-F238E27FC236}">
                <a16:creationId xmlns:a16="http://schemas.microsoft.com/office/drawing/2014/main" id="{4FC106CF-8413-4CA5-8133-2E45DB01343B}"/>
              </a:ext>
            </a:extLst>
          </p:cNvPr>
          <p:cNvSpPr/>
          <p:nvPr/>
        </p:nvSpPr>
        <p:spPr>
          <a:xfrm>
            <a:off x="1106807" y="1926340"/>
            <a:ext cx="976716" cy="1912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0202201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2729441-874B-6D22-E0E3-D4D49512AD21}"/>
              </a:ext>
            </a:extLst>
          </p:cNvPr>
          <p:cNvPicPr>
            <a:picLocks noChangeAspect="1"/>
          </p:cNvPicPr>
          <p:nvPr/>
        </p:nvPicPr>
        <p:blipFill>
          <a:blip r:embed="rId3"/>
          <a:stretch>
            <a:fillRect/>
          </a:stretch>
        </p:blipFill>
        <p:spPr>
          <a:xfrm>
            <a:off x="695738" y="1153823"/>
            <a:ext cx="10883349" cy="5172285"/>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dirty="0">
                <a:solidFill>
                  <a:schemeClr val="accent1"/>
                </a:solidFill>
              </a:rPr>
              <a:t>D</a:t>
            </a:r>
            <a:r>
              <a:rPr lang="es-ES_tradnl" b="1" dirty="0">
                <a:solidFill>
                  <a:schemeClr val="accent1"/>
                </a:solidFill>
              </a:rPr>
              <a:t>espliegue de nombre del alumno en </a:t>
            </a:r>
            <a:r>
              <a:rPr lang="es-ES_tradnl" dirty="0">
                <a:solidFill>
                  <a:schemeClr val="accent1"/>
                </a:solidFill>
              </a:rPr>
              <a:t>calificaciones</a:t>
            </a:r>
            <a:endParaRPr lang="es-ES_tradnl" b="1" dirty="0">
              <a:solidFill>
                <a:schemeClr val="accent1"/>
              </a:solidFill>
            </a:endParaRPr>
          </a:p>
        </p:txBody>
      </p:sp>
      <p:sp>
        <p:nvSpPr>
          <p:cNvPr id="2" name="Rectángulo 1">
            <a:extLst>
              <a:ext uri="{FF2B5EF4-FFF2-40B4-BE49-F238E27FC236}">
                <a16:creationId xmlns:a16="http://schemas.microsoft.com/office/drawing/2014/main" id="{4FC106CF-8413-4CA5-8133-2E45DB01343B}"/>
              </a:ext>
            </a:extLst>
          </p:cNvPr>
          <p:cNvSpPr/>
          <p:nvPr/>
        </p:nvSpPr>
        <p:spPr>
          <a:xfrm>
            <a:off x="1392316" y="1655677"/>
            <a:ext cx="426545" cy="12844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redondeado 5">
            <a:extLst>
              <a:ext uri="{FF2B5EF4-FFF2-40B4-BE49-F238E27FC236}">
                <a16:creationId xmlns:a16="http://schemas.microsoft.com/office/drawing/2014/main" id="{CF5AA708-20E0-EEEC-FD95-BE9901127D3E}"/>
              </a:ext>
            </a:extLst>
          </p:cNvPr>
          <p:cNvSpPr/>
          <p:nvPr/>
        </p:nvSpPr>
        <p:spPr>
          <a:xfrm>
            <a:off x="2996119" y="4218531"/>
            <a:ext cx="7431932" cy="1042151"/>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419" sz="1200" dirty="0"/>
              <a:t>Toda vez que haya decidido qué regla de uso va a usar para el despliegue del nombre de los alumnos en el control de asistencia:</a:t>
            </a:r>
          </a:p>
          <a:p>
            <a:endParaRPr lang="es-419" sz="1200" dirty="0"/>
          </a:p>
          <a:p>
            <a:pPr marL="228600" indent="-228600">
              <a:buFont typeface="+mj-lt"/>
              <a:buAutoNum type="arabicPeriod"/>
            </a:pPr>
            <a:r>
              <a:rPr lang="es-419" sz="1200" dirty="0"/>
              <a:t>En la pestaña Jerarquía, presione la opción </a:t>
            </a:r>
            <a:r>
              <a:rPr lang="es-419" sz="1200" b="1" dirty="0"/>
              <a:t>Filtrar</a:t>
            </a:r>
          </a:p>
        </p:txBody>
      </p:sp>
      <p:sp>
        <p:nvSpPr>
          <p:cNvPr id="8" name="CuadroTexto 7">
            <a:extLst>
              <a:ext uri="{FF2B5EF4-FFF2-40B4-BE49-F238E27FC236}">
                <a16:creationId xmlns:a16="http://schemas.microsoft.com/office/drawing/2014/main" id="{19B282D5-B118-FC92-0A95-4643EBBBFB33}"/>
              </a:ext>
            </a:extLst>
          </p:cNvPr>
          <p:cNvSpPr txBox="1"/>
          <p:nvPr/>
        </p:nvSpPr>
        <p:spPr>
          <a:xfrm>
            <a:off x="11277334" y="1535316"/>
            <a:ext cx="301753" cy="215444"/>
          </a:xfrm>
          <a:prstGeom prst="rect">
            <a:avLst/>
          </a:prstGeom>
          <a:solidFill>
            <a:schemeClr val="accent1"/>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9" name="Flecha: hacia la izquierda 8">
            <a:extLst>
              <a:ext uri="{FF2B5EF4-FFF2-40B4-BE49-F238E27FC236}">
                <a16:creationId xmlns:a16="http://schemas.microsoft.com/office/drawing/2014/main" id="{FFCBC2F8-0A27-AC6B-2406-AEA0A9DF66E6}"/>
              </a:ext>
            </a:extLst>
          </p:cNvPr>
          <p:cNvSpPr/>
          <p:nvPr/>
        </p:nvSpPr>
        <p:spPr>
          <a:xfrm rot="10800000">
            <a:off x="11167853" y="1266631"/>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12527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5D562CFE-5DB6-E756-E709-A92E37D2BAB7}"/>
              </a:ext>
            </a:extLst>
          </p:cNvPr>
          <p:cNvPicPr>
            <a:picLocks noChangeAspect="1"/>
          </p:cNvPicPr>
          <p:nvPr/>
        </p:nvPicPr>
        <p:blipFill>
          <a:blip r:embed="rId3"/>
          <a:stretch>
            <a:fillRect/>
          </a:stretch>
        </p:blipFill>
        <p:spPr>
          <a:xfrm>
            <a:off x="506896" y="1076600"/>
            <a:ext cx="11032434" cy="5257375"/>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84853" y="382637"/>
            <a:ext cx="10477497" cy="898555"/>
          </a:xfrm>
        </p:spPr>
        <p:txBody>
          <a:bodyPr/>
          <a:lstStyle/>
          <a:p>
            <a:r>
              <a:rPr lang="es-ES_tradnl" dirty="0">
                <a:solidFill>
                  <a:schemeClr val="accent1"/>
                </a:solidFill>
              </a:rPr>
              <a:t>D</a:t>
            </a:r>
            <a:r>
              <a:rPr lang="es-ES_tradnl" b="1" dirty="0">
                <a:solidFill>
                  <a:schemeClr val="accent1"/>
                </a:solidFill>
              </a:rPr>
              <a:t>espliegue de nombre del alumno en asistencia</a:t>
            </a:r>
          </a:p>
        </p:txBody>
      </p:sp>
      <p:sp>
        <p:nvSpPr>
          <p:cNvPr id="2" name="Rectángulo 1">
            <a:extLst>
              <a:ext uri="{FF2B5EF4-FFF2-40B4-BE49-F238E27FC236}">
                <a16:creationId xmlns:a16="http://schemas.microsoft.com/office/drawing/2014/main" id="{4FC106CF-8413-4CA5-8133-2E45DB01343B}"/>
              </a:ext>
            </a:extLst>
          </p:cNvPr>
          <p:cNvSpPr/>
          <p:nvPr/>
        </p:nvSpPr>
        <p:spPr>
          <a:xfrm>
            <a:off x="1545031" y="1118936"/>
            <a:ext cx="674056" cy="159253"/>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redondeado 5">
            <a:extLst>
              <a:ext uri="{FF2B5EF4-FFF2-40B4-BE49-F238E27FC236}">
                <a16:creationId xmlns:a16="http://schemas.microsoft.com/office/drawing/2014/main" id="{CF5AA708-20E0-EEEC-FD95-BE9901127D3E}"/>
              </a:ext>
            </a:extLst>
          </p:cNvPr>
          <p:cNvSpPr/>
          <p:nvPr/>
        </p:nvSpPr>
        <p:spPr>
          <a:xfrm>
            <a:off x="2545375" y="3910519"/>
            <a:ext cx="7610302" cy="894945"/>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228600" indent="-228600">
              <a:buFont typeface="+mj-lt"/>
              <a:buAutoNum type="arabicPeriod" startAt="2"/>
            </a:pPr>
            <a:r>
              <a:rPr lang="es-419" sz="1200" dirty="0"/>
              <a:t>Ingrese en la ventana que emerge el valor </a:t>
            </a:r>
            <a:r>
              <a:rPr lang="es-419" sz="1200" b="1" dirty="0" err="1"/>
              <a:t>Faculty</a:t>
            </a:r>
            <a:r>
              <a:rPr lang="es-419" sz="1200" b="1" dirty="0"/>
              <a:t> </a:t>
            </a:r>
            <a:r>
              <a:rPr lang="es-419" sz="1200" b="1" dirty="0" err="1"/>
              <a:t>Attendance</a:t>
            </a:r>
            <a:r>
              <a:rPr lang="es-419" sz="1200" b="1" dirty="0"/>
              <a:t> Tracking</a:t>
            </a:r>
            <a:r>
              <a:rPr lang="es-419" sz="1200" dirty="0"/>
              <a:t> en el campo Aplicación (es la aplicación de control de asistencia)</a:t>
            </a:r>
          </a:p>
          <a:p>
            <a:pPr marL="228600" indent="-228600">
              <a:buFont typeface="+mj-lt"/>
              <a:buAutoNum type="arabicPeriod" startAt="2"/>
            </a:pPr>
            <a:r>
              <a:rPr lang="es-419" sz="1200" dirty="0"/>
              <a:t>Presione el botón </a:t>
            </a:r>
            <a:r>
              <a:rPr lang="es-419" sz="1200" b="1" dirty="0"/>
              <a:t>Ir</a:t>
            </a:r>
          </a:p>
        </p:txBody>
      </p:sp>
      <p:sp>
        <p:nvSpPr>
          <p:cNvPr id="10" name="CuadroTexto 9">
            <a:extLst>
              <a:ext uri="{FF2B5EF4-FFF2-40B4-BE49-F238E27FC236}">
                <a16:creationId xmlns:a16="http://schemas.microsoft.com/office/drawing/2014/main" id="{E2405009-64BB-02A0-8F72-1C4086EE5640}"/>
              </a:ext>
            </a:extLst>
          </p:cNvPr>
          <p:cNvSpPr txBox="1"/>
          <p:nvPr/>
        </p:nvSpPr>
        <p:spPr>
          <a:xfrm>
            <a:off x="1426611" y="2158010"/>
            <a:ext cx="301753" cy="215444"/>
          </a:xfrm>
          <a:prstGeom prst="rect">
            <a:avLst/>
          </a:prstGeom>
          <a:solidFill>
            <a:schemeClr val="accent1"/>
          </a:solidFill>
        </p:spPr>
        <p:txBody>
          <a:bodyPr wrap="square" rtlCol="0">
            <a:spAutoFit/>
          </a:bodyPr>
          <a:lstStyle/>
          <a:p>
            <a:r>
              <a:rPr lang="es-CO" sz="800" b="1" dirty="0">
                <a:solidFill>
                  <a:schemeClr val="bg1"/>
                </a:solidFill>
              </a:rPr>
              <a:t>2</a:t>
            </a:r>
            <a:endParaRPr lang="en-US" sz="800" b="1" dirty="0">
              <a:solidFill>
                <a:schemeClr val="bg1"/>
              </a:solidFill>
            </a:endParaRPr>
          </a:p>
        </p:txBody>
      </p:sp>
      <p:sp>
        <p:nvSpPr>
          <p:cNvPr id="15" name="CuadroTexto 14">
            <a:extLst>
              <a:ext uri="{FF2B5EF4-FFF2-40B4-BE49-F238E27FC236}">
                <a16:creationId xmlns:a16="http://schemas.microsoft.com/office/drawing/2014/main" id="{56D0AA85-B600-23FD-291F-57E7B383BE68}"/>
              </a:ext>
            </a:extLst>
          </p:cNvPr>
          <p:cNvSpPr txBox="1"/>
          <p:nvPr/>
        </p:nvSpPr>
        <p:spPr>
          <a:xfrm>
            <a:off x="11310472" y="2158010"/>
            <a:ext cx="301753" cy="215444"/>
          </a:xfrm>
          <a:prstGeom prst="rect">
            <a:avLst/>
          </a:prstGeom>
          <a:solidFill>
            <a:schemeClr val="accent1"/>
          </a:solidFill>
        </p:spPr>
        <p:txBody>
          <a:bodyPr wrap="square" rtlCol="0">
            <a:spAutoFit/>
          </a:bodyPr>
          <a:lstStyle/>
          <a:p>
            <a:r>
              <a:rPr lang="en-US" sz="800" b="1" dirty="0">
                <a:solidFill>
                  <a:schemeClr val="bg1"/>
                </a:solidFill>
              </a:rPr>
              <a:t>3</a:t>
            </a:r>
          </a:p>
        </p:txBody>
      </p:sp>
    </p:spTree>
    <p:extLst>
      <p:ext uri="{BB962C8B-B14F-4D97-AF65-F5344CB8AC3E}">
        <p14:creationId xmlns:p14="http://schemas.microsoft.com/office/powerpoint/2010/main" val="17048378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A2A6A819-5E1D-26D3-27A2-F1ED1C50A73F}"/>
              </a:ext>
            </a:extLst>
          </p:cNvPr>
          <p:cNvPicPr>
            <a:picLocks noChangeAspect="1"/>
          </p:cNvPicPr>
          <p:nvPr/>
        </p:nvPicPr>
        <p:blipFill>
          <a:blip r:embed="rId3"/>
          <a:stretch>
            <a:fillRect/>
          </a:stretch>
        </p:blipFill>
        <p:spPr>
          <a:xfrm>
            <a:off x="760536" y="1260799"/>
            <a:ext cx="10670928" cy="5057285"/>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884853" y="382637"/>
            <a:ext cx="10477497" cy="898555"/>
          </a:xfrm>
        </p:spPr>
        <p:txBody>
          <a:bodyPr/>
          <a:lstStyle/>
          <a:p>
            <a:r>
              <a:rPr lang="es-419" dirty="0">
                <a:solidFill>
                  <a:schemeClr val="accent1"/>
                </a:solidFill>
              </a:rPr>
              <a:t>Despliegue de nombre del alumno en calificaciones</a:t>
            </a:r>
            <a:endParaRPr lang="es-ES_tradnl" b="1" dirty="0">
              <a:solidFill>
                <a:schemeClr val="accent1"/>
              </a:solidFill>
            </a:endParaRPr>
          </a:p>
        </p:txBody>
      </p:sp>
      <p:sp>
        <p:nvSpPr>
          <p:cNvPr id="2" name="Rectángulo 1">
            <a:extLst>
              <a:ext uri="{FF2B5EF4-FFF2-40B4-BE49-F238E27FC236}">
                <a16:creationId xmlns:a16="http://schemas.microsoft.com/office/drawing/2014/main" id="{4FC106CF-8413-4CA5-8133-2E45DB01343B}"/>
              </a:ext>
            </a:extLst>
          </p:cNvPr>
          <p:cNvSpPr/>
          <p:nvPr/>
        </p:nvSpPr>
        <p:spPr>
          <a:xfrm>
            <a:off x="1563624" y="1798939"/>
            <a:ext cx="411480" cy="13044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redondeado 5">
            <a:extLst>
              <a:ext uri="{FF2B5EF4-FFF2-40B4-BE49-F238E27FC236}">
                <a16:creationId xmlns:a16="http://schemas.microsoft.com/office/drawing/2014/main" id="{CF5AA708-20E0-EEEC-FD95-BE9901127D3E}"/>
              </a:ext>
            </a:extLst>
          </p:cNvPr>
          <p:cNvSpPr/>
          <p:nvPr/>
        </p:nvSpPr>
        <p:spPr>
          <a:xfrm>
            <a:off x="2545375" y="3910519"/>
            <a:ext cx="7610302" cy="894945"/>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228600" indent="-228600">
              <a:buFont typeface="+mj-lt"/>
              <a:buAutoNum type="arabicPeriod" startAt="2"/>
            </a:pPr>
            <a:r>
              <a:rPr lang="es-419" sz="1200" dirty="0"/>
              <a:t>Ingrese en la ventana que emerge el valor </a:t>
            </a:r>
            <a:r>
              <a:rPr lang="es-419" sz="1200" b="1" dirty="0" err="1"/>
              <a:t>Faculty</a:t>
            </a:r>
            <a:r>
              <a:rPr lang="es-419" sz="1200" b="1" dirty="0"/>
              <a:t> </a:t>
            </a:r>
            <a:r>
              <a:rPr lang="es-419" sz="1200" b="1" dirty="0" err="1"/>
              <a:t>Grading</a:t>
            </a:r>
            <a:r>
              <a:rPr lang="es-419" sz="1200" b="1" dirty="0"/>
              <a:t> </a:t>
            </a:r>
            <a:r>
              <a:rPr lang="es-419" sz="1200" dirty="0"/>
              <a:t>en el capo </a:t>
            </a:r>
            <a:r>
              <a:rPr lang="es-419" sz="1200" b="1" dirty="0"/>
              <a:t>Aplicación</a:t>
            </a:r>
            <a:r>
              <a:rPr lang="es-419" sz="1200" dirty="0"/>
              <a:t> (es la aplicación de control de asistencia)</a:t>
            </a:r>
          </a:p>
          <a:p>
            <a:pPr marL="228600" indent="-228600">
              <a:buFont typeface="+mj-lt"/>
              <a:buAutoNum type="arabicPeriod" startAt="2"/>
            </a:pPr>
            <a:r>
              <a:rPr lang="es-419" sz="1200" dirty="0"/>
              <a:t>Presione el botón </a:t>
            </a:r>
            <a:r>
              <a:rPr lang="es-419" sz="1200" b="1" dirty="0"/>
              <a:t>Ir</a:t>
            </a:r>
          </a:p>
        </p:txBody>
      </p:sp>
      <p:sp>
        <p:nvSpPr>
          <p:cNvPr id="10" name="CuadroTexto 9">
            <a:extLst>
              <a:ext uri="{FF2B5EF4-FFF2-40B4-BE49-F238E27FC236}">
                <a16:creationId xmlns:a16="http://schemas.microsoft.com/office/drawing/2014/main" id="{E2405009-64BB-02A0-8F72-1C4086EE5640}"/>
              </a:ext>
            </a:extLst>
          </p:cNvPr>
          <p:cNvSpPr txBox="1"/>
          <p:nvPr/>
        </p:nvSpPr>
        <p:spPr>
          <a:xfrm>
            <a:off x="1790816" y="2446144"/>
            <a:ext cx="301753" cy="215444"/>
          </a:xfrm>
          <a:prstGeom prst="rect">
            <a:avLst/>
          </a:prstGeom>
          <a:solidFill>
            <a:schemeClr val="accent1"/>
          </a:solidFill>
        </p:spPr>
        <p:txBody>
          <a:bodyPr wrap="square" rtlCol="0">
            <a:spAutoFit/>
          </a:bodyPr>
          <a:lstStyle/>
          <a:p>
            <a:r>
              <a:rPr lang="es-CO" sz="800" b="1" dirty="0">
                <a:solidFill>
                  <a:schemeClr val="bg1"/>
                </a:solidFill>
              </a:rPr>
              <a:t>2</a:t>
            </a:r>
            <a:endParaRPr lang="en-US" sz="800" b="1" dirty="0">
              <a:solidFill>
                <a:schemeClr val="bg1"/>
              </a:solidFill>
            </a:endParaRPr>
          </a:p>
        </p:txBody>
      </p:sp>
      <p:sp>
        <p:nvSpPr>
          <p:cNvPr id="15" name="CuadroTexto 14">
            <a:extLst>
              <a:ext uri="{FF2B5EF4-FFF2-40B4-BE49-F238E27FC236}">
                <a16:creationId xmlns:a16="http://schemas.microsoft.com/office/drawing/2014/main" id="{56D0AA85-B600-23FD-291F-57E7B383BE68}"/>
              </a:ext>
            </a:extLst>
          </p:cNvPr>
          <p:cNvSpPr txBox="1"/>
          <p:nvPr/>
        </p:nvSpPr>
        <p:spPr>
          <a:xfrm>
            <a:off x="10864147" y="2732815"/>
            <a:ext cx="301753" cy="215444"/>
          </a:xfrm>
          <a:prstGeom prst="rect">
            <a:avLst/>
          </a:prstGeom>
          <a:solidFill>
            <a:schemeClr val="accent1"/>
          </a:solidFill>
        </p:spPr>
        <p:txBody>
          <a:bodyPr wrap="square" rtlCol="0">
            <a:spAutoFit/>
          </a:bodyPr>
          <a:lstStyle/>
          <a:p>
            <a:r>
              <a:rPr lang="en-US" sz="800" b="1" dirty="0">
                <a:solidFill>
                  <a:schemeClr val="bg1"/>
                </a:solidFill>
              </a:rPr>
              <a:t>3</a:t>
            </a:r>
          </a:p>
        </p:txBody>
      </p:sp>
    </p:spTree>
    <p:extLst>
      <p:ext uri="{BB962C8B-B14F-4D97-AF65-F5344CB8AC3E}">
        <p14:creationId xmlns:p14="http://schemas.microsoft.com/office/powerpoint/2010/main" val="13630475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E3811CD1-FF55-2AD4-0175-03021E1EB0EE}"/>
              </a:ext>
            </a:extLst>
          </p:cNvPr>
          <p:cNvPicPr>
            <a:picLocks noChangeAspect="1"/>
          </p:cNvPicPr>
          <p:nvPr/>
        </p:nvPicPr>
        <p:blipFill>
          <a:blip r:embed="rId3"/>
          <a:stretch>
            <a:fillRect/>
          </a:stretch>
        </p:blipFill>
        <p:spPr>
          <a:xfrm>
            <a:off x="749808" y="1181511"/>
            <a:ext cx="10853928" cy="5127037"/>
          </a:xfrm>
          <a:prstGeom prst="rect">
            <a:avLst/>
          </a:prstGeom>
        </p:spPr>
      </p:pic>
      <p:sp>
        <p:nvSpPr>
          <p:cNvPr id="3" name="Marcador de texto vertical 2">
            <a:extLst>
              <a:ext uri="{FF2B5EF4-FFF2-40B4-BE49-F238E27FC236}">
                <a16:creationId xmlns:a16="http://schemas.microsoft.com/office/drawing/2014/main" id="{5CDE6AD2-8EBB-2271-E27E-62140FFE2D67}"/>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884853" y="382637"/>
            <a:ext cx="10477497" cy="898555"/>
          </a:xfrm>
        </p:spPr>
        <p:txBody>
          <a:bodyPr/>
          <a:lstStyle/>
          <a:p>
            <a:r>
              <a:rPr lang="es-419" dirty="0">
                <a:solidFill>
                  <a:schemeClr val="accent1"/>
                </a:solidFill>
              </a:rPr>
              <a:t>Despliegue de nombre del alumno en calificaciones</a:t>
            </a:r>
            <a:endParaRPr lang="es-ES_tradnl" b="1" dirty="0">
              <a:solidFill>
                <a:schemeClr val="accent1"/>
              </a:solidFill>
            </a:endParaRPr>
          </a:p>
        </p:txBody>
      </p:sp>
      <p:sp>
        <p:nvSpPr>
          <p:cNvPr id="5" name="Rectángulo redondeado 5">
            <a:extLst>
              <a:ext uri="{FF2B5EF4-FFF2-40B4-BE49-F238E27FC236}">
                <a16:creationId xmlns:a16="http://schemas.microsoft.com/office/drawing/2014/main" id="{CF5AA708-20E0-EEEC-FD95-BE9901127D3E}"/>
              </a:ext>
            </a:extLst>
          </p:cNvPr>
          <p:cNvSpPr/>
          <p:nvPr/>
        </p:nvSpPr>
        <p:spPr>
          <a:xfrm>
            <a:off x="1634085" y="3696784"/>
            <a:ext cx="9455642" cy="1501381"/>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419" sz="1200" dirty="0"/>
              <a:t>El sistema muestra solo los registros que corresponden a la aplicación de control de asistencias.</a:t>
            </a:r>
          </a:p>
          <a:p>
            <a:pPr marL="228600" indent="-228600">
              <a:buFont typeface="+mj-lt"/>
              <a:buAutoNum type="arabicPeriod" startAt="4"/>
            </a:pPr>
            <a:r>
              <a:rPr lang="es-419" sz="1200" dirty="0"/>
              <a:t>Ingrese el código de nombre de </a:t>
            </a:r>
            <a:r>
              <a:rPr lang="es-419" sz="1200" b="1" dirty="0"/>
              <a:t>Uso</a:t>
            </a:r>
            <a:r>
              <a:rPr lang="es-419" sz="1200" dirty="0"/>
              <a:t> que aplicará en la aplicación para que de esa manera se muestren los nombres de los alumnos.</a:t>
            </a:r>
          </a:p>
          <a:p>
            <a:pPr marL="268288"/>
            <a:r>
              <a:rPr lang="es-419" sz="1200" dirty="0"/>
              <a:t>Asegúrese de actualizar la información para todos los registros, pues puede haber más de una “página” con registros que corresponden a la aplicación.</a:t>
            </a:r>
          </a:p>
          <a:p>
            <a:pPr marL="228600" indent="-228600">
              <a:buFont typeface="+mj-lt"/>
              <a:buAutoNum type="arabicPeriod" startAt="5"/>
            </a:pPr>
            <a:r>
              <a:rPr lang="es-419" sz="1200" dirty="0"/>
              <a:t>Guarde la información.</a:t>
            </a:r>
          </a:p>
          <a:p>
            <a:r>
              <a:rPr lang="es-419" sz="1200" dirty="0"/>
              <a:t>  </a:t>
            </a:r>
          </a:p>
        </p:txBody>
      </p:sp>
      <p:sp>
        <p:nvSpPr>
          <p:cNvPr id="15" name="CuadroTexto 14">
            <a:extLst>
              <a:ext uri="{FF2B5EF4-FFF2-40B4-BE49-F238E27FC236}">
                <a16:creationId xmlns:a16="http://schemas.microsoft.com/office/drawing/2014/main" id="{56D0AA85-B600-23FD-291F-57E7B383BE68}"/>
              </a:ext>
            </a:extLst>
          </p:cNvPr>
          <p:cNvSpPr txBox="1"/>
          <p:nvPr/>
        </p:nvSpPr>
        <p:spPr>
          <a:xfrm>
            <a:off x="7067112" y="2478679"/>
            <a:ext cx="301753" cy="215444"/>
          </a:xfrm>
          <a:prstGeom prst="rect">
            <a:avLst/>
          </a:prstGeom>
          <a:solidFill>
            <a:schemeClr val="accent1"/>
          </a:solidFill>
        </p:spPr>
        <p:txBody>
          <a:bodyPr wrap="square" rtlCol="0">
            <a:spAutoFit/>
          </a:bodyPr>
          <a:lstStyle/>
          <a:p>
            <a:r>
              <a:rPr lang="en-US" sz="800" b="1" dirty="0">
                <a:solidFill>
                  <a:schemeClr val="bg1"/>
                </a:solidFill>
              </a:rPr>
              <a:t>4</a:t>
            </a:r>
          </a:p>
        </p:txBody>
      </p:sp>
      <p:sp>
        <p:nvSpPr>
          <p:cNvPr id="4" name="CuadroTexto 3">
            <a:extLst>
              <a:ext uri="{FF2B5EF4-FFF2-40B4-BE49-F238E27FC236}">
                <a16:creationId xmlns:a16="http://schemas.microsoft.com/office/drawing/2014/main" id="{5861DD74-CDD2-DA12-7506-107467F69CC6}"/>
              </a:ext>
            </a:extLst>
          </p:cNvPr>
          <p:cNvSpPr txBox="1"/>
          <p:nvPr/>
        </p:nvSpPr>
        <p:spPr>
          <a:xfrm>
            <a:off x="10644983" y="6012176"/>
            <a:ext cx="301753" cy="215444"/>
          </a:xfrm>
          <a:prstGeom prst="rect">
            <a:avLst/>
          </a:prstGeom>
          <a:solidFill>
            <a:schemeClr val="accent1"/>
          </a:solidFill>
        </p:spPr>
        <p:txBody>
          <a:bodyPr wrap="square" rtlCol="0">
            <a:spAutoFit/>
          </a:bodyPr>
          <a:lstStyle/>
          <a:p>
            <a:r>
              <a:rPr lang="en-US" sz="800" b="1" dirty="0">
                <a:solidFill>
                  <a:schemeClr val="bg1"/>
                </a:solidFill>
              </a:rPr>
              <a:t>5</a:t>
            </a:r>
          </a:p>
        </p:txBody>
      </p:sp>
    </p:spTree>
    <p:extLst>
      <p:ext uri="{BB962C8B-B14F-4D97-AF65-F5344CB8AC3E}">
        <p14:creationId xmlns:p14="http://schemas.microsoft.com/office/powerpoint/2010/main" val="18569224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419" dirty="0"/>
              <a:t>Ingresar calificaciones a través de Autoservicio </a:t>
            </a:r>
            <a:endParaRPr lang="es-ES_tradnl" dirty="0"/>
          </a:p>
        </p:txBody>
      </p:sp>
      <p:sp>
        <p:nvSpPr>
          <p:cNvPr id="2" name="Title 1"/>
          <p:cNvSpPr>
            <a:spLocks noGrp="1"/>
          </p:cNvSpPr>
          <p:nvPr>
            <p:ph type="title"/>
          </p:nvPr>
        </p:nvSpPr>
        <p:spPr/>
        <p:txBody>
          <a:bodyPr/>
          <a:lstStyle/>
          <a:p>
            <a:r>
              <a:rPr lang="es-ES_tradnl" dirty="0"/>
              <a:t>Calendario de Ingreso de calificaciones</a:t>
            </a:r>
          </a:p>
        </p:txBody>
      </p:sp>
      <p:sp>
        <p:nvSpPr>
          <p:cNvPr id="3" name="Marcador de texto 2">
            <a:extLst>
              <a:ext uri="{FF2B5EF4-FFF2-40B4-BE49-F238E27FC236}">
                <a16:creationId xmlns:a16="http://schemas.microsoft.com/office/drawing/2014/main" id="{23A23D2F-F4F9-1CD1-DFF2-2B1F36C9C6EA}"/>
              </a:ext>
            </a:extLst>
          </p:cNvPr>
          <p:cNvSpPr>
            <a:spLocks noGrp="1"/>
          </p:cNvSpPr>
          <p:nvPr>
            <p:ph type="body" sz="quarter" idx="18"/>
          </p:nvPr>
        </p:nvSpPr>
        <p:spPr/>
        <p:txBody>
          <a:bodyPr/>
          <a:lstStyle/>
          <a:p>
            <a:endParaRPr lang="es-ES_tradnl" dirty="0"/>
          </a:p>
        </p:txBody>
      </p:sp>
    </p:spTree>
    <p:extLst>
      <p:ext uri="{BB962C8B-B14F-4D97-AF65-F5344CB8AC3E}">
        <p14:creationId xmlns:p14="http://schemas.microsoft.com/office/powerpoint/2010/main" val="20145132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658B9A3-188A-3AAC-9844-B7C80EF48295}"/>
              </a:ext>
            </a:extLst>
          </p:cNvPr>
          <p:cNvPicPr>
            <a:picLocks noChangeAspect="1"/>
          </p:cNvPicPr>
          <p:nvPr/>
        </p:nvPicPr>
        <p:blipFill>
          <a:blip r:embed="rId3"/>
          <a:stretch>
            <a:fillRect/>
          </a:stretch>
        </p:blipFill>
        <p:spPr>
          <a:xfrm>
            <a:off x="825641" y="1054509"/>
            <a:ext cx="11088991" cy="5273534"/>
          </a:xfrm>
          <a:prstGeom prst="rect">
            <a:avLst/>
          </a:prstGeom>
        </p:spPr>
      </p:pic>
      <p:sp>
        <p:nvSpPr>
          <p:cNvPr id="2" name="Marcador de texto vertical 1">
            <a:extLst>
              <a:ext uri="{FF2B5EF4-FFF2-40B4-BE49-F238E27FC236}">
                <a16:creationId xmlns:a16="http://schemas.microsoft.com/office/drawing/2014/main" id="{87503865-D809-43D0-2AAE-3B76B2B1251D}"/>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857251" y="150412"/>
            <a:ext cx="10477497" cy="898555"/>
          </a:xfrm>
        </p:spPr>
        <p:txBody>
          <a:bodyPr/>
          <a:lstStyle/>
          <a:p>
            <a:r>
              <a:rPr lang="es-ES_tradnl" dirty="0">
                <a:solidFill>
                  <a:schemeClr val="accent1"/>
                </a:solidFill>
              </a:rPr>
              <a:t>Calendario de Ingreso de calificaciones </a:t>
            </a:r>
            <a:r>
              <a:rPr lang="es-ES_tradnl" b="1" dirty="0">
                <a:solidFill>
                  <a:schemeClr val="accent1"/>
                </a:solidFill>
              </a:rPr>
              <a:t>a nivel de periodo (SHAEGBC) </a:t>
            </a:r>
          </a:p>
        </p:txBody>
      </p:sp>
      <p:sp>
        <p:nvSpPr>
          <p:cNvPr id="7" name="CuadroTexto 6">
            <a:extLst>
              <a:ext uri="{FF2B5EF4-FFF2-40B4-BE49-F238E27FC236}">
                <a16:creationId xmlns:a16="http://schemas.microsoft.com/office/drawing/2014/main" id="{21631F82-E858-7F22-27B0-0E3A2781399A}"/>
              </a:ext>
            </a:extLst>
          </p:cNvPr>
          <p:cNvSpPr txBox="1"/>
          <p:nvPr/>
        </p:nvSpPr>
        <p:spPr>
          <a:xfrm>
            <a:off x="11235251" y="1613548"/>
            <a:ext cx="301753" cy="215444"/>
          </a:xfrm>
          <a:prstGeom prst="rect">
            <a:avLst/>
          </a:prstGeom>
          <a:solidFill>
            <a:schemeClr val="accent1"/>
          </a:solidFill>
        </p:spPr>
        <p:txBody>
          <a:bodyPr wrap="square" rtlCol="0">
            <a:spAutoFit/>
          </a:bodyPr>
          <a:lstStyle/>
          <a:p>
            <a:r>
              <a:rPr lang="en-US" sz="800" b="1" dirty="0">
                <a:solidFill>
                  <a:schemeClr val="bg1"/>
                </a:solidFill>
              </a:rPr>
              <a:t>2</a:t>
            </a:r>
          </a:p>
        </p:txBody>
      </p:sp>
      <p:sp>
        <p:nvSpPr>
          <p:cNvPr id="8" name="Rectángulo: esquinas redondeadas 7">
            <a:extLst>
              <a:ext uri="{FF2B5EF4-FFF2-40B4-BE49-F238E27FC236}">
                <a16:creationId xmlns:a16="http://schemas.microsoft.com/office/drawing/2014/main" id="{070C0048-A69C-F572-0139-14744F56729C}"/>
              </a:ext>
            </a:extLst>
          </p:cNvPr>
          <p:cNvSpPr/>
          <p:nvPr/>
        </p:nvSpPr>
        <p:spPr>
          <a:xfrm>
            <a:off x="1436842" y="4879922"/>
            <a:ext cx="10100162" cy="109747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419" sz="1100" dirty="0"/>
              <a:t>Se muestra solo la definición a nivel de período.</a:t>
            </a:r>
          </a:p>
          <a:p>
            <a:pPr algn="just"/>
            <a:endParaRPr lang="es-419" sz="1100" dirty="0"/>
          </a:p>
          <a:p>
            <a:pPr marL="342900" indent="-342900" algn="just">
              <a:buFont typeface="+mj-lt"/>
              <a:buAutoNum type="arabicPeriod"/>
            </a:pPr>
            <a:r>
              <a:rPr lang="es-419" sz="1100" dirty="0"/>
              <a:t>En </a:t>
            </a:r>
            <a:r>
              <a:rPr lang="es-ES_tradnl" sz="1100" b="1" dirty="0"/>
              <a:t>SHAEGBC</a:t>
            </a:r>
            <a:r>
              <a:rPr lang="es-ES_tradnl" sz="1100" dirty="0"/>
              <a:t>, seleccione o digite el </a:t>
            </a:r>
            <a:r>
              <a:rPr lang="es-ES_tradnl" sz="1100" b="1" dirty="0"/>
              <a:t>período</a:t>
            </a:r>
            <a:r>
              <a:rPr lang="es-ES_tradnl" sz="1100" dirty="0"/>
              <a:t> para el cual se hará la definición.</a:t>
            </a:r>
            <a:endParaRPr lang="es-ES_tradnl" sz="1100" b="1" dirty="0"/>
          </a:p>
          <a:p>
            <a:pPr marL="342900" indent="-342900" algn="just">
              <a:buFont typeface="+mj-lt"/>
              <a:buAutoNum type="arabicPeriod"/>
            </a:pPr>
            <a:r>
              <a:rPr lang="es-ES_tradnl" sz="1100" dirty="0"/>
              <a:t>Presione el botón </a:t>
            </a:r>
            <a:r>
              <a:rPr lang="es-ES_tradnl" sz="1100" b="1" dirty="0"/>
              <a:t>Ir</a:t>
            </a:r>
            <a:r>
              <a:rPr lang="es-ES_tradnl" sz="1100" dirty="0"/>
              <a:t>.</a:t>
            </a:r>
            <a:endParaRPr lang="es-CL" sz="1100" dirty="0"/>
          </a:p>
        </p:txBody>
      </p:sp>
      <p:sp>
        <p:nvSpPr>
          <p:cNvPr id="6" name="Rectángulo 5">
            <a:extLst>
              <a:ext uri="{FF2B5EF4-FFF2-40B4-BE49-F238E27FC236}">
                <a16:creationId xmlns:a16="http://schemas.microsoft.com/office/drawing/2014/main" id="{D97CEBD4-48A5-33A2-6796-2567C1977774}"/>
              </a:ext>
            </a:extLst>
          </p:cNvPr>
          <p:cNvSpPr/>
          <p:nvPr/>
        </p:nvSpPr>
        <p:spPr>
          <a:xfrm>
            <a:off x="1237510" y="1582529"/>
            <a:ext cx="1541047"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CuadroTexto 11">
            <a:extLst>
              <a:ext uri="{FF2B5EF4-FFF2-40B4-BE49-F238E27FC236}">
                <a16:creationId xmlns:a16="http://schemas.microsoft.com/office/drawing/2014/main" id="{86ED028E-32B7-A9ED-B369-301CBAADD4BF}"/>
              </a:ext>
            </a:extLst>
          </p:cNvPr>
          <p:cNvSpPr txBox="1"/>
          <p:nvPr/>
        </p:nvSpPr>
        <p:spPr>
          <a:xfrm>
            <a:off x="825641" y="1582529"/>
            <a:ext cx="301753" cy="215444"/>
          </a:xfrm>
          <a:prstGeom prst="rect">
            <a:avLst/>
          </a:prstGeom>
          <a:solidFill>
            <a:schemeClr val="accent1"/>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15" name="Rectángulo 14">
            <a:extLst>
              <a:ext uri="{FF2B5EF4-FFF2-40B4-BE49-F238E27FC236}">
                <a16:creationId xmlns:a16="http://schemas.microsoft.com/office/drawing/2014/main" id="{0D151AA0-BE36-DFC4-8DC2-09314311A05D}"/>
              </a:ext>
            </a:extLst>
          </p:cNvPr>
          <p:cNvSpPr/>
          <p:nvPr/>
        </p:nvSpPr>
        <p:spPr>
          <a:xfrm>
            <a:off x="11612880" y="1613548"/>
            <a:ext cx="393897"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5478458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9AFB9AB1-2010-EF09-96A8-010EC2C67AE4}"/>
              </a:ext>
            </a:extLst>
          </p:cNvPr>
          <p:cNvPicPr>
            <a:picLocks noChangeAspect="1"/>
          </p:cNvPicPr>
          <p:nvPr/>
        </p:nvPicPr>
        <p:blipFill>
          <a:blip r:embed="rId3"/>
          <a:stretch>
            <a:fillRect/>
          </a:stretch>
        </p:blipFill>
        <p:spPr>
          <a:xfrm>
            <a:off x="857251" y="1249185"/>
            <a:ext cx="10700766" cy="5065551"/>
          </a:xfrm>
          <a:prstGeom prst="rect">
            <a:avLst/>
          </a:prstGeom>
          <a:ln>
            <a:solidFill>
              <a:schemeClr val="accent1"/>
            </a:solidFill>
          </a:ln>
        </p:spPr>
      </p:pic>
      <p:sp>
        <p:nvSpPr>
          <p:cNvPr id="2" name="Marcador de texto vertical 1">
            <a:extLst>
              <a:ext uri="{FF2B5EF4-FFF2-40B4-BE49-F238E27FC236}">
                <a16:creationId xmlns:a16="http://schemas.microsoft.com/office/drawing/2014/main" id="{87503865-D809-43D0-2AAE-3B76B2B1251D}"/>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857251" y="150412"/>
            <a:ext cx="10477497" cy="898555"/>
          </a:xfrm>
        </p:spPr>
        <p:txBody>
          <a:bodyPr/>
          <a:lstStyle/>
          <a:p>
            <a:r>
              <a:rPr lang="es-ES_tradnl" dirty="0">
                <a:solidFill>
                  <a:schemeClr val="accent1"/>
                </a:solidFill>
              </a:rPr>
              <a:t>Calendario de Ingreso de calificaciones </a:t>
            </a:r>
            <a:r>
              <a:rPr lang="es-ES_tradnl" b="1" dirty="0">
                <a:solidFill>
                  <a:schemeClr val="accent1"/>
                </a:solidFill>
              </a:rPr>
              <a:t>a nivel de periodo (SHAEGBC) </a:t>
            </a:r>
          </a:p>
        </p:txBody>
      </p:sp>
      <p:sp>
        <p:nvSpPr>
          <p:cNvPr id="7" name="CuadroTexto 6">
            <a:extLst>
              <a:ext uri="{FF2B5EF4-FFF2-40B4-BE49-F238E27FC236}">
                <a16:creationId xmlns:a16="http://schemas.microsoft.com/office/drawing/2014/main" id="{21631F82-E858-7F22-27B0-0E3A2781399A}"/>
              </a:ext>
            </a:extLst>
          </p:cNvPr>
          <p:cNvSpPr txBox="1"/>
          <p:nvPr/>
        </p:nvSpPr>
        <p:spPr>
          <a:xfrm>
            <a:off x="2958885" y="4163998"/>
            <a:ext cx="301753" cy="215444"/>
          </a:xfrm>
          <a:prstGeom prst="rect">
            <a:avLst/>
          </a:prstGeom>
          <a:solidFill>
            <a:schemeClr val="accent1"/>
          </a:solidFill>
        </p:spPr>
        <p:txBody>
          <a:bodyPr wrap="square" rtlCol="0">
            <a:spAutoFit/>
          </a:bodyPr>
          <a:lstStyle/>
          <a:p>
            <a:r>
              <a:rPr lang="en-US" sz="800" b="1" dirty="0">
                <a:solidFill>
                  <a:schemeClr val="bg1"/>
                </a:solidFill>
              </a:rPr>
              <a:t>4</a:t>
            </a:r>
          </a:p>
        </p:txBody>
      </p:sp>
      <p:sp>
        <p:nvSpPr>
          <p:cNvPr id="8" name="Rectángulo: esquinas redondeadas 7">
            <a:extLst>
              <a:ext uri="{FF2B5EF4-FFF2-40B4-BE49-F238E27FC236}">
                <a16:creationId xmlns:a16="http://schemas.microsoft.com/office/drawing/2014/main" id="{070C0048-A69C-F572-0139-14744F56729C}"/>
              </a:ext>
            </a:extLst>
          </p:cNvPr>
          <p:cNvSpPr/>
          <p:nvPr/>
        </p:nvSpPr>
        <p:spPr>
          <a:xfrm>
            <a:off x="1357329" y="4886500"/>
            <a:ext cx="10100162" cy="899506"/>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3"/>
            </a:pPr>
            <a:r>
              <a:rPr lang="es-ES_tradnl" sz="1100" dirty="0"/>
              <a:t>Ingrese la fecha a partir de la cual los docentes podrán cargar las calificaciones (</a:t>
            </a:r>
            <a:r>
              <a:rPr lang="es-ES_tradnl" sz="1100" b="1" dirty="0"/>
              <a:t>fecha abierta</a:t>
            </a:r>
            <a:r>
              <a:rPr lang="es-ES_tradnl" sz="1100" dirty="0"/>
              <a:t>).</a:t>
            </a:r>
          </a:p>
          <a:p>
            <a:pPr marL="342900" indent="-342900" algn="just">
              <a:buFont typeface="+mj-lt"/>
              <a:buAutoNum type="arabicPeriod" startAt="3"/>
            </a:pPr>
            <a:r>
              <a:rPr lang="es-ES_tradnl" sz="1100" dirty="0"/>
              <a:t>Ingrese la fecha hasta la cual los docentes pueden cargar las calificaciones (</a:t>
            </a:r>
            <a:r>
              <a:rPr lang="es-ES_tradnl" sz="1100" b="1" dirty="0"/>
              <a:t>fecha de corte</a:t>
            </a:r>
            <a:r>
              <a:rPr lang="es-ES_tradnl" sz="1100" dirty="0"/>
              <a:t>). </a:t>
            </a:r>
          </a:p>
          <a:p>
            <a:pPr marL="342900" indent="-342900" algn="just">
              <a:buFont typeface="+mj-lt"/>
              <a:buAutoNum type="arabicPeriod" startAt="3"/>
            </a:pPr>
            <a:r>
              <a:rPr lang="es-ES_tradnl" sz="1100" b="1" dirty="0"/>
              <a:t>Guarde</a:t>
            </a:r>
            <a:r>
              <a:rPr lang="es-ES_tradnl" sz="1100" dirty="0"/>
              <a:t> la información.</a:t>
            </a:r>
            <a:endParaRPr lang="es-CL" sz="1100" dirty="0"/>
          </a:p>
        </p:txBody>
      </p:sp>
      <p:sp>
        <p:nvSpPr>
          <p:cNvPr id="6" name="Rectángulo 5">
            <a:extLst>
              <a:ext uri="{FF2B5EF4-FFF2-40B4-BE49-F238E27FC236}">
                <a16:creationId xmlns:a16="http://schemas.microsoft.com/office/drawing/2014/main" id="{D97CEBD4-48A5-33A2-6796-2567C1977774}"/>
              </a:ext>
            </a:extLst>
          </p:cNvPr>
          <p:cNvSpPr/>
          <p:nvPr/>
        </p:nvSpPr>
        <p:spPr>
          <a:xfrm>
            <a:off x="919916" y="3565226"/>
            <a:ext cx="1748939" cy="27256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CuadroTexto 11">
            <a:extLst>
              <a:ext uri="{FF2B5EF4-FFF2-40B4-BE49-F238E27FC236}">
                <a16:creationId xmlns:a16="http://schemas.microsoft.com/office/drawing/2014/main" id="{86ED028E-32B7-A9ED-B369-301CBAADD4BF}"/>
              </a:ext>
            </a:extLst>
          </p:cNvPr>
          <p:cNvSpPr txBox="1"/>
          <p:nvPr/>
        </p:nvSpPr>
        <p:spPr>
          <a:xfrm>
            <a:off x="2977976" y="3586245"/>
            <a:ext cx="301753" cy="215444"/>
          </a:xfrm>
          <a:prstGeom prst="rect">
            <a:avLst/>
          </a:prstGeom>
          <a:solidFill>
            <a:schemeClr val="accent1"/>
          </a:solidFill>
        </p:spPr>
        <p:txBody>
          <a:bodyPr wrap="square" rtlCol="0">
            <a:spAutoFit/>
          </a:bodyPr>
          <a:lstStyle/>
          <a:p>
            <a:r>
              <a:rPr lang="es-CO" sz="800" b="1" dirty="0">
                <a:solidFill>
                  <a:schemeClr val="bg1"/>
                </a:solidFill>
              </a:rPr>
              <a:t>3</a:t>
            </a:r>
            <a:endParaRPr lang="en-US" sz="800" b="1" dirty="0">
              <a:solidFill>
                <a:schemeClr val="bg1"/>
              </a:solidFill>
            </a:endParaRPr>
          </a:p>
        </p:txBody>
      </p:sp>
      <p:sp>
        <p:nvSpPr>
          <p:cNvPr id="15" name="Rectángulo 14">
            <a:extLst>
              <a:ext uri="{FF2B5EF4-FFF2-40B4-BE49-F238E27FC236}">
                <a16:creationId xmlns:a16="http://schemas.microsoft.com/office/drawing/2014/main" id="{0D151AA0-BE36-DFC4-8DC2-09314311A05D}"/>
              </a:ext>
            </a:extLst>
          </p:cNvPr>
          <p:cNvSpPr/>
          <p:nvPr/>
        </p:nvSpPr>
        <p:spPr>
          <a:xfrm>
            <a:off x="928883" y="3901724"/>
            <a:ext cx="1739972" cy="69296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CuadroTexto 9">
            <a:extLst>
              <a:ext uri="{FF2B5EF4-FFF2-40B4-BE49-F238E27FC236}">
                <a16:creationId xmlns:a16="http://schemas.microsoft.com/office/drawing/2014/main" id="{7D9A83C7-4A38-49CF-D531-B84659AC5A62}"/>
              </a:ext>
            </a:extLst>
          </p:cNvPr>
          <p:cNvSpPr txBox="1"/>
          <p:nvPr/>
        </p:nvSpPr>
        <p:spPr>
          <a:xfrm>
            <a:off x="10608805" y="6014451"/>
            <a:ext cx="301753" cy="215444"/>
          </a:xfrm>
          <a:prstGeom prst="rect">
            <a:avLst/>
          </a:prstGeom>
          <a:solidFill>
            <a:schemeClr val="accent4">
              <a:lumMod val="75000"/>
              <a:lumOff val="25000"/>
            </a:schemeClr>
          </a:solidFill>
        </p:spPr>
        <p:txBody>
          <a:bodyPr wrap="square" rtlCol="0">
            <a:spAutoFit/>
          </a:bodyPr>
          <a:lstStyle/>
          <a:p>
            <a:r>
              <a:rPr lang="en-US" sz="800" b="1" dirty="0">
                <a:solidFill>
                  <a:schemeClr val="bg1"/>
                </a:solidFill>
              </a:rPr>
              <a:t>5</a:t>
            </a:r>
          </a:p>
        </p:txBody>
      </p:sp>
      <p:sp>
        <p:nvSpPr>
          <p:cNvPr id="11" name="Flecha: hacia la izquierda 10">
            <a:extLst>
              <a:ext uri="{FF2B5EF4-FFF2-40B4-BE49-F238E27FC236}">
                <a16:creationId xmlns:a16="http://schemas.microsoft.com/office/drawing/2014/main" id="{29243CB5-C403-399C-E791-A48D452E6BCB}"/>
              </a:ext>
            </a:extLst>
          </p:cNvPr>
          <p:cNvSpPr/>
          <p:nvPr/>
        </p:nvSpPr>
        <p:spPr>
          <a:xfrm rot="10800000">
            <a:off x="10947522" y="6100091"/>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69870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7DF9F4DC-4C80-F6A2-24CF-5D61CF617A86}"/>
              </a:ext>
            </a:extLst>
          </p:cNvPr>
          <p:cNvSpPr>
            <a:spLocks noGrp="1"/>
          </p:cNvSpPr>
          <p:nvPr>
            <p:ph type="body" orient="vert" sz="quarter" idx="10"/>
          </p:nvPr>
        </p:nvSpPr>
        <p:spPr/>
        <p:txBody>
          <a:bodyPr/>
          <a:lstStyle/>
          <a:p>
            <a:r>
              <a:rPr lang="es-419" dirty="0"/>
              <a:t>Ingresar calificaciones a través de Autoservicio </a:t>
            </a:r>
          </a:p>
        </p:txBody>
      </p:sp>
      <p:sp>
        <p:nvSpPr>
          <p:cNvPr id="2" name="Title 1"/>
          <p:cNvSpPr>
            <a:spLocks noGrp="1"/>
          </p:cNvSpPr>
          <p:nvPr>
            <p:ph type="title"/>
          </p:nvPr>
        </p:nvSpPr>
        <p:spPr/>
        <p:txBody>
          <a:bodyPr/>
          <a:lstStyle/>
          <a:p>
            <a:r>
              <a:rPr lang="es-ES_tradnl" dirty="0"/>
              <a:t>Registrar el Plan de Evaluación del docente</a:t>
            </a:r>
          </a:p>
        </p:txBody>
      </p:sp>
      <p:sp>
        <p:nvSpPr>
          <p:cNvPr id="4" name="Marcador de texto 3">
            <a:extLst>
              <a:ext uri="{FF2B5EF4-FFF2-40B4-BE49-F238E27FC236}">
                <a16:creationId xmlns:a16="http://schemas.microsoft.com/office/drawing/2014/main" id="{80291AFB-8D43-C85C-20F1-6AF33F64CE71}"/>
              </a:ext>
            </a:extLst>
          </p:cNvPr>
          <p:cNvSpPr>
            <a:spLocks noGrp="1"/>
          </p:cNvSpPr>
          <p:nvPr>
            <p:ph type="body" sz="quarter" idx="18"/>
          </p:nvPr>
        </p:nvSpPr>
        <p:spPr/>
        <p:txBody>
          <a:bodyPr/>
          <a:lstStyle/>
          <a:p>
            <a:r>
              <a:rPr lang="es-CO" dirty="0"/>
              <a:t>Componentes y subcomponentes de evaluación de un NRC y su escala de calificación</a:t>
            </a:r>
            <a:endParaRPr lang="es-ES_tradnl" dirty="0"/>
          </a:p>
          <a:p>
            <a:endParaRPr lang="es-419" dirty="0"/>
          </a:p>
        </p:txBody>
      </p:sp>
    </p:spTree>
    <p:extLst>
      <p:ext uri="{BB962C8B-B14F-4D97-AF65-F5344CB8AC3E}">
        <p14:creationId xmlns:p14="http://schemas.microsoft.com/office/powerpoint/2010/main" val="10482949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40FB7CD-C050-91BC-63A3-D8499D88EEBB}"/>
              </a:ext>
            </a:extLst>
          </p:cNvPr>
          <p:cNvPicPr>
            <a:picLocks noChangeAspect="1"/>
          </p:cNvPicPr>
          <p:nvPr/>
        </p:nvPicPr>
        <p:blipFill>
          <a:blip r:embed="rId3"/>
          <a:stretch>
            <a:fillRect/>
          </a:stretch>
        </p:blipFill>
        <p:spPr>
          <a:xfrm>
            <a:off x="854196" y="1215241"/>
            <a:ext cx="10747571" cy="5114943"/>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609601" y="366041"/>
            <a:ext cx="11124618" cy="898555"/>
          </a:xfrm>
        </p:spPr>
        <p:txBody>
          <a:bodyPr/>
          <a:lstStyle/>
          <a:p>
            <a:r>
              <a:rPr lang="es-ES_tradnl" dirty="0">
                <a:solidFill>
                  <a:schemeClr val="accent1"/>
                </a:solidFill>
              </a:rPr>
              <a:t>Registrar el Plan de Evaluación del docente (SHAGCOM)</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2405270" y="3703918"/>
            <a:ext cx="7275443" cy="134515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Para poder asignar un plan de evaluación, previamente se deben haber definido:</a:t>
            </a:r>
          </a:p>
          <a:p>
            <a:pPr marL="171450" indent="-171450">
              <a:buFont typeface="Arial" panose="020B0604020202020204" pitchFamily="34" charset="0"/>
              <a:buChar char="•"/>
            </a:pPr>
            <a:r>
              <a:rPr lang="es-ES_tradnl" sz="1100" dirty="0"/>
              <a:t>Las escalas de calificación disponibles en la institución (SHA</a:t>
            </a:r>
          </a:p>
          <a:p>
            <a:pPr marL="171450" indent="-171450">
              <a:buFont typeface="Arial" panose="020B0604020202020204" pitchFamily="34" charset="0"/>
              <a:buChar char="•"/>
            </a:pPr>
            <a:r>
              <a:rPr lang="es-ES_tradnl" sz="1100" dirty="0"/>
              <a:t>El calendario de ingreso de calificaciones (SHAEGBC) para el período correspondiente.</a:t>
            </a:r>
          </a:p>
          <a:p>
            <a:endParaRPr lang="es-ES_tradnl" sz="1100" dirty="0"/>
          </a:p>
          <a:p>
            <a:pPr marL="228600" indent="-228600">
              <a:buFont typeface="+mj-lt"/>
              <a:buAutoNum type="arabicPeriod"/>
            </a:pPr>
            <a:r>
              <a:rPr lang="es-ES_tradnl" sz="1100" dirty="0"/>
              <a:t>En </a:t>
            </a:r>
            <a:r>
              <a:rPr lang="es-ES_tradnl" sz="1100" b="1" dirty="0"/>
              <a:t>SHAGCOM</a:t>
            </a:r>
            <a:r>
              <a:rPr lang="es-ES_tradnl" sz="1100" dirty="0"/>
              <a:t>, </a:t>
            </a:r>
            <a:r>
              <a:rPr lang="es-CO" sz="1100" dirty="0"/>
              <a:t>ingrese el </a:t>
            </a:r>
            <a:r>
              <a:rPr lang="es-CO" sz="1100" b="1" dirty="0"/>
              <a:t>Período</a:t>
            </a:r>
            <a:r>
              <a:rPr lang="es-CO" sz="1100" dirty="0"/>
              <a:t> y el </a:t>
            </a:r>
            <a:r>
              <a:rPr lang="es-CO" sz="1100" b="1" dirty="0"/>
              <a:t>NRC</a:t>
            </a:r>
            <a:r>
              <a:rPr lang="es-CO" sz="1100" dirty="0"/>
              <a:t> al que se le va a asignar el Plan de evaluación.</a:t>
            </a:r>
          </a:p>
          <a:p>
            <a:pPr marL="228600" indent="-228600">
              <a:buFont typeface="+mj-lt"/>
              <a:buAutoNum type="arabicPeriod"/>
            </a:pPr>
            <a:r>
              <a:rPr lang="es-CO" sz="1100" dirty="0"/>
              <a:t>Presione el botón </a:t>
            </a:r>
            <a:r>
              <a:rPr lang="es-CO" sz="1100" b="1" dirty="0"/>
              <a:t>Ir</a:t>
            </a:r>
            <a:r>
              <a:rPr lang="es-CO" sz="1100" dirty="0"/>
              <a:t>.</a:t>
            </a:r>
            <a:endParaRPr lang="es-ES_tradnl" sz="1100" dirty="0"/>
          </a:p>
        </p:txBody>
      </p:sp>
      <p:sp>
        <p:nvSpPr>
          <p:cNvPr id="7" name="CuadroTexto 6">
            <a:extLst>
              <a:ext uri="{FF2B5EF4-FFF2-40B4-BE49-F238E27FC236}">
                <a16:creationId xmlns:a16="http://schemas.microsoft.com/office/drawing/2014/main" id="{E8B3B626-3B96-61A0-5FA7-B33D9EFA48B1}"/>
              </a:ext>
            </a:extLst>
          </p:cNvPr>
          <p:cNvSpPr txBox="1"/>
          <p:nvPr/>
        </p:nvSpPr>
        <p:spPr>
          <a:xfrm>
            <a:off x="881964" y="1796348"/>
            <a:ext cx="301753" cy="215444"/>
          </a:xfrm>
          <a:prstGeom prst="rect">
            <a:avLst/>
          </a:prstGeom>
          <a:solidFill>
            <a:schemeClr val="accent1"/>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9" name="CuadroTexto 8">
            <a:extLst>
              <a:ext uri="{FF2B5EF4-FFF2-40B4-BE49-F238E27FC236}">
                <a16:creationId xmlns:a16="http://schemas.microsoft.com/office/drawing/2014/main" id="{77A2B6D2-2C88-A257-51A1-83AEC47E42CA}"/>
              </a:ext>
            </a:extLst>
          </p:cNvPr>
          <p:cNvSpPr txBox="1"/>
          <p:nvPr/>
        </p:nvSpPr>
        <p:spPr>
          <a:xfrm>
            <a:off x="10929383" y="1764288"/>
            <a:ext cx="301753" cy="215444"/>
          </a:xfrm>
          <a:prstGeom prst="rect">
            <a:avLst/>
          </a:prstGeom>
          <a:solidFill>
            <a:schemeClr val="accent1"/>
          </a:solidFill>
        </p:spPr>
        <p:txBody>
          <a:bodyPr wrap="square" rtlCol="0">
            <a:spAutoFit/>
          </a:bodyPr>
          <a:lstStyle/>
          <a:p>
            <a:r>
              <a:rPr lang="en-US" sz="800" b="1" dirty="0">
                <a:solidFill>
                  <a:schemeClr val="bg1"/>
                </a:solidFill>
              </a:rPr>
              <a:t>2</a:t>
            </a:r>
          </a:p>
        </p:txBody>
      </p:sp>
      <p:sp>
        <p:nvSpPr>
          <p:cNvPr id="14" name="Rectángulo 13">
            <a:extLst>
              <a:ext uri="{FF2B5EF4-FFF2-40B4-BE49-F238E27FC236}">
                <a16:creationId xmlns:a16="http://schemas.microsoft.com/office/drawing/2014/main" id="{BED23C00-B2E8-2F89-8111-D6C5EA15C19F}"/>
              </a:ext>
            </a:extLst>
          </p:cNvPr>
          <p:cNvSpPr/>
          <p:nvPr/>
        </p:nvSpPr>
        <p:spPr>
          <a:xfrm>
            <a:off x="1252595" y="1755386"/>
            <a:ext cx="6697841" cy="25848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0564166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E1B41B1B-B187-E7D4-F2B8-8798168824EC}"/>
              </a:ext>
            </a:extLst>
          </p:cNvPr>
          <p:cNvPicPr>
            <a:picLocks noChangeAspect="1"/>
          </p:cNvPicPr>
          <p:nvPr/>
        </p:nvPicPr>
        <p:blipFill>
          <a:blip r:embed="rId3"/>
          <a:stretch>
            <a:fillRect/>
          </a:stretch>
        </p:blipFill>
        <p:spPr>
          <a:xfrm>
            <a:off x="694944" y="1067069"/>
            <a:ext cx="11039275" cy="5274640"/>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609601" y="366041"/>
            <a:ext cx="11124618" cy="898555"/>
          </a:xfrm>
        </p:spPr>
        <p:txBody>
          <a:bodyPr/>
          <a:lstStyle/>
          <a:p>
            <a:r>
              <a:rPr lang="es-ES_tradnl" dirty="0">
                <a:solidFill>
                  <a:schemeClr val="accent1"/>
                </a:solidFill>
              </a:rPr>
              <a:t>Registrar el Plan de Evaluación del docente (SHAGCOM)</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2910578" y="4214191"/>
            <a:ext cx="7247213" cy="117281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Al entrar a definir los componentes el sistema muestra una advertencia, pues la escala de calificación es obligatoria. Haga clic cobre la advertencia para continuar.</a:t>
            </a:r>
          </a:p>
          <a:p>
            <a:endParaRPr lang="es-419" sz="1100" dirty="0"/>
          </a:p>
          <a:p>
            <a:pPr marL="228600" indent="-228600">
              <a:buFont typeface="+mj-lt"/>
              <a:buAutoNum type="arabicPeriod" startAt="3"/>
            </a:pPr>
            <a:r>
              <a:rPr lang="es-419" sz="1100" dirty="0"/>
              <a:t>Ingrese la </a:t>
            </a:r>
            <a:r>
              <a:rPr lang="es-419" sz="1100" b="1" dirty="0"/>
              <a:t>escala de calificación</a:t>
            </a:r>
            <a:r>
              <a:rPr lang="es-419" sz="1100" dirty="0"/>
              <a:t> que predominará en los componentes del plan de evaluación</a:t>
            </a:r>
            <a:r>
              <a:rPr lang="es-CO" sz="1100" dirty="0"/>
              <a:t>.</a:t>
            </a:r>
          </a:p>
          <a:p>
            <a:pPr marL="228600" indent="-228600">
              <a:buFont typeface="+mj-lt"/>
              <a:buAutoNum type="arabicPeriod" startAt="3"/>
            </a:pPr>
            <a:r>
              <a:rPr lang="es-CO" sz="1100" dirty="0"/>
              <a:t>Presione el botón </a:t>
            </a:r>
            <a:r>
              <a:rPr lang="es-CO" sz="1100" b="1" dirty="0"/>
              <a:t>Guardar</a:t>
            </a:r>
            <a:r>
              <a:rPr lang="es-CO" sz="1100" dirty="0"/>
              <a:t>.</a:t>
            </a:r>
          </a:p>
          <a:p>
            <a:pPr marL="228600" indent="-228600">
              <a:buFont typeface="+mj-lt"/>
              <a:buAutoNum type="arabicPeriod" startAt="3"/>
            </a:pPr>
            <a:r>
              <a:rPr lang="es-CO" sz="1100" dirty="0"/>
              <a:t>Pase al </a:t>
            </a:r>
            <a:r>
              <a:rPr lang="es-CO" sz="1100" b="1" dirty="0"/>
              <a:t>siguiente bloque</a:t>
            </a:r>
            <a:r>
              <a:rPr lang="es-CO" sz="1100" dirty="0"/>
              <a:t>.</a:t>
            </a:r>
            <a:endParaRPr lang="es-ES_tradnl" sz="1100" dirty="0"/>
          </a:p>
        </p:txBody>
      </p:sp>
      <p:sp>
        <p:nvSpPr>
          <p:cNvPr id="7" name="CuadroTexto 6">
            <a:extLst>
              <a:ext uri="{FF2B5EF4-FFF2-40B4-BE49-F238E27FC236}">
                <a16:creationId xmlns:a16="http://schemas.microsoft.com/office/drawing/2014/main" id="{E8B3B626-3B96-61A0-5FA7-B33D9EFA48B1}"/>
              </a:ext>
            </a:extLst>
          </p:cNvPr>
          <p:cNvSpPr txBox="1"/>
          <p:nvPr/>
        </p:nvSpPr>
        <p:spPr>
          <a:xfrm>
            <a:off x="2609087" y="2172627"/>
            <a:ext cx="301753" cy="215444"/>
          </a:xfrm>
          <a:prstGeom prst="rect">
            <a:avLst/>
          </a:prstGeom>
          <a:solidFill>
            <a:schemeClr val="accent1"/>
          </a:solidFill>
        </p:spPr>
        <p:txBody>
          <a:bodyPr wrap="square" rtlCol="0">
            <a:spAutoFit/>
          </a:bodyPr>
          <a:lstStyle/>
          <a:p>
            <a:r>
              <a:rPr lang="es-CO" sz="800" b="1" dirty="0">
                <a:solidFill>
                  <a:schemeClr val="bg1"/>
                </a:solidFill>
              </a:rPr>
              <a:t>3</a:t>
            </a:r>
            <a:endParaRPr lang="en-US" sz="800" b="1" dirty="0">
              <a:solidFill>
                <a:schemeClr val="bg1"/>
              </a:solidFill>
            </a:endParaRPr>
          </a:p>
        </p:txBody>
      </p:sp>
      <p:sp>
        <p:nvSpPr>
          <p:cNvPr id="9" name="CuadroTexto 8">
            <a:extLst>
              <a:ext uri="{FF2B5EF4-FFF2-40B4-BE49-F238E27FC236}">
                <a16:creationId xmlns:a16="http://schemas.microsoft.com/office/drawing/2014/main" id="{77A2B6D2-2C88-A257-51A1-83AEC47E42CA}"/>
              </a:ext>
            </a:extLst>
          </p:cNvPr>
          <p:cNvSpPr txBox="1"/>
          <p:nvPr/>
        </p:nvSpPr>
        <p:spPr>
          <a:xfrm>
            <a:off x="10825627" y="6044599"/>
            <a:ext cx="301753" cy="215444"/>
          </a:xfrm>
          <a:prstGeom prst="rect">
            <a:avLst/>
          </a:prstGeom>
          <a:solidFill>
            <a:schemeClr val="accent1"/>
          </a:solidFill>
        </p:spPr>
        <p:txBody>
          <a:bodyPr wrap="square" rtlCol="0">
            <a:spAutoFit/>
          </a:bodyPr>
          <a:lstStyle/>
          <a:p>
            <a:r>
              <a:rPr lang="en-US" sz="800" b="1" dirty="0">
                <a:solidFill>
                  <a:schemeClr val="bg1"/>
                </a:solidFill>
              </a:rPr>
              <a:t>4</a:t>
            </a:r>
          </a:p>
        </p:txBody>
      </p:sp>
      <p:sp>
        <p:nvSpPr>
          <p:cNvPr id="14" name="Rectángulo 13">
            <a:extLst>
              <a:ext uri="{FF2B5EF4-FFF2-40B4-BE49-F238E27FC236}">
                <a16:creationId xmlns:a16="http://schemas.microsoft.com/office/drawing/2014/main" id="{BED23C00-B2E8-2F89-8111-D6C5EA15C19F}"/>
              </a:ext>
            </a:extLst>
          </p:cNvPr>
          <p:cNvSpPr/>
          <p:nvPr/>
        </p:nvSpPr>
        <p:spPr>
          <a:xfrm>
            <a:off x="1380836" y="2137537"/>
            <a:ext cx="1142908" cy="28562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CuadroTexto 5">
            <a:extLst>
              <a:ext uri="{FF2B5EF4-FFF2-40B4-BE49-F238E27FC236}">
                <a16:creationId xmlns:a16="http://schemas.microsoft.com/office/drawing/2014/main" id="{C711E995-5467-22A2-14E1-713F7462CBB4}"/>
              </a:ext>
            </a:extLst>
          </p:cNvPr>
          <p:cNvSpPr txBox="1"/>
          <p:nvPr/>
        </p:nvSpPr>
        <p:spPr>
          <a:xfrm>
            <a:off x="1402818" y="6000435"/>
            <a:ext cx="301753" cy="215444"/>
          </a:xfrm>
          <a:prstGeom prst="rect">
            <a:avLst/>
          </a:prstGeom>
          <a:solidFill>
            <a:schemeClr val="accent1"/>
          </a:solidFill>
        </p:spPr>
        <p:txBody>
          <a:bodyPr wrap="square" rtlCol="0">
            <a:spAutoFit/>
          </a:bodyPr>
          <a:lstStyle/>
          <a:p>
            <a:r>
              <a:rPr lang="en-US" sz="800" b="1" dirty="0">
                <a:solidFill>
                  <a:schemeClr val="bg1"/>
                </a:solidFill>
              </a:rPr>
              <a:t>5</a:t>
            </a:r>
          </a:p>
        </p:txBody>
      </p:sp>
      <p:sp>
        <p:nvSpPr>
          <p:cNvPr id="15" name="Rectángulo 14">
            <a:extLst>
              <a:ext uri="{FF2B5EF4-FFF2-40B4-BE49-F238E27FC236}">
                <a16:creationId xmlns:a16="http://schemas.microsoft.com/office/drawing/2014/main" id="{79E2E592-6DC6-EA04-D0D2-040E6EEB3478}"/>
              </a:ext>
            </a:extLst>
          </p:cNvPr>
          <p:cNvSpPr/>
          <p:nvPr/>
        </p:nvSpPr>
        <p:spPr>
          <a:xfrm>
            <a:off x="954377" y="6022517"/>
            <a:ext cx="303629" cy="19336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8727169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B2D1CEF-2177-BBC6-95AE-C3158D96AFAA}"/>
              </a:ext>
            </a:extLst>
          </p:cNvPr>
          <p:cNvPicPr>
            <a:picLocks noChangeAspect="1"/>
          </p:cNvPicPr>
          <p:nvPr/>
        </p:nvPicPr>
        <p:blipFill>
          <a:blip r:embed="rId3"/>
          <a:stretch>
            <a:fillRect/>
          </a:stretch>
        </p:blipFill>
        <p:spPr>
          <a:xfrm>
            <a:off x="916398" y="1133855"/>
            <a:ext cx="10817821" cy="5132543"/>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609601" y="366041"/>
            <a:ext cx="11124618" cy="898555"/>
          </a:xfrm>
        </p:spPr>
        <p:txBody>
          <a:bodyPr/>
          <a:lstStyle/>
          <a:p>
            <a:r>
              <a:rPr lang="es-ES_tradnl" dirty="0">
                <a:solidFill>
                  <a:schemeClr val="accent1"/>
                </a:solidFill>
              </a:rPr>
              <a:t>Registrar el Plan de Evaluación del docente (SHAGCOM)</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2902637" y="4123567"/>
            <a:ext cx="7247213" cy="898556"/>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6"/>
            </a:pPr>
            <a:r>
              <a:rPr lang="es-ES_tradnl" sz="1100" dirty="0"/>
              <a:t>Ingrese el número de </a:t>
            </a:r>
            <a:r>
              <a:rPr lang="es-ES_tradnl" sz="1100" b="1" dirty="0"/>
              <a:t>secuencia</a:t>
            </a:r>
            <a:r>
              <a:rPr lang="es-ES_tradnl" sz="1100" dirty="0"/>
              <a:t> que indicará el </a:t>
            </a:r>
            <a:r>
              <a:rPr lang="es-CO" sz="1100" dirty="0"/>
              <a:t>orden en que los componentes se desplegarán para el alumno en SSB.</a:t>
            </a:r>
          </a:p>
          <a:p>
            <a:pPr marL="228600" indent="-228600">
              <a:buFont typeface="+mj-lt"/>
              <a:buAutoNum type="arabicPeriod" startAt="6"/>
            </a:pPr>
            <a:r>
              <a:rPr lang="es-ES_tradnl" sz="1100" dirty="0"/>
              <a:t>Ingrese el </a:t>
            </a:r>
            <a:r>
              <a:rPr lang="es-ES_tradnl" sz="1100" b="1" dirty="0"/>
              <a:t>nombre</a:t>
            </a:r>
            <a:r>
              <a:rPr lang="es-ES_tradnl" sz="1100" dirty="0"/>
              <a:t> del componente calificable</a:t>
            </a:r>
            <a:r>
              <a:rPr lang="es-CO" sz="1100" dirty="0"/>
              <a:t>.</a:t>
            </a:r>
          </a:p>
        </p:txBody>
      </p:sp>
      <p:sp>
        <p:nvSpPr>
          <p:cNvPr id="7" name="CuadroTexto 6">
            <a:extLst>
              <a:ext uri="{FF2B5EF4-FFF2-40B4-BE49-F238E27FC236}">
                <a16:creationId xmlns:a16="http://schemas.microsoft.com/office/drawing/2014/main" id="{E8B3B626-3B96-61A0-5FA7-B33D9EFA48B1}"/>
              </a:ext>
            </a:extLst>
          </p:cNvPr>
          <p:cNvSpPr txBox="1"/>
          <p:nvPr/>
        </p:nvSpPr>
        <p:spPr>
          <a:xfrm>
            <a:off x="485730" y="2460146"/>
            <a:ext cx="301753" cy="215444"/>
          </a:xfrm>
          <a:prstGeom prst="rect">
            <a:avLst/>
          </a:prstGeom>
          <a:solidFill>
            <a:schemeClr val="accent1"/>
          </a:solidFill>
        </p:spPr>
        <p:txBody>
          <a:bodyPr wrap="square" rtlCol="0">
            <a:spAutoFit/>
          </a:bodyPr>
          <a:lstStyle/>
          <a:p>
            <a:r>
              <a:rPr lang="es-CO" sz="800" b="1" dirty="0">
                <a:solidFill>
                  <a:schemeClr val="bg1"/>
                </a:solidFill>
              </a:rPr>
              <a:t>6</a:t>
            </a:r>
            <a:endParaRPr lang="en-US" sz="800" b="1" dirty="0">
              <a:solidFill>
                <a:schemeClr val="bg1"/>
              </a:solidFill>
            </a:endParaRPr>
          </a:p>
        </p:txBody>
      </p:sp>
      <p:sp>
        <p:nvSpPr>
          <p:cNvPr id="14" name="Rectángulo 13">
            <a:extLst>
              <a:ext uri="{FF2B5EF4-FFF2-40B4-BE49-F238E27FC236}">
                <a16:creationId xmlns:a16="http://schemas.microsoft.com/office/drawing/2014/main" id="{BED23C00-B2E8-2F89-8111-D6C5EA15C19F}"/>
              </a:ext>
            </a:extLst>
          </p:cNvPr>
          <p:cNvSpPr/>
          <p:nvPr/>
        </p:nvSpPr>
        <p:spPr>
          <a:xfrm>
            <a:off x="915699" y="2310813"/>
            <a:ext cx="430413" cy="36477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CuadroTexto 15">
            <a:extLst>
              <a:ext uri="{FF2B5EF4-FFF2-40B4-BE49-F238E27FC236}">
                <a16:creationId xmlns:a16="http://schemas.microsoft.com/office/drawing/2014/main" id="{CA926FC6-418B-F5DE-EE92-43CCDCD5BC63}"/>
              </a:ext>
            </a:extLst>
          </p:cNvPr>
          <p:cNvSpPr txBox="1"/>
          <p:nvPr/>
        </p:nvSpPr>
        <p:spPr>
          <a:xfrm>
            <a:off x="2971211" y="2518990"/>
            <a:ext cx="301753" cy="215444"/>
          </a:xfrm>
          <a:prstGeom prst="rect">
            <a:avLst/>
          </a:prstGeom>
          <a:solidFill>
            <a:schemeClr val="accent1"/>
          </a:solidFill>
        </p:spPr>
        <p:txBody>
          <a:bodyPr wrap="square" rtlCol="0">
            <a:spAutoFit/>
          </a:bodyPr>
          <a:lstStyle/>
          <a:p>
            <a:r>
              <a:rPr lang="es-CO" sz="800" b="1" dirty="0">
                <a:solidFill>
                  <a:schemeClr val="bg1"/>
                </a:solidFill>
              </a:rPr>
              <a:t>7</a:t>
            </a:r>
            <a:endParaRPr lang="en-US" sz="800" b="1" dirty="0">
              <a:solidFill>
                <a:schemeClr val="bg1"/>
              </a:solidFill>
            </a:endParaRPr>
          </a:p>
        </p:txBody>
      </p:sp>
      <p:sp>
        <p:nvSpPr>
          <p:cNvPr id="18" name="Rectángulo 17">
            <a:extLst>
              <a:ext uri="{FF2B5EF4-FFF2-40B4-BE49-F238E27FC236}">
                <a16:creationId xmlns:a16="http://schemas.microsoft.com/office/drawing/2014/main" id="{19B3D386-A9B6-9F44-63E2-A55932D25075}"/>
              </a:ext>
            </a:extLst>
          </p:cNvPr>
          <p:cNvSpPr/>
          <p:nvPr/>
        </p:nvSpPr>
        <p:spPr>
          <a:xfrm>
            <a:off x="1346112" y="2310813"/>
            <a:ext cx="1556525" cy="36477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4060014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F197743-05BD-CE67-224B-504E5A1BFB65}"/>
              </a:ext>
            </a:extLst>
          </p:cNvPr>
          <p:cNvPicPr>
            <a:picLocks noChangeAspect="1"/>
          </p:cNvPicPr>
          <p:nvPr/>
        </p:nvPicPr>
        <p:blipFill>
          <a:blip r:embed="rId3"/>
          <a:stretch>
            <a:fillRect/>
          </a:stretch>
        </p:blipFill>
        <p:spPr>
          <a:xfrm>
            <a:off x="916398" y="1133855"/>
            <a:ext cx="10817821" cy="5132543"/>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609601" y="366041"/>
            <a:ext cx="11124618" cy="898555"/>
          </a:xfrm>
        </p:spPr>
        <p:txBody>
          <a:bodyPr/>
          <a:lstStyle/>
          <a:p>
            <a:r>
              <a:rPr lang="es-ES_tradnl" dirty="0">
                <a:solidFill>
                  <a:schemeClr val="accent1"/>
                </a:solidFill>
              </a:rPr>
              <a:t>Registrar el Plan de Evaluación del docente (SHAGCOM)</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3059663" y="4214191"/>
            <a:ext cx="7247213" cy="117281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8"/>
            </a:pPr>
            <a:r>
              <a:rPr lang="es-ES_tradnl" sz="1100" dirty="0"/>
              <a:t>Ingrese la </a:t>
            </a:r>
            <a:r>
              <a:rPr lang="es-CO" sz="1100" dirty="0"/>
              <a:t> </a:t>
            </a:r>
            <a:r>
              <a:rPr lang="es-CO" sz="1100" b="1" dirty="0"/>
              <a:t>descripción</a:t>
            </a:r>
            <a:r>
              <a:rPr lang="es-CO" sz="1100" dirty="0"/>
              <a:t> del componente, que se mostrará al alumno</a:t>
            </a:r>
            <a:r>
              <a:rPr lang="es-ES_tradnl" sz="1100" dirty="0"/>
              <a:t> en SSB.</a:t>
            </a:r>
          </a:p>
          <a:p>
            <a:pPr marL="228600" indent="-228600">
              <a:buFont typeface="+mj-lt"/>
              <a:buAutoNum type="arabicPeriod" startAt="8"/>
            </a:pPr>
            <a:r>
              <a:rPr lang="es-CO" sz="1100" dirty="0"/>
              <a:t>Ingrese el peso(%) de la nota que este componente tiene en el cálculo de las calificaciones finales. En el campo “Calificadas de+ se muestra que el cálculo es sobre 100%.</a:t>
            </a:r>
            <a:endParaRPr lang="es-ES_tradnl" sz="1100" dirty="0"/>
          </a:p>
        </p:txBody>
      </p:sp>
      <p:sp>
        <p:nvSpPr>
          <p:cNvPr id="7" name="CuadroTexto 6">
            <a:extLst>
              <a:ext uri="{FF2B5EF4-FFF2-40B4-BE49-F238E27FC236}">
                <a16:creationId xmlns:a16="http://schemas.microsoft.com/office/drawing/2014/main" id="{E8B3B626-3B96-61A0-5FA7-B33D9EFA48B1}"/>
              </a:ext>
            </a:extLst>
          </p:cNvPr>
          <p:cNvSpPr txBox="1"/>
          <p:nvPr/>
        </p:nvSpPr>
        <p:spPr>
          <a:xfrm>
            <a:off x="1610850" y="2521253"/>
            <a:ext cx="301753" cy="215444"/>
          </a:xfrm>
          <a:prstGeom prst="rect">
            <a:avLst/>
          </a:prstGeom>
          <a:solidFill>
            <a:schemeClr val="accent1"/>
          </a:solidFill>
        </p:spPr>
        <p:txBody>
          <a:bodyPr wrap="square" rtlCol="0">
            <a:spAutoFit/>
          </a:bodyPr>
          <a:lstStyle/>
          <a:p>
            <a:r>
              <a:rPr lang="en-US" sz="800" b="1" dirty="0">
                <a:solidFill>
                  <a:schemeClr val="bg1"/>
                </a:solidFill>
              </a:rPr>
              <a:t>8</a:t>
            </a:r>
          </a:p>
        </p:txBody>
      </p:sp>
      <p:sp>
        <p:nvSpPr>
          <p:cNvPr id="14" name="Rectángulo 13">
            <a:extLst>
              <a:ext uri="{FF2B5EF4-FFF2-40B4-BE49-F238E27FC236}">
                <a16:creationId xmlns:a16="http://schemas.microsoft.com/office/drawing/2014/main" id="{BED23C00-B2E8-2F89-8111-D6C5EA15C19F}"/>
              </a:ext>
            </a:extLst>
          </p:cNvPr>
          <p:cNvSpPr/>
          <p:nvPr/>
        </p:nvSpPr>
        <p:spPr>
          <a:xfrm>
            <a:off x="2004439" y="2331737"/>
            <a:ext cx="1141098" cy="37903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CuadroTexto 15">
            <a:extLst>
              <a:ext uri="{FF2B5EF4-FFF2-40B4-BE49-F238E27FC236}">
                <a16:creationId xmlns:a16="http://schemas.microsoft.com/office/drawing/2014/main" id="{CA926FC6-418B-F5DE-EE92-43CCDCD5BC63}"/>
              </a:ext>
            </a:extLst>
          </p:cNvPr>
          <p:cNvSpPr txBox="1"/>
          <p:nvPr/>
        </p:nvSpPr>
        <p:spPr>
          <a:xfrm>
            <a:off x="3938227" y="2535028"/>
            <a:ext cx="301753" cy="215444"/>
          </a:xfrm>
          <a:prstGeom prst="rect">
            <a:avLst/>
          </a:prstGeom>
          <a:solidFill>
            <a:schemeClr val="accent1"/>
          </a:solidFill>
        </p:spPr>
        <p:txBody>
          <a:bodyPr wrap="square" rtlCol="0">
            <a:spAutoFit/>
          </a:bodyPr>
          <a:lstStyle/>
          <a:p>
            <a:r>
              <a:rPr lang="es-CO" sz="800" b="1" dirty="0">
                <a:solidFill>
                  <a:schemeClr val="bg1"/>
                </a:solidFill>
              </a:rPr>
              <a:t>9</a:t>
            </a:r>
            <a:endParaRPr lang="en-US" sz="800" b="1" dirty="0">
              <a:solidFill>
                <a:schemeClr val="bg1"/>
              </a:solidFill>
            </a:endParaRPr>
          </a:p>
        </p:txBody>
      </p:sp>
      <p:sp>
        <p:nvSpPr>
          <p:cNvPr id="18" name="Rectángulo 17">
            <a:extLst>
              <a:ext uri="{FF2B5EF4-FFF2-40B4-BE49-F238E27FC236}">
                <a16:creationId xmlns:a16="http://schemas.microsoft.com/office/drawing/2014/main" id="{19B3D386-A9B6-9F44-63E2-A55932D25075}"/>
              </a:ext>
            </a:extLst>
          </p:cNvPr>
          <p:cNvSpPr/>
          <p:nvPr/>
        </p:nvSpPr>
        <p:spPr>
          <a:xfrm>
            <a:off x="3159569" y="2331737"/>
            <a:ext cx="609602" cy="3965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478655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1BD75B9-7D15-000A-4DE7-E89BD94BAAC0}"/>
              </a:ext>
            </a:extLst>
          </p:cNvPr>
          <p:cNvPicPr>
            <a:picLocks noChangeAspect="1"/>
          </p:cNvPicPr>
          <p:nvPr/>
        </p:nvPicPr>
        <p:blipFill>
          <a:blip r:embed="rId3"/>
          <a:stretch>
            <a:fillRect/>
          </a:stretch>
        </p:blipFill>
        <p:spPr>
          <a:xfrm>
            <a:off x="916398" y="1133855"/>
            <a:ext cx="10817821" cy="5132543"/>
          </a:xfrm>
          <a:prstGeom prst="rect">
            <a:avLst/>
          </a:prstGeom>
          <a:ln>
            <a:solidFill>
              <a:schemeClr val="accent1"/>
            </a:solidFill>
          </a:ln>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609601" y="366041"/>
            <a:ext cx="11124618" cy="898555"/>
          </a:xfrm>
        </p:spPr>
        <p:txBody>
          <a:bodyPr/>
          <a:lstStyle/>
          <a:p>
            <a:r>
              <a:rPr lang="es-ES_tradnl" dirty="0">
                <a:solidFill>
                  <a:schemeClr val="accent1"/>
                </a:solidFill>
              </a:rPr>
              <a:t>Registrar el Plan de Evaluación del docente (SHAGCOM)</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3059663" y="4214191"/>
            <a:ext cx="7247213" cy="117281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10"/>
            </a:pPr>
            <a:r>
              <a:rPr lang="es-419" sz="1100" dirty="0"/>
              <a:t>Opcionalmente, puede </a:t>
            </a:r>
            <a:r>
              <a:rPr lang="es-ES_tradnl" sz="1100" dirty="0"/>
              <a:t>Ingresar la </a:t>
            </a:r>
            <a:r>
              <a:rPr lang="es-CO" sz="1100" dirty="0"/>
              <a:t> fecha en que se llevará a cabo la evaluación o entrega de asignación. Solo tiene efectos informativos.</a:t>
            </a:r>
            <a:endParaRPr lang="es-ES_tradnl" sz="1100" dirty="0"/>
          </a:p>
          <a:p>
            <a:pPr marL="228600" indent="-228600">
              <a:buFont typeface="+mj-lt"/>
              <a:buAutoNum type="arabicPeriod" startAt="10"/>
            </a:pPr>
            <a:r>
              <a:rPr lang="es-CO" sz="1100" dirty="0"/>
              <a:t>Active la casilla si el componente que se está ingresando debe ser aprobado para que el estudiante apruebe la asignatura. </a:t>
            </a:r>
            <a:endParaRPr lang="es-ES_tradnl" sz="1100" dirty="0"/>
          </a:p>
        </p:txBody>
      </p:sp>
      <p:sp>
        <p:nvSpPr>
          <p:cNvPr id="7" name="CuadroTexto 6">
            <a:extLst>
              <a:ext uri="{FF2B5EF4-FFF2-40B4-BE49-F238E27FC236}">
                <a16:creationId xmlns:a16="http://schemas.microsoft.com/office/drawing/2014/main" id="{E8B3B626-3B96-61A0-5FA7-B33D9EFA48B1}"/>
              </a:ext>
            </a:extLst>
          </p:cNvPr>
          <p:cNvSpPr txBox="1"/>
          <p:nvPr/>
        </p:nvSpPr>
        <p:spPr>
          <a:xfrm>
            <a:off x="3716168" y="2388794"/>
            <a:ext cx="301753" cy="215444"/>
          </a:xfrm>
          <a:prstGeom prst="rect">
            <a:avLst/>
          </a:prstGeom>
          <a:solidFill>
            <a:schemeClr val="accent1"/>
          </a:solidFill>
        </p:spPr>
        <p:txBody>
          <a:bodyPr wrap="square" rtlCol="0">
            <a:spAutoFit/>
          </a:bodyPr>
          <a:lstStyle/>
          <a:p>
            <a:r>
              <a:rPr lang="en-US" sz="800" b="1" dirty="0">
                <a:solidFill>
                  <a:schemeClr val="bg1"/>
                </a:solidFill>
              </a:rPr>
              <a:t>10</a:t>
            </a:r>
          </a:p>
        </p:txBody>
      </p:sp>
      <p:sp>
        <p:nvSpPr>
          <p:cNvPr id="14" name="Rectángulo 13">
            <a:extLst>
              <a:ext uri="{FF2B5EF4-FFF2-40B4-BE49-F238E27FC236}">
                <a16:creationId xmlns:a16="http://schemas.microsoft.com/office/drawing/2014/main" id="{BED23C00-B2E8-2F89-8111-D6C5EA15C19F}"/>
              </a:ext>
            </a:extLst>
          </p:cNvPr>
          <p:cNvSpPr/>
          <p:nvPr/>
        </p:nvSpPr>
        <p:spPr>
          <a:xfrm>
            <a:off x="4240362" y="2315455"/>
            <a:ext cx="463298" cy="37903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CuadroTexto 15">
            <a:extLst>
              <a:ext uri="{FF2B5EF4-FFF2-40B4-BE49-F238E27FC236}">
                <a16:creationId xmlns:a16="http://schemas.microsoft.com/office/drawing/2014/main" id="{CA926FC6-418B-F5DE-EE92-43CCDCD5BC63}"/>
              </a:ext>
            </a:extLst>
          </p:cNvPr>
          <p:cNvSpPr txBox="1"/>
          <p:nvPr/>
        </p:nvSpPr>
        <p:spPr>
          <a:xfrm>
            <a:off x="5471178" y="2428365"/>
            <a:ext cx="301753" cy="215444"/>
          </a:xfrm>
          <a:prstGeom prst="rect">
            <a:avLst/>
          </a:prstGeom>
          <a:solidFill>
            <a:schemeClr val="accent1"/>
          </a:solidFill>
        </p:spPr>
        <p:txBody>
          <a:bodyPr wrap="square" rtlCol="0">
            <a:spAutoFit/>
          </a:bodyPr>
          <a:lstStyle/>
          <a:p>
            <a:r>
              <a:rPr lang="es-CO" sz="800" b="1" dirty="0">
                <a:solidFill>
                  <a:schemeClr val="bg1"/>
                </a:solidFill>
              </a:rPr>
              <a:t>11</a:t>
            </a:r>
            <a:endParaRPr lang="en-US" sz="800" b="1" dirty="0">
              <a:solidFill>
                <a:schemeClr val="bg1"/>
              </a:solidFill>
            </a:endParaRPr>
          </a:p>
        </p:txBody>
      </p:sp>
      <p:sp>
        <p:nvSpPr>
          <p:cNvPr id="18" name="Rectángulo 17">
            <a:extLst>
              <a:ext uri="{FF2B5EF4-FFF2-40B4-BE49-F238E27FC236}">
                <a16:creationId xmlns:a16="http://schemas.microsoft.com/office/drawing/2014/main" id="{19B3D386-A9B6-9F44-63E2-A55932D25075}"/>
              </a:ext>
            </a:extLst>
          </p:cNvPr>
          <p:cNvSpPr/>
          <p:nvPr/>
        </p:nvSpPr>
        <p:spPr>
          <a:xfrm>
            <a:off x="4705656" y="2315455"/>
            <a:ext cx="609602" cy="388141"/>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0588032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104CD666-BE6D-EF45-DC51-986AF544DCB4}"/>
              </a:ext>
            </a:extLst>
          </p:cNvPr>
          <p:cNvPicPr>
            <a:picLocks noChangeAspect="1"/>
          </p:cNvPicPr>
          <p:nvPr/>
        </p:nvPicPr>
        <p:blipFill>
          <a:blip r:embed="rId3"/>
          <a:stretch>
            <a:fillRect/>
          </a:stretch>
        </p:blipFill>
        <p:spPr>
          <a:xfrm>
            <a:off x="916398" y="1133855"/>
            <a:ext cx="10817821" cy="5132543"/>
          </a:xfrm>
          <a:prstGeom prst="rect">
            <a:avLst/>
          </a:prstGeom>
          <a:ln>
            <a:solidFill>
              <a:schemeClr val="accent1"/>
            </a:solidFill>
          </a:ln>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609601" y="366041"/>
            <a:ext cx="11124618" cy="898555"/>
          </a:xfrm>
        </p:spPr>
        <p:txBody>
          <a:bodyPr/>
          <a:lstStyle/>
          <a:p>
            <a:r>
              <a:rPr lang="es-ES_tradnl" dirty="0">
                <a:solidFill>
                  <a:schemeClr val="accent1"/>
                </a:solidFill>
              </a:rPr>
              <a:t>Registrar el Plan de Evaluación del docente (SHAGCOM)</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1828800" y="4214191"/>
            <a:ext cx="9303025" cy="117281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12"/>
            </a:pPr>
            <a:r>
              <a:rPr lang="es-419" sz="1100" dirty="0"/>
              <a:t>Indique si el componente que se está definiendo se toma en cuenta en la calificación </a:t>
            </a:r>
            <a:r>
              <a:rPr lang="es-419" sz="1100" b="1" dirty="0"/>
              <a:t>final</a:t>
            </a:r>
            <a:r>
              <a:rPr lang="es-419" sz="1100" dirty="0"/>
              <a:t>. Solo pasan a la historia académica del estudiante las calificaciones finales.</a:t>
            </a:r>
          </a:p>
          <a:p>
            <a:pPr marL="228600" indent="-228600">
              <a:buFont typeface="+mj-lt"/>
              <a:buAutoNum type="arabicPeriod" startAt="12"/>
            </a:pPr>
            <a:r>
              <a:rPr lang="es-CO" sz="1100" dirty="0"/>
              <a:t>Los campos indicados se utilizan si hay una lógica y/o entre varios componentes. En el campo </a:t>
            </a:r>
            <a:r>
              <a:rPr lang="es-CO" sz="1100" b="1" dirty="0"/>
              <a:t>Secuencia Y/O</a:t>
            </a:r>
            <a:r>
              <a:rPr lang="es-CO" sz="1100" dirty="0"/>
              <a:t> se indicaría el componente con el cual se aplica la lógica junto al que se está definiendo y en el campo </a:t>
            </a:r>
            <a:r>
              <a:rPr lang="es-CO" sz="1100" b="1" dirty="0"/>
              <a:t>Y/O</a:t>
            </a:r>
            <a:r>
              <a:rPr lang="es-CO" sz="1100" dirty="0"/>
              <a:t> se indica la lógica a aplicar. </a:t>
            </a:r>
            <a:endParaRPr lang="es-ES_tradnl" sz="1100" dirty="0"/>
          </a:p>
        </p:txBody>
      </p:sp>
      <p:sp>
        <p:nvSpPr>
          <p:cNvPr id="7" name="CuadroTexto 6">
            <a:extLst>
              <a:ext uri="{FF2B5EF4-FFF2-40B4-BE49-F238E27FC236}">
                <a16:creationId xmlns:a16="http://schemas.microsoft.com/office/drawing/2014/main" id="{E8B3B626-3B96-61A0-5FA7-B33D9EFA48B1}"/>
              </a:ext>
            </a:extLst>
          </p:cNvPr>
          <p:cNvSpPr txBox="1"/>
          <p:nvPr/>
        </p:nvSpPr>
        <p:spPr>
          <a:xfrm>
            <a:off x="4727827" y="2422920"/>
            <a:ext cx="301753" cy="215444"/>
          </a:xfrm>
          <a:prstGeom prst="rect">
            <a:avLst/>
          </a:prstGeom>
          <a:solidFill>
            <a:schemeClr val="accent1"/>
          </a:solidFill>
        </p:spPr>
        <p:txBody>
          <a:bodyPr wrap="square" rtlCol="0">
            <a:spAutoFit/>
          </a:bodyPr>
          <a:lstStyle/>
          <a:p>
            <a:r>
              <a:rPr lang="en-US" sz="800" b="1" dirty="0">
                <a:solidFill>
                  <a:schemeClr val="bg1"/>
                </a:solidFill>
              </a:rPr>
              <a:t>12</a:t>
            </a:r>
          </a:p>
        </p:txBody>
      </p:sp>
      <p:sp>
        <p:nvSpPr>
          <p:cNvPr id="14" name="Rectángulo 13">
            <a:extLst>
              <a:ext uri="{FF2B5EF4-FFF2-40B4-BE49-F238E27FC236}">
                <a16:creationId xmlns:a16="http://schemas.microsoft.com/office/drawing/2014/main" id="{BED23C00-B2E8-2F89-8111-D6C5EA15C19F}"/>
              </a:ext>
            </a:extLst>
          </p:cNvPr>
          <p:cNvSpPr/>
          <p:nvPr/>
        </p:nvSpPr>
        <p:spPr>
          <a:xfrm>
            <a:off x="5085422" y="2300591"/>
            <a:ext cx="497482" cy="38814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CuadroTexto 15">
            <a:extLst>
              <a:ext uri="{FF2B5EF4-FFF2-40B4-BE49-F238E27FC236}">
                <a16:creationId xmlns:a16="http://schemas.microsoft.com/office/drawing/2014/main" id="{CA926FC6-418B-F5DE-EE92-43CCDCD5BC63}"/>
              </a:ext>
            </a:extLst>
          </p:cNvPr>
          <p:cNvSpPr txBox="1"/>
          <p:nvPr/>
        </p:nvSpPr>
        <p:spPr>
          <a:xfrm>
            <a:off x="6934087" y="2430786"/>
            <a:ext cx="301753" cy="215444"/>
          </a:xfrm>
          <a:prstGeom prst="rect">
            <a:avLst/>
          </a:prstGeom>
          <a:solidFill>
            <a:schemeClr val="accent1"/>
          </a:solidFill>
        </p:spPr>
        <p:txBody>
          <a:bodyPr wrap="square" rtlCol="0">
            <a:spAutoFit/>
          </a:bodyPr>
          <a:lstStyle/>
          <a:p>
            <a:r>
              <a:rPr lang="es-CO" sz="800" b="1" dirty="0">
                <a:solidFill>
                  <a:schemeClr val="bg1"/>
                </a:solidFill>
              </a:rPr>
              <a:t>13</a:t>
            </a:r>
            <a:endParaRPr lang="en-US" sz="800" b="1" dirty="0">
              <a:solidFill>
                <a:schemeClr val="bg1"/>
              </a:solidFill>
            </a:endParaRPr>
          </a:p>
        </p:txBody>
      </p:sp>
      <p:sp>
        <p:nvSpPr>
          <p:cNvPr id="18" name="Rectángulo 17">
            <a:extLst>
              <a:ext uri="{FF2B5EF4-FFF2-40B4-BE49-F238E27FC236}">
                <a16:creationId xmlns:a16="http://schemas.microsoft.com/office/drawing/2014/main" id="{19B3D386-A9B6-9F44-63E2-A55932D25075}"/>
              </a:ext>
            </a:extLst>
          </p:cNvPr>
          <p:cNvSpPr/>
          <p:nvPr/>
        </p:nvSpPr>
        <p:spPr>
          <a:xfrm>
            <a:off x="5738823" y="2291845"/>
            <a:ext cx="1039344" cy="38814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4608419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27DA3832-6DB9-D331-BD4A-6EF8BB6255A8}"/>
              </a:ext>
            </a:extLst>
          </p:cNvPr>
          <p:cNvPicPr>
            <a:picLocks noChangeAspect="1"/>
          </p:cNvPicPr>
          <p:nvPr/>
        </p:nvPicPr>
        <p:blipFill>
          <a:blip r:embed="rId3"/>
          <a:stretch>
            <a:fillRect/>
          </a:stretch>
        </p:blipFill>
        <p:spPr>
          <a:xfrm>
            <a:off x="739500" y="1246811"/>
            <a:ext cx="10712999" cy="5063413"/>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609601" y="366041"/>
            <a:ext cx="11124618" cy="898555"/>
          </a:xfrm>
        </p:spPr>
        <p:txBody>
          <a:bodyPr/>
          <a:lstStyle/>
          <a:p>
            <a:r>
              <a:rPr lang="es-ES_tradnl" dirty="0">
                <a:solidFill>
                  <a:schemeClr val="accent1"/>
                </a:solidFill>
              </a:rPr>
              <a:t>Registrar el Plan de Evaluación del docente (SHAGCOM)</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1828800" y="4214191"/>
            <a:ext cx="9303025" cy="155050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14"/>
            </a:pPr>
            <a:r>
              <a:rPr lang="es-419" sz="1100" dirty="0"/>
              <a:t>Por defecto, en el campo </a:t>
            </a:r>
            <a:r>
              <a:rPr lang="es-419" sz="1100" b="1" dirty="0"/>
              <a:t>Escala de calificación </a:t>
            </a:r>
            <a:r>
              <a:rPr lang="es-419" sz="1100" dirty="0"/>
              <a:t>se muestra la escala de calificación definida en el bloque anterior</a:t>
            </a:r>
            <a:r>
              <a:rPr lang="es-CO" sz="1100" dirty="0"/>
              <a:t>. Sin embargo, si es necesario, puede seleccionar otra escala que aplique a un componente en particular (por ejemplo, el componente de asistencia). Presione la tecla tabulador en su teclado.</a:t>
            </a:r>
          </a:p>
          <a:p>
            <a:pPr marL="228600" indent="-228600">
              <a:buFont typeface="+mj-lt"/>
              <a:buAutoNum type="arabicPeriod" startAt="14"/>
            </a:pPr>
            <a:r>
              <a:rPr lang="es-CO" sz="1100" dirty="0"/>
              <a:t>Automáticamente, la </a:t>
            </a:r>
            <a:r>
              <a:rPr lang="es-CO" sz="1100" b="1" dirty="0"/>
              <a:t>Nota aprobatoria </a:t>
            </a:r>
            <a:r>
              <a:rPr lang="es-CO" sz="1100" dirty="0"/>
              <a:t>se actualiza a la definida en la escala de calificación cuando ésta se configuró en la página SHAGSCH. </a:t>
            </a:r>
          </a:p>
          <a:p>
            <a:pPr marL="228600" indent="-228600">
              <a:buFont typeface="+mj-lt"/>
              <a:buAutoNum type="arabicPeriod" startAt="14"/>
            </a:pPr>
            <a:r>
              <a:rPr lang="es-CO" sz="1100" b="1" dirty="0"/>
              <a:t>Guarde</a:t>
            </a:r>
            <a:r>
              <a:rPr lang="es-CO" sz="1100" dirty="0"/>
              <a:t> la información.</a:t>
            </a:r>
          </a:p>
          <a:p>
            <a:pPr marL="228600" indent="-228600">
              <a:buFont typeface="+mj-lt"/>
              <a:buAutoNum type="arabicPeriod" startAt="14"/>
            </a:pPr>
            <a:r>
              <a:rPr lang="es-CO" sz="1100" dirty="0"/>
              <a:t>Si desea ingresar un segundo componente, presione la opción Insertar.</a:t>
            </a:r>
          </a:p>
          <a:p>
            <a:pPr marL="228600" indent="-228600">
              <a:buFont typeface="+mj-lt"/>
              <a:buAutoNum type="arabicPeriod" startAt="14"/>
            </a:pPr>
            <a:endParaRPr lang="es-ES_tradnl" sz="1100" dirty="0"/>
          </a:p>
        </p:txBody>
      </p:sp>
      <p:sp>
        <p:nvSpPr>
          <p:cNvPr id="7" name="CuadroTexto 6">
            <a:extLst>
              <a:ext uri="{FF2B5EF4-FFF2-40B4-BE49-F238E27FC236}">
                <a16:creationId xmlns:a16="http://schemas.microsoft.com/office/drawing/2014/main" id="{E8B3B626-3B96-61A0-5FA7-B33D9EFA48B1}"/>
              </a:ext>
            </a:extLst>
          </p:cNvPr>
          <p:cNvSpPr txBox="1"/>
          <p:nvPr/>
        </p:nvSpPr>
        <p:spPr>
          <a:xfrm>
            <a:off x="6171910" y="2536087"/>
            <a:ext cx="301753" cy="215444"/>
          </a:xfrm>
          <a:prstGeom prst="rect">
            <a:avLst/>
          </a:prstGeom>
          <a:solidFill>
            <a:schemeClr val="accent1"/>
          </a:solidFill>
        </p:spPr>
        <p:txBody>
          <a:bodyPr wrap="square" rtlCol="0">
            <a:spAutoFit/>
          </a:bodyPr>
          <a:lstStyle/>
          <a:p>
            <a:r>
              <a:rPr lang="en-US" sz="800" b="1" dirty="0">
                <a:solidFill>
                  <a:schemeClr val="bg1"/>
                </a:solidFill>
              </a:rPr>
              <a:t>14</a:t>
            </a:r>
          </a:p>
        </p:txBody>
      </p:sp>
      <p:sp>
        <p:nvSpPr>
          <p:cNvPr id="14" name="Rectángulo 13">
            <a:extLst>
              <a:ext uri="{FF2B5EF4-FFF2-40B4-BE49-F238E27FC236}">
                <a16:creationId xmlns:a16="http://schemas.microsoft.com/office/drawing/2014/main" id="{BED23C00-B2E8-2F89-8111-D6C5EA15C19F}"/>
              </a:ext>
            </a:extLst>
          </p:cNvPr>
          <p:cNvSpPr/>
          <p:nvPr/>
        </p:nvSpPr>
        <p:spPr>
          <a:xfrm>
            <a:off x="6497157" y="2427621"/>
            <a:ext cx="792987" cy="4323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 name="CuadroTexto 1">
            <a:extLst>
              <a:ext uri="{FF2B5EF4-FFF2-40B4-BE49-F238E27FC236}">
                <a16:creationId xmlns:a16="http://schemas.microsoft.com/office/drawing/2014/main" id="{B16A58FD-268A-2B89-9FF4-46AA16352B0A}"/>
              </a:ext>
            </a:extLst>
          </p:cNvPr>
          <p:cNvSpPr txBox="1"/>
          <p:nvPr/>
        </p:nvSpPr>
        <p:spPr>
          <a:xfrm>
            <a:off x="8102211" y="2516986"/>
            <a:ext cx="301753" cy="215444"/>
          </a:xfrm>
          <a:prstGeom prst="rect">
            <a:avLst/>
          </a:prstGeom>
          <a:solidFill>
            <a:schemeClr val="accent1"/>
          </a:solidFill>
        </p:spPr>
        <p:txBody>
          <a:bodyPr wrap="square" rtlCol="0">
            <a:spAutoFit/>
          </a:bodyPr>
          <a:lstStyle/>
          <a:p>
            <a:r>
              <a:rPr lang="en-US" sz="800" b="1" dirty="0">
                <a:solidFill>
                  <a:schemeClr val="bg1"/>
                </a:solidFill>
              </a:rPr>
              <a:t>15</a:t>
            </a:r>
          </a:p>
        </p:txBody>
      </p:sp>
      <p:sp>
        <p:nvSpPr>
          <p:cNvPr id="12" name="CuadroTexto 11">
            <a:extLst>
              <a:ext uri="{FF2B5EF4-FFF2-40B4-BE49-F238E27FC236}">
                <a16:creationId xmlns:a16="http://schemas.microsoft.com/office/drawing/2014/main" id="{6D5B57D8-BC4C-77A7-3B8A-84E8418114AF}"/>
              </a:ext>
            </a:extLst>
          </p:cNvPr>
          <p:cNvSpPr txBox="1"/>
          <p:nvPr/>
        </p:nvSpPr>
        <p:spPr>
          <a:xfrm>
            <a:off x="10744775" y="6031961"/>
            <a:ext cx="301753" cy="215444"/>
          </a:xfrm>
          <a:prstGeom prst="rect">
            <a:avLst/>
          </a:prstGeom>
          <a:solidFill>
            <a:schemeClr val="accent1"/>
          </a:solidFill>
        </p:spPr>
        <p:txBody>
          <a:bodyPr wrap="square" rtlCol="0">
            <a:spAutoFit/>
          </a:bodyPr>
          <a:lstStyle/>
          <a:p>
            <a:r>
              <a:rPr lang="en-US" sz="800" b="1" dirty="0">
                <a:solidFill>
                  <a:schemeClr val="bg1"/>
                </a:solidFill>
              </a:rPr>
              <a:t>16</a:t>
            </a:r>
          </a:p>
        </p:txBody>
      </p:sp>
      <p:sp>
        <p:nvSpPr>
          <p:cNvPr id="16" name="CuadroTexto 15">
            <a:extLst>
              <a:ext uri="{FF2B5EF4-FFF2-40B4-BE49-F238E27FC236}">
                <a16:creationId xmlns:a16="http://schemas.microsoft.com/office/drawing/2014/main" id="{8AE91B0A-77E2-702F-CB4E-15FFFCCC4C80}"/>
              </a:ext>
            </a:extLst>
          </p:cNvPr>
          <p:cNvSpPr txBox="1"/>
          <p:nvPr/>
        </p:nvSpPr>
        <p:spPr>
          <a:xfrm>
            <a:off x="10797073" y="2037644"/>
            <a:ext cx="301753" cy="215444"/>
          </a:xfrm>
          <a:prstGeom prst="rect">
            <a:avLst/>
          </a:prstGeom>
          <a:solidFill>
            <a:schemeClr val="accent1"/>
          </a:solidFill>
        </p:spPr>
        <p:txBody>
          <a:bodyPr wrap="square" rtlCol="0">
            <a:spAutoFit/>
          </a:bodyPr>
          <a:lstStyle/>
          <a:p>
            <a:r>
              <a:rPr lang="en-US" sz="800" b="1" dirty="0">
                <a:solidFill>
                  <a:schemeClr val="bg1"/>
                </a:solidFill>
              </a:rPr>
              <a:t>17</a:t>
            </a:r>
          </a:p>
        </p:txBody>
      </p:sp>
      <p:sp>
        <p:nvSpPr>
          <p:cNvPr id="19" name="Rectángulo 18">
            <a:extLst>
              <a:ext uri="{FF2B5EF4-FFF2-40B4-BE49-F238E27FC236}">
                <a16:creationId xmlns:a16="http://schemas.microsoft.com/office/drawing/2014/main" id="{D665B9DD-BC58-8A92-09E3-3E7A5FB3516D}"/>
              </a:ext>
            </a:extLst>
          </p:cNvPr>
          <p:cNvSpPr/>
          <p:nvPr/>
        </p:nvSpPr>
        <p:spPr>
          <a:xfrm>
            <a:off x="8456495" y="2576848"/>
            <a:ext cx="386238" cy="14104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8828462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77AEC711-DA69-861B-81CB-A84DD1AEFBD7}"/>
              </a:ext>
            </a:extLst>
          </p:cNvPr>
          <p:cNvPicPr>
            <a:picLocks noChangeAspect="1"/>
          </p:cNvPicPr>
          <p:nvPr/>
        </p:nvPicPr>
        <p:blipFill>
          <a:blip r:embed="rId3"/>
          <a:stretch>
            <a:fillRect/>
          </a:stretch>
        </p:blipFill>
        <p:spPr>
          <a:xfrm>
            <a:off x="739500" y="1246811"/>
            <a:ext cx="10712999" cy="5063413"/>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609601" y="366041"/>
            <a:ext cx="11124618" cy="898555"/>
          </a:xfrm>
        </p:spPr>
        <p:txBody>
          <a:bodyPr/>
          <a:lstStyle/>
          <a:p>
            <a:r>
              <a:rPr lang="es-ES_tradnl" dirty="0">
                <a:solidFill>
                  <a:schemeClr val="accent1"/>
                </a:solidFill>
              </a:rPr>
              <a:t>Registrar el Plan de Evaluación del docente (SHAGCOM)</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1444487" y="3939269"/>
            <a:ext cx="9303025"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419" sz="1100" dirty="0"/>
          </a:p>
          <a:p>
            <a:pPr marL="228600" indent="-228600">
              <a:buFont typeface="+mj-lt"/>
              <a:buAutoNum type="arabicPeriod" startAt="18"/>
            </a:pPr>
            <a:r>
              <a:rPr lang="es-CO" sz="1100" dirty="0"/>
              <a:t>Presione el botón Detalles para definir los subcomponentes asociados al componente que se está creando, si aplica.</a:t>
            </a:r>
            <a:endParaRPr lang="es-ES_tradnl" sz="1100" dirty="0"/>
          </a:p>
        </p:txBody>
      </p:sp>
      <p:sp>
        <p:nvSpPr>
          <p:cNvPr id="6" name="CuadroTexto 5">
            <a:extLst>
              <a:ext uri="{FF2B5EF4-FFF2-40B4-BE49-F238E27FC236}">
                <a16:creationId xmlns:a16="http://schemas.microsoft.com/office/drawing/2014/main" id="{4DF15C24-7869-6173-3B4A-D9CBF6986FAA}"/>
              </a:ext>
            </a:extLst>
          </p:cNvPr>
          <p:cNvSpPr txBox="1"/>
          <p:nvPr/>
        </p:nvSpPr>
        <p:spPr>
          <a:xfrm>
            <a:off x="10686816" y="2597773"/>
            <a:ext cx="301753" cy="215444"/>
          </a:xfrm>
          <a:prstGeom prst="rect">
            <a:avLst/>
          </a:prstGeom>
          <a:solidFill>
            <a:schemeClr val="accent1"/>
          </a:solidFill>
        </p:spPr>
        <p:txBody>
          <a:bodyPr wrap="square" rtlCol="0">
            <a:spAutoFit/>
          </a:bodyPr>
          <a:lstStyle/>
          <a:p>
            <a:r>
              <a:rPr lang="en-US" sz="800" b="1" dirty="0">
                <a:solidFill>
                  <a:schemeClr val="bg1"/>
                </a:solidFill>
              </a:rPr>
              <a:t>18</a:t>
            </a:r>
          </a:p>
        </p:txBody>
      </p:sp>
      <p:sp>
        <p:nvSpPr>
          <p:cNvPr id="11" name="Rectángulo 10">
            <a:extLst>
              <a:ext uri="{FF2B5EF4-FFF2-40B4-BE49-F238E27FC236}">
                <a16:creationId xmlns:a16="http://schemas.microsoft.com/office/drawing/2014/main" id="{FEF54B26-62F6-DEC2-B21A-BAD2946F9645}"/>
              </a:ext>
            </a:extLst>
          </p:cNvPr>
          <p:cNvSpPr/>
          <p:nvPr/>
        </p:nvSpPr>
        <p:spPr>
          <a:xfrm>
            <a:off x="10988569" y="2431111"/>
            <a:ext cx="508704" cy="38210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2664455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A98B56E-B446-90F9-C21A-426E4A4743B4}"/>
              </a:ext>
            </a:extLst>
          </p:cNvPr>
          <p:cNvPicPr>
            <a:picLocks noChangeAspect="1"/>
          </p:cNvPicPr>
          <p:nvPr/>
        </p:nvPicPr>
        <p:blipFill>
          <a:blip r:embed="rId3"/>
          <a:stretch>
            <a:fillRect/>
          </a:stretch>
        </p:blipFill>
        <p:spPr>
          <a:xfrm>
            <a:off x="782237" y="1124712"/>
            <a:ext cx="10972646" cy="5225887"/>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609601" y="366041"/>
            <a:ext cx="11124618" cy="898555"/>
          </a:xfrm>
        </p:spPr>
        <p:txBody>
          <a:bodyPr/>
          <a:lstStyle/>
          <a:p>
            <a:r>
              <a:rPr lang="es-ES_tradnl" dirty="0">
                <a:solidFill>
                  <a:schemeClr val="accent1"/>
                </a:solidFill>
              </a:rPr>
              <a:t>Registrar el Plan de Evaluación del docente (SHAGCOM)</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1708778" y="4155017"/>
            <a:ext cx="9303025" cy="117281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100" dirty="0"/>
              <a:t>Al ingresar a la sección de subcomponentes, en el primer bloque se visualizan los datos del componente para el que se van a  configurar.</a:t>
            </a:r>
            <a:endParaRPr lang="es-ES_tradnl" sz="1100" dirty="0"/>
          </a:p>
          <a:p>
            <a:endParaRPr lang="es-419" sz="1100" dirty="0"/>
          </a:p>
          <a:p>
            <a:pPr marL="228600" indent="-228600">
              <a:buFont typeface="+mj-lt"/>
              <a:buAutoNum type="arabicPeriod" startAt="19"/>
            </a:pPr>
            <a:r>
              <a:rPr lang="es-ES_tradnl" sz="1100" dirty="0"/>
              <a:t>Ingrese el </a:t>
            </a:r>
            <a:r>
              <a:rPr lang="es-ES_tradnl" sz="1100" b="1" dirty="0"/>
              <a:t>nombre</a:t>
            </a:r>
            <a:r>
              <a:rPr lang="es-ES_tradnl" sz="1100" dirty="0"/>
              <a:t> del subcomponente</a:t>
            </a:r>
            <a:r>
              <a:rPr lang="es-419" sz="1100" dirty="0"/>
              <a:t>.</a:t>
            </a:r>
          </a:p>
          <a:p>
            <a:pPr marL="228600" indent="-228600">
              <a:buFont typeface="+mj-lt"/>
              <a:buAutoNum type="arabicPeriod" startAt="19"/>
            </a:pPr>
            <a:r>
              <a:rPr lang="es-ES_tradnl" sz="1100" dirty="0"/>
              <a:t>Ingrese la </a:t>
            </a:r>
            <a:r>
              <a:rPr lang="es-CO" sz="1100" dirty="0"/>
              <a:t> </a:t>
            </a:r>
            <a:r>
              <a:rPr lang="es-CO" sz="1100" b="1" dirty="0"/>
              <a:t>descripción</a:t>
            </a:r>
            <a:r>
              <a:rPr lang="es-CO" sz="1100" dirty="0"/>
              <a:t> del subcomponente, que se mostrará al alumno</a:t>
            </a:r>
            <a:r>
              <a:rPr lang="es-ES_tradnl" sz="1100" dirty="0"/>
              <a:t> en SSB.</a:t>
            </a:r>
          </a:p>
        </p:txBody>
      </p:sp>
      <p:sp>
        <p:nvSpPr>
          <p:cNvPr id="7" name="CuadroTexto 6">
            <a:extLst>
              <a:ext uri="{FF2B5EF4-FFF2-40B4-BE49-F238E27FC236}">
                <a16:creationId xmlns:a16="http://schemas.microsoft.com/office/drawing/2014/main" id="{E8B3B626-3B96-61A0-5FA7-B33D9EFA48B1}"/>
              </a:ext>
            </a:extLst>
          </p:cNvPr>
          <p:cNvSpPr txBox="1"/>
          <p:nvPr/>
        </p:nvSpPr>
        <p:spPr>
          <a:xfrm>
            <a:off x="2000438" y="2494362"/>
            <a:ext cx="301753" cy="215444"/>
          </a:xfrm>
          <a:prstGeom prst="rect">
            <a:avLst/>
          </a:prstGeom>
          <a:solidFill>
            <a:schemeClr val="accent1"/>
          </a:solidFill>
        </p:spPr>
        <p:txBody>
          <a:bodyPr wrap="square" rtlCol="0">
            <a:spAutoFit/>
          </a:bodyPr>
          <a:lstStyle/>
          <a:p>
            <a:r>
              <a:rPr lang="en-US" sz="800" b="1" dirty="0">
                <a:solidFill>
                  <a:schemeClr val="bg1"/>
                </a:solidFill>
              </a:rPr>
              <a:t>20</a:t>
            </a:r>
          </a:p>
        </p:txBody>
      </p:sp>
      <p:sp>
        <p:nvSpPr>
          <p:cNvPr id="6" name="CuadroTexto 5">
            <a:extLst>
              <a:ext uri="{FF2B5EF4-FFF2-40B4-BE49-F238E27FC236}">
                <a16:creationId xmlns:a16="http://schemas.microsoft.com/office/drawing/2014/main" id="{4DF15C24-7869-6173-3B4A-D9CBF6986FAA}"/>
              </a:ext>
            </a:extLst>
          </p:cNvPr>
          <p:cNvSpPr txBox="1"/>
          <p:nvPr/>
        </p:nvSpPr>
        <p:spPr>
          <a:xfrm>
            <a:off x="480484" y="2463426"/>
            <a:ext cx="301753" cy="215444"/>
          </a:xfrm>
          <a:prstGeom prst="rect">
            <a:avLst/>
          </a:prstGeom>
          <a:solidFill>
            <a:schemeClr val="accent1"/>
          </a:solidFill>
        </p:spPr>
        <p:txBody>
          <a:bodyPr wrap="square" rtlCol="0">
            <a:spAutoFit/>
          </a:bodyPr>
          <a:lstStyle/>
          <a:p>
            <a:r>
              <a:rPr lang="en-US" sz="800" b="1" dirty="0">
                <a:solidFill>
                  <a:schemeClr val="bg1"/>
                </a:solidFill>
              </a:rPr>
              <a:t>19</a:t>
            </a:r>
          </a:p>
        </p:txBody>
      </p:sp>
      <p:sp>
        <p:nvSpPr>
          <p:cNvPr id="11" name="Rectángulo 10">
            <a:extLst>
              <a:ext uri="{FF2B5EF4-FFF2-40B4-BE49-F238E27FC236}">
                <a16:creationId xmlns:a16="http://schemas.microsoft.com/office/drawing/2014/main" id="{FEF54B26-62F6-DEC2-B21A-BAD2946F9645}"/>
              </a:ext>
            </a:extLst>
          </p:cNvPr>
          <p:cNvSpPr/>
          <p:nvPr/>
        </p:nvSpPr>
        <p:spPr>
          <a:xfrm>
            <a:off x="762212" y="2357235"/>
            <a:ext cx="508704" cy="38210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4" name="Rectángulo 13">
            <a:extLst>
              <a:ext uri="{FF2B5EF4-FFF2-40B4-BE49-F238E27FC236}">
                <a16:creationId xmlns:a16="http://schemas.microsoft.com/office/drawing/2014/main" id="{9682EE01-821E-7585-65E3-3700C9DA8894}"/>
              </a:ext>
            </a:extLst>
          </p:cNvPr>
          <p:cNvSpPr/>
          <p:nvPr/>
        </p:nvSpPr>
        <p:spPr>
          <a:xfrm>
            <a:off x="1290941" y="2359131"/>
            <a:ext cx="687738" cy="3802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0587437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0932F6F9-0BFC-5576-2AF6-604F284F3959}"/>
              </a:ext>
            </a:extLst>
          </p:cNvPr>
          <p:cNvPicPr>
            <a:picLocks noChangeAspect="1"/>
          </p:cNvPicPr>
          <p:nvPr/>
        </p:nvPicPr>
        <p:blipFill>
          <a:blip r:embed="rId3"/>
          <a:stretch>
            <a:fillRect/>
          </a:stretch>
        </p:blipFill>
        <p:spPr>
          <a:xfrm>
            <a:off x="756831" y="1182274"/>
            <a:ext cx="10882665" cy="5134938"/>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609601" y="366041"/>
            <a:ext cx="11124618" cy="898555"/>
          </a:xfrm>
        </p:spPr>
        <p:txBody>
          <a:bodyPr/>
          <a:lstStyle/>
          <a:p>
            <a:r>
              <a:rPr lang="es-ES_tradnl" dirty="0">
                <a:solidFill>
                  <a:schemeClr val="accent1"/>
                </a:solidFill>
              </a:rPr>
              <a:t>Registrar el Plan de Evaluación del docente (SHAGCOM)</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1708778" y="3866735"/>
            <a:ext cx="9303025" cy="146110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21"/>
            </a:pPr>
            <a:r>
              <a:rPr lang="es-CO" sz="1100" dirty="0"/>
              <a:t>Ingrese el </a:t>
            </a:r>
            <a:r>
              <a:rPr lang="es-CO" sz="1100" b="1" dirty="0"/>
              <a:t>peso</a:t>
            </a:r>
            <a:r>
              <a:rPr lang="es-CO" sz="1100" dirty="0"/>
              <a:t> (%) de la nota que este subcomponente tiene en el cálculo de la calificación del componente. Automáticamente, en el campo Calificadas de* se muestra que la base es 100%.</a:t>
            </a:r>
            <a:endParaRPr lang="es-ES_tradnl" sz="1100" dirty="0"/>
          </a:p>
          <a:p>
            <a:pPr marL="228600" indent="-228600">
              <a:buFont typeface="+mj-lt"/>
              <a:buAutoNum type="arabicPeriod" startAt="21"/>
            </a:pPr>
            <a:r>
              <a:rPr lang="es-CO" sz="1100" dirty="0"/>
              <a:t>Opcionalmente, puede ingresar </a:t>
            </a:r>
            <a:r>
              <a:rPr lang="es-ES_tradnl" sz="1100" dirty="0"/>
              <a:t>la </a:t>
            </a:r>
            <a:r>
              <a:rPr lang="es-CO" sz="1100" dirty="0"/>
              <a:t> </a:t>
            </a:r>
            <a:r>
              <a:rPr lang="es-419" sz="1100" dirty="0"/>
              <a:t>fecha en la cual se presentará o entregará el subcomponente, solo como información que se ve en el autoservicio</a:t>
            </a:r>
            <a:r>
              <a:rPr lang="es-CO" sz="1100" dirty="0"/>
              <a:t>. </a:t>
            </a:r>
            <a:endParaRPr lang="es-ES_tradnl" sz="1100" dirty="0"/>
          </a:p>
          <a:p>
            <a:pPr marL="228600" indent="-228600">
              <a:buFont typeface="+mj-lt"/>
              <a:buAutoNum type="arabicPeriod" startAt="21"/>
            </a:pPr>
            <a:r>
              <a:rPr lang="es-CO" sz="1100" dirty="0"/>
              <a:t>Marque la casilla si el subcomponente debe ser aprobado para que el alumno  logre una calificación aprobatoria en el componente</a:t>
            </a:r>
            <a:r>
              <a:rPr lang="es-ES_tradnl" sz="1100" dirty="0"/>
              <a:t>.</a:t>
            </a:r>
          </a:p>
        </p:txBody>
      </p:sp>
      <p:sp>
        <p:nvSpPr>
          <p:cNvPr id="7" name="CuadroTexto 6">
            <a:extLst>
              <a:ext uri="{FF2B5EF4-FFF2-40B4-BE49-F238E27FC236}">
                <a16:creationId xmlns:a16="http://schemas.microsoft.com/office/drawing/2014/main" id="{E8B3B626-3B96-61A0-5FA7-B33D9EFA48B1}"/>
              </a:ext>
            </a:extLst>
          </p:cNvPr>
          <p:cNvSpPr txBox="1"/>
          <p:nvPr/>
        </p:nvSpPr>
        <p:spPr>
          <a:xfrm>
            <a:off x="3249905" y="2501042"/>
            <a:ext cx="301753" cy="215444"/>
          </a:xfrm>
          <a:prstGeom prst="rect">
            <a:avLst/>
          </a:prstGeom>
          <a:solidFill>
            <a:schemeClr val="accent1"/>
          </a:solidFill>
        </p:spPr>
        <p:txBody>
          <a:bodyPr wrap="square" rtlCol="0">
            <a:spAutoFit/>
          </a:bodyPr>
          <a:lstStyle/>
          <a:p>
            <a:r>
              <a:rPr lang="en-US" sz="800" b="1" dirty="0">
                <a:solidFill>
                  <a:schemeClr val="bg1"/>
                </a:solidFill>
              </a:rPr>
              <a:t>22</a:t>
            </a:r>
          </a:p>
        </p:txBody>
      </p:sp>
      <p:sp>
        <p:nvSpPr>
          <p:cNvPr id="6" name="CuadroTexto 5">
            <a:extLst>
              <a:ext uri="{FF2B5EF4-FFF2-40B4-BE49-F238E27FC236}">
                <a16:creationId xmlns:a16="http://schemas.microsoft.com/office/drawing/2014/main" id="{4DF15C24-7869-6173-3B4A-D9CBF6986FAA}"/>
              </a:ext>
            </a:extLst>
          </p:cNvPr>
          <p:cNvSpPr txBox="1"/>
          <p:nvPr/>
        </p:nvSpPr>
        <p:spPr>
          <a:xfrm>
            <a:off x="1555946" y="2467661"/>
            <a:ext cx="301753" cy="215444"/>
          </a:xfrm>
          <a:prstGeom prst="rect">
            <a:avLst/>
          </a:prstGeom>
          <a:solidFill>
            <a:schemeClr val="accent1"/>
          </a:solidFill>
        </p:spPr>
        <p:txBody>
          <a:bodyPr wrap="square" rtlCol="0">
            <a:spAutoFit/>
          </a:bodyPr>
          <a:lstStyle/>
          <a:p>
            <a:r>
              <a:rPr lang="en-US" sz="800" b="1" dirty="0">
                <a:solidFill>
                  <a:schemeClr val="bg1"/>
                </a:solidFill>
              </a:rPr>
              <a:t>21</a:t>
            </a:r>
          </a:p>
        </p:txBody>
      </p:sp>
      <p:sp>
        <p:nvSpPr>
          <p:cNvPr id="11" name="Rectángulo 10">
            <a:extLst>
              <a:ext uri="{FF2B5EF4-FFF2-40B4-BE49-F238E27FC236}">
                <a16:creationId xmlns:a16="http://schemas.microsoft.com/office/drawing/2014/main" id="{FEF54B26-62F6-DEC2-B21A-BAD2946F9645}"/>
              </a:ext>
            </a:extLst>
          </p:cNvPr>
          <p:cNvSpPr/>
          <p:nvPr/>
        </p:nvSpPr>
        <p:spPr>
          <a:xfrm>
            <a:off x="1974224" y="2384330"/>
            <a:ext cx="687737" cy="38210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4" name="Rectángulo 13">
            <a:extLst>
              <a:ext uri="{FF2B5EF4-FFF2-40B4-BE49-F238E27FC236}">
                <a16:creationId xmlns:a16="http://schemas.microsoft.com/office/drawing/2014/main" id="{9682EE01-821E-7585-65E3-3700C9DA8894}"/>
              </a:ext>
            </a:extLst>
          </p:cNvPr>
          <p:cNvSpPr/>
          <p:nvPr/>
        </p:nvSpPr>
        <p:spPr>
          <a:xfrm>
            <a:off x="3743214" y="2360605"/>
            <a:ext cx="591042" cy="40583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7" name="CuadroTexto 16">
            <a:extLst>
              <a:ext uri="{FF2B5EF4-FFF2-40B4-BE49-F238E27FC236}">
                <a16:creationId xmlns:a16="http://schemas.microsoft.com/office/drawing/2014/main" id="{9C5792F1-112F-BF36-75CF-EACE706E6E91}"/>
              </a:ext>
            </a:extLst>
          </p:cNvPr>
          <p:cNvSpPr txBox="1"/>
          <p:nvPr/>
        </p:nvSpPr>
        <p:spPr>
          <a:xfrm>
            <a:off x="4521988" y="2890416"/>
            <a:ext cx="301753" cy="215444"/>
          </a:xfrm>
          <a:prstGeom prst="rect">
            <a:avLst/>
          </a:prstGeom>
          <a:solidFill>
            <a:schemeClr val="accent1"/>
          </a:solidFill>
        </p:spPr>
        <p:txBody>
          <a:bodyPr wrap="square" rtlCol="0">
            <a:spAutoFit/>
          </a:bodyPr>
          <a:lstStyle/>
          <a:p>
            <a:r>
              <a:rPr lang="en-US" sz="800" b="1" dirty="0">
                <a:solidFill>
                  <a:schemeClr val="bg1"/>
                </a:solidFill>
              </a:rPr>
              <a:t>23</a:t>
            </a:r>
          </a:p>
        </p:txBody>
      </p:sp>
      <p:sp>
        <p:nvSpPr>
          <p:cNvPr id="19" name="Rectángulo 18">
            <a:extLst>
              <a:ext uri="{FF2B5EF4-FFF2-40B4-BE49-F238E27FC236}">
                <a16:creationId xmlns:a16="http://schemas.microsoft.com/office/drawing/2014/main" id="{AB847294-DCB6-CEE2-1D1A-4FAA11A707A4}"/>
              </a:ext>
            </a:extLst>
          </p:cNvPr>
          <p:cNvSpPr/>
          <p:nvPr/>
        </p:nvSpPr>
        <p:spPr>
          <a:xfrm>
            <a:off x="4317984" y="2357908"/>
            <a:ext cx="709762" cy="40852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7990216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59FE64D8-5342-54D9-0343-BEDCC3F87E90}"/>
              </a:ext>
            </a:extLst>
          </p:cNvPr>
          <p:cNvPicPr>
            <a:picLocks noChangeAspect="1"/>
          </p:cNvPicPr>
          <p:nvPr/>
        </p:nvPicPr>
        <p:blipFill>
          <a:blip r:embed="rId3"/>
          <a:stretch>
            <a:fillRect/>
          </a:stretch>
        </p:blipFill>
        <p:spPr>
          <a:xfrm>
            <a:off x="756831" y="1182274"/>
            <a:ext cx="10882665" cy="5134938"/>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609601" y="366041"/>
            <a:ext cx="11124618" cy="898555"/>
          </a:xfrm>
        </p:spPr>
        <p:txBody>
          <a:bodyPr/>
          <a:lstStyle/>
          <a:p>
            <a:r>
              <a:rPr lang="es-ES_tradnl" dirty="0">
                <a:solidFill>
                  <a:schemeClr val="accent1"/>
                </a:solidFill>
              </a:rPr>
              <a:t>Registrar el Plan de Evaluación del docente (SHAGCOM)</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1708778" y="3866736"/>
            <a:ext cx="9303025" cy="123250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24"/>
            </a:pPr>
            <a:r>
              <a:rPr lang="es-CO" sz="1100" dirty="0"/>
              <a:t>En la </a:t>
            </a:r>
            <a:r>
              <a:rPr lang="es-CO" sz="1100" b="1" dirty="0"/>
              <a:t>Escala de calificación </a:t>
            </a:r>
            <a:r>
              <a:rPr lang="es-CO" sz="1100" dirty="0"/>
              <a:t>se muestra la misma escala definida para el componente. Puede modificarla si es necesario.</a:t>
            </a:r>
            <a:endParaRPr lang="es-ES_tradnl" sz="1100" dirty="0"/>
          </a:p>
          <a:p>
            <a:pPr marL="228600" indent="-228600">
              <a:buFont typeface="+mj-lt"/>
              <a:buAutoNum type="arabicPeriod" startAt="24"/>
            </a:pPr>
            <a:r>
              <a:rPr lang="es-419" sz="1100" dirty="0"/>
              <a:t>En la </a:t>
            </a:r>
            <a:r>
              <a:rPr lang="es-419" sz="1100" b="1" dirty="0"/>
              <a:t>Nota aprobatoria </a:t>
            </a:r>
            <a:r>
              <a:rPr lang="es-419" sz="1100" dirty="0"/>
              <a:t>se hereda la nota aprobatoria del componente. Si se modifica la escala de calificación, este campo tomará el que esté definido para la que se ingrese.</a:t>
            </a:r>
            <a:endParaRPr lang="es-CO" sz="1100" dirty="0"/>
          </a:p>
          <a:p>
            <a:pPr marL="228600" indent="-228600">
              <a:buFont typeface="+mj-lt"/>
              <a:buAutoNum type="arabicPeriod" startAt="26"/>
            </a:pPr>
            <a:r>
              <a:rPr lang="es-CO" sz="1100" b="1" dirty="0"/>
              <a:t>Guarde</a:t>
            </a:r>
            <a:r>
              <a:rPr lang="es-CO" sz="1100" dirty="0"/>
              <a:t> la información</a:t>
            </a:r>
          </a:p>
          <a:p>
            <a:pPr marL="228600" indent="-228600">
              <a:buFont typeface="+mj-lt"/>
              <a:buAutoNum type="arabicPeriod" startAt="26"/>
            </a:pPr>
            <a:r>
              <a:rPr lang="es-CO" sz="1100" dirty="0"/>
              <a:t>Presione el botón </a:t>
            </a:r>
            <a:r>
              <a:rPr lang="es-CO" sz="1100" b="1" dirty="0"/>
              <a:t>Regresar</a:t>
            </a:r>
            <a:endParaRPr lang="es-ES_tradnl" sz="1100" b="1" dirty="0"/>
          </a:p>
        </p:txBody>
      </p:sp>
      <p:sp>
        <p:nvSpPr>
          <p:cNvPr id="6" name="CuadroTexto 5">
            <a:extLst>
              <a:ext uri="{FF2B5EF4-FFF2-40B4-BE49-F238E27FC236}">
                <a16:creationId xmlns:a16="http://schemas.microsoft.com/office/drawing/2014/main" id="{4DF15C24-7869-6173-3B4A-D9CBF6986FAA}"/>
              </a:ext>
            </a:extLst>
          </p:cNvPr>
          <p:cNvSpPr txBox="1"/>
          <p:nvPr/>
        </p:nvSpPr>
        <p:spPr>
          <a:xfrm>
            <a:off x="4732834" y="2486512"/>
            <a:ext cx="301753" cy="215444"/>
          </a:xfrm>
          <a:prstGeom prst="rect">
            <a:avLst/>
          </a:prstGeom>
          <a:solidFill>
            <a:schemeClr val="accent1"/>
          </a:solidFill>
        </p:spPr>
        <p:txBody>
          <a:bodyPr wrap="square" rtlCol="0">
            <a:spAutoFit/>
          </a:bodyPr>
          <a:lstStyle/>
          <a:p>
            <a:r>
              <a:rPr lang="en-US" sz="800" b="1" dirty="0">
                <a:solidFill>
                  <a:schemeClr val="bg1"/>
                </a:solidFill>
              </a:rPr>
              <a:t>24</a:t>
            </a:r>
          </a:p>
        </p:txBody>
      </p:sp>
      <p:sp>
        <p:nvSpPr>
          <p:cNvPr id="10" name="Flecha: hacia la izquierda 9">
            <a:extLst>
              <a:ext uri="{FF2B5EF4-FFF2-40B4-BE49-F238E27FC236}">
                <a16:creationId xmlns:a16="http://schemas.microsoft.com/office/drawing/2014/main" id="{3CE06032-0C3D-B5A1-365B-ADF0219F8A6F}"/>
              </a:ext>
            </a:extLst>
          </p:cNvPr>
          <p:cNvSpPr/>
          <p:nvPr/>
        </p:nvSpPr>
        <p:spPr>
          <a:xfrm rot="10800000">
            <a:off x="6499014" y="2938659"/>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ángulo 10">
            <a:extLst>
              <a:ext uri="{FF2B5EF4-FFF2-40B4-BE49-F238E27FC236}">
                <a16:creationId xmlns:a16="http://schemas.microsoft.com/office/drawing/2014/main" id="{FEF54B26-62F6-DEC2-B21A-BAD2946F9645}"/>
              </a:ext>
            </a:extLst>
          </p:cNvPr>
          <p:cNvSpPr/>
          <p:nvPr/>
        </p:nvSpPr>
        <p:spPr>
          <a:xfrm>
            <a:off x="7818119" y="2346321"/>
            <a:ext cx="941833" cy="42622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 name="CuadroTexto 1">
            <a:extLst>
              <a:ext uri="{FF2B5EF4-FFF2-40B4-BE49-F238E27FC236}">
                <a16:creationId xmlns:a16="http://schemas.microsoft.com/office/drawing/2014/main" id="{11A74943-0588-9772-BBFE-ED5C0954AF40}"/>
              </a:ext>
            </a:extLst>
          </p:cNvPr>
          <p:cNvSpPr txBox="1"/>
          <p:nvPr/>
        </p:nvSpPr>
        <p:spPr>
          <a:xfrm>
            <a:off x="7438179" y="2464604"/>
            <a:ext cx="301753" cy="215444"/>
          </a:xfrm>
          <a:prstGeom prst="rect">
            <a:avLst/>
          </a:prstGeom>
          <a:solidFill>
            <a:schemeClr val="accent1"/>
          </a:solidFill>
        </p:spPr>
        <p:txBody>
          <a:bodyPr wrap="square" rtlCol="0">
            <a:spAutoFit/>
          </a:bodyPr>
          <a:lstStyle/>
          <a:p>
            <a:r>
              <a:rPr lang="en-US" sz="800" b="1" dirty="0">
                <a:solidFill>
                  <a:schemeClr val="bg1"/>
                </a:solidFill>
              </a:rPr>
              <a:t>25</a:t>
            </a:r>
          </a:p>
        </p:txBody>
      </p:sp>
      <p:sp>
        <p:nvSpPr>
          <p:cNvPr id="12" name="Rectángulo 11">
            <a:extLst>
              <a:ext uri="{FF2B5EF4-FFF2-40B4-BE49-F238E27FC236}">
                <a16:creationId xmlns:a16="http://schemas.microsoft.com/office/drawing/2014/main" id="{4D9530CF-C8E1-C2BC-8BF3-D37C70DA5E79}"/>
              </a:ext>
            </a:extLst>
          </p:cNvPr>
          <p:cNvSpPr/>
          <p:nvPr/>
        </p:nvSpPr>
        <p:spPr>
          <a:xfrm>
            <a:off x="687788" y="2228456"/>
            <a:ext cx="609602" cy="16272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5" name="CuadroTexto 14">
            <a:extLst>
              <a:ext uri="{FF2B5EF4-FFF2-40B4-BE49-F238E27FC236}">
                <a16:creationId xmlns:a16="http://schemas.microsoft.com/office/drawing/2014/main" id="{89CC0FAD-904D-B3D2-2727-53B0DE048F32}"/>
              </a:ext>
            </a:extLst>
          </p:cNvPr>
          <p:cNvSpPr txBox="1"/>
          <p:nvPr/>
        </p:nvSpPr>
        <p:spPr>
          <a:xfrm>
            <a:off x="10860926" y="6101767"/>
            <a:ext cx="301753" cy="215444"/>
          </a:xfrm>
          <a:prstGeom prst="rect">
            <a:avLst/>
          </a:prstGeom>
          <a:solidFill>
            <a:schemeClr val="accent1"/>
          </a:solidFill>
        </p:spPr>
        <p:txBody>
          <a:bodyPr wrap="square" rtlCol="0">
            <a:spAutoFit/>
          </a:bodyPr>
          <a:lstStyle/>
          <a:p>
            <a:r>
              <a:rPr lang="en-US" sz="800" b="1" dirty="0">
                <a:solidFill>
                  <a:schemeClr val="bg1"/>
                </a:solidFill>
              </a:rPr>
              <a:t>26</a:t>
            </a:r>
          </a:p>
        </p:txBody>
      </p:sp>
      <p:sp>
        <p:nvSpPr>
          <p:cNvPr id="21" name="CuadroTexto 20">
            <a:extLst>
              <a:ext uri="{FF2B5EF4-FFF2-40B4-BE49-F238E27FC236}">
                <a16:creationId xmlns:a16="http://schemas.microsoft.com/office/drawing/2014/main" id="{891FBF04-1CCD-787F-2559-BA45F6910F0D}"/>
              </a:ext>
            </a:extLst>
          </p:cNvPr>
          <p:cNvSpPr txBox="1"/>
          <p:nvPr/>
        </p:nvSpPr>
        <p:spPr>
          <a:xfrm>
            <a:off x="1389349" y="2213932"/>
            <a:ext cx="301753" cy="215444"/>
          </a:xfrm>
          <a:prstGeom prst="rect">
            <a:avLst/>
          </a:prstGeom>
          <a:solidFill>
            <a:schemeClr val="accent1"/>
          </a:solidFill>
        </p:spPr>
        <p:txBody>
          <a:bodyPr wrap="square" rtlCol="0">
            <a:spAutoFit/>
          </a:bodyPr>
          <a:lstStyle/>
          <a:p>
            <a:r>
              <a:rPr lang="en-US" sz="800" b="1" dirty="0">
                <a:solidFill>
                  <a:schemeClr val="bg1"/>
                </a:solidFill>
              </a:rPr>
              <a:t>27</a:t>
            </a:r>
          </a:p>
        </p:txBody>
      </p:sp>
      <p:sp>
        <p:nvSpPr>
          <p:cNvPr id="8" name="Rectángulo 7">
            <a:extLst>
              <a:ext uri="{FF2B5EF4-FFF2-40B4-BE49-F238E27FC236}">
                <a16:creationId xmlns:a16="http://schemas.microsoft.com/office/drawing/2014/main" id="{0C298218-D451-AAF8-71E1-C537B48F8F6F}"/>
              </a:ext>
            </a:extLst>
          </p:cNvPr>
          <p:cNvSpPr/>
          <p:nvPr/>
        </p:nvSpPr>
        <p:spPr>
          <a:xfrm>
            <a:off x="5102343" y="2391185"/>
            <a:ext cx="676666" cy="38136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1647931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9A10FB3-F037-3992-94C9-F70A4880617A}"/>
              </a:ext>
            </a:extLst>
          </p:cNvPr>
          <p:cNvPicPr>
            <a:picLocks noChangeAspect="1"/>
          </p:cNvPicPr>
          <p:nvPr/>
        </p:nvPicPr>
        <p:blipFill>
          <a:blip r:embed="rId3"/>
          <a:stretch>
            <a:fillRect/>
          </a:stretch>
        </p:blipFill>
        <p:spPr>
          <a:xfrm>
            <a:off x="914400" y="1264595"/>
            <a:ext cx="10660535" cy="5054995"/>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609601" y="366041"/>
            <a:ext cx="11124618" cy="898555"/>
          </a:xfrm>
        </p:spPr>
        <p:txBody>
          <a:bodyPr/>
          <a:lstStyle/>
          <a:p>
            <a:r>
              <a:rPr lang="es-ES_tradnl" dirty="0">
                <a:solidFill>
                  <a:schemeClr val="accent1"/>
                </a:solidFill>
              </a:rPr>
              <a:t>Registrar el Plan de Evaluación del docente (SHAGCOM)</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2583885" y="3615231"/>
            <a:ext cx="7355246" cy="123250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Al regresar al bloque de los componentes, en el campo </a:t>
            </a:r>
            <a:r>
              <a:rPr lang="es-ES_tradnl" sz="1100" b="1" dirty="0"/>
              <a:t>Existen subcomponentes </a:t>
            </a:r>
            <a:r>
              <a:rPr lang="es-ES_tradnl" sz="1100" dirty="0"/>
              <a:t>se muestra una </a:t>
            </a:r>
            <a:r>
              <a:rPr lang="es-ES_tradnl" sz="1100" b="1" dirty="0"/>
              <a:t>Y</a:t>
            </a:r>
            <a:r>
              <a:rPr lang="es-ES_tradnl" sz="1100" dirty="0"/>
              <a:t>, indicando que ese componente tiene definido subcomponentes. Si no se tienen definidos subcomponentes, el campo se muestra vacío.</a:t>
            </a:r>
          </a:p>
        </p:txBody>
      </p:sp>
      <p:sp>
        <p:nvSpPr>
          <p:cNvPr id="14" name="Rectángulo 13">
            <a:extLst>
              <a:ext uri="{FF2B5EF4-FFF2-40B4-BE49-F238E27FC236}">
                <a16:creationId xmlns:a16="http://schemas.microsoft.com/office/drawing/2014/main" id="{ADF0E2C9-FE57-54F7-287F-953325AED319}"/>
              </a:ext>
            </a:extLst>
          </p:cNvPr>
          <p:cNvSpPr/>
          <p:nvPr/>
        </p:nvSpPr>
        <p:spPr>
          <a:xfrm>
            <a:off x="9710929" y="2368296"/>
            <a:ext cx="649224" cy="37490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42349841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B82AA73-F464-BDF7-71B5-FA76DDCFEE03}"/>
              </a:ext>
            </a:extLst>
          </p:cNvPr>
          <p:cNvPicPr>
            <a:picLocks noChangeAspect="1"/>
          </p:cNvPicPr>
          <p:nvPr/>
        </p:nvPicPr>
        <p:blipFill>
          <a:blip r:embed="rId3"/>
          <a:stretch>
            <a:fillRect/>
          </a:stretch>
        </p:blipFill>
        <p:spPr>
          <a:xfrm>
            <a:off x="609600" y="1009808"/>
            <a:ext cx="11175507" cy="5322503"/>
          </a:xfrm>
          <a:prstGeom prst="rect">
            <a:avLst/>
          </a:prstGeom>
        </p:spPr>
      </p:pic>
      <p:sp>
        <p:nvSpPr>
          <p:cNvPr id="4" name="Marcador de texto vertical 3">
            <a:extLst>
              <a:ext uri="{FF2B5EF4-FFF2-40B4-BE49-F238E27FC236}">
                <a16:creationId xmlns:a16="http://schemas.microsoft.com/office/drawing/2014/main" id="{21FB4297-305F-D7B8-5636-CE584BC76B26}"/>
              </a:ext>
            </a:extLst>
          </p:cNvPr>
          <p:cNvSpPr>
            <a:spLocks noGrp="1"/>
          </p:cNvSpPr>
          <p:nvPr>
            <p:ph type="body" orient="vert" sz="quarter" idx="17"/>
          </p:nvPr>
        </p:nvSpPr>
        <p:spPr/>
        <p:txBody>
          <a:bodyPr/>
          <a:lstStyle/>
          <a:p>
            <a:r>
              <a:rPr lang="es-419" dirty="0"/>
              <a:t>Ingresar calificaciones a través de Autoservicio </a:t>
            </a:r>
          </a:p>
        </p:txBody>
      </p:sp>
      <p:sp>
        <p:nvSpPr>
          <p:cNvPr id="13" name="Title 12"/>
          <p:cNvSpPr>
            <a:spLocks noGrp="1"/>
          </p:cNvSpPr>
          <p:nvPr>
            <p:ph type="title"/>
          </p:nvPr>
        </p:nvSpPr>
        <p:spPr>
          <a:xfrm>
            <a:off x="609601" y="366041"/>
            <a:ext cx="11124618" cy="898555"/>
          </a:xfrm>
        </p:spPr>
        <p:txBody>
          <a:bodyPr/>
          <a:lstStyle/>
          <a:p>
            <a:r>
              <a:rPr lang="es-ES_tradnl" dirty="0">
                <a:solidFill>
                  <a:schemeClr val="accent1"/>
                </a:solidFill>
              </a:rPr>
              <a:t>Registrar el Componente de asistencia (SHAGCOM)</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607DBFE5-1247-E058-418A-099403F5D59B}"/>
              </a:ext>
            </a:extLst>
          </p:cNvPr>
          <p:cNvSpPr/>
          <p:nvPr/>
        </p:nvSpPr>
        <p:spPr>
          <a:xfrm>
            <a:off x="2583885" y="3615231"/>
            <a:ext cx="7355246" cy="166688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El componente de Asistencia debe incluirse en el Plan de Evaluación con las siguientes características:</a:t>
            </a:r>
          </a:p>
          <a:p>
            <a:pPr algn="ctr"/>
            <a:endParaRPr lang="es-ES_tradnl" sz="1100" dirty="0"/>
          </a:p>
          <a:p>
            <a:pPr marL="171450" indent="-171450">
              <a:buFont typeface="Arial" panose="020B0604020202020204" pitchFamily="34" charset="0"/>
              <a:buChar char="•"/>
            </a:pPr>
            <a:r>
              <a:rPr lang="es-ES_tradnl" sz="1100" dirty="0"/>
              <a:t>El </a:t>
            </a:r>
            <a:r>
              <a:rPr lang="es-ES_tradnl" sz="1100" b="1" dirty="0"/>
              <a:t>nombre</a:t>
            </a:r>
            <a:r>
              <a:rPr lang="es-ES_tradnl" sz="1100" dirty="0"/>
              <a:t> debe ser, obligatoriamente, </a:t>
            </a:r>
            <a:r>
              <a:rPr lang="es-ES_tradnl" sz="1100" b="1" dirty="0"/>
              <a:t>ATTRGRD</a:t>
            </a:r>
            <a:r>
              <a:rPr lang="es-ES_tradnl" sz="1100" dirty="0"/>
              <a:t>.</a:t>
            </a:r>
          </a:p>
          <a:p>
            <a:pPr marL="171450" indent="-171450">
              <a:buFont typeface="Arial" panose="020B0604020202020204" pitchFamily="34" charset="0"/>
              <a:buChar char="•"/>
            </a:pPr>
            <a:r>
              <a:rPr lang="es-ES_tradnl" sz="1100" dirty="0"/>
              <a:t>Incluya una </a:t>
            </a:r>
            <a:r>
              <a:rPr lang="es-ES_tradnl" sz="1100" b="1" dirty="0"/>
              <a:t>descripción</a:t>
            </a:r>
            <a:r>
              <a:rPr lang="es-ES_tradnl" sz="1100" dirty="0"/>
              <a:t>, según desea que la vea el estudiante.</a:t>
            </a:r>
          </a:p>
          <a:p>
            <a:pPr marL="171450" indent="-171450">
              <a:buFont typeface="Arial" panose="020B0604020202020204" pitchFamily="34" charset="0"/>
              <a:buChar char="•"/>
            </a:pPr>
            <a:r>
              <a:rPr lang="es-ES_tradnl" sz="1100" dirty="0"/>
              <a:t>El </a:t>
            </a:r>
            <a:r>
              <a:rPr lang="es-ES_tradnl" sz="1100" b="1" dirty="0"/>
              <a:t>peso</a:t>
            </a:r>
            <a:r>
              <a:rPr lang="es-ES_tradnl" sz="1100" dirty="0"/>
              <a:t> deber ser de </a:t>
            </a:r>
            <a:r>
              <a:rPr lang="es-ES_tradnl" sz="1100" b="1" dirty="0"/>
              <a:t>0.00</a:t>
            </a:r>
          </a:p>
          <a:p>
            <a:pPr marL="171450" indent="-171450">
              <a:buFont typeface="Arial" panose="020B0604020202020204" pitchFamily="34" charset="0"/>
              <a:buChar char="•"/>
            </a:pPr>
            <a:r>
              <a:rPr lang="es-ES_tradnl" sz="1100" dirty="0"/>
              <a:t>La </a:t>
            </a:r>
            <a:r>
              <a:rPr lang="es-ES_tradnl" sz="1100" b="1" dirty="0"/>
              <a:t>escala</a:t>
            </a:r>
            <a:r>
              <a:rPr lang="es-ES_tradnl" sz="1100" dirty="0"/>
              <a:t> de calificación debe corresponder a la de asistencia y la </a:t>
            </a:r>
            <a:r>
              <a:rPr lang="es-ES_tradnl" sz="1100" b="1" dirty="0"/>
              <a:t>nota aprobatoria </a:t>
            </a:r>
            <a:r>
              <a:rPr lang="es-ES_tradnl" sz="1100" dirty="0"/>
              <a:t>que hereda de la escala debe corresponder al porcentaje de asistencia mínimo que debe tener un estudiante no reprobar el curso.</a:t>
            </a:r>
          </a:p>
        </p:txBody>
      </p:sp>
      <p:sp>
        <p:nvSpPr>
          <p:cNvPr id="14" name="Rectángulo 13">
            <a:extLst>
              <a:ext uri="{FF2B5EF4-FFF2-40B4-BE49-F238E27FC236}">
                <a16:creationId xmlns:a16="http://schemas.microsoft.com/office/drawing/2014/main" id="{ADF0E2C9-FE57-54F7-287F-953325AED319}"/>
              </a:ext>
            </a:extLst>
          </p:cNvPr>
          <p:cNvSpPr/>
          <p:nvPr/>
        </p:nvSpPr>
        <p:spPr>
          <a:xfrm>
            <a:off x="732766" y="2462899"/>
            <a:ext cx="10849634" cy="20428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8487955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2ABA0-15C4-0420-8B25-3A1C8F45FC03}"/>
            </a:ext>
          </a:extLst>
        </p:cNvPr>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78673E49-05FF-07FA-6B81-29A29B9E624F}"/>
              </a:ext>
            </a:extLst>
          </p:cNvPr>
          <p:cNvSpPr>
            <a:spLocks noGrp="1"/>
          </p:cNvSpPr>
          <p:nvPr>
            <p:ph type="body" orient="vert" sz="quarter" idx="10"/>
          </p:nvPr>
        </p:nvSpPr>
        <p:spPr/>
        <p:txBody>
          <a:bodyPr/>
          <a:lstStyle/>
          <a:p>
            <a:r>
              <a:rPr lang="es-419" dirty="0"/>
              <a:t>Ingresar calificaciones a través de Autoservicio </a:t>
            </a:r>
          </a:p>
        </p:txBody>
      </p:sp>
      <p:sp>
        <p:nvSpPr>
          <p:cNvPr id="4" name="Título 3">
            <a:extLst>
              <a:ext uri="{FF2B5EF4-FFF2-40B4-BE49-F238E27FC236}">
                <a16:creationId xmlns:a16="http://schemas.microsoft.com/office/drawing/2014/main" id="{5B8DCE21-9153-86EF-A10D-2D8C28062567}"/>
              </a:ext>
            </a:extLst>
          </p:cNvPr>
          <p:cNvSpPr>
            <a:spLocks noGrp="1"/>
          </p:cNvSpPr>
          <p:nvPr>
            <p:ph type="title"/>
          </p:nvPr>
        </p:nvSpPr>
        <p:spPr/>
        <p:txBody>
          <a:bodyPr/>
          <a:lstStyle/>
          <a:p>
            <a:r>
              <a:rPr lang="es-419" dirty="0"/>
              <a:t>Registro de Calificaciones parciales y/o finales</a:t>
            </a:r>
          </a:p>
        </p:txBody>
      </p:sp>
      <p:sp>
        <p:nvSpPr>
          <p:cNvPr id="6" name="Marcador de texto 5">
            <a:extLst>
              <a:ext uri="{FF2B5EF4-FFF2-40B4-BE49-F238E27FC236}">
                <a16:creationId xmlns:a16="http://schemas.microsoft.com/office/drawing/2014/main" id="{57D958B6-8CC7-E867-57C2-D34ACBC3F33A}"/>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35085224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6475A-B67F-0791-C853-DAE8FFE8CE59}"/>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76B73B88-02EC-DF6D-DB67-E9B960FEBC0C}"/>
              </a:ext>
            </a:extLst>
          </p:cNvPr>
          <p:cNvPicPr>
            <a:picLocks noChangeAspect="1"/>
          </p:cNvPicPr>
          <p:nvPr/>
        </p:nvPicPr>
        <p:blipFill>
          <a:blip r:embed="rId2"/>
          <a:stretch>
            <a:fillRect/>
          </a:stretch>
        </p:blipFill>
        <p:spPr>
          <a:xfrm>
            <a:off x="608834" y="1618997"/>
            <a:ext cx="10974332" cy="3620005"/>
          </a:xfrm>
          <a:prstGeom prst="rect">
            <a:avLst/>
          </a:prstGeom>
        </p:spPr>
      </p:pic>
      <p:sp>
        <p:nvSpPr>
          <p:cNvPr id="2" name="Marcador de texto vertical 1">
            <a:extLst>
              <a:ext uri="{FF2B5EF4-FFF2-40B4-BE49-F238E27FC236}">
                <a16:creationId xmlns:a16="http://schemas.microsoft.com/office/drawing/2014/main" id="{AF3AF285-51A6-2B68-584C-83B37861DE82}"/>
              </a:ext>
            </a:extLst>
          </p:cNvPr>
          <p:cNvSpPr>
            <a:spLocks noGrp="1"/>
          </p:cNvSpPr>
          <p:nvPr>
            <p:ph type="body" orient="vert" sz="quarter" idx="17"/>
          </p:nvPr>
        </p:nvSpPr>
        <p:spPr/>
        <p:txBody>
          <a:bodyPr/>
          <a:lstStyle/>
          <a:p>
            <a:r>
              <a:rPr lang="es-419" dirty="0"/>
              <a:t>Ingresar calificaciones a través de Autoservicio </a:t>
            </a:r>
          </a:p>
        </p:txBody>
      </p:sp>
      <p:sp>
        <p:nvSpPr>
          <p:cNvPr id="3" name="Título 2">
            <a:extLst>
              <a:ext uri="{FF2B5EF4-FFF2-40B4-BE49-F238E27FC236}">
                <a16:creationId xmlns:a16="http://schemas.microsoft.com/office/drawing/2014/main" id="{36E7120E-687C-7369-4628-AE44E3AE95B2}"/>
              </a:ext>
            </a:extLst>
          </p:cNvPr>
          <p:cNvSpPr>
            <a:spLocks noGrp="1"/>
          </p:cNvSpPr>
          <p:nvPr>
            <p:ph type="title"/>
          </p:nvPr>
        </p:nvSpPr>
        <p:spPr/>
        <p:txBody>
          <a:bodyPr/>
          <a:lstStyle/>
          <a:p>
            <a:r>
              <a:rPr lang="es-419" dirty="0">
                <a:solidFill>
                  <a:schemeClr val="accent1"/>
                </a:solidFill>
              </a:rPr>
              <a:t>Registro de Calificaciones</a:t>
            </a:r>
          </a:p>
        </p:txBody>
      </p:sp>
      <p:sp>
        <p:nvSpPr>
          <p:cNvPr id="10" name="Rectángulo: esquinas redondeadas 9">
            <a:extLst>
              <a:ext uri="{FF2B5EF4-FFF2-40B4-BE49-F238E27FC236}">
                <a16:creationId xmlns:a16="http://schemas.microsoft.com/office/drawing/2014/main" id="{755C51BE-13A3-5E9E-5EDE-687A0A17BD0E}"/>
              </a:ext>
            </a:extLst>
          </p:cNvPr>
          <p:cNvSpPr/>
          <p:nvPr/>
        </p:nvSpPr>
        <p:spPr>
          <a:xfrm>
            <a:off x="2289313" y="1986061"/>
            <a:ext cx="3806687" cy="100627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La página debe ingresar a la lista de Calificaciones Parciales o Finales, según corresponda.</a:t>
            </a:r>
          </a:p>
        </p:txBody>
      </p:sp>
      <p:sp>
        <p:nvSpPr>
          <p:cNvPr id="11" name="Rectángulo 10">
            <a:extLst>
              <a:ext uri="{FF2B5EF4-FFF2-40B4-BE49-F238E27FC236}">
                <a16:creationId xmlns:a16="http://schemas.microsoft.com/office/drawing/2014/main" id="{94740282-153F-F65F-89C3-7B960B351FD3}"/>
              </a:ext>
            </a:extLst>
          </p:cNvPr>
          <p:cNvSpPr/>
          <p:nvPr/>
        </p:nvSpPr>
        <p:spPr>
          <a:xfrm>
            <a:off x="9650519" y="5078900"/>
            <a:ext cx="1750298" cy="291033"/>
          </a:xfrm>
          <a:prstGeom prst="rect">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Rectángulo: esquinas redondeadas 11">
            <a:extLst>
              <a:ext uri="{FF2B5EF4-FFF2-40B4-BE49-F238E27FC236}">
                <a16:creationId xmlns:a16="http://schemas.microsoft.com/office/drawing/2014/main" id="{900AB927-7FED-6C1D-D133-618A3F3BE06D}"/>
              </a:ext>
            </a:extLst>
          </p:cNvPr>
          <p:cNvSpPr/>
          <p:nvPr/>
        </p:nvSpPr>
        <p:spPr>
          <a:xfrm>
            <a:off x="6817321" y="5406580"/>
            <a:ext cx="3115376" cy="77202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Puede haber más de una página con registros, puede moverse entre las páginas.</a:t>
            </a:r>
          </a:p>
        </p:txBody>
      </p:sp>
      <p:sp>
        <p:nvSpPr>
          <p:cNvPr id="7" name="Rectángulo: esquinas redondeadas 6">
            <a:extLst>
              <a:ext uri="{FF2B5EF4-FFF2-40B4-BE49-F238E27FC236}">
                <a16:creationId xmlns:a16="http://schemas.microsoft.com/office/drawing/2014/main" id="{161ED2B0-46EB-A71F-A285-D2915FF5BC3D}"/>
              </a:ext>
            </a:extLst>
          </p:cNvPr>
          <p:cNvSpPr/>
          <p:nvPr/>
        </p:nvSpPr>
        <p:spPr>
          <a:xfrm>
            <a:off x="982494" y="3489473"/>
            <a:ext cx="5268163" cy="51832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Haga clic sobre el NRC al que va a cargar la calificación</a:t>
            </a:r>
          </a:p>
        </p:txBody>
      </p:sp>
    </p:spTree>
    <p:extLst>
      <p:ext uri="{BB962C8B-B14F-4D97-AF65-F5344CB8AC3E}">
        <p14:creationId xmlns:p14="http://schemas.microsoft.com/office/powerpoint/2010/main" val="23038980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717F7-4806-88A1-43D6-33AF7A27D91F}"/>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29E7FF74-400A-6FD2-7F66-2B6A5EEA6AB9}"/>
              </a:ext>
            </a:extLst>
          </p:cNvPr>
          <p:cNvPicPr>
            <a:picLocks noChangeAspect="1"/>
          </p:cNvPicPr>
          <p:nvPr/>
        </p:nvPicPr>
        <p:blipFill>
          <a:blip r:embed="rId2"/>
          <a:stretch>
            <a:fillRect/>
          </a:stretch>
        </p:blipFill>
        <p:spPr>
          <a:xfrm>
            <a:off x="623123" y="1633287"/>
            <a:ext cx="10945753" cy="3591426"/>
          </a:xfrm>
          <a:prstGeom prst="rect">
            <a:avLst/>
          </a:prstGeom>
        </p:spPr>
      </p:pic>
      <p:sp>
        <p:nvSpPr>
          <p:cNvPr id="2" name="Marcador de texto vertical 1">
            <a:extLst>
              <a:ext uri="{FF2B5EF4-FFF2-40B4-BE49-F238E27FC236}">
                <a16:creationId xmlns:a16="http://schemas.microsoft.com/office/drawing/2014/main" id="{71F3E901-D347-D16A-867B-0049FB709CF2}"/>
              </a:ext>
            </a:extLst>
          </p:cNvPr>
          <p:cNvSpPr>
            <a:spLocks noGrp="1"/>
          </p:cNvSpPr>
          <p:nvPr>
            <p:ph type="body" orient="vert" sz="quarter" idx="17"/>
          </p:nvPr>
        </p:nvSpPr>
        <p:spPr/>
        <p:txBody>
          <a:bodyPr/>
          <a:lstStyle/>
          <a:p>
            <a:r>
              <a:rPr lang="es-419" dirty="0"/>
              <a:t>Ingresar calificaciones a través de Autoservicio </a:t>
            </a:r>
          </a:p>
        </p:txBody>
      </p:sp>
      <p:sp>
        <p:nvSpPr>
          <p:cNvPr id="3" name="Título 2">
            <a:extLst>
              <a:ext uri="{FF2B5EF4-FFF2-40B4-BE49-F238E27FC236}">
                <a16:creationId xmlns:a16="http://schemas.microsoft.com/office/drawing/2014/main" id="{E5389CFF-1B79-D612-2FCB-B3496673BC48}"/>
              </a:ext>
            </a:extLst>
          </p:cNvPr>
          <p:cNvSpPr>
            <a:spLocks noGrp="1"/>
          </p:cNvSpPr>
          <p:nvPr>
            <p:ph type="title"/>
          </p:nvPr>
        </p:nvSpPr>
        <p:spPr/>
        <p:txBody>
          <a:bodyPr/>
          <a:lstStyle/>
          <a:p>
            <a:r>
              <a:rPr lang="es-419" dirty="0">
                <a:solidFill>
                  <a:schemeClr val="accent1"/>
                </a:solidFill>
              </a:rPr>
              <a:t>Registro de Calificaciones</a:t>
            </a:r>
          </a:p>
        </p:txBody>
      </p:sp>
      <p:sp>
        <p:nvSpPr>
          <p:cNvPr id="7" name="Rectángulo: esquinas redondeadas 6">
            <a:extLst>
              <a:ext uri="{FF2B5EF4-FFF2-40B4-BE49-F238E27FC236}">
                <a16:creationId xmlns:a16="http://schemas.microsoft.com/office/drawing/2014/main" id="{A4185073-112C-DDA3-4BA1-F773F4EA2F12}"/>
              </a:ext>
            </a:extLst>
          </p:cNvPr>
          <p:cNvSpPr/>
          <p:nvPr/>
        </p:nvSpPr>
        <p:spPr>
          <a:xfrm>
            <a:off x="5340485" y="3620104"/>
            <a:ext cx="5268163" cy="51832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Haga clic sobre el NRC al que va a cargar la calificación</a:t>
            </a:r>
          </a:p>
        </p:txBody>
      </p:sp>
      <p:sp>
        <p:nvSpPr>
          <p:cNvPr id="4" name="Rectángulo: esquinas redondeadas 3">
            <a:extLst>
              <a:ext uri="{FF2B5EF4-FFF2-40B4-BE49-F238E27FC236}">
                <a16:creationId xmlns:a16="http://schemas.microsoft.com/office/drawing/2014/main" id="{608F3AD6-D8EB-9D10-16EB-A964224F3472}"/>
              </a:ext>
            </a:extLst>
          </p:cNvPr>
          <p:cNvSpPr/>
          <p:nvPr/>
        </p:nvSpPr>
        <p:spPr>
          <a:xfrm>
            <a:off x="2500430" y="1898147"/>
            <a:ext cx="6546294" cy="133974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Se muestra la lista de cursos (NRC) que tiene asignados el docente, que tengan plan de evaluación y que tengan alumnos inscritos.</a:t>
            </a:r>
          </a:p>
          <a:p>
            <a:pPr algn="ctr"/>
            <a:endParaRPr lang="es-ES_tradnl" sz="1100" dirty="0"/>
          </a:p>
          <a:p>
            <a:pPr algn="ctr"/>
            <a:r>
              <a:rPr lang="es-ES_tradnl" sz="1100" dirty="0"/>
              <a:t>En la primera columna se visualiza el estatus del NRC con respecto a la carga de sus calificaciones:</a:t>
            </a:r>
          </a:p>
          <a:p>
            <a:pPr marL="171450" indent="-171450">
              <a:buFont typeface="Arial" panose="020B0604020202020204" pitchFamily="34" charset="0"/>
              <a:buChar char="•"/>
            </a:pPr>
            <a:r>
              <a:rPr lang="es-ES_tradnl" sz="1100" b="1" dirty="0"/>
              <a:t>No iniciado</a:t>
            </a:r>
            <a:r>
              <a:rPr lang="es-ES_tradnl" sz="1100" dirty="0"/>
              <a:t>: No se han cargado calificaciones aun en el NRC</a:t>
            </a:r>
          </a:p>
          <a:p>
            <a:pPr marL="171450" indent="-171450">
              <a:buFont typeface="Arial" panose="020B0604020202020204" pitchFamily="34" charset="0"/>
              <a:buChar char="•"/>
            </a:pPr>
            <a:r>
              <a:rPr lang="es-ES_tradnl" sz="1100" b="1" dirty="0"/>
              <a:t>En progreso</a:t>
            </a:r>
            <a:r>
              <a:rPr lang="es-ES_tradnl" sz="1100" dirty="0"/>
              <a:t>: ya se inició la carga de calificaciones</a:t>
            </a:r>
          </a:p>
          <a:p>
            <a:pPr marL="171450" indent="-171450">
              <a:buFont typeface="Arial" panose="020B0604020202020204" pitchFamily="34" charset="0"/>
              <a:buChar char="•"/>
            </a:pPr>
            <a:r>
              <a:rPr lang="es-ES_tradnl" sz="1100" b="1" dirty="0"/>
              <a:t>Completado</a:t>
            </a:r>
            <a:r>
              <a:rPr lang="es-ES_tradnl" sz="1100" dirty="0"/>
              <a:t>: todos los estudiantes del curso tienen las calificaciones cargadas</a:t>
            </a:r>
          </a:p>
        </p:txBody>
      </p:sp>
    </p:spTree>
    <p:extLst>
      <p:ext uri="{BB962C8B-B14F-4D97-AF65-F5344CB8AC3E}">
        <p14:creationId xmlns:p14="http://schemas.microsoft.com/office/powerpoint/2010/main" val="699661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7441A-B839-5498-A75E-28D14A0A5083}"/>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1BBC47E8-571D-1113-F6D3-392776CE64D0}"/>
              </a:ext>
            </a:extLst>
          </p:cNvPr>
          <p:cNvPicPr>
            <a:picLocks noChangeAspect="1"/>
          </p:cNvPicPr>
          <p:nvPr/>
        </p:nvPicPr>
        <p:blipFill>
          <a:blip r:embed="rId2"/>
          <a:stretch>
            <a:fillRect/>
          </a:stretch>
        </p:blipFill>
        <p:spPr>
          <a:xfrm>
            <a:off x="851134" y="1277593"/>
            <a:ext cx="11202963" cy="5048955"/>
          </a:xfrm>
          <a:prstGeom prst="rect">
            <a:avLst/>
          </a:prstGeom>
        </p:spPr>
      </p:pic>
      <p:sp>
        <p:nvSpPr>
          <p:cNvPr id="2" name="Marcador de texto vertical 1">
            <a:extLst>
              <a:ext uri="{FF2B5EF4-FFF2-40B4-BE49-F238E27FC236}">
                <a16:creationId xmlns:a16="http://schemas.microsoft.com/office/drawing/2014/main" id="{7EE00755-FE46-98C3-CF12-C2F7DD74383C}"/>
              </a:ext>
            </a:extLst>
          </p:cNvPr>
          <p:cNvSpPr>
            <a:spLocks noGrp="1"/>
          </p:cNvSpPr>
          <p:nvPr>
            <p:ph type="body" orient="vert" sz="quarter" idx="17"/>
          </p:nvPr>
        </p:nvSpPr>
        <p:spPr/>
        <p:txBody>
          <a:bodyPr/>
          <a:lstStyle/>
          <a:p>
            <a:r>
              <a:rPr lang="es-419" dirty="0"/>
              <a:t>Ingresar calificaciones a través de Autoservicio </a:t>
            </a:r>
          </a:p>
        </p:txBody>
      </p:sp>
      <p:sp>
        <p:nvSpPr>
          <p:cNvPr id="3" name="Título 2">
            <a:extLst>
              <a:ext uri="{FF2B5EF4-FFF2-40B4-BE49-F238E27FC236}">
                <a16:creationId xmlns:a16="http://schemas.microsoft.com/office/drawing/2014/main" id="{82CD64AB-3ACE-D53C-F11A-BEF373283E33}"/>
              </a:ext>
            </a:extLst>
          </p:cNvPr>
          <p:cNvSpPr>
            <a:spLocks noGrp="1"/>
          </p:cNvSpPr>
          <p:nvPr>
            <p:ph type="title"/>
          </p:nvPr>
        </p:nvSpPr>
        <p:spPr/>
        <p:txBody>
          <a:bodyPr/>
          <a:lstStyle/>
          <a:p>
            <a:r>
              <a:rPr lang="es-419" dirty="0">
                <a:solidFill>
                  <a:schemeClr val="accent1"/>
                </a:solidFill>
              </a:rPr>
              <a:t>Registro de Calificaciones</a:t>
            </a:r>
          </a:p>
        </p:txBody>
      </p:sp>
      <p:sp>
        <p:nvSpPr>
          <p:cNvPr id="9" name="Rectángulo 8">
            <a:extLst>
              <a:ext uri="{FF2B5EF4-FFF2-40B4-BE49-F238E27FC236}">
                <a16:creationId xmlns:a16="http://schemas.microsoft.com/office/drawing/2014/main" id="{52CD123E-ACB2-4462-DE29-1C12AD7B9E62}"/>
              </a:ext>
            </a:extLst>
          </p:cNvPr>
          <p:cNvSpPr/>
          <p:nvPr/>
        </p:nvSpPr>
        <p:spPr>
          <a:xfrm>
            <a:off x="3611923" y="1277593"/>
            <a:ext cx="833617" cy="3896418"/>
          </a:xfrm>
          <a:prstGeom prst="rect">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Rectángulo: esquinas redondeadas 9">
            <a:extLst>
              <a:ext uri="{FF2B5EF4-FFF2-40B4-BE49-F238E27FC236}">
                <a16:creationId xmlns:a16="http://schemas.microsoft.com/office/drawing/2014/main" id="{F33BAB7E-293B-9C14-178D-64CEFD6AB2B4}"/>
              </a:ext>
            </a:extLst>
          </p:cNvPr>
          <p:cNvSpPr/>
          <p:nvPr/>
        </p:nvSpPr>
        <p:spPr>
          <a:xfrm>
            <a:off x="4621059" y="4824920"/>
            <a:ext cx="5135783" cy="122746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Al seleccionar el NRC (hacer clic sobre el mismo) se muestra en la parte final de la página la lista de los estudiantes inscritos en el NRC correspondiente.</a:t>
            </a:r>
          </a:p>
          <a:p>
            <a:pPr algn="ctr"/>
            <a:endParaRPr lang="es-ES_tradnl" sz="1100" dirty="0"/>
          </a:p>
          <a:p>
            <a:pPr algn="ctr"/>
            <a:r>
              <a:rPr lang="es-ES_tradnl" sz="1100" dirty="0"/>
              <a:t>Seleccione la calificación que corresponde a cada estudiante y guarde la información.</a:t>
            </a:r>
          </a:p>
        </p:txBody>
      </p:sp>
    </p:spTree>
    <p:extLst>
      <p:ext uri="{BB962C8B-B14F-4D97-AF65-F5344CB8AC3E}">
        <p14:creationId xmlns:p14="http://schemas.microsoft.com/office/powerpoint/2010/main" val="31887516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310EA-AA3D-6D41-D96A-E504803B1CB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66DDD95-5C9A-3D27-1DBA-A442ACCDA311}"/>
              </a:ext>
            </a:extLst>
          </p:cNvPr>
          <p:cNvPicPr>
            <a:picLocks noChangeAspect="1"/>
          </p:cNvPicPr>
          <p:nvPr/>
        </p:nvPicPr>
        <p:blipFill>
          <a:blip r:embed="rId2"/>
          <a:stretch>
            <a:fillRect/>
          </a:stretch>
        </p:blipFill>
        <p:spPr>
          <a:xfrm>
            <a:off x="1000125" y="1111507"/>
            <a:ext cx="10678304" cy="4856260"/>
          </a:xfrm>
          <a:prstGeom prst="rect">
            <a:avLst/>
          </a:prstGeom>
        </p:spPr>
      </p:pic>
      <p:sp>
        <p:nvSpPr>
          <p:cNvPr id="2" name="Marcador de texto vertical 1">
            <a:extLst>
              <a:ext uri="{FF2B5EF4-FFF2-40B4-BE49-F238E27FC236}">
                <a16:creationId xmlns:a16="http://schemas.microsoft.com/office/drawing/2014/main" id="{DC5D51DB-8306-12D3-74B4-20769E3677A2}"/>
              </a:ext>
            </a:extLst>
          </p:cNvPr>
          <p:cNvSpPr>
            <a:spLocks noGrp="1"/>
          </p:cNvSpPr>
          <p:nvPr>
            <p:ph type="body" orient="vert" sz="quarter" idx="17"/>
          </p:nvPr>
        </p:nvSpPr>
        <p:spPr/>
        <p:txBody>
          <a:bodyPr/>
          <a:lstStyle/>
          <a:p>
            <a:r>
              <a:rPr lang="es-419" dirty="0"/>
              <a:t>Ingresar calificaciones a través de Autoservicio </a:t>
            </a:r>
          </a:p>
        </p:txBody>
      </p:sp>
      <p:sp>
        <p:nvSpPr>
          <p:cNvPr id="3" name="Título 2">
            <a:extLst>
              <a:ext uri="{FF2B5EF4-FFF2-40B4-BE49-F238E27FC236}">
                <a16:creationId xmlns:a16="http://schemas.microsoft.com/office/drawing/2014/main" id="{777C6D76-15D1-A502-AC8B-C608361729D1}"/>
              </a:ext>
            </a:extLst>
          </p:cNvPr>
          <p:cNvSpPr>
            <a:spLocks noGrp="1"/>
          </p:cNvSpPr>
          <p:nvPr>
            <p:ph type="title"/>
          </p:nvPr>
        </p:nvSpPr>
        <p:spPr/>
        <p:txBody>
          <a:bodyPr/>
          <a:lstStyle/>
          <a:p>
            <a:r>
              <a:rPr lang="es-419" dirty="0">
                <a:solidFill>
                  <a:schemeClr val="accent1"/>
                </a:solidFill>
              </a:rPr>
              <a:t>Registro de Calificaciones</a:t>
            </a:r>
          </a:p>
        </p:txBody>
      </p:sp>
      <p:sp>
        <p:nvSpPr>
          <p:cNvPr id="10" name="Rectángulo: esquinas redondeadas 9">
            <a:extLst>
              <a:ext uri="{FF2B5EF4-FFF2-40B4-BE49-F238E27FC236}">
                <a16:creationId xmlns:a16="http://schemas.microsoft.com/office/drawing/2014/main" id="{21FAB1BE-A089-39B5-F75A-993866CF32BD}"/>
              </a:ext>
            </a:extLst>
          </p:cNvPr>
          <p:cNvSpPr/>
          <p:nvPr/>
        </p:nvSpPr>
        <p:spPr>
          <a:xfrm>
            <a:off x="6585625" y="2383278"/>
            <a:ext cx="3336587" cy="74416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El sistema  muestra mensaje de éxito.</a:t>
            </a:r>
          </a:p>
        </p:txBody>
      </p:sp>
    </p:spTree>
    <p:extLst>
      <p:ext uri="{BB962C8B-B14F-4D97-AF65-F5344CB8AC3E}">
        <p14:creationId xmlns:p14="http://schemas.microsoft.com/office/powerpoint/2010/main" val="28662315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D5FB153C-E093-F2A7-6300-8369346125C7}"/>
              </a:ext>
            </a:extLst>
          </p:cNvPr>
          <p:cNvSpPr>
            <a:spLocks noGrp="1"/>
          </p:cNvSpPr>
          <p:nvPr>
            <p:ph type="body" orient="vert" sz="quarter" idx="10"/>
          </p:nvPr>
        </p:nvSpPr>
        <p:spPr/>
        <p:txBody>
          <a:bodyPr/>
          <a:lstStyle/>
          <a:p>
            <a:r>
              <a:rPr lang="es-419" dirty="0"/>
              <a:t>Ingresar calificaciones a través de Autoservicio </a:t>
            </a:r>
          </a:p>
        </p:txBody>
      </p:sp>
      <p:sp>
        <p:nvSpPr>
          <p:cNvPr id="4" name="Título 3">
            <a:extLst>
              <a:ext uri="{FF2B5EF4-FFF2-40B4-BE49-F238E27FC236}">
                <a16:creationId xmlns:a16="http://schemas.microsoft.com/office/drawing/2014/main" id="{9782A3B3-C066-6E6D-9B0C-D064042F5E1B}"/>
              </a:ext>
            </a:extLst>
          </p:cNvPr>
          <p:cNvSpPr>
            <a:spLocks noGrp="1"/>
          </p:cNvSpPr>
          <p:nvPr>
            <p:ph type="title"/>
          </p:nvPr>
        </p:nvSpPr>
        <p:spPr/>
        <p:txBody>
          <a:bodyPr/>
          <a:lstStyle/>
          <a:p>
            <a:r>
              <a:rPr lang="es-419" dirty="0"/>
              <a:t>Registro de Calificaciones por libro de calificación</a:t>
            </a:r>
          </a:p>
        </p:txBody>
      </p:sp>
      <p:sp>
        <p:nvSpPr>
          <p:cNvPr id="6" name="Marcador de texto 5">
            <a:extLst>
              <a:ext uri="{FF2B5EF4-FFF2-40B4-BE49-F238E27FC236}">
                <a16:creationId xmlns:a16="http://schemas.microsoft.com/office/drawing/2014/main" id="{A3B5F139-C8B1-2F6E-63DF-012A9853CB7E}"/>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12098486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67CE1DD-7ABD-29B4-E9BB-3189B318C849}"/>
              </a:ext>
            </a:extLst>
          </p:cNvPr>
          <p:cNvPicPr>
            <a:picLocks noChangeAspect="1"/>
          </p:cNvPicPr>
          <p:nvPr/>
        </p:nvPicPr>
        <p:blipFill>
          <a:blip r:embed="rId2"/>
          <a:stretch>
            <a:fillRect/>
          </a:stretch>
        </p:blipFill>
        <p:spPr>
          <a:xfrm>
            <a:off x="1194667" y="1584355"/>
            <a:ext cx="10297962" cy="4382112"/>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a través de Autoservicio </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p:txBody>
          <a:bodyPr/>
          <a:lstStyle/>
          <a:p>
            <a:r>
              <a:rPr lang="es-419" dirty="0">
                <a:solidFill>
                  <a:schemeClr val="accent1"/>
                </a:solidFill>
              </a:rPr>
              <a:t>Registro de Calificaciones</a:t>
            </a:r>
          </a:p>
        </p:txBody>
      </p:sp>
      <p:sp>
        <p:nvSpPr>
          <p:cNvPr id="9" name="Rectángulo 8">
            <a:extLst>
              <a:ext uri="{FF2B5EF4-FFF2-40B4-BE49-F238E27FC236}">
                <a16:creationId xmlns:a16="http://schemas.microsoft.com/office/drawing/2014/main" id="{5BCC1EBD-A81B-F018-928D-24847E89C743}"/>
              </a:ext>
            </a:extLst>
          </p:cNvPr>
          <p:cNvSpPr/>
          <p:nvPr/>
        </p:nvSpPr>
        <p:spPr>
          <a:xfrm>
            <a:off x="3076902" y="2303080"/>
            <a:ext cx="1037898" cy="291033"/>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Rectángulo: esquinas redondeadas 9">
            <a:extLst>
              <a:ext uri="{FF2B5EF4-FFF2-40B4-BE49-F238E27FC236}">
                <a16:creationId xmlns:a16="http://schemas.microsoft.com/office/drawing/2014/main" id="{DB958DA5-5533-7B95-B2DE-91C9D41962E7}"/>
              </a:ext>
            </a:extLst>
          </p:cNvPr>
          <p:cNvSpPr/>
          <p:nvPr/>
        </p:nvSpPr>
        <p:spPr>
          <a:xfrm>
            <a:off x="4820479" y="1816442"/>
            <a:ext cx="3806687" cy="100627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La página debe ingresar a la lista de Libro de Calificaciones.</a:t>
            </a:r>
          </a:p>
          <a:p>
            <a:pPr algn="ctr"/>
            <a:r>
              <a:rPr lang="es-ES_tradnl" sz="1100" dirty="0"/>
              <a:t>Si no está en esta opción, el docente debe hacer clic sobre la misma.</a:t>
            </a:r>
          </a:p>
        </p:txBody>
      </p:sp>
      <p:sp>
        <p:nvSpPr>
          <p:cNvPr id="11" name="Rectángulo 10">
            <a:extLst>
              <a:ext uri="{FF2B5EF4-FFF2-40B4-BE49-F238E27FC236}">
                <a16:creationId xmlns:a16="http://schemas.microsoft.com/office/drawing/2014/main" id="{A16452A4-52F8-16F0-F7E1-7B1F16C06257}"/>
              </a:ext>
            </a:extLst>
          </p:cNvPr>
          <p:cNvSpPr/>
          <p:nvPr/>
        </p:nvSpPr>
        <p:spPr>
          <a:xfrm>
            <a:off x="9971532" y="5261064"/>
            <a:ext cx="1037898" cy="291033"/>
          </a:xfrm>
          <a:prstGeom prst="rect">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Rectángulo: esquinas redondeadas 11">
            <a:extLst>
              <a:ext uri="{FF2B5EF4-FFF2-40B4-BE49-F238E27FC236}">
                <a16:creationId xmlns:a16="http://schemas.microsoft.com/office/drawing/2014/main" id="{EAAA2452-36C7-AC06-332A-AF04DC2DD4B0}"/>
              </a:ext>
            </a:extLst>
          </p:cNvPr>
          <p:cNvSpPr/>
          <p:nvPr/>
        </p:nvSpPr>
        <p:spPr>
          <a:xfrm>
            <a:off x="6817321" y="5406580"/>
            <a:ext cx="3115376" cy="77202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Puede haber más de una página con registros, puede moverse entre las páginas.</a:t>
            </a:r>
          </a:p>
        </p:txBody>
      </p:sp>
    </p:spTree>
    <p:extLst>
      <p:ext uri="{BB962C8B-B14F-4D97-AF65-F5344CB8AC3E}">
        <p14:creationId xmlns:p14="http://schemas.microsoft.com/office/powerpoint/2010/main" val="16490301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EA782A0-C716-E174-B34C-AAA3408D6735}"/>
              </a:ext>
            </a:extLst>
          </p:cNvPr>
          <p:cNvPicPr>
            <a:picLocks noChangeAspect="1"/>
          </p:cNvPicPr>
          <p:nvPr/>
        </p:nvPicPr>
        <p:blipFill>
          <a:blip r:embed="rId2"/>
          <a:stretch>
            <a:fillRect/>
          </a:stretch>
        </p:blipFill>
        <p:spPr>
          <a:xfrm>
            <a:off x="1104900" y="1336690"/>
            <a:ext cx="9982200" cy="4540575"/>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a través de Autoservicio </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p:txBody>
          <a:bodyPr/>
          <a:lstStyle/>
          <a:p>
            <a:r>
              <a:rPr lang="es-419" dirty="0">
                <a:solidFill>
                  <a:schemeClr val="accent1"/>
                </a:solidFill>
              </a:rPr>
              <a:t>Registro de Calificaciones</a:t>
            </a:r>
          </a:p>
        </p:txBody>
      </p:sp>
      <p:sp>
        <p:nvSpPr>
          <p:cNvPr id="9" name="Rectángulo 8">
            <a:extLst>
              <a:ext uri="{FF2B5EF4-FFF2-40B4-BE49-F238E27FC236}">
                <a16:creationId xmlns:a16="http://schemas.microsoft.com/office/drawing/2014/main" id="{5BCC1EBD-A81B-F018-928D-24847E89C743}"/>
              </a:ext>
            </a:extLst>
          </p:cNvPr>
          <p:cNvSpPr/>
          <p:nvPr/>
        </p:nvSpPr>
        <p:spPr>
          <a:xfrm>
            <a:off x="2921454" y="2019616"/>
            <a:ext cx="1037898" cy="291033"/>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Rectángulo: esquinas redondeadas 9">
            <a:extLst>
              <a:ext uri="{FF2B5EF4-FFF2-40B4-BE49-F238E27FC236}">
                <a16:creationId xmlns:a16="http://schemas.microsoft.com/office/drawing/2014/main" id="{DB958DA5-5533-7B95-B2DE-91C9D41962E7}"/>
              </a:ext>
            </a:extLst>
          </p:cNvPr>
          <p:cNvSpPr/>
          <p:nvPr/>
        </p:nvSpPr>
        <p:spPr>
          <a:xfrm>
            <a:off x="5068532" y="1441174"/>
            <a:ext cx="5268163" cy="160664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Se muestra la lista de cursos (NRC) que tiene asignados el docente, que tengan plan de evaluación y que tengan alumnos inscritos.</a:t>
            </a:r>
          </a:p>
          <a:p>
            <a:pPr algn="ctr"/>
            <a:endParaRPr lang="es-ES_tradnl" sz="1100" dirty="0"/>
          </a:p>
          <a:p>
            <a:pPr algn="ctr"/>
            <a:r>
              <a:rPr lang="es-ES_tradnl" sz="1100" dirty="0"/>
              <a:t>En la primera columna se visualiza el estatus del NRC con respecto a la carga de sus calificaciones:</a:t>
            </a:r>
          </a:p>
          <a:p>
            <a:pPr marL="171450" indent="-171450">
              <a:buFont typeface="Arial" panose="020B0604020202020204" pitchFamily="34" charset="0"/>
              <a:buChar char="•"/>
            </a:pPr>
            <a:r>
              <a:rPr lang="es-ES_tradnl" sz="1100" b="1" dirty="0"/>
              <a:t>No iniciado</a:t>
            </a:r>
            <a:r>
              <a:rPr lang="es-ES_tradnl" sz="1100" dirty="0"/>
              <a:t>: No se han cargado calificaciones aun en el NRC</a:t>
            </a:r>
          </a:p>
          <a:p>
            <a:pPr marL="171450" indent="-171450">
              <a:buFont typeface="Arial" panose="020B0604020202020204" pitchFamily="34" charset="0"/>
              <a:buChar char="•"/>
            </a:pPr>
            <a:r>
              <a:rPr lang="es-ES_tradnl" sz="1100" b="1" dirty="0"/>
              <a:t>En progreso</a:t>
            </a:r>
            <a:r>
              <a:rPr lang="es-ES_tradnl" sz="1100" dirty="0"/>
              <a:t>: ya se inició la carga de calificaciones</a:t>
            </a:r>
          </a:p>
          <a:p>
            <a:pPr marL="171450" indent="-171450">
              <a:buFont typeface="Arial" panose="020B0604020202020204" pitchFamily="34" charset="0"/>
              <a:buChar char="•"/>
            </a:pPr>
            <a:r>
              <a:rPr lang="es-ES_tradnl" sz="1100" b="1" dirty="0"/>
              <a:t>Completado</a:t>
            </a:r>
            <a:r>
              <a:rPr lang="es-ES_tradnl" sz="1100" dirty="0"/>
              <a:t>: todos los estudiantes del curso tienen las calificaciones cargadas</a:t>
            </a:r>
          </a:p>
        </p:txBody>
      </p:sp>
    </p:spTree>
    <p:extLst>
      <p:ext uri="{BB962C8B-B14F-4D97-AF65-F5344CB8AC3E}">
        <p14:creationId xmlns:p14="http://schemas.microsoft.com/office/powerpoint/2010/main" val="10039193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BDD5971D-55F3-74A4-378B-6AF92CCC9A54}"/>
              </a:ext>
            </a:extLst>
          </p:cNvPr>
          <p:cNvPicPr>
            <a:picLocks noChangeAspect="1"/>
          </p:cNvPicPr>
          <p:nvPr/>
        </p:nvPicPr>
        <p:blipFill>
          <a:blip r:embed="rId2"/>
          <a:stretch>
            <a:fillRect/>
          </a:stretch>
        </p:blipFill>
        <p:spPr>
          <a:xfrm>
            <a:off x="803147" y="1280056"/>
            <a:ext cx="10260459" cy="4578157"/>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a través de Autoservicio </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p:txBody>
          <a:bodyPr/>
          <a:lstStyle/>
          <a:p>
            <a:r>
              <a:rPr lang="es-419" dirty="0">
                <a:solidFill>
                  <a:schemeClr val="accent1"/>
                </a:solidFill>
              </a:rPr>
              <a:t>Registro de Calificaciones</a:t>
            </a:r>
          </a:p>
        </p:txBody>
      </p:sp>
      <p:sp>
        <p:nvSpPr>
          <p:cNvPr id="5" name="Rectángulo: esquinas redondeadas 4">
            <a:extLst>
              <a:ext uri="{FF2B5EF4-FFF2-40B4-BE49-F238E27FC236}">
                <a16:creationId xmlns:a16="http://schemas.microsoft.com/office/drawing/2014/main" id="{AE3F985D-D7C3-6FD5-E3AC-65B04C9DD98A}"/>
              </a:ext>
            </a:extLst>
          </p:cNvPr>
          <p:cNvSpPr/>
          <p:nvPr/>
        </p:nvSpPr>
        <p:spPr>
          <a:xfrm>
            <a:off x="3871248" y="3640519"/>
            <a:ext cx="4649821" cy="101033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a:pPr>
            <a:r>
              <a:rPr lang="es-ES_tradnl" sz="1100" dirty="0"/>
              <a:t>El docente deberá hacer clic sobre el registro del NRC para el que desea cargar las calificaciones.</a:t>
            </a:r>
          </a:p>
          <a:p>
            <a:pPr marL="228600" indent="-228600">
              <a:buFont typeface="+mj-lt"/>
              <a:buAutoNum type="arabicPeriod"/>
            </a:pPr>
            <a:r>
              <a:rPr lang="es-ES_tradnl" sz="1100" dirty="0"/>
              <a:t>Presionar la opción Componentes.</a:t>
            </a:r>
          </a:p>
        </p:txBody>
      </p:sp>
      <p:sp>
        <p:nvSpPr>
          <p:cNvPr id="12" name="CuadroTexto 11">
            <a:extLst>
              <a:ext uri="{FF2B5EF4-FFF2-40B4-BE49-F238E27FC236}">
                <a16:creationId xmlns:a16="http://schemas.microsoft.com/office/drawing/2014/main" id="{526590DD-5AF6-C700-61FB-0E38A56038E9}"/>
              </a:ext>
            </a:extLst>
          </p:cNvPr>
          <p:cNvSpPr txBox="1"/>
          <p:nvPr/>
        </p:nvSpPr>
        <p:spPr>
          <a:xfrm>
            <a:off x="652270" y="2961560"/>
            <a:ext cx="301753" cy="215444"/>
          </a:xfrm>
          <a:prstGeom prst="rect">
            <a:avLst/>
          </a:prstGeom>
          <a:solidFill>
            <a:schemeClr val="accent1"/>
          </a:solidFill>
        </p:spPr>
        <p:txBody>
          <a:bodyPr wrap="square" rtlCol="0">
            <a:spAutoFit/>
          </a:bodyPr>
          <a:lstStyle/>
          <a:p>
            <a:r>
              <a:rPr lang="en-US" sz="800" b="1" dirty="0">
                <a:solidFill>
                  <a:schemeClr val="bg1"/>
                </a:solidFill>
              </a:rPr>
              <a:t>1</a:t>
            </a:r>
          </a:p>
        </p:txBody>
      </p:sp>
      <p:sp>
        <p:nvSpPr>
          <p:cNvPr id="13" name="Flecha: hacia la izquierda 12">
            <a:extLst>
              <a:ext uri="{FF2B5EF4-FFF2-40B4-BE49-F238E27FC236}">
                <a16:creationId xmlns:a16="http://schemas.microsoft.com/office/drawing/2014/main" id="{2D67BFB8-D50E-89BB-8656-379086253397}"/>
              </a:ext>
            </a:extLst>
          </p:cNvPr>
          <p:cNvSpPr/>
          <p:nvPr/>
        </p:nvSpPr>
        <p:spPr>
          <a:xfrm rot="10800000">
            <a:off x="1128394" y="3365888"/>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uadroTexto 13">
            <a:extLst>
              <a:ext uri="{FF2B5EF4-FFF2-40B4-BE49-F238E27FC236}">
                <a16:creationId xmlns:a16="http://schemas.microsoft.com/office/drawing/2014/main" id="{56DB716F-C50F-0A6D-A018-ACD107E8747F}"/>
              </a:ext>
            </a:extLst>
          </p:cNvPr>
          <p:cNvSpPr txBox="1"/>
          <p:nvPr/>
        </p:nvSpPr>
        <p:spPr>
          <a:xfrm>
            <a:off x="10320829" y="4762663"/>
            <a:ext cx="301753" cy="215444"/>
          </a:xfrm>
          <a:prstGeom prst="rect">
            <a:avLst/>
          </a:prstGeom>
          <a:solidFill>
            <a:schemeClr val="accent1"/>
          </a:solidFill>
        </p:spPr>
        <p:txBody>
          <a:bodyPr wrap="square" rtlCol="0">
            <a:spAutoFit/>
          </a:bodyPr>
          <a:lstStyle/>
          <a:p>
            <a:r>
              <a:rPr lang="en-US" sz="800" b="1" dirty="0">
                <a:solidFill>
                  <a:schemeClr val="bg1"/>
                </a:solidFill>
              </a:rPr>
              <a:t>2</a:t>
            </a:r>
          </a:p>
        </p:txBody>
      </p:sp>
    </p:spTree>
    <p:extLst>
      <p:ext uri="{BB962C8B-B14F-4D97-AF65-F5344CB8AC3E}">
        <p14:creationId xmlns:p14="http://schemas.microsoft.com/office/powerpoint/2010/main" val="9453935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96A84-9C9C-ECCE-42D5-220C10DE7C19}"/>
            </a:ext>
          </a:extLst>
        </p:cNvPr>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7E3BCE54-87A6-2121-B99D-628B4A86F00F}"/>
              </a:ext>
            </a:extLst>
          </p:cNvPr>
          <p:cNvSpPr>
            <a:spLocks noGrp="1"/>
          </p:cNvSpPr>
          <p:nvPr>
            <p:ph type="body" orient="vert" sz="quarter" idx="10"/>
          </p:nvPr>
        </p:nvSpPr>
        <p:spPr/>
        <p:txBody>
          <a:bodyPr/>
          <a:lstStyle/>
          <a:p>
            <a:r>
              <a:rPr lang="es-419" dirty="0"/>
              <a:t>Ingresar calificaciones a través de Autoservicio </a:t>
            </a:r>
          </a:p>
        </p:txBody>
      </p:sp>
      <p:sp>
        <p:nvSpPr>
          <p:cNvPr id="4" name="Título 3">
            <a:extLst>
              <a:ext uri="{FF2B5EF4-FFF2-40B4-BE49-F238E27FC236}">
                <a16:creationId xmlns:a16="http://schemas.microsoft.com/office/drawing/2014/main" id="{0EED61D2-0D6E-4186-FDF9-4B2C3315AFD4}"/>
              </a:ext>
            </a:extLst>
          </p:cNvPr>
          <p:cNvSpPr>
            <a:spLocks noGrp="1"/>
          </p:cNvSpPr>
          <p:nvPr>
            <p:ph type="title"/>
          </p:nvPr>
        </p:nvSpPr>
        <p:spPr/>
        <p:txBody>
          <a:bodyPr/>
          <a:lstStyle/>
          <a:p>
            <a:r>
              <a:rPr lang="es-ES" dirty="0"/>
              <a:t>Ingresar calificaciones de componentes</a:t>
            </a:r>
            <a:endParaRPr lang="es-419" dirty="0"/>
          </a:p>
        </p:txBody>
      </p:sp>
      <p:sp>
        <p:nvSpPr>
          <p:cNvPr id="6" name="Marcador de texto 5">
            <a:extLst>
              <a:ext uri="{FF2B5EF4-FFF2-40B4-BE49-F238E27FC236}">
                <a16:creationId xmlns:a16="http://schemas.microsoft.com/office/drawing/2014/main" id="{503B735F-A079-5D2D-7A23-C1831540D303}"/>
              </a:ext>
            </a:extLst>
          </p:cNvPr>
          <p:cNvSpPr>
            <a:spLocks noGrp="1"/>
          </p:cNvSpPr>
          <p:nvPr>
            <p:ph type="body" sz="quarter" idx="18"/>
          </p:nvPr>
        </p:nvSpPr>
        <p:spPr/>
        <p:txBody>
          <a:bodyPr/>
          <a:lstStyle/>
          <a:p>
            <a:r>
              <a:rPr lang="es-419" dirty="0"/>
              <a:t>No tienen subcomponentes</a:t>
            </a:r>
          </a:p>
          <a:p>
            <a:endParaRPr lang="es-419" dirty="0"/>
          </a:p>
        </p:txBody>
      </p:sp>
    </p:spTree>
    <p:extLst>
      <p:ext uri="{BB962C8B-B14F-4D97-AF65-F5344CB8AC3E}">
        <p14:creationId xmlns:p14="http://schemas.microsoft.com/office/powerpoint/2010/main" val="7535348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F0182F0A-B6C6-B67E-989E-C71FA9A251BB}"/>
              </a:ext>
            </a:extLst>
          </p:cNvPr>
          <p:cNvPicPr>
            <a:picLocks noChangeAspect="1"/>
          </p:cNvPicPr>
          <p:nvPr/>
        </p:nvPicPr>
        <p:blipFill>
          <a:blip r:embed="rId2"/>
          <a:stretch>
            <a:fillRect/>
          </a:stretch>
        </p:blipFill>
        <p:spPr>
          <a:xfrm>
            <a:off x="853345" y="1318005"/>
            <a:ext cx="10636207" cy="4718946"/>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a través de Autoservicio </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p:txBody>
          <a:bodyPr/>
          <a:lstStyle/>
          <a:p>
            <a:r>
              <a:rPr lang="es-419" dirty="0">
                <a:solidFill>
                  <a:schemeClr val="accent1"/>
                </a:solidFill>
              </a:rPr>
              <a:t>Registro de Calificaciones: componentes</a:t>
            </a:r>
          </a:p>
        </p:txBody>
      </p:sp>
      <p:sp>
        <p:nvSpPr>
          <p:cNvPr id="4" name="Rectángulo 3">
            <a:extLst>
              <a:ext uri="{FF2B5EF4-FFF2-40B4-BE49-F238E27FC236}">
                <a16:creationId xmlns:a16="http://schemas.microsoft.com/office/drawing/2014/main" id="{AEB660EB-D9D5-9552-F76F-E235727801B7}"/>
              </a:ext>
            </a:extLst>
          </p:cNvPr>
          <p:cNvSpPr/>
          <p:nvPr/>
        </p:nvSpPr>
        <p:spPr>
          <a:xfrm>
            <a:off x="993438" y="2093810"/>
            <a:ext cx="10284972" cy="1475946"/>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esquinas redondeadas 4">
            <a:extLst>
              <a:ext uri="{FF2B5EF4-FFF2-40B4-BE49-F238E27FC236}">
                <a16:creationId xmlns:a16="http://schemas.microsoft.com/office/drawing/2014/main" id="{AE3F985D-D7C3-6FD5-E3AC-65B04C9DD98A}"/>
              </a:ext>
            </a:extLst>
          </p:cNvPr>
          <p:cNvSpPr/>
          <p:nvPr/>
        </p:nvSpPr>
        <p:spPr>
          <a:xfrm>
            <a:off x="3483623" y="3878616"/>
            <a:ext cx="5491412" cy="101033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Se muestran los componentes creados para el NRC.</a:t>
            </a:r>
          </a:p>
          <a:p>
            <a:pPr marL="228600" indent="-228600">
              <a:buFont typeface="+mj-lt"/>
              <a:buAutoNum type="arabicPeriod" startAt="3"/>
            </a:pPr>
            <a:r>
              <a:rPr lang="es-ES_tradnl" sz="1100" dirty="0"/>
              <a:t>Hacer clic sobre el componente en el que se van a cargar las calificaciones.</a:t>
            </a:r>
          </a:p>
        </p:txBody>
      </p:sp>
      <p:sp>
        <p:nvSpPr>
          <p:cNvPr id="11" name="CuadroTexto 10">
            <a:extLst>
              <a:ext uri="{FF2B5EF4-FFF2-40B4-BE49-F238E27FC236}">
                <a16:creationId xmlns:a16="http://schemas.microsoft.com/office/drawing/2014/main" id="{7EE6F1C7-2E05-ECD9-0A9D-C1874ADBAB45}"/>
              </a:ext>
            </a:extLst>
          </p:cNvPr>
          <p:cNvSpPr txBox="1"/>
          <p:nvPr/>
        </p:nvSpPr>
        <p:spPr>
          <a:xfrm>
            <a:off x="691685" y="2831783"/>
            <a:ext cx="301753" cy="215444"/>
          </a:xfrm>
          <a:prstGeom prst="rect">
            <a:avLst/>
          </a:prstGeom>
          <a:solidFill>
            <a:schemeClr val="accent1"/>
          </a:solidFill>
        </p:spPr>
        <p:txBody>
          <a:bodyPr wrap="square" rtlCol="0">
            <a:spAutoFit/>
          </a:bodyPr>
          <a:lstStyle/>
          <a:p>
            <a:r>
              <a:rPr lang="en-US" sz="800" b="1" dirty="0">
                <a:solidFill>
                  <a:schemeClr val="bg1"/>
                </a:solidFill>
              </a:rPr>
              <a:t>3</a:t>
            </a:r>
          </a:p>
        </p:txBody>
      </p:sp>
    </p:spTree>
    <p:extLst>
      <p:ext uri="{BB962C8B-B14F-4D97-AF65-F5344CB8AC3E}">
        <p14:creationId xmlns:p14="http://schemas.microsoft.com/office/powerpoint/2010/main" val="27794158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5286532-FB38-C97A-53A3-45CB858332A6}"/>
              </a:ext>
            </a:extLst>
          </p:cNvPr>
          <p:cNvPicPr>
            <a:picLocks noChangeAspect="1"/>
          </p:cNvPicPr>
          <p:nvPr/>
        </p:nvPicPr>
        <p:blipFill>
          <a:blip r:embed="rId2"/>
          <a:stretch>
            <a:fillRect/>
          </a:stretch>
        </p:blipFill>
        <p:spPr>
          <a:xfrm>
            <a:off x="713624" y="1423707"/>
            <a:ext cx="10764752" cy="4010585"/>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a través de Autoservicio </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p:txBody>
          <a:bodyPr/>
          <a:lstStyle/>
          <a:p>
            <a:r>
              <a:rPr lang="es-419" dirty="0">
                <a:solidFill>
                  <a:schemeClr val="accent1"/>
                </a:solidFill>
              </a:rPr>
              <a:t>Registro de Calificaciones: componentes</a:t>
            </a:r>
          </a:p>
        </p:txBody>
      </p:sp>
      <p:sp>
        <p:nvSpPr>
          <p:cNvPr id="4" name="Rectángulo 3">
            <a:extLst>
              <a:ext uri="{FF2B5EF4-FFF2-40B4-BE49-F238E27FC236}">
                <a16:creationId xmlns:a16="http://schemas.microsoft.com/office/drawing/2014/main" id="{AEB660EB-D9D5-9552-F76F-E235727801B7}"/>
              </a:ext>
            </a:extLst>
          </p:cNvPr>
          <p:cNvSpPr/>
          <p:nvPr/>
        </p:nvSpPr>
        <p:spPr>
          <a:xfrm>
            <a:off x="749822" y="3782500"/>
            <a:ext cx="10728553" cy="1574789"/>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esquinas redondeadas 4">
            <a:extLst>
              <a:ext uri="{FF2B5EF4-FFF2-40B4-BE49-F238E27FC236}">
                <a16:creationId xmlns:a16="http://schemas.microsoft.com/office/drawing/2014/main" id="{AE3F985D-D7C3-6FD5-E3AC-65B04C9DD98A}"/>
              </a:ext>
            </a:extLst>
          </p:cNvPr>
          <p:cNvSpPr/>
          <p:nvPr/>
        </p:nvSpPr>
        <p:spPr>
          <a:xfrm>
            <a:off x="3026423" y="5409242"/>
            <a:ext cx="5491412" cy="101033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Se despliega la lista de estudiantes para la carga de calificaciones.</a:t>
            </a:r>
          </a:p>
          <a:p>
            <a:pPr marL="228600" indent="-228600">
              <a:buFont typeface="+mj-lt"/>
              <a:buAutoNum type="arabicPeriod" startAt="4"/>
            </a:pPr>
            <a:r>
              <a:rPr lang="es-ES_tradnl" sz="1100" dirty="0"/>
              <a:t>Seleccione la </a:t>
            </a:r>
            <a:r>
              <a:rPr lang="es-ES_tradnl" sz="1100" b="1" dirty="0"/>
              <a:t>calificación</a:t>
            </a:r>
            <a:r>
              <a:rPr lang="es-ES_tradnl" sz="1100" dirty="0"/>
              <a:t> que se dará a cada estudiante (las calificaciones que se muestran son las configuradas para la escala correspondiente).</a:t>
            </a:r>
          </a:p>
        </p:txBody>
      </p:sp>
      <p:sp>
        <p:nvSpPr>
          <p:cNvPr id="11" name="CuadroTexto 10">
            <a:extLst>
              <a:ext uri="{FF2B5EF4-FFF2-40B4-BE49-F238E27FC236}">
                <a16:creationId xmlns:a16="http://schemas.microsoft.com/office/drawing/2014/main" id="{7EE6F1C7-2E05-ECD9-0A9D-C1874ADBAB45}"/>
              </a:ext>
            </a:extLst>
          </p:cNvPr>
          <p:cNvSpPr txBox="1"/>
          <p:nvPr/>
        </p:nvSpPr>
        <p:spPr>
          <a:xfrm>
            <a:off x="4607991" y="4204843"/>
            <a:ext cx="301753" cy="215444"/>
          </a:xfrm>
          <a:prstGeom prst="rect">
            <a:avLst/>
          </a:prstGeom>
          <a:solidFill>
            <a:schemeClr val="accent1"/>
          </a:solidFill>
        </p:spPr>
        <p:txBody>
          <a:bodyPr wrap="square" rtlCol="0">
            <a:spAutoFit/>
          </a:bodyPr>
          <a:lstStyle/>
          <a:p>
            <a:r>
              <a:rPr lang="en-US" sz="800" b="1" dirty="0">
                <a:solidFill>
                  <a:schemeClr val="bg1"/>
                </a:solidFill>
              </a:rPr>
              <a:t>4</a:t>
            </a:r>
          </a:p>
        </p:txBody>
      </p:sp>
      <p:pic>
        <p:nvPicPr>
          <p:cNvPr id="9" name="Imagen 8">
            <a:extLst>
              <a:ext uri="{FF2B5EF4-FFF2-40B4-BE49-F238E27FC236}">
                <a16:creationId xmlns:a16="http://schemas.microsoft.com/office/drawing/2014/main" id="{CB7B8488-0C0A-66E9-6019-E0088F83CF8A}"/>
              </a:ext>
            </a:extLst>
          </p:cNvPr>
          <p:cNvPicPr>
            <a:picLocks noChangeAspect="1"/>
          </p:cNvPicPr>
          <p:nvPr/>
        </p:nvPicPr>
        <p:blipFill>
          <a:blip r:embed="rId3"/>
          <a:stretch>
            <a:fillRect/>
          </a:stretch>
        </p:blipFill>
        <p:spPr>
          <a:xfrm>
            <a:off x="5157213" y="1594856"/>
            <a:ext cx="741173" cy="2788222"/>
          </a:xfrm>
          <a:prstGeom prst="rect">
            <a:avLst/>
          </a:prstGeom>
        </p:spPr>
      </p:pic>
    </p:spTree>
    <p:extLst>
      <p:ext uri="{BB962C8B-B14F-4D97-AF65-F5344CB8AC3E}">
        <p14:creationId xmlns:p14="http://schemas.microsoft.com/office/powerpoint/2010/main" val="13450527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9DC96DA7-E4DB-8B2F-2E0C-FD0CB859320A}"/>
              </a:ext>
            </a:extLst>
          </p:cNvPr>
          <p:cNvPicPr>
            <a:picLocks noChangeAspect="1"/>
          </p:cNvPicPr>
          <p:nvPr/>
        </p:nvPicPr>
        <p:blipFill>
          <a:blip r:embed="rId2"/>
          <a:stretch>
            <a:fillRect/>
          </a:stretch>
        </p:blipFill>
        <p:spPr>
          <a:xfrm>
            <a:off x="508808" y="928338"/>
            <a:ext cx="11174384" cy="5001323"/>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a través de Autoservicio </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609601" y="335784"/>
            <a:ext cx="10477497" cy="898555"/>
          </a:xfrm>
        </p:spPr>
        <p:txBody>
          <a:bodyPr/>
          <a:lstStyle/>
          <a:p>
            <a:r>
              <a:rPr lang="es-419" dirty="0">
                <a:solidFill>
                  <a:schemeClr val="accent1"/>
                </a:solidFill>
              </a:rPr>
              <a:t>Registro de Calificaciones : componentes</a:t>
            </a:r>
          </a:p>
        </p:txBody>
      </p:sp>
      <p:sp>
        <p:nvSpPr>
          <p:cNvPr id="5" name="Rectángulo: esquinas redondeadas 4">
            <a:extLst>
              <a:ext uri="{FF2B5EF4-FFF2-40B4-BE49-F238E27FC236}">
                <a16:creationId xmlns:a16="http://schemas.microsoft.com/office/drawing/2014/main" id="{AE3F985D-D7C3-6FD5-E3AC-65B04C9DD98A}"/>
              </a:ext>
            </a:extLst>
          </p:cNvPr>
          <p:cNvSpPr/>
          <p:nvPr/>
        </p:nvSpPr>
        <p:spPr>
          <a:xfrm>
            <a:off x="863941" y="4041648"/>
            <a:ext cx="5491412" cy="136695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5"/>
            </a:pPr>
            <a:r>
              <a:rPr lang="es-ES_tradnl" sz="1100" dirty="0"/>
              <a:t>Presione el botón </a:t>
            </a:r>
            <a:r>
              <a:rPr lang="es-ES_tradnl" sz="1100" b="1" dirty="0"/>
              <a:t>Guardar</a:t>
            </a:r>
            <a:r>
              <a:rPr lang="es-ES_tradnl" sz="1100" dirty="0"/>
              <a:t>.</a:t>
            </a:r>
          </a:p>
          <a:p>
            <a:pPr marL="228600" indent="-228600">
              <a:buFont typeface="+mj-lt"/>
              <a:buAutoNum type="arabicPeriod" startAt="5"/>
            </a:pPr>
            <a:r>
              <a:rPr lang="es-ES_tradnl" sz="1100" dirty="0"/>
              <a:t>Presiono </a:t>
            </a:r>
            <a:r>
              <a:rPr lang="es-ES_tradnl" sz="1100" b="1" dirty="0"/>
              <a:t>OK</a:t>
            </a:r>
            <a:r>
              <a:rPr lang="es-ES_tradnl" sz="1100" dirty="0"/>
              <a:t> al mensaje de éxito al guardar.</a:t>
            </a:r>
          </a:p>
          <a:p>
            <a:r>
              <a:rPr lang="es-ES_tradnl" sz="1100" dirty="0"/>
              <a:t>Si se desea modificar una calificación, se debe seleccionar la razón de cambio y guardar. </a:t>
            </a:r>
          </a:p>
          <a:p>
            <a:r>
              <a:rPr lang="es-ES_tradnl" sz="1100" dirty="0"/>
              <a:t>Una razón de cambio se puede usar más de una vez solamente si en la página STVGCHG  está activada la casilla “Permitir duplicados”, de lo contrario el sistema mostrará un error.</a:t>
            </a:r>
          </a:p>
          <a:p>
            <a:endParaRPr lang="es-ES_tradnl" sz="1100" dirty="0"/>
          </a:p>
        </p:txBody>
      </p:sp>
      <p:sp>
        <p:nvSpPr>
          <p:cNvPr id="11" name="CuadroTexto 10">
            <a:extLst>
              <a:ext uri="{FF2B5EF4-FFF2-40B4-BE49-F238E27FC236}">
                <a16:creationId xmlns:a16="http://schemas.microsoft.com/office/drawing/2014/main" id="{7EE6F1C7-2E05-ECD9-0A9D-C1874ADBAB45}"/>
              </a:ext>
            </a:extLst>
          </p:cNvPr>
          <p:cNvSpPr txBox="1"/>
          <p:nvPr/>
        </p:nvSpPr>
        <p:spPr>
          <a:xfrm>
            <a:off x="8868396" y="4795716"/>
            <a:ext cx="301753" cy="215444"/>
          </a:xfrm>
          <a:prstGeom prst="rect">
            <a:avLst/>
          </a:prstGeom>
          <a:solidFill>
            <a:schemeClr val="accent1"/>
          </a:solidFill>
        </p:spPr>
        <p:txBody>
          <a:bodyPr wrap="square" rtlCol="0">
            <a:spAutoFit/>
          </a:bodyPr>
          <a:lstStyle/>
          <a:p>
            <a:r>
              <a:rPr lang="en-US" sz="800" b="1" dirty="0">
                <a:solidFill>
                  <a:schemeClr val="bg1"/>
                </a:solidFill>
              </a:rPr>
              <a:t>5</a:t>
            </a:r>
          </a:p>
        </p:txBody>
      </p:sp>
      <p:sp>
        <p:nvSpPr>
          <p:cNvPr id="9" name="CuadroTexto 8">
            <a:extLst>
              <a:ext uri="{FF2B5EF4-FFF2-40B4-BE49-F238E27FC236}">
                <a16:creationId xmlns:a16="http://schemas.microsoft.com/office/drawing/2014/main" id="{8EA79537-07F8-C9D2-7F54-E2BC5797C8C4}"/>
              </a:ext>
            </a:extLst>
          </p:cNvPr>
          <p:cNvSpPr txBox="1"/>
          <p:nvPr/>
        </p:nvSpPr>
        <p:spPr>
          <a:xfrm>
            <a:off x="10690019" y="1408297"/>
            <a:ext cx="301753" cy="215444"/>
          </a:xfrm>
          <a:prstGeom prst="rect">
            <a:avLst/>
          </a:prstGeom>
          <a:solidFill>
            <a:schemeClr val="accent1"/>
          </a:solidFill>
        </p:spPr>
        <p:txBody>
          <a:bodyPr wrap="square" rtlCol="0">
            <a:spAutoFit/>
          </a:bodyPr>
          <a:lstStyle/>
          <a:p>
            <a:r>
              <a:rPr lang="en-US" sz="800" b="1" dirty="0">
                <a:solidFill>
                  <a:schemeClr val="bg1"/>
                </a:solidFill>
              </a:rPr>
              <a:t>6</a:t>
            </a:r>
          </a:p>
        </p:txBody>
      </p:sp>
      <p:sp>
        <p:nvSpPr>
          <p:cNvPr id="13" name="Rectángulo 12">
            <a:extLst>
              <a:ext uri="{FF2B5EF4-FFF2-40B4-BE49-F238E27FC236}">
                <a16:creationId xmlns:a16="http://schemas.microsoft.com/office/drawing/2014/main" id="{94E213E5-CC19-1407-B625-4B10CD6DDCA2}"/>
              </a:ext>
            </a:extLst>
          </p:cNvPr>
          <p:cNvSpPr/>
          <p:nvPr/>
        </p:nvSpPr>
        <p:spPr>
          <a:xfrm>
            <a:off x="8695944" y="3538728"/>
            <a:ext cx="1517904" cy="101445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6143196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92B4C-369F-89BE-A732-9925D333BF3E}"/>
            </a:ext>
          </a:extLst>
        </p:cNvPr>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D3563A3E-4B89-FE86-EB57-A9717AE01770}"/>
              </a:ext>
            </a:extLst>
          </p:cNvPr>
          <p:cNvSpPr>
            <a:spLocks noGrp="1"/>
          </p:cNvSpPr>
          <p:nvPr>
            <p:ph type="body" orient="vert" sz="quarter" idx="10"/>
          </p:nvPr>
        </p:nvSpPr>
        <p:spPr/>
        <p:txBody>
          <a:bodyPr/>
          <a:lstStyle/>
          <a:p>
            <a:r>
              <a:rPr lang="es-419" dirty="0"/>
              <a:t>Ingresar calificaciones a través de Autoservicio </a:t>
            </a:r>
          </a:p>
        </p:txBody>
      </p:sp>
      <p:sp>
        <p:nvSpPr>
          <p:cNvPr id="4" name="Título 3">
            <a:extLst>
              <a:ext uri="{FF2B5EF4-FFF2-40B4-BE49-F238E27FC236}">
                <a16:creationId xmlns:a16="http://schemas.microsoft.com/office/drawing/2014/main" id="{21B2ADBE-A1A4-98B7-AD02-5D62F8CCDAF1}"/>
              </a:ext>
            </a:extLst>
          </p:cNvPr>
          <p:cNvSpPr>
            <a:spLocks noGrp="1"/>
          </p:cNvSpPr>
          <p:nvPr>
            <p:ph type="title"/>
          </p:nvPr>
        </p:nvSpPr>
        <p:spPr/>
        <p:txBody>
          <a:bodyPr/>
          <a:lstStyle/>
          <a:p>
            <a:r>
              <a:rPr lang="es-ES" dirty="0"/>
              <a:t>Ingresar calificaciones de subcomponentes</a:t>
            </a:r>
            <a:endParaRPr lang="es-419" dirty="0"/>
          </a:p>
        </p:txBody>
      </p:sp>
      <p:sp>
        <p:nvSpPr>
          <p:cNvPr id="6" name="Marcador de texto 5">
            <a:extLst>
              <a:ext uri="{FF2B5EF4-FFF2-40B4-BE49-F238E27FC236}">
                <a16:creationId xmlns:a16="http://schemas.microsoft.com/office/drawing/2014/main" id="{E6B32E35-27DE-A347-23AA-1057464BA185}"/>
              </a:ext>
            </a:extLst>
          </p:cNvPr>
          <p:cNvSpPr>
            <a:spLocks noGrp="1"/>
          </p:cNvSpPr>
          <p:nvPr>
            <p:ph type="body" sz="quarter" idx="18"/>
          </p:nvPr>
        </p:nvSpPr>
        <p:spPr/>
        <p:txBody>
          <a:bodyPr/>
          <a:lstStyle/>
          <a:p>
            <a:endParaRPr lang="es-419" dirty="0"/>
          </a:p>
        </p:txBody>
      </p:sp>
    </p:spTree>
    <p:extLst>
      <p:ext uri="{BB962C8B-B14F-4D97-AF65-F5344CB8AC3E}">
        <p14:creationId xmlns:p14="http://schemas.microsoft.com/office/powerpoint/2010/main" val="6360855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B6E88C62-F245-D3AC-8AB7-BB5B41A32B08}"/>
              </a:ext>
            </a:extLst>
          </p:cNvPr>
          <p:cNvPicPr>
            <a:picLocks noChangeAspect="1"/>
          </p:cNvPicPr>
          <p:nvPr/>
        </p:nvPicPr>
        <p:blipFill>
          <a:blip r:embed="rId2"/>
          <a:stretch>
            <a:fillRect/>
          </a:stretch>
        </p:blipFill>
        <p:spPr>
          <a:xfrm>
            <a:off x="1352368" y="1356726"/>
            <a:ext cx="10045305" cy="4487198"/>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a través de Autoservicio </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p:txBody>
          <a:bodyPr/>
          <a:lstStyle/>
          <a:p>
            <a:r>
              <a:rPr lang="es-419" dirty="0">
                <a:solidFill>
                  <a:schemeClr val="accent1"/>
                </a:solidFill>
              </a:rPr>
              <a:t>Registro de Calificaciones: subcomponentes</a:t>
            </a:r>
          </a:p>
        </p:txBody>
      </p:sp>
      <p:sp>
        <p:nvSpPr>
          <p:cNvPr id="4" name="Rectángulo 3">
            <a:extLst>
              <a:ext uri="{FF2B5EF4-FFF2-40B4-BE49-F238E27FC236}">
                <a16:creationId xmlns:a16="http://schemas.microsoft.com/office/drawing/2014/main" id="{AEB660EB-D9D5-9552-F76F-E235727801B7}"/>
              </a:ext>
            </a:extLst>
          </p:cNvPr>
          <p:cNvSpPr/>
          <p:nvPr/>
        </p:nvSpPr>
        <p:spPr>
          <a:xfrm>
            <a:off x="1297425" y="2201532"/>
            <a:ext cx="10284972" cy="1475946"/>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esquinas redondeadas 4">
            <a:extLst>
              <a:ext uri="{FF2B5EF4-FFF2-40B4-BE49-F238E27FC236}">
                <a16:creationId xmlns:a16="http://schemas.microsoft.com/office/drawing/2014/main" id="{AE3F985D-D7C3-6FD5-E3AC-65B04C9DD98A}"/>
              </a:ext>
            </a:extLst>
          </p:cNvPr>
          <p:cNvSpPr/>
          <p:nvPr/>
        </p:nvSpPr>
        <p:spPr>
          <a:xfrm>
            <a:off x="3483623" y="3878616"/>
            <a:ext cx="5491412" cy="101033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Se muestran los componentes creados para el NRC.</a:t>
            </a:r>
          </a:p>
          <a:p>
            <a:pPr marL="228600" indent="-228600">
              <a:buFont typeface="+mj-lt"/>
              <a:buAutoNum type="arabicPeriod" startAt="3"/>
            </a:pPr>
            <a:r>
              <a:rPr lang="es-ES_tradnl" sz="1100" dirty="0"/>
              <a:t>Hacer clic sobre el componente en el que se van a cargar las calificaciones.</a:t>
            </a:r>
          </a:p>
        </p:txBody>
      </p:sp>
      <p:sp>
        <p:nvSpPr>
          <p:cNvPr id="11" name="CuadroTexto 10">
            <a:extLst>
              <a:ext uri="{FF2B5EF4-FFF2-40B4-BE49-F238E27FC236}">
                <a16:creationId xmlns:a16="http://schemas.microsoft.com/office/drawing/2014/main" id="{7EE6F1C7-2E05-ECD9-0A9D-C1874ADBAB45}"/>
              </a:ext>
            </a:extLst>
          </p:cNvPr>
          <p:cNvSpPr txBox="1"/>
          <p:nvPr/>
        </p:nvSpPr>
        <p:spPr>
          <a:xfrm>
            <a:off x="880817" y="2873301"/>
            <a:ext cx="301753" cy="215444"/>
          </a:xfrm>
          <a:prstGeom prst="rect">
            <a:avLst/>
          </a:prstGeom>
          <a:solidFill>
            <a:schemeClr val="accent1"/>
          </a:solidFill>
        </p:spPr>
        <p:txBody>
          <a:bodyPr wrap="square" rtlCol="0">
            <a:spAutoFit/>
          </a:bodyPr>
          <a:lstStyle/>
          <a:p>
            <a:r>
              <a:rPr lang="en-US" sz="800" b="1" dirty="0">
                <a:solidFill>
                  <a:schemeClr val="bg1"/>
                </a:solidFill>
              </a:rPr>
              <a:t>3</a:t>
            </a:r>
          </a:p>
        </p:txBody>
      </p:sp>
    </p:spTree>
    <p:extLst>
      <p:ext uri="{BB962C8B-B14F-4D97-AF65-F5344CB8AC3E}">
        <p14:creationId xmlns:p14="http://schemas.microsoft.com/office/powerpoint/2010/main" val="12011778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965A2D2D-88D8-4A4C-0B2E-A34AF4A48254}"/>
              </a:ext>
            </a:extLst>
          </p:cNvPr>
          <p:cNvPicPr>
            <a:picLocks noChangeAspect="1"/>
          </p:cNvPicPr>
          <p:nvPr/>
        </p:nvPicPr>
        <p:blipFill>
          <a:blip r:embed="rId2"/>
          <a:stretch>
            <a:fillRect/>
          </a:stretch>
        </p:blipFill>
        <p:spPr>
          <a:xfrm>
            <a:off x="1015999" y="1459345"/>
            <a:ext cx="10515351" cy="4103552"/>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a través de Autoservicio </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p:txBody>
          <a:bodyPr/>
          <a:lstStyle/>
          <a:p>
            <a:r>
              <a:rPr lang="es-419" dirty="0">
                <a:solidFill>
                  <a:schemeClr val="accent1"/>
                </a:solidFill>
              </a:rPr>
              <a:t>Registro de Calificaciones: subcomponentes</a:t>
            </a:r>
          </a:p>
        </p:txBody>
      </p:sp>
      <p:sp>
        <p:nvSpPr>
          <p:cNvPr id="4" name="Rectángulo 3">
            <a:extLst>
              <a:ext uri="{FF2B5EF4-FFF2-40B4-BE49-F238E27FC236}">
                <a16:creationId xmlns:a16="http://schemas.microsoft.com/office/drawing/2014/main" id="{AEB660EB-D9D5-9552-F76F-E235727801B7}"/>
              </a:ext>
            </a:extLst>
          </p:cNvPr>
          <p:cNvSpPr/>
          <p:nvPr/>
        </p:nvSpPr>
        <p:spPr>
          <a:xfrm>
            <a:off x="1182570" y="3752585"/>
            <a:ext cx="10477496" cy="1532866"/>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esquinas redondeadas 4">
            <a:extLst>
              <a:ext uri="{FF2B5EF4-FFF2-40B4-BE49-F238E27FC236}">
                <a16:creationId xmlns:a16="http://schemas.microsoft.com/office/drawing/2014/main" id="{AE3F985D-D7C3-6FD5-E3AC-65B04C9DD98A}"/>
              </a:ext>
            </a:extLst>
          </p:cNvPr>
          <p:cNvSpPr/>
          <p:nvPr/>
        </p:nvSpPr>
        <p:spPr>
          <a:xfrm>
            <a:off x="3026423" y="5409242"/>
            <a:ext cx="5491412" cy="101033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Se despliega la lista de estudiantes para la carga de calificaciones.</a:t>
            </a:r>
          </a:p>
          <a:p>
            <a:pPr algn="ctr"/>
            <a:r>
              <a:rPr lang="es-ES_tradnl" sz="1100" dirty="0"/>
              <a:t>Si el componente tiene subcomponentes configurados, </a:t>
            </a:r>
          </a:p>
          <a:p>
            <a:pPr marL="228600" indent="-228600">
              <a:buFont typeface="+mj-lt"/>
              <a:buAutoNum type="arabicPeriod" startAt="4"/>
            </a:pPr>
            <a:r>
              <a:rPr lang="es-ES_tradnl" sz="1100" dirty="0"/>
              <a:t>Hacer clic sobre el botón </a:t>
            </a:r>
            <a:r>
              <a:rPr lang="es-ES_tradnl" sz="1100" b="1" dirty="0"/>
              <a:t>Subcomponentes</a:t>
            </a:r>
            <a:r>
              <a:rPr lang="es-ES_tradnl" sz="1100" dirty="0"/>
              <a:t>.</a:t>
            </a:r>
          </a:p>
        </p:txBody>
      </p:sp>
      <p:sp>
        <p:nvSpPr>
          <p:cNvPr id="11" name="CuadroTexto 10">
            <a:extLst>
              <a:ext uri="{FF2B5EF4-FFF2-40B4-BE49-F238E27FC236}">
                <a16:creationId xmlns:a16="http://schemas.microsoft.com/office/drawing/2014/main" id="{7EE6F1C7-2E05-ECD9-0A9D-C1874ADBAB45}"/>
              </a:ext>
            </a:extLst>
          </p:cNvPr>
          <p:cNvSpPr txBox="1"/>
          <p:nvPr/>
        </p:nvSpPr>
        <p:spPr>
          <a:xfrm>
            <a:off x="8346653" y="4729813"/>
            <a:ext cx="301753" cy="215444"/>
          </a:xfrm>
          <a:prstGeom prst="rect">
            <a:avLst/>
          </a:prstGeom>
          <a:solidFill>
            <a:schemeClr val="accent1"/>
          </a:solidFill>
        </p:spPr>
        <p:txBody>
          <a:bodyPr wrap="square" rtlCol="0">
            <a:spAutoFit/>
          </a:bodyPr>
          <a:lstStyle/>
          <a:p>
            <a:r>
              <a:rPr lang="en-US" sz="800" b="1" dirty="0">
                <a:solidFill>
                  <a:schemeClr val="bg1"/>
                </a:solidFill>
              </a:rPr>
              <a:t>4</a:t>
            </a:r>
          </a:p>
        </p:txBody>
      </p:sp>
    </p:spTree>
    <p:extLst>
      <p:ext uri="{BB962C8B-B14F-4D97-AF65-F5344CB8AC3E}">
        <p14:creationId xmlns:p14="http://schemas.microsoft.com/office/powerpoint/2010/main" val="40530709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0E8AE816-6B3E-92A4-2FFE-9DF84A83F519}"/>
              </a:ext>
            </a:extLst>
          </p:cNvPr>
          <p:cNvPicPr>
            <a:picLocks noChangeAspect="1"/>
          </p:cNvPicPr>
          <p:nvPr/>
        </p:nvPicPr>
        <p:blipFill>
          <a:blip r:embed="rId2"/>
          <a:stretch>
            <a:fillRect/>
          </a:stretch>
        </p:blipFill>
        <p:spPr>
          <a:xfrm>
            <a:off x="661229" y="1215082"/>
            <a:ext cx="10320807" cy="4676474"/>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a través de Autoservicio </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p:txBody>
          <a:bodyPr/>
          <a:lstStyle/>
          <a:p>
            <a:r>
              <a:rPr lang="es-419" dirty="0">
                <a:solidFill>
                  <a:schemeClr val="accent1"/>
                </a:solidFill>
              </a:rPr>
              <a:t>Registro de Calificaciones: subcomponentes</a:t>
            </a:r>
          </a:p>
        </p:txBody>
      </p:sp>
      <p:sp>
        <p:nvSpPr>
          <p:cNvPr id="5" name="Rectángulo: esquinas redondeadas 4">
            <a:extLst>
              <a:ext uri="{FF2B5EF4-FFF2-40B4-BE49-F238E27FC236}">
                <a16:creationId xmlns:a16="http://schemas.microsoft.com/office/drawing/2014/main" id="{AE3F985D-D7C3-6FD5-E3AC-65B04C9DD98A}"/>
              </a:ext>
            </a:extLst>
          </p:cNvPr>
          <p:cNvSpPr/>
          <p:nvPr/>
        </p:nvSpPr>
        <p:spPr>
          <a:xfrm>
            <a:off x="3026423" y="5409242"/>
            <a:ext cx="5491412" cy="101033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5"/>
            </a:pPr>
            <a:r>
              <a:rPr lang="es-ES_tradnl" sz="1100" dirty="0"/>
              <a:t>Al hacer clic sobre un subcomponente, se muestra la lista de los estudiantes inscritos.</a:t>
            </a:r>
          </a:p>
          <a:p>
            <a:pPr marL="228600" indent="-228600">
              <a:buFont typeface="+mj-lt"/>
              <a:buAutoNum type="arabicPeriod" startAt="5"/>
            </a:pPr>
            <a:r>
              <a:rPr lang="es-ES_tradnl" sz="1100" dirty="0"/>
              <a:t>Seleccione la </a:t>
            </a:r>
            <a:r>
              <a:rPr lang="es-ES_tradnl" sz="1100" b="1" dirty="0"/>
              <a:t>calificación</a:t>
            </a:r>
            <a:r>
              <a:rPr lang="es-ES_tradnl" sz="1100" dirty="0"/>
              <a:t> que se dará a cada estudiante (las calificaciones que se muestran son las configuradas para la escala correspondiente).</a:t>
            </a:r>
          </a:p>
        </p:txBody>
      </p:sp>
      <p:sp>
        <p:nvSpPr>
          <p:cNvPr id="11" name="CuadroTexto 10">
            <a:extLst>
              <a:ext uri="{FF2B5EF4-FFF2-40B4-BE49-F238E27FC236}">
                <a16:creationId xmlns:a16="http://schemas.microsoft.com/office/drawing/2014/main" id="{7EE6F1C7-2E05-ECD9-0A9D-C1874ADBAB45}"/>
              </a:ext>
            </a:extLst>
          </p:cNvPr>
          <p:cNvSpPr txBox="1"/>
          <p:nvPr/>
        </p:nvSpPr>
        <p:spPr>
          <a:xfrm>
            <a:off x="4265740" y="3873332"/>
            <a:ext cx="301753" cy="215444"/>
          </a:xfrm>
          <a:prstGeom prst="rect">
            <a:avLst/>
          </a:prstGeom>
          <a:solidFill>
            <a:schemeClr val="accent1"/>
          </a:solidFill>
        </p:spPr>
        <p:txBody>
          <a:bodyPr wrap="square" rtlCol="0">
            <a:spAutoFit/>
          </a:bodyPr>
          <a:lstStyle/>
          <a:p>
            <a:r>
              <a:rPr lang="en-US" sz="800" b="1" dirty="0">
                <a:solidFill>
                  <a:schemeClr val="bg1"/>
                </a:solidFill>
              </a:rPr>
              <a:t>6</a:t>
            </a:r>
          </a:p>
        </p:txBody>
      </p:sp>
      <p:sp>
        <p:nvSpPr>
          <p:cNvPr id="9" name="CuadroTexto 8">
            <a:extLst>
              <a:ext uri="{FF2B5EF4-FFF2-40B4-BE49-F238E27FC236}">
                <a16:creationId xmlns:a16="http://schemas.microsoft.com/office/drawing/2014/main" id="{8EA79537-07F8-C9D2-7F54-E2BC5797C8C4}"/>
              </a:ext>
            </a:extLst>
          </p:cNvPr>
          <p:cNvSpPr txBox="1"/>
          <p:nvPr/>
        </p:nvSpPr>
        <p:spPr>
          <a:xfrm>
            <a:off x="510352" y="2326548"/>
            <a:ext cx="301753" cy="215444"/>
          </a:xfrm>
          <a:prstGeom prst="rect">
            <a:avLst/>
          </a:prstGeom>
          <a:solidFill>
            <a:schemeClr val="accent1"/>
          </a:solidFill>
        </p:spPr>
        <p:txBody>
          <a:bodyPr wrap="square" rtlCol="0">
            <a:spAutoFit/>
          </a:bodyPr>
          <a:lstStyle/>
          <a:p>
            <a:r>
              <a:rPr lang="en-US" sz="800" b="1" dirty="0">
                <a:solidFill>
                  <a:schemeClr val="bg1"/>
                </a:solidFill>
              </a:rPr>
              <a:t>5</a:t>
            </a:r>
          </a:p>
        </p:txBody>
      </p:sp>
      <p:pic>
        <p:nvPicPr>
          <p:cNvPr id="14" name="Imagen 13">
            <a:extLst>
              <a:ext uri="{FF2B5EF4-FFF2-40B4-BE49-F238E27FC236}">
                <a16:creationId xmlns:a16="http://schemas.microsoft.com/office/drawing/2014/main" id="{53612609-6A1F-B723-43BF-A19C3E411EAC}"/>
              </a:ext>
            </a:extLst>
          </p:cNvPr>
          <p:cNvPicPr>
            <a:picLocks noChangeAspect="1"/>
          </p:cNvPicPr>
          <p:nvPr/>
        </p:nvPicPr>
        <p:blipFill>
          <a:blip r:embed="rId3"/>
          <a:stretch>
            <a:fillRect/>
          </a:stretch>
        </p:blipFill>
        <p:spPr>
          <a:xfrm>
            <a:off x="4671980" y="1300554"/>
            <a:ext cx="741173" cy="2788222"/>
          </a:xfrm>
          <a:prstGeom prst="rect">
            <a:avLst/>
          </a:prstGeom>
        </p:spPr>
      </p:pic>
    </p:spTree>
    <p:extLst>
      <p:ext uri="{BB962C8B-B14F-4D97-AF65-F5344CB8AC3E}">
        <p14:creationId xmlns:p14="http://schemas.microsoft.com/office/powerpoint/2010/main" val="32071472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523C4A17-20AB-8F4F-E416-BA44097AA7B1}"/>
              </a:ext>
            </a:extLst>
          </p:cNvPr>
          <p:cNvPicPr>
            <a:picLocks noChangeAspect="1"/>
          </p:cNvPicPr>
          <p:nvPr/>
        </p:nvPicPr>
        <p:blipFill>
          <a:blip r:embed="rId2"/>
          <a:stretch>
            <a:fillRect/>
          </a:stretch>
        </p:blipFill>
        <p:spPr>
          <a:xfrm>
            <a:off x="575492" y="933101"/>
            <a:ext cx="11041016" cy="4991797"/>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a través de Autoservicio </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74306" y="382513"/>
            <a:ext cx="10477497" cy="898555"/>
          </a:xfrm>
        </p:spPr>
        <p:txBody>
          <a:bodyPr/>
          <a:lstStyle/>
          <a:p>
            <a:r>
              <a:rPr lang="es-419" dirty="0">
                <a:solidFill>
                  <a:schemeClr val="accent1"/>
                </a:solidFill>
              </a:rPr>
              <a:t>Registro de Calificaciones: subcomponentes</a:t>
            </a:r>
          </a:p>
        </p:txBody>
      </p:sp>
      <p:sp>
        <p:nvSpPr>
          <p:cNvPr id="5" name="Rectángulo: esquinas redondeadas 4">
            <a:extLst>
              <a:ext uri="{FF2B5EF4-FFF2-40B4-BE49-F238E27FC236}">
                <a16:creationId xmlns:a16="http://schemas.microsoft.com/office/drawing/2014/main" id="{AE3F985D-D7C3-6FD5-E3AC-65B04C9DD98A}"/>
              </a:ext>
            </a:extLst>
          </p:cNvPr>
          <p:cNvSpPr/>
          <p:nvPr/>
        </p:nvSpPr>
        <p:spPr>
          <a:xfrm>
            <a:off x="3026423" y="4716515"/>
            <a:ext cx="5491412" cy="101033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7"/>
            </a:pPr>
            <a:r>
              <a:rPr lang="es-ES_tradnl" sz="1100" dirty="0"/>
              <a:t>Presione el botón </a:t>
            </a:r>
            <a:r>
              <a:rPr lang="es-ES_tradnl" sz="1100" b="1" dirty="0"/>
              <a:t>Guardar</a:t>
            </a:r>
            <a:r>
              <a:rPr lang="es-ES_tradnl" sz="1100" dirty="0"/>
              <a:t>.</a:t>
            </a:r>
          </a:p>
          <a:p>
            <a:pPr marL="228600" indent="-228600">
              <a:buFont typeface="+mj-lt"/>
              <a:buAutoNum type="arabicPeriod" startAt="7"/>
            </a:pPr>
            <a:r>
              <a:rPr lang="es-ES_tradnl" sz="1100" dirty="0"/>
              <a:t>Presiono </a:t>
            </a:r>
            <a:r>
              <a:rPr lang="es-ES_tradnl" sz="1100" b="1" dirty="0"/>
              <a:t>OK</a:t>
            </a:r>
            <a:r>
              <a:rPr lang="es-ES_tradnl" sz="1100" dirty="0"/>
              <a:t> al mensaje de éxito al guardar.</a:t>
            </a:r>
          </a:p>
        </p:txBody>
      </p:sp>
      <p:sp>
        <p:nvSpPr>
          <p:cNvPr id="11" name="CuadroTexto 10">
            <a:extLst>
              <a:ext uri="{FF2B5EF4-FFF2-40B4-BE49-F238E27FC236}">
                <a16:creationId xmlns:a16="http://schemas.microsoft.com/office/drawing/2014/main" id="{7EE6F1C7-2E05-ECD9-0A9D-C1874ADBAB45}"/>
              </a:ext>
            </a:extLst>
          </p:cNvPr>
          <p:cNvSpPr txBox="1"/>
          <p:nvPr/>
        </p:nvSpPr>
        <p:spPr>
          <a:xfrm>
            <a:off x="9568821" y="4788240"/>
            <a:ext cx="301753" cy="215444"/>
          </a:xfrm>
          <a:prstGeom prst="rect">
            <a:avLst/>
          </a:prstGeom>
          <a:solidFill>
            <a:schemeClr val="accent1"/>
          </a:solidFill>
        </p:spPr>
        <p:txBody>
          <a:bodyPr wrap="square" rtlCol="0">
            <a:spAutoFit/>
          </a:bodyPr>
          <a:lstStyle/>
          <a:p>
            <a:r>
              <a:rPr lang="en-US" sz="800" b="1" dirty="0">
                <a:solidFill>
                  <a:schemeClr val="bg1"/>
                </a:solidFill>
              </a:rPr>
              <a:t>7</a:t>
            </a:r>
          </a:p>
        </p:txBody>
      </p:sp>
      <p:sp>
        <p:nvSpPr>
          <p:cNvPr id="9" name="CuadroTexto 8">
            <a:extLst>
              <a:ext uri="{FF2B5EF4-FFF2-40B4-BE49-F238E27FC236}">
                <a16:creationId xmlns:a16="http://schemas.microsoft.com/office/drawing/2014/main" id="{8EA79537-07F8-C9D2-7F54-E2BC5797C8C4}"/>
              </a:ext>
            </a:extLst>
          </p:cNvPr>
          <p:cNvSpPr txBox="1"/>
          <p:nvPr/>
        </p:nvSpPr>
        <p:spPr>
          <a:xfrm>
            <a:off x="10633126" y="1391251"/>
            <a:ext cx="301753" cy="215444"/>
          </a:xfrm>
          <a:prstGeom prst="rect">
            <a:avLst/>
          </a:prstGeom>
          <a:solidFill>
            <a:schemeClr val="accent1"/>
          </a:solidFill>
        </p:spPr>
        <p:txBody>
          <a:bodyPr wrap="square" rtlCol="0">
            <a:spAutoFit/>
          </a:bodyPr>
          <a:lstStyle/>
          <a:p>
            <a:r>
              <a:rPr lang="en-US" sz="800" b="1" dirty="0">
                <a:solidFill>
                  <a:schemeClr val="bg1"/>
                </a:solidFill>
              </a:rPr>
              <a:t>8</a:t>
            </a:r>
          </a:p>
        </p:txBody>
      </p:sp>
    </p:spTree>
    <p:extLst>
      <p:ext uri="{BB962C8B-B14F-4D97-AF65-F5344CB8AC3E}">
        <p14:creationId xmlns:p14="http://schemas.microsoft.com/office/powerpoint/2010/main" val="49829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6889B-582E-68A9-3F35-ED8E6975035F}"/>
            </a:ext>
          </a:extLst>
        </p:cNvPr>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F81C75AC-8EC1-32BF-1BC9-9AC4DF1E79E3}"/>
              </a:ext>
            </a:extLst>
          </p:cNvPr>
          <p:cNvSpPr>
            <a:spLocks noGrp="1"/>
          </p:cNvSpPr>
          <p:nvPr>
            <p:ph type="body" orient="vert" sz="quarter" idx="10"/>
          </p:nvPr>
        </p:nvSpPr>
        <p:spPr/>
        <p:txBody>
          <a:bodyPr/>
          <a:lstStyle/>
          <a:p>
            <a:r>
              <a:rPr lang="es-419" dirty="0"/>
              <a:t>Ingresar calificaciones a través de Autoservicio </a:t>
            </a:r>
          </a:p>
        </p:txBody>
      </p:sp>
      <p:sp>
        <p:nvSpPr>
          <p:cNvPr id="4" name="Título 3">
            <a:extLst>
              <a:ext uri="{FF2B5EF4-FFF2-40B4-BE49-F238E27FC236}">
                <a16:creationId xmlns:a16="http://schemas.microsoft.com/office/drawing/2014/main" id="{B4656F89-D65F-2706-A48F-48F2D07CE80F}"/>
              </a:ext>
            </a:extLst>
          </p:cNvPr>
          <p:cNvSpPr>
            <a:spLocks noGrp="1"/>
          </p:cNvSpPr>
          <p:nvPr>
            <p:ph type="title"/>
          </p:nvPr>
        </p:nvSpPr>
        <p:spPr/>
        <p:txBody>
          <a:bodyPr/>
          <a:lstStyle/>
          <a:p>
            <a:r>
              <a:rPr lang="es-ES" dirty="0"/>
              <a:t>Nota definitiva</a:t>
            </a:r>
            <a:endParaRPr lang="es-419" dirty="0"/>
          </a:p>
        </p:txBody>
      </p:sp>
      <p:sp>
        <p:nvSpPr>
          <p:cNvPr id="6" name="Marcador de texto 5">
            <a:extLst>
              <a:ext uri="{FF2B5EF4-FFF2-40B4-BE49-F238E27FC236}">
                <a16:creationId xmlns:a16="http://schemas.microsoft.com/office/drawing/2014/main" id="{29CEBF8F-C0FA-03DE-337B-7F16BBCC5EEC}"/>
              </a:ext>
            </a:extLst>
          </p:cNvPr>
          <p:cNvSpPr>
            <a:spLocks noGrp="1"/>
          </p:cNvSpPr>
          <p:nvPr>
            <p:ph type="body" sz="quarter" idx="18"/>
          </p:nvPr>
        </p:nvSpPr>
        <p:spPr/>
        <p:txBody>
          <a:bodyPr/>
          <a:lstStyle/>
          <a:p>
            <a:endParaRPr lang="es-419" dirty="0"/>
          </a:p>
        </p:txBody>
      </p:sp>
    </p:spTree>
    <p:extLst>
      <p:ext uri="{BB962C8B-B14F-4D97-AF65-F5344CB8AC3E}">
        <p14:creationId xmlns:p14="http://schemas.microsoft.com/office/powerpoint/2010/main" val="30032452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5F8C1D7A-217D-BFD9-1433-49D72C6420B8}"/>
              </a:ext>
            </a:extLst>
          </p:cNvPr>
          <p:cNvPicPr>
            <a:picLocks noChangeAspect="1"/>
          </p:cNvPicPr>
          <p:nvPr/>
        </p:nvPicPr>
        <p:blipFill>
          <a:blip r:embed="rId2"/>
          <a:stretch>
            <a:fillRect/>
          </a:stretch>
        </p:blipFill>
        <p:spPr>
          <a:xfrm>
            <a:off x="1104900" y="1396775"/>
            <a:ext cx="9982200" cy="4442386"/>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a través de Autoservicio </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p:txBody>
          <a:bodyPr/>
          <a:lstStyle/>
          <a:p>
            <a:r>
              <a:rPr lang="es-419" dirty="0">
                <a:solidFill>
                  <a:schemeClr val="accent1"/>
                </a:solidFill>
              </a:rPr>
              <a:t>Registro de Calificaciones</a:t>
            </a:r>
          </a:p>
        </p:txBody>
      </p:sp>
      <p:sp>
        <p:nvSpPr>
          <p:cNvPr id="4" name="Rectángulo 3">
            <a:extLst>
              <a:ext uri="{FF2B5EF4-FFF2-40B4-BE49-F238E27FC236}">
                <a16:creationId xmlns:a16="http://schemas.microsoft.com/office/drawing/2014/main" id="{AEB660EB-D9D5-9552-F76F-E235727801B7}"/>
              </a:ext>
            </a:extLst>
          </p:cNvPr>
          <p:cNvSpPr/>
          <p:nvPr/>
        </p:nvSpPr>
        <p:spPr>
          <a:xfrm>
            <a:off x="1038807" y="2570657"/>
            <a:ext cx="10284972" cy="192599"/>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esquinas redondeadas 4">
            <a:extLst>
              <a:ext uri="{FF2B5EF4-FFF2-40B4-BE49-F238E27FC236}">
                <a16:creationId xmlns:a16="http://schemas.microsoft.com/office/drawing/2014/main" id="{AE3F985D-D7C3-6FD5-E3AC-65B04C9DD98A}"/>
              </a:ext>
            </a:extLst>
          </p:cNvPr>
          <p:cNvSpPr/>
          <p:nvPr/>
        </p:nvSpPr>
        <p:spPr>
          <a:xfrm>
            <a:off x="3118374" y="4732681"/>
            <a:ext cx="5491412" cy="101033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Mediante el botón Calificaciones compuestas se puede visualizar el resumen de calificaciones de los componentes de los estudiantes y el cálculo de la calificación final de los estudiantes (siempre que se hayan completado las calificaciones de los componentes correspondientes)</a:t>
            </a:r>
          </a:p>
        </p:txBody>
      </p:sp>
    </p:spTree>
    <p:extLst>
      <p:ext uri="{BB962C8B-B14F-4D97-AF65-F5344CB8AC3E}">
        <p14:creationId xmlns:p14="http://schemas.microsoft.com/office/powerpoint/2010/main" val="174518916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5A87FEF4-ECED-12E5-F5AE-EF36607DB89B}"/>
              </a:ext>
            </a:extLst>
          </p:cNvPr>
          <p:cNvPicPr>
            <a:picLocks noChangeAspect="1"/>
          </p:cNvPicPr>
          <p:nvPr/>
        </p:nvPicPr>
        <p:blipFill>
          <a:blip r:embed="rId2"/>
          <a:stretch>
            <a:fillRect/>
          </a:stretch>
        </p:blipFill>
        <p:spPr>
          <a:xfrm>
            <a:off x="895926" y="1275516"/>
            <a:ext cx="10284973" cy="4625565"/>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a través de Autoservicio </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p:txBody>
          <a:bodyPr/>
          <a:lstStyle/>
          <a:p>
            <a:r>
              <a:rPr lang="es-419" dirty="0">
                <a:solidFill>
                  <a:schemeClr val="accent1"/>
                </a:solidFill>
              </a:rPr>
              <a:t>Registro de Calificaciones</a:t>
            </a:r>
          </a:p>
        </p:txBody>
      </p:sp>
      <p:sp>
        <p:nvSpPr>
          <p:cNvPr id="4" name="Rectángulo 3">
            <a:extLst>
              <a:ext uri="{FF2B5EF4-FFF2-40B4-BE49-F238E27FC236}">
                <a16:creationId xmlns:a16="http://schemas.microsoft.com/office/drawing/2014/main" id="{AEB660EB-D9D5-9552-F76F-E235727801B7}"/>
              </a:ext>
            </a:extLst>
          </p:cNvPr>
          <p:cNvSpPr/>
          <p:nvPr/>
        </p:nvSpPr>
        <p:spPr>
          <a:xfrm>
            <a:off x="895927" y="3205019"/>
            <a:ext cx="10284972" cy="898556"/>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esquinas redondeadas 4">
            <a:extLst>
              <a:ext uri="{FF2B5EF4-FFF2-40B4-BE49-F238E27FC236}">
                <a16:creationId xmlns:a16="http://schemas.microsoft.com/office/drawing/2014/main" id="{AE3F985D-D7C3-6FD5-E3AC-65B04C9DD98A}"/>
              </a:ext>
            </a:extLst>
          </p:cNvPr>
          <p:cNvSpPr/>
          <p:nvPr/>
        </p:nvSpPr>
        <p:spPr>
          <a:xfrm>
            <a:off x="2067787" y="4617395"/>
            <a:ext cx="5491412" cy="101033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Para cada estudiante inscrito se muestra la calificación obtenida en cada componente y, en caso de que ya estén cargados todos estos, el cálculo de la nota final, como se muestra en la imagen para la estudiante con ID A00010039</a:t>
            </a:r>
          </a:p>
        </p:txBody>
      </p:sp>
      <p:sp>
        <p:nvSpPr>
          <p:cNvPr id="14" name="Rectángulo 13">
            <a:extLst>
              <a:ext uri="{FF2B5EF4-FFF2-40B4-BE49-F238E27FC236}">
                <a16:creationId xmlns:a16="http://schemas.microsoft.com/office/drawing/2014/main" id="{2658F736-8DFD-9FE9-1E28-59A6E85D0253}"/>
              </a:ext>
            </a:extLst>
          </p:cNvPr>
          <p:cNvSpPr/>
          <p:nvPr/>
        </p:nvSpPr>
        <p:spPr>
          <a:xfrm>
            <a:off x="5009755" y="3449519"/>
            <a:ext cx="368143" cy="187191"/>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9226004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B9A71248-4F17-1231-0FA3-C97F918A4CD4}"/>
              </a:ext>
            </a:extLst>
          </p:cNvPr>
          <p:cNvPicPr>
            <a:picLocks noChangeAspect="1"/>
          </p:cNvPicPr>
          <p:nvPr/>
        </p:nvPicPr>
        <p:blipFill>
          <a:blip r:embed="rId2"/>
          <a:stretch>
            <a:fillRect/>
          </a:stretch>
        </p:blipFill>
        <p:spPr>
          <a:xfrm>
            <a:off x="868218" y="1483804"/>
            <a:ext cx="10083710" cy="4302962"/>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a través de Autoservicio </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p:txBody>
          <a:bodyPr/>
          <a:lstStyle/>
          <a:p>
            <a:r>
              <a:rPr lang="es-419" dirty="0">
                <a:solidFill>
                  <a:schemeClr val="accent1"/>
                </a:solidFill>
              </a:rPr>
              <a:t>Registro de Calificaciones</a:t>
            </a:r>
          </a:p>
        </p:txBody>
      </p:sp>
      <p:sp>
        <p:nvSpPr>
          <p:cNvPr id="4" name="Rectángulo 3">
            <a:extLst>
              <a:ext uri="{FF2B5EF4-FFF2-40B4-BE49-F238E27FC236}">
                <a16:creationId xmlns:a16="http://schemas.microsoft.com/office/drawing/2014/main" id="{AEB660EB-D9D5-9552-F76F-E235727801B7}"/>
              </a:ext>
            </a:extLst>
          </p:cNvPr>
          <p:cNvSpPr/>
          <p:nvPr/>
        </p:nvSpPr>
        <p:spPr>
          <a:xfrm>
            <a:off x="778255" y="2944894"/>
            <a:ext cx="10477497" cy="163434"/>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esquinas redondeadas 4">
            <a:extLst>
              <a:ext uri="{FF2B5EF4-FFF2-40B4-BE49-F238E27FC236}">
                <a16:creationId xmlns:a16="http://schemas.microsoft.com/office/drawing/2014/main" id="{AE3F985D-D7C3-6FD5-E3AC-65B04C9DD98A}"/>
              </a:ext>
            </a:extLst>
          </p:cNvPr>
          <p:cNvSpPr/>
          <p:nvPr/>
        </p:nvSpPr>
        <p:spPr>
          <a:xfrm>
            <a:off x="4986086" y="1628541"/>
            <a:ext cx="5491412" cy="101033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Adicionalmente, si ya la calificación de algún estudiante ha sido calculada, el docente puede ver la nota calculada si selecciona el NRC correspondiente en la pestaña Calificaciones finales. </a:t>
            </a:r>
          </a:p>
        </p:txBody>
      </p:sp>
      <p:sp>
        <p:nvSpPr>
          <p:cNvPr id="14" name="Rectángulo 13">
            <a:extLst>
              <a:ext uri="{FF2B5EF4-FFF2-40B4-BE49-F238E27FC236}">
                <a16:creationId xmlns:a16="http://schemas.microsoft.com/office/drawing/2014/main" id="{2658F736-8DFD-9FE9-1E28-59A6E85D0253}"/>
              </a:ext>
            </a:extLst>
          </p:cNvPr>
          <p:cNvSpPr/>
          <p:nvPr/>
        </p:nvSpPr>
        <p:spPr>
          <a:xfrm>
            <a:off x="1863299" y="2232879"/>
            <a:ext cx="930209" cy="163434"/>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Rectángulo 7">
            <a:extLst>
              <a:ext uri="{FF2B5EF4-FFF2-40B4-BE49-F238E27FC236}">
                <a16:creationId xmlns:a16="http://schemas.microsoft.com/office/drawing/2014/main" id="{8AF5FA4A-FCC8-3297-5437-4631CF0158BE}"/>
              </a:ext>
            </a:extLst>
          </p:cNvPr>
          <p:cNvSpPr/>
          <p:nvPr/>
        </p:nvSpPr>
        <p:spPr>
          <a:xfrm>
            <a:off x="721286" y="4585626"/>
            <a:ext cx="10477497" cy="291236"/>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Rectángulo: esquinas redondeadas 11">
            <a:extLst>
              <a:ext uri="{FF2B5EF4-FFF2-40B4-BE49-F238E27FC236}">
                <a16:creationId xmlns:a16="http://schemas.microsoft.com/office/drawing/2014/main" id="{534913CD-53B4-2515-1D36-0022DE6BDC06}"/>
              </a:ext>
            </a:extLst>
          </p:cNvPr>
          <p:cNvSpPr/>
          <p:nvPr/>
        </p:nvSpPr>
        <p:spPr>
          <a:xfrm>
            <a:off x="4780197" y="5009906"/>
            <a:ext cx="5491412" cy="101033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Desde </a:t>
            </a:r>
            <a:r>
              <a:rPr lang="es-ES_tradnl" sz="1100" dirty="0" err="1"/>
              <a:t>admin</a:t>
            </a:r>
            <a:r>
              <a:rPr lang="es-ES_tradnl" sz="1100" dirty="0"/>
              <a:t> </a:t>
            </a:r>
            <a:r>
              <a:rPr lang="es-ES_tradnl" sz="1100" dirty="0" err="1"/>
              <a:t>pages</a:t>
            </a:r>
            <a:r>
              <a:rPr lang="es-ES_tradnl" sz="1100" dirty="0"/>
              <a:t>, cuando se calcula una nota final en autoservicios, ésta pasa a la calificación final del estudiante en la  página SFAALST.</a:t>
            </a:r>
          </a:p>
        </p:txBody>
      </p:sp>
    </p:spTree>
    <p:extLst>
      <p:ext uri="{BB962C8B-B14F-4D97-AF65-F5344CB8AC3E}">
        <p14:creationId xmlns:p14="http://schemas.microsoft.com/office/powerpoint/2010/main" val="16515991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84CB00C4-4CE1-863D-3919-889E86B83F38}"/>
              </a:ext>
            </a:extLst>
          </p:cNvPr>
          <p:cNvSpPr>
            <a:spLocks noGrp="1"/>
          </p:cNvSpPr>
          <p:nvPr>
            <p:ph type="body" orient="vert" sz="quarter" idx="10"/>
          </p:nvPr>
        </p:nvSpPr>
        <p:spPr/>
        <p:txBody>
          <a:bodyPr/>
          <a:lstStyle/>
          <a:p>
            <a:r>
              <a:rPr lang="es-419" dirty="0"/>
              <a:t>Ingresar calificaciones a través de Autoservicio </a:t>
            </a:r>
          </a:p>
        </p:txBody>
      </p:sp>
      <p:sp>
        <p:nvSpPr>
          <p:cNvPr id="9" name="Title 1">
            <a:extLst>
              <a:ext uri="{FF2B5EF4-FFF2-40B4-BE49-F238E27FC236}">
                <a16:creationId xmlns:a16="http://schemas.microsoft.com/office/drawing/2014/main" id="{4DACCD36-3ACC-38E3-E6D1-36A1808E42E5}"/>
              </a:ext>
            </a:extLst>
          </p:cNvPr>
          <p:cNvSpPr>
            <a:spLocks noGrp="1"/>
          </p:cNvSpPr>
          <p:nvPr>
            <p:ph type="title"/>
          </p:nvPr>
        </p:nvSpPr>
        <p:spPr>
          <a:xfrm>
            <a:off x="1041838" y="-414703"/>
            <a:ext cx="7092820" cy="1628192"/>
          </a:xfrm>
        </p:spPr>
        <p:txBody>
          <a:bodyPr/>
          <a:lstStyle/>
          <a:p>
            <a:r>
              <a:rPr lang="es-ES_tradnl" dirty="0"/>
              <a:t>RESUMEN</a:t>
            </a:r>
          </a:p>
        </p:txBody>
      </p:sp>
      <p:sp>
        <p:nvSpPr>
          <p:cNvPr id="10" name="Marcador de texto 2">
            <a:extLst>
              <a:ext uri="{FF2B5EF4-FFF2-40B4-BE49-F238E27FC236}">
                <a16:creationId xmlns:a16="http://schemas.microsoft.com/office/drawing/2014/main" id="{B0CB5FB3-0FFF-BD39-3C9C-D613E315FFF2}"/>
              </a:ext>
            </a:extLst>
          </p:cNvPr>
          <p:cNvSpPr>
            <a:spLocks noGrp="1"/>
          </p:cNvSpPr>
          <p:nvPr>
            <p:ph type="body" sz="quarter" idx="18"/>
          </p:nvPr>
        </p:nvSpPr>
        <p:spPr>
          <a:xfrm>
            <a:off x="1041838" y="1687104"/>
            <a:ext cx="10067596" cy="3399903"/>
          </a:xfrm>
        </p:spPr>
        <p:txBody>
          <a:bodyPr/>
          <a:lstStyle/>
          <a:p>
            <a:pPr marL="342900" lvl="1" indent="-342900" algn="just">
              <a:spcBef>
                <a:spcPts val="1000"/>
              </a:spcBef>
              <a:buClr>
                <a:srgbClr val="0CB4B4"/>
              </a:buClr>
              <a:buFont typeface="Wingdings" panose="05000000000000000000" pitchFamily="2" charset="2"/>
              <a:buChar char="q"/>
            </a:pPr>
            <a:r>
              <a:rPr lang="es-419" sz="1800" dirty="0"/>
              <a:t>Mediante este procedimiento se permite a los docentes registrar las calificaciones de los alumnos inscritos en sus NRC a través de las páginas de Autoservicio .</a:t>
            </a:r>
          </a:p>
          <a:p>
            <a:pPr marL="342900" lvl="1" indent="-342900" algn="just">
              <a:spcBef>
                <a:spcPts val="1000"/>
              </a:spcBef>
              <a:buClr>
                <a:srgbClr val="0CB4B4"/>
              </a:buClr>
              <a:buFont typeface="Wingdings" panose="05000000000000000000" pitchFamily="2" charset="2"/>
              <a:buChar char="q"/>
            </a:pPr>
            <a:r>
              <a:rPr lang="es-419" sz="1800" dirty="0"/>
              <a:t>Para que los docentes puedan cargar las calificaciones por autoservicios, Registro Académico debe cargar el plan de evaluación de cada NRC en el sistema.</a:t>
            </a:r>
          </a:p>
          <a:p>
            <a:pPr marL="342900" lvl="1" indent="-342900" algn="just">
              <a:spcBef>
                <a:spcPts val="1000"/>
              </a:spcBef>
              <a:buClr>
                <a:srgbClr val="0CB4B4"/>
              </a:buClr>
              <a:buFont typeface="Wingdings" panose="05000000000000000000" pitchFamily="2" charset="2"/>
              <a:buChar char="q"/>
            </a:pPr>
            <a:r>
              <a:rPr lang="es-419" sz="1800" dirty="0"/>
              <a:t>Se puede establecer componentes y/o subcomponentes.</a:t>
            </a:r>
          </a:p>
          <a:p>
            <a:pPr marL="342900" lvl="1" indent="-342900" algn="just">
              <a:spcBef>
                <a:spcPts val="1000"/>
              </a:spcBef>
              <a:buClr>
                <a:srgbClr val="0CB4B4"/>
              </a:buClr>
              <a:buFont typeface="Wingdings" panose="05000000000000000000" pitchFamily="2" charset="2"/>
              <a:buChar char="q"/>
            </a:pPr>
            <a:r>
              <a:rPr lang="es-419" sz="1800" dirty="0"/>
              <a:t>La configuración de las fechas para la carga de calificaciones se hace a nivel de período.</a:t>
            </a:r>
          </a:p>
          <a:p>
            <a:pPr marL="342900" lvl="1" indent="-342900" algn="just">
              <a:spcBef>
                <a:spcPts val="1000"/>
              </a:spcBef>
              <a:buClr>
                <a:srgbClr val="0CB4B4"/>
              </a:buClr>
              <a:buFont typeface="Wingdings" panose="05000000000000000000" pitchFamily="2" charset="2"/>
              <a:buChar char="q"/>
            </a:pPr>
            <a:r>
              <a:rPr lang="es-419" sz="1800" dirty="0"/>
              <a:t>El despliegue de datos de carga en el Autoservicio es configurado desde GTVSDAX.</a:t>
            </a:r>
          </a:p>
          <a:p>
            <a:pPr marL="342900" lvl="1" indent="-342900" algn="just">
              <a:spcBef>
                <a:spcPts val="1000"/>
              </a:spcBef>
              <a:buClr>
                <a:srgbClr val="0CB4B4"/>
              </a:buClr>
              <a:buFont typeface="Wingdings" panose="05000000000000000000" pitchFamily="2" charset="2"/>
              <a:buChar char="q"/>
            </a:pPr>
            <a:r>
              <a:rPr lang="es-419" sz="1800" dirty="0"/>
              <a:t>El despliegue del nombre del alumno en el autoservicio para carga de calificaciones se configura por medio de GUANDSP.</a:t>
            </a:r>
          </a:p>
          <a:p>
            <a:pPr marL="342900" lvl="1" indent="-342900" algn="just">
              <a:spcBef>
                <a:spcPts val="1000"/>
              </a:spcBef>
              <a:buClr>
                <a:srgbClr val="0CB4B4"/>
              </a:buClr>
              <a:buFont typeface="Wingdings" panose="05000000000000000000" pitchFamily="2" charset="2"/>
              <a:buChar char="q"/>
            </a:pPr>
            <a:r>
              <a:rPr lang="es-419" sz="1800" dirty="0"/>
              <a:t>En este instructivo se incluye el Registro de Calificaciones (libro de calificaciones) por parte del docente mediante el Autoservicio.</a:t>
            </a:r>
          </a:p>
        </p:txBody>
      </p:sp>
    </p:spTree>
    <p:extLst>
      <p:ext uri="{BB962C8B-B14F-4D97-AF65-F5344CB8AC3E}">
        <p14:creationId xmlns:p14="http://schemas.microsoft.com/office/powerpoint/2010/main" val="30517754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084689-227B-A2E5-EA69-DF2CD64C73B3}"/>
              </a:ext>
            </a:extLst>
          </p:cNvPr>
          <p:cNvSpPr>
            <a:spLocks noGrp="1"/>
          </p:cNvSpPr>
          <p:nvPr>
            <p:ph type="title"/>
          </p:nvPr>
        </p:nvSpPr>
        <p:spPr/>
        <p:txBody>
          <a:bodyPr/>
          <a:lstStyle/>
          <a:p>
            <a:r>
              <a:rPr lang="en-US" sz="4800" dirty="0"/>
              <a:t>MUCHAS GRACIAS</a:t>
            </a:r>
          </a:p>
        </p:txBody>
      </p:sp>
      <p:sp>
        <p:nvSpPr>
          <p:cNvPr id="4" name="Text Placeholder 3">
            <a:extLst>
              <a:ext uri="{FF2B5EF4-FFF2-40B4-BE49-F238E27FC236}">
                <a16:creationId xmlns:a16="http://schemas.microsoft.com/office/drawing/2014/main" id="{680EF50E-22E9-2C0A-4970-41D2FFEB26BC}"/>
              </a:ext>
            </a:extLst>
          </p:cNvPr>
          <p:cNvSpPr>
            <a:spLocks noGrp="1"/>
          </p:cNvSpPr>
          <p:nvPr>
            <p:ph type="body" sz="quarter" idx="18"/>
          </p:nvPr>
        </p:nvSpPr>
        <p:spPr/>
        <p:txBody>
          <a:bodyPr/>
          <a:lstStyle/>
          <a:p>
            <a:r>
              <a:rPr lang="en-US" dirty="0"/>
              <a:t>Consultor</a:t>
            </a:r>
          </a:p>
          <a:p>
            <a:r>
              <a:rPr lang="en-US" dirty="0"/>
              <a:t>Correo@ellucian.com</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3652538"/>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028176"/>
            <a:ext cx="274320" cy="274320"/>
          </a:xfrm>
          <a:prstGeom prst="rect">
            <a:avLst/>
          </a:prstGeom>
        </p:spPr>
      </p:pic>
    </p:spTree>
    <p:extLst>
      <p:ext uri="{BB962C8B-B14F-4D97-AF65-F5344CB8AC3E}">
        <p14:creationId xmlns:p14="http://schemas.microsoft.com/office/powerpoint/2010/main" val="2964196057"/>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CEA309A8-FD57-42A7-831A-1C6DF3BE5D5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B53508D9-7D69-489E-B75B-7682E6255525}"/>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themeOverride>
</file>

<file path=docProps/app.xml><?xml version="1.0" encoding="utf-8"?>
<Properties xmlns="http://schemas.openxmlformats.org/officeDocument/2006/extended-properties" xmlns:vt="http://schemas.openxmlformats.org/officeDocument/2006/docPropsVTypes">
  <Template>EBP 05 4.1.6.1. Instructivo - Actualizar estado del estudiante</Template>
  <TotalTime>4797</TotalTime>
  <Words>4611</Words>
  <Application>Microsoft Office PowerPoint</Application>
  <PresentationFormat>Widescreen</PresentationFormat>
  <Paragraphs>492</Paragraphs>
  <Slides>79</Slides>
  <Notes>39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79</vt:i4>
      </vt:variant>
    </vt:vector>
  </HeadingPairs>
  <TitlesOfParts>
    <vt:vector size="87" baseType="lpstr">
      <vt:lpstr>Aptos</vt:lpstr>
      <vt:lpstr>Aptos Display</vt:lpstr>
      <vt:lpstr>Arial</vt:lpstr>
      <vt:lpstr>Courier New</vt:lpstr>
      <vt:lpstr>Helvetica Neue</vt:lpstr>
      <vt:lpstr>Wingdings</vt:lpstr>
      <vt:lpstr>Ellucian Main Layouts</vt:lpstr>
      <vt:lpstr>Ellucian Blank Layouts</vt:lpstr>
      <vt:lpstr>Ingresar calificaciones a través de Autoservicio  </vt:lpstr>
      <vt:lpstr>PowerPoint Presentation</vt:lpstr>
      <vt:lpstr>Overview</vt:lpstr>
      <vt:lpstr>Overview: Mapa de capacidades</vt:lpstr>
      <vt:lpstr>Overview: Ingresar calificaciones a través de Autoservicio  </vt:lpstr>
      <vt:lpstr>Overview: Registrar la asistencia a clases </vt:lpstr>
      <vt:lpstr>PowerPoint Presentation</vt:lpstr>
      <vt:lpstr>Overview: Ingresar calificaciones a través de Autoservicio  </vt:lpstr>
      <vt:lpstr>Configuraciones</vt:lpstr>
      <vt:lpstr>Razones de cambio de calificaciones </vt:lpstr>
      <vt:lpstr> Razones de cambio de calificaciones (STVGCHG)</vt:lpstr>
      <vt:lpstr> Razones de cambio de calificaciones (STVGCHG)</vt:lpstr>
      <vt:lpstr>Programación Académica</vt:lpstr>
      <vt:lpstr> Programación Académica (SSASECT)</vt:lpstr>
      <vt:lpstr>Control de período</vt:lpstr>
      <vt:lpstr> Control de período (SOATERM)</vt:lpstr>
      <vt:lpstr> Control de período (SOATERM)</vt:lpstr>
      <vt:lpstr> Control de período (SOATERM)</vt:lpstr>
      <vt:lpstr>Perfil de acceso de los docentes</vt:lpstr>
      <vt:lpstr>Perfil de acceso de los docentes</vt:lpstr>
      <vt:lpstr>Perfil de acceso de los docentes</vt:lpstr>
      <vt:lpstr>Reglas de validación</vt:lpstr>
      <vt:lpstr>Reglas de validación: Calificaciones por Modo de calificación</vt:lpstr>
      <vt:lpstr>Reglas de validación: Instructor Principal</vt:lpstr>
      <vt:lpstr>Reglas de validación: Cantidad de decimales</vt:lpstr>
      <vt:lpstr>Reglas de validación: Comentarios de componentes</vt:lpstr>
      <vt:lpstr>Reglas de validación: Comentarios de subcomponentes</vt:lpstr>
      <vt:lpstr>Despliegue de nombre del alumno</vt:lpstr>
      <vt:lpstr>Despliegue de nombre del alumno en calificaciones</vt:lpstr>
      <vt:lpstr>Despliegue de nombre del alumno en calificaciones</vt:lpstr>
      <vt:lpstr>Despliegue de nombre del alumno en calificaciones</vt:lpstr>
      <vt:lpstr>Despliegue de nombre del alumno en calificaciones</vt:lpstr>
      <vt:lpstr>Despliegue de nombre del alumno en calificaciones</vt:lpstr>
      <vt:lpstr>Despliegue de nombre del alumno en calificaciones</vt:lpstr>
      <vt:lpstr>Despliegue de nombre del alumno en calificaciones</vt:lpstr>
      <vt:lpstr>Despliegue de nombre del alumno en asistencia</vt:lpstr>
      <vt:lpstr>Despliegue de nombre del alumno en calificaciones</vt:lpstr>
      <vt:lpstr>Despliegue de nombre del alumno en calificaciones</vt:lpstr>
      <vt:lpstr>Calendario de Ingreso de calificaciones</vt:lpstr>
      <vt:lpstr>Calendario de Ingreso de calificaciones a nivel de periodo (SHAEGBC) </vt:lpstr>
      <vt:lpstr>Calendario de Ingreso de calificaciones a nivel de periodo (SHAEGBC) </vt:lpstr>
      <vt:lpstr>Registrar el Plan de Evaluación del docente</vt:lpstr>
      <vt:lpstr>Registrar el Plan de Evaluación del docente (SHAGCOM)</vt:lpstr>
      <vt:lpstr>Registrar el Plan de Evaluación del docente (SHAGCOM)</vt:lpstr>
      <vt:lpstr>Registrar el Plan de Evaluación del docente (SHAGCOM)</vt:lpstr>
      <vt:lpstr>Registrar el Plan de Evaluación del docente (SHAGCOM)</vt:lpstr>
      <vt:lpstr>Registrar el Plan de Evaluación del docente (SHAGCOM)</vt:lpstr>
      <vt:lpstr>Registrar el Plan de Evaluación del docente (SHAGCOM)</vt:lpstr>
      <vt:lpstr>Registrar el Plan de Evaluación del docente (SHAGCOM)</vt:lpstr>
      <vt:lpstr>Registrar el Plan de Evaluación del docente (SHAGCOM)</vt:lpstr>
      <vt:lpstr>Registrar el Plan de Evaluación del docente (SHAGCOM)</vt:lpstr>
      <vt:lpstr>Registrar el Plan de Evaluación del docente (SHAGCOM)</vt:lpstr>
      <vt:lpstr>Registrar el Plan de Evaluación del docente (SHAGCOM)</vt:lpstr>
      <vt:lpstr>Registrar el Plan de Evaluación del docente (SHAGCOM)</vt:lpstr>
      <vt:lpstr>Registrar el Componente de asistencia (SHAGCOM)</vt:lpstr>
      <vt:lpstr>Registro de Calificaciones parciales y/o finales</vt:lpstr>
      <vt:lpstr>Registro de Calificaciones</vt:lpstr>
      <vt:lpstr>Registro de Calificaciones</vt:lpstr>
      <vt:lpstr>Registro de Calificaciones</vt:lpstr>
      <vt:lpstr>Registro de Calificaciones</vt:lpstr>
      <vt:lpstr>Registro de Calificaciones por libro de calificación</vt:lpstr>
      <vt:lpstr>Registro de Calificaciones</vt:lpstr>
      <vt:lpstr>Registro de Calificaciones</vt:lpstr>
      <vt:lpstr>Registro de Calificaciones</vt:lpstr>
      <vt:lpstr>Ingresar calificaciones de componentes</vt:lpstr>
      <vt:lpstr>Registro de Calificaciones: componentes</vt:lpstr>
      <vt:lpstr>Registro de Calificaciones: componentes</vt:lpstr>
      <vt:lpstr>Registro de Calificaciones : componentes</vt:lpstr>
      <vt:lpstr>Ingresar calificaciones de subcomponentes</vt:lpstr>
      <vt:lpstr>Registro de Calificaciones: subcomponentes</vt:lpstr>
      <vt:lpstr>Registro de Calificaciones: subcomponentes</vt:lpstr>
      <vt:lpstr>Registro de Calificaciones: subcomponentes</vt:lpstr>
      <vt:lpstr>Registro de Calificaciones: subcomponentes</vt:lpstr>
      <vt:lpstr>Nota definitiva</vt:lpstr>
      <vt:lpstr>Registro de Calificaciones</vt:lpstr>
      <vt:lpstr>Registro de Calificaciones</vt:lpstr>
      <vt:lpstr>Registro de Calificaciones</vt:lpstr>
      <vt:lpstr>RESUMEN</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Ramos, Karyn</dc:creator>
  <cp:lastModifiedBy>Trapp, Eduardo</cp:lastModifiedBy>
  <cp:revision>70</cp:revision>
  <dcterms:created xsi:type="dcterms:W3CDTF">2024-10-02T00:21:55Z</dcterms:created>
  <dcterms:modified xsi:type="dcterms:W3CDTF">2026-04-17T17:53:12Z</dcterms:modified>
</cp:coreProperties>
</file>
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2" r:id="rId2"/>
  </p:sldMasterIdLst>
  <p:notesMasterIdLst>
    <p:notesMasterId r:id="rId67"/>
  </p:notesMasterIdLst>
  <p:sldIdLst>
    <p:sldId id="257" r:id="rId3"/>
    <p:sldId id="423" r:id="rId4"/>
    <p:sldId id="476" r:id="rId5"/>
    <p:sldId id="523" r:id="rId6"/>
    <p:sldId id="1885" r:id="rId7"/>
    <p:sldId id="349" r:id="rId8"/>
    <p:sldId id="1866" r:id="rId9"/>
    <p:sldId id="1886" r:id="rId10"/>
    <p:sldId id="1887" r:id="rId11"/>
    <p:sldId id="1888" r:id="rId12"/>
    <p:sldId id="421" r:id="rId13"/>
    <p:sldId id="1934" r:id="rId14"/>
    <p:sldId id="360" r:id="rId15"/>
    <p:sldId id="477" r:id="rId16"/>
    <p:sldId id="469" r:id="rId17"/>
    <p:sldId id="1896" r:id="rId18"/>
    <p:sldId id="1921" r:id="rId19"/>
    <p:sldId id="1920" r:id="rId20"/>
    <p:sldId id="1890" r:id="rId21"/>
    <p:sldId id="1894" r:id="rId22"/>
    <p:sldId id="1891" r:id="rId23"/>
    <p:sldId id="1897" r:id="rId24"/>
    <p:sldId id="1900" r:id="rId25"/>
    <p:sldId id="1889" r:id="rId26"/>
    <p:sldId id="485" r:id="rId27"/>
    <p:sldId id="1902" r:id="rId28"/>
    <p:sldId id="1739" r:id="rId29"/>
    <p:sldId id="1846" r:id="rId30"/>
    <p:sldId id="1914" r:id="rId31"/>
    <p:sldId id="1915" r:id="rId32"/>
    <p:sldId id="1916" r:id="rId33"/>
    <p:sldId id="1917" r:id="rId34"/>
    <p:sldId id="1906" r:id="rId35"/>
    <p:sldId id="1912" r:id="rId36"/>
    <p:sldId id="488" r:id="rId37"/>
    <p:sldId id="355" r:id="rId38"/>
    <p:sldId id="1903" r:id="rId39"/>
    <p:sldId id="1893" r:id="rId40"/>
    <p:sldId id="1901" r:id="rId41"/>
    <p:sldId id="1904" r:id="rId42"/>
    <p:sldId id="1905" r:id="rId43"/>
    <p:sldId id="1878" r:id="rId44"/>
    <p:sldId id="1907" r:id="rId45"/>
    <p:sldId id="1908" r:id="rId46"/>
    <p:sldId id="1909" r:id="rId47"/>
    <p:sldId id="1910" r:id="rId48"/>
    <p:sldId id="1911" r:id="rId49"/>
    <p:sldId id="534" r:id="rId50"/>
    <p:sldId id="1919" r:id="rId51"/>
    <p:sldId id="1922" r:id="rId52"/>
    <p:sldId id="1924" r:id="rId53"/>
    <p:sldId id="1923" r:id="rId54"/>
    <p:sldId id="1925" r:id="rId55"/>
    <p:sldId id="1926" r:id="rId56"/>
    <p:sldId id="1927" r:id="rId57"/>
    <p:sldId id="1928" r:id="rId58"/>
    <p:sldId id="1918" r:id="rId59"/>
    <p:sldId id="1930" r:id="rId60"/>
    <p:sldId id="1931" r:id="rId61"/>
    <p:sldId id="1932" r:id="rId62"/>
    <p:sldId id="1933" r:id="rId63"/>
    <p:sldId id="623" r:id="rId64"/>
    <p:sldId id="1860" r:id="rId65"/>
    <p:sldId id="1861"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81FE1C-C4F8-747A-751A-A5F85F51423E}" name="Diana Carolina Cruz Neira" initials="DN" userId="HqrVrFNIz3aOz7BM+vLuPv0jN3NG5MUjzUKAHgNKpS8=" providerId="None"/>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3" d="2"/>
        <a:sy n="3" d="2"/>
      </p:scale>
      <p:origin x="0" y="0"/>
    </p:cViewPr>
  </p:notesText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microsoft.com/office/2018/10/relationships/authors" Targe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21-07-2026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E5114-A9BE-226F-3D79-CE83FEAC74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481A9E6-11B3-F2E3-23D7-0DBEAA3C9A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E4CF1D5-D8C2-1A32-10DD-2B2BE515C68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328E4BB-BB5F-F9D9-20EC-AE394762B615}"/>
              </a:ext>
            </a:extLst>
          </p:cNvPr>
          <p:cNvSpPr>
            <a:spLocks noGrp="1"/>
          </p:cNvSpPr>
          <p:nvPr>
            <p:ph type="sldNum" sz="quarter" idx="5"/>
          </p:nvPr>
        </p:nvSpPr>
        <p:spPr/>
        <p:txBody>
          <a:bodyPr/>
          <a:lstStyle/>
          <a:p>
            <a:fld id="{CF541D2A-E99A-2F4F-B8C9-28142709F87F}" type="slidenum">
              <a:rPr lang="en-US" smtClean="0"/>
              <a:pPr/>
              <a:t>28</a:t>
            </a:fld>
            <a:endParaRPr lang="en-US"/>
          </a:p>
        </p:txBody>
      </p:sp>
    </p:spTree>
    <p:extLst>
      <p:ext uri="{BB962C8B-B14F-4D97-AF65-F5344CB8AC3E}">
        <p14:creationId xmlns:p14="http://schemas.microsoft.com/office/powerpoint/2010/main" val="3017066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024E6-56F6-CA51-359C-A51C2EC895F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D923D52-9665-DE6D-0327-F1A81509EB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228425C-C989-8A8E-75BC-8BA17500EE0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4FA155C-B02E-A700-6111-2CE3A52BC275}"/>
              </a:ext>
            </a:extLst>
          </p:cNvPr>
          <p:cNvSpPr>
            <a:spLocks noGrp="1"/>
          </p:cNvSpPr>
          <p:nvPr>
            <p:ph type="sldNum" sz="quarter" idx="5"/>
          </p:nvPr>
        </p:nvSpPr>
        <p:spPr/>
        <p:txBody>
          <a:bodyPr/>
          <a:lstStyle/>
          <a:p>
            <a:fld id="{CF541D2A-E99A-2F4F-B8C9-28142709F87F}" type="slidenum">
              <a:rPr lang="en-US" smtClean="0"/>
              <a:pPr/>
              <a:t>29</a:t>
            </a:fld>
            <a:endParaRPr lang="en-US"/>
          </a:p>
        </p:txBody>
      </p:sp>
    </p:spTree>
    <p:extLst>
      <p:ext uri="{BB962C8B-B14F-4D97-AF65-F5344CB8AC3E}">
        <p14:creationId xmlns:p14="http://schemas.microsoft.com/office/powerpoint/2010/main" val="3063656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CA24-29B5-FE0F-6BB3-E45C3C89A0C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043FBF-2DE2-602C-FABE-2B30BCE84BA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0855141-6E3D-9905-DB95-ED59CD4A984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ADB57F1-D0AA-6565-9E48-2CB84518C52B}"/>
              </a:ext>
            </a:extLst>
          </p:cNvPr>
          <p:cNvSpPr>
            <a:spLocks noGrp="1"/>
          </p:cNvSpPr>
          <p:nvPr>
            <p:ph type="sldNum" sz="quarter" idx="5"/>
          </p:nvPr>
        </p:nvSpPr>
        <p:spPr/>
        <p:txBody>
          <a:bodyPr/>
          <a:lstStyle/>
          <a:p>
            <a:fld id="{CF541D2A-E99A-2F4F-B8C9-28142709F87F}" type="slidenum">
              <a:rPr lang="en-US" smtClean="0"/>
              <a:pPr/>
              <a:t>30</a:t>
            </a:fld>
            <a:endParaRPr lang="en-US"/>
          </a:p>
        </p:txBody>
      </p:sp>
    </p:spTree>
    <p:extLst>
      <p:ext uri="{BB962C8B-B14F-4D97-AF65-F5344CB8AC3E}">
        <p14:creationId xmlns:p14="http://schemas.microsoft.com/office/powerpoint/2010/main" val="451805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0F34E-6AB6-D0D0-48E1-EDB9E6CD94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3FE799-CDF5-447E-6BF5-81611F3DF8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765F8C9-CBCC-6A52-2F1D-F12A2088BAC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E6C88C6-CCFE-4D0F-52CC-4D30CEA8F466}"/>
              </a:ext>
            </a:extLst>
          </p:cNvPr>
          <p:cNvSpPr>
            <a:spLocks noGrp="1"/>
          </p:cNvSpPr>
          <p:nvPr>
            <p:ph type="sldNum" sz="quarter" idx="5"/>
          </p:nvPr>
        </p:nvSpPr>
        <p:spPr/>
        <p:txBody>
          <a:bodyPr/>
          <a:lstStyle/>
          <a:p>
            <a:fld id="{CF541D2A-E99A-2F4F-B8C9-28142709F87F}" type="slidenum">
              <a:rPr lang="en-US" smtClean="0"/>
              <a:pPr/>
              <a:t>31</a:t>
            </a:fld>
            <a:endParaRPr lang="en-US"/>
          </a:p>
        </p:txBody>
      </p:sp>
    </p:spTree>
    <p:extLst>
      <p:ext uri="{BB962C8B-B14F-4D97-AF65-F5344CB8AC3E}">
        <p14:creationId xmlns:p14="http://schemas.microsoft.com/office/powerpoint/2010/main" val="3712917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DEDE6-85B4-CBBE-7903-4B27F95CC59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553BCBF-C023-2366-14F7-A003BA1A660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A58FF48-0588-C10F-96EE-308A7C8D2CC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29486AB-8FD1-4826-3383-2274F9332738}"/>
              </a:ext>
            </a:extLst>
          </p:cNvPr>
          <p:cNvSpPr>
            <a:spLocks noGrp="1"/>
          </p:cNvSpPr>
          <p:nvPr>
            <p:ph type="sldNum" sz="quarter" idx="5"/>
          </p:nvPr>
        </p:nvSpPr>
        <p:spPr/>
        <p:txBody>
          <a:bodyPr/>
          <a:lstStyle/>
          <a:p>
            <a:fld id="{CF541D2A-E99A-2F4F-B8C9-28142709F87F}" type="slidenum">
              <a:rPr lang="en-US" smtClean="0"/>
              <a:pPr/>
              <a:t>32</a:t>
            </a:fld>
            <a:endParaRPr lang="en-US"/>
          </a:p>
        </p:txBody>
      </p:sp>
    </p:spTree>
    <p:extLst>
      <p:ext uri="{BB962C8B-B14F-4D97-AF65-F5344CB8AC3E}">
        <p14:creationId xmlns:p14="http://schemas.microsoft.com/office/powerpoint/2010/main" val="12742992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47086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71586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88952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87653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17232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95706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79463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350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168046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04697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126223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1020825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9540940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174562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0128796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4414048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98907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791241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1682469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335742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721484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0710554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555302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7030406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3933092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2229607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9602602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851280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0189633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413873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61308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488597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332669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459792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272577009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
        <p:nvSpPr>
          <p:cNvPr id="3" name="Rectángulo 2">
            <a:extLst>
              <a:ext uri="{FF2B5EF4-FFF2-40B4-BE49-F238E27FC236}">
                <a16:creationId xmlns:a16="http://schemas.microsoft.com/office/drawing/2014/main" id="{9DF28871-6FFA-1823-43C5-0B283E5ABDA0}"/>
              </a:ext>
            </a:extLst>
          </p:cNvPr>
          <p:cNvSpPr/>
          <p:nvPr userDrawn="1"/>
        </p:nvSpPr>
        <p:spPr>
          <a:xfrm>
            <a:off x="9170633" y="6480699"/>
            <a:ext cx="2405849" cy="2407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CuadroTexto 4">
            <a:extLst>
              <a:ext uri="{FF2B5EF4-FFF2-40B4-BE49-F238E27FC236}">
                <a16:creationId xmlns:a16="http://schemas.microsoft.com/office/drawing/2014/main" id="{0BBA164A-5F23-D05C-8D21-44200DC71CB1}"/>
              </a:ext>
            </a:extLst>
          </p:cNvPr>
          <p:cNvSpPr txBox="1"/>
          <p:nvPr userDrawn="1"/>
        </p:nvSpPr>
        <p:spPr>
          <a:xfrm>
            <a:off x="9610079" y="6506030"/>
            <a:ext cx="217059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p:txBody>
      </p:sp>
    </p:spTree>
    <p:extLst>
      <p:ext uri="{BB962C8B-B14F-4D97-AF65-F5344CB8AC3E}">
        <p14:creationId xmlns:p14="http://schemas.microsoft.com/office/powerpoint/2010/main" val="3570046091"/>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ángulo 1">
            <a:extLst>
              <a:ext uri="{FF2B5EF4-FFF2-40B4-BE49-F238E27FC236}">
                <a16:creationId xmlns:a16="http://schemas.microsoft.com/office/drawing/2014/main" id="{BFE6B8E8-DB28-A5A3-1E18-A87232E1F905}"/>
              </a:ext>
            </a:extLst>
          </p:cNvPr>
          <p:cNvSpPr/>
          <p:nvPr userDrawn="1"/>
        </p:nvSpPr>
        <p:spPr>
          <a:xfrm>
            <a:off x="9241654" y="6498454"/>
            <a:ext cx="2340743" cy="3595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CuadroTexto 4">
            <a:extLst>
              <a:ext uri="{FF2B5EF4-FFF2-40B4-BE49-F238E27FC236}">
                <a16:creationId xmlns:a16="http://schemas.microsoft.com/office/drawing/2014/main" id="{23638DB2-6A07-1CB5-BB3F-F6000EA04FD3}"/>
              </a:ext>
            </a:extLst>
          </p:cNvPr>
          <p:cNvSpPr txBox="1"/>
          <p:nvPr userDrawn="1"/>
        </p:nvSpPr>
        <p:spPr>
          <a:xfrm>
            <a:off x="9710428" y="6578538"/>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252909612"/>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3322294353"/>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81999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195277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171263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1884982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899332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724396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0095877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898298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441995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5512841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3457183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312808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503463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5130802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982362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926262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05886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433384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194173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2.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1095450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50"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1817096"/>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7.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7.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7.xml"/></Relationships>
</file>

<file path=ppt/slides/_rels/slide5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png"/><Relationship Id="rId1" Type="http://schemas.openxmlformats.org/officeDocument/2006/relationships/slideLayout" Target="../slideLayouts/slideLayout3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sv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1832105"/>
          </a:xfrm>
        </p:spPr>
        <p:txBody>
          <a:bodyPr/>
          <a:lstStyle/>
          <a:p>
            <a:r>
              <a:rPr lang="es-ES" sz="4400" dirty="0"/>
              <a:t>Gestionar Solicitudes de Graduación</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ES" sz="1800" dirty="0"/>
              <a:t>Instructivo</a:t>
            </a:r>
            <a:endParaRPr lang="es-CL" dirty="0"/>
          </a:p>
        </p:txBody>
      </p:sp>
      <p:sp>
        <p:nvSpPr>
          <p:cNvPr id="5" name="Marcador de texto 4">
            <a:extLst>
              <a:ext uri="{FF2B5EF4-FFF2-40B4-BE49-F238E27FC236}">
                <a16:creationId xmlns:a16="http://schemas.microsoft.com/office/drawing/2014/main" id="{772FDF24-1214-F117-E543-7A082964D15A}"/>
              </a:ext>
            </a:extLst>
          </p:cNvPr>
          <p:cNvSpPr>
            <a:spLocks noGrp="1"/>
          </p:cNvSpPr>
          <p:nvPr>
            <p:ph type="body" sz="quarter" idx="12"/>
          </p:nvPr>
        </p:nvSpPr>
        <p:spPr>
          <a:xfrm>
            <a:off x="556902" y="5609784"/>
            <a:ext cx="3032274" cy="194925"/>
          </a:xfrm>
        </p:spPr>
        <p:txBody>
          <a:bodyPr/>
          <a:lstStyle/>
          <a:p>
            <a:r>
              <a:rPr lang="es-419" dirty="0"/>
              <a:t>Universidad Señor de SIPAN</a:t>
            </a:r>
          </a:p>
        </p:txBody>
      </p:sp>
      <p:sp>
        <p:nvSpPr>
          <p:cNvPr id="6" name="Marcador de texto 5">
            <a:extLst>
              <a:ext uri="{FF2B5EF4-FFF2-40B4-BE49-F238E27FC236}">
                <a16:creationId xmlns:a16="http://schemas.microsoft.com/office/drawing/2014/main" id="{5D36049D-3455-C710-D1B2-A5EBF0DE7B2C}"/>
              </a:ext>
            </a:extLst>
          </p:cNvPr>
          <p:cNvSpPr>
            <a:spLocks noGrp="1"/>
          </p:cNvSpPr>
          <p:nvPr>
            <p:ph type="body" sz="quarter" idx="13"/>
          </p:nvPr>
        </p:nvSpPr>
        <p:spPr/>
        <p:txBody>
          <a:bodyPr/>
          <a:lstStyle/>
          <a:p>
            <a:r>
              <a:rPr lang="es-419" dirty="0"/>
              <a:t>Julio, 2026</a:t>
            </a:r>
          </a:p>
        </p:txBody>
      </p:sp>
      <p:pic>
        <p:nvPicPr>
          <p:cNvPr id="9" name="Marcador de posición de imagen 8" descr="Un par de personas de pie&#10;&#10;El contenido generado por IA puede ser incorrecto.">
            <a:extLst>
              <a:ext uri="{FF2B5EF4-FFF2-40B4-BE49-F238E27FC236}">
                <a16:creationId xmlns:a16="http://schemas.microsoft.com/office/drawing/2014/main" id="{7FE66D66-1189-FB46-15BD-C65CCDBC2E57}"/>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534" r="17534"/>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ES" sz="1200" dirty="0"/>
              <a:t>Gestionar el otorgamiento y registro de grado</a:t>
            </a:r>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a:t>
            </a:fld>
            <a:endParaRPr lang="en-US"/>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2601313603"/>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err="1">
                          <a:solidFill>
                            <a:schemeClr val="bg1"/>
                          </a:solidFill>
                        </a:rPr>
                        <a:t>Gestionar</a:t>
                      </a:r>
                      <a:r>
                        <a:rPr lang="en-US" sz="2800" b="1" dirty="0">
                          <a:solidFill>
                            <a:schemeClr val="bg1"/>
                          </a:solidFill>
                        </a:rPr>
                        <a:t>  Solicitudes de </a:t>
                      </a:r>
                      <a:r>
                        <a:rPr lang="en-US" sz="2800" b="1" dirty="0" err="1">
                          <a:solidFill>
                            <a:schemeClr val="bg1"/>
                          </a:solidFill>
                        </a:rPr>
                        <a:t>Graduación</a:t>
                      </a:r>
                      <a:endParaRPr lang="en-US" sz="2800" b="1"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ES" sz="1200" dirty="0"/>
              <a:t>Gestionar el otorgamiento y registro de grado</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1113865" y="1809773"/>
            <a:ext cx="7092820" cy="1628192"/>
          </a:xfrm>
        </p:spPr>
        <p:txBody>
          <a:bodyPr/>
          <a:lstStyle/>
          <a:p>
            <a:r>
              <a:rPr lang="en-US" sz="3200" b="1" dirty="0">
                <a:solidFill>
                  <a:schemeClr val="bg1"/>
                </a:solidFill>
              </a:rPr>
              <a:t>Overview</a:t>
            </a:r>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3</a:t>
            </a:fld>
            <a:endParaRPr lang="en-US"/>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ES" sz="1200" dirty="0"/>
              <a:t>Gestionar el otorgamiento y registro de grado</a:t>
            </a:r>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496494" y="3293646"/>
            <a:ext cx="2456881" cy="70685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FAA7A-5F31-D7C0-D673-24052C7AA73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53249019-65A4-D9F4-CB0C-60A5F633A3E6}"/>
              </a:ext>
            </a:extLst>
          </p:cNvPr>
          <p:cNvSpPr>
            <a:spLocks noGrp="1"/>
          </p:cNvSpPr>
          <p:nvPr>
            <p:ph type="body" sz="quarter" idx="18"/>
          </p:nvPr>
        </p:nvSpPr>
        <p:spPr>
          <a:xfrm>
            <a:off x="1104900" y="1825099"/>
            <a:ext cx="9698935" cy="2746902"/>
          </a:xfrm>
        </p:spPr>
        <p:txBody>
          <a:bodyPr anchor="ctr"/>
          <a:lstStyle/>
          <a:p>
            <a:pPr marL="0" indent="0" algn="just">
              <a:buClr>
                <a:srgbClr val="0CB4B4"/>
              </a:buClr>
              <a:buNone/>
            </a:pPr>
            <a:r>
              <a:rPr lang="es-CO" sz="2400" dirty="0"/>
              <a:t>En la Capacidad de negocio de “Otorgamiento del Título y Ceremonia de Graduación del Estudiante” se incluyen todas las actividades destinadas al otorgamiento de títulos (y otros reconocimientos) a estudiantes que han cumplido con los requisitos correspondientes y, por lo tanto, se han convertido en egresados.</a:t>
            </a:r>
            <a:endParaRPr lang="es-ES" sz="2400" dirty="0"/>
          </a:p>
        </p:txBody>
      </p:sp>
      <p:sp>
        <p:nvSpPr>
          <p:cNvPr id="4" name="Título 3">
            <a:extLst>
              <a:ext uri="{FF2B5EF4-FFF2-40B4-BE49-F238E27FC236}">
                <a16:creationId xmlns:a16="http://schemas.microsoft.com/office/drawing/2014/main" id="{8090E525-E594-D00C-F198-F1796BCF3D8B}"/>
              </a:ext>
            </a:extLst>
          </p:cNvPr>
          <p:cNvSpPr>
            <a:spLocks noGrp="1"/>
          </p:cNvSpPr>
          <p:nvPr>
            <p:ph type="title"/>
          </p:nvPr>
        </p:nvSpPr>
        <p:spPr/>
        <p:txBody>
          <a:bodyPr/>
          <a:lstStyle/>
          <a:p>
            <a:r>
              <a:rPr lang="es-ES_tradnl" dirty="0">
                <a:solidFill>
                  <a:schemeClr val="accent1"/>
                </a:solidFill>
              </a:rPr>
              <a:t>Overview: </a:t>
            </a:r>
            <a:r>
              <a:rPr lang="es-CL" b="0" dirty="0">
                <a:solidFill>
                  <a:schemeClr val="accent1"/>
                </a:solidFill>
              </a:rPr>
              <a:t>Capacidad Otorgamiento del Título y Ceremonia del estudiante</a:t>
            </a:r>
          </a:p>
        </p:txBody>
      </p:sp>
      <p:sp>
        <p:nvSpPr>
          <p:cNvPr id="6" name="Vertical Text Placeholder 3">
            <a:extLst>
              <a:ext uri="{FF2B5EF4-FFF2-40B4-BE49-F238E27FC236}">
                <a16:creationId xmlns:a16="http://schemas.microsoft.com/office/drawing/2014/main" id="{A49C5CEF-8FA1-0672-58E4-174948BA0B82}"/>
              </a:ext>
            </a:extLst>
          </p:cNvPr>
          <p:cNvSpPr>
            <a:spLocks noGrp="1"/>
          </p:cNvSpPr>
          <p:nvPr>
            <p:ph type="body" orient="vert" sz="quarter" idx="17"/>
          </p:nvPr>
        </p:nvSpPr>
        <p:spPr>
          <a:xfrm rot="10800000">
            <a:off x="0" y="685800"/>
            <a:ext cx="609600" cy="5486399"/>
          </a:xfrm>
        </p:spPr>
        <p:txBody>
          <a:bodyPr/>
          <a:lstStyle/>
          <a:p>
            <a:r>
              <a:rPr lang="es-CO" sz="1200" dirty="0"/>
              <a:t>Otorgamiento del Título y Ceremonia del estudiante</a:t>
            </a:r>
            <a:endParaRPr lang="es-419" sz="1200" dirty="0"/>
          </a:p>
        </p:txBody>
      </p:sp>
    </p:spTree>
    <p:extLst>
      <p:ext uri="{BB962C8B-B14F-4D97-AF65-F5344CB8AC3E}">
        <p14:creationId xmlns:p14="http://schemas.microsoft.com/office/powerpoint/2010/main" val="1300540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104900" y="1450195"/>
            <a:ext cx="9698935" cy="2746902"/>
          </a:xfrm>
        </p:spPr>
        <p:txBody>
          <a:bodyPr anchor="ctr"/>
          <a:lstStyle/>
          <a:p>
            <a:pPr algn="just">
              <a:buClrTx/>
              <a:buFont typeface="Wingdings" panose="05000000000000000000" pitchFamily="2" charset="2"/>
              <a:buChar char="v"/>
            </a:pPr>
            <a:r>
              <a:rPr lang="es-ES" sz="2400" b="1" dirty="0"/>
              <a:t>Gestión de Elegibilidad para Titulación</a:t>
            </a:r>
          </a:p>
          <a:p>
            <a:pPr algn="just">
              <a:buClrTx/>
              <a:buFont typeface="Wingdings" panose="05000000000000000000" pitchFamily="2" charset="2"/>
              <a:buChar char="v"/>
            </a:pPr>
            <a:r>
              <a:rPr lang="es-ES" sz="2400" dirty="0"/>
              <a:t>Gestión de Eventos de Graduación</a:t>
            </a:r>
          </a:p>
          <a:p>
            <a:pPr algn="just">
              <a:buClrTx/>
              <a:buFont typeface="Wingdings" panose="05000000000000000000" pitchFamily="2" charset="2"/>
              <a:buChar char="v"/>
            </a:pPr>
            <a:r>
              <a:rPr lang="es-ES" sz="2400" dirty="0"/>
              <a:t>Actividades </a:t>
            </a:r>
            <a:r>
              <a:rPr lang="es-ES" sz="2400" dirty="0" err="1"/>
              <a:t>Cocurriculares</a:t>
            </a:r>
            <a:endParaRPr lang="es-ES" sz="2400" dirty="0"/>
          </a:p>
          <a:p>
            <a:pPr algn="just">
              <a:buClrTx/>
              <a:buFont typeface="Wingdings" panose="05000000000000000000" pitchFamily="2" charset="2"/>
              <a:buChar char="v"/>
            </a:pPr>
            <a:r>
              <a:rPr lang="es-ES" sz="2400" dirty="0"/>
              <a:t>Procesamiento de Otorgamiento de Título</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dirty="0">
                <a:solidFill>
                  <a:schemeClr val="accent1"/>
                </a:solidFill>
              </a:rPr>
              <a:t>Overview: </a:t>
            </a:r>
            <a:r>
              <a:rPr lang="es-CL" b="0" dirty="0">
                <a:solidFill>
                  <a:schemeClr val="accent1"/>
                </a:solidFill>
              </a:rPr>
              <a:t>Capacidad Otorgamiento del Título y Ceremonia del estudiante</a:t>
            </a:r>
          </a:p>
        </p:txBody>
      </p:sp>
      <p:sp>
        <p:nvSpPr>
          <p:cNvPr id="11" name="Vertical Text Placeholder 3">
            <a:extLst>
              <a:ext uri="{FF2B5EF4-FFF2-40B4-BE49-F238E27FC236}">
                <a16:creationId xmlns:a16="http://schemas.microsoft.com/office/drawing/2014/main" id="{DB157260-0FEB-2D58-8CF0-923F614781E0}"/>
              </a:ext>
            </a:extLst>
          </p:cNvPr>
          <p:cNvSpPr>
            <a:spLocks noGrp="1"/>
          </p:cNvSpPr>
          <p:nvPr>
            <p:ph type="body" orient="vert" sz="quarter" idx="17"/>
          </p:nvPr>
        </p:nvSpPr>
        <p:spPr>
          <a:xfrm rot="10800000">
            <a:off x="0" y="429768"/>
            <a:ext cx="609600" cy="5486399"/>
          </a:xfrm>
        </p:spPr>
        <p:txBody>
          <a:bodyPr/>
          <a:lstStyle/>
          <a:p>
            <a:r>
              <a:rPr lang="es-CO" sz="1200" dirty="0"/>
              <a:t>Otorgamiento del Título y Ceremonia del estudiante</a:t>
            </a:r>
            <a:endParaRPr lang="es-419" sz="1200" dirty="0"/>
          </a:p>
        </p:txBody>
      </p:sp>
    </p:spTree>
    <p:extLst>
      <p:ext uri="{BB962C8B-B14F-4D97-AF65-F5344CB8AC3E}">
        <p14:creationId xmlns:p14="http://schemas.microsoft.com/office/powerpoint/2010/main" val="1504878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11DA2-83AE-9A3F-788A-8CB00D83B14E}"/>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08631C02-5117-05BD-0103-5D2E416E27B4}"/>
              </a:ext>
            </a:extLst>
          </p:cNvPr>
          <p:cNvSpPr>
            <a:spLocks noGrp="1"/>
          </p:cNvSpPr>
          <p:nvPr>
            <p:ph type="body" sz="quarter" idx="18"/>
          </p:nvPr>
        </p:nvSpPr>
        <p:spPr>
          <a:xfrm>
            <a:off x="1104900" y="1916539"/>
            <a:ext cx="9698935" cy="2746902"/>
          </a:xfrm>
        </p:spPr>
        <p:txBody>
          <a:bodyPr anchor="ctr"/>
          <a:lstStyle/>
          <a:p>
            <a:pPr marL="0" indent="0" algn="just">
              <a:buClr>
                <a:srgbClr val="0CB4B4"/>
              </a:buClr>
              <a:buNone/>
            </a:pPr>
            <a:r>
              <a:rPr lang="es-CO" sz="2400" dirty="0"/>
              <a:t>Conjunto de acciones que realiza la institución para verificar y garantizar que los requisitos académicos, financieros y administrativos de los estudiantes se encuentren en orden. Esto permite determinar qué estudiantes cumplen las condiciones para ser asignados a distintos procesos institucionales, tales como generación Egresados, Graduados o </a:t>
            </a:r>
            <a:r>
              <a:rPr lang="es-CO" sz="2400" dirty="0" err="1"/>
              <a:t>Títulados</a:t>
            </a:r>
            <a:r>
              <a:rPr lang="es-CO" sz="2400" dirty="0"/>
              <a:t>, entre otros que la institución defina.</a:t>
            </a:r>
            <a:endParaRPr lang="es-ES" sz="2400" dirty="0"/>
          </a:p>
        </p:txBody>
      </p:sp>
      <p:sp>
        <p:nvSpPr>
          <p:cNvPr id="4" name="Título 3">
            <a:extLst>
              <a:ext uri="{FF2B5EF4-FFF2-40B4-BE49-F238E27FC236}">
                <a16:creationId xmlns:a16="http://schemas.microsoft.com/office/drawing/2014/main" id="{4F5AD896-91FA-AF0D-76FA-36DEC47BDE3A}"/>
              </a:ext>
            </a:extLst>
          </p:cNvPr>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CL" b="0" dirty="0">
                <a:solidFill>
                  <a:schemeClr val="accent1"/>
                </a:solidFill>
              </a:rPr>
              <a:t>Capacidad Operativa </a:t>
            </a:r>
            <a:r>
              <a:rPr lang="es-CO" b="0" dirty="0">
                <a:solidFill>
                  <a:schemeClr val="accent1"/>
                </a:solidFill>
              </a:rPr>
              <a:t>Gestión de Elegibilidad para Titulación</a:t>
            </a:r>
            <a:br>
              <a:rPr lang="es-CO" b="0" dirty="0">
                <a:solidFill>
                  <a:schemeClr val="accent1"/>
                </a:solidFill>
              </a:rPr>
            </a:br>
            <a:endParaRPr lang="es-CL" b="0" dirty="0">
              <a:solidFill>
                <a:schemeClr val="accent1"/>
              </a:solidFill>
            </a:endParaRPr>
          </a:p>
        </p:txBody>
      </p:sp>
      <p:sp>
        <p:nvSpPr>
          <p:cNvPr id="6" name="Vertical Text Placeholder 3">
            <a:extLst>
              <a:ext uri="{FF2B5EF4-FFF2-40B4-BE49-F238E27FC236}">
                <a16:creationId xmlns:a16="http://schemas.microsoft.com/office/drawing/2014/main" id="{57D770C6-54DC-1C76-479B-4E83C4D48578}"/>
              </a:ext>
            </a:extLst>
          </p:cNvPr>
          <p:cNvSpPr>
            <a:spLocks noGrp="1"/>
          </p:cNvSpPr>
          <p:nvPr>
            <p:ph type="body" orient="vert" sz="quarter" idx="17"/>
          </p:nvPr>
        </p:nvSpPr>
        <p:spPr>
          <a:xfrm rot="10800000">
            <a:off x="0" y="457200"/>
            <a:ext cx="609600" cy="5486399"/>
          </a:xfrm>
        </p:spPr>
        <p:txBody>
          <a:bodyPr/>
          <a:lstStyle/>
          <a:p>
            <a:r>
              <a:rPr lang="es-CO" sz="1200" dirty="0"/>
              <a:t>Otorgamiento del Título y Ceremonia del estudiante</a:t>
            </a:r>
            <a:endParaRPr lang="es-419" sz="1200" dirty="0"/>
          </a:p>
        </p:txBody>
      </p:sp>
    </p:spTree>
    <p:extLst>
      <p:ext uri="{BB962C8B-B14F-4D97-AF65-F5344CB8AC3E}">
        <p14:creationId xmlns:p14="http://schemas.microsoft.com/office/powerpoint/2010/main" val="1678393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descr="Gráfico de cajas y bigotes&#10;&#10;Descripción generada automáticamente con confianza media">
            <a:extLst>
              <a:ext uri="{FF2B5EF4-FFF2-40B4-BE49-F238E27FC236}">
                <a16:creationId xmlns:a16="http://schemas.microsoft.com/office/drawing/2014/main" id="{D7C94707-9901-26C5-BFF7-C231E82B592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231" r="4359"/>
          <a:stretch/>
        </p:blipFill>
        <p:spPr bwMode="auto">
          <a:xfrm>
            <a:off x="1375410" y="2664396"/>
            <a:ext cx="9974574" cy="1669860"/>
          </a:xfrm>
          <a:prstGeom prst="rect">
            <a:avLst/>
          </a:prstGeom>
          <a:noFill/>
          <a:ln>
            <a:noFill/>
          </a:ln>
          <a:extLst>
            <a:ext uri="{53640926-AAD7-44D8-BBD7-CCE9431645EC}">
              <a14:shadowObscured xmlns:a14="http://schemas.microsoft.com/office/drawing/2010/main"/>
            </a:ext>
          </a:extLst>
        </p:spPr>
      </p:pic>
      <p:sp>
        <p:nvSpPr>
          <p:cNvPr id="9" name="Título 3">
            <a:extLst>
              <a:ext uri="{FF2B5EF4-FFF2-40B4-BE49-F238E27FC236}">
                <a16:creationId xmlns:a16="http://schemas.microsoft.com/office/drawing/2014/main" id="{0A0E0E34-F93E-1FF7-3FE4-774D5008F59D}"/>
              </a:ext>
            </a:extLst>
          </p:cNvPr>
          <p:cNvSpPr>
            <a:spLocks noGrp="1"/>
          </p:cNvSpPr>
          <p:nvPr>
            <p:ph type="title"/>
          </p:nvPr>
        </p:nvSpPr>
        <p:spPr>
          <a:xfrm>
            <a:off x="1123948" y="450612"/>
            <a:ext cx="10477497" cy="898555"/>
          </a:xfrm>
        </p:spPr>
        <p:txBody>
          <a:bodyPr/>
          <a:lstStyle/>
          <a:p>
            <a:r>
              <a:rPr lang="es-ES_tradnl" dirty="0" err="1">
                <a:solidFill>
                  <a:schemeClr val="accent1"/>
                </a:solidFill>
              </a:rPr>
              <a:t>Overview</a:t>
            </a:r>
            <a:r>
              <a:rPr lang="es-ES_tradnl" dirty="0">
                <a:solidFill>
                  <a:schemeClr val="accent1"/>
                </a:solidFill>
              </a:rPr>
              <a:t>: </a:t>
            </a:r>
            <a:r>
              <a:rPr lang="es-CL" b="0" dirty="0">
                <a:solidFill>
                  <a:schemeClr val="accent1"/>
                </a:solidFill>
              </a:rPr>
              <a:t>Capacidad Operativa </a:t>
            </a:r>
            <a:r>
              <a:rPr lang="es-CO" b="0" dirty="0">
                <a:solidFill>
                  <a:schemeClr val="accent1"/>
                </a:solidFill>
              </a:rPr>
              <a:t>Gestión de Elegibilidad para Titulación</a:t>
            </a:r>
            <a:br>
              <a:rPr lang="es-CO" b="0" dirty="0">
                <a:solidFill>
                  <a:schemeClr val="accent1"/>
                </a:solidFill>
              </a:rPr>
            </a:br>
            <a:endParaRPr lang="es-CL" b="0" dirty="0">
              <a:solidFill>
                <a:schemeClr val="accent1"/>
              </a:solidFill>
            </a:endParaRPr>
          </a:p>
        </p:txBody>
      </p:sp>
      <p:sp>
        <p:nvSpPr>
          <p:cNvPr id="12" name="Vertical Text Placeholder 3">
            <a:extLst>
              <a:ext uri="{FF2B5EF4-FFF2-40B4-BE49-F238E27FC236}">
                <a16:creationId xmlns:a16="http://schemas.microsoft.com/office/drawing/2014/main" id="{257E195E-D6B5-B928-EAEA-D38084F14F17}"/>
              </a:ext>
            </a:extLst>
          </p:cNvPr>
          <p:cNvSpPr>
            <a:spLocks noGrp="1"/>
          </p:cNvSpPr>
          <p:nvPr>
            <p:ph type="body" orient="vert" sz="quarter" idx="17"/>
          </p:nvPr>
        </p:nvSpPr>
        <p:spPr>
          <a:xfrm rot="10800000">
            <a:off x="0" y="450612"/>
            <a:ext cx="609600" cy="5486399"/>
          </a:xfrm>
        </p:spPr>
        <p:txBody>
          <a:bodyPr/>
          <a:lstStyle/>
          <a:p>
            <a:r>
              <a:rPr lang="es-CO" sz="1200" dirty="0"/>
              <a:t>Otorgamiento del Título y Ceremonia del estudiante</a:t>
            </a:r>
            <a:endParaRPr lang="es-419" sz="1200" dirty="0"/>
          </a:p>
        </p:txBody>
      </p:sp>
    </p:spTree>
    <p:extLst>
      <p:ext uri="{BB962C8B-B14F-4D97-AF65-F5344CB8AC3E}">
        <p14:creationId xmlns:p14="http://schemas.microsoft.com/office/powerpoint/2010/main" val="77197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CDA0D89D-33DC-4151-D805-A43C6E21B822}"/>
              </a:ext>
            </a:extLst>
          </p:cNvPr>
          <p:cNvSpPr txBox="1"/>
          <p:nvPr/>
        </p:nvSpPr>
        <p:spPr>
          <a:xfrm>
            <a:off x="8921175" y="2785533"/>
            <a:ext cx="2111475" cy="584775"/>
          </a:xfrm>
          <a:prstGeom prst="rect">
            <a:avLst/>
          </a:prstGeom>
          <a:noFill/>
        </p:spPr>
        <p:txBody>
          <a:bodyPr wrap="none" rtlCol="0">
            <a:spAutoFit/>
          </a:bodyPr>
          <a:lstStyle/>
          <a:p>
            <a:r>
              <a:rPr lang="es-ES_tradnl" sz="3200" b="1" dirty="0"/>
              <a:t>Todo LAC</a:t>
            </a:r>
          </a:p>
        </p:txBody>
      </p:sp>
      <p:pic>
        <p:nvPicPr>
          <p:cNvPr id="2" name="Picture 9" descr="A purple map of south america&#10;&#10;AI-generated content may be incorrect.">
            <a:extLst>
              <a:ext uri="{FF2B5EF4-FFF2-40B4-BE49-F238E27FC236}">
                <a16:creationId xmlns:a16="http://schemas.microsoft.com/office/drawing/2014/main" id="{238B5655-81CE-5FC5-9E73-F6B8AF61D963}"/>
              </a:ext>
            </a:extLst>
          </p:cNvPr>
          <p:cNvPicPr>
            <a:picLocks noChangeAspect="1"/>
          </p:cNvPicPr>
          <p:nvPr/>
        </p:nvPicPr>
        <p:blipFill>
          <a:blip r:embed="rId2"/>
          <a:stretch>
            <a:fillRect/>
          </a:stretch>
        </p:blipFill>
        <p:spPr>
          <a:xfrm>
            <a:off x="2628959" y="1312731"/>
            <a:ext cx="5219641" cy="5219641"/>
          </a:xfrm>
          <a:prstGeom prst="rect">
            <a:avLst/>
          </a:prstGeom>
        </p:spPr>
      </p:pic>
      <p:sp>
        <p:nvSpPr>
          <p:cNvPr id="4" name="Título 3">
            <a:extLst>
              <a:ext uri="{FF2B5EF4-FFF2-40B4-BE49-F238E27FC236}">
                <a16:creationId xmlns:a16="http://schemas.microsoft.com/office/drawing/2014/main" id="{86FFA109-F238-8D01-1B09-6931DE8EE72F}"/>
              </a:ext>
            </a:extLst>
          </p:cNvPr>
          <p:cNvSpPr>
            <a:spLocks noGrp="1"/>
          </p:cNvSpPr>
          <p:nvPr>
            <p:ph type="title"/>
          </p:nvPr>
        </p:nvSpPr>
        <p:spPr>
          <a:xfrm>
            <a:off x="1059180" y="236522"/>
            <a:ext cx="10477497" cy="898555"/>
          </a:xfrm>
        </p:spPr>
        <p:txBody>
          <a:bodyPr/>
          <a:lstStyle/>
          <a:p>
            <a:r>
              <a:rPr lang="es-ES_tradnl" dirty="0" err="1">
                <a:solidFill>
                  <a:schemeClr val="accent1"/>
                </a:solidFill>
              </a:rPr>
              <a:t>Overview</a:t>
            </a:r>
            <a:r>
              <a:rPr lang="es-ES_tradnl" dirty="0">
                <a:solidFill>
                  <a:schemeClr val="accent1"/>
                </a:solidFill>
              </a:rPr>
              <a:t>: </a:t>
            </a:r>
            <a:r>
              <a:rPr lang="es-CL" b="0" dirty="0">
                <a:solidFill>
                  <a:schemeClr val="accent1"/>
                </a:solidFill>
              </a:rPr>
              <a:t>Capacidad Operativa </a:t>
            </a:r>
            <a:r>
              <a:rPr lang="es-CO" b="0" dirty="0">
                <a:solidFill>
                  <a:schemeClr val="accent1"/>
                </a:solidFill>
              </a:rPr>
              <a:t>Gestión de Elegibilidad para Titulación</a:t>
            </a:r>
            <a:br>
              <a:rPr lang="es-CO" b="0" dirty="0">
                <a:solidFill>
                  <a:schemeClr val="accent1"/>
                </a:solidFill>
              </a:rPr>
            </a:br>
            <a:endParaRPr lang="es-CL" b="0" dirty="0">
              <a:solidFill>
                <a:schemeClr val="accent1"/>
              </a:solidFill>
            </a:endParaRPr>
          </a:p>
        </p:txBody>
      </p:sp>
      <p:sp>
        <p:nvSpPr>
          <p:cNvPr id="8" name="Vertical Text Placeholder 3">
            <a:extLst>
              <a:ext uri="{FF2B5EF4-FFF2-40B4-BE49-F238E27FC236}">
                <a16:creationId xmlns:a16="http://schemas.microsoft.com/office/drawing/2014/main" id="{11A38AE9-737A-335F-7DFD-ADB2E57CC426}"/>
              </a:ext>
            </a:extLst>
          </p:cNvPr>
          <p:cNvSpPr>
            <a:spLocks noGrp="1"/>
          </p:cNvSpPr>
          <p:nvPr>
            <p:ph type="body" orient="vert" sz="quarter" idx="17"/>
          </p:nvPr>
        </p:nvSpPr>
        <p:spPr>
          <a:xfrm rot="10800000">
            <a:off x="45723" y="429768"/>
            <a:ext cx="609600" cy="5486399"/>
          </a:xfrm>
        </p:spPr>
        <p:txBody>
          <a:bodyPr/>
          <a:lstStyle/>
          <a:p>
            <a:r>
              <a:rPr lang="es-CO" sz="1200" dirty="0"/>
              <a:t>Otorgamiento del Título y Ceremonia del estudiante</a:t>
            </a:r>
            <a:endParaRPr lang="es-419" sz="1200" dirty="0"/>
          </a:p>
        </p:txBody>
      </p:sp>
    </p:spTree>
    <p:extLst>
      <p:ext uri="{BB962C8B-B14F-4D97-AF65-F5344CB8AC3E}">
        <p14:creationId xmlns:p14="http://schemas.microsoft.com/office/powerpoint/2010/main" val="1562550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2AECD-1F4F-1871-4594-B3372878468B}"/>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5F6EE2AA-EC21-4940-6529-2AFF69E7C65D}"/>
              </a:ext>
            </a:extLst>
          </p:cNvPr>
          <p:cNvSpPr>
            <a:spLocks noGrp="1"/>
          </p:cNvSpPr>
          <p:nvPr>
            <p:ph type="body" sz="quarter" idx="18"/>
          </p:nvPr>
        </p:nvSpPr>
        <p:spPr>
          <a:xfrm>
            <a:off x="1104900" y="1916539"/>
            <a:ext cx="9698935" cy="2746902"/>
          </a:xfrm>
        </p:spPr>
        <p:txBody>
          <a:bodyPr anchor="ctr"/>
          <a:lstStyle/>
          <a:p>
            <a:pPr marL="0" indent="0" algn="just">
              <a:buClr>
                <a:srgbClr val="0CB4B4"/>
              </a:buClr>
              <a:buNone/>
            </a:pPr>
            <a:r>
              <a:rPr lang="es-CO" sz="2400" dirty="0"/>
              <a:t>Se establecen reglas de negocio para disponer de una herramienta en el autoservicio que permita a los estudiantes solicitar su graduación y generar los cargos de derecho a ceremonia.</a:t>
            </a:r>
            <a:endParaRPr lang="es-ES" sz="2400" dirty="0"/>
          </a:p>
        </p:txBody>
      </p:sp>
      <p:sp>
        <p:nvSpPr>
          <p:cNvPr id="4" name="Título 3">
            <a:extLst>
              <a:ext uri="{FF2B5EF4-FFF2-40B4-BE49-F238E27FC236}">
                <a16:creationId xmlns:a16="http://schemas.microsoft.com/office/drawing/2014/main" id="{938BFA94-7EAC-D153-12B1-E9361E441D31}"/>
              </a:ext>
            </a:extLst>
          </p:cNvPr>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CO" b="0" dirty="0">
                <a:solidFill>
                  <a:schemeClr val="accent1"/>
                </a:solidFill>
              </a:rPr>
              <a:t>Procedimiento Gestionar Solicitudes de Graduación</a:t>
            </a:r>
            <a:endParaRPr lang="es-CL" b="0" dirty="0">
              <a:solidFill>
                <a:schemeClr val="accent1"/>
              </a:solidFill>
            </a:endParaRPr>
          </a:p>
        </p:txBody>
      </p:sp>
      <p:sp>
        <p:nvSpPr>
          <p:cNvPr id="6" name="Vertical Text Placeholder 3">
            <a:extLst>
              <a:ext uri="{FF2B5EF4-FFF2-40B4-BE49-F238E27FC236}">
                <a16:creationId xmlns:a16="http://schemas.microsoft.com/office/drawing/2014/main" id="{1EF14187-07E4-8F58-62BB-3B98DE260280}"/>
              </a:ext>
            </a:extLst>
          </p:cNvPr>
          <p:cNvSpPr>
            <a:spLocks noGrp="1"/>
          </p:cNvSpPr>
          <p:nvPr>
            <p:ph type="body" orient="vert" sz="quarter" idx="17"/>
          </p:nvPr>
        </p:nvSpPr>
        <p:spPr>
          <a:xfrm rot="10800000">
            <a:off x="0" y="457200"/>
            <a:ext cx="609600" cy="5486399"/>
          </a:xfrm>
        </p:spPr>
        <p:txBody>
          <a:bodyPr/>
          <a:lstStyle/>
          <a:p>
            <a:r>
              <a:rPr lang="es-CO" sz="1200" dirty="0"/>
              <a:t>Otorgamiento del Título y Ceremonia del estudiante</a:t>
            </a:r>
            <a:endParaRPr lang="es-419" sz="1200" dirty="0"/>
          </a:p>
        </p:txBody>
      </p:sp>
    </p:spTree>
    <p:extLst>
      <p:ext uri="{BB962C8B-B14F-4D97-AF65-F5344CB8AC3E}">
        <p14:creationId xmlns:p14="http://schemas.microsoft.com/office/powerpoint/2010/main" val="3567598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ES" sz="1200" dirty="0"/>
              <a:t>Gestionar el otorgamiento y registro de grado</a:t>
            </a:r>
            <a:endParaRPr lang="en-US"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68580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err="1">
                <a:solidFill>
                  <a:schemeClr val="accent1"/>
                </a:solidFill>
              </a:rPr>
              <a:t>Overview</a:t>
            </a:r>
            <a:r>
              <a:rPr lang="es-ES_tradnl" dirty="0">
                <a:solidFill>
                  <a:schemeClr val="accent1"/>
                </a:solidFill>
              </a:rPr>
              <a:t>: </a:t>
            </a:r>
            <a:r>
              <a:rPr lang="es-CO" b="0" dirty="0">
                <a:solidFill>
                  <a:schemeClr val="accent1"/>
                </a:solidFill>
              </a:rPr>
              <a:t>Procedimiento Gestionar Solicitudes de Graduación</a:t>
            </a:r>
            <a:endParaRPr lang="es-CL" b="0" dirty="0">
              <a:solidFill>
                <a:schemeClr val="accent1"/>
              </a:solidFill>
            </a:endParaRPr>
          </a:p>
        </p:txBody>
      </p:sp>
      <p:pic>
        <p:nvPicPr>
          <p:cNvPr id="2" name="Picture 22" descr="A diagram of a graduation process&#10;&#10;AI-generated content may be incorrect.">
            <a:extLst>
              <a:ext uri="{FF2B5EF4-FFF2-40B4-BE49-F238E27FC236}">
                <a16:creationId xmlns:a16="http://schemas.microsoft.com/office/drawing/2014/main" id="{63862C6F-FF75-F94F-CF59-3EA712B61E5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6455" t="3090" r="1262" b="3030"/>
          <a:stretch>
            <a:fillRect/>
          </a:stretch>
        </p:blipFill>
        <p:spPr bwMode="auto">
          <a:xfrm>
            <a:off x="1728216" y="1702648"/>
            <a:ext cx="9853562" cy="389458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75546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Ajustes de alumno</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err="1"/>
              <a:t>Definiciones</a:t>
            </a:r>
            <a:endParaRPr lang="en-US" dirty="0"/>
          </a:p>
        </p:txBody>
      </p:sp>
    </p:spTree>
    <p:extLst>
      <p:ext uri="{BB962C8B-B14F-4D97-AF65-F5344CB8AC3E}">
        <p14:creationId xmlns:p14="http://schemas.microsoft.com/office/powerpoint/2010/main" val="3726781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361089-3DF3-31A8-D663-7F51DCCB2726}"/>
              </a:ext>
            </a:extLst>
          </p:cNvPr>
          <p:cNvSpPr/>
          <p:nvPr/>
        </p:nvSpPr>
        <p:spPr>
          <a:xfrm>
            <a:off x="287685" y="1906260"/>
            <a:ext cx="2162646" cy="3847388"/>
          </a:xfrm>
          <a:prstGeom prst="rect">
            <a:avLst/>
          </a:prstGeom>
          <a:solidFill>
            <a:schemeClr val="bg1"/>
          </a:solidFill>
          <a:ln>
            <a:noFill/>
          </a:ln>
          <a:effectLst>
            <a:outerShdw blurRad="254000" dist="635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5562B8F-A496-BE2A-9F89-6458595D3D2D}"/>
              </a:ext>
            </a:extLst>
          </p:cNvPr>
          <p:cNvSpPr/>
          <p:nvPr/>
        </p:nvSpPr>
        <p:spPr>
          <a:xfrm>
            <a:off x="287685" y="5665582"/>
            <a:ext cx="2162646" cy="8806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141E7A10-249D-9DF4-56B6-F057C5C6FB21}"/>
              </a:ext>
            </a:extLst>
          </p:cNvPr>
          <p:cNvSpPr/>
          <p:nvPr/>
        </p:nvSpPr>
        <p:spPr>
          <a:xfrm>
            <a:off x="287685" y="1906256"/>
            <a:ext cx="2162646" cy="1107108"/>
          </a:xfrm>
          <a:custGeom>
            <a:avLst/>
            <a:gdLst>
              <a:gd name="connsiteX0" fmla="*/ 0 w 2162646"/>
              <a:gd name="connsiteY0" fmla="*/ 0 h 890587"/>
              <a:gd name="connsiteX1" fmla="*/ 0 w 2162646"/>
              <a:gd name="connsiteY1" fmla="*/ 713422 h 890587"/>
              <a:gd name="connsiteX2" fmla="*/ 857454 w 2162646"/>
              <a:gd name="connsiteY2" fmla="*/ 713422 h 890587"/>
              <a:gd name="connsiteX3" fmla="*/ 1081799 w 2162646"/>
              <a:gd name="connsiteY3" fmla="*/ 890588 h 890587"/>
              <a:gd name="connsiteX4" fmla="*/ 1306144 w 2162646"/>
              <a:gd name="connsiteY4" fmla="*/ 713422 h 890587"/>
              <a:gd name="connsiteX5" fmla="*/ 2162647 w 2162646"/>
              <a:gd name="connsiteY5" fmla="*/ 713422 h 890587"/>
              <a:gd name="connsiteX6" fmla="*/ 2162647 w 2162646"/>
              <a:gd name="connsiteY6" fmla="*/ 0 h 890587"/>
              <a:gd name="connsiteX7" fmla="*/ 0 w 2162646"/>
              <a:gd name="connsiteY7" fmla="*/ 0 h 8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2646" h="890587">
                <a:moveTo>
                  <a:pt x="0" y="0"/>
                </a:moveTo>
                <a:lnTo>
                  <a:pt x="0" y="713422"/>
                </a:lnTo>
                <a:lnTo>
                  <a:pt x="857454" y="713422"/>
                </a:lnTo>
                <a:lnTo>
                  <a:pt x="1081799" y="890588"/>
                </a:lnTo>
                <a:lnTo>
                  <a:pt x="1306144" y="713422"/>
                </a:lnTo>
                <a:lnTo>
                  <a:pt x="2162647" y="713422"/>
                </a:lnTo>
                <a:lnTo>
                  <a:pt x="2162647" y="0"/>
                </a:lnTo>
                <a:lnTo>
                  <a:pt x="0" y="0"/>
                </a:lnTo>
                <a:close/>
              </a:path>
            </a:pathLst>
          </a:custGeom>
          <a:solidFill>
            <a:schemeClr val="accent1"/>
          </a:solidFill>
          <a:ln w="9506" cap="flat">
            <a:noFill/>
            <a:prstDash val="solid"/>
            <a:miter/>
          </a:ln>
        </p:spPr>
        <p:txBody>
          <a:bodyPr rtlCol="0" anchor="ctr"/>
          <a:lstStyle/>
          <a:p>
            <a:endParaRPr lang="en-US"/>
          </a:p>
        </p:txBody>
      </p:sp>
      <p:sp>
        <p:nvSpPr>
          <p:cNvPr id="5" name="TextBox 4">
            <a:extLst>
              <a:ext uri="{FF2B5EF4-FFF2-40B4-BE49-F238E27FC236}">
                <a16:creationId xmlns:a16="http://schemas.microsoft.com/office/drawing/2014/main" id="{E35F3A27-EA45-D8CF-BB45-38C3ABC0830C}"/>
              </a:ext>
            </a:extLst>
          </p:cNvPr>
          <p:cNvSpPr txBox="1"/>
          <p:nvPr/>
        </p:nvSpPr>
        <p:spPr>
          <a:xfrm>
            <a:off x="385261" y="2103238"/>
            <a:ext cx="1967494" cy="246221"/>
          </a:xfrm>
          <a:prstGeom prst="rect">
            <a:avLst/>
          </a:prstGeom>
          <a:noFill/>
        </p:spPr>
        <p:txBody>
          <a:bodyPr wrap="square" lIns="0" tIns="0" rIns="0" bIns="0" rtlCol="0">
            <a:spAutoFit/>
          </a:bodyPr>
          <a:lstStyle/>
          <a:p>
            <a:pPr algn="ctr"/>
            <a:r>
              <a:rPr lang="en-US" sz="1600" b="1" dirty="0" err="1">
                <a:solidFill>
                  <a:schemeClr val="bg1"/>
                </a:solidFill>
              </a:rPr>
              <a:t>Egresado</a:t>
            </a:r>
            <a:endParaRPr lang="en-US" sz="1600" b="1" dirty="0">
              <a:solidFill>
                <a:schemeClr val="bg1"/>
              </a:solidFill>
              <a:effectLst/>
              <a:latin typeface="Helvetica Neue" panose="02000503000000020004" pitchFamily="2" charset="0"/>
            </a:endParaRPr>
          </a:p>
        </p:txBody>
      </p:sp>
      <p:sp>
        <p:nvSpPr>
          <p:cNvPr id="6" name="TextBox 5">
            <a:extLst>
              <a:ext uri="{FF2B5EF4-FFF2-40B4-BE49-F238E27FC236}">
                <a16:creationId xmlns:a16="http://schemas.microsoft.com/office/drawing/2014/main" id="{4BE5B4F8-7FF1-9A5F-094B-641477821D32}"/>
              </a:ext>
            </a:extLst>
          </p:cNvPr>
          <p:cNvSpPr txBox="1"/>
          <p:nvPr/>
        </p:nvSpPr>
        <p:spPr>
          <a:xfrm>
            <a:off x="385261" y="3210343"/>
            <a:ext cx="1967494" cy="1723549"/>
          </a:xfrm>
          <a:prstGeom prst="rect">
            <a:avLst/>
          </a:prstGeom>
          <a:noFill/>
        </p:spPr>
        <p:txBody>
          <a:bodyPr wrap="square" lIns="0" tIns="0" rIns="0" bIns="0" rtlCol="0">
            <a:spAutoFit/>
          </a:bodyPr>
          <a:lstStyle/>
          <a:p>
            <a:pPr>
              <a:spcAft>
                <a:spcPts val="600"/>
              </a:spcAft>
            </a:pPr>
            <a:r>
              <a:rPr lang="es-CO" sz="1400" dirty="0"/>
              <a:t>Estudiante que ha cumplido todos los requerimientos académicos de la malla curricular, incluido los requisitos de idiomas, computación y emprendimiento</a:t>
            </a:r>
            <a:endParaRPr lang="en-US" sz="1400" dirty="0">
              <a:effectLst/>
              <a:latin typeface="Helvetica Neue" panose="02000503000000020004" pitchFamily="2" charset="0"/>
            </a:endParaRPr>
          </a:p>
        </p:txBody>
      </p:sp>
      <p:sp>
        <p:nvSpPr>
          <p:cNvPr id="7" name="Rectangle 6">
            <a:extLst>
              <a:ext uri="{FF2B5EF4-FFF2-40B4-BE49-F238E27FC236}">
                <a16:creationId xmlns:a16="http://schemas.microsoft.com/office/drawing/2014/main" id="{D9D49CDD-C030-AACD-96F3-3AAC09653BD7}"/>
              </a:ext>
            </a:extLst>
          </p:cNvPr>
          <p:cNvSpPr/>
          <p:nvPr/>
        </p:nvSpPr>
        <p:spPr>
          <a:xfrm>
            <a:off x="2651181" y="1906260"/>
            <a:ext cx="2162646" cy="3847388"/>
          </a:xfrm>
          <a:prstGeom prst="rect">
            <a:avLst/>
          </a:prstGeom>
          <a:solidFill>
            <a:schemeClr val="bg1"/>
          </a:solidFill>
          <a:ln>
            <a:noFill/>
          </a:ln>
          <a:effectLst>
            <a:outerShdw blurRad="254000" dist="635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7207DB51-7FAA-A3E4-24DC-38AD54E30D66}"/>
              </a:ext>
            </a:extLst>
          </p:cNvPr>
          <p:cNvSpPr/>
          <p:nvPr/>
        </p:nvSpPr>
        <p:spPr>
          <a:xfrm>
            <a:off x="2651181" y="5665582"/>
            <a:ext cx="2162646" cy="880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6F973750-F8B8-CABA-4ACF-FCDD9C083A71}"/>
              </a:ext>
            </a:extLst>
          </p:cNvPr>
          <p:cNvSpPr/>
          <p:nvPr/>
        </p:nvSpPr>
        <p:spPr>
          <a:xfrm>
            <a:off x="2651181" y="1906256"/>
            <a:ext cx="2162646" cy="1107108"/>
          </a:xfrm>
          <a:custGeom>
            <a:avLst/>
            <a:gdLst>
              <a:gd name="connsiteX0" fmla="*/ 0 w 2162646"/>
              <a:gd name="connsiteY0" fmla="*/ 0 h 890587"/>
              <a:gd name="connsiteX1" fmla="*/ 0 w 2162646"/>
              <a:gd name="connsiteY1" fmla="*/ 713422 h 890587"/>
              <a:gd name="connsiteX2" fmla="*/ 857454 w 2162646"/>
              <a:gd name="connsiteY2" fmla="*/ 713422 h 890587"/>
              <a:gd name="connsiteX3" fmla="*/ 1081799 w 2162646"/>
              <a:gd name="connsiteY3" fmla="*/ 890588 h 890587"/>
              <a:gd name="connsiteX4" fmla="*/ 1306144 w 2162646"/>
              <a:gd name="connsiteY4" fmla="*/ 713422 h 890587"/>
              <a:gd name="connsiteX5" fmla="*/ 2162647 w 2162646"/>
              <a:gd name="connsiteY5" fmla="*/ 713422 h 890587"/>
              <a:gd name="connsiteX6" fmla="*/ 2162647 w 2162646"/>
              <a:gd name="connsiteY6" fmla="*/ 0 h 890587"/>
              <a:gd name="connsiteX7" fmla="*/ 0 w 2162646"/>
              <a:gd name="connsiteY7" fmla="*/ 0 h 8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2646" h="890587">
                <a:moveTo>
                  <a:pt x="0" y="0"/>
                </a:moveTo>
                <a:lnTo>
                  <a:pt x="0" y="713422"/>
                </a:lnTo>
                <a:lnTo>
                  <a:pt x="857454" y="713422"/>
                </a:lnTo>
                <a:lnTo>
                  <a:pt x="1081799" y="890588"/>
                </a:lnTo>
                <a:lnTo>
                  <a:pt x="1306144" y="713422"/>
                </a:lnTo>
                <a:lnTo>
                  <a:pt x="2162647" y="713422"/>
                </a:lnTo>
                <a:lnTo>
                  <a:pt x="2162647" y="0"/>
                </a:lnTo>
                <a:lnTo>
                  <a:pt x="0" y="0"/>
                </a:lnTo>
                <a:close/>
              </a:path>
            </a:pathLst>
          </a:custGeom>
          <a:solidFill>
            <a:schemeClr val="accent2"/>
          </a:solidFill>
          <a:ln w="9506" cap="flat">
            <a:noFill/>
            <a:prstDash val="solid"/>
            <a:miter/>
          </a:ln>
        </p:spPr>
        <p:txBody>
          <a:bodyPr rtlCol="0" anchor="ctr"/>
          <a:lstStyle/>
          <a:p>
            <a:endParaRPr lang="en-US"/>
          </a:p>
        </p:txBody>
      </p:sp>
      <p:sp>
        <p:nvSpPr>
          <p:cNvPr id="10" name="TextBox 9">
            <a:extLst>
              <a:ext uri="{FF2B5EF4-FFF2-40B4-BE49-F238E27FC236}">
                <a16:creationId xmlns:a16="http://schemas.microsoft.com/office/drawing/2014/main" id="{E5460B87-7F62-116A-6783-6C4C523367F3}"/>
              </a:ext>
            </a:extLst>
          </p:cNvPr>
          <p:cNvSpPr txBox="1"/>
          <p:nvPr/>
        </p:nvSpPr>
        <p:spPr>
          <a:xfrm>
            <a:off x="2748757" y="2103238"/>
            <a:ext cx="1967494" cy="246221"/>
          </a:xfrm>
          <a:prstGeom prst="rect">
            <a:avLst/>
          </a:prstGeom>
          <a:noFill/>
        </p:spPr>
        <p:txBody>
          <a:bodyPr wrap="square" lIns="0" tIns="0" rIns="0" bIns="0" rtlCol="0">
            <a:spAutoFit/>
          </a:bodyPr>
          <a:lstStyle/>
          <a:p>
            <a:pPr algn="ctr"/>
            <a:r>
              <a:rPr lang="en-US" sz="1600" b="1" dirty="0" err="1"/>
              <a:t>Titulado</a:t>
            </a:r>
            <a:endParaRPr lang="en-US" sz="1600" b="1" dirty="0">
              <a:effectLst/>
              <a:latin typeface="Helvetica Neue" panose="02000503000000020004" pitchFamily="2" charset="0"/>
            </a:endParaRPr>
          </a:p>
        </p:txBody>
      </p:sp>
      <p:sp>
        <p:nvSpPr>
          <p:cNvPr id="11" name="TextBox 10">
            <a:extLst>
              <a:ext uri="{FF2B5EF4-FFF2-40B4-BE49-F238E27FC236}">
                <a16:creationId xmlns:a16="http://schemas.microsoft.com/office/drawing/2014/main" id="{B99F2E9D-8F65-39F4-CAA5-39EFE3E5C8FC}"/>
              </a:ext>
            </a:extLst>
          </p:cNvPr>
          <p:cNvSpPr txBox="1"/>
          <p:nvPr/>
        </p:nvSpPr>
        <p:spPr>
          <a:xfrm>
            <a:off x="2748757" y="3210343"/>
            <a:ext cx="1967494" cy="1292662"/>
          </a:xfrm>
          <a:prstGeom prst="rect">
            <a:avLst/>
          </a:prstGeom>
          <a:noFill/>
        </p:spPr>
        <p:txBody>
          <a:bodyPr wrap="square" lIns="0" tIns="0" rIns="0" bIns="0" rtlCol="0">
            <a:spAutoFit/>
          </a:bodyPr>
          <a:lstStyle/>
          <a:p>
            <a:pPr>
              <a:spcAft>
                <a:spcPts val="600"/>
              </a:spcAft>
            </a:pPr>
            <a:r>
              <a:rPr lang="es-CO" sz="1400" dirty="0"/>
              <a:t>Estudiante con Título profesional, aplica para los estudiantes de pregrado con el Grado de Bachiller Académico y tener la tesis aprobada</a:t>
            </a:r>
            <a:endParaRPr lang="en-US" sz="1400" dirty="0">
              <a:effectLst/>
              <a:latin typeface="Helvetica Neue" panose="02000503000000020004" pitchFamily="2" charset="0"/>
            </a:endParaRPr>
          </a:p>
        </p:txBody>
      </p:sp>
      <p:sp>
        <p:nvSpPr>
          <p:cNvPr id="12" name="Rectangle 11">
            <a:extLst>
              <a:ext uri="{FF2B5EF4-FFF2-40B4-BE49-F238E27FC236}">
                <a16:creationId xmlns:a16="http://schemas.microsoft.com/office/drawing/2014/main" id="{40EEB45F-CEA7-43A4-3D6B-07929F048B29}"/>
              </a:ext>
            </a:extLst>
          </p:cNvPr>
          <p:cNvSpPr/>
          <p:nvPr/>
        </p:nvSpPr>
        <p:spPr>
          <a:xfrm>
            <a:off x="5014677" y="1906260"/>
            <a:ext cx="2162646" cy="3847388"/>
          </a:xfrm>
          <a:prstGeom prst="rect">
            <a:avLst/>
          </a:prstGeom>
          <a:solidFill>
            <a:schemeClr val="bg1"/>
          </a:solidFill>
          <a:ln>
            <a:noFill/>
          </a:ln>
          <a:effectLst>
            <a:outerShdw blurRad="254000" dist="635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BDEA9BF3-66F7-2291-2644-3698CBDC64AD}"/>
              </a:ext>
            </a:extLst>
          </p:cNvPr>
          <p:cNvSpPr/>
          <p:nvPr/>
        </p:nvSpPr>
        <p:spPr>
          <a:xfrm>
            <a:off x="5014677" y="5665582"/>
            <a:ext cx="2162646" cy="8806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A1628D55-38DD-AF56-B8BA-479120C33722}"/>
              </a:ext>
            </a:extLst>
          </p:cNvPr>
          <p:cNvSpPr/>
          <p:nvPr/>
        </p:nvSpPr>
        <p:spPr>
          <a:xfrm>
            <a:off x="5014677" y="1906256"/>
            <a:ext cx="2162646" cy="1107108"/>
          </a:xfrm>
          <a:custGeom>
            <a:avLst/>
            <a:gdLst>
              <a:gd name="connsiteX0" fmla="*/ 0 w 2162646"/>
              <a:gd name="connsiteY0" fmla="*/ 0 h 890587"/>
              <a:gd name="connsiteX1" fmla="*/ 0 w 2162646"/>
              <a:gd name="connsiteY1" fmla="*/ 713422 h 890587"/>
              <a:gd name="connsiteX2" fmla="*/ 857454 w 2162646"/>
              <a:gd name="connsiteY2" fmla="*/ 713422 h 890587"/>
              <a:gd name="connsiteX3" fmla="*/ 1081799 w 2162646"/>
              <a:gd name="connsiteY3" fmla="*/ 890588 h 890587"/>
              <a:gd name="connsiteX4" fmla="*/ 1306144 w 2162646"/>
              <a:gd name="connsiteY4" fmla="*/ 713422 h 890587"/>
              <a:gd name="connsiteX5" fmla="*/ 2162647 w 2162646"/>
              <a:gd name="connsiteY5" fmla="*/ 713422 h 890587"/>
              <a:gd name="connsiteX6" fmla="*/ 2162647 w 2162646"/>
              <a:gd name="connsiteY6" fmla="*/ 0 h 890587"/>
              <a:gd name="connsiteX7" fmla="*/ 0 w 2162646"/>
              <a:gd name="connsiteY7" fmla="*/ 0 h 8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2646" h="890587">
                <a:moveTo>
                  <a:pt x="0" y="0"/>
                </a:moveTo>
                <a:lnTo>
                  <a:pt x="0" y="713422"/>
                </a:lnTo>
                <a:lnTo>
                  <a:pt x="857454" y="713422"/>
                </a:lnTo>
                <a:lnTo>
                  <a:pt x="1081799" y="890588"/>
                </a:lnTo>
                <a:lnTo>
                  <a:pt x="1306144" y="713422"/>
                </a:lnTo>
                <a:lnTo>
                  <a:pt x="2162647" y="713422"/>
                </a:lnTo>
                <a:lnTo>
                  <a:pt x="2162647" y="0"/>
                </a:lnTo>
                <a:lnTo>
                  <a:pt x="0" y="0"/>
                </a:lnTo>
                <a:close/>
              </a:path>
            </a:pathLst>
          </a:custGeom>
          <a:solidFill>
            <a:schemeClr val="accent3"/>
          </a:solidFill>
          <a:ln w="9506" cap="flat">
            <a:noFill/>
            <a:prstDash val="solid"/>
            <a:miter/>
          </a:ln>
        </p:spPr>
        <p:txBody>
          <a:bodyPr rtlCol="0" anchor="ctr"/>
          <a:lstStyle/>
          <a:p>
            <a:endParaRPr lang="en-US"/>
          </a:p>
        </p:txBody>
      </p:sp>
      <p:sp>
        <p:nvSpPr>
          <p:cNvPr id="15" name="TextBox 14">
            <a:extLst>
              <a:ext uri="{FF2B5EF4-FFF2-40B4-BE49-F238E27FC236}">
                <a16:creationId xmlns:a16="http://schemas.microsoft.com/office/drawing/2014/main" id="{3DED6D35-52F5-1051-98A4-B1B8CAA21731}"/>
              </a:ext>
            </a:extLst>
          </p:cNvPr>
          <p:cNvSpPr txBox="1"/>
          <p:nvPr/>
        </p:nvSpPr>
        <p:spPr>
          <a:xfrm>
            <a:off x="5112253" y="2103238"/>
            <a:ext cx="1967494" cy="246221"/>
          </a:xfrm>
          <a:prstGeom prst="rect">
            <a:avLst/>
          </a:prstGeom>
          <a:noFill/>
        </p:spPr>
        <p:txBody>
          <a:bodyPr wrap="square" lIns="0" tIns="0" rIns="0" bIns="0" rtlCol="0">
            <a:spAutoFit/>
          </a:bodyPr>
          <a:lstStyle/>
          <a:p>
            <a:pPr algn="ctr"/>
            <a:r>
              <a:rPr lang="en-US" sz="1600" b="1" dirty="0" err="1">
                <a:solidFill>
                  <a:schemeClr val="bg1"/>
                </a:solidFill>
              </a:rPr>
              <a:t>Graduado</a:t>
            </a:r>
            <a:endParaRPr lang="en-US" sz="1600" b="1" dirty="0">
              <a:solidFill>
                <a:schemeClr val="bg1"/>
              </a:solidFill>
              <a:effectLst/>
              <a:latin typeface="Helvetica Neue" panose="02000503000000020004" pitchFamily="2" charset="0"/>
            </a:endParaRPr>
          </a:p>
        </p:txBody>
      </p:sp>
      <p:sp>
        <p:nvSpPr>
          <p:cNvPr id="16" name="TextBox 15">
            <a:extLst>
              <a:ext uri="{FF2B5EF4-FFF2-40B4-BE49-F238E27FC236}">
                <a16:creationId xmlns:a16="http://schemas.microsoft.com/office/drawing/2014/main" id="{19BAF92C-0688-D9BA-F9AA-D772F31E0E6C}"/>
              </a:ext>
            </a:extLst>
          </p:cNvPr>
          <p:cNvSpPr txBox="1"/>
          <p:nvPr/>
        </p:nvSpPr>
        <p:spPr>
          <a:xfrm>
            <a:off x="5112253" y="3210343"/>
            <a:ext cx="1967494" cy="2385268"/>
          </a:xfrm>
          <a:prstGeom prst="rect">
            <a:avLst/>
          </a:prstGeom>
          <a:noFill/>
        </p:spPr>
        <p:txBody>
          <a:bodyPr wrap="square" lIns="0" tIns="0" rIns="0" bIns="0" rtlCol="0">
            <a:spAutoFit/>
          </a:bodyPr>
          <a:lstStyle/>
          <a:p>
            <a:pPr>
              <a:spcAft>
                <a:spcPts val="600"/>
              </a:spcAft>
            </a:pPr>
            <a:r>
              <a:rPr lang="es-CO" sz="1400" dirty="0"/>
              <a:t>Estudiante con:</a:t>
            </a:r>
          </a:p>
          <a:p>
            <a:pPr>
              <a:spcAft>
                <a:spcPts val="600"/>
              </a:spcAft>
            </a:pPr>
            <a:r>
              <a:rPr lang="es-CO" sz="1400" dirty="0"/>
              <a:t>Grado bachiller: aplica para los estudiantes de pregrado</a:t>
            </a:r>
          </a:p>
          <a:p>
            <a:pPr>
              <a:spcAft>
                <a:spcPts val="600"/>
              </a:spcAft>
            </a:pPr>
            <a:r>
              <a:rPr lang="es-CO" sz="1400" dirty="0"/>
              <a:t>Grado Maestro: Aplica para los estudiantes de Maestría</a:t>
            </a:r>
          </a:p>
          <a:p>
            <a:pPr>
              <a:spcAft>
                <a:spcPts val="600"/>
              </a:spcAft>
            </a:pPr>
            <a:r>
              <a:rPr lang="es-CO" sz="1400" dirty="0"/>
              <a:t>Grado Doctorado: Aplica para los estudiantes de Doctorado</a:t>
            </a:r>
          </a:p>
        </p:txBody>
      </p:sp>
      <p:sp>
        <p:nvSpPr>
          <p:cNvPr id="17" name="Rectangle 16">
            <a:extLst>
              <a:ext uri="{FF2B5EF4-FFF2-40B4-BE49-F238E27FC236}">
                <a16:creationId xmlns:a16="http://schemas.microsoft.com/office/drawing/2014/main" id="{ED3AA766-4E40-0F16-AAD9-E868F9E7B7EC}"/>
              </a:ext>
            </a:extLst>
          </p:cNvPr>
          <p:cNvSpPr/>
          <p:nvPr/>
        </p:nvSpPr>
        <p:spPr>
          <a:xfrm>
            <a:off x="7378173" y="1906260"/>
            <a:ext cx="2162646" cy="3847388"/>
          </a:xfrm>
          <a:prstGeom prst="rect">
            <a:avLst/>
          </a:prstGeom>
          <a:solidFill>
            <a:schemeClr val="bg1"/>
          </a:solidFill>
          <a:ln>
            <a:noFill/>
          </a:ln>
          <a:effectLst>
            <a:outerShdw blurRad="254000" dist="635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478F847-EED7-1FF4-CCB8-32E6CBE7F513}"/>
              </a:ext>
            </a:extLst>
          </p:cNvPr>
          <p:cNvSpPr/>
          <p:nvPr/>
        </p:nvSpPr>
        <p:spPr>
          <a:xfrm>
            <a:off x="7378173" y="5665582"/>
            <a:ext cx="2162646" cy="8806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EB13EBC0-5108-3A44-30D5-05C5C43D0150}"/>
              </a:ext>
            </a:extLst>
          </p:cNvPr>
          <p:cNvSpPr/>
          <p:nvPr/>
        </p:nvSpPr>
        <p:spPr>
          <a:xfrm>
            <a:off x="7378173" y="1906256"/>
            <a:ext cx="2162646" cy="1107108"/>
          </a:xfrm>
          <a:custGeom>
            <a:avLst/>
            <a:gdLst>
              <a:gd name="connsiteX0" fmla="*/ 0 w 2162646"/>
              <a:gd name="connsiteY0" fmla="*/ 0 h 890587"/>
              <a:gd name="connsiteX1" fmla="*/ 0 w 2162646"/>
              <a:gd name="connsiteY1" fmla="*/ 713422 h 890587"/>
              <a:gd name="connsiteX2" fmla="*/ 857454 w 2162646"/>
              <a:gd name="connsiteY2" fmla="*/ 713422 h 890587"/>
              <a:gd name="connsiteX3" fmla="*/ 1081799 w 2162646"/>
              <a:gd name="connsiteY3" fmla="*/ 890588 h 890587"/>
              <a:gd name="connsiteX4" fmla="*/ 1306144 w 2162646"/>
              <a:gd name="connsiteY4" fmla="*/ 713422 h 890587"/>
              <a:gd name="connsiteX5" fmla="*/ 2162647 w 2162646"/>
              <a:gd name="connsiteY5" fmla="*/ 713422 h 890587"/>
              <a:gd name="connsiteX6" fmla="*/ 2162647 w 2162646"/>
              <a:gd name="connsiteY6" fmla="*/ 0 h 890587"/>
              <a:gd name="connsiteX7" fmla="*/ 0 w 2162646"/>
              <a:gd name="connsiteY7" fmla="*/ 0 h 8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2646" h="890587">
                <a:moveTo>
                  <a:pt x="0" y="0"/>
                </a:moveTo>
                <a:lnTo>
                  <a:pt x="0" y="713422"/>
                </a:lnTo>
                <a:lnTo>
                  <a:pt x="857454" y="713422"/>
                </a:lnTo>
                <a:lnTo>
                  <a:pt x="1081799" y="890588"/>
                </a:lnTo>
                <a:lnTo>
                  <a:pt x="1306144" y="713422"/>
                </a:lnTo>
                <a:lnTo>
                  <a:pt x="2162647" y="713422"/>
                </a:lnTo>
                <a:lnTo>
                  <a:pt x="2162647" y="0"/>
                </a:lnTo>
                <a:lnTo>
                  <a:pt x="0" y="0"/>
                </a:lnTo>
                <a:close/>
              </a:path>
            </a:pathLst>
          </a:custGeom>
          <a:solidFill>
            <a:schemeClr val="bg2"/>
          </a:solidFill>
          <a:ln w="9506" cap="flat">
            <a:noFill/>
            <a:prstDash val="solid"/>
            <a:miter/>
          </a:ln>
        </p:spPr>
        <p:txBody>
          <a:bodyPr rtlCol="0" anchor="ctr"/>
          <a:lstStyle/>
          <a:p>
            <a:endParaRPr lang="en-US"/>
          </a:p>
        </p:txBody>
      </p:sp>
      <p:sp>
        <p:nvSpPr>
          <p:cNvPr id="20" name="TextBox 19">
            <a:extLst>
              <a:ext uri="{FF2B5EF4-FFF2-40B4-BE49-F238E27FC236}">
                <a16:creationId xmlns:a16="http://schemas.microsoft.com/office/drawing/2014/main" id="{E2C732C8-81E2-AFE6-1614-B42147F02B8B}"/>
              </a:ext>
            </a:extLst>
          </p:cNvPr>
          <p:cNvSpPr txBox="1"/>
          <p:nvPr/>
        </p:nvSpPr>
        <p:spPr>
          <a:xfrm>
            <a:off x="7475749" y="2103238"/>
            <a:ext cx="1967494" cy="246221"/>
          </a:xfrm>
          <a:prstGeom prst="rect">
            <a:avLst/>
          </a:prstGeom>
          <a:noFill/>
        </p:spPr>
        <p:txBody>
          <a:bodyPr wrap="square" lIns="0" tIns="0" rIns="0" bIns="0" rtlCol="0">
            <a:spAutoFit/>
          </a:bodyPr>
          <a:lstStyle/>
          <a:p>
            <a:pPr algn="ctr"/>
            <a:r>
              <a:rPr lang="en-US" sz="1600" b="1" dirty="0" err="1"/>
              <a:t>Evento</a:t>
            </a:r>
            <a:endParaRPr lang="en-US" sz="1600" b="1" dirty="0">
              <a:effectLst/>
              <a:latin typeface="Helvetica Neue" panose="02000503000000020004" pitchFamily="2" charset="0"/>
            </a:endParaRPr>
          </a:p>
        </p:txBody>
      </p:sp>
      <p:sp>
        <p:nvSpPr>
          <p:cNvPr id="21" name="TextBox 20">
            <a:extLst>
              <a:ext uri="{FF2B5EF4-FFF2-40B4-BE49-F238E27FC236}">
                <a16:creationId xmlns:a16="http://schemas.microsoft.com/office/drawing/2014/main" id="{6F0511EB-5119-8DDC-A897-11A98A27BFF0}"/>
              </a:ext>
            </a:extLst>
          </p:cNvPr>
          <p:cNvSpPr txBox="1"/>
          <p:nvPr/>
        </p:nvSpPr>
        <p:spPr>
          <a:xfrm>
            <a:off x="7475749" y="3210343"/>
            <a:ext cx="1967494" cy="2169825"/>
          </a:xfrm>
          <a:prstGeom prst="rect">
            <a:avLst/>
          </a:prstGeom>
          <a:noFill/>
        </p:spPr>
        <p:txBody>
          <a:bodyPr wrap="square" lIns="0" tIns="0" rIns="0" bIns="0" rtlCol="0">
            <a:spAutoFit/>
          </a:bodyPr>
          <a:lstStyle/>
          <a:p>
            <a:pPr>
              <a:spcAft>
                <a:spcPts val="600"/>
              </a:spcAft>
            </a:pPr>
            <a:r>
              <a:rPr lang="es-CO" sz="1400" dirty="0"/>
              <a:t>Actividad que requiere de algún espacio físico para desarrollarse, en la cual se pueden inscribir estudiantes o personas fuera de la institución. Ejemplo: charlas, exposiciones, ceremonias de graduación</a:t>
            </a:r>
            <a:endParaRPr lang="en-US" sz="1400" dirty="0">
              <a:effectLst/>
              <a:latin typeface="Helvetica Neue" panose="02000503000000020004" pitchFamily="2" charset="0"/>
            </a:endParaRPr>
          </a:p>
        </p:txBody>
      </p:sp>
      <p:sp>
        <p:nvSpPr>
          <p:cNvPr id="22" name="Rectangle 21">
            <a:extLst>
              <a:ext uri="{FF2B5EF4-FFF2-40B4-BE49-F238E27FC236}">
                <a16:creationId xmlns:a16="http://schemas.microsoft.com/office/drawing/2014/main" id="{F5BF900A-1ED7-B3C1-169B-70A955AD02DC}"/>
              </a:ext>
            </a:extLst>
          </p:cNvPr>
          <p:cNvSpPr/>
          <p:nvPr/>
        </p:nvSpPr>
        <p:spPr>
          <a:xfrm>
            <a:off x="9741670" y="1906260"/>
            <a:ext cx="2162646" cy="3847388"/>
          </a:xfrm>
          <a:prstGeom prst="rect">
            <a:avLst/>
          </a:prstGeom>
          <a:solidFill>
            <a:schemeClr val="bg1"/>
          </a:solidFill>
          <a:ln>
            <a:noFill/>
          </a:ln>
          <a:effectLst>
            <a:outerShdw blurRad="254000" dist="635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B754D864-EC17-1574-DDDB-C3E295362EBF}"/>
              </a:ext>
            </a:extLst>
          </p:cNvPr>
          <p:cNvSpPr/>
          <p:nvPr/>
        </p:nvSpPr>
        <p:spPr>
          <a:xfrm>
            <a:off x="9741670" y="5665582"/>
            <a:ext cx="2162646" cy="8806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CB9C3562-D212-EE08-524A-EA739596C6A6}"/>
              </a:ext>
            </a:extLst>
          </p:cNvPr>
          <p:cNvSpPr/>
          <p:nvPr/>
        </p:nvSpPr>
        <p:spPr>
          <a:xfrm>
            <a:off x="9741670" y="1906256"/>
            <a:ext cx="2162646" cy="1107108"/>
          </a:xfrm>
          <a:custGeom>
            <a:avLst/>
            <a:gdLst>
              <a:gd name="connsiteX0" fmla="*/ 0 w 2162646"/>
              <a:gd name="connsiteY0" fmla="*/ 0 h 890587"/>
              <a:gd name="connsiteX1" fmla="*/ 0 w 2162646"/>
              <a:gd name="connsiteY1" fmla="*/ 713422 h 890587"/>
              <a:gd name="connsiteX2" fmla="*/ 857454 w 2162646"/>
              <a:gd name="connsiteY2" fmla="*/ 713422 h 890587"/>
              <a:gd name="connsiteX3" fmla="*/ 1081799 w 2162646"/>
              <a:gd name="connsiteY3" fmla="*/ 890588 h 890587"/>
              <a:gd name="connsiteX4" fmla="*/ 1306144 w 2162646"/>
              <a:gd name="connsiteY4" fmla="*/ 713422 h 890587"/>
              <a:gd name="connsiteX5" fmla="*/ 2162647 w 2162646"/>
              <a:gd name="connsiteY5" fmla="*/ 713422 h 890587"/>
              <a:gd name="connsiteX6" fmla="*/ 2162647 w 2162646"/>
              <a:gd name="connsiteY6" fmla="*/ 0 h 890587"/>
              <a:gd name="connsiteX7" fmla="*/ 0 w 2162646"/>
              <a:gd name="connsiteY7" fmla="*/ 0 h 8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2646" h="890587">
                <a:moveTo>
                  <a:pt x="0" y="0"/>
                </a:moveTo>
                <a:lnTo>
                  <a:pt x="0" y="713422"/>
                </a:lnTo>
                <a:lnTo>
                  <a:pt x="857454" y="713422"/>
                </a:lnTo>
                <a:lnTo>
                  <a:pt x="1081799" y="890588"/>
                </a:lnTo>
                <a:lnTo>
                  <a:pt x="1306144" y="713422"/>
                </a:lnTo>
                <a:lnTo>
                  <a:pt x="2162647" y="713422"/>
                </a:lnTo>
                <a:lnTo>
                  <a:pt x="2162647" y="0"/>
                </a:lnTo>
                <a:lnTo>
                  <a:pt x="0" y="0"/>
                </a:lnTo>
                <a:close/>
              </a:path>
            </a:pathLst>
          </a:custGeom>
          <a:solidFill>
            <a:schemeClr val="tx2"/>
          </a:solidFill>
          <a:ln w="9506" cap="flat">
            <a:noFill/>
            <a:prstDash val="solid"/>
            <a:miter/>
          </a:ln>
        </p:spPr>
        <p:txBody>
          <a:bodyPr rtlCol="0" anchor="ctr"/>
          <a:lstStyle/>
          <a:p>
            <a:endParaRPr lang="en-US"/>
          </a:p>
        </p:txBody>
      </p:sp>
      <p:sp>
        <p:nvSpPr>
          <p:cNvPr id="25" name="TextBox 24">
            <a:extLst>
              <a:ext uri="{FF2B5EF4-FFF2-40B4-BE49-F238E27FC236}">
                <a16:creationId xmlns:a16="http://schemas.microsoft.com/office/drawing/2014/main" id="{B5EFFCA3-1909-98FB-5AA7-047A39182646}"/>
              </a:ext>
            </a:extLst>
          </p:cNvPr>
          <p:cNvSpPr txBox="1"/>
          <p:nvPr/>
        </p:nvSpPr>
        <p:spPr>
          <a:xfrm>
            <a:off x="9839246" y="2103238"/>
            <a:ext cx="1967494" cy="492443"/>
          </a:xfrm>
          <a:prstGeom prst="rect">
            <a:avLst/>
          </a:prstGeom>
          <a:noFill/>
        </p:spPr>
        <p:txBody>
          <a:bodyPr wrap="square" lIns="0" tIns="0" rIns="0" bIns="0" rtlCol="0">
            <a:spAutoFit/>
          </a:bodyPr>
          <a:lstStyle/>
          <a:p>
            <a:pPr algn="ctr"/>
            <a:r>
              <a:rPr lang="en-US" sz="1600" b="1" dirty="0">
                <a:solidFill>
                  <a:schemeClr val="bg1"/>
                </a:solidFill>
              </a:rPr>
              <a:t>No </a:t>
            </a:r>
            <a:r>
              <a:rPr lang="en-US" sz="1600" b="1" dirty="0" err="1">
                <a:solidFill>
                  <a:schemeClr val="bg1"/>
                </a:solidFill>
              </a:rPr>
              <a:t>curso</a:t>
            </a:r>
            <a:r>
              <a:rPr lang="en-US" sz="1600" b="1" dirty="0">
                <a:solidFill>
                  <a:schemeClr val="bg1"/>
                </a:solidFill>
              </a:rPr>
              <a:t> -</a:t>
            </a:r>
            <a:r>
              <a:rPr lang="en-US" sz="1600" b="1" dirty="0" err="1">
                <a:solidFill>
                  <a:schemeClr val="bg1"/>
                </a:solidFill>
              </a:rPr>
              <a:t>requisito</a:t>
            </a:r>
            <a:r>
              <a:rPr lang="en-US" sz="1600" b="1" dirty="0">
                <a:solidFill>
                  <a:schemeClr val="bg1"/>
                </a:solidFill>
              </a:rPr>
              <a:t> cocurricular</a:t>
            </a:r>
          </a:p>
        </p:txBody>
      </p:sp>
      <p:sp>
        <p:nvSpPr>
          <p:cNvPr id="26" name="TextBox 25">
            <a:extLst>
              <a:ext uri="{FF2B5EF4-FFF2-40B4-BE49-F238E27FC236}">
                <a16:creationId xmlns:a16="http://schemas.microsoft.com/office/drawing/2014/main" id="{B6C374F9-124B-C2BC-0600-6A31882CC186}"/>
              </a:ext>
            </a:extLst>
          </p:cNvPr>
          <p:cNvSpPr txBox="1"/>
          <p:nvPr/>
        </p:nvSpPr>
        <p:spPr>
          <a:xfrm>
            <a:off x="9839246" y="3210343"/>
            <a:ext cx="1967494" cy="1938992"/>
          </a:xfrm>
          <a:prstGeom prst="rect">
            <a:avLst/>
          </a:prstGeom>
          <a:noFill/>
        </p:spPr>
        <p:txBody>
          <a:bodyPr wrap="square" lIns="0" tIns="0" rIns="0" bIns="0" rtlCol="0">
            <a:spAutoFit/>
          </a:bodyPr>
          <a:lstStyle/>
          <a:p>
            <a:pPr>
              <a:spcAft>
                <a:spcPts val="600"/>
              </a:spcAft>
            </a:pPr>
            <a:r>
              <a:rPr lang="es-CO" sz="1400" dirty="0"/>
              <a:t>Corresponde a todos los requisitos que un estudiante necesita para obtener su grado o título y que no están contemplados dentro de su malla curricular y que son definidos por la Institución.</a:t>
            </a:r>
          </a:p>
        </p:txBody>
      </p:sp>
      <p:sp>
        <p:nvSpPr>
          <p:cNvPr id="27" name="TextBox 26">
            <a:extLst>
              <a:ext uri="{FF2B5EF4-FFF2-40B4-BE49-F238E27FC236}">
                <a16:creationId xmlns:a16="http://schemas.microsoft.com/office/drawing/2014/main" id="{28638C20-D746-EFB7-9E43-3F4A0B00F306}"/>
              </a:ext>
            </a:extLst>
          </p:cNvPr>
          <p:cNvSpPr txBox="1"/>
          <p:nvPr/>
        </p:nvSpPr>
        <p:spPr>
          <a:xfrm>
            <a:off x="1057983" y="554087"/>
            <a:ext cx="10076033" cy="446084"/>
          </a:xfrm>
          <a:prstGeom prst="rect">
            <a:avLst/>
          </a:prstGeom>
          <a:noFill/>
        </p:spPr>
        <p:txBody>
          <a:bodyPr wrap="square" lIns="0" tIns="0" rIns="0" bIns="0" rtlCol="0">
            <a:spAutoFit/>
          </a:bodyPr>
          <a:lstStyle/>
          <a:p>
            <a:pPr algn="ctr">
              <a:lnSpc>
                <a:spcPct val="90000"/>
              </a:lnSpc>
            </a:pPr>
            <a:r>
              <a:rPr lang="en-US" sz="3200" b="1" dirty="0"/>
              <a:t>DEFINICIONES</a:t>
            </a:r>
          </a:p>
        </p:txBody>
      </p:sp>
    </p:spTree>
    <p:extLst>
      <p:ext uri="{BB962C8B-B14F-4D97-AF65-F5344CB8AC3E}">
        <p14:creationId xmlns:p14="http://schemas.microsoft.com/office/powerpoint/2010/main" val="1395229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500AE-C44E-3F3A-7F72-D65BF293D7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277DDEA-F45F-979A-C091-16D8B383A05F}"/>
              </a:ext>
            </a:extLst>
          </p:cNvPr>
          <p:cNvSpPr/>
          <p:nvPr/>
        </p:nvSpPr>
        <p:spPr>
          <a:xfrm>
            <a:off x="1531269" y="1906260"/>
            <a:ext cx="2162646" cy="3847388"/>
          </a:xfrm>
          <a:prstGeom prst="rect">
            <a:avLst/>
          </a:prstGeom>
          <a:solidFill>
            <a:schemeClr val="bg1"/>
          </a:solidFill>
          <a:ln>
            <a:noFill/>
          </a:ln>
          <a:effectLst>
            <a:outerShdw blurRad="254000" dist="635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8CD84422-0064-17F0-B67D-8A3967B9D8B9}"/>
              </a:ext>
            </a:extLst>
          </p:cNvPr>
          <p:cNvSpPr/>
          <p:nvPr/>
        </p:nvSpPr>
        <p:spPr>
          <a:xfrm>
            <a:off x="1531269" y="5665582"/>
            <a:ext cx="2162646" cy="8806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A1893BD3-E5C2-AE7E-99FE-A1491BBB908B}"/>
              </a:ext>
            </a:extLst>
          </p:cNvPr>
          <p:cNvSpPr/>
          <p:nvPr/>
        </p:nvSpPr>
        <p:spPr>
          <a:xfrm>
            <a:off x="1531269" y="1906256"/>
            <a:ext cx="2162646" cy="1107108"/>
          </a:xfrm>
          <a:custGeom>
            <a:avLst/>
            <a:gdLst>
              <a:gd name="connsiteX0" fmla="*/ 0 w 2162646"/>
              <a:gd name="connsiteY0" fmla="*/ 0 h 890587"/>
              <a:gd name="connsiteX1" fmla="*/ 0 w 2162646"/>
              <a:gd name="connsiteY1" fmla="*/ 713422 h 890587"/>
              <a:gd name="connsiteX2" fmla="*/ 857454 w 2162646"/>
              <a:gd name="connsiteY2" fmla="*/ 713422 h 890587"/>
              <a:gd name="connsiteX3" fmla="*/ 1081799 w 2162646"/>
              <a:gd name="connsiteY3" fmla="*/ 890588 h 890587"/>
              <a:gd name="connsiteX4" fmla="*/ 1306144 w 2162646"/>
              <a:gd name="connsiteY4" fmla="*/ 713422 h 890587"/>
              <a:gd name="connsiteX5" fmla="*/ 2162647 w 2162646"/>
              <a:gd name="connsiteY5" fmla="*/ 713422 h 890587"/>
              <a:gd name="connsiteX6" fmla="*/ 2162647 w 2162646"/>
              <a:gd name="connsiteY6" fmla="*/ 0 h 890587"/>
              <a:gd name="connsiteX7" fmla="*/ 0 w 2162646"/>
              <a:gd name="connsiteY7" fmla="*/ 0 h 8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2646" h="890587">
                <a:moveTo>
                  <a:pt x="0" y="0"/>
                </a:moveTo>
                <a:lnTo>
                  <a:pt x="0" y="713422"/>
                </a:lnTo>
                <a:lnTo>
                  <a:pt x="857454" y="713422"/>
                </a:lnTo>
                <a:lnTo>
                  <a:pt x="1081799" y="890588"/>
                </a:lnTo>
                <a:lnTo>
                  <a:pt x="1306144" y="713422"/>
                </a:lnTo>
                <a:lnTo>
                  <a:pt x="2162647" y="713422"/>
                </a:lnTo>
                <a:lnTo>
                  <a:pt x="2162647" y="0"/>
                </a:lnTo>
                <a:lnTo>
                  <a:pt x="0" y="0"/>
                </a:lnTo>
                <a:close/>
              </a:path>
            </a:pathLst>
          </a:custGeom>
          <a:solidFill>
            <a:schemeClr val="accent1"/>
          </a:solidFill>
          <a:ln w="9506" cap="flat">
            <a:noFill/>
            <a:prstDash val="solid"/>
            <a:miter/>
          </a:ln>
        </p:spPr>
        <p:txBody>
          <a:bodyPr rtlCol="0" anchor="ctr"/>
          <a:lstStyle/>
          <a:p>
            <a:endParaRPr lang="en-US"/>
          </a:p>
        </p:txBody>
      </p:sp>
      <p:sp>
        <p:nvSpPr>
          <p:cNvPr id="5" name="TextBox 4">
            <a:extLst>
              <a:ext uri="{FF2B5EF4-FFF2-40B4-BE49-F238E27FC236}">
                <a16:creationId xmlns:a16="http://schemas.microsoft.com/office/drawing/2014/main" id="{83297CAE-E67D-5D07-7E5C-9DFED39213A4}"/>
              </a:ext>
            </a:extLst>
          </p:cNvPr>
          <p:cNvSpPr txBox="1"/>
          <p:nvPr/>
        </p:nvSpPr>
        <p:spPr>
          <a:xfrm>
            <a:off x="1628845" y="2103238"/>
            <a:ext cx="1967494" cy="738664"/>
          </a:xfrm>
          <a:prstGeom prst="rect">
            <a:avLst/>
          </a:prstGeom>
          <a:noFill/>
        </p:spPr>
        <p:txBody>
          <a:bodyPr wrap="square" lIns="0" tIns="0" rIns="0" bIns="0" rtlCol="0">
            <a:spAutoFit/>
          </a:bodyPr>
          <a:lstStyle/>
          <a:p>
            <a:pPr algn="ctr"/>
            <a:r>
              <a:rPr lang="en-US" sz="1600" b="1" dirty="0" err="1">
                <a:solidFill>
                  <a:schemeClr val="bg1"/>
                </a:solidFill>
              </a:rPr>
              <a:t>Solicitud</a:t>
            </a:r>
            <a:r>
              <a:rPr lang="en-US" sz="1600" b="1" dirty="0">
                <a:solidFill>
                  <a:schemeClr val="bg1"/>
                </a:solidFill>
              </a:rPr>
              <a:t> de </a:t>
            </a:r>
            <a:r>
              <a:rPr lang="en-US" sz="1600" b="1" dirty="0" err="1">
                <a:solidFill>
                  <a:schemeClr val="bg1"/>
                </a:solidFill>
              </a:rPr>
              <a:t>Servicios</a:t>
            </a:r>
            <a:endParaRPr lang="en-US" sz="1600" b="1" dirty="0">
              <a:solidFill>
                <a:schemeClr val="bg1"/>
              </a:solidFill>
            </a:endParaRPr>
          </a:p>
          <a:p>
            <a:pPr algn="ctr"/>
            <a:endParaRPr lang="en-US" sz="1600" b="1" dirty="0">
              <a:solidFill>
                <a:schemeClr val="bg1"/>
              </a:solidFill>
              <a:effectLst/>
              <a:latin typeface="Helvetica Neue" panose="02000503000000020004" pitchFamily="2" charset="0"/>
            </a:endParaRPr>
          </a:p>
        </p:txBody>
      </p:sp>
      <p:sp>
        <p:nvSpPr>
          <p:cNvPr id="6" name="TextBox 5">
            <a:extLst>
              <a:ext uri="{FF2B5EF4-FFF2-40B4-BE49-F238E27FC236}">
                <a16:creationId xmlns:a16="http://schemas.microsoft.com/office/drawing/2014/main" id="{6B9FA7A8-CBD4-5876-E7D9-C670265B7847}"/>
              </a:ext>
            </a:extLst>
          </p:cNvPr>
          <p:cNvSpPr txBox="1"/>
          <p:nvPr/>
        </p:nvSpPr>
        <p:spPr>
          <a:xfrm>
            <a:off x="1628845" y="3210343"/>
            <a:ext cx="1967494" cy="861774"/>
          </a:xfrm>
          <a:prstGeom prst="rect">
            <a:avLst/>
          </a:prstGeom>
          <a:noFill/>
        </p:spPr>
        <p:txBody>
          <a:bodyPr wrap="square" lIns="0" tIns="0" rIns="0" bIns="0" rtlCol="0">
            <a:spAutoFit/>
          </a:bodyPr>
          <a:lstStyle/>
          <a:p>
            <a:pPr>
              <a:spcAft>
                <a:spcPts val="600"/>
              </a:spcAft>
            </a:pPr>
            <a:r>
              <a:rPr lang="es-CO" sz="1400" dirty="0"/>
              <a:t>Herramienta web que tendrá el estudiante para generar los derechos de carpeta</a:t>
            </a:r>
            <a:endParaRPr lang="en-US" sz="1400" dirty="0">
              <a:effectLst/>
              <a:latin typeface="Helvetica Neue" panose="02000503000000020004" pitchFamily="2" charset="0"/>
            </a:endParaRPr>
          </a:p>
        </p:txBody>
      </p:sp>
      <p:sp>
        <p:nvSpPr>
          <p:cNvPr id="7" name="Rectangle 6">
            <a:extLst>
              <a:ext uri="{FF2B5EF4-FFF2-40B4-BE49-F238E27FC236}">
                <a16:creationId xmlns:a16="http://schemas.microsoft.com/office/drawing/2014/main" id="{D572AB67-9D65-FFD5-23C7-7CD070438F05}"/>
              </a:ext>
            </a:extLst>
          </p:cNvPr>
          <p:cNvSpPr/>
          <p:nvPr/>
        </p:nvSpPr>
        <p:spPr>
          <a:xfrm>
            <a:off x="3894765" y="1906260"/>
            <a:ext cx="2162646" cy="3847388"/>
          </a:xfrm>
          <a:prstGeom prst="rect">
            <a:avLst/>
          </a:prstGeom>
          <a:solidFill>
            <a:schemeClr val="bg1"/>
          </a:solidFill>
          <a:ln>
            <a:noFill/>
          </a:ln>
          <a:effectLst>
            <a:outerShdw blurRad="254000" dist="635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BB3D986-C3D7-0E05-8E7E-753691B77910}"/>
              </a:ext>
            </a:extLst>
          </p:cNvPr>
          <p:cNvSpPr/>
          <p:nvPr/>
        </p:nvSpPr>
        <p:spPr>
          <a:xfrm>
            <a:off x="3894765" y="5665582"/>
            <a:ext cx="2162646" cy="880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43F7574D-888D-5614-2D4A-5EF1D475D1EE}"/>
              </a:ext>
            </a:extLst>
          </p:cNvPr>
          <p:cNvSpPr/>
          <p:nvPr/>
        </p:nvSpPr>
        <p:spPr>
          <a:xfrm>
            <a:off x="3894765" y="1906256"/>
            <a:ext cx="2162646" cy="1107108"/>
          </a:xfrm>
          <a:custGeom>
            <a:avLst/>
            <a:gdLst>
              <a:gd name="connsiteX0" fmla="*/ 0 w 2162646"/>
              <a:gd name="connsiteY0" fmla="*/ 0 h 890587"/>
              <a:gd name="connsiteX1" fmla="*/ 0 w 2162646"/>
              <a:gd name="connsiteY1" fmla="*/ 713422 h 890587"/>
              <a:gd name="connsiteX2" fmla="*/ 857454 w 2162646"/>
              <a:gd name="connsiteY2" fmla="*/ 713422 h 890587"/>
              <a:gd name="connsiteX3" fmla="*/ 1081799 w 2162646"/>
              <a:gd name="connsiteY3" fmla="*/ 890588 h 890587"/>
              <a:gd name="connsiteX4" fmla="*/ 1306144 w 2162646"/>
              <a:gd name="connsiteY4" fmla="*/ 713422 h 890587"/>
              <a:gd name="connsiteX5" fmla="*/ 2162647 w 2162646"/>
              <a:gd name="connsiteY5" fmla="*/ 713422 h 890587"/>
              <a:gd name="connsiteX6" fmla="*/ 2162647 w 2162646"/>
              <a:gd name="connsiteY6" fmla="*/ 0 h 890587"/>
              <a:gd name="connsiteX7" fmla="*/ 0 w 2162646"/>
              <a:gd name="connsiteY7" fmla="*/ 0 h 8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2646" h="890587">
                <a:moveTo>
                  <a:pt x="0" y="0"/>
                </a:moveTo>
                <a:lnTo>
                  <a:pt x="0" y="713422"/>
                </a:lnTo>
                <a:lnTo>
                  <a:pt x="857454" y="713422"/>
                </a:lnTo>
                <a:lnTo>
                  <a:pt x="1081799" y="890588"/>
                </a:lnTo>
                <a:lnTo>
                  <a:pt x="1306144" y="713422"/>
                </a:lnTo>
                <a:lnTo>
                  <a:pt x="2162647" y="713422"/>
                </a:lnTo>
                <a:lnTo>
                  <a:pt x="2162647" y="0"/>
                </a:lnTo>
                <a:lnTo>
                  <a:pt x="0" y="0"/>
                </a:lnTo>
                <a:close/>
              </a:path>
            </a:pathLst>
          </a:custGeom>
          <a:solidFill>
            <a:schemeClr val="accent2"/>
          </a:solidFill>
          <a:ln w="9506" cap="flat">
            <a:noFill/>
            <a:prstDash val="solid"/>
            <a:miter/>
          </a:ln>
        </p:spPr>
        <p:txBody>
          <a:bodyPr rtlCol="0" anchor="ctr"/>
          <a:lstStyle/>
          <a:p>
            <a:endParaRPr lang="en-US"/>
          </a:p>
        </p:txBody>
      </p:sp>
      <p:sp>
        <p:nvSpPr>
          <p:cNvPr id="10" name="TextBox 9">
            <a:extLst>
              <a:ext uri="{FF2B5EF4-FFF2-40B4-BE49-F238E27FC236}">
                <a16:creationId xmlns:a16="http://schemas.microsoft.com/office/drawing/2014/main" id="{49F1B106-EE43-6B15-0252-23C82BE8304F}"/>
              </a:ext>
            </a:extLst>
          </p:cNvPr>
          <p:cNvSpPr txBox="1"/>
          <p:nvPr/>
        </p:nvSpPr>
        <p:spPr>
          <a:xfrm>
            <a:off x="3992341" y="2103238"/>
            <a:ext cx="1967494" cy="738664"/>
          </a:xfrm>
          <a:prstGeom prst="rect">
            <a:avLst/>
          </a:prstGeom>
          <a:noFill/>
        </p:spPr>
        <p:txBody>
          <a:bodyPr wrap="square" lIns="0" tIns="0" rIns="0" bIns="0" rtlCol="0">
            <a:spAutoFit/>
          </a:bodyPr>
          <a:lstStyle/>
          <a:p>
            <a:pPr algn="ctr"/>
            <a:r>
              <a:rPr lang="en-US" sz="1600" b="1" dirty="0" err="1"/>
              <a:t>Solicitud</a:t>
            </a:r>
            <a:r>
              <a:rPr lang="en-US" sz="1600" b="1" dirty="0"/>
              <a:t> de </a:t>
            </a:r>
            <a:r>
              <a:rPr lang="en-US" sz="1600" b="1" dirty="0" err="1"/>
              <a:t>graduación</a:t>
            </a:r>
            <a:endParaRPr lang="en-US" sz="1600" b="1" dirty="0"/>
          </a:p>
          <a:p>
            <a:pPr algn="ctr"/>
            <a:endParaRPr lang="en-US" sz="1600" b="1" dirty="0">
              <a:effectLst/>
              <a:latin typeface="Helvetica Neue" panose="02000503000000020004" pitchFamily="2" charset="0"/>
            </a:endParaRPr>
          </a:p>
        </p:txBody>
      </p:sp>
      <p:sp>
        <p:nvSpPr>
          <p:cNvPr id="11" name="TextBox 10">
            <a:extLst>
              <a:ext uri="{FF2B5EF4-FFF2-40B4-BE49-F238E27FC236}">
                <a16:creationId xmlns:a16="http://schemas.microsoft.com/office/drawing/2014/main" id="{A3BFD0B6-2418-924F-71DD-849B34764B9F}"/>
              </a:ext>
            </a:extLst>
          </p:cNvPr>
          <p:cNvSpPr txBox="1"/>
          <p:nvPr/>
        </p:nvSpPr>
        <p:spPr>
          <a:xfrm>
            <a:off x="3992341" y="3210343"/>
            <a:ext cx="1967494" cy="1508105"/>
          </a:xfrm>
          <a:prstGeom prst="rect">
            <a:avLst/>
          </a:prstGeom>
          <a:noFill/>
        </p:spPr>
        <p:txBody>
          <a:bodyPr wrap="square" lIns="0" tIns="0" rIns="0" bIns="0" rtlCol="0">
            <a:spAutoFit/>
          </a:bodyPr>
          <a:lstStyle/>
          <a:p>
            <a:pPr>
              <a:spcAft>
                <a:spcPts val="600"/>
              </a:spcAft>
            </a:pPr>
            <a:r>
              <a:rPr lang="es-CO" sz="1400" dirty="0"/>
              <a:t>Herramienta web que tendrá el estudiante para indicar que desea comenzar su proceso de graduación y permitirá generar los cargos de derecho a ceremonia</a:t>
            </a:r>
            <a:endParaRPr lang="en-US" sz="1400" dirty="0">
              <a:effectLst/>
              <a:latin typeface="Helvetica Neue" panose="02000503000000020004" pitchFamily="2" charset="0"/>
            </a:endParaRPr>
          </a:p>
        </p:txBody>
      </p:sp>
      <p:sp>
        <p:nvSpPr>
          <p:cNvPr id="12" name="Rectangle 11">
            <a:extLst>
              <a:ext uri="{FF2B5EF4-FFF2-40B4-BE49-F238E27FC236}">
                <a16:creationId xmlns:a16="http://schemas.microsoft.com/office/drawing/2014/main" id="{C73B8AE9-2274-FCE4-A21B-AB7E410C5F50}"/>
              </a:ext>
            </a:extLst>
          </p:cNvPr>
          <p:cNvSpPr/>
          <p:nvPr/>
        </p:nvSpPr>
        <p:spPr>
          <a:xfrm>
            <a:off x="6258261" y="1906260"/>
            <a:ext cx="2162646" cy="3847388"/>
          </a:xfrm>
          <a:prstGeom prst="rect">
            <a:avLst/>
          </a:prstGeom>
          <a:solidFill>
            <a:schemeClr val="bg1"/>
          </a:solidFill>
          <a:ln>
            <a:noFill/>
          </a:ln>
          <a:effectLst>
            <a:outerShdw blurRad="254000" dist="635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544F43D3-A7F2-2DAB-4CA8-6387C1A8EDC9}"/>
              </a:ext>
            </a:extLst>
          </p:cNvPr>
          <p:cNvSpPr/>
          <p:nvPr/>
        </p:nvSpPr>
        <p:spPr>
          <a:xfrm>
            <a:off x="6258261" y="5665582"/>
            <a:ext cx="2162646" cy="8806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1D651E07-1282-2EA9-DA99-B7FFAFDE8EC1}"/>
              </a:ext>
            </a:extLst>
          </p:cNvPr>
          <p:cNvSpPr/>
          <p:nvPr/>
        </p:nvSpPr>
        <p:spPr>
          <a:xfrm>
            <a:off x="6258261" y="1906256"/>
            <a:ext cx="2162646" cy="1107108"/>
          </a:xfrm>
          <a:custGeom>
            <a:avLst/>
            <a:gdLst>
              <a:gd name="connsiteX0" fmla="*/ 0 w 2162646"/>
              <a:gd name="connsiteY0" fmla="*/ 0 h 890587"/>
              <a:gd name="connsiteX1" fmla="*/ 0 w 2162646"/>
              <a:gd name="connsiteY1" fmla="*/ 713422 h 890587"/>
              <a:gd name="connsiteX2" fmla="*/ 857454 w 2162646"/>
              <a:gd name="connsiteY2" fmla="*/ 713422 h 890587"/>
              <a:gd name="connsiteX3" fmla="*/ 1081799 w 2162646"/>
              <a:gd name="connsiteY3" fmla="*/ 890588 h 890587"/>
              <a:gd name="connsiteX4" fmla="*/ 1306144 w 2162646"/>
              <a:gd name="connsiteY4" fmla="*/ 713422 h 890587"/>
              <a:gd name="connsiteX5" fmla="*/ 2162647 w 2162646"/>
              <a:gd name="connsiteY5" fmla="*/ 713422 h 890587"/>
              <a:gd name="connsiteX6" fmla="*/ 2162647 w 2162646"/>
              <a:gd name="connsiteY6" fmla="*/ 0 h 890587"/>
              <a:gd name="connsiteX7" fmla="*/ 0 w 2162646"/>
              <a:gd name="connsiteY7" fmla="*/ 0 h 8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2646" h="890587">
                <a:moveTo>
                  <a:pt x="0" y="0"/>
                </a:moveTo>
                <a:lnTo>
                  <a:pt x="0" y="713422"/>
                </a:lnTo>
                <a:lnTo>
                  <a:pt x="857454" y="713422"/>
                </a:lnTo>
                <a:lnTo>
                  <a:pt x="1081799" y="890588"/>
                </a:lnTo>
                <a:lnTo>
                  <a:pt x="1306144" y="713422"/>
                </a:lnTo>
                <a:lnTo>
                  <a:pt x="2162647" y="713422"/>
                </a:lnTo>
                <a:lnTo>
                  <a:pt x="2162647" y="0"/>
                </a:lnTo>
                <a:lnTo>
                  <a:pt x="0" y="0"/>
                </a:lnTo>
                <a:close/>
              </a:path>
            </a:pathLst>
          </a:custGeom>
          <a:solidFill>
            <a:schemeClr val="accent3"/>
          </a:solidFill>
          <a:ln w="9506" cap="flat">
            <a:noFill/>
            <a:prstDash val="solid"/>
            <a:miter/>
          </a:ln>
        </p:spPr>
        <p:txBody>
          <a:bodyPr rtlCol="0" anchor="ctr"/>
          <a:lstStyle/>
          <a:p>
            <a:endParaRPr lang="en-US"/>
          </a:p>
        </p:txBody>
      </p:sp>
      <p:sp>
        <p:nvSpPr>
          <p:cNvPr id="15" name="TextBox 14">
            <a:extLst>
              <a:ext uri="{FF2B5EF4-FFF2-40B4-BE49-F238E27FC236}">
                <a16:creationId xmlns:a16="http://schemas.microsoft.com/office/drawing/2014/main" id="{E58FE725-56AC-448D-7750-8CC4769304A6}"/>
              </a:ext>
            </a:extLst>
          </p:cNvPr>
          <p:cNvSpPr txBox="1"/>
          <p:nvPr/>
        </p:nvSpPr>
        <p:spPr>
          <a:xfrm>
            <a:off x="6355837" y="2103238"/>
            <a:ext cx="1967494" cy="492443"/>
          </a:xfrm>
          <a:prstGeom prst="rect">
            <a:avLst/>
          </a:prstGeom>
          <a:noFill/>
        </p:spPr>
        <p:txBody>
          <a:bodyPr wrap="square" lIns="0" tIns="0" rIns="0" bIns="0" rtlCol="0">
            <a:spAutoFit/>
          </a:bodyPr>
          <a:lstStyle/>
          <a:p>
            <a:pPr algn="ctr"/>
            <a:r>
              <a:rPr lang="en-US" sz="1600" b="1" dirty="0" err="1">
                <a:solidFill>
                  <a:schemeClr val="bg1"/>
                </a:solidFill>
              </a:rPr>
              <a:t>Cumplimiento</a:t>
            </a:r>
            <a:r>
              <a:rPr lang="en-US" sz="1600" b="1" dirty="0">
                <a:solidFill>
                  <a:schemeClr val="bg1"/>
                </a:solidFill>
              </a:rPr>
              <a:t> CAPP</a:t>
            </a:r>
          </a:p>
          <a:p>
            <a:pPr algn="ctr"/>
            <a:endParaRPr lang="en-US" sz="1600" b="1" dirty="0">
              <a:solidFill>
                <a:schemeClr val="bg1"/>
              </a:solidFill>
              <a:effectLst/>
              <a:latin typeface="Helvetica Neue" panose="02000503000000020004" pitchFamily="2" charset="0"/>
            </a:endParaRPr>
          </a:p>
        </p:txBody>
      </p:sp>
      <p:sp>
        <p:nvSpPr>
          <p:cNvPr id="16" name="TextBox 15">
            <a:extLst>
              <a:ext uri="{FF2B5EF4-FFF2-40B4-BE49-F238E27FC236}">
                <a16:creationId xmlns:a16="http://schemas.microsoft.com/office/drawing/2014/main" id="{420BE6D0-2BF3-E30F-E3B5-2688FB95A12F}"/>
              </a:ext>
            </a:extLst>
          </p:cNvPr>
          <p:cNvSpPr txBox="1"/>
          <p:nvPr/>
        </p:nvSpPr>
        <p:spPr>
          <a:xfrm>
            <a:off x="6355837" y="3210343"/>
            <a:ext cx="1967494" cy="1292662"/>
          </a:xfrm>
          <a:prstGeom prst="rect">
            <a:avLst/>
          </a:prstGeom>
          <a:noFill/>
        </p:spPr>
        <p:txBody>
          <a:bodyPr wrap="square" lIns="0" tIns="0" rIns="0" bIns="0" rtlCol="0">
            <a:spAutoFit/>
          </a:bodyPr>
          <a:lstStyle/>
          <a:p>
            <a:pPr>
              <a:spcAft>
                <a:spcPts val="600"/>
              </a:spcAft>
            </a:pPr>
            <a:r>
              <a:rPr lang="es-CO" sz="1400" dirty="0"/>
              <a:t>Funcionalidad que permite analizar si el estudiante cumple con los requerimientos académicos de su malla curricular</a:t>
            </a:r>
          </a:p>
        </p:txBody>
      </p:sp>
      <p:sp>
        <p:nvSpPr>
          <p:cNvPr id="17" name="Rectangle 16">
            <a:extLst>
              <a:ext uri="{FF2B5EF4-FFF2-40B4-BE49-F238E27FC236}">
                <a16:creationId xmlns:a16="http://schemas.microsoft.com/office/drawing/2014/main" id="{33065F3E-B67A-446C-83A0-013DB2C9CEF1}"/>
              </a:ext>
            </a:extLst>
          </p:cNvPr>
          <p:cNvSpPr/>
          <p:nvPr/>
        </p:nvSpPr>
        <p:spPr>
          <a:xfrm>
            <a:off x="8621757" y="1906260"/>
            <a:ext cx="2162646" cy="3847388"/>
          </a:xfrm>
          <a:prstGeom prst="rect">
            <a:avLst/>
          </a:prstGeom>
          <a:solidFill>
            <a:schemeClr val="bg1"/>
          </a:solidFill>
          <a:ln>
            <a:noFill/>
          </a:ln>
          <a:effectLst>
            <a:outerShdw blurRad="254000" dist="635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33D0AFB3-F2DE-D92A-8E25-FE70A5DC935B}"/>
              </a:ext>
            </a:extLst>
          </p:cNvPr>
          <p:cNvSpPr/>
          <p:nvPr/>
        </p:nvSpPr>
        <p:spPr>
          <a:xfrm>
            <a:off x="8621757" y="5665582"/>
            <a:ext cx="2162646" cy="8806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BF25FDE4-0C48-9E73-3086-418EE5BBFE32}"/>
              </a:ext>
            </a:extLst>
          </p:cNvPr>
          <p:cNvSpPr/>
          <p:nvPr/>
        </p:nvSpPr>
        <p:spPr>
          <a:xfrm>
            <a:off x="8621757" y="1906256"/>
            <a:ext cx="2162646" cy="1107108"/>
          </a:xfrm>
          <a:custGeom>
            <a:avLst/>
            <a:gdLst>
              <a:gd name="connsiteX0" fmla="*/ 0 w 2162646"/>
              <a:gd name="connsiteY0" fmla="*/ 0 h 890587"/>
              <a:gd name="connsiteX1" fmla="*/ 0 w 2162646"/>
              <a:gd name="connsiteY1" fmla="*/ 713422 h 890587"/>
              <a:gd name="connsiteX2" fmla="*/ 857454 w 2162646"/>
              <a:gd name="connsiteY2" fmla="*/ 713422 h 890587"/>
              <a:gd name="connsiteX3" fmla="*/ 1081799 w 2162646"/>
              <a:gd name="connsiteY3" fmla="*/ 890588 h 890587"/>
              <a:gd name="connsiteX4" fmla="*/ 1306144 w 2162646"/>
              <a:gd name="connsiteY4" fmla="*/ 713422 h 890587"/>
              <a:gd name="connsiteX5" fmla="*/ 2162647 w 2162646"/>
              <a:gd name="connsiteY5" fmla="*/ 713422 h 890587"/>
              <a:gd name="connsiteX6" fmla="*/ 2162647 w 2162646"/>
              <a:gd name="connsiteY6" fmla="*/ 0 h 890587"/>
              <a:gd name="connsiteX7" fmla="*/ 0 w 2162646"/>
              <a:gd name="connsiteY7" fmla="*/ 0 h 8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2646" h="890587">
                <a:moveTo>
                  <a:pt x="0" y="0"/>
                </a:moveTo>
                <a:lnTo>
                  <a:pt x="0" y="713422"/>
                </a:lnTo>
                <a:lnTo>
                  <a:pt x="857454" y="713422"/>
                </a:lnTo>
                <a:lnTo>
                  <a:pt x="1081799" y="890588"/>
                </a:lnTo>
                <a:lnTo>
                  <a:pt x="1306144" y="713422"/>
                </a:lnTo>
                <a:lnTo>
                  <a:pt x="2162647" y="713422"/>
                </a:lnTo>
                <a:lnTo>
                  <a:pt x="2162647" y="0"/>
                </a:lnTo>
                <a:lnTo>
                  <a:pt x="0" y="0"/>
                </a:lnTo>
                <a:close/>
              </a:path>
            </a:pathLst>
          </a:custGeom>
          <a:solidFill>
            <a:schemeClr val="bg2"/>
          </a:solidFill>
          <a:ln w="9506" cap="flat">
            <a:noFill/>
            <a:prstDash val="solid"/>
            <a:miter/>
          </a:ln>
        </p:spPr>
        <p:txBody>
          <a:bodyPr rtlCol="0" anchor="ctr"/>
          <a:lstStyle/>
          <a:p>
            <a:endParaRPr lang="en-US"/>
          </a:p>
        </p:txBody>
      </p:sp>
      <p:sp>
        <p:nvSpPr>
          <p:cNvPr id="20" name="TextBox 19">
            <a:extLst>
              <a:ext uri="{FF2B5EF4-FFF2-40B4-BE49-F238E27FC236}">
                <a16:creationId xmlns:a16="http://schemas.microsoft.com/office/drawing/2014/main" id="{F457445C-F9F1-69DC-5F7C-79CC7788A3CC}"/>
              </a:ext>
            </a:extLst>
          </p:cNvPr>
          <p:cNvSpPr txBox="1"/>
          <p:nvPr/>
        </p:nvSpPr>
        <p:spPr>
          <a:xfrm>
            <a:off x="8719333" y="2103238"/>
            <a:ext cx="1967494" cy="246221"/>
          </a:xfrm>
          <a:prstGeom prst="rect">
            <a:avLst/>
          </a:prstGeom>
          <a:noFill/>
        </p:spPr>
        <p:txBody>
          <a:bodyPr wrap="square" lIns="0" tIns="0" rIns="0" bIns="0" rtlCol="0">
            <a:spAutoFit/>
          </a:bodyPr>
          <a:lstStyle/>
          <a:p>
            <a:pPr algn="ctr"/>
            <a:r>
              <a:rPr lang="en-US" sz="1600" b="1" dirty="0" err="1"/>
              <a:t>Retención</a:t>
            </a:r>
            <a:endParaRPr lang="en-US" sz="1600" b="1" dirty="0">
              <a:effectLst/>
              <a:latin typeface="Helvetica Neue" panose="02000503000000020004" pitchFamily="2" charset="0"/>
            </a:endParaRPr>
          </a:p>
        </p:txBody>
      </p:sp>
      <p:sp>
        <p:nvSpPr>
          <p:cNvPr id="21" name="TextBox 20">
            <a:extLst>
              <a:ext uri="{FF2B5EF4-FFF2-40B4-BE49-F238E27FC236}">
                <a16:creationId xmlns:a16="http://schemas.microsoft.com/office/drawing/2014/main" id="{B4A2853E-66A9-4333-6FA2-485CE69BA118}"/>
              </a:ext>
            </a:extLst>
          </p:cNvPr>
          <p:cNvSpPr txBox="1"/>
          <p:nvPr/>
        </p:nvSpPr>
        <p:spPr>
          <a:xfrm>
            <a:off x="8719333" y="3210343"/>
            <a:ext cx="1967494" cy="1292662"/>
          </a:xfrm>
          <a:prstGeom prst="rect">
            <a:avLst/>
          </a:prstGeom>
          <a:noFill/>
        </p:spPr>
        <p:txBody>
          <a:bodyPr wrap="square" lIns="0" tIns="0" rIns="0" bIns="0" rtlCol="0">
            <a:spAutoFit/>
          </a:bodyPr>
          <a:lstStyle/>
          <a:p>
            <a:pPr>
              <a:spcAft>
                <a:spcPts val="600"/>
              </a:spcAft>
            </a:pPr>
            <a:r>
              <a:rPr lang="es-CO" sz="1400" dirty="0"/>
              <a:t>Bloqueo o restricción que se asigna a un alumno por un rango de tiempo y le puede impedir realizar procesos dentro del sistema.</a:t>
            </a:r>
            <a:endParaRPr lang="en-US" sz="1400" dirty="0">
              <a:effectLst/>
              <a:latin typeface="Helvetica Neue" panose="02000503000000020004" pitchFamily="2" charset="0"/>
            </a:endParaRPr>
          </a:p>
        </p:txBody>
      </p:sp>
      <p:sp>
        <p:nvSpPr>
          <p:cNvPr id="27" name="TextBox 26">
            <a:extLst>
              <a:ext uri="{FF2B5EF4-FFF2-40B4-BE49-F238E27FC236}">
                <a16:creationId xmlns:a16="http://schemas.microsoft.com/office/drawing/2014/main" id="{D65668C3-F67A-E97E-AF68-ED0C0F936C43}"/>
              </a:ext>
            </a:extLst>
          </p:cNvPr>
          <p:cNvSpPr txBox="1"/>
          <p:nvPr/>
        </p:nvSpPr>
        <p:spPr>
          <a:xfrm>
            <a:off x="1057983" y="554087"/>
            <a:ext cx="10076033" cy="446084"/>
          </a:xfrm>
          <a:prstGeom prst="rect">
            <a:avLst/>
          </a:prstGeom>
          <a:noFill/>
        </p:spPr>
        <p:txBody>
          <a:bodyPr wrap="square" lIns="0" tIns="0" rIns="0" bIns="0" rtlCol="0">
            <a:spAutoFit/>
          </a:bodyPr>
          <a:lstStyle/>
          <a:p>
            <a:pPr algn="ctr">
              <a:lnSpc>
                <a:spcPct val="90000"/>
              </a:lnSpc>
            </a:pPr>
            <a:r>
              <a:rPr lang="en-US" sz="3200" b="1" dirty="0"/>
              <a:t>DEFINICIONES</a:t>
            </a:r>
          </a:p>
        </p:txBody>
      </p:sp>
    </p:spTree>
    <p:extLst>
      <p:ext uri="{BB962C8B-B14F-4D97-AF65-F5344CB8AC3E}">
        <p14:creationId xmlns:p14="http://schemas.microsoft.com/office/powerpoint/2010/main" val="1947503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el otorgamiento y registro de grado</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15</a:t>
            </a:fld>
            <a:endParaRPr lang="en-US"/>
          </a:p>
        </p:txBody>
      </p:sp>
    </p:spTree>
    <p:extLst>
      <p:ext uri="{BB962C8B-B14F-4D97-AF65-F5344CB8AC3E}">
        <p14:creationId xmlns:p14="http://schemas.microsoft.com/office/powerpoint/2010/main" val="690636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6ED49-3064-5B2A-8DBB-10F768AFD3F5}"/>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C2222351-582D-7B14-DBD5-1A343A5E98AC}"/>
              </a:ext>
            </a:extLst>
          </p:cNvPr>
          <p:cNvPicPr>
            <a:picLocks noChangeAspect="1"/>
          </p:cNvPicPr>
          <p:nvPr/>
        </p:nvPicPr>
        <p:blipFill>
          <a:blip r:embed="rId2"/>
          <a:stretch>
            <a:fillRect/>
          </a:stretch>
        </p:blipFill>
        <p:spPr>
          <a:xfrm>
            <a:off x="609601" y="880006"/>
            <a:ext cx="11479463" cy="5097985"/>
          </a:xfrm>
          <a:prstGeom prst="rect">
            <a:avLst/>
          </a:prstGeom>
        </p:spPr>
      </p:pic>
      <p:sp>
        <p:nvSpPr>
          <p:cNvPr id="3" name="Marcador de texto vertical 2">
            <a:extLst>
              <a:ext uri="{FF2B5EF4-FFF2-40B4-BE49-F238E27FC236}">
                <a16:creationId xmlns:a16="http://schemas.microsoft.com/office/drawing/2014/main" id="{99DED518-53A6-8408-2363-D6BFE33F8857}"/>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9177D814-5E7B-76F9-1E01-0030D3D86A10}"/>
              </a:ext>
            </a:extLst>
          </p:cNvPr>
          <p:cNvSpPr>
            <a:spLocks noGrp="1"/>
          </p:cNvSpPr>
          <p:nvPr>
            <p:ph type="title"/>
          </p:nvPr>
        </p:nvSpPr>
        <p:spPr>
          <a:xfrm>
            <a:off x="765906" y="248928"/>
            <a:ext cx="10271883" cy="626165"/>
          </a:xfrm>
        </p:spPr>
        <p:txBody>
          <a:bodyPr/>
          <a:lstStyle/>
          <a:p>
            <a:r>
              <a:rPr lang="es-ES_tradnl" dirty="0">
                <a:solidFill>
                  <a:schemeClr val="accent1"/>
                </a:solidFill>
              </a:rPr>
              <a:t>Configuraciones: </a:t>
            </a:r>
            <a:r>
              <a:rPr lang="es-CO" b="0" dirty="0">
                <a:solidFill>
                  <a:schemeClr val="accent1"/>
                </a:solidFill>
              </a:rPr>
              <a:t>Control de historia académica (SHACTRL)</a:t>
            </a:r>
            <a:endParaRPr lang="es-CL" dirty="0">
              <a:solidFill>
                <a:schemeClr val="accent1"/>
              </a:solidFill>
            </a:endParaRPr>
          </a:p>
        </p:txBody>
      </p:sp>
      <p:sp>
        <p:nvSpPr>
          <p:cNvPr id="17" name="Rectángulo redondeado 5">
            <a:extLst>
              <a:ext uri="{FF2B5EF4-FFF2-40B4-BE49-F238E27FC236}">
                <a16:creationId xmlns:a16="http://schemas.microsoft.com/office/drawing/2014/main" id="{E3D9BE28-EC68-1FF9-0098-D187DE78FE11}"/>
              </a:ext>
            </a:extLst>
          </p:cNvPr>
          <p:cNvSpPr/>
          <p:nvPr/>
        </p:nvSpPr>
        <p:spPr>
          <a:xfrm>
            <a:off x="1448657" y="4922570"/>
            <a:ext cx="10133742" cy="158300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la sección de ‘Controles de periodo de graduación en autoservicio’, se puede configurar los periodos que van a estar disponibles al realizar una solicitud de grado:</a:t>
            </a:r>
          </a:p>
          <a:p>
            <a:pPr marL="342900" indent="-342900">
              <a:buFont typeface="+mj-lt"/>
              <a:buAutoNum type="arabicPeriod"/>
            </a:pPr>
            <a:r>
              <a:rPr lang="es-ES_tradnl" sz="1200" b="1" dirty="0"/>
              <a:t>Todo</a:t>
            </a:r>
            <a:r>
              <a:rPr lang="es-ES_tradnl" sz="1200" dirty="0"/>
              <a:t>: mostrará los periodos que tiene el estudiante en historia académica y el último periodo dónde realizó una inscripción de cursos.</a:t>
            </a:r>
          </a:p>
          <a:p>
            <a:pPr marL="342900" indent="-342900">
              <a:buFont typeface="+mj-lt"/>
              <a:buAutoNum type="arabicPeriod"/>
            </a:pPr>
            <a:r>
              <a:rPr lang="es-ES_tradnl" sz="1200" b="1" dirty="0"/>
              <a:t>Última historia académica: </a:t>
            </a:r>
            <a:r>
              <a:rPr lang="es-ES_tradnl" sz="1200" dirty="0"/>
              <a:t>se visualizará el periodo más reciente dónde el estudiante tiene historia académica</a:t>
            </a:r>
          </a:p>
          <a:p>
            <a:pPr marL="342900" indent="-342900">
              <a:buFont typeface="+mj-lt"/>
              <a:buAutoNum type="arabicPeriod"/>
            </a:pPr>
            <a:r>
              <a:rPr lang="es-ES_tradnl" sz="1200" b="1" dirty="0"/>
              <a:t>Última Inscripción: </a:t>
            </a:r>
            <a:r>
              <a:rPr lang="es-ES_tradnl" sz="1200" dirty="0"/>
              <a:t>se visualizará el periodo más reciente dónde el estudiante tiene una Inscripción</a:t>
            </a:r>
          </a:p>
          <a:p>
            <a:pPr marL="342900" indent="-342900">
              <a:buFont typeface="+mj-lt"/>
              <a:buAutoNum type="arabicPeriod"/>
            </a:pPr>
            <a:r>
              <a:rPr lang="es-ES_tradnl" sz="1200" b="1" dirty="0"/>
              <a:t>Última Inscripción e  historia: </a:t>
            </a:r>
            <a:r>
              <a:rPr lang="es-ES_tradnl" sz="1200" dirty="0"/>
              <a:t>se visualizará el periodo más reciente dónde el estudiante tiene historia académica y el último periodo dónde tiene una inscripción de cursos.</a:t>
            </a:r>
          </a:p>
        </p:txBody>
      </p:sp>
      <p:sp>
        <p:nvSpPr>
          <p:cNvPr id="20" name="Rectángulo redondeado 9">
            <a:extLst>
              <a:ext uri="{FF2B5EF4-FFF2-40B4-BE49-F238E27FC236}">
                <a16:creationId xmlns:a16="http://schemas.microsoft.com/office/drawing/2014/main" id="{5A9FAB01-363C-F2A3-981D-D2E004F9FDAB}"/>
              </a:ext>
            </a:extLst>
          </p:cNvPr>
          <p:cNvSpPr/>
          <p:nvPr/>
        </p:nvSpPr>
        <p:spPr>
          <a:xfrm>
            <a:off x="5271881" y="430918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a:t>
            </a:r>
          </a:p>
        </p:txBody>
      </p:sp>
      <p:sp>
        <p:nvSpPr>
          <p:cNvPr id="11" name="Rectángulo 10">
            <a:extLst>
              <a:ext uri="{FF2B5EF4-FFF2-40B4-BE49-F238E27FC236}">
                <a16:creationId xmlns:a16="http://schemas.microsoft.com/office/drawing/2014/main" id="{5DF499BD-F8E9-5F7A-C4D3-B4D116D13BC7}"/>
              </a:ext>
            </a:extLst>
          </p:cNvPr>
          <p:cNvSpPr/>
          <p:nvPr/>
        </p:nvSpPr>
        <p:spPr>
          <a:xfrm>
            <a:off x="609600" y="4186030"/>
            <a:ext cx="4495799" cy="46500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439411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C9692-1816-F381-1007-6222F47D06A0}"/>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27694451-0737-D9E3-6A0D-4226394E0817}"/>
              </a:ext>
            </a:extLst>
          </p:cNvPr>
          <p:cNvPicPr>
            <a:picLocks noChangeAspect="1"/>
          </p:cNvPicPr>
          <p:nvPr/>
        </p:nvPicPr>
        <p:blipFill>
          <a:blip r:embed="rId2"/>
          <a:stretch>
            <a:fillRect/>
          </a:stretch>
        </p:blipFill>
        <p:spPr>
          <a:xfrm>
            <a:off x="765906" y="1419225"/>
            <a:ext cx="11068196" cy="4910212"/>
          </a:xfrm>
          <a:prstGeom prst="rect">
            <a:avLst/>
          </a:prstGeom>
        </p:spPr>
      </p:pic>
      <p:sp>
        <p:nvSpPr>
          <p:cNvPr id="3" name="Marcador de texto vertical 2">
            <a:extLst>
              <a:ext uri="{FF2B5EF4-FFF2-40B4-BE49-F238E27FC236}">
                <a16:creationId xmlns:a16="http://schemas.microsoft.com/office/drawing/2014/main" id="{F759E974-C7A8-DFB3-3034-FACD0C7AE485}"/>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3F44F888-8123-1CF7-9F40-BDCFE2D5CB0E}"/>
              </a:ext>
            </a:extLst>
          </p:cNvPr>
          <p:cNvSpPr>
            <a:spLocks noGrp="1"/>
          </p:cNvSpPr>
          <p:nvPr>
            <p:ph type="title"/>
          </p:nvPr>
        </p:nvSpPr>
        <p:spPr>
          <a:xfrm>
            <a:off x="765906" y="248928"/>
            <a:ext cx="10271883" cy="626165"/>
          </a:xfrm>
        </p:spPr>
        <p:txBody>
          <a:bodyPr/>
          <a:lstStyle/>
          <a:p>
            <a:r>
              <a:rPr lang="es-ES_tradnl" dirty="0">
                <a:solidFill>
                  <a:schemeClr val="accent1"/>
                </a:solidFill>
              </a:rPr>
              <a:t>Configuraciones: </a:t>
            </a:r>
            <a:r>
              <a:rPr lang="es-CO" b="0" dirty="0">
                <a:solidFill>
                  <a:schemeClr val="accent1"/>
                </a:solidFill>
              </a:rPr>
              <a:t>Validación de opciones de pago en web (STVWPYO)</a:t>
            </a:r>
            <a:endParaRPr lang="es-CL" dirty="0">
              <a:solidFill>
                <a:schemeClr val="accent1"/>
              </a:solidFill>
            </a:endParaRPr>
          </a:p>
        </p:txBody>
      </p:sp>
      <p:sp>
        <p:nvSpPr>
          <p:cNvPr id="17" name="Rectángulo redondeado 5">
            <a:extLst>
              <a:ext uri="{FF2B5EF4-FFF2-40B4-BE49-F238E27FC236}">
                <a16:creationId xmlns:a16="http://schemas.microsoft.com/office/drawing/2014/main" id="{C428FB8D-D535-0F3F-65DD-2419D716B939}"/>
              </a:ext>
            </a:extLst>
          </p:cNvPr>
          <p:cNvSpPr/>
          <p:nvPr/>
        </p:nvSpPr>
        <p:spPr>
          <a:xfrm>
            <a:off x="2124932" y="4033838"/>
            <a:ext cx="7400068" cy="98107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Está página debe estar configurada, para poder indicar en las solicitudes de graduación el cargo a generar.</a:t>
            </a:r>
          </a:p>
        </p:txBody>
      </p:sp>
    </p:spTree>
    <p:extLst>
      <p:ext uri="{BB962C8B-B14F-4D97-AF65-F5344CB8AC3E}">
        <p14:creationId xmlns:p14="http://schemas.microsoft.com/office/powerpoint/2010/main" val="2240291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30332-B392-9354-D747-D8CE7FE26B85}"/>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C27272FF-FD00-ADB4-A9C8-D05B03626FD2}"/>
              </a:ext>
            </a:extLst>
          </p:cNvPr>
          <p:cNvPicPr>
            <a:picLocks noChangeAspect="1"/>
          </p:cNvPicPr>
          <p:nvPr/>
        </p:nvPicPr>
        <p:blipFill>
          <a:blip r:embed="rId2"/>
          <a:stretch>
            <a:fillRect/>
          </a:stretch>
        </p:blipFill>
        <p:spPr>
          <a:xfrm>
            <a:off x="765906" y="1367127"/>
            <a:ext cx="10785712" cy="4683790"/>
          </a:xfrm>
          <a:prstGeom prst="rect">
            <a:avLst/>
          </a:prstGeom>
        </p:spPr>
      </p:pic>
      <p:sp>
        <p:nvSpPr>
          <p:cNvPr id="3" name="Marcador de texto vertical 2">
            <a:extLst>
              <a:ext uri="{FF2B5EF4-FFF2-40B4-BE49-F238E27FC236}">
                <a16:creationId xmlns:a16="http://schemas.microsoft.com/office/drawing/2014/main" id="{4424861D-61C2-71FF-33AE-FA3BE08186F5}"/>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04C3AC35-9390-166D-6BB7-73E76B1D903F}"/>
              </a:ext>
            </a:extLst>
          </p:cNvPr>
          <p:cNvSpPr>
            <a:spLocks noGrp="1"/>
          </p:cNvSpPr>
          <p:nvPr>
            <p:ph type="title"/>
          </p:nvPr>
        </p:nvSpPr>
        <p:spPr>
          <a:xfrm>
            <a:off x="765906" y="248928"/>
            <a:ext cx="10271883" cy="626165"/>
          </a:xfrm>
        </p:spPr>
        <p:txBody>
          <a:bodyPr/>
          <a:lstStyle/>
          <a:p>
            <a:r>
              <a:rPr lang="es-ES_tradnl" dirty="0">
                <a:solidFill>
                  <a:schemeClr val="accent1"/>
                </a:solidFill>
              </a:rPr>
              <a:t>Configuraciones: </a:t>
            </a:r>
            <a:r>
              <a:rPr lang="es-CO" b="0" dirty="0">
                <a:solidFill>
                  <a:schemeClr val="accent1"/>
                </a:solidFill>
              </a:rPr>
              <a:t>Validación de código de status de solicitud de graduación (STVGAST)</a:t>
            </a:r>
            <a:endParaRPr lang="es-CL" dirty="0">
              <a:solidFill>
                <a:schemeClr val="accent1"/>
              </a:solidFill>
            </a:endParaRPr>
          </a:p>
        </p:txBody>
      </p:sp>
      <p:sp>
        <p:nvSpPr>
          <p:cNvPr id="10" name="Rectángulo redondeado 9">
            <a:extLst>
              <a:ext uri="{FF2B5EF4-FFF2-40B4-BE49-F238E27FC236}">
                <a16:creationId xmlns:a16="http://schemas.microsoft.com/office/drawing/2014/main" id="{667297C9-DA7F-E289-947A-6C45BDC7C742}"/>
              </a:ext>
            </a:extLst>
          </p:cNvPr>
          <p:cNvSpPr/>
          <p:nvPr/>
        </p:nvSpPr>
        <p:spPr>
          <a:xfrm>
            <a:off x="10020940" y="170088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a:t>
            </a:r>
          </a:p>
        </p:txBody>
      </p:sp>
      <p:sp>
        <p:nvSpPr>
          <p:cNvPr id="14" name="Rectángulo 13">
            <a:extLst>
              <a:ext uri="{FF2B5EF4-FFF2-40B4-BE49-F238E27FC236}">
                <a16:creationId xmlns:a16="http://schemas.microsoft.com/office/drawing/2014/main" id="{3C2BAE10-D158-5ED7-D947-81FFC59D6773}"/>
              </a:ext>
            </a:extLst>
          </p:cNvPr>
          <p:cNvSpPr/>
          <p:nvPr/>
        </p:nvSpPr>
        <p:spPr>
          <a:xfrm>
            <a:off x="10655004" y="1700064"/>
            <a:ext cx="290770"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708514B7-B2BC-C8D9-55BB-8C98C395CB11}"/>
              </a:ext>
            </a:extLst>
          </p:cNvPr>
          <p:cNvSpPr/>
          <p:nvPr/>
        </p:nvSpPr>
        <p:spPr>
          <a:xfrm>
            <a:off x="717670" y="2091569"/>
            <a:ext cx="1021501" cy="20590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5">
            <a:extLst>
              <a:ext uri="{FF2B5EF4-FFF2-40B4-BE49-F238E27FC236}">
                <a16:creationId xmlns:a16="http://schemas.microsoft.com/office/drawing/2014/main" id="{AF85EC67-B15E-B3B0-9D95-E1E4FDEDEE06}"/>
              </a:ext>
            </a:extLst>
          </p:cNvPr>
          <p:cNvSpPr/>
          <p:nvPr/>
        </p:nvSpPr>
        <p:spPr>
          <a:xfrm>
            <a:off x="1029129" y="4375372"/>
            <a:ext cx="10133742" cy="115252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Se definirán los diferentes estatus que se le puede asignar a una solicitud de grado.</a:t>
            </a:r>
          </a:p>
          <a:p>
            <a:pPr marL="342900" indent="-342900">
              <a:buFont typeface="+mj-lt"/>
              <a:buAutoNum type="arabicPeriod"/>
            </a:pPr>
            <a:r>
              <a:rPr lang="es-ES_tradnl" sz="1200" dirty="0"/>
              <a:t>Se inserta un registro. </a:t>
            </a:r>
          </a:p>
          <a:p>
            <a:pPr marL="342900" indent="-342900">
              <a:buFont typeface="+mj-lt"/>
              <a:buAutoNum type="arabicPeriod"/>
            </a:pPr>
            <a:r>
              <a:rPr lang="es-ES_tradnl" sz="1200" dirty="0"/>
              <a:t>Se ingresa el código: máximo de 2 caracteres. Deben existir los códigos AC-Solicitud Activa y IA: Solicitud Inactiva</a:t>
            </a:r>
          </a:p>
          <a:p>
            <a:pPr marL="342900" indent="-342900">
              <a:buFont typeface="+mj-lt"/>
              <a:buAutoNum type="arabicPeriod"/>
            </a:pPr>
            <a:r>
              <a:rPr lang="es-ES_tradnl" sz="1200" dirty="0"/>
              <a:t>Se ingresa la descripción correspondiente, máximo de 30 caracteres.</a:t>
            </a:r>
          </a:p>
          <a:p>
            <a:endParaRPr lang="es-ES_tradnl" sz="1200" dirty="0"/>
          </a:p>
        </p:txBody>
      </p:sp>
      <p:sp>
        <p:nvSpPr>
          <p:cNvPr id="18" name="Rectángulo redondeado 9">
            <a:extLst>
              <a:ext uri="{FF2B5EF4-FFF2-40B4-BE49-F238E27FC236}">
                <a16:creationId xmlns:a16="http://schemas.microsoft.com/office/drawing/2014/main" id="{538AAD9F-E1BA-4090-CBED-0CEC7977C4F7}"/>
              </a:ext>
            </a:extLst>
          </p:cNvPr>
          <p:cNvSpPr/>
          <p:nvPr/>
        </p:nvSpPr>
        <p:spPr>
          <a:xfrm>
            <a:off x="1126361" y="2350319"/>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2</a:t>
            </a:r>
          </a:p>
        </p:txBody>
      </p:sp>
      <p:sp>
        <p:nvSpPr>
          <p:cNvPr id="20" name="Rectángulo redondeado 9">
            <a:extLst>
              <a:ext uri="{FF2B5EF4-FFF2-40B4-BE49-F238E27FC236}">
                <a16:creationId xmlns:a16="http://schemas.microsoft.com/office/drawing/2014/main" id="{0CE57F6D-6900-41B4-B3DA-1DAAD82D378D}"/>
              </a:ext>
            </a:extLst>
          </p:cNvPr>
          <p:cNvSpPr/>
          <p:nvPr/>
        </p:nvSpPr>
        <p:spPr>
          <a:xfrm>
            <a:off x="3488878" y="240396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3</a:t>
            </a:r>
          </a:p>
        </p:txBody>
      </p:sp>
      <p:sp>
        <p:nvSpPr>
          <p:cNvPr id="11" name="Rectángulo 10">
            <a:extLst>
              <a:ext uri="{FF2B5EF4-FFF2-40B4-BE49-F238E27FC236}">
                <a16:creationId xmlns:a16="http://schemas.microsoft.com/office/drawing/2014/main" id="{B16F9A36-132E-619E-F40F-5E1A161BFEF8}"/>
              </a:ext>
            </a:extLst>
          </p:cNvPr>
          <p:cNvSpPr/>
          <p:nvPr/>
        </p:nvSpPr>
        <p:spPr>
          <a:xfrm>
            <a:off x="1895476" y="2091569"/>
            <a:ext cx="1619250" cy="20590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284623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E0324-7EA7-05FB-997D-0CAEA1133DD9}"/>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80083867-7E85-FF50-320B-17D8623010CB}"/>
              </a:ext>
            </a:extLst>
          </p:cNvPr>
          <p:cNvPicPr>
            <a:picLocks noChangeAspect="1"/>
          </p:cNvPicPr>
          <p:nvPr/>
        </p:nvPicPr>
        <p:blipFill>
          <a:blip r:embed="rId2"/>
          <a:stretch>
            <a:fillRect/>
          </a:stretch>
        </p:blipFill>
        <p:spPr>
          <a:xfrm>
            <a:off x="765906" y="1367127"/>
            <a:ext cx="10785712" cy="4683790"/>
          </a:xfrm>
          <a:prstGeom prst="rect">
            <a:avLst/>
          </a:prstGeom>
        </p:spPr>
      </p:pic>
      <p:sp>
        <p:nvSpPr>
          <p:cNvPr id="3" name="Marcador de texto vertical 2">
            <a:extLst>
              <a:ext uri="{FF2B5EF4-FFF2-40B4-BE49-F238E27FC236}">
                <a16:creationId xmlns:a16="http://schemas.microsoft.com/office/drawing/2014/main" id="{8811DB12-CF06-B69F-9E17-93EDDF398742}"/>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E578ACA9-76AF-7364-A185-3026B22529C3}"/>
              </a:ext>
            </a:extLst>
          </p:cNvPr>
          <p:cNvSpPr>
            <a:spLocks noGrp="1"/>
          </p:cNvSpPr>
          <p:nvPr>
            <p:ph type="title"/>
          </p:nvPr>
        </p:nvSpPr>
        <p:spPr>
          <a:xfrm>
            <a:off x="765906" y="248928"/>
            <a:ext cx="10271883" cy="626165"/>
          </a:xfrm>
        </p:spPr>
        <p:txBody>
          <a:bodyPr/>
          <a:lstStyle/>
          <a:p>
            <a:r>
              <a:rPr lang="es-ES_tradnl" dirty="0">
                <a:solidFill>
                  <a:schemeClr val="accent1"/>
                </a:solidFill>
              </a:rPr>
              <a:t>Configuraciones: </a:t>
            </a:r>
            <a:r>
              <a:rPr lang="es-CO" b="0" dirty="0">
                <a:solidFill>
                  <a:schemeClr val="accent1"/>
                </a:solidFill>
              </a:rPr>
              <a:t>Validación de código de status de solicitud de graduación (STVGAST)</a:t>
            </a:r>
            <a:endParaRPr lang="es-CL" dirty="0">
              <a:solidFill>
                <a:schemeClr val="accent1"/>
              </a:solidFill>
            </a:endParaRPr>
          </a:p>
        </p:txBody>
      </p:sp>
      <p:sp>
        <p:nvSpPr>
          <p:cNvPr id="15" name="Rectángulo 14">
            <a:extLst>
              <a:ext uri="{FF2B5EF4-FFF2-40B4-BE49-F238E27FC236}">
                <a16:creationId xmlns:a16="http://schemas.microsoft.com/office/drawing/2014/main" id="{CCDE25AA-C3A4-5FBA-C60B-99B790F10CF5}"/>
              </a:ext>
            </a:extLst>
          </p:cNvPr>
          <p:cNvSpPr/>
          <p:nvPr/>
        </p:nvSpPr>
        <p:spPr>
          <a:xfrm>
            <a:off x="8176080" y="1918761"/>
            <a:ext cx="1177805" cy="117817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5">
            <a:extLst>
              <a:ext uri="{FF2B5EF4-FFF2-40B4-BE49-F238E27FC236}">
                <a16:creationId xmlns:a16="http://schemas.microsoft.com/office/drawing/2014/main" id="{E4DCB261-E459-67C6-77F4-E83C055DF564}"/>
              </a:ext>
            </a:extLst>
          </p:cNvPr>
          <p:cNvSpPr/>
          <p:nvPr/>
        </p:nvSpPr>
        <p:spPr>
          <a:xfrm>
            <a:off x="3036325" y="3979100"/>
            <a:ext cx="6716631" cy="117817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3. Se marcar para el estatus de la solicitud que indique que esta activa</a:t>
            </a:r>
          </a:p>
          <a:p>
            <a:r>
              <a:rPr lang="es-ES_tradnl" sz="1200" dirty="0"/>
              <a:t>4.Los estados marcados con este </a:t>
            </a:r>
            <a:r>
              <a:rPr lang="es-ES_tradnl" sz="1200" dirty="0" err="1"/>
              <a:t>check</a:t>
            </a:r>
            <a:r>
              <a:rPr lang="es-ES_tradnl" sz="1200" dirty="0"/>
              <a:t>, se desplegarán en web (autoservicio del estudiante)</a:t>
            </a:r>
          </a:p>
          <a:p>
            <a:r>
              <a:rPr lang="es-ES_tradnl" sz="1200" dirty="0"/>
              <a:t>5. Guarde el registro</a:t>
            </a:r>
          </a:p>
          <a:p>
            <a:endParaRPr lang="es-ES_tradnl" sz="1200" dirty="0"/>
          </a:p>
          <a:p>
            <a:r>
              <a:rPr lang="es-ES_tradnl" sz="1200" dirty="0"/>
              <a:t>Deben existir los estatus de AC e IA.</a:t>
            </a:r>
          </a:p>
          <a:p>
            <a:endParaRPr lang="es-ES_tradnl" sz="1200" dirty="0"/>
          </a:p>
        </p:txBody>
      </p:sp>
      <p:sp>
        <p:nvSpPr>
          <p:cNvPr id="18" name="Rectángulo redondeado 9">
            <a:extLst>
              <a:ext uri="{FF2B5EF4-FFF2-40B4-BE49-F238E27FC236}">
                <a16:creationId xmlns:a16="http://schemas.microsoft.com/office/drawing/2014/main" id="{80A32662-3D97-06A8-F76C-1C98499601B4}"/>
              </a:ext>
            </a:extLst>
          </p:cNvPr>
          <p:cNvSpPr/>
          <p:nvPr/>
        </p:nvSpPr>
        <p:spPr>
          <a:xfrm>
            <a:off x="10571915" y="5832220"/>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6</a:t>
            </a:r>
          </a:p>
        </p:txBody>
      </p:sp>
      <p:sp>
        <p:nvSpPr>
          <p:cNvPr id="20" name="Rectángulo redondeado 9">
            <a:extLst>
              <a:ext uri="{FF2B5EF4-FFF2-40B4-BE49-F238E27FC236}">
                <a16:creationId xmlns:a16="http://schemas.microsoft.com/office/drawing/2014/main" id="{EC037898-9103-E9FA-9973-9B092A666E1B}"/>
              </a:ext>
            </a:extLst>
          </p:cNvPr>
          <p:cNvSpPr/>
          <p:nvPr/>
        </p:nvSpPr>
        <p:spPr>
          <a:xfrm>
            <a:off x="8584771" y="3219149"/>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5</a:t>
            </a:r>
          </a:p>
        </p:txBody>
      </p:sp>
      <p:sp>
        <p:nvSpPr>
          <p:cNvPr id="11" name="Rectángulo 10">
            <a:extLst>
              <a:ext uri="{FF2B5EF4-FFF2-40B4-BE49-F238E27FC236}">
                <a16:creationId xmlns:a16="http://schemas.microsoft.com/office/drawing/2014/main" id="{1AB54D1F-89A8-1D40-CA74-27CE0796EF0D}"/>
              </a:ext>
            </a:extLst>
          </p:cNvPr>
          <p:cNvSpPr/>
          <p:nvPr/>
        </p:nvSpPr>
        <p:spPr>
          <a:xfrm>
            <a:off x="6772275" y="1930239"/>
            <a:ext cx="1247776" cy="117817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8" name="Rectángulo redondeado 9">
            <a:extLst>
              <a:ext uri="{FF2B5EF4-FFF2-40B4-BE49-F238E27FC236}">
                <a16:creationId xmlns:a16="http://schemas.microsoft.com/office/drawing/2014/main" id="{60E9DB49-C294-0A99-4C4D-AD9E37A6E647}"/>
              </a:ext>
            </a:extLst>
          </p:cNvPr>
          <p:cNvSpPr/>
          <p:nvPr/>
        </p:nvSpPr>
        <p:spPr>
          <a:xfrm>
            <a:off x="7030215" y="3219149"/>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4</a:t>
            </a:r>
          </a:p>
        </p:txBody>
      </p:sp>
      <p:sp>
        <p:nvSpPr>
          <p:cNvPr id="13" name="Rectángulo 12">
            <a:extLst>
              <a:ext uri="{FF2B5EF4-FFF2-40B4-BE49-F238E27FC236}">
                <a16:creationId xmlns:a16="http://schemas.microsoft.com/office/drawing/2014/main" id="{AD15B65D-646F-E43E-B2C0-AED688BC756C}"/>
              </a:ext>
            </a:extLst>
          </p:cNvPr>
          <p:cNvSpPr/>
          <p:nvPr/>
        </p:nvSpPr>
        <p:spPr>
          <a:xfrm>
            <a:off x="11017630" y="5832220"/>
            <a:ext cx="611462"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595852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A65A2-E3BD-AEE7-8092-B0235CE7B4D6}"/>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D2BC4453-6377-C082-BDF1-36326339A360}"/>
              </a:ext>
            </a:extLst>
          </p:cNvPr>
          <p:cNvPicPr>
            <a:picLocks noChangeAspect="1"/>
          </p:cNvPicPr>
          <p:nvPr/>
        </p:nvPicPr>
        <p:blipFill>
          <a:blip r:embed="rId2"/>
          <a:stretch>
            <a:fillRect/>
          </a:stretch>
        </p:blipFill>
        <p:spPr>
          <a:xfrm>
            <a:off x="691224" y="1317146"/>
            <a:ext cx="10920702" cy="4739710"/>
          </a:xfrm>
          <a:prstGeom prst="rect">
            <a:avLst/>
          </a:prstGeom>
        </p:spPr>
      </p:pic>
      <p:sp>
        <p:nvSpPr>
          <p:cNvPr id="3" name="Marcador de texto vertical 2">
            <a:extLst>
              <a:ext uri="{FF2B5EF4-FFF2-40B4-BE49-F238E27FC236}">
                <a16:creationId xmlns:a16="http://schemas.microsoft.com/office/drawing/2014/main" id="{2EB4ACDA-3938-DE28-28CC-C325914F3231}"/>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AF0750D1-9E96-72E4-A7FA-5D4AE0993C54}"/>
              </a:ext>
            </a:extLst>
          </p:cNvPr>
          <p:cNvSpPr>
            <a:spLocks noGrp="1"/>
          </p:cNvSpPr>
          <p:nvPr>
            <p:ph type="title"/>
          </p:nvPr>
        </p:nvSpPr>
        <p:spPr>
          <a:xfrm>
            <a:off x="765906" y="248928"/>
            <a:ext cx="10271883" cy="626165"/>
          </a:xfrm>
        </p:spPr>
        <p:txBody>
          <a:bodyPr/>
          <a:lstStyle/>
          <a:p>
            <a:r>
              <a:rPr lang="es-ES_tradnl" dirty="0">
                <a:solidFill>
                  <a:schemeClr val="accent1"/>
                </a:solidFill>
              </a:rPr>
              <a:t>Configuraciones: </a:t>
            </a:r>
            <a:r>
              <a:rPr lang="es-CO" b="0" dirty="0">
                <a:solidFill>
                  <a:schemeClr val="accent1"/>
                </a:solidFill>
              </a:rPr>
              <a:t>Validación de código de regla de despliegue de solicitud de graduación (STVGADR)</a:t>
            </a:r>
            <a:endParaRPr lang="es-CL" dirty="0">
              <a:solidFill>
                <a:schemeClr val="accent1"/>
              </a:solidFill>
            </a:endParaRPr>
          </a:p>
        </p:txBody>
      </p:sp>
      <p:sp>
        <p:nvSpPr>
          <p:cNvPr id="10" name="Rectángulo redondeado 9">
            <a:extLst>
              <a:ext uri="{FF2B5EF4-FFF2-40B4-BE49-F238E27FC236}">
                <a16:creationId xmlns:a16="http://schemas.microsoft.com/office/drawing/2014/main" id="{57FD5DA6-9F19-7666-9353-15FA999299B4}"/>
              </a:ext>
            </a:extLst>
          </p:cNvPr>
          <p:cNvSpPr/>
          <p:nvPr/>
        </p:nvSpPr>
        <p:spPr>
          <a:xfrm>
            <a:off x="10020940" y="170088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a:t>
            </a:r>
          </a:p>
        </p:txBody>
      </p:sp>
      <p:sp>
        <p:nvSpPr>
          <p:cNvPr id="14" name="Rectángulo 13">
            <a:extLst>
              <a:ext uri="{FF2B5EF4-FFF2-40B4-BE49-F238E27FC236}">
                <a16:creationId xmlns:a16="http://schemas.microsoft.com/office/drawing/2014/main" id="{96F90DD5-F87E-9878-CA87-8183D94BF0E3}"/>
              </a:ext>
            </a:extLst>
          </p:cNvPr>
          <p:cNvSpPr/>
          <p:nvPr/>
        </p:nvSpPr>
        <p:spPr>
          <a:xfrm>
            <a:off x="10655004" y="1700064"/>
            <a:ext cx="290770"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B8588D99-C6B3-B8E0-8C55-C0F44C336DB8}"/>
              </a:ext>
            </a:extLst>
          </p:cNvPr>
          <p:cNvSpPr/>
          <p:nvPr/>
        </p:nvSpPr>
        <p:spPr>
          <a:xfrm>
            <a:off x="580074" y="2559341"/>
            <a:ext cx="3035832"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5">
            <a:extLst>
              <a:ext uri="{FF2B5EF4-FFF2-40B4-BE49-F238E27FC236}">
                <a16:creationId xmlns:a16="http://schemas.microsoft.com/office/drawing/2014/main" id="{D2597049-B174-3A5A-736C-66ECA69F0D0A}"/>
              </a:ext>
            </a:extLst>
          </p:cNvPr>
          <p:cNvSpPr/>
          <p:nvPr/>
        </p:nvSpPr>
        <p:spPr>
          <a:xfrm>
            <a:off x="765906" y="3976776"/>
            <a:ext cx="10133742" cy="168964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En esta página de validación se crean los Códigos de regla de despliegue de solicitud de graduación, estás permitirán generan cargos en la cuenta del estudiante. Para crear un nuevo código:</a:t>
            </a:r>
          </a:p>
          <a:p>
            <a:pPr marL="342900" indent="-342900">
              <a:buFont typeface="+mj-lt"/>
              <a:buAutoNum type="arabicPeriod"/>
            </a:pPr>
            <a:r>
              <a:rPr lang="es-ES_tradnl" sz="1200" dirty="0"/>
              <a:t>Se inserta un registro. </a:t>
            </a:r>
          </a:p>
          <a:p>
            <a:pPr marL="342900" indent="-342900">
              <a:buFont typeface="+mj-lt"/>
              <a:buAutoNum type="arabicPeriod"/>
            </a:pPr>
            <a:r>
              <a:rPr lang="es-ES_tradnl" sz="1200" dirty="0"/>
              <a:t>Se ingresa código: máximo de 15 caracteres</a:t>
            </a:r>
          </a:p>
          <a:p>
            <a:pPr marL="342900" indent="-342900">
              <a:buFont typeface="+mj-lt"/>
              <a:buAutoNum type="arabicPeriod"/>
            </a:pPr>
            <a:r>
              <a:rPr lang="es-ES_tradnl" sz="1200" dirty="0"/>
              <a:t>Se ingresa la descripción correspondiente, máximo de 30 caracteres.</a:t>
            </a:r>
          </a:p>
          <a:p>
            <a:pPr marL="342900" indent="-342900">
              <a:buFont typeface="+mj-lt"/>
              <a:buAutoNum type="arabicPeriod"/>
            </a:pPr>
            <a:r>
              <a:rPr lang="es-ES_tradnl" sz="1200" dirty="0"/>
              <a:t>Recuerde guardar la información ingresada.</a:t>
            </a:r>
          </a:p>
        </p:txBody>
      </p:sp>
      <p:sp>
        <p:nvSpPr>
          <p:cNvPr id="18" name="Rectángulo redondeado 9">
            <a:extLst>
              <a:ext uri="{FF2B5EF4-FFF2-40B4-BE49-F238E27FC236}">
                <a16:creationId xmlns:a16="http://schemas.microsoft.com/office/drawing/2014/main" id="{C9C7E450-40A7-532D-BFEC-18C5449CE332}"/>
              </a:ext>
            </a:extLst>
          </p:cNvPr>
          <p:cNvSpPr/>
          <p:nvPr/>
        </p:nvSpPr>
        <p:spPr>
          <a:xfrm>
            <a:off x="3143404" y="2895293"/>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2</a:t>
            </a:r>
          </a:p>
        </p:txBody>
      </p:sp>
      <p:sp>
        <p:nvSpPr>
          <p:cNvPr id="20" name="Rectángulo redondeado 9">
            <a:extLst>
              <a:ext uri="{FF2B5EF4-FFF2-40B4-BE49-F238E27FC236}">
                <a16:creationId xmlns:a16="http://schemas.microsoft.com/office/drawing/2014/main" id="{B72CB966-D93D-742B-9973-8F0EB9FEB3A3}"/>
              </a:ext>
            </a:extLst>
          </p:cNvPr>
          <p:cNvSpPr/>
          <p:nvPr/>
        </p:nvSpPr>
        <p:spPr>
          <a:xfrm>
            <a:off x="8995432" y="2806721"/>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3</a:t>
            </a:r>
          </a:p>
        </p:txBody>
      </p:sp>
      <p:sp>
        <p:nvSpPr>
          <p:cNvPr id="11" name="Rectángulo 10">
            <a:extLst>
              <a:ext uri="{FF2B5EF4-FFF2-40B4-BE49-F238E27FC236}">
                <a16:creationId xmlns:a16="http://schemas.microsoft.com/office/drawing/2014/main" id="{9E902CE2-70A0-C798-1A60-CBDA83EC95FF}"/>
              </a:ext>
            </a:extLst>
          </p:cNvPr>
          <p:cNvSpPr/>
          <p:nvPr/>
        </p:nvSpPr>
        <p:spPr>
          <a:xfrm>
            <a:off x="5330952" y="2559341"/>
            <a:ext cx="3844691"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8" name="Rectángulo redondeado 9">
            <a:extLst>
              <a:ext uri="{FF2B5EF4-FFF2-40B4-BE49-F238E27FC236}">
                <a16:creationId xmlns:a16="http://schemas.microsoft.com/office/drawing/2014/main" id="{E4B12941-86EA-7F8A-E719-86B53D9B0CB8}"/>
              </a:ext>
            </a:extLst>
          </p:cNvPr>
          <p:cNvSpPr/>
          <p:nvPr/>
        </p:nvSpPr>
        <p:spPr>
          <a:xfrm>
            <a:off x="10605711" y="5865268"/>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4</a:t>
            </a:r>
          </a:p>
        </p:txBody>
      </p:sp>
      <p:sp>
        <p:nvSpPr>
          <p:cNvPr id="13" name="Rectángulo 12">
            <a:extLst>
              <a:ext uri="{FF2B5EF4-FFF2-40B4-BE49-F238E27FC236}">
                <a16:creationId xmlns:a16="http://schemas.microsoft.com/office/drawing/2014/main" id="{D5E4D463-3EBD-4D79-95CE-9BB560A54983}"/>
              </a:ext>
            </a:extLst>
          </p:cNvPr>
          <p:cNvSpPr/>
          <p:nvPr/>
        </p:nvSpPr>
        <p:spPr>
          <a:xfrm>
            <a:off x="11017630" y="5832220"/>
            <a:ext cx="611462"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021011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B1C4E-916D-31F5-5E5E-DE581962593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78564B0-2AC0-F5DE-37F8-045E6E27F0C8}"/>
              </a:ext>
            </a:extLst>
          </p:cNvPr>
          <p:cNvPicPr>
            <a:picLocks noChangeAspect="1"/>
          </p:cNvPicPr>
          <p:nvPr/>
        </p:nvPicPr>
        <p:blipFill>
          <a:blip r:embed="rId2"/>
          <a:stretch>
            <a:fillRect/>
          </a:stretch>
        </p:blipFill>
        <p:spPr>
          <a:xfrm>
            <a:off x="741712" y="1372025"/>
            <a:ext cx="10899648" cy="4710287"/>
          </a:xfrm>
          <a:prstGeom prst="rect">
            <a:avLst/>
          </a:prstGeom>
        </p:spPr>
      </p:pic>
      <p:sp>
        <p:nvSpPr>
          <p:cNvPr id="3" name="Marcador de texto vertical 2">
            <a:extLst>
              <a:ext uri="{FF2B5EF4-FFF2-40B4-BE49-F238E27FC236}">
                <a16:creationId xmlns:a16="http://schemas.microsoft.com/office/drawing/2014/main" id="{F100FC50-4D7C-A74D-9D36-6C550862588E}"/>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C9E42048-B4A6-34A6-7432-252A49B8C776}"/>
              </a:ext>
            </a:extLst>
          </p:cNvPr>
          <p:cNvSpPr>
            <a:spLocks noGrp="1"/>
          </p:cNvSpPr>
          <p:nvPr>
            <p:ph type="title"/>
          </p:nvPr>
        </p:nvSpPr>
        <p:spPr>
          <a:xfrm>
            <a:off x="765906" y="248928"/>
            <a:ext cx="10271883" cy="626165"/>
          </a:xfrm>
        </p:spPr>
        <p:txBody>
          <a:bodyPr/>
          <a:lstStyle/>
          <a:p>
            <a:r>
              <a:rPr lang="es-ES_tradnl" dirty="0">
                <a:solidFill>
                  <a:schemeClr val="accent1"/>
                </a:solidFill>
              </a:rPr>
              <a:t>Configuraciones: </a:t>
            </a:r>
            <a:r>
              <a:rPr lang="es-CO" b="0" dirty="0">
                <a:solidFill>
                  <a:schemeClr val="accent1"/>
                </a:solidFill>
              </a:rPr>
              <a:t>Validación de status de graduación (STVGRST)</a:t>
            </a:r>
            <a:endParaRPr lang="es-CL" dirty="0">
              <a:solidFill>
                <a:schemeClr val="accent1"/>
              </a:solidFill>
            </a:endParaRPr>
          </a:p>
        </p:txBody>
      </p:sp>
      <p:sp>
        <p:nvSpPr>
          <p:cNvPr id="10" name="Rectángulo redondeado 9">
            <a:extLst>
              <a:ext uri="{FF2B5EF4-FFF2-40B4-BE49-F238E27FC236}">
                <a16:creationId xmlns:a16="http://schemas.microsoft.com/office/drawing/2014/main" id="{71D1C754-06F8-D467-262D-4348F88A4E49}"/>
              </a:ext>
            </a:extLst>
          </p:cNvPr>
          <p:cNvSpPr/>
          <p:nvPr/>
        </p:nvSpPr>
        <p:spPr>
          <a:xfrm>
            <a:off x="10020940" y="170088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a:t>
            </a:r>
          </a:p>
        </p:txBody>
      </p:sp>
      <p:sp>
        <p:nvSpPr>
          <p:cNvPr id="14" name="Rectángulo 13">
            <a:extLst>
              <a:ext uri="{FF2B5EF4-FFF2-40B4-BE49-F238E27FC236}">
                <a16:creationId xmlns:a16="http://schemas.microsoft.com/office/drawing/2014/main" id="{D85A6527-E152-9A05-C65F-080B525E09A9}"/>
              </a:ext>
            </a:extLst>
          </p:cNvPr>
          <p:cNvSpPr/>
          <p:nvPr/>
        </p:nvSpPr>
        <p:spPr>
          <a:xfrm>
            <a:off x="10655004" y="1700064"/>
            <a:ext cx="290770"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E95712FB-A9FD-A796-2727-D8C468AD7D43}"/>
              </a:ext>
            </a:extLst>
          </p:cNvPr>
          <p:cNvSpPr/>
          <p:nvPr/>
        </p:nvSpPr>
        <p:spPr>
          <a:xfrm>
            <a:off x="550640" y="2449992"/>
            <a:ext cx="1541334"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5">
            <a:extLst>
              <a:ext uri="{FF2B5EF4-FFF2-40B4-BE49-F238E27FC236}">
                <a16:creationId xmlns:a16="http://schemas.microsoft.com/office/drawing/2014/main" id="{C75929D6-65E0-2A92-9CD0-E8D8F36B8361}"/>
              </a:ext>
            </a:extLst>
          </p:cNvPr>
          <p:cNvSpPr/>
          <p:nvPr/>
        </p:nvSpPr>
        <p:spPr>
          <a:xfrm>
            <a:off x="736472" y="3025411"/>
            <a:ext cx="10133742" cy="140747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esta página de validación se crean los Códigos de regla de despliegue de solicitud de graduación, estás permitirán generan cargos en la cuenta del estudiante. Para crear un nuevo código:</a:t>
            </a:r>
          </a:p>
          <a:p>
            <a:pPr marL="342900" indent="-342900">
              <a:buFont typeface="+mj-lt"/>
              <a:buAutoNum type="arabicPeriod"/>
            </a:pPr>
            <a:r>
              <a:rPr lang="es-ES_tradnl" sz="1200" dirty="0"/>
              <a:t>Se inserta un registro. </a:t>
            </a:r>
          </a:p>
          <a:p>
            <a:pPr marL="342900" indent="-342900">
              <a:buFont typeface="+mj-lt"/>
              <a:buAutoNum type="arabicPeriod"/>
            </a:pPr>
            <a:r>
              <a:rPr lang="es-ES_tradnl" sz="1200" dirty="0"/>
              <a:t>Se ingresa código: máximo de 3 caracteres</a:t>
            </a:r>
          </a:p>
          <a:p>
            <a:pPr marL="342900" indent="-342900">
              <a:buFont typeface="+mj-lt"/>
              <a:buAutoNum type="arabicPeriod"/>
            </a:pPr>
            <a:r>
              <a:rPr lang="es-ES_tradnl" sz="1200" dirty="0"/>
              <a:t>Se ingresa la descripción correspondiente, máximo de 30 caracteres.</a:t>
            </a:r>
          </a:p>
        </p:txBody>
      </p:sp>
      <p:sp>
        <p:nvSpPr>
          <p:cNvPr id="18" name="Rectángulo redondeado 9">
            <a:extLst>
              <a:ext uri="{FF2B5EF4-FFF2-40B4-BE49-F238E27FC236}">
                <a16:creationId xmlns:a16="http://schemas.microsoft.com/office/drawing/2014/main" id="{8D65840C-C0DD-2FFA-9675-D314E0FF9ED1}"/>
              </a:ext>
            </a:extLst>
          </p:cNvPr>
          <p:cNvSpPr/>
          <p:nvPr/>
        </p:nvSpPr>
        <p:spPr>
          <a:xfrm>
            <a:off x="1194386" y="271359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2</a:t>
            </a:r>
          </a:p>
        </p:txBody>
      </p:sp>
      <p:sp>
        <p:nvSpPr>
          <p:cNvPr id="20" name="Rectángulo redondeado 9">
            <a:extLst>
              <a:ext uri="{FF2B5EF4-FFF2-40B4-BE49-F238E27FC236}">
                <a16:creationId xmlns:a16="http://schemas.microsoft.com/office/drawing/2014/main" id="{58A13CA3-6050-6DA1-8DBC-268F3F64B653}"/>
              </a:ext>
            </a:extLst>
          </p:cNvPr>
          <p:cNvSpPr/>
          <p:nvPr/>
        </p:nvSpPr>
        <p:spPr>
          <a:xfrm>
            <a:off x="5803343" y="2687446"/>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3</a:t>
            </a:r>
          </a:p>
        </p:txBody>
      </p:sp>
      <p:sp>
        <p:nvSpPr>
          <p:cNvPr id="11" name="Rectángulo 10">
            <a:extLst>
              <a:ext uri="{FF2B5EF4-FFF2-40B4-BE49-F238E27FC236}">
                <a16:creationId xmlns:a16="http://schemas.microsoft.com/office/drawing/2014/main" id="{F88F66FE-DC7B-038B-C592-B4A043034DC0}"/>
              </a:ext>
            </a:extLst>
          </p:cNvPr>
          <p:cNvSpPr/>
          <p:nvPr/>
        </p:nvSpPr>
        <p:spPr>
          <a:xfrm>
            <a:off x="2221875" y="2478675"/>
            <a:ext cx="3844691"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890450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1003C-7080-D1C9-EDE3-574A1B79EDE4}"/>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0B15A767-B0CF-D7A0-D7FF-C837916E9A00}"/>
              </a:ext>
            </a:extLst>
          </p:cNvPr>
          <p:cNvPicPr>
            <a:picLocks noChangeAspect="1"/>
          </p:cNvPicPr>
          <p:nvPr/>
        </p:nvPicPr>
        <p:blipFill>
          <a:blip r:embed="rId2"/>
          <a:stretch>
            <a:fillRect/>
          </a:stretch>
        </p:blipFill>
        <p:spPr>
          <a:xfrm>
            <a:off x="897963" y="4123484"/>
            <a:ext cx="10715625" cy="1329635"/>
          </a:xfrm>
          <a:prstGeom prst="rect">
            <a:avLst/>
          </a:prstGeom>
        </p:spPr>
      </p:pic>
      <p:pic>
        <p:nvPicPr>
          <p:cNvPr id="9" name="Imagen 8">
            <a:extLst>
              <a:ext uri="{FF2B5EF4-FFF2-40B4-BE49-F238E27FC236}">
                <a16:creationId xmlns:a16="http://schemas.microsoft.com/office/drawing/2014/main" id="{51234EB1-A082-9855-0115-7C70F23FEA68}"/>
              </a:ext>
            </a:extLst>
          </p:cNvPr>
          <p:cNvPicPr>
            <a:picLocks noChangeAspect="1"/>
          </p:cNvPicPr>
          <p:nvPr/>
        </p:nvPicPr>
        <p:blipFill>
          <a:blip r:embed="rId3"/>
          <a:stretch>
            <a:fillRect/>
          </a:stretch>
        </p:blipFill>
        <p:spPr>
          <a:xfrm>
            <a:off x="1153045" y="1327437"/>
            <a:ext cx="10205460" cy="1701799"/>
          </a:xfrm>
          <a:prstGeom prst="rect">
            <a:avLst/>
          </a:prstGeom>
        </p:spPr>
      </p:pic>
      <p:sp>
        <p:nvSpPr>
          <p:cNvPr id="3" name="Marcador de texto vertical 2">
            <a:extLst>
              <a:ext uri="{FF2B5EF4-FFF2-40B4-BE49-F238E27FC236}">
                <a16:creationId xmlns:a16="http://schemas.microsoft.com/office/drawing/2014/main" id="{61470E50-CC26-68F7-CB89-1681110D86EF}"/>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F0C0C615-8839-1CE0-A471-DF69AB44B464}"/>
              </a:ext>
            </a:extLst>
          </p:cNvPr>
          <p:cNvSpPr>
            <a:spLocks noGrp="1"/>
          </p:cNvSpPr>
          <p:nvPr>
            <p:ph type="title"/>
          </p:nvPr>
        </p:nvSpPr>
        <p:spPr>
          <a:xfrm>
            <a:off x="765906" y="248928"/>
            <a:ext cx="10271883" cy="626165"/>
          </a:xfrm>
        </p:spPr>
        <p:txBody>
          <a:bodyPr/>
          <a:lstStyle/>
          <a:p>
            <a:r>
              <a:rPr lang="es-ES_tradnl" dirty="0">
                <a:solidFill>
                  <a:schemeClr val="accent1"/>
                </a:solidFill>
              </a:rPr>
              <a:t>Configuraciones: </a:t>
            </a:r>
            <a:r>
              <a:rPr lang="es-CO" b="0" dirty="0">
                <a:solidFill>
                  <a:schemeClr val="accent1"/>
                </a:solidFill>
              </a:rPr>
              <a:t>Validación de status de graduación (STVGRST)</a:t>
            </a:r>
            <a:endParaRPr lang="es-CL" dirty="0">
              <a:solidFill>
                <a:schemeClr val="accent1"/>
              </a:solidFill>
            </a:endParaRPr>
          </a:p>
        </p:txBody>
      </p:sp>
      <p:sp>
        <p:nvSpPr>
          <p:cNvPr id="15" name="Rectángulo 14">
            <a:extLst>
              <a:ext uri="{FF2B5EF4-FFF2-40B4-BE49-F238E27FC236}">
                <a16:creationId xmlns:a16="http://schemas.microsoft.com/office/drawing/2014/main" id="{7A299C15-BE77-D6A9-7C8C-2E2A70BC8CE9}"/>
              </a:ext>
            </a:extLst>
          </p:cNvPr>
          <p:cNvSpPr/>
          <p:nvPr/>
        </p:nvSpPr>
        <p:spPr>
          <a:xfrm>
            <a:off x="9253458" y="1960176"/>
            <a:ext cx="472724" cy="72727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5">
            <a:extLst>
              <a:ext uri="{FF2B5EF4-FFF2-40B4-BE49-F238E27FC236}">
                <a16:creationId xmlns:a16="http://schemas.microsoft.com/office/drawing/2014/main" id="{39B35FC3-DECE-6E9B-E22A-2121D097A31C}"/>
              </a:ext>
            </a:extLst>
          </p:cNvPr>
          <p:cNvSpPr/>
          <p:nvPr/>
        </p:nvSpPr>
        <p:spPr>
          <a:xfrm>
            <a:off x="2104611" y="3164017"/>
            <a:ext cx="7982778" cy="65666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4. Actualizar status de grado siguiente: si se activa está casilla, el sistema verifica lo configurado en la página STVDEGS. </a:t>
            </a:r>
          </a:p>
        </p:txBody>
      </p:sp>
      <p:sp>
        <p:nvSpPr>
          <p:cNvPr id="20" name="Rectángulo redondeado 9">
            <a:extLst>
              <a:ext uri="{FF2B5EF4-FFF2-40B4-BE49-F238E27FC236}">
                <a16:creationId xmlns:a16="http://schemas.microsoft.com/office/drawing/2014/main" id="{74FD4A1D-363B-AB6C-4B9B-E40051F3D5BB}"/>
              </a:ext>
            </a:extLst>
          </p:cNvPr>
          <p:cNvSpPr/>
          <p:nvPr/>
        </p:nvSpPr>
        <p:spPr>
          <a:xfrm>
            <a:off x="9253458" y="2707291"/>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4</a:t>
            </a:r>
          </a:p>
        </p:txBody>
      </p:sp>
      <p:sp>
        <p:nvSpPr>
          <p:cNvPr id="8" name="Rectángulo redondeado 9">
            <a:extLst>
              <a:ext uri="{FF2B5EF4-FFF2-40B4-BE49-F238E27FC236}">
                <a16:creationId xmlns:a16="http://schemas.microsoft.com/office/drawing/2014/main" id="{878D4AEE-5C91-1DEB-71E7-B93268B89063}"/>
              </a:ext>
            </a:extLst>
          </p:cNvPr>
          <p:cNvSpPr/>
          <p:nvPr/>
        </p:nvSpPr>
        <p:spPr>
          <a:xfrm>
            <a:off x="5735579" y="4898700"/>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5</a:t>
            </a:r>
          </a:p>
        </p:txBody>
      </p:sp>
      <p:sp>
        <p:nvSpPr>
          <p:cNvPr id="13" name="Rectángulo 12">
            <a:extLst>
              <a:ext uri="{FF2B5EF4-FFF2-40B4-BE49-F238E27FC236}">
                <a16:creationId xmlns:a16="http://schemas.microsoft.com/office/drawing/2014/main" id="{CF49D63B-AC6C-B6C7-C76B-AC6ECC3DB0AC}"/>
              </a:ext>
            </a:extLst>
          </p:cNvPr>
          <p:cNvSpPr/>
          <p:nvPr/>
        </p:nvSpPr>
        <p:spPr>
          <a:xfrm>
            <a:off x="5124117" y="4805583"/>
            <a:ext cx="611462" cy="31181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6" name="Rectángulo redondeado 5">
            <a:extLst>
              <a:ext uri="{FF2B5EF4-FFF2-40B4-BE49-F238E27FC236}">
                <a16:creationId xmlns:a16="http://schemas.microsoft.com/office/drawing/2014/main" id="{61AF215B-9CC9-4704-8DDD-3BF3DE7575E4}"/>
              </a:ext>
            </a:extLst>
          </p:cNvPr>
          <p:cNvSpPr/>
          <p:nvPr/>
        </p:nvSpPr>
        <p:spPr>
          <a:xfrm>
            <a:off x="2218372" y="5644629"/>
            <a:ext cx="7982778" cy="65666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5. Al actualizar en la página SHADEGR  el  status de graduación, el sistema actualizara el estatus  de resultado con el valor registrado en  ‘Siguiente estatus de grado’, para esté caso ‘GR’ </a:t>
            </a:r>
          </a:p>
        </p:txBody>
      </p:sp>
    </p:spTree>
    <p:extLst>
      <p:ext uri="{BB962C8B-B14F-4D97-AF65-F5344CB8AC3E}">
        <p14:creationId xmlns:p14="http://schemas.microsoft.com/office/powerpoint/2010/main" val="1044820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B6D7E-FADE-EA6F-CAF3-35C5A6843976}"/>
            </a:ext>
          </a:extLst>
        </p:cNvPr>
        <p:cNvGrpSpPr/>
        <p:nvPr/>
      </p:nvGrpSpPr>
      <p:grpSpPr>
        <a:xfrm>
          <a:off x="0" y="0"/>
          <a:ext cx="0" cy="0"/>
          <a:chOff x="0" y="0"/>
          <a:chExt cx="0" cy="0"/>
        </a:xfrm>
      </p:grpSpPr>
      <p:pic>
        <p:nvPicPr>
          <p:cNvPr id="21" name="Imagen 20">
            <a:extLst>
              <a:ext uri="{FF2B5EF4-FFF2-40B4-BE49-F238E27FC236}">
                <a16:creationId xmlns:a16="http://schemas.microsoft.com/office/drawing/2014/main" id="{66453D2F-A90D-CCD4-9394-4686CD6C85F8}"/>
              </a:ext>
            </a:extLst>
          </p:cNvPr>
          <p:cNvPicPr>
            <a:picLocks noChangeAspect="1"/>
          </p:cNvPicPr>
          <p:nvPr/>
        </p:nvPicPr>
        <p:blipFill>
          <a:blip r:embed="rId2"/>
          <a:stretch>
            <a:fillRect/>
          </a:stretch>
        </p:blipFill>
        <p:spPr>
          <a:xfrm>
            <a:off x="765906" y="1301299"/>
            <a:ext cx="11051415" cy="3855819"/>
          </a:xfrm>
          <a:prstGeom prst="rect">
            <a:avLst/>
          </a:prstGeom>
        </p:spPr>
      </p:pic>
      <p:pic>
        <p:nvPicPr>
          <p:cNvPr id="11" name="Imagen 10">
            <a:extLst>
              <a:ext uri="{FF2B5EF4-FFF2-40B4-BE49-F238E27FC236}">
                <a16:creationId xmlns:a16="http://schemas.microsoft.com/office/drawing/2014/main" id="{B53C1977-C0A8-18BE-72E1-85E0BAF62720}"/>
              </a:ext>
            </a:extLst>
          </p:cNvPr>
          <p:cNvPicPr>
            <a:picLocks noChangeAspect="1"/>
          </p:cNvPicPr>
          <p:nvPr/>
        </p:nvPicPr>
        <p:blipFill>
          <a:blip r:embed="rId3"/>
          <a:stretch>
            <a:fillRect/>
          </a:stretch>
        </p:blipFill>
        <p:spPr>
          <a:xfrm>
            <a:off x="1097309" y="5293908"/>
            <a:ext cx="7982778" cy="1291220"/>
          </a:xfrm>
          <a:prstGeom prst="rect">
            <a:avLst/>
          </a:prstGeom>
        </p:spPr>
      </p:pic>
      <p:sp>
        <p:nvSpPr>
          <p:cNvPr id="3" name="Marcador de texto vertical 2">
            <a:extLst>
              <a:ext uri="{FF2B5EF4-FFF2-40B4-BE49-F238E27FC236}">
                <a16:creationId xmlns:a16="http://schemas.microsoft.com/office/drawing/2014/main" id="{BF6438B2-0980-8E9F-626C-396CE6DB1884}"/>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BDCE6B80-EE6B-E4FB-A787-1C1F42BA8952}"/>
              </a:ext>
            </a:extLst>
          </p:cNvPr>
          <p:cNvSpPr>
            <a:spLocks noGrp="1"/>
          </p:cNvSpPr>
          <p:nvPr>
            <p:ph type="title"/>
          </p:nvPr>
        </p:nvSpPr>
        <p:spPr>
          <a:xfrm>
            <a:off x="765906" y="248928"/>
            <a:ext cx="10271883" cy="626165"/>
          </a:xfrm>
        </p:spPr>
        <p:txBody>
          <a:bodyPr/>
          <a:lstStyle/>
          <a:p>
            <a:r>
              <a:rPr lang="es-ES_tradnl" dirty="0">
                <a:solidFill>
                  <a:schemeClr val="accent1"/>
                </a:solidFill>
              </a:rPr>
              <a:t>Configuraciones: </a:t>
            </a:r>
            <a:r>
              <a:rPr lang="es-CO" b="0" dirty="0">
                <a:solidFill>
                  <a:schemeClr val="accent1"/>
                </a:solidFill>
              </a:rPr>
              <a:t>Validación de status de graduación (STVGRST)</a:t>
            </a:r>
            <a:endParaRPr lang="es-CL" dirty="0">
              <a:solidFill>
                <a:schemeClr val="accent1"/>
              </a:solidFill>
            </a:endParaRPr>
          </a:p>
        </p:txBody>
      </p:sp>
      <p:sp>
        <p:nvSpPr>
          <p:cNvPr id="10" name="Rectángulo redondeado 9">
            <a:extLst>
              <a:ext uri="{FF2B5EF4-FFF2-40B4-BE49-F238E27FC236}">
                <a16:creationId xmlns:a16="http://schemas.microsoft.com/office/drawing/2014/main" id="{13057042-8442-E81A-E045-01DBEC29EBA8}"/>
              </a:ext>
            </a:extLst>
          </p:cNvPr>
          <p:cNvSpPr/>
          <p:nvPr/>
        </p:nvSpPr>
        <p:spPr>
          <a:xfrm>
            <a:off x="10020940" y="170088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a:t>
            </a:r>
          </a:p>
        </p:txBody>
      </p:sp>
      <p:sp>
        <p:nvSpPr>
          <p:cNvPr id="14" name="Rectángulo 13">
            <a:extLst>
              <a:ext uri="{FF2B5EF4-FFF2-40B4-BE49-F238E27FC236}">
                <a16:creationId xmlns:a16="http://schemas.microsoft.com/office/drawing/2014/main" id="{16C6EB85-B63F-CF48-5097-ADF48F087D29}"/>
              </a:ext>
            </a:extLst>
          </p:cNvPr>
          <p:cNvSpPr/>
          <p:nvPr/>
        </p:nvSpPr>
        <p:spPr>
          <a:xfrm>
            <a:off x="10655004" y="1700064"/>
            <a:ext cx="290770"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FD7DFDD0-E40B-BCD7-C838-8ABCA7B93D89}"/>
              </a:ext>
            </a:extLst>
          </p:cNvPr>
          <p:cNvSpPr/>
          <p:nvPr/>
        </p:nvSpPr>
        <p:spPr>
          <a:xfrm>
            <a:off x="1177624" y="2119530"/>
            <a:ext cx="2175176" cy="39507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0" name="Rectángulo redondeado 9">
            <a:extLst>
              <a:ext uri="{FF2B5EF4-FFF2-40B4-BE49-F238E27FC236}">
                <a16:creationId xmlns:a16="http://schemas.microsoft.com/office/drawing/2014/main" id="{8B26D889-CA11-A1EA-2BF0-C565E5C7D440}"/>
              </a:ext>
            </a:extLst>
          </p:cNvPr>
          <p:cNvSpPr/>
          <p:nvPr/>
        </p:nvSpPr>
        <p:spPr>
          <a:xfrm>
            <a:off x="3352800" y="2159443"/>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7</a:t>
            </a:r>
          </a:p>
        </p:txBody>
      </p:sp>
      <p:sp>
        <p:nvSpPr>
          <p:cNvPr id="8" name="Rectángulo redondeado 9">
            <a:extLst>
              <a:ext uri="{FF2B5EF4-FFF2-40B4-BE49-F238E27FC236}">
                <a16:creationId xmlns:a16="http://schemas.microsoft.com/office/drawing/2014/main" id="{859527FD-1564-D9D7-53F6-7E5195AEFA8A}"/>
              </a:ext>
            </a:extLst>
          </p:cNvPr>
          <p:cNvSpPr/>
          <p:nvPr/>
        </p:nvSpPr>
        <p:spPr>
          <a:xfrm>
            <a:off x="2352612" y="4056324"/>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6</a:t>
            </a:r>
          </a:p>
        </p:txBody>
      </p:sp>
      <p:sp>
        <p:nvSpPr>
          <p:cNvPr id="13" name="Rectángulo 12">
            <a:extLst>
              <a:ext uri="{FF2B5EF4-FFF2-40B4-BE49-F238E27FC236}">
                <a16:creationId xmlns:a16="http://schemas.microsoft.com/office/drawing/2014/main" id="{E9C9E3D4-F220-4673-0142-0569B626FC97}"/>
              </a:ext>
            </a:extLst>
          </p:cNvPr>
          <p:cNvSpPr/>
          <p:nvPr/>
        </p:nvSpPr>
        <p:spPr>
          <a:xfrm>
            <a:off x="6899016" y="6267758"/>
            <a:ext cx="611462"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6" name="Rectángulo redondeado 5">
            <a:extLst>
              <a:ext uri="{FF2B5EF4-FFF2-40B4-BE49-F238E27FC236}">
                <a16:creationId xmlns:a16="http://schemas.microsoft.com/office/drawing/2014/main" id="{F77801BD-31B0-EE3B-D8A7-5E0F6798AEFF}"/>
              </a:ext>
            </a:extLst>
          </p:cNvPr>
          <p:cNvSpPr/>
          <p:nvPr/>
        </p:nvSpPr>
        <p:spPr>
          <a:xfrm>
            <a:off x="2765574" y="3942941"/>
            <a:ext cx="7982778" cy="65666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5. Al cambiar el estatus de graduación a AP, el sistema automáticamente deja en Estatus de resultado el valor de ‘GR’, configurado en STVDEGS</a:t>
            </a:r>
          </a:p>
        </p:txBody>
      </p:sp>
      <p:sp>
        <p:nvSpPr>
          <p:cNvPr id="23" name="Rectángulo redondeado 9">
            <a:extLst>
              <a:ext uri="{FF2B5EF4-FFF2-40B4-BE49-F238E27FC236}">
                <a16:creationId xmlns:a16="http://schemas.microsoft.com/office/drawing/2014/main" id="{36E3688F-AC00-2F0B-E98E-5133645F7C89}"/>
              </a:ext>
            </a:extLst>
          </p:cNvPr>
          <p:cNvSpPr/>
          <p:nvPr/>
        </p:nvSpPr>
        <p:spPr>
          <a:xfrm>
            <a:off x="7510478" y="6315383"/>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7</a:t>
            </a:r>
          </a:p>
        </p:txBody>
      </p:sp>
    </p:spTree>
    <p:extLst>
      <p:ext uri="{BB962C8B-B14F-4D97-AF65-F5344CB8AC3E}">
        <p14:creationId xmlns:p14="http://schemas.microsoft.com/office/powerpoint/2010/main" val="3740670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BD0B2-C88A-C20E-CD0A-48DA9563446D}"/>
            </a:ext>
          </a:extLst>
        </p:cNvPr>
        <p:cNvGrpSpPr/>
        <p:nvPr/>
      </p:nvGrpSpPr>
      <p:grpSpPr>
        <a:xfrm>
          <a:off x="0" y="0"/>
          <a:ext cx="0" cy="0"/>
          <a:chOff x="0" y="0"/>
          <a:chExt cx="0" cy="0"/>
        </a:xfrm>
      </p:grpSpPr>
      <p:pic>
        <p:nvPicPr>
          <p:cNvPr id="6" name="Imagen 5" descr="Interfaz de usuario gráfica, Texto, Aplicación&#10;&#10;El contenido generado por IA puede ser incorrecto.">
            <a:extLst>
              <a:ext uri="{FF2B5EF4-FFF2-40B4-BE49-F238E27FC236}">
                <a16:creationId xmlns:a16="http://schemas.microsoft.com/office/drawing/2014/main" id="{8EC8D104-4890-05A9-8187-63A74D8A7D93}"/>
              </a:ext>
            </a:extLst>
          </p:cNvPr>
          <p:cNvPicPr>
            <a:picLocks noChangeAspect="1"/>
          </p:cNvPicPr>
          <p:nvPr/>
        </p:nvPicPr>
        <p:blipFill>
          <a:blip r:embed="rId2"/>
          <a:stretch>
            <a:fillRect/>
          </a:stretch>
        </p:blipFill>
        <p:spPr>
          <a:xfrm>
            <a:off x="765906" y="1460961"/>
            <a:ext cx="10924070" cy="1808318"/>
          </a:xfrm>
          <a:prstGeom prst="rect">
            <a:avLst/>
          </a:prstGeom>
        </p:spPr>
      </p:pic>
      <p:sp>
        <p:nvSpPr>
          <p:cNvPr id="3" name="Marcador de texto vertical 2">
            <a:extLst>
              <a:ext uri="{FF2B5EF4-FFF2-40B4-BE49-F238E27FC236}">
                <a16:creationId xmlns:a16="http://schemas.microsoft.com/office/drawing/2014/main" id="{C47C21AF-97D1-17F0-2F56-51319840F37A}"/>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F8CD51D6-4BD6-A312-DAD2-2DF5224AB006}"/>
              </a:ext>
            </a:extLst>
          </p:cNvPr>
          <p:cNvSpPr>
            <a:spLocks noGrp="1"/>
          </p:cNvSpPr>
          <p:nvPr>
            <p:ph type="title"/>
          </p:nvPr>
        </p:nvSpPr>
        <p:spPr>
          <a:xfrm>
            <a:off x="810247" y="327992"/>
            <a:ext cx="10271883" cy="626165"/>
          </a:xfrm>
        </p:spPr>
        <p:txBody>
          <a:bodyPr/>
          <a:lstStyle/>
          <a:p>
            <a:r>
              <a:rPr lang="es-ES_tradnl" dirty="0">
                <a:solidFill>
                  <a:schemeClr val="accent1"/>
                </a:solidFill>
              </a:rPr>
              <a:t>Configuraciones: </a:t>
            </a:r>
            <a:r>
              <a:rPr lang="es-ES_tradnl" b="0" dirty="0">
                <a:solidFill>
                  <a:schemeClr val="accent1"/>
                </a:solidFill>
              </a:rPr>
              <a:t>Validación del código de estatus del grado (STVDEGS)</a:t>
            </a:r>
            <a:endParaRPr lang="es-CL" dirty="0">
              <a:solidFill>
                <a:schemeClr val="accent1"/>
              </a:solidFill>
            </a:endParaRPr>
          </a:p>
        </p:txBody>
      </p:sp>
      <p:sp>
        <p:nvSpPr>
          <p:cNvPr id="10" name="Rectángulo redondeado 9">
            <a:extLst>
              <a:ext uri="{FF2B5EF4-FFF2-40B4-BE49-F238E27FC236}">
                <a16:creationId xmlns:a16="http://schemas.microsoft.com/office/drawing/2014/main" id="{A151DD29-B301-97F6-635E-D207F167AF0C}"/>
              </a:ext>
            </a:extLst>
          </p:cNvPr>
          <p:cNvSpPr/>
          <p:nvPr/>
        </p:nvSpPr>
        <p:spPr>
          <a:xfrm>
            <a:off x="9870651" y="1252516"/>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a:t>
            </a:r>
          </a:p>
        </p:txBody>
      </p:sp>
      <p:sp>
        <p:nvSpPr>
          <p:cNvPr id="14" name="Rectángulo 13">
            <a:extLst>
              <a:ext uri="{FF2B5EF4-FFF2-40B4-BE49-F238E27FC236}">
                <a16:creationId xmlns:a16="http://schemas.microsoft.com/office/drawing/2014/main" id="{C39E7AB6-EA1A-5B58-9988-6A998E6EB061}"/>
              </a:ext>
            </a:extLst>
          </p:cNvPr>
          <p:cNvSpPr/>
          <p:nvPr/>
        </p:nvSpPr>
        <p:spPr>
          <a:xfrm>
            <a:off x="10231072" y="1470105"/>
            <a:ext cx="360421"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6E822F3B-E2EB-A87B-D159-9D880786C087}"/>
              </a:ext>
            </a:extLst>
          </p:cNvPr>
          <p:cNvSpPr/>
          <p:nvPr/>
        </p:nvSpPr>
        <p:spPr>
          <a:xfrm>
            <a:off x="749785" y="2587752"/>
            <a:ext cx="3035832"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5">
            <a:extLst>
              <a:ext uri="{FF2B5EF4-FFF2-40B4-BE49-F238E27FC236}">
                <a16:creationId xmlns:a16="http://schemas.microsoft.com/office/drawing/2014/main" id="{199FC24F-44D3-6FA7-ECBD-4B48F223C248}"/>
              </a:ext>
            </a:extLst>
          </p:cNvPr>
          <p:cNvSpPr/>
          <p:nvPr/>
        </p:nvSpPr>
        <p:spPr>
          <a:xfrm>
            <a:off x="765906" y="3467471"/>
            <a:ext cx="10133742" cy="288887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En esta página de validación se crean los estatus de grado que se registra en la página de otorgamientos de grado en el sistema. Para crear un nuevo código:</a:t>
            </a:r>
          </a:p>
          <a:p>
            <a:pPr marL="342900" indent="-342900">
              <a:buFont typeface="+mj-lt"/>
              <a:buAutoNum type="arabicPeriod"/>
            </a:pPr>
            <a:r>
              <a:rPr lang="es-ES_tradnl" sz="1200" dirty="0"/>
              <a:t>Se inserta un registro. </a:t>
            </a:r>
          </a:p>
          <a:p>
            <a:pPr marL="342900" indent="-342900">
              <a:buFont typeface="+mj-lt"/>
              <a:buAutoNum type="arabicPeriod"/>
            </a:pPr>
            <a:r>
              <a:rPr lang="es-ES_tradnl" sz="1200" dirty="0"/>
              <a:t>Se ingresa código y descripción correspondiente.</a:t>
            </a:r>
          </a:p>
          <a:p>
            <a:pPr marL="342900" indent="-342900">
              <a:buFont typeface="+mj-lt"/>
              <a:buAutoNum type="arabicPeriod"/>
            </a:pPr>
            <a:r>
              <a:rPr lang="es-ES_tradnl" sz="1200" dirty="0"/>
              <a:t>Se ingresa el indicador de otorgado:  </a:t>
            </a:r>
          </a:p>
          <a:p>
            <a:pPr marL="800100" lvl="1" indent="-342900">
              <a:buFont typeface="Arial" panose="020B0604020202020204" pitchFamily="34" charset="0"/>
              <a:buChar char="•"/>
            </a:pPr>
            <a:r>
              <a:rPr lang="es-ES_tradnl" sz="1200" dirty="0"/>
              <a:t>Pendiente: si el código creado representa que está pendiente (para graduarse), u</a:t>
            </a:r>
          </a:p>
          <a:p>
            <a:pPr marL="800100" lvl="1" indent="-342900">
              <a:buFont typeface="Arial" panose="020B0604020202020204" pitchFamily="34" charset="0"/>
              <a:buChar char="•"/>
            </a:pPr>
            <a:r>
              <a:rPr lang="es-ES_tradnl" sz="1200" dirty="0"/>
              <a:t>Otorgado: graduado.</a:t>
            </a:r>
          </a:p>
          <a:p>
            <a:pPr marL="342900" indent="-342900">
              <a:buFont typeface="+mj-lt"/>
              <a:buAutoNum type="arabicPeriod"/>
            </a:pPr>
            <a:r>
              <a:rPr lang="es-ES_tradnl" sz="1200" dirty="0"/>
              <a:t>Status de currículum: Se define qué estatus se otorga al registro del programa del estudiante:</a:t>
            </a:r>
          </a:p>
          <a:p>
            <a:pPr marL="800100" lvl="1" indent="-342900">
              <a:buFont typeface="Arial" panose="020B0604020202020204" pitchFamily="34" charset="0"/>
              <a:buChar char="•"/>
            </a:pPr>
            <a:r>
              <a:rPr lang="es-ES_tradnl" sz="1200" dirty="0"/>
              <a:t>PENDING: para los estatus “pendiente”</a:t>
            </a:r>
          </a:p>
          <a:p>
            <a:pPr marL="800100" lvl="1" indent="-342900">
              <a:buFont typeface="Arial" panose="020B0604020202020204" pitchFamily="34" charset="0"/>
              <a:buChar char="•"/>
            </a:pPr>
            <a:r>
              <a:rPr lang="es-ES_tradnl" sz="1200" dirty="0"/>
              <a:t>COMPLETED: implica la finalización de los requisitos, sin implicar un indicador de graduación. Se puede usar con el indicador pendiente.</a:t>
            </a:r>
          </a:p>
          <a:p>
            <a:pPr marL="800100" lvl="1" indent="-342900">
              <a:buFont typeface="Arial" panose="020B0604020202020204" pitchFamily="34" charset="0"/>
              <a:buChar char="•"/>
            </a:pPr>
            <a:r>
              <a:rPr lang="es-ES_tradnl" sz="1200" dirty="0"/>
              <a:t>AWARDED: para el estatus otorgado</a:t>
            </a:r>
          </a:p>
          <a:p>
            <a:pPr marL="342900" indent="-342900">
              <a:buFont typeface="Arial" panose="020B0604020202020204" pitchFamily="34" charset="0"/>
              <a:buChar char="•"/>
            </a:pPr>
            <a:r>
              <a:rPr lang="es-ES_tradnl" sz="1200" dirty="0"/>
              <a:t>Recuerde guardar la información ingresada.</a:t>
            </a:r>
          </a:p>
          <a:p>
            <a:r>
              <a:rPr lang="es-ES_tradnl" sz="1200" dirty="0"/>
              <a:t>El indicador “Busca” y el estatus “SOUGTH” son usados por el sistema automáticamente para el primer registro que se crea en la página de otorgamiento de grado e implica que el estudiante inició sus estudios en el programa y está buscando obtener el grado/título.</a:t>
            </a:r>
          </a:p>
        </p:txBody>
      </p:sp>
      <p:sp>
        <p:nvSpPr>
          <p:cNvPr id="18" name="Rectángulo redondeado 9">
            <a:extLst>
              <a:ext uri="{FF2B5EF4-FFF2-40B4-BE49-F238E27FC236}">
                <a16:creationId xmlns:a16="http://schemas.microsoft.com/office/drawing/2014/main" id="{E36CE4F7-F1DE-B219-E284-D34AFB7D5D30}"/>
              </a:ext>
            </a:extLst>
          </p:cNvPr>
          <p:cNvSpPr/>
          <p:nvPr/>
        </p:nvSpPr>
        <p:spPr>
          <a:xfrm>
            <a:off x="3143404" y="2895293"/>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2</a:t>
            </a:r>
          </a:p>
        </p:txBody>
      </p:sp>
      <p:sp>
        <p:nvSpPr>
          <p:cNvPr id="19" name="Rectángulo 18">
            <a:extLst>
              <a:ext uri="{FF2B5EF4-FFF2-40B4-BE49-F238E27FC236}">
                <a16:creationId xmlns:a16="http://schemas.microsoft.com/office/drawing/2014/main" id="{7873F75B-2E66-C4EA-009F-B8A3EFA98902}"/>
              </a:ext>
            </a:extLst>
          </p:cNvPr>
          <p:cNvSpPr/>
          <p:nvPr/>
        </p:nvSpPr>
        <p:spPr>
          <a:xfrm>
            <a:off x="3785616" y="2587752"/>
            <a:ext cx="3152795"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0" name="Rectángulo redondeado 9">
            <a:extLst>
              <a:ext uri="{FF2B5EF4-FFF2-40B4-BE49-F238E27FC236}">
                <a16:creationId xmlns:a16="http://schemas.microsoft.com/office/drawing/2014/main" id="{735E1A4B-7797-40CA-528E-8CDD9DC42D2B}"/>
              </a:ext>
            </a:extLst>
          </p:cNvPr>
          <p:cNvSpPr/>
          <p:nvPr/>
        </p:nvSpPr>
        <p:spPr>
          <a:xfrm>
            <a:off x="6601515" y="2894335"/>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3</a:t>
            </a:r>
          </a:p>
        </p:txBody>
      </p:sp>
      <p:sp>
        <p:nvSpPr>
          <p:cNvPr id="11" name="Rectángulo 10">
            <a:extLst>
              <a:ext uri="{FF2B5EF4-FFF2-40B4-BE49-F238E27FC236}">
                <a16:creationId xmlns:a16="http://schemas.microsoft.com/office/drawing/2014/main" id="{CE85C1E1-F4D2-7CCA-F36F-4F02A9949C3E}"/>
              </a:ext>
            </a:extLst>
          </p:cNvPr>
          <p:cNvSpPr/>
          <p:nvPr/>
        </p:nvSpPr>
        <p:spPr>
          <a:xfrm>
            <a:off x="8153400" y="2587752"/>
            <a:ext cx="3152795"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redondeado 9">
            <a:extLst>
              <a:ext uri="{FF2B5EF4-FFF2-40B4-BE49-F238E27FC236}">
                <a16:creationId xmlns:a16="http://schemas.microsoft.com/office/drawing/2014/main" id="{467835FE-7611-E02A-EA2C-682B41AFB7B2}"/>
              </a:ext>
            </a:extLst>
          </p:cNvPr>
          <p:cNvSpPr/>
          <p:nvPr/>
        </p:nvSpPr>
        <p:spPr>
          <a:xfrm>
            <a:off x="10969299" y="2894335"/>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4</a:t>
            </a:r>
          </a:p>
        </p:txBody>
      </p:sp>
    </p:spTree>
    <p:extLst>
      <p:ext uri="{BB962C8B-B14F-4D97-AF65-F5344CB8AC3E}">
        <p14:creationId xmlns:p14="http://schemas.microsoft.com/office/powerpoint/2010/main" val="668270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0599099D-9900-5AC0-AB1D-D9DC188405E3}"/>
              </a:ext>
            </a:extLst>
          </p:cNvPr>
          <p:cNvPicPr>
            <a:picLocks noChangeAspect="1"/>
          </p:cNvPicPr>
          <p:nvPr/>
        </p:nvPicPr>
        <p:blipFill>
          <a:blip r:embed="rId2"/>
          <a:stretch>
            <a:fillRect/>
          </a:stretch>
        </p:blipFill>
        <p:spPr>
          <a:xfrm>
            <a:off x="810247" y="1361733"/>
            <a:ext cx="10881867" cy="472210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Configuraciones: </a:t>
            </a:r>
            <a:r>
              <a:rPr lang="es-ES_tradnl" b="0" dirty="0">
                <a:solidFill>
                  <a:schemeClr val="accent1"/>
                </a:solidFill>
              </a:rPr>
              <a:t>Validación de código de honores institucionales (STVHONR)</a:t>
            </a:r>
            <a:br>
              <a:rPr lang="es-CL" dirty="0">
                <a:solidFill>
                  <a:schemeClr val="accent1"/>
                </a:solidFill>
                <a:effectLst/>
              </a:rPr>
            </a:br>
            <a:endParaRPr lang="es-CL" dirty="0">
              <a:solidFill>
                <a:schemeClr val="accent1"/>
              </a:solidFill>
            </a:endParaRPr>
          </a:p>
        </p:txBody>
      </p:sp>
      <p:sp>
        <p:nvSpPr>
          <p:cNvPr id="2" name="Rectángulo 1">
            <a:extLst>
              <a:ext uri="{FF2B5EF4-FFF2-40B4-BE49-F238E27FC236}">
                <a16:creationId xmlns:a16="http://schemas.microsoft.com/office/drawing/2014/main" id="{4FEFC601-FBBD-409E-B589-047934476CED}"/>
              </a:ext>
            </a:extLst>
          </p:cNvPr>
          <p:cNvSpPr/>
          <p:nvPr/>
        </p:nvSpPr>
        <p:spPr>
          <a:xfrm>
            <a:off x="10296143" y="1511721"/>
            <a:ext cx="225303" cy="20735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6" name="Rectángulo redondeado 9">
            <a:extLst>
              <a:ext uri="{FF2B5EF4-FFF2-40B4-BE49-F238E27FC236}">
                <a16:creationId xmlns:a16="http://schemas.microsoft.com/office/drawing/2014/main" id="{42EAD3CA-33B8-84CD-ADC4-C24BBE1CAA9D}"/>
              </a:ext>
            </a:extLst>
          </p:cNvPr>
          <p:cNvSpPr/>
          <p:nvPr/>
        </p:nvSpPr>
        <p:spPr>
          <a:xfrm>
            <a:off x="10521446" y="1719072"/>
            <a:ext cx="360421" cy="256503"/>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a:t>
            </a:r>
          </a:p>
        </p:txBody>
      </p:sp>
      <p:sp>
        <p:nvSpPr>
          <p:cNvPr id="15" name="Rectángulo redondeado 9">
            <a:extLst>
              <a:ext uri="{FF2B5EF4-FFF2-40B4-BE49-F238E27FC236}">
                <a16:creationId xmlns:a16="http://schemas.microsoft.com/office/drawing/2014/main" id="{98257E2B-D63B-A892-6F42-55A197B8C867}"/>
              </a:ext>
            </a:extLst>
          </p:cNvPr>
          <p:cNvSpPr/>
          <p:nvPr/>
        </p:nvSpPr>
        <p:spPr>
          <a:xfrm>
            <a:off x="1329049" y="2258131"/>
            <a:ext cx="360421" cy="256503"/>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2</a:t>
            </a:r>
          </a:p>
        </p:txBody>
      </p:sp>
      <p:sp>
        <p:nvSpPr>
          <p:cNvPr id="7" name="Rectángulo 6">
            <a:extLst>
              <a:ext uri="{FF2B5EF4-FFF2-40B4-BE49-F238E27FC236}">
                <a16:creationId xmlns:a16="http://schemas.microsoft.com/office/drawing/2014/main" id="{3DA46A36-982A-876A-4783-28125C9C109D}"/>
              </a:ext>
            </a:extLst>
          </p:cNvPr>
          <p:cNvSpPr/>
          <p:nvPr/>
        </p:nvSpPr>
        <p:spPr>
          <a:xfrm>
            <a:off x="810248" y="2057401"/>
            <a:ext cx="1037602" cy="20073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9" name="Rectángulo redondeado 5">
            <a:extLst>
              <a:ext uri="{FF2B5EF4-FFF2-40B4-BE49-F238E27FC236}">
                <a16:creationId xmlns:a16="http://schemas.microsoft.com/office/drawing/2014/main" id="{AE1B9F00-538F-648C-795B-4C94471A186B}"/>
              </a:ext>
            </a:extLst>
          </p:cNvPr>
          <p:cNvSpPr/>
          <p:nvPr/>
        </p:nvSpPr>
        <p:spPr>
          <a:xfrm>
            <a:off x="1416701" y="3283321"/>
            <a:ext cx="8632555" cy="151727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En esta página de validación se crean los códigos de los honores institucionales que se otorgan al estudiante para que queden registrados en la página de otorgamientos de grado en el sistema. Para crear un nuevo código:</a:t>
            </a:r>
          </a:p>
          <a:p>
            <a:pPr marL="342900" indent="-342900">
              <a:buFont typeface="+mj-lt"/>
              <a:buAutoNum type="arabicPeriod"/>
            </a:pPr>
            <a:r>
              <a:rPr lang="es-ES_tradnl" sz="1200" dirty="0"/>
              <a:t>Se inserta un registro. </a:t>
            </a:r>
          </a:p>
          <a:p>
            <a:pPr marL="342900" indent="-342900">
              <a:buFont typeface="+mj-lt"/>
              <a:buAutoNum type="arabicPeriod"/>
            </a:pPr>
            <a:r>
              <a:rPr lang="es-ES_tradnl" sz="1200" dirty="0"/>
              <a:t>Se ingresa código: campo de 6 caracteres</a:t>
            </a:r>
          </a:p>
          <a:p>
            <a:pPr marL="342900" indent="-342900">
              <a:buFont typeface="+mj-lt"/>
              <a:buAutoNum type="arabicPeriod"/>
            </a:pPr>
            <a:r>
              <a:rPr lang="es-ES_tradnl" sz="1200" dirty="0"/>
              <a:t> y su descripción: campo de 30 caracteres</a:t>
            </a:r>
          </a:p>
          <a:p>
            <a:pPr marL="342900" indent="-342900">
              <a:buFont typeface="+mj-lt"/>
              <a:buAutoNum type="arabicPeriod"/>
            </a:pPr>
            <a:r>
              <a:rPr lang="es-ES_tradnl" sz="1200" dirty="0"/>
              <a:t>Marque los </a:t>
            </a:r>
            <a:r>
              <a:rPr lang="es-ES_tradnl" sz="1200" dirty="0" err="1"/>
              <a:t>flag</a:t>
            </a:r>
            <a:r>
              <a:rPr lang="es-ES_tradnl" sz="1200" dirty="0"/>
              <a:t> de Indicador de impresión</a:t>
            </a:r>
          </a:p>
          <a:p>
            <a:r>
              <a:rPr lang="es-ES_tradnl" sz="1200" dirty="0"/>
              <a:t>Guarde la información ingresada</a:t>
            </a:r>
          </a:p>
        </p:txBody>
      </p:sp>
      <p:sp>
        <p:nvSpPr>
          <p:cNvPr id="10" name="Rectángulo redondeado 9">
            <a:extLst>
              <a:ext uri="{FF2B5EF4-FFF2-40B4-BE49-F238E27FC236}">
                <a16:creationId xmlns:a16="http://schemas.microsoft.com/office/drawing/2014/main" id="{2C2D8F05-293C-21EC-DD52-2F5843121B55}"/>
              </a:ext>
            </a:extLst>
          </p:cNvPr>
          <p:cNvSpPr/>
          <p:nvPr/>
        </p:nvSpPr>
        <p:spPr>
          <a:xfrm>
            <a:off x="2408917" y="2294641"/>
            <a:ext cx="360421" cy="256503"/>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3</a:t>
            </a:r>
          </a:p>
        </p:txBody>
      </p:sp>
      <p:sp>
        <p:nvSpPr>
          <p:cNvPr id="12" name="Rectángulo 11">
            <a:extLst>
              <a:ext uri="{FF2B5EF4-FFF2-40B4-BE49-F238E27FC236}">
                <a16:creationId xmlns:a16="http://schemas.microsoft.com/office/drawing/2014/main" id="{98BED99C-5A2D-93B1-7CF7-2B45446E0B49}"/>
              </a:ext>
            </a:extLst>
          </p:cNvPr>
          <p:cNvSpPr/>
          <p:nvPr/>
        </p:nvSpPr>
        <p:spPr>
          <a:xfrm>
            <a:off x="1890116" y="2093911"/>
            <a:ext cx="1037602" cy="20073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138892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0DB1D-9B02-84E2-FAB5-C12BEA51A1A8}"/>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BDECF3FC-2C89-139C-4BF8-D6AAFC7300DE}"/>
              </a:ext>
            </a:extLst>
          </p:cNvPr>
          <p:cNvPicPr>
            <a:picLocks noChangeAspect="1"/>
          </p:cNvPicPr>
          <p:nvPr/>
        </p:nvPicPr>
        <p:blipFill>
          <a:blip r:embed="rId2"/>
          <a:stretch>
            <a:fillRect/>
          </a:stretch>
        </p:blipFill>
        <p:spPr>
          <a:xfrm>
            <a:off x="810247" y="1372042"/>
            <a:ext cx="10995942" cy="4766629"/>
          </a:xfrm>
          <a:prstGeom prst="rect">
            <a:avLst/>
          </a:prstGeom>
        </p:spPr>
      </p:pic>
      <p:sp>
        <p:nvSpPr>
          <p:cNvPr id="3" name="Marcador de texto vertical 2">
            <a:extLst>
              <a:ext uri="{FF2B5EF4-FFF2-40B4-BE49-F238E27FC236}">
                <a16:creationId xmlns:a16="http://schemas.microsoft.com/office/drawing/2014/main" id="{EFF84FCC-849B-1789-8AD6-83501A19E899}"/>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091E08D3-7869-E0D9-ADAF-5C2BB6F0F987}"/>
              </a:ext>
            </a:extLst>
          </p:cNvPr>
          <p:cNvSpPr>
            <a:spLocks noGrp="1"/>
          </p:cNvSpPr>
          <p:nvPr>
            <p:ph type="title"/>
          </p:nvPr>
        </p:nvSpPr>
        <p:spPr>
          <a:xfrm>
            <a:off x="810247" y="327992"/>
            <a:ext cx="10271883" cy="626165"/>
          </a:xfrm>
        </p:spPr>
        <p:txBody>
          <a:bodyPr/>
          <a:lstStyle/>
          <a:p>
            <a:r>
              <a:rPr lang="es-ES_tradnl" dirty="0">
                <a:solidFill>
                  <a:schemeClr val="accent1"/>
                </a:solidFill>
              </a:rPr>
              <a:t>Configuraciones: </a:t>
            </a:r>
            <a:r>
              <a:rPr lang="es-ES_tradnl" b="0" dirty="0">
                <a:solidFill>
                  <a:schemeClr val="accent1"/>
                </a:solidFill>
              </a:rPr>
              <a:t>Validación de código de tipo de histórico académico (STVTPRT)</a:t>
            </a:r>
            <a:br>
              <a:rPr lang="es-CL" dirty="0">
                <a:solidFill>
                  <a:schemeClr val="accent1"/>
                </a:solidFill>
                <a:effectLst/>
              </a:rPr>
            </a:br>
            <a:endParaRPr lang="es-CL" dirty="0">
              <a:solidFill>
                <a:schemeClr val="accent1"/>
              </a:solidFill>
            </a:endParaRPr>
          </a:p>
        </p:txBody>
      </p:sp>
      <p:sp>
        <p:nvSpPr>
          <p:cNvPr id="2" name="Rectángulo 1">
            <a:extLst>
              <a:ext uri="{FF2B5EF4-FFF2-40B4-BE49-F238E27FC236}">
                <a16:creationId xmlns:a16="http://schemas.microsoft.com/office/drawing/2014/main" id="{63B51CA0-781F-5510-1C09-D4E85D32F0F9}"/>
              </a:ext>
            </a:extLst>
          </p:cNvPr>
          <p:cNvSpPr/>
          <p:nvPr/>
        </p:nvSpPr>
        <p:spPr>
          <a:xfrm>
            <a:off x="10881867" y="1743647"/>
            <a:ext cx="225303" cy="20735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6" name="Rectángulo redondeado 9">
            <a:extLst>
              <a:ext uri="{FF2B5EF4-FFF2-40B4-BE49-F238E27FC236}">
                <a16:creationId xmlns:a16="http://schemas.microsoft.com/office/drawing/2014/main" id="{264305B0-06A0-C2B0-53C3-C85F5E4525FD}"/>
              </a:ext>
            </a:extLst>
          </p:cNvPr>
          <p:cNvSpPr/>
          <p:nvPr/>
        </p:nvSpPr>
        <p:spPr>
          <a:xfrm>
            <a:off x="10521446" y="1719072"/>
            <a:ext cx="360421" cy="256503"/>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a:t>
            </a:r>
          </a:p>
        </p:txBody>
      </p:sp>
      <p:sp>
        <p:nvSpPr>
          <p:cNvPr id="15" name="Rectángulo redondeado 9">
            <a:extLst>
              <a:ext uri="{FF2B5EF4-FFF2-40B4-BE49-F238E27FC236}">
                <a16:creationId xmlns:a16="http://schemas.microsoft.com/office/drawing/2014/main" id="{61BCBD39-2065-9D2D-D4A3-111A8A5E2E65}"/>
              </a:ext>
            </a:extLst>
          </p:cNvPr>
          <p:cNvSpPr/>
          <p:nvPr/>
        </p:nvSpPr>
        <p:spPr>
          <a:xfrm>
            <a:off x="3771900" y="3434765"/>
            <a:ext cx="360421" cy="256503"/>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2</a:t>
            </a:r>
          </a:p>
        </p:txBody>
      </p:sp>
      <p:sp>
        <p:nvSpPr>
          <p:cNvPr id="7" name="Rectángulo 6">
            <a:extLst>
              <a:ext uri="{FF2B5EF4-FFF2-40B4-BE49-F238E27FC236}">
                <a16:creationId xmlns:a16="http://schemas.microsoft.com/office/drawing/2014/main" id="{4A744947-F818-6477-6F12-1F3C30C97E4E}"/>
              </a:ext>
            </a:extLst>
          </p:cNvPr>
          <p:cNvSpPr/>
          <p:nvPr/>
        </p:nvSpPr>
        <p:spPr>
          <a:xfrm>
            <a:off x="609601" y="3454578"/>
            <a:ext cx="3162299" cy="25650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9" name="Rectángulo redondeado 5">
            <a:extLst>
              <a:ext uri="{FF2B5EF4-FFF2-40B4-BE49-F238E27FC236}">
                <a16:creationId xmlns:a16="http://schemas.microsoft.com/office/drawing/2014/main" id="{844F9447-8F28-415E-B7D2-159D4F8AC548}"/>
              </a:ext>
            </a:extLst>
          </p:cNvPr>
          <p:cNvSpPr/>
          <p:nvPr/>
        </p:nvSpPr>
        <p:spPr>
          <a:xfrm>
            <a:off x="1629910" y="4073896"/>
            <a:ext cx="8632555" cy="122467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En esta página de validación se crean los códigos de los honores institucionales que se otorgan al estudiante para que queden registrados en la página de otorgamientos de grado en el sistema. Para crear un nuevo código:</a:t>
            </a:r>
          </a:p>
          <a:p>
            <a:pPr marL="342900" indent="-342900">
              <a:buFont typeface="+mj-lt"/>
              <a:buAutoNum type="arabicPeriod"/>
            </a:pPr>
            <a:r>
              <a:rPr lang="es-ES_tradnl" sz="1200" dirty="0"/>
              <a:t>Se inserta un registro. </a:t>
            </a:r>
          </a:p>
          <a:p>
            <a:pPr marL="342900" indent="-342900">
              <a:buFont typeface="+mj-lt"/>
              <a:buAutoNum type="arabicPeriod"/>
            </a:pPr>
            <a:r>
              <a:rPr lang="es-ES_tradnl" sz="1200" dirty="0"/>
              <a:t>Se ingresa código y su descripción.</a:t>
            </a:r>
          </a:p>
          <a:p>
            <a:r>
              <a:rPr lang="es-ES_tradnl" sz="1200" dirty="0"/>
              <a:t>Guarde la información ingresada</a:t>
            </a:r>
          </a:p>
        </p:txBody>
      </p:sp>
    </p:spTree>
    <p:extLst>
      <p:ext uri="{BB962C8B-B14F-4D97-AF65-F5344CB8AC3E}">
        <p14:creationId xmlns:p14="http://schemas.microsoft.com/office/powerpoint/2010/main" val="25972511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9670C-2BA2-424A-CDC5-BF24536B7A66}"/>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2F7B0C64-3C7B-7170-ABD3-7889607F2C6B}"/>
              </a:ext>
            </a:extLst>
          </p:cNvPr>
          <p:cNvSpPr>
            <a:spLocks noGrp="1"/>
          </p:cNvSpPr>
          <p:nvPr>
            <p:ph type="body" sz="quarter" idx="10"/>
          </p:nvPr>
        </p:nvSpPr>
        <p:spPr>
          <a:xfrm>
            <a:off x="914399" y="2238843"/>
            <a:ext cx="10363202" cy="669094"/>
          </a:xfrm>
        </p:spPr>
        <p:txBody>
          <a:bodyPr/>
          <a:lstStyle/>
          <a:p>
            <a:r>
              <a:rPr lang="es-419" dirty="0"/>
              <a:t>Configuración de cartas</a:t>
            </a:r>
          </a:p>
        </p:txBody>
      </p:sp>
    </p:spTree>
    <p:extLst>
      <p:ext uri="{BB962C8B-B14F-4D97-AF65-F5344CB8AC3E}">
        <p14:creationId xmlns:p14="http://schemas.microsoft.com/office/powerpoint/2010/main" val="21167646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F7E4A-4E8B-EC5A-92A4-5DA58CA5DACF}"/>
            </a:ext>
          </a:extLst>
        </p:cNvPr>
        <p:cNvGrpSpPr/>
        <p:nvPr/>
      </p:nvGrpSpPr>
      <p:grpSpPr>
        <a:xfrm>
          <a:off x="0" y="0"/>
          <a:ext cx="0" cy="0"/>
          <a:chOff x="0" y="0"/>
          <a:chExt cx="0" cy="0"/>
        </a:xfrm>
      </p:grpSpPr>
      <p:pic>
        <p:nvPicPr>
          <p:cNvPr id="14" name="Imagen 13">
            <a:extLst>
              <a:ext uri="{FF2B5EF4-FFF2-40B4-BE49-F238E27FC236}">
                <a16:creationId xmlns:a16="http://schemas.microsoft.com/office/drawing/2014/main" id="{DB0A8EA5-1F1B-5E13-5032-1DF4F8FF7E08}"/>
              </a:ext>
            </a:extLst>
          </p:cNvPr>
          <p:cNvPicPr>
            <a:picLocks noChangeAspect="1"/>
          </p:cNvPicPr>
          <p:nvPr/>
        </p:nvPicPr>
        <p:blipFill>
          <a:blip r:embed="rId3"/>
          <a:stretch>
            <a:fillRect/>
          </a:stretch>
        </p:blipFill>
        <p:spPr>
          <a:xfrm>
            <a:off x="1061408" y="1032457"/>
            <a:ext cx="10983808" cy="4815136"/>
          </a:xfrm>
          <a:prstGeom prst="rect">
            <a:avLst/>
          </a:prstGeom>
        </p:spPr>
      </p:pic>
      <p:sp>
        <p:nvSpPr>
          <p:cNvPr id="13" name="Title 12">
            <a:extLst>
              <a:ext uri="{FF2B5EF4-FFF2-40B4-BE49-F238E27FC236}">
                <a16:creationId xmlns:a16="http://schemas.microsoft.com/office/drawing/2014/main" id="{70BA1715-0DA9-4A30-5025-3C8584335D37}"/>
              </a:ext>
            </a:extLst>
          </p:cNvPr>
          <p:cNvSpPr>
            <a:spLocks noGrp="1"/>
          </p:cNvSpPr>
          <p:nvPr>
            <p:ph type="title"/>
          </p:nvPr>
        </p:nvSpPr>
        <p:spPr>
          <a:xfrm>
            <a:off x="549334" y="139063"/>
            <a:ext cx="10477497" cy="898555"/>
          </a:xfrm>
        </p:spPr>
        <p:txBody>
          <a:bodyPr/>
          <a:lstStyle/>
          <a:p>
            <a:r>
              <a:rPr lang="es-CO" dirty="0">
                <a:solidFill>
                  <a:schemeClr val="tx2"/>
                </a:solidFill>
              </a:rPr>
              <a:t>Validación del código de carta</a:t>
            </a:r>
            <a:r>
              <a:rPr lang="es-419" dirty="0">
                <a:solidFill>
                  <a:schemeClr val="tx2"/>
                </a:solidFill>
              </a:rPr>
              <a:t>(GTVLETR)</a:t>
            </a:r>
            <a:endParaRPr lang="es-ES_tradnl" b="0" dirty="0"/>
          </a:p>
        </p:txBody>
      </p:sp>
      <p:sp>
        <p:nvSpPr>
          <p:cNvPr id="3" name="Rectángulo redondeado 15">
            <a:extLst>
              <a:ext uri="{FF2B5EF4-FFF2-40B4-BE49-F238E27FC236}">
                <a16:creationId xmlns:a16="http://schemas.microsoft.com/office/drawing/2014/main" id="{BB47C9C2-44CF-7BFF-F19D-D7B1F54F56CA}"/>
              </a:ext>
            </a:extLst>
          </p:cNvPr>
          <p:cNvSpPr/>
          <p:nvPr/>
        </p:nvSpPr>
        <p:spPr>
          <a:xfrm>
            <a:off x="10538870" y="1288601"/>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5" name="Rectángulo 4">
            <a:extLst>
              <a:ext uri="{FF2B5EF4-FFF2-40B4-BE49-F238E27FC236}">
                <a16:creationId xmlns:a16="http://schemas.microsoft.com/office/drawing/2014/main" id="{8802E1B3-51B5-3B7D-CC37-4CA22D53C4F4}"/>
              </a:ext>
            </a:extLst>
          </p:cNvPr>
          <p:cNvSpPr/>
          <p:nvPr/>
        </p:nvSpPr>
        <p:spPr>
          <a:xfrm>
            <a:off x="11308870" y="1328890"/>
            <a:ext cx="237816" cy="1429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29ED9C54-84F1-D1B2-780B-0CADEC80623E}"/>
              </a:ext>
            </a:extLst>
          </p:cNvPr>
          <p:cNvSpPr/>
          <p:nvPr/>
        </p:nvSpPr>
        <p:spPr>
          <a:xfrm>
            <a:off x="549334" y="4019653"/>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3DC81A2B-9447-AD45-6145-6C78FE44818E}"/>
              </a:ext>
            </a:extLst>
          </p:cNvPr>
          <p:cNvSpPr/>
          <p:nvPr/>
        </p:nvSpPr>
        <p:spPr>
          <a:xfrm>
            <a:off x="879315" y="3752208"/>
            <a:ext cx="1116794" cy="2110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CDC2ECA5-3D4B-A7D6-DDFD-D259B12EEAEF}"/>
              </a:ext>
            </a:extLst>
          </p:cNvPr>
          <p:cNvSpPr/>
          <p:nvPr/>
        </p:nvSpPr>
        <p:spPr>
          <a:xfrm>
            <a:off x="5036643" y="3933789"/>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0" name="Rectángulo 9">
            <a:extLst>
              <a:ext uri="{FF2B5EF4-FFF2-40B4-BE49-F238E27FC236}">
                <a16:creationId xmlns:a16="http://schemas.microsoft.com/office/drawing/2014/main" id="{BCA6936C-DC8C-83BF-8558-A0EFF8DCA7B6}"/>
              </a:ext>
            </a:extLst>
          </p:cNvPr>
          <p:cNvSpPr/>
          <p:nvPr/>
        </p:nvSpPr>
        <p:spPr>
          <a:xfrm>
            <a:off x="11613042" y="5605272"/>
            <a:ext cx="487961" cy="24232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esquinas redondeadas 11">
            <a:extLst>
              <a:ext uri="{FF2B5EF4-FFF2-40B4-BE49-F238E27FC236}">
                <a16:creationId xmlns:a16="http://schemas.microsoft.com/office/drawing/2014/main" id="{DCE2D7AB-2309-54AA-2B99-973D183D708D}"/>
              </a:ext>
            </a:extLst>
          </p:cNvPr>
          <p:cNvSpPr/>
          <p:nvPr/>
        </p:nvSpPr>
        <p:spPr>
          <a:xfrm>
            <a:off x="1924978" y="4853743"/>
            <a:ext cx="7199252" cy="131845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a:pPr>
            <a:r>
              <a:rPr lang="es-ES_tradnl" sz="1200" dirty="0"/>
              <a:t>Para insertar un registro selecciones (+)</a:t>
            </a:r>
          </a:p>
          <a:p>
            <a:pPr marL="228600" indent="-228600">
              <a:buAutoNum type="arabicPeriod"/>
            </a:pPr>
            <a:r>
              <a:rPr lang="es-ES_tradnl" sz="1200" dirty="0"/>
              <a:t>Ingrese el código: Campo de 15 caracteres</a:t>
            </a:r>
          </a:p>
          <a:p>
            <a:pPr marL="228600" indent="-228600">
              <a:buAutoNum type="arabicPeriod"/>
            </a:pPr>
            <a:r>
              <a:rPr lang="es-ES_tradnl" sz="1200" dirty="0"/>
              <a:t>Ingrese la descripción: campo de 30 caracteres</a:t>
            </a:r>
          </a:p>
          <a:p>
            <a:pPr marL="228600" indent="-228600">
              <a:buAutoNum type="arabicPeriod"/>
            </a:pPr>
            <a:r>
              <a:rPr lang="es-ES_tradnl" sz="1200" dirty="0"/>
              <a:t>Guarde la información</a:t>
            </a:r>
          </a:p>
        </p:txBody>
      </p:sp>
      <p:sp>
        <p:nvSpPr>
          <p:cNvPr id="17" name="Rectángulo 16">
            <a:extLst>
              <a:ext uri="{FF2B5EF4-FFF2-40B4-BE49-F238E27FC236}">
                <a16:creationId xmlns:a16="http://schemas.microsoft.com/office/drawing/2014/main" id="{139FD398-1B95-7FA0-33E0-AD15B1093A8A}"/>
              </a:ext>
            </a:extLst>
          </p:cNvPr>
          <p:cNvSpPr/>
          <p:nvPr/>
        </p:nvSpPr>
        <p:spPr>
          <a:xfrm>
            <a:off x="2024131" y="3752207"/>
            <a:ext cx="3090588" cy="2110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68D81227-CDF4-81EE-35F4-F75C76644084}"/>
              </a:ext>
            </a:extLst>
          </p:cNvPr>
          <p:cNvSpPr/>
          <p:nvPr/>
        </p:nvSpPr>
        <p:spPr>
          <a:xfrm>
            <a:off x="11113303" y="5776113"/>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6" name="Marcador de texto 5">
            <a:extLst>
              <a:ext uri="{FF2B5EF4-FFF2-40B4-BE49-F238E27FC236}">
                <a16:creationId xmlns:a16="http://schemas.microsoft.com/office/drawing/2014/main" id="{26C9964C-A073-432F-8A90-D5202E701847}"/>
              </a:ext>
            </a:extLst>
          </p:cNvPr>
          <p:cNvSpPr>
            <a:spLocks noGrp="1"/>
          </p:cNvSpPr>
          <p:nvPr>
            <p:ph type="body" sz="quarter" idx="17"/>
          </p:nvPr>
        </p:nvSpPr>
        <p:spPr/>
        <p:txBody>
          <a:bodyPr/>
          <a:lstStyle/>
          <a:p>
            <a:endParaRPr lang="es-CO"/>
          </a:p>
        </p:txBody>
      </p:sp>
    </p:spTree>
    <p:extLst>
      <p:ext uri="{BB962C8B-B14F-4D97-AF65-F5344CB8AC3E}">
        <p14:creationId xmlns:p14="http://schemas.microsoft.com/office/powerpoint/2010/main" val="18867308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16DE1-2110-087C-D326-4A4753F0F4D5}"/>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44C9C038-AFA9-B707-2D4F-9A339C1C0248}"/>
              </a:ext>
            </a:extLst>
          </p:cNvPr>
          <p:cNvPicPr>
            <a:picLocks noChangeAspect="1"/>
          </p:cNvPicPr>
          <p:nvPr/>
        </p:nvPicPr>
        <p:blipFill>
          <a:blip r:embed="rId3"/>
          <a:stretch>
            <a:fillRect/>
          </a:stretch>
        </p:blipFill>
        <p:spPr>
          <a:xfrm>
            <a:off x="775508" y="914017"/>
            <a:ext cx="11223525" cy="4992149"/>
          </a:xfrm>
          <a:prstGeom prst="rect">
            <a:avLst/>
          </a:prstGeom>
        </p:spPr>
      </p:pic>
      <p:sp>
        <p:nvSpPr>
          <p:cNvPr id="13" name="Title 12">
            <a:extLst>
              <a:ext uri="{FF2B5EF4-FFF2-40B4-BE49-F238E27FC236}">
                <a16:creationId xmlns:a16="http://schemas.microsoft.com/office/drawing/2014/main" id="{7FEC92D6-B267-F23D-B0CD-315A03984790}"/>
              </a:ext>
            </a:extLst>
          </p:cNvPr>
          <p:cNvSpPr>
            <a:spLocks noGrp="1"/>
          </p:cNvSpPr>
          <p:nvPr>
            <p:ph type="title"/>
          </p:nvPr>
        </p:nvSpPr>
        <p:spPr>
          <a:xfrm>
            <a:off x="549334" y="139063"/>
            <a:ext cx="10477497" cy="898555"/>
          </a:xfrm>
        </p:spPr>
        <p:txBody>
          <a:bodyPr/>
          <a:lstStyle/>
          <a:p>
            <a:r>
              <a:rPr lang="es-CO" dirty="0">
                <a:solidFill>
                  <a:schemeClr val="tx2"/>
                </a:solidFill>
              </a:rPr>
              <a:t>Validación del código de párrafo</a:t>
            </a:r>
            <a:r>
              <a:rPr lang="es-419" dirty="0">
                <a:solidFill>
                  <a:schemeClr val="tx2"/>
                </a:solidFill>
              </a:rPr>
              <a:t>(GTVPARA)</a:t>
            </a:r>
            <a:endParaRPr lang="es-ES_tradnl" b="0" dirty="0"/>
          </a:p>
        </p:txBody>
      </p:sp>
      <p:sp>
        <p:nvSpPr>
          <p:cNvPr id="3" name="Rectángulo redondeado 15">
            <a:extLst>
              <a:ext uri="{FF2B5EF4-FFF2-40B4-BE49-F238E27FC236}">
                <a16:creationId xmlns:a16="http://schemas.microsoft.com/office/drawing/2014/main" id="{25BDA88D-4021-CCB3-161E-523DD497F7B1}"/>
              </a:ext>
            </a:extLst>
          </p:cNvPr>
          <p:cNvSpPr/>
          <p:nvPr/>
        </p:nvSpPr>
        <p:spPr>
          <a:xfrm>
            <a:off x="10468376" y="1286258"/>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5" name="Rectángulo 4">
            <a:extLst>
              <a:ext uri="{FF2B5EF4-FFF2-40B4-BE49-F238E27FC236}">
                <a16:creationId xmlns:a16="http://schemas.microsoft.com/office/drawing/2014/main" id="{BA76E7D8-4DB1-5734-A3FE-4AA22F1FCBD9}"/>
              </a:ext>
            </a:extLst>
          </p:cNvPr>
          <p:cNvSpPr/>
          <p:nvPr/>
        </p:nvSpPr>
        <p:spPr>
          <a:xfrm>
            <a:off x="11210509" y="1270725"/>
            <a:ext cx="237816" cy="1429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4C853F59-9EEC-82DE-BD78-5C5238597CB7}"/>
              </a:ext>
            </a:extLst>
          </p:cNvPr>
          <p:cNvSpPr/>
          <p:nvPr/>
        </p:nvSpPr>
        <p:spPr>
          <a:xfrm>
            <a:off x="445527" y="2101642"/>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5107CD2F-E246-D82F-B7F8-E783C300B3FD}"/>
              </a:ext>
            </a:extLst>
          </p:cNvPr>
          <p:cNvSpPr/>
          <p:nvPr/>
        </p:nvSpPr>
        <p:spPr>
          <a:xfrm>
            <a:off x="775508" y="1834197"/>
            <a:ext cx="1116794" cy="2110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57A7479B-B154-4244-B463-D5A256F11DF3}"/>
              </a:ext>
            </a:extLst>
          </p:cNvPr>
          <p:cNvSpPr/>
          <p:nvPr/>
        </p:nvSpPr>
        <p:spPr>
          <a:xfrm>
            <a:off x="4932836" y="2015778"/>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0" name="Rectángulo 9">
            <a:extLst>
              <a:ext uri="{FF2B5EF4-FFF2-40B4-BE49-F238E27FC236}">
                <a16:creationId xmlns:a16="http://schemas.microsoft.com/office/drawing/2014/main" id="{181995D2-D9AF-4B05-400E-F8BC9EC9970D}"/>
              </a:ext>
            </a:extLst>
          </p:cNvPr>
          <p:cNvSpPr/>
          <p:nvPr/>
        </p:nvSpPr>
        <p:spPr>
          <a:xfrm>
            <a:off x="11525250" y="5619211"/>
            <a:ext cx="573992" cy="28695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esquinas redondeadas 11">
            <a:extLst>
              <a:ext uri="{FF2B5EF4-FFF2-40B4-BE49-F238E27FC236}">
                <a16:creationId xmlns:a16="http://schemas.microsoft.com/office/drawing/2014/main" id="{81A0AC20-5961-50A6-CE44-90F767E1A0DF}"/>
              </a:ext>
            </a:extLst>
          </p:cNvPr>
          <p:cNvSpPr/>
          <p:nvPr/>
        </p:nvSpPr>
        <p:spPr>
          <a:xfrm>
            <a:off x="1892301" y="3136900"/>
            <a:ext cx="7199252" cy="131845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a:pPr>
            <a:r>
              <a:rPr lang="es-ES_tradnl" sz="1200" dirty="0"/>
              <a:t>Para insertar un registro selecciones (+)</a:t>
            </a:r>
          </a:p>
          <a:p>
            <a:pPr marL="228600" indent="-228600">
              <a:buAutoNum type="arabicPeriod"/>
            </a:pPr>
            <a:r>
              <a:rPr lang="es-ES_tradnl" sz="1200" dirty="0"/>
              <a:t>Ingrese el código: Campo de 7 caracteres</a:t>
            </a:r>
          </a:p>
          <a:p>
            <a:pPr marL="228600" indent="-228600">
              <a:buAutoNum type="arabicPeriod"/>
            </a:pPr>
            <a:r>
              <a:rPr lang="es-ES_tradnl" sz="1200" dirty="0"/>
              <a:t>Ingrese la descripción: campo de 30 caracteres, se pueden adicionar comentarios</a:t>
            </a:r>
          </a:p>
          <a:p>
            <a:pPr marL="228600" indent="-228600">
              <a:buAutoNum type="arabicPeriod"/>
            </a:pPr>
            <a:r>
              <a:rPr lang="es-ES_tradnl" sz="1200" dirty="0"/>
              <a:t>Guarde la información</a:t>
            </a:r>
          </a:p>
        </p:txBody>
      </p:sp>
      <p:sp>
        <p:nvSpPr>
          <p:cNvPr id="17" name="Rectángulo 16">
            <a:extLst>
              <a:ext uri="{FF2B5EF4-FFF2-40B4-BE49-F238E27FC236}">
                <a16:creationId xmlns:a16="http://schemas.microsoft.com/office/drawing/2014/main" id="{6AFDD325-2E26-B2D9-CFD5-BD1CAA7F86CA}"/>
              </a:ext>
            </a:extLst>
          </p:cNvPr>
          <p:cNvSpPr/>
          <p:nvPr/>
        </p:nvSpPr>
        <p:spPr>
          <a:xfrm>
            <a:off x="1920324" y="1834196"/>
            <a:ext cx="3090588" cy="2110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496659AC-C0FB-3FE7-8CCF-542C16374D23}"/>
              </a:ext>
            </a:extLst>
          </p:cNvPr>
          <p:cNvSpPr/>
          <p:nvPr/>
        </p:nvSpPr>
        <p:spPr>
          <a:xfrm>
            <a:off x="11037289" y="5790053"/>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Tree>
    <p:extLst>
      <p:ext uri="{BB962C8B-B14F-4D97-AF65-F5344CB8AC3E}">
        <p14:creationId xmlns:p14="http://schemas.microsoft.com/office/powerpoint/2010/main" val="809366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0D572-0CE3-2FEF-FC6D-ED9CFE180B16}"/>
            </a:ext>
          </a:extLst>
        </p:cNvPr>
        <p:cNvGrpSpPr/>
        <p:nvPr/>
      </p:nvGrpSpPr>
      <p:grpSpPr>
        <a:xfrm>
          <a:off x="0" y="0"/>
          <a:ext cx="0" cy="0"/>
          <a:chOff x="0" y="0"/>
          <a:chExt cx="0" cy="0"/>
        </a:xfrm>
      </p:grpSpPr>
      <p:pic>
        <p:nvPicPr>
          <p:cNvPr id="20" name="Imagen 19">
            <a:extLst>
              <a:ext uri="{FF2B5EF4-FFF2-40B4-BE49-F238E27FC236}">
                <a16:creationId xmlns:a16="http://schemas.microsoft.com/office/drawing/2014/main" id="{781E9E26-A274-5201-98A2-7CE50F17F734}"/>
              </a:ext>
            </a:extLst>
          </p:cNvPr>
          <p:cNvPicPr>
            <a:picLocks noChangeAspect="1"/>
          </p:cNvPicPr>
          <p:nvPr/>
        </p:nvPicPr>
        <p:blipFill>
          <a:blip r:embed="rId3"/>
          <a:stretch>
            <a:fillRect/>
          </a:stretch>
        </p:blipFill>
        <p:spPr>
          <a:xfrm>
            <a:off x="609601" y="982946"/>
            <a:ext cx="11106149" cy="4892105"/>
          </a:xfrm>
          <a:prstGeom prst="rect">
            <a:avLst/>
          </a:prstGeom>
        </p:spPr>
      </p:pic>
      <p:sp>
        <p:nvSpPr>
          <p:cNvPr id="13" name="Title 12">
            <a:extLst>
              <a:ext uri="{FF2B5EF4-FFF2-40B4-BE49-F238E27FC236}">
                <a16:creationId xmlns:a16="http://schemas.microsoft.com/office/drawing/2014/main" id="{B6B918E4-2C50-3A83-5792-D5C9F6ED01B2}"/>
              </a:ext>
            </a:extLst>
          </p:cNvPr>
          <p:cNvSpPr>
            <a:spLocks noGrp="1"/>
          </p:cNvSpPr>
          <p:nvPr>
            <p:ph type="title"/>
          </p:nvPr>
        </p:nvSpPr>
        <p:spPr>
          <a:xfrm>
            <a:off x="549334" y="139063"/>
            <a:ext cx="10477497" cy="898555"/>
          </a:xfrm>
        </p:spPr>
        <p:txBody>
          <a:bodyPr/>
          <a:lstStyle/>
          <a:p>
            <a:r>
              <a:rPr lang="es-CO" dirty="0">
                <a:solidFill>
                  <a:schemeClr val="tx2"/>
                </a:solidFill>
              </a:rPr>
              <a:t>Párrafo</a:t>
            </a:r>
            <a:r>
              <a:rPr lang="es-419" dirty="0">
                <a:solidFill>
                  <a:schemeClr val="tx2"/>
                </a:solidFill>
              </a:rPr>
              <a:t>(GUAPARA)</a:t>
            </a:r>
            <a:endParaRPr lang="es-ES_tradnl" b="0" dirty="0"/>
          </a:p>
        </p:txBody>
      </p:sp>
      <p:sp>
        <p:nvSpPr>
          <p:cNvPr id="3" name="Rectángulo redondeado 15">
            <a:extLst>
              <a:ext uri="{FF2B5EF4-FFF2-40B4-BE49-F238E27FC236}">
                <a16:creationId xmlns:a16="http://schemas.microsoft.com/office/drawing/2014/main" id="{CA392189-D6DA-FC54-54C9-C51D1D98B7F6}"/>
              </a:ext>
            </a:extLst>
          </p:cNvPr>
          <p:cNvSpPr/>
          <p:nvPr/>
        </p:nvSpPr>
        <p:spPr>
          <a:xfrm>
            <a:off x="2810129" y="1337135"/>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5" name="Rectángulo 4">
            <a:extLst>
              <a:ext uri="{FF2B5EF4-FFF2-40B4-BE49-F238E27FC236}">
                <a16:creationId xmlns:a16="http://schemas.microsoft.com/office/drawing/2014/main" id="{06A7DEDE-DEBA-8BF6-738D-983DE0B70161}"/>
              </a:ext>
            </a:extLst>
          </p:cNvPr>
          <p:cNvSpPr/>
          <p:nvPr/>
        </p:nvSpPr>
        <p:spPr>
          <a:xfrm>
            <a:off x="10907923" y="1553096"/>
            <a:ext cx="237816" cy="1429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278E3691-0006-895C-22A6-2BD05907A87C}"/>
              </a:ext>
            </a:extLst>
          </p:cNvPr>
          <p:cNvSpPr/>
          <p:nvPr/>
        </p:nvSpPr>
        <p:spPr>
          <a:xfrm>
            <a:off x="10538870" y="1769451"/>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5D010712-38CA-86F1-B283-921D21CB43AE}"/>
              </a:ext>
            </a:extLst>
          </p:cNvPr>
          <p:cNvSpPr/>
          <p:nvPr/>
        </p:nvSpPr>
        <p:spPr>
          <a:xfrm>
            <a:off x="549334" y="1286258"/>
            <a:ext cx="2129858" cy="2110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9002DC2A-13F5-ACF3-475F-6ACC3E15C29B}"/>
              </a:ext>
            </a:extLst>
          </p:cNvPr>
          <p:cNvSpPr/>
          <p:nvPr/>
        </p:nvSpPr>
        <p:spPr>
          <a:xfrm>
            <a:off x="3701296" y="2202154"/>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0" name="Rectángulo 9">
            <a:extLst>
              <a:ext uri="{FF2B5EF4-FFF2-40B4-BE49-F238E27FC236}">
                <a16:creationId xmlns:a16="http://schemas.microsoft.com/office/drawing/2014/main" id="{6624A09E-8BFA-8DAE-E5CF-3220C04BC0A6}"/>
              </a:ext>
            </a:extLst>
          </p:cNvPr>
          <p:cNvSpPr/>
          <p:nvPr/>
        </p:nvSpPr>
        <p:spPr>
          <a:xfrm>
            <a:off x="11173020" y="5676751"/>
            <a:ext cx="602997" cy="24232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esquinas redondeadas 11">
            <a:extLst>
              <a:ext uri="{FF2B5EF4-FFF2-40B4-BE49-F238E27FC236}">
                <a16:creationId xmlns:a16="http://schemas.microsoft.com/office/drawing/2014/main" id="{6789B5F0-FBD4-F1CE-0BC1-6AD61DB80539}"/>
              </a:ext>
            </a:extLst>
          </p:cNvPr>
          <p:cNvSpPr/>
          <p:nvPr/>
        </p:nvSpPr>
        <p:spPr>
          <a:xfrm>
            <a:off x="1892301" y="3136900"/>
            <a:ext cx="7199252" cy="116992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a:pPr>
            <a:r>
              <a:rPr lang="es-ES_tradnl" sz="1200" dirty="0"/>
              <a:t>Seleccione el párrafo a configurar</a:t>
            </a:r>
          </a:p>
          <a:p>
            <a:pPr marL="228600" indent="-228600">
              <a:buAutoNum type="arabicPeriod"/>
            </a:pPr>
            <a:r>
              <a:rPr lang="es-ES_tradnl" sz="1200" dirty="0"/>
              <a:t>Para insertar el contenido del párrafo, seleccione (+)</a:t>
            </a:r>
          </a:p>
          <a:p>
            <a:pPr marL="228600" indent="-228600">
              <a:buAutoNum type="arabicPeriod"/>
            </a:pPr>
            <a:r>
              <a:rPr lang="es-ES_tradnl" sz="1200" dirty="0"/>
              <a:t>Ingrese el texto: Campo de 60 caracteres</a:t>
            </a:r>
          </a:p>
          <a:p>
            <a:pPr marL="228600" indent="-228600">
              <a:buAutoNum type="arabicPeriod"/>
            </a:pPr>
            <a:r>
              <a:rPr lang="es-ES_tradnl" sz="1200" dirty="0"/>
              <a:t>Guarde la información</a:t>
            </a:r>
          </a:p>
        </p:txBody>
      </p:sp>
      <p:sp>
        <p:nvSpPr>
          <p:cNvPr id="17" name="Rectángulo 16">
            <a:extLst>
              <a:ext uri="{FF2B5EF4-FFF2-40B4-BE49-F238E27FC236}">
                <a16:creationId xmlns:a16="http://schemas.microsoft.com/office/drawing/2014/main" id="{0436FB9A-92E0-BB10-3027-C93BBD2802F6}"/>
              </a:ext>
            </a:extLst>
          </p:cNvPr>
          <p:cNvSpPr/>
          <p:nvPr/>
        </p:nvSpPr>
        <p:spPr>
          <a:xfrm>
            <a:off x="549334" y="1870084"/>
            <a:ext cx="3090588" cy="8071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4219684F-AE5F-6A62-AA23-F37DC879FF93}"/>
              </a:ext>
            </a:extLst>
          </p:cNvPr>
          <p:cNvSpPr/>
          <p:nvPr/>
        </p:nvSpPr>
        <p:spPr>
          <a:xfrm>
            <a:off x="10705907" y="5759577"/>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4" name="Marcador de texto 3">
            <a:extLst>
              <a:ext uri="{FF2B5EF4-FFF2-40B4-BE49-F238E27FC236}">
                <a16:creationId xmlns:a16="http://schemas.microsoft.com/office/drawing/2014/main" id="{2F21F990-8153-9DCF-310C-7D467D808664}"/>
              </a:ext>
            </a:extLst>
          </p:cNvPr>
          <p:cNvSpPr>
            <a:spLocks noGrp="1"/>
          </p:cNvSpPr>
          <p:nvPr>
            <p:ph type="body" sz="quarter" idx="17"/>
          </p:nvPr>
        </p:nvSpPr>
        <p:spPr/>
        <p:txBody>
          <a:bodyPr/>
          <a:lstStyle/>
          <a:p>
            <a:endParaRPr lang="es-CO"/>
          </a:p>
        </p:txBody>
      </p:sp>
    </p:spTree>
    <p:extLst>
      <p:ext uri="{BB962C8B-B14F-4D97-AF65-F5344CB8AC3E}">
        <p14:creationId xmlns:p14="http://schemas.microsoft.com/office/powerpoint/2010/main" val="1863748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56045-6C3F-2371-99C2-203191536D31}"/>
            </a:ext>
          </a:extLst>
        </p:cNvPr>
        <p:cNvGrpSpPr/>
        <p:nvPr/>
      </p:nvGrpSpPr>
      <p:grpSpPr>
        <a:xfrm>
          <a:off x="0" y="0"/>
          <a:ext cx="0" cy="0"/>
          <a:chOff x="0" y="0"/>
          <a:chExt cx="0" cy="0"/>
        </a:xfrm>
      </p:grpSpPr>
      <p:pic>
        <p:nvPicPr>
          <p:cNvPr id="14" name="Imagen 13">
            <a:extLst>
              <a:ext uri="{FF2B5EF4-FFF2-40B4-BE49-F238E27FC236}">
                <a16:creationId xmlns:a16="http://schemas.microsoft.com/office/drawing/2014/main" id="{9B8A5431-B505-5399-F662-AB31BEB9C78C}"/>
              </a:ext>
            </a:extLst>
          </p:cNvPr>
          <p:cNvPicPr>
            <a:picLocks noChangeAspect="1"/>
          </p:cNvPicPr>
          <p:nvPr/>
        </p:nvPicPr>
        <p:blipFill>
          <a:blip r:embed="rId3"/>
          <a:stretch>
            <a:fillRect/>
          </a:stretch>
        </p:blipFill>
        <p:spPr>
          <a:xfrm>
            <a:off x="599016" y="751034"/>
            <a:ext cx="11182146" cy="4999858"/>
          </a:xfrm>
          <a:prstGeom prst="rect">
            <a:avLst/>
          </a:prstGeom>
        </p:spPr>
      </p:pic>
      <p:sp>
        <p:nvSpPr>
          <p:cNvPr id="13" name="Title 12">
            <a:extLst>
              <a:ext uri="{FF2B5EF4-FFF2-40B4-BE49-F238E27FC236}">
                <a16:creationId xmlns:a16="http://schemas.microsoft.com/office/drawing/2014/main" id="{3B053F1A-8EDF-98B6-00F5-38FE957D644F}"/>
              </a:ext>
            </a:extLst>
          </p:cNvPr>
          <p:cNvSpPr>
            <a:spLocks noGrp="1"/>
          </p:cNvSpPr>
          <p:nvPr>
            <p:ph type="title"/>
          </p:nvPr>
        </p:nvSpPr>
        <p:spPr>
          <a:xfrm>
            <a:off x="549334" y="139063"/>
            <a:ext cx="10477497" cy="898555"/>
          </a:xfrm>
        </p:spPr>
        <p:txBody>
          <a:bodyPr/>
          <a:lstStyle/>
          <a:p>
            <a:r>
              <a:rPr lang="es-CO" dirty="0">
                <a:solidFill>
                  <a:schemeClr val="tx2"/>
                </a:solidFill>
              </a:rPr>
              <a:t>Proceso de carta</a:t>
            </a:r>
            <a:r>
              <a:rPr lang="es-419" dirty="0">
                <a:solidFill>
                  <a:schemeClr val="tx2"/>
                </a:solidFill>
              </a:rPr>
              <a:t>(GUALETR)</a:t>
            </a:r>
            <a:endParaRPr lang="es-ES_tradnl" b="0" dirty="0"/>
          </a:p>
        </p:txBody>
      </p:sp>
      <p:sp>
        <p:nvSpPr>
          <p:cNvPr id="3" name="Rectángulo redondeado 15">
            <a:extLst>
              <a:ext uri="{FF2B5EF4-FFF2-40B4-BE49-F238E27FC236}">
                <a16:creationId xmlns:a16="http://schemas.microsoft.com/office/drawing/2014/main" id="{88CE85C3-5A47-FC84-7BCB-E0F449354E5E}"/>
              </a:ext>
            </a:extLst>
          </p:cNvPr>
          <p:cNvSpPr/>
          <p:nvPr/>
        </p:nvSpPr>
        <p:spPr>
          <a:xfrm>
            <a:off x="3395941" y="1331230"/>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5" name="Rectángulo 4">
            <a:extLst>
              <a:ext uri="{FF2B5EF4-FFF2-40B4-BE49-F238E27FC236}">
                <a16:creationId xmlns:a16="http://schemas.microsoft.com/office/drawing/2014/main" id="{23DD4499-F1DF-B6B0-4696-23C41DC4A1BA}"/>
              </a:ext>
            </a:extLst>
          </p:cNvPr>
          <p:cNvSpPr/>
          <p:nvPr/>
        </p:nvSpPr>
        <p:spPr>
          <a:xfrm>
            <a:off x="10653678" y="1557513"/>
            <a:ext cx="237816" cy="1429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2A41A405-44B3-5A44-4DC3-3421D890E6EA}"/>
              </a:ext>
            </a:extLst>
          </p:cNvPr>
          <p:cNvSpPr/>
          <p:nvPr/>
        </p:nvSpPr>
        <p:spPr>
          <a:xfrm>
            <a:off x="10538870" y="1769451"/>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B759E7FC-316A-BCCE-3FB0-02091D513AAA}"/>
              </a:ext>
            </a:extLst>
          </p:cNvPr>
          <p:cNvSpPr/>
          <p:nvPr/>
        </p:nvSpPr>
        <p:spPr>
          <a:xfrm>
            <a:off x="549334" y="1228725"/>
            <a:ext cx="2574866" cy="26860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8D37F8D6-8950-0409-F6CF-C37E36AA5D0F}"/>
              </a:ext>
            </a:extLst>
          </p:cNvPr>
          <p:cNvSpPr/>
          <p:nvPr/>
        </p:nvSpPr>
        <p:spPr>
          <a:xfrm>
            <a:off x="3701296" y="2202154"/>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0" name="Rectángulo 9">
            <a:extLst>
              <a:ext uri="{FF2B5EF4-FFF2-40B4-BE49-F238E27FC236}">
                <a16:creationId xmlns:a16="http://schemas.microsoft.com/office/drawing/2014/main" id="{FC85A841-D3B5-7EAE-0B38-74EF7996DA49}"/>
              </a:ext>
            </a:extLst>
          </p:cNvPr>
          <p:cNvSpPr/>
          <p:nvPr/>
        </p:nvSpPr>
        <p:spPr>
          <a:xfrm>
            <a:off x="11107937" y="5432076"/>
            <a:ext cx="673225" cy="3138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esquinas redondeadas 11">
            <a:extLst>
              <a:ext uri="{FF2B5EF4-FFF2-40B4-BE49-F238E27FC236}">
                <a16:creationId xmlns:a16="http://schemas.microsoft.com/office/drawing/2014/main" id="{8AB25F00-B1F2-36B4-0F4C-1E792A2BA542}"/>
              </a:ext>
            </a:extLst>
          </p:cNvPr>
          <p:cNvSpPr/>
          <p:nvPr/>
        </p:nvSpPr>
        <p:spPr>
          <a:xfrm>
            <a:off x="1892301" y="3136900"/>
            <a:ext cx="7199252" cy="116992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a:pPr>
            <a:r>
              <a:rPr lang="es-ES_tradnl" sz="1200" dirty="0"/>
              <a:t>Seleccione la carta a configurar</a:t>
            </a:r>
          </a:p>
          <a:p>
            <a:pPr marL="228600" indent="-228600">
              <a:buAutoNum type="arabicPeriod"/>
            </a:pPr>
            <a:r>
              <a:rPr lang="es-ES_tradnl" sz="1200" dirty="0"/>
              <a:t>Para insertar el párrafo, seleccione (+)</a:t>
            </a:r>
          </a:p>
          <a:p>
            <a:pPr marL="228600" indent="-228600">
              <a:buAutoNum type="arabicPeriod"/>
            </a:pPr>
            <a:r>
              <a:rPr lang="es-ES_tradnl" sz="1200" dirty="0"/>
              <a:t>Se pueden crear más de un tipo de </a:t>
            </a:r>
            <a:r>
              <a:rPr lang="es-ES_tradnl" sz="1200" dirty="0" err="1"/>
              <a:t>parrafo</a:t>
            </a:r>
            <a:endParaRPr lang="es-ES_tradnl" sz="1200" dirty="0"/>
          </a:p>
          <a:p>
            <a:pPr marL="228600" indent="-228600">
              <a:buAutoNum type="arabicPeriod"/>
            </a:pPr>
            <a:r>
              <a:rPr lang="es-ES_tradnl" sz="1200" dirty="0"/>
              <a:t>Guarde la información</a:t>
            </a:r>
          </a:p>
        </p:txBody>
      </p:sp>
      <p:sp>
        <p:nvSpPr>
          <p:cNvPr id="17" name="Rectángulo 16">
            <a:extLst>
              <a:ext uri="{FF2B5EF4-FFF2-40B4-BE49-F238E27FC236}">
                <a16:creationId xmlns:a16="http://schemas.microsoft.com/office/drawing/2014/main" id="{B66BEF19-AAF7-9D13-BAFE-323C680F1C63}"/>
              </a:ext>
            </a:extLst>
          </p:cNvPr>
          <p:cNvSpPr/>
          <p:nvPr/>
        </p:nvSpPr>
        <p:spPr>
          <a:xfrm>
            <a:off x="549334" y="1870084"/>
            <a:ext cx="3090588" cy="8071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C3BC6918-BECF-1566-9874-F00720A5034F}"/>
              </a:ext>
            </a:extLst>
          </p:cNvPr>
          <p:cNvSpPr/>
          <p:nvPr/>
        </p:nvSpPr>
        <p:spPr>
          <a:xfrm>
            <a:off x="10294889" y="5460497"/>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Tree>
    <p:extLst>
      <p:ext uri="{BB962C8B-B14F-4D97-AF65-F5344CB8AC3E}">
        <p14:creationId xmlns:p14="http://schemas.microsoft.com/office/powerpoint/2010/main" val="11335591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03F69-DE36-DF29-3D80-3DD04820594F}"/>
            </a:ext>
          </a:extLst>
        </p:cNvPr>
        <p:cNvGrpSpPr/>
        <p:nvPr/>
      </p:nvGrpSpPr>
      <p:grpSpPr>
        <a:xfrm>
          <a:off x="0" y="0"/>
          <a:ext cx="0" cy="0"/>
          <a:chOff x="0" y="0"/>
          <a:chExt cx="0" cy="0"/>
        </a:xfrm>
      </p:grpSpPr>
      <p:pic>
        <p:nvPicPr>
          <p:cNvPr id="14" name="Imagen 13">
            <a:extLst>
              <a:ext uri="{FF2B5EF4-FFF2-40B4-BE49-F238E27FC236}">
                <a16:creationId xmlns:a16="http://schemas.microsoft.com/office/drawing/2014/main" id="{91DFE4E0-B9B8-F5BA-EC7C-F9A655C87139}"/>
              </a:ext>
            </a:extLst>
          </p:cNvPr>
          <p:cNvPicPr>
            <a:picLocks noChangeAspect="1"/>
          </p:cNvPicPr>
          <p:nvPr/>
        </p:nvPicPr>
        <p:blipFill>
          <a:blip r:embed="rId3"/>
          <a:stretch>
            <a:fillRect/>
          </a:stretch>
        </p:blipFill>
        <p:spPr>
          <a:xfrm>
            <a:off x="751068" y="897230"/>
            <a:ext cx="11305249" cy="5005513"/>
          </a:xfrm>
          <a:prstGeom prst="rect">
            <a:avLst/>
          </a:prstGeom>
        </p:spPr>
      </p:pic>
      <p:sp>
        <p:nvSpPr>
          <p:cNvPr id="13" name="Title 12">
            <a:extLst>
              <a:ext uri="{FF2B5EF4-FFF2-40B4-BE49-F238E27FC236}">
                <a16:creationId xmlns:a16="http://schemas.microsoft.com/office/drawing/2014/main" id="{E73B1C87-198A-9D9F-CEAB-8ADD13AAAD06}"/>
              </a:ext>
            </a:extLst>
          </p:cNvPr>
          <p:cNvSpPr>
            <a:spLocks noGrp="1"/>
          </p:cNvSpPr>
          <p:nvPr>
            <p:ph type="title"/>
          </p:nvPr>
        </p:nvSpPr>
        <p:spPr>
          <a:xfrm>
            <a:off x="549334" y="139063"/>
            <a:ext cx="10477497" cy="898555"/>
          </a:xfrm>
        </p:spPr>
        <p:txBody>
          <a:bodyPr/>
          <a:lstStyle/>
          <a:p>
            <a:r>
              <a:rPr lang="es-CO" dirty="0">
                <a:solidFill>
                  <a:schemeClr val="tx2"/>
                </a:solidFill>
              </a:rPr>
              <a:t>Asignación de carta HTML </a:t>
            </a:r>
            <a:r>
              <a:rPr lang="es-419" dirty="0">
                <a:solidFill>
                  <a:schemeClr val="tx2"/>
                </a:solidFill>
              </a:rPr>
              <a:t>(</a:t>
            </a:r>
            <a:r>
              <a:rPr lang="es-CO" dirty="0">
                <a:solidFill>
                  <a:schemeClr val="tx2"/>
                </a:solidFill>
              </a:rPr>
              <a:t>SOAELTL</a:t>
            </a:r>
            <a:r>
              <a:rPr lang="es-419" dirty="0">
                <a:solidFill>
                  <a:schemeClr val="tx2"/>
                </a:solidFill>
              </a:rPr>
              <a:t>)</a:t>
            </a:r>
            <a:endParaRPr lang="es-ES_tradnl" b="0" dirty="0"/>
          </a:p>
        </p:txBody>
      </p:sp>
      <p:sp>
        <p:nvSpPr>
          <p:cNvPr id="3" name="Rectángulo redondeado 15">
            <a:extLst>
              <a:ext uri="{FF2B5EF4-FFF2-40B4-BE49-F238E27FC236}">
                <a16:creationId xmlns:a16="http://schemas.microsoft.com/office/drawing/2014/main" id="{4946081F-9DCF-C5F2-2E91-7E6A5B16F447}"/>
              </a:ext>
            </a:extLst>
          </p:cNvPr>
          <p:cNvSpPr/>
          <p:nvPr/>
        </p:nvSpPr>
        <p:spPr>
          <a:xfrm>
            <a:off x="10772655" y="1216555"/>
            <a:ext cx="487961" cy="20645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5" name="Rectángulo 4">
            <a:extLst>
              <a:ext uri="{FF2B5EF4-FFF2-40B4-BE49-F238E27FC236}">
                <a16:creationId xmlns:a16="http://schemas.microsoft.com/office/drawing/2014/main" id="{4FAA9DDF-888C-D22A-29B3-15D18647B12A}"/>
              </a:ext>
            </a:extLst>
          </p:cNvPr>
          <p:cNvSpPr/>
          <p:nvPr/>
        </p:nvSpPr>
        <p:spPr>
          <a:xfrm>
            <a:off x="11264184" y="1150473"/>
            <a:ext cx="237816" cy="20645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B4E499A9-A0A3-8F27-0E28-C8B9C01F0E9B}"/>
              </a:ext>
            </a:extLst>
          </p:cNvPr>
          <p:cNvSpPr/>
          <p:nvPr/>
        </p:nvSpPr>
        <p:spPr>
          <a:xfrm>
            <a:off x="3447933" y="1606125"/>
            <a:ext cx="487961" cy="20645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2FC09F39-3DB6-9DAF-1835-8F2D7E26E955}"/>
              </a:ext>
            </a:extLst>
          </p:cNvPr>
          <p:cNvSpPr/>
          <p:nvPr/>
        </p:nvSpPr>
        <p:spPr>
          <a:xfrm>
            <a:off x="9986019" y="1638970"/>
            <a:ext cx="609602" cy="20645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BDE61D9F-76E5-AB66-0A50-E7F9DD78C080}"/>
              </a:ext>
            </a:extLst>
          </p:cNvPr>
          <p:cNvSpPr/>
          <p:nvPr/>
        </p:nvSpPr>
        <p:spPr>
          <a:xfrm>
            <a:off x="10602756" y="1638970"/>
            <a:ext cx="487961" cy="20645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0" name="Rectángulo 9">
            <a:extLst>
              <a:ext uri="{FF2B5EF4-FFF2-40B4-BE49-F238E27FC236}">
                <a16:creationId xmlns:a16="http://schemas.microsoft.com/office/drawing/2014/main" id="{1A872ABF-7F30-37C1-4272-F68A956F8EDB}"/>
              </a:ext>
            </a:extLst>
          </p:cNvPr>
          <p:cNvSpPr/>
          <p:nvPr/>
        </p:nvSpPr>
        <p:spPr>
          <a:xfrm>
            <a:off x="11568356" y="5648325"/>
            <a:ext cx="487961" cy="312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esquinas redondeadas 11">
            <a:extLst>
              <a:ext uri="{FF2B5EF4-FFF2-40B4-BE49-F238E27FC236}">
                <a16:creationId xmlns:a16="http://schemas.microsoft.com/office/drawing/2014/main" id="{91D3425D-BFE5-C4B0-C52A-CA869834080A}"/>
              </a:ext>
            </a:extLst>
          </p:cNvPr>
          <p:cNvSpPr/>
          <p:nvPr/>
        </p:nvSpPr>
        <p:spPr>
          <a:xfrm>
            <a:off x="1892301" y="3136900"/>
            <a:ext cx="7199252" cy="116992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a:pPr>
            <a:r>
              <a:rPr lang="es-ES_tradnl" sz="1200" dirty="0"/>
              <a:t>Para insertar un registro, seleccione (+)</a:t>
            </a:r>
          </a:p>
          <a:p>
            <a:pPr marL="228600" indent="-228600">
              <a:buFontTx/>
              <a:buAutoNum type="arabicPeriod"/>
            </a:pPr>
            <a:r>
              <a:rPr lang="es-ES_tradnl" sz="1200" dirty="0"/>
              <a:t>Seleccione la carta</a:t>
            </a:r>
          </a:p>
          <a:p>
            <a:pPr marL="228600" indent="-228600">
              <a:buAutoNum type="arabicPeriod"/>
            </a:pPr>
            <a:r>
              <a:rPr lang="es-ES_tradnl" sz="1200" dirty="0"/>
              <a:t>Vincule al módulo de Solicitudes (E)</a:t>
            </a:r>
          </a:p>
          <a:p>
            <a:pPr marL="228600" indent="-228600">
              <a:buAutoNum type="arabicPeriod"/>
            </a:pPr>
            <a:r>
              <a:rPr lang="es-ES_tradnl" sz="1200" dirty="0"/>
              <a:t>Guarde la información</a:t>
            </a:r>
          </a:p>
        </p:txBody>
      </p:sp>
      <p:sp>
        <p:nvSpPr>
          <p:cNvPr id="17" name="Rectángulo 16">
            <a:extLst>
              <a:ext uri="{FF2B5EF4-FFF2-40B4-BE49-F238E27FC236}">
                <a16:creationId xmlns:a16="http://schemas.microsoft.com/office/drawing/2014/main" id="{46D2C9E6-1B3B-63D0-5102-B3062BD61A0F}"/>
              </a:ext>
            </a:extLst>
          </p:cNvPr>
          <p:cNvSpPr/>
          <p:nvPr/>
        </p:nvSpPr>
        <p:spPr>
          <a:xfrm>
            <a:off x="743933" y="1606125"/>
            <a:ext cx="2806514" cy="20645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5BF988A1-C17E-DB38-2407-27A94DBD1C4D}"/>
              </a:ext>
            </a:extLst>
          </p:cNvPr>
          <p:cNvSpPr/>
          <p:nvPr/>
        </p:nvSpPr>
        <p:spPr>
          <a:xfrm>
            <a:off x="10951375" y="5759782"/>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6" name="Marcador de texto vertical 1">
            <a:extLst>
              <a:ext uri="{FF2B5EF4-FFF2-40B4-BE49-F238E27FC236}">
                <a16:creationId xmlns:a16="http://schemas.microsoft.com/office/drawing/2014/main" id="{5CCE0C7B-4C61-E756-1625-7DCB2E12CA85}"/>
              </a:ext>
            </a:extLst>
          </p:cNvPr>
          <p:cNvSpPr>
            <a:spLocks noGrp="1"/>
          </p:cNvSpPr>
          <p:nvPr>
            <p:ph type="body" orient="vert" sz="quarter" idx="17"/>
          </p:nvPr>
        </p:nvSpPr>
        <p:spPr>
          <a:xfrm rot="10800000">
            <a:off x="0" y="685800"/>
            <a:ext cx="609600" cy="5486399"/>
          </a:xfrm>
        </p:spPr>
        <p:txBody>
          <a:bodyPr/>
          <a:lstStyle/>
          <a:p>
            <a:r>
              <a:rPr lang="es-419" sz="1200" dirty="0"/>
              <a:t>Ejecutar la inscripción de cursos por Lista de Espera</a:t>
            </a:r>
            <a:endParaRPr lang="es-419" dirty="0"/>
          </a:p>
        </p:txBody>
      </p:sp>
    </p:spTree>
    <p:extLst>
      <p:ext uri="{BB962C8B-B14F-4D97-AF65-F5344CB8AC3E}">
        <p14:creationId xmlns:p14="http://schemas.microsoft.com/office/powerpoint/2010/main" val="1998534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F879C-CCCE-EBFA-D260-A4F7CD9894C8}"/>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00933D37-7F66-D746-FAFE-7ABA41C0AE60}"/>
              </a:ext>
            </a:extLst>
          </p:cNvPr>
          <p:cNvSpPr>
            <a:spLocks noGrp="1"/>
          </p:cNvSpPr>
          <p:nvPr>
            <p:ph type="body" orient="vert" sz="quarter" idx="10"/>
          </p:nvPr>
        </p:nvSpPr>
        <p:spPr/>
        <p:txBody>
          <a:bodyPr/>
          <a:lstStyle/>
          <a:p>
            <a:r>
              <a:rPr lang="es-419" sz="1200" dirty="0"/>
              <a:t>Gestionar el otorgamiento y registro de grado</a:t>
            </a:r>
            <a:endParaRPr lang="en-US" dirty="0"/>
          </a:p>
        </p:txBody>
      </p:sp>
      <p:sp>
        <p:nvSpPr>
          <p:cNvPr id="16" name="Title 15">
            <a:extLst>
              <a:ext uri="{FF2B5EF4-FFF2-40B4-BE49-F238E27FC236}">
                <a16:creationId xmlns:a16="http://schemas.microsoft.com/office/drawing/2014/main" id="{122EFB9A-03CB-782F-3944-7A4CD048EB92}"/>
              </a:ext>
            </a:extLst>
          </p:cNvPr>
          <p:cNvSpPr>
            <a:spLocks noGrp="1"/>
          </p:cNvSpPr>
          <p:nvPr>
            <p:ph type="title"/>
          </p:nvPr>
        </p:nvSpPr>
        <p:spPr>
          <a:xfrm>
            <a:off x="1104900" y="1800808"/>
            <a:ext cx="9337548" cy="1628192"/>
          </a:xfrm>
        </p:spPr>
        <p:txBody>
          <a:bodyPr/>
          <a:lstStyle/>
          <a:p>
            <a:r>
              <a:rPr lang="es-CO" dirty="0"/>
              <a:t>Selección de regla de despliegue de solicitud de graduación </a:t>
            </a:r>
            <a:endParaRPr lang="en-US" dirty="0"/>
          </a:p>
        </p:txBody>
      </p:sp>
    </p:spTree>
    <p:extLst>
      <p:ext uri="{BB962C8B-B14F-4D97-AF65-F5344CB8AC3E}">
        <p14:creationId xmlns:p14="http://schemas.microsoft.com/office/powerpoint/2010/main" val="3495576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C4662-5A02-5630-3140-9BFAF3F23E8A}"/>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395A49AA-F2CF-7CB1-FB3E-92505035AC60}"/>
              </a:ext>
            </a:extLst>
          </p:cNvPr>
          <p:cNvPicPr>
            <a:picLocks noChangeAspect="1"/>
          </p:cNvPicPr>
          <p:nvPr/>
        </p:nvPicPr>
        <p:blipFill>
          <a:blip r:embed="rId2"/>
          <a:stretch>
            <a:fillRect/>
          </a:stretch>
        </p:blipFill>
        <p:spPr>
          <a:xfrm>
            <a:off x="962774" y="1269375"/>
            <a:ext cx="10829177" cy="4835563"/>
          </a:xfrm>
          <a:prstGeom prst="rect">
            <a:avLst/>
          </a:prstGeom>
        </p:spPr>
      </p:pic>
      <p:sp>
        <p:nvSpPr>
          <p:cNvPr id="3" name="Marcador de texto vertical 2">
            <a:extLst>
              <a:ext uri="{FF2B5EF4-FFF2-40B4-BE49-F238E27FC236}">
                <a16:creationId xmlns:a16="http://schemas.microsoft.com/office/drawing/2014/main" id="{ED2810DE-CA5C-3486-57CE-783E30FD49A5}"/>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A5CA3777-C2E6-613E-8798-FCC9C623B2C4}"/>
              </a:ext>
            </a:extLst>
          </p:cNvPr>
          <p:cNvSpPr>
            <a:spLocks noGrp="1"/>
          </p:cNvSpPr>
          <p:nvPr>
            <p:ph type="title"/>
          </p:nvPr>
        </p:nvSpPr>
        <p:spPr>
          <a:xfrm>
            <a:off x="765906" y="248928"/>
            <a:ext cx="10271883" cy="626165"/>
          </a:xfrm>
        </p:spPr>
        <p:txBody>
          <a:bodyPr/>
          <a:lstStyle/>
          <a:p>
            <a:r>
              <a:rPr lang="es-CO" b="0" dirty="0">
                <a:solidFill>
                  <a:schemeClr val="accent1"/>
                </a:solidFill>
              </a:rPr>
              <a:t>Selección de regla de despliegue de solicitud de graduación (SHAGADS)</a:t>
            </a:r>
            <a:endParaRPr lang="es-CL" dirty="0">
              <a:solidFill>
                <a:schemeClr val="accent1"/>
              </a:solidFill>
            </a:endParaRPr>
          </a:p>
        </p:txBody>
      </p:sp>
      <p:sp>
        <p:nvSpPr>
          <p:cNvPr id="8" name="Rectángulo 7">
            <a:extLst>
              <a:ext uri="{FF2B5EF4-FFF2-40B4-BE49-F238E27FC236}">
                <a16:creationId xmlns:a16="http://schemas.microsoft.com/office/drawing/2014/main" id="{470D888B-A69A-7300-E4AB-AEF4964D925A}"/>
              </a:ext>
            </a:extLst>
          </p:cNvPr>
          <p:cNvSpPr/>
          <p:nvPr/>
        </p:nvSpPr>
        <p:spPr>
          <a:xfrm>
            <a:off x="1481103" y="2392945"/>
            <a:ext cx="934199"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redondeado 9">
            <a:extLst>
              <a:ext uri="{FF2B5EF4-FFF2-40B4-BE49-F238E27FC236}">
                <a16:creationId xmlns:a16="http://schemas.microsoft.com/office/drawing/2014/main" id="{27915119-59CD-152A-D507-D3F0334130B4}"/>
              </a:ext>
            </a:extLst>
          </p:cNvPr>
          <p:cNvSpPr/>
          <p:nvPr/>
        </p:nvSpPr>
        <p:spPr>
          <a:xfrm>
            <a:off x="1120682" y="2392947"/>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2</a:t>
            </a:r>
          </a:p>
        </p:txBody>
      </p:sp>
      <p:sp>
        <p:nvSpPr>
          <p:cNvPr id="12" name="Rectángulo redondeado 5">
            <a:extLst>
              <a:ext uri="{FF2B5EF4-FFF2-40B4-BE49-F238E27FC236}">
                <a16:creationId xmlns:a16="http://schemas.microsoft.com/office/drawing/2014/main" id="{D91C6DF4-FB33-AED6-08EF-4228BE6E5E05}"/>
              </a:ext>
            </a:extLst>
          </p:cNvPr>
          <p:cNvSpPr/>
          <p:nvPr/>
        </p:nvSpPr>
        <p:spPr>
          <a:xfrm>
            <a:off x="4111905" y="3255061"/>
            <a:ext cx="4048440" cy="135401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AutoNum type="arabicPeriod"/>
            </a:pPr>
            <a:endParaRPr lang="es-ES_tradnl" sz="1000" dirty="0"/>
          </a:p>
          <a:p>
            <a:pPr marL="228600" indent="-228600">
              <a:buAutoNum type="arabicPeriod"/>
            </a:pPr>
            <a:endParaRPr lang="es-ES_tradnl" sz="1000" dirty="0"/>
          </a:p>
          <a:p>
            <a:pPr marL="228600" indent="-228600">
              <a:buAutoNum type="arabicPeriod"/>
            </a:pPr>
            <a:r>
              <a:rPr lang="es-ES_tradnl" sz="1000" dirty="0"/>
              <a:t>Seleccione ‘+’ para insertar un registro</a:t>
            </a:r>
          </a:p>
          <a:p>
            <a:pPr marL="228600" indent="-228600">
              <a:buAutoNum type="arabicPeriod"/>
            </a:pPr>
            <a:r>
              <a:rPr lang="es-ES_tradnl" sz="1000" dirty="0"/>
              <a:t>Se inserta un consecutivo por cada regla, se debe crear en orden como se deberían obtener un grado o título.</a:t>
            </a:r>
          </a:p>
          <a:p>
            <a:pPr marL="228600" indent="-228600">
              <a:buAutoNum type="arabicPeriod"/>
            </a:pPr>
            <a:r>
              <a:rPr lang="es-ES_tradnl" sz="1000" dirty="0"/>
              <a:t>Ingrese el código de la solicitud: depende de la página STVGADR</a:t>
            </a:r>
          </a:p>
          <a:p>
            <a:pPr marL="228600" indent="-228600">
              <a:buAutoNum type="arabicPeriod"/>
            </a:pPr>
            <a:r>
              <a:rPr lang="es-ES_tradnl" sz="1000" dirty="0"/>
              <a:t>Seleccione el nivel, campus, escuela, grado o programa al que aplicaría la solicitud.</a:t>
            </a:r>
            <a:br>
              <a:rPr lang="es-ES_tradnl" sz="1000" dirty="0"/>
            </a:br>
            <a:br>
              <a:rPr lang="es-ES_tradnl" sz="1000" dirty="0"/>
            </a:br>
            <a:r>
              <a:rPr lang="es-ES_tradnl" sz="1000" dirty="0"/>
              <a:t>.</a:t>
            </a:r>
          </a:p>
        </p:txBody>
      </p:sp>
      <p:sp>
        <p:nvSpPr>
          <p:cNvPr id="14" name="Rectángulo redondeado 9">
            <a:extLst>
              <a:ext uri="{FF2B5EF4-FFF2-40B4-BE49-F238E27FC236}">
                <a16:creationId xmlns:a16="http://schemas.microsoft.com/office/drawing/2014/main" id="{4594A1AB-A0BA-B289-11FE-63C403A5592C}"/>
              </a:ext>
            </a:extLst>
          </p:cNvPr>
          <p:cNvSpPr/>
          <p:nvPr/>
        </p:nvSpPr>
        <p:spPr>
          <a:xfrm>
            <a:off x="11422980" y="4609078"/>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3</a:t>
            </a:r>
          </a:p>
        </p:txBody>
      </p:sp>
      <p:sp>
        <p:nvSpPr>
          <p:cNvPr id="16" name="Rectángulo 15">
            <a:extLst>
              <a:ext uri="{FF2B5EF4-FFF2-40B4-BE49-F238E27FC236}">
                <a16:creationId xmlns:a16="http://schemas.microsoft.com/office/drawing/2014/main" id="{9B95F2DA-9353-B8E7-D6D9-8BBEFB4E633A}"/>
              </a:ext>
            </a:extLst>
          </p:cNvPr>
          <p:cNvSpPr/>
          <p:nvPr/>
        </p:nvSpPr>
        <p:spPr>
          <a:xfrm>
            <a:off x="11309475" y="4827775"/>
            <a:ext cx="586129" cy="32883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6FB574F6-94CC-D84D-04E3-51EDA6B649D3}"/>
              </a:ext>
            </a:extLst>
          </p:cNvPr>
          <p:cNvSpPr/>
          <p:nvPr/>
        </p:nvSpPr>
        <p:spPr>
          <a:xfrm>
            <a:off x="10923031" y="1549315"/>
            <a:ext cx="263495"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0" name="Rectángulo redondeado 9">
            <a:extLst>
              <a:ext uri="{FF2B5EF4-FFF2-40B4-BE49-F238E27FC236}">
                <a16:creationId xmlns:a16="http://schemas.microsoft.com/office/drawing/2014/main" id="{50678F4F-F9D2-B313-4EF6-082F2C4A7277}"/>
              </a:ext>
            </a:extLst>
          </p:cNvPr>
          <p:cNvSpPr/>
          <p:nvPr/>
        </p:nvSpPr>
        <p:spPr>
          <a:xfrm>
            <a:off x="10386317" y="1955857"/>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a:t>
            </a:r>
          </a:p>
        </p:txBody>
      </p:sp>
      <p:sp>
        <p:nvSpPr>
          <p:cNvPr id="24" name="Rectángulo redondeado 5">
            <a:extLst>
              <a:ext uri="{FF2B5EF4-FFF2-40B4-BE49-F238E27FC236}">
                <a16:creationId xmlns:a16="http://schemas.microsoft.com/office/drawing/2014/main" id="{99DBFFC6-87B7-7C10-AAE1-D6D34DB42C4B}"/>
              </a:ext>
            </a:extLst>
          </p:cNvPr>
          <p:cNvSpPr/>
          <p:nvPr/>
        </p:nvSpPr>
        <p:spPr>
          <a:xfrm>
            <a:off x="10670181" y="1862139"/>
            <a:ext cx="735215" cy="36671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000" dirty="0"/>
              <a:t>Insertar</a:t>
            </a:r>
          </a:p>
        </p:txBody>
      </p:sp>
      <p:sp>
        <p:nvSpPr>
          <p:cNvPr id="28" name="Rectángulo 27">
            <a:extLst>
              <a:ext uri="{FF2B5EF4-FFF2-40B4-BE49-F238E27FC236}">
                <a16:creationId xmlns:a16="http://schemas.microsoft.com/office/drawing/2014/main" id="{EBD8F560-0F5F-A52E-18B4-83E70CBB4E94}"/>
              </a:ext>
            </a:extLst>
          </p:cNvPr>
          <p:cNvSpPr/>
          <p:nvPr/>
        </p:nvSpPr>
        <p:spPr>
          <a:xfrm>
            <a:off x="2427210" y="2392944"/>
            <a:ext cx="934199"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2" name="Rectángulo redondeado 9">
            <a:extLst>
              <a:ext uri="{FF2B5EF4-FFF2-40B4-BE49-F238E27FC236}">
                <a16:creationId xmlns:a16="http://schemas.microsoft.com/office/drawing/2014/main" id="{AC225555-F3C1-6FA5-F98B-E69E171DAA21}"/>
              </a:ext>
            </a:extLst>
          </p:cNvPr>
          <p:cNvSpPr/>
          <p:nvPr/>
        </p:nvSpPr>
        <p:spPr>
          <a:xfrm>
            <a:off x="3421042" y="2392946"/>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3</a:t>
            </a:r>
          </a:p>
        </p:txBody>
      </p:sp>
      <p:sp>
        <p:nvSpPr>
          <p:cNvPr id="34" name="Rectángulo 33">
            <a:extLst>
              <a:ext uri="{FF2B5EF4-FFF2-40B4-BE49-F238E27FC236}">
                <a16:creationId xmlns:a16="http://schemas.microsoft.com/office/drawing/2014/main" id="{881FD6F8-1C73-B8BE-D499-7CBD184FB682}"/>
              </a:ext>
            </a:extLst>
          </p:cNvPr>
          <p:cNvSpPr/>
          <p:nvPr/>
        </p:nvSpPr>
        <p:spPr>
          <a:xfrm>
            <a:off x="4552147" y="2392945"/>
            <a:ext cx="5915828" cy="17589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6" name="Rectángulo redondeado 9">
            <a:extLst>
              <a:ext uri="{FF2B5EF4-FFF2-40B4-BE49-F238E27FC236}">
                <a16:creationId xmlns:a16="http://schemas.microsoft.com/office/drawing/2014/main" id="{7753EB29-D385-0F74-E239-F9CAF543FE73}"/>
              </a:ext>
            </a:extLst>
          </p:cNvPr>
          <p:cNvSpPr/>
          <p:nvPr/>
        </p:nvSpPr>
        <p:spPr>
          <a:xfrm>
            <a:off x="6393250" y="2583903"/>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4</a:t>
            </a:r>
          </a:p>
        </p:txBody>
      </p:sp>
    </p:spTree>
    <p:extLst>
      <p:ext uri="{BB962C8B-B14F-4D97-AF65-F5344CB8AC3E}">
        <p14:creationId xmlns:p14="http://schemas.microsoft.com/office/powerpoint/2010/main" val="31543697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el otorgamiento y registro de grado</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1104900" y="1800808"/>
            <a:ext cx="9337548" cy="1628192"/>
          </a:xfrm>
        </p:spPr>
        <p:txBody>
          <a:bodyPr/>
          <a:lstStyle/>
          <a:p>
            <a:r>
              <a:rPr lang="en-US" dirty="0"/>
              <a:t>Reglas de </a:t>
            </a:r>
            <a:r>
              <a:rPr lang="en-US" dirty="0" err="1"/>
              <a:t>despliegue</a:t>
            </a:r>
            <a:r>
              <a:rPr lang="en-US" dirty="0"/>
              <a:t>  de </a:t>
            </a:r>
            <a:r>
              <a:rPr lang="en-US" dirty="0" err="1"/>
              <a:t>graduación</a:t>
            </a:r>
            <a:endParaRPr lang="en-US" dirty="0"/>
          </a:p>
        </p:txBody>
      </p:sp>
    </p:spTree>
    <p:extLst>
      <p:ext uri="{BB962C8B-B14F-4D97-AF65-F5344CB8AC3E}">
        <p14:creationId xmlns:p14="http://schemas.microsoft.com/office/powerpoint/2010/main" val="20179560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n 24">
            <a:extLst>
              <a:ext uri="{FF2B5EF4-FFF2-40B4-BE49-F238E27FC236}">
                <a16:creationId xmlns:a16="http://schemas.microsoft.com/office/drawing/2014/main" id="{F04D572A-0D0D-17AD-1377-AE1927C42603}"/>
              </a:ext>
            </a:extLst>
          </p:cNvPr>
          <p:cNvPicPr>
            <a:picLocks noChangeAspect="1"/>
          </p:cNvPicPr>
          <p:nvPr/>
        </p:nvPicPr>
        <p:blipFill>
          <a:blip r:embed="rId2"/>
          <a:stretch>
            <a:fillRect/>
          </a:stretch>
        </p:blipFill>
        <p:spPr>
          <a:xfrm>
            <a:off x="893042" y="1424641"/>
            <a:ext cx="10702349" cy="438179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765906" y="248928"/>
            <a:ext cx="10271883" cy="626165"/>
          </a:xfrm>
        </p:spPr>
        <p:txBody>
          <a:bodyPr/>
          <a:lstStyle/>
          <a:p>
            <a:r>
              <a:rPr lang="es-CO" b="0" dirty="0">
                <a:solidFill>
                  <a:schemeClr val="accent1"/>
                </a:solidFill>
              </a:rPr>
              <a:t>Reglas para el despliegue de solicitud de graduación en autoservicio (SHAGADR)</a:t>
            </a:r>
            <a:endParaRPr lang="es-CL" dirty="0">
              <a:solidFill>
                <a:schemeClr val="accent1"/>
              </a:solidFill>
            </a:endParaRPr>
          </a:p>
        </p:txBody>
      </p:sp>
      <p:sp>
        <p:nvSpPr>
          <p:cNvPr id="10" name="Rectángulo redondeado 9">
            <a:extLst>
              <a:ext uri="{FF2B5EF4-FFF2-40B4-BE49-F238E27FC236}">
                <a16:creationId xmlns:a16="http://schemas.microsoft.com/office/drawing/2014/main" id="{EDD7C336-34B0-0701-1E89-0F0C3FB7CC99}"/>
              </a:ext>
            </a:extLst>
          </p:cNvPr>
          <p:cNvSpPr/>
          <p:nvPr/>
        </p:nvSpPr>
        <p:spPr>
          <a:xfrm>
            <a:off x="4148137" y="1776601"/>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a:t>
            </a:r>
          </a:p>
        </p:txBody>
      </p:sp>
      <p:sp>
        <p:nvSpPr>
          <p:cNvPr id="14" name="Rectángulo 13">
            <a:extLst>
              <a:ext uri="{FF2B5EF4-FFF2-40B4-BE49-F238E27FC236}">
                <a16:creationId xmlns:a16="http://schemas.microsoft.com/office/drawing/2014/main" id="{6D25BD1D-ADF0-4387-E047-ED0E9FFFFAF1}"/>
              </a:ext>
            </a:extLst>
          </p:cNvPr>
          <p:cNvSpPr/>
          <p:nvPr/>
        </p:nvSpPr>
        <p:spPr>
          <a:xfrm>
            <a:off x="11070800" y="1695520"/>
            <a:ext cx="469034"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3D4A9A0B-25B1-48C2-4EF1-AFB9EB2D61E9}"/>
              </a:ext>
            </a:extLst>
          </p:cNvPr>
          <p:cNvSpPr/>
          <p:nvPr/>
        </p:nvSpPr>
        <p:spPr>
          <a:xfrm>
            <a:off x="820245" y="1680666"/>
            <a:ext cx="3327892" cy="3810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5">
            <a:extLst>
              <a:ext uri="{FF2B5EF4-FFF2-40B4-BE49-F238E27FC236}">
                <a16:creationId xmlns:a16="http://schemas.microsoft.com/office/drawing/2014/main" id="{E6D8D223-EACA-1ADD-A659-CD70A26B2E17}"/>
              </a:ext>
            </a:extLst>
          </p:cNvPr>
          <p:cNvSpPr/>
          <p:nvPr/>
        </p:nvSpPr>
        <p:spPr>
          <a:xfrm>
            <a:off x="1177345" y="5162480"/>
            <a:ext cx="10133742" cy="128594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fontAlgn="t">
              <a:lnSpc>
                <a:spcPts val="1500"/>
              </a:lnSpc>
              <a:buNone/>
            </a:pPr>
            <a:r>
              <a:rPr lang="es-CO" sz="1050" dirty="0">
                <a:latin typeface="Segoe UI" panose="020B0502040204020203" pitchFamily="34" charset="0"/>
              </a:rPr>
              <a:t>Esta página permite crear y administrar las reglas que definen el período durante el cual las solicitudes de grado estarán disponibles para los estudiantes, especificando una fecha de inicio y una fecha de finalización. Adicionalmente, esta funcionalidad puede generar un cargo en la cuenta del estudiante, de acuerdo con las condiciones establecidas por la institución</a:t>
            </a:r>
          </a:p>
          <a:p>
            <a:pPr marL="342900" indent="-342900">
              <a:buFont typeface="+mj-lt"/>
              <a:buAutoNum type="arabicPeriod"/>
            </a:pPr>
            <a:r>
              <a:rPr lang="es-ES_tradnl" sz="1200" dirty="0"/>
              <a:t>Busque la opción que desea configurar, en            y de OK.</a:t>
            </a:r>
          </a:p>
          <a:p>
            <a:pPr marL="342900" indent="-342900">
              <a:buFont typeface="+mj-lt"/>
              <a:buAutoNum type="arabicPeriod"/>
            </a:pPr>
            <a:r>
              <a:rPr lang="es-ES_tradnl" sz="1200" dirty="0"/>
              <a:t>Seleccione IR</a:t>
            </a:r>
          </a:p>
        </p:txBody>
      </p:sp>
      <p:sp>
        <p:nvSpPr>
          <p:cNvPr id="18" name="Rectángulo redondeado 9">
            <a:extLst>
              <a:ext uri="{FF2B5EF4-FFF2-40B4-BE49-F238E27FC236}">
                <a16:creationId xmlns:a16="http://schemas.microsoft.com/office/drawing/2014/main" id="{C58E0D15-DC34-23B3-98E7-0DAE6076FA33}"/>
              </a:ext>
            </a:extLst>
          </p:cNvPr>
          <p:cNvSpPr/>
          <p:nvPr/>
        </p:nvSpPr>
        <p:spPr>
          <a:xfrm>
            <a:off x="10637582" y="166725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2</a:t>
            </a:r>
          </a:p>
        </p:txBody>
      </p:sp>
      <p:pic>
        <p:nvPicPr>
          <p:cNvPr id="23" name="Imagen 22">
            <a:extLst>
              <a:ext uri="{FF2B5EF4-FFF2-40B4-BE49-F238E27FC236}">
                <a16:creationId xmlns:a16="http://schemas.microsoft.com/office/drawing/2014/main" id="{9F33ACD8-DFCE-2D5A-713F-DEE566EAFF50}"/>
              </a:ext>
            </a:extLst>
          </p:cNvPr>
          <p:cNvPicPr>
            <a:picLocks noChangeAspect="1"/>
          </p:cNvPicPr>
          <p:nvPr/>
        </p:nvPicPr>
        <p:blipFill>
          <a:blip r:embed="rId3"/>
          <a:stretch>
            <a:fillRect/>
          </a:stretch>
        </p:blipFill>
        <p:spPr>
          <a:xfrm>
            <a:off x="4508558" y="5902375"/>
            <a:ext cx="257175" cy="228600"/>
          </a:xfrm>
          <a:prstGeom prst="rect">
            <a:avLst/>
          </a:prstGeom>
        </p:spPr>
      </p:pic>
      <p:cxnSp>
        <p:nvCxnSpPr>
          <p:cNvPr id="27" name="Conector recto de flecha 26">
            <a:extLst>
              <a:ext uri="{FF2B5EF4-FFF2-40B4-BE49-F238E27FC236}">
                <a16:creationId xmlns:a16="http://schemas.microsoft.com/office/drawing/2014/main" id="{78D94110-61CB-7D50-C9A0-BD8675A17CDC}"/>
              </a:ext>
            </a:extLst>
          </p:cNvPr>
          <p:cNvCxnSpPr/>
          <p:nvPr/>
        </p:nvCxnSpPr>
        <p:spPr>
          <a:xfrm>
            <a:off x="2428875" y="1885950"/>
            <a:ext cx="2085975" cy="109537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81055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FF95A-BA32-DD73-CB12-C3E1E67D8C0B}"/>
            </a:ext>
          </a:extLst>
        </p:cNvPr>
        <p:cNvGrpSpPr/>
        <p:nvPr/>
      </p:nvGrpSpPr>
      <p:grpSpPr>
        <a:xfrm>
          <a:off x="0" y="0"/>
          <a:ext cx="0" cy="0"/>
          <a:chOff x="0" y="0"/>
          <a:chExt cx="0" cy="0"/>
        </a:xfrm>
      </p:grpSpPr>
      <p:pic>
        <p:nvPicPr>
          <p:cNvPr id="29" name="Imagen 28">
            <a:extLst>
              <a:ext uri="{FF2B5EF4-FFF2-40B4-BE49-F238E27FC236}">
                <a16:creationId xmlns:a16="http://schemas.microsoft.com/office/drawing/2014/main" id="{46CB8B88-596F-B496-A4AC-FF325B6A68E0}"/>
              </a:ext>
            </a:extLst>
          </p:cNvPr>
          <p:cNvPicPr>
            <a:picLocks noChangeAspect="1"/>
          </p:cNvPicPr>
          <p:nvPr/>
        </p:nvPicPr>
        <p:blipFill>
          <a:blip r:embed="rId2"/>
          <a:stretch>
            <a:fillRect/>
          </a:stretch>
        </p:blipFill>
        <p:spPr>
          <a:xfrm>
            <a:off x="1088918" y="1247774"/>
            <a:ext cx="11103082" cy="4836813"/>
          </a:xfrm>
          <a:prstGeom prst="rect">
            <a:avLst/>
          </a:prstGeom>
        </p:spPr>
      </p:pic>
      <p:sp>
        <p:nvSpPr>
          <p:cNvPr id="3" name="Marcador de texto vertical 2">
            <a:extLst>
              <a:ext uri="{FF2B5EF4-FFF2-40B4-BE49-F238E27FC236}">
                <a16:creationId xmlns:a16="http://schemas.microsoft.com/office/drawing/2014/main" id="{A6F2C356-C0FC-41A2-9257-AE002A19B815}"/>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B750C4B8-058E-6CDB-89BB-EAF6E09153AE}"/>
              </a:ext>
            </a:extLst>
          </p:cNvPr>
          <p:cNvSpPr>
            <a:spLocks noGrp="1"/>
          </p:cNvSpPr>
          <p:nvPr>
            <p:ph type="title"/>
          </p:nvPr>
        </p:nvSpPr>
        <p:spPr>
          <a:xfrm>
            <a:off x="765906" y="248928"/>
            <a:ext cx="10271883" cy="626165"/>
          </a:xfrm>
        </p:spPr>
        <p:txBody>
          <a:bodyPr/>
          <a:lstStyle/>
          <a:p>
            <a:r>
              <a:rPr lang="es-CO" b="0" dirty="0">
                <a:solidFill>
                  <a:schemeClr val="accent1"/>
                </a:solidFill>
              </a:rPr>
              <a:t>Reglas para el despliegue de solicitud de graduación en autoservicio (SHAGADR)</a:t>
            </a:r>
            <a:endParaRPr lang="es-CL" dirty="0">
              <a:solidFill>
                <a:schemeClr val="accent1"/>
              </a:solidFill>
            </a:endParaRPr>
          </a:p>
        </p:txBody>
      </p:sp>
      <p:sp>
        <p:nvSpPr>
          <p:cNvPr id="7" name="Rectángulo 6">
            <a:extLst>
              <a:ext uri="{FF2B5EF4-FFF2-40B4-BE49-F238E27FC236}">
                <a16:creationId xmlns:a16="http://schemas.microsoft.com/office/drawing/2014/main" id="{37C91855-4780-BE00-B8C0-E7FBB8E3B64D}"/>
              </a:ext>
            </a:extLst>
          </p:cNvPr>
          <p:cNvSpPr/>
          <p:nvPr/>
        </p:nvSpPr>
        <p:spPr>
          <a:xfrm>
            <a:off x="1215374" y="2202414"/>
            <a:ext cx="3034981" cy="112181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redondeado 5">
            <a:extLst>
              <a:ext uri="{FF2B5EF4-FFF2-40B4-BE49-F238E27FC236}">
                <a16:creationId xmlns:a16="http://schemas.microsoft.com/office/drawing/2014/main" id="{CBDA6C99-5FB8-49A6-475B-C0498186B5D2}"/>
              </a:ext>
            </a:extLst>
          </p:cNvPr>
          <p:cNvSpPr/>
          <p:nvPr/>
        </p:nvSpPr>
        <p:spPr>
          <a:xfrm>
            <a:off x="1596229" y="3978649"/>
            <a:ext cx="7253019" cy="184672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la pestaña de Global.</a:t>
            </a:r>
          </a:p>
          <a:p>
            <a:r>
              <a:rPr lang="es-ES_tradnl" sz="1200" dirty="0"/>
              <a:t>3.  </a:t>
            </a:r>
            <a:r>
              <a:rPr lang="es-ES_tradnl" sz="1200" b="1" dirty="0"/>
              <a:t>Etiquetas de currículo</a:t>
            </a:r>
            <a:r>
              <a:rPr lang="es-ES_tradnl" sz="1200" dirty="0"/>
              <a:t>: </a:t>
            </a:r>
            <a:r>
              <a:rPr lang="es-ES" sz="1200" dirty="0">
                <a:sym typeface="Wingdings" panose="05000000000000000000" pitchFamily="2" charset="2"/>
              </a:rPr>
              <a:t>Código de tipo del histórico académico que se usará para el despliegue, en autoservicio, debe existir en (STVTPRT).</a:t>
            </a:r>
            <a:r>
              <a:rPr lang="es-ES_tradnl" sz="1200" dirty="0"/>
              <a:t> </a:t>
            </a:r>
            <a:br>
              <a:rPr lang="es-ES_tradnl" sz="1200" dirty="0"/>
            </a:br>
            <a:br>
              <a:rPr lang="es-ES_tradnl" sz="1200" dirty="0"/>
            </a:br>
            <a:r>
              <a:rPr lang="es-ES_tradnl" sz="1200" dirty="0"/>
              <a:t>4.  </a:t>
            </a:r>
            <a:r>
              <a:rPr lang="es-ES_tradnl" sz="1200" b="1" dirty="0"/>
              <a:t>Desplegar graduación</a:t>
            </a:r>
            <a:r>
              <a:rPr lang="es-ES_tradnl" sz="1200" dirty="0"/>
              <a:t>: </a:t>
            </a:r>
            <a:r>
              <a:rPr lang="es-ES" sz="1200" dirty="0">
                <a:sym typeface="Wingdings" panose="05000000000000000000" pitchFamily="2" charset="2"/>
              </a:rPr>
              <a:t>Cuadro que indica si las fechas, períodos y años de graduación se desplegarán (o no) en las solicitudes de graduación en autoservicio.</a:t>
            </a:r>
            <a:br>
              <a:rPr lang="es-ES" sz="1200" dirty="0">
                <a:sym typeface="Wingdings" panose="05000000000000000000" pitchFamily="2" charset="2"/>
              </a:rPr>
            </a:br>
            <a:endParaRPr lang="es-ES_tradnl" sz="1200" dirty="0"/>
          </a:p>
          <a:p>
            <a:r>
              <a:rPr lang="es-ES_tradnl" sz="1200" b="1" dirty="0"/>
              <a:t>5. Carta de confirmación</a:t>
            </a:r>
            <a:r>
              <a:rPr lang="es-ES_tradnl" sz="1200" dirty="0"/>
              <a:t>:</a:t>
            </a:r>
            <a:r>
              <a:rPr lang="es-ES_tradnl" sz="1200" dirty="0">
                <a:sym typeface="Wingdings" panose="05000000000000000000" pitchFamily="2" charset="2"/>
              </a:rPr>
              <a:t> Texto </a:t>
            </a:r>
            <a:r>
              <a:rPr lang="es-ES" sz="1200" dirty="0">
                <a:sym typeface="Wingdings" panose="05000000000000000000" pitchFamily="2" charset="2"/>
              </a:rPr>
              <a:t>que se desplegará al alumno al final del proceso de solicitud de graduación en autoservicio (GTVLETR). </a:t>
            </a:r>
            <a:endParaRPr lang="es-ES_tradnl" sz="1200" dirty="0"/>
          </a:p>
        </p:txBody>
      </p:sp>
      <p:sp>
        <p:nvSpPr>
          <p:cNvPr id="16" name="Rectángulo redondeado 9">
            <a:extLst>
              <a:ext uri="{FF2B5EF4-FFF2-40B4-BE49-F238E27FC236}">
                <a16:creationId xmlns:a16="http://schemas.microsoft.com/office/drawing/2014/main" id="{BFB02279-B7B9-867D-DDF0-6008F48D32DE}"/>
              </a:ext>
            </a:extLst>
          </p:cNvPr>
          <p:cNvSpPr/>
          <p:nvPr/>
        </p:nvSpPr>
        <p:spPr>
          <a:xfrm>
            <a:off x="765906" y="2509866"/>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4</a:t>
            </a:r>
          </a:p>
        </p:txBody>
      </p:sp>
      <p:sp>
        <p:nvSpPr>
          <p:cNvPr id="20" name="Rectángulo redondeado 9">
            <a:extLst>
              <a:ext uri="{FF2B5EF4-FFF2-40B4-BE49-F238E27FC236}">
                <a16:creationId xmlns:a16="http://schemas.microsoft.com/office/drawing/2014/main" id="{874AAB21-0B95-9577-0DAA-2553EAB97D02}"/>
              </a:ext>
            </a:extLst>
          </p:cNvPr>
          <p:cNvSpPr/>
          <p:nvPr/>
        </p:nvSpPr>
        <p:spPr>
          <a:xfrm>
            <a:off x="765906" y="2947465"/>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5</a:t>
            </a:r>
          </a:p>
        </p:txBody>
      </p:sp>
      <p:sp>
        <p:nvSpPr>
          <p:cNvPr id="22" name="Rectángulo redondeado 9">
            <a:extLst>
              <a:ext uri="{FF2B5EF4-FFF2-40B4-BE49-F238E27FC236}">
                <a16:creationId xmlns:a16="http://schemas.microsoft.com/office/drawing/2014/main" id="{7849A3F4-309C-41C7-6BC0-6D50408D37EE}"/>
              </a:ext>
            </a:extLst>
          </p:cNvPr>
          <p:cNvSpPr/>
          <p:nvPr/>
        </p:nvSpPr>
        <p:spPr>
          <a:xfrm>
            <a:off x="780151" y="2167149"/>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3</a:t>
            </a:r>
          </a:p>
        </p:txBody>
      </p:sp>
    </p:spTree>
    <p:extLst>
      <p:ext uri="{BB962C8B-B14F-4D97-AF65-F5344CB8AC3E}">
        <p14:creationId xmlns:p14="http://schemas.microsoft.com/office/powerpoint/2010/main" val="8087995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4F8A4-46FF-0BD7-8BB7-76E370680FA8}"/>
            </a:ext>
          </a:extLst>
        </p:cNvPr>
        <p:cNvGrpSpPr/>
        <p:nvPr/>
      </p:nvGrpSpPr>
      <p:grpSpPr>
        <a:xfrm>
          <a:off x="0" y="0"/>
          <a:ext cx="0" cy="0"/>
          <a:chOff x="0" y="0"/>
          <a:chExt cx="0" cy="0"/>
        </a:xfrm>
      </p:grpSpPr>
      <p:pic>
        <p:nvPicPr>
          <p:cNvPr id="29" name="Imagen 28">
            <a:extLst>
              <a:ext uri="{FF2B5EF4-FFF2-40B4-BE49-F238E27FC236}">
                <a16:creationId xmlns:a16="http://schemas.microsoft.com/office/drawing/2014/main" id="{96F0B6FB-B24D-164F-E566-E84E7EF75D5A}"/>
              </a:ext>
            </a:extLst>
          </p:cNvPr>
          <p:cNvPicPr>
            <a:picLocks noChangeAspect="1"/>
          </p:cNvPicPr>
          <p:nvPr/>
        </p:nvPicPr>
        <p:blipFill>
          <a:blip r:embed="rId2"/>
          <a:stretch>
            <a:fillRect/>
          </a:stretch>
        </p:blipFill>
        <p:spPr>
          <a:xfrm>
            <a:off x="1088918" y="1247774"/>
            <a:ext cx="11103082" cy="4836813"/>
          </a:xfrm>
          <a:prstGeom prst="rect">
            <a:avLst/>
          </a:prstGeom>
        </p:spPr>
      </p:pic>
      <p:sp>
        <p:nvSpPr>
          <p:cNvPr id="3" name="Marcador de texto vertical 2">
            <a:extLst>
              <a:ext uri="{FF2B5EF4-FFF2-40B4-BE49-F238E27FC236}">
                <a16:creationId xmlns:a16="http://schemas.microsoft.com/office/drawing/2014/main" id="{546FFD98-B6A3-D305-5943-92FDFB859295}"/>
              </a:ext>
            </a:extLst>
          </p:cNvPr>
          <p:cNvSpPr>
            <a:spLocks noGrp="1"/>
          </p:cNvSpPr>
          <p:nvPr>
            <p:ph type="body" orient="vert" sz="quarter" idx="17"/>
          </p:nvPr>
        </p:nvSpPr>
        <p:spPr>
          <a:xfrm rot="10800000">
            <a:off x="133150" y="598188"/>
            <a:ext cx="609600" cy="5486399"/>
          </a:xfrm>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5AC7CB79-E21A-292B-BBBA-5AC549D99013}"/>
              </a:ext>
            </a:extLst>
          </p:cNvPr>
          <p:cNvSpPr>
            <a:spLocks noGrp="1"/>
          </p:cNvSpPr>
          <p:nvPr>
            <p:ph type="title"/>
          </p:nvPr>
        </p:nvSpPr>
        <p:spPr>
          <a:xfrm>
            <a:off x="765906" y="248928"/>
            <a:ext cx="10271883" cy="626165"/>
          </a:xfrm>
        </p:spPr>
        <p:txBody>
          <a:bodyPr/>
          <a:lstStyle/>
          <a:p>
            <a:r>
              <a:rPr lang="es-CO" b="0" dirty="0">
                <a:solidFill>
                  <a:schemeClr val="accent1"/>
                </a:solidFill>
              </a:rPr>
              <a:t>Reglas para el despliegue de solicitud de graduación en autoservicio (SHAGADR)</a:t>
            </a:r>
            <a:endParaRPr lang="es-CL" dirty="0">
              <a:solidFill>
                <a:schemeClr val="accent1"/>
              </a:solidFill>
            </a:endParaRPr>
          </a:p>
        </p:txBody>
      </p:sp>
      <p:sp>
        <p:nvSpPr>
          <p:cNvPr id="31" name="Rectángulo 30">
            <a:extLst>
              <a:ext uri="{FF2B5EF4-FFF2-40B4-BE49-F238E27FC236}">
                <a16:creationId xmlns:a16="http://schemas.microsoft.com/office/drawing/2014/main" id="{60B8A938-8519-48E9-9E99-477D327F252E}"/>
              </a:ext>
            </a:extLst>
          </p:cNvPr>
          <p:cNvSpPr/>
          <p:nvPr/>
        </p:nvSpPr>
        <p:spPr>
          <a:xfrm>
            <a:off x="6458642" y="2258123"/>
            <a:ext cx="3528040" cy="1307916"/>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3" name="Rectángulo redondeado 9">
            <a:extLst>
              <a:ext uri="{FF2B5EF4-FFF2-40B4-BE49-F238E27FC236}">
                <a16:creationId xmlns:a16="http://schemas.microsoft.com/office/drawing/2014/main" id="{63BEF782-F192-7E0B-69CA-259D733C9F92}"/>
              </a:ext>
            </a:extLst>
          </p:cNvPr>
          <p:cNvSpPr/>
          <p:nvPr/>
        </p:nvSpPr>
        <p:spPr>
          <a:xfrm>
            <a:off x="9010239" y="2238810"/>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6</a:t>
            </a:r>
          </a:p>
        </p:txBody>
      </p:sp>
      <p:sp>
        <p:nvSpPr>
          <p:cNvPr id="35" name="Rectángulo redondeado 5">
            <a:extLst>
              <a:ext uri="{FF2B5EF4-FFF2-40B4-BE49-F238E27FC236}">
                <a16:creationId xmlns:a16="http://schemas.microsoft.com/office/drawing/2014/main" id="{BB35F34D-9447-8D43-2A11-1EEB091098D5}"/>
              </a:ext>
            </a:extLst>
          </p:cNvPr>
          <p:cNvSpPr/>
          <p:nvPr/>
        </p:nvSpPr>
        <p:spPr>
          <a:xfrm>
            <a:off x="1729615" y="4159624"/>
            <a:ext cx="7253019" cy="184672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6. </a:t>
            </a:r>
            <a:r>
              <a:rPr lang="es-ES_tradnl" sz="1200" b="1" dirty="0"/>
              <a:t>Estatus de solicitud de graduación</a:t>
            </a:r>
            <a:r>
              <a:rPr lang="es-ES_tradnl" sz="1200" dirty="0"/>
              <a:t>: </a:t>
            </a:r>
            <a:r>
              <a:rPr lang="es-ES" sz="1200" dirty="0">
                <a:sym typeface="Wingdings" panose="05000000000000000000" pitchFamily="2" charset="2"/>
              </a:rPr>
              <a:t>Código de status de solicitud de graduación con el que se creará(STVGAST).</a:t>
            </a:r>
            <a:br>
              <a:rPr lang="es-ES_tradnl" sz="1200" dirty="0"/>
            </a:br>
            <a:br>
              <a:rPr lang="es-ES_tradnl" sz="1200" dirty="0"/>
            </a:br>
            <a:r>
              <a:rPr lang="es-ES_tradnl" sz="1200" dirty="0"/>
              <a:t>7. </a:t>
            </a:r>
            <a:r>
              <a:rPr lang="es-ES_tradnl" sz="1200" b="1" dirty="0"/>
              <a:t>Crear/actualizar grado</a:t>
            </a:r>
            <a:r>
              <a:rPr lang="es-ES_tradnl" sz="1200" dirty="0"/>
              <a:t>: </a:t>
            </a:r>
            <a:r>
              <a:rPr lang="es-ES" sz="1200" dirty="0">
                <a:sym typeface="Wingdings" panose="05000000000000000000" pitchFamily="2" charset="2"/>
              </a:rPr>
              <a:t>Cuadro que indica si el registro de grado (SHADEGR) se creará o actualizará.</a:t>
            </a:r>
            <a:br>
              <a:rPr lang="es-ES" sz="1200" dirty="0">
                <a:sym typeface="Wingdings" panose="05000000000000000000" pitchFamily="2" charset="2"/>
              </a:rPr>
            </a:br>
            <a:endParaRPr lang="es-ES_tradnl" sz="1200" dirty="0"/>
          </a:p>
          <a:p>
            <a:r>
              <a:rPr lang="es-ES_tradnl" sz="1200" dirty="0"/>
              <a:t>8. </a:t>
            </a:r>
            <a:r>
              <a:rPr lang="es-CO" sz="1200" b="1" dirty="0"/>
              <a:t>Estatus de graduación: </a:t>
            </a:r>
            <a:r>
              <a:rPr lang="es-CO" sz="1200" dirty="0"/>
              <a:t>Este valor se asignará al estudiante al momento de generar la solicitud de graduación en la página SHADEGR, siempre que el parámetro 7 esté marcado. El estatus configurado debe existir previamente en la página STVGRST.</a:t>
            </a:r>
            <a:endParaRPr lang="es-ES_tradnl" sz="1200" dirty="0"/>
          </a:p>
        </p:txBody>
      </p:sp>
      <p:sp>
        <p:nvSpPr>
          <p:cNvPr id="37" name="Rectángulo redondeado 9">
            <a:extLst>
              <a:ext uri="{FF2B5EF4-FFF2-40B4-BE49-F238E27FC236}">
                <a16:creationId xmlns:a16="http://schemas.microsoft.com/office/drawing/2014/main" id="{6F4EEBA6-6A25-B3FE-FEBA-44CE9306ADB3}"/>
              </a:ext>
            </a:extLst>
          </p:cNvPr>
          <p:cNvSpPr/>
          <p:nvPr/>
        </p:nvSpPr>
        <p:spPr>
          <a:xfrm>
            <a:off x="9010239" y="2581879"/>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7</a:t>
            </a:r>
          </a:p>
        </p:txBody>
      </p:sp>
      <p:sp>
        <p:nvSpPr>
          <p:cNvPr id="39" name="Rectángulo redondeado 9">
            <a:extLst>
              <a:ext uri="{FF2B5EF4-FFF2-40B4-BE49-F238E27FC236}">
                <a16:creationId xmlns:a16="http://schemas.microsoft.com/office/drawing/2014/main" id="{3081AD6F-95A9-9BD3-5629-A5E39B3A3169}"/>
              </a:ext>
            </a:extLst>
          </p:cNvPr>
          <p:cNvSpPr/>
          <p:nvPr/>
        </p:nvSpPr>
        <p:spPr>
          <a:xfrm>
            <a:off x="9010239" y="3047288"/>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8</a:t>
            </a:r>
          </a:p>
        </p:txBody>
      </p:sp>
    </p:spTree>
    <p:extLst>
      <p:ext uri="{BB962C8B-B14F-4D97-AF65-F5344CB8AC3E}">
        <p14:creationId xmlns:p14="http://schemas.microsoft.com/office/powerpoint/2010/main" val="18054009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A2BC5-78B7-2780-AA8D-C5180C1DC5CC}"/>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77FA1E01-701C-12CF-5465-7873F775036A}"/>
              </a:ext>
            </a:extLst>
          </p:cNvPr>
          <p:cNvPicPr>
            <a:picLocks noChangeAspect="1"/>
          </p:cNvPicPr>
          <p:nvPr/>
        </p:nvPicPr>
        <p:blipFill>
          <a:blip r:embed="rId2"/>
          <a:stretch>
            <a:fillRect/>
          </a:stretch>
        </p:blipFill>
        <p:spPr>
          <a:xfrm>
            <a:off x="880913" y="1256610"/>
            <a:ext cx="10825640" cy="4750658"/>
          </a:xfrm>
          <a:prstGeom prst="rect">
            <a:avLst/>
          </a:prstGeom>
        </p:spPr>
      </p:pic>
      <p:sp>
        <p:nvSpPr>
          <p:cNvPr id="3" name="Marcador de texto vertical 2">
            <a:extLst>
              <a:ext uri="{FF2B5EF4-FFF2-40B4-BE49-F238E27FC236}">
                <a16:creationId xmlns:a16="http://schemas.microsoft.com/office/drawing/2014/main" id="{85FA2B67-8E18-6133-6F70-85EBE1641215}"/>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BE8B44F0-FA3E-8722-A3FC-58DAF505AD29}"/>
              </a:ext>
            </a:extLst>
          </p:cNvPr>
          <p:cNvSpPr>
            <a:spLocks noGrp="1"/>
          </p:cNvSpPr>
          <p:nvPr>
            <p:ph type="title"/>
          </p:nvPr>
        </p:nvSpPr>
        <p:spPr>
          <a:xfrm>
            <a:off x="765906" y="248928"/>
            <a:ext cx="10271883" cy="626165"/>
          </a:xfrm>
        </p:spPr>
        <p:txBody>
          <a:bodyPr/>
          <a:lstStyle/>
          <a:p>
            <a:r>
              <a:rPr lang="es-CO" b="0" dirty="0">
                <a:solidFill>
                  <a:schemeClr val="accent1"/>
                </a:solidFill>
              </a:rPr>
              <a:t>Reglas para el despliegue de solicitud de graduación en autoservicio (SHAGADR)</a:t>
            </a:r>
            <a:endParaRPr lang="es-CL" dirty="0">
              <a:solidFill>
                <a:schemeClr val="accent1"/>
              </a:solidFill>
            </a:endParaRPr>
          </a:p>
        </p:txBody>
      </p:sp>
      <p:sp>
        <p:nvSpPr>
          <p:cNvPr id="8" name="Rectángulo 7">
            <a:extLst>
              <a:ext uri="{FF2B5EF4-FFF2-40B4-BE49-F238E27FC236}">
                <a16:creationId xmlns:a16="http://schemas.microsoft.com/office/drawing/2014/main" id="{2A92C56E-0E4C-74D4-D224-8B7B2C84C562}"/>
              </a:ext>
            </a:extLst>
          </p:cNvPr>
          <p:cNvSpPr/>
          <p:nvPr/>
        </p:nvSpPr>
        <p:spPr>
          <a:xfrm>
            <a:off x="880913" y="2154583"/>
            <a:ext cx="2192929" cy="46825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9">
            <a:extLst>
              <a:ext uri="{FF2B5EF4-FFF2-40B4-BE49-F238E27FC236}">
                <a16:creationId xmlns:a16="http://schemas.microsoft.com/office/drawing/2014/main" id="{49C4B9E2-34AA-2B6C-3094-E57045BCFB30}"/>
              </a:ext>
            </a:extLst>
          </p:cNvPr>
          <p:cNvSpPr/>
          <p:nvPr/>
        </p:nvSpPr>
        <p:spPr>
          <a:xfrm>
            <a:off x="1543518" y="274897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9</a:t>
            </a:r>
          </a:p>
        </p:txBody>
      </p:sp>
      <p:sp>
        <p:nvSpPr>
          <p:cNvPr id="13" name="Rectángulo redondeado 5">
            <a:extLst>
              <a:ext uri="{FF2B5EF4-FFF2-40B4-BE49-F238E27FC236}">
                <a16:creationId xmlns:a16="http://schemas.microsoft.com/office/drawing/2014/main" id="{357B5D04-49D6-9D3D-CB77-E98804A1090F}"/>
              </a:ext>
            </a:extLst>
          </p:cNvPr>
          <p:cNvSpPr/>
          <p:nvPr/>
        </p:nvSpPr>
        <p:spPr>
          <a:xfrm>
            <a:off x="1977377" y="3737977"/>
            <a:ext cx="7253019" cy="265080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endParaRPr lang="es-ES_tradnl" sz="1200" dirty="0"/>
          </a:p>
          <a:p>
            <a:endParaRPr lang="es-ES_tradnl" sz="1200" dirty="0"/>
          </a:p>
          <a:p>
            <a:endParaRPr lang="es-ES_tradnl" sz="1200" dirty="0"/>
          </a:p>
          <a:p>
            <a:endParaRPr lang="es-ES_tradnl" sz="1200" dirty="0"/>
          </a:p>
          <a:p>
            <a:r>
              <a:rPr lang="es-ES_tradnl" sz="1200" dirty="0"/>
              <a:t>En la pestaña de </a:t>
            </a:r>
            <a:r>
              <a:rPr lang="es-ES_tradnl" sz="1200" b="1" dirty="0"/>
              <a:t>Disponibilidad de Fecha de graduación:</a:t>
            </a:r>
          </a:p>
          <a:p>
            <a:endParaRPr lang="es-ES_tradnl" sz="1200" dirty="0"/>
          </a:p>
          <a:p>
            <a:r>
              <a:rPr lang="es-ES_tradnl" sz="1200" dirty="0"/>
              <a:t>9. </a:t>
            </a:r>
            <a:r>
              <a:rPr lang="es-ES_tradnl" sz="1200" b="1" dirty="0"/>
              <a:t>Fecha de inicio y fecha de fin</a:t>
            </a:r>
            <a:r>
              <a:rPr lang="es-ES_tradnl" sz="1200" dirty="0"/>
              <a:t>: </a:t>
            </a:r>
            <a:r>
              <a:rPr lang="es-ES" sz="1200" dirty="0">
                <a:sym typeface="Wingdings" panose="05000000000000000000" pitchFamily="2" charset="2"/>
              </a:rPr>
              <a:t>Se ingresan las fechas de inicio y fin que se desplegará la solicitud al estudiante</a:t>
            </a:r>
          </a:p>
          <a:p>
            <a:br>
              <a:rPr lang="es-ES_tradnl" sz="1200" dirty="0"/>
            </a:br>
            <a:r>
              <a:rPr lang="es-ES_tradnl" sz="1200" dirty="0"/>
              <a:t>10. </a:t>
            </a:r>
            <a:r>
              <a:rPr lang="es-ES_tradnl" sz="1200" b="1" dirty="0"/>
              <a:t>Fecha de graduación: </a:t>
            </a:r>
            <a:r>
              <a:rPr lang="es-ES_tradnl" sz="1200" dirty="0"/>
              <a:t> </a:t>
            </a:r>
            <a:r>
              <a:rPr lang="es-ES" sz="1200" dirty="0">
                <a:sym typeface="Wingdings" panose="05000000000000000000" pitchFamily="2" charset="2"/>
              </a:rPr>
              <a:t>Se ingresa la fecha de la ceremonia </a:t>
            </a:r>
            <a:br>
              <a:rPr lang="es-ES" sz="1200" dirty="0">
                <a:sym typeface="Wingdings" panose="05000000000000000000" pitchFamily="2" charset="2"/>
              </a:rPr>
            </a:br>
            <a:endParaRPr lang="es-ES_tradnl" sz="1200" dirty="0"/>
          </a:p>
          <a:p>
            <a:r>
              <a:rPr lang="es-ES_tradnl" sz="1200" dirty="0"/>
              <a:t>11.</a:t>
            </a:r>
            <a:r>
              <a:rPr lang="es-ES_tradnl" sz="1200" b="1" dirty="0"/>
              <a:t> periodo de graduación: </a:t>
            </a:r>
            <a:r>
              <a:rPr lang="es-ES_tradnl" sz="1200" dirty="0"/>
              <a:t> </a:t>
            </a:r>
            <a:r>
              <a:rPr lang="es-ES" sz="1200" dirty="0">
                <a:sym typeface="Wingdings" panose="05000000000000000000" pitchFamily="2" charset="2"/>
              </a:rPr>
              <a:t>Se ingresa el período de graduación de esta ceremonia</a:t>
            </a:r>
            <a:br>
              <a:rPr lang="es-ES" sz="1200" dirty="0">
                <a:sym typeface="Wingdings" panose="05000000000000000000" pitchFamily="2" charset="2"/>
              </a:rPr>
            </a:br>
            <a:endParaRPr lang="es-ES" sz="1200" dirty="0">
              <a:sym typeface="Wingdings" panose="05000000000000000000" pitchFamily="2" charset="2"/>
            </a:endParaRPr>
          </a:p>
          <a:p>
            <a:r>
              <a:rPr lang="es-ES_tradnl" sz="1200" dirty="0"/>
              <a:t>12.</a:t>
            </a:r>
            <a:r>
              <a:rPr lang="es-ES_tradnl" sz="1200" b="1" dirty="0"/>
              <a:t> Año de graduación: </a:t>
            </a:r>
            <a:r>
              <a:rPr lang="es-ES_tradnl" sz="1200" dirty="0"/>
              <a:t> </a:t>
            </a:r>
            <a:r>
              <a:rPr lang="es-ES" sz="1200" dirty="0">
                <a:sym typeface="Wingdings" panose="05000000000000000000" pitchFamily="2" charset="2"/>
              </a:rPr>
              <a:t>lo toma automáticamente de la configuración del periodo en STVTERM</a:t>
            </a:r>
            <a:br>
              <a:rPr lang="es-ES" sz="1200" dirty="0">
                <a:sym typeface="Wingdings" panose="05000000000000000000" pitchFamily="2" charset="2"/>
              </a:rPr>
            </a:br>
            <a:endParaRPr lang="es-ES" sz="1200" dirty="0">
              <a:sym typeface="Wingdings" panose="05000000000000000000" pitchFamily="2" charset="2"/>
            </a:endParaRPr>
          </a:p>
          <a:p>
            <a:r>
              <a:rPr lang="es-ES_tradnl" sz="1200" dirty="0"/>
              <a:t>13.</a:t>
            </a:r>
            <a:r>
              <a:rPr lang="es-ES_tradnl" sz="1200" b="1" dirty="0"/>
              <a:t> Ceremonia: </a:t>
            </a:r>
            <a:r>
              <a:rPr lang="es-ES_tradnl" sz="1200" dirty="0"/>
              <a:t> </a:t>
            </a:r>
            <a:r>
              <a:rPr lang="es-ES" sz="1200" dirty="0">
                <a:sym typeface="Wingdings" panose="05000000000000000000" pitchFamily="2" charset="2"/>
              </a:rPr>
              <a:t>Se marca para preguntar al estudiante si va a asistir a la ceremonia</a:t>
            </a:r>
          </a:p>
          <a:p>
            <a:endParaRPr lang="es-ES" sz="1200" dirty="0">
              <a:sym typeface="Wingdings" panose="05000000000000000000" pitchFamily="2" charset="2"/>
            </a:endParaRPr>
          </a:p>
          <a:p>
            <a:endParaRPr lang="es-ES" sz="1200" dirty="0">
              <a:sym typeface="Wingdings" panose="05000000000000000000" pitchFamily="2" charset="2"/>
            </a:endParaRPr>
          </a:p>
          <a:p>
            <a:endParaRPr lang="es-ES" sz="1200" dirty="0">
              <a:sym typeface="Wingdings" panose="05000000000000000000" pitchFamily="2" charset="2"/>
            </a:endParaRPr>
          </a:p>
          <a:p>
            <a:endParaRPr lang="es-ES_tradnl" sz="1200" dirty="0"/>
          </a:p>
        </p:txBody>
      </p:sp>
      <p:sp>
        <p:nvSpPr>
          <p:cNvPr id="19" name="Rectángulo 18">
            <a:extLst>
              <a:ext uri="{FF2B5EF4-FFF2-40B4-BE49-F238E27FC236}">
                <a16:creationId xmlns:a16="http://schemas.microsoft.com/office/drawing/2014/main" id="{DB3DE3D3-38B9-B298-75D5-3E7F02100E18}"/>
              </a:ext>
            </a:extLst>
          </p:cNvPr>
          <p:cNvSpPr/>
          <p:nvPr/>
        </p:nvSpPr>
        <p:spPr>
          <a:xfrm>
            <a:off x="3289349" y="2170012"/>
            <a:ext cx="1421964" cy="45282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1" name="Rectángulo redondeado 9">
            <a:extLst>
              <a:ext uri="{FF2B5EF4-FFF2-40B4-BE49-F238E27FC236}">
                <a16:creationId xmlns:a16="http://schemas.microsoft.com/office/drawing/2014/main" id="{3AD0E6B4-27BC-1251-92CE-AF3347FA4D2A}"/>
              </a:ext>
            </a:extLst>
          </p:cNvPr>
          <p:cNvSpPr/>
          <p:nvPr/>
        </p:nvSpPr>
        <p:spPr>
          <a:xfrm>
            <a:off x="3771519" y="2771127"/>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10</a:t>
            </a:r>
          </a:p>
        </p:txBody>
      </p:sp>
      <p:sp>
        <p:nvSpPr>
          <p:cNvPr id="24" name="Rectángulo 23">
            <a:extLst>
              <a:ext uri="{FF2B5EF4-FFF2-40B4-BE49-F238E27FC236}">
                <a16:creationId xmlns:a16="http://schemas.microsoft.com/office/drawing/2014/main" id="{27895247-1575-4AA1-4985-E329FC8F0F92}"/>
              </a:ext>
            </a:extLst>
          </p:cNvPr>
          <p:cNvSpPr/>
          <p:nvPr/>
        </p:nvSpPr>
        <p:spPr>
          <a:xfrm>
            <a:off x="4864673" y="2158043"/>
            <a:ext cx="1421964" cy="45282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6" name="Rectángulo redondeado 9">
            <a:extLst>
              <a:ext uri="{FF2B5EF4-FFF2-40B4-BE49-F238E27FC236}">
                <a16:creationId xmlns:a16="http://schemas.microsoft.com/office/drawing/2014/main" id="{812B913B-3C30-FCC6-031F-3923E43A3200}"/>
              </a:ext>
            </a:extLst>
          </p:cNvPr>
          <p:cNvSpPr/>
          <p:nvPr/>
        </p:nvSpPr>
        <p:spPr>
          <a:xfrm>
            <a:off x="5215234" y="2773514"/>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11</a:t>
            </a:r>
          </a:p>
        </p:txBody>
      </p:sp>
      <p:sp>
        <p:nvSpPr>
          <p:cNvPr id="28" name="Rectángulo 27">
            <a:extLst>
              <a:ext uri="{FF2B5EF4-FFF2-40B4-BE49-F238E27FC236}">
                <a16:creationId xmlns:a16="http://schemas.microsoft.com/office/drawing/2014/main" id="{9CCA82F6-4587-64F2-1CF4-F5AE0AE23C0E}"/>
              </a:ext>
            </a:extLst>
          </p:cNvPr>
          <p:cNvSpPr/>
          <p:nvPr/>
        </p:nvSpPr>
        <p:spPr>
          <a:xfrm>
            <a:off x="8847047" y="2154935"/>
            <a:ext cx="1421964" cy="45282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0" name="Rectángulo 29">
            <a:extLst>
              <a:ext uri="{FF2B5EF4-FFF2-40B4-BE49-F238E27FC236}">
                <a16:creationId xmlns:a16="http://schemas.microsoft.com/office/drawing/2014/main" id="{93FBDCD9-DD75-86F3-70FF-81F20ABAFD94}"/>
              </a:ext>
            </a:extLst>
          </p:cNvPr>
          <p:cNvSpPr/>
          <p:nvPr/>
        </p:nvSpPr>
        <p:spPr>
          <a:xfrm>
            <a:off x="10521836" y="2172325"/>
            <a:ext cx="1120588" cy="46834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2" name="Rectángulo redondeado 9">
            <a:extLst>
              <a:ext uri="{FF2B5EF4-FFF2-40B4-BE49-F238E27FC236}">
                <a16:creationId xmlns:a16="http://schemas.microsoft.com/office/drawing/2014/main" id="{5ED9A057-B215-5E87-35CE-4C295B427A88}"/>
              </a:ext>
            </a:extLst>
          </p:cNvPr>
          <p:cNvSpPr/>
          <p:nvPr/>
        </p:nvSpPr>
        <p:spPr>
          <a:xfrm>
            <a:off x="9362710" y="2771127"/>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12</a:t>
            </a:r>
          </a:p>
        </p:txBody>
      </p:sp>
      <p:sp>
        <p:nvSpPr>
          <p:cNvPr id="34" name="Rectángulo redondeado 9">
            <a:extLst>
              <a:ext uri="{FF2B5EF4-FFF2-40B4-BE49-F238E27FC236}">
                <a16:creationId xmlns:a16="http://schemas.microsoft.com/office/drawing/2014/main" id="{C06570FE-38C6-72A7-7D9F-703FEAA4C654}"/>
              </a:ext>
            </a:extLst>
          </p:cNvPr>
          <p:cNvSpPr/>
          <p:nvPr/>
        </p:nvSpPr>
        <p:spPr>
          <a:xfrm>
            <a:off x="10901919" y="2763206"/>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13</a:t>
            </a:r>
          </a:p>
        </p:txBody>
      </p:sp>
    </p:spTree>
    <p:extLst>
      <p:ext uri="{BB962C8B-B14F-4D97-AF65-F5344CB8AC3E}">
        <p14:creationId xmlns:p14="http://schemas.microsoft.com/office/powerpoint/2010/main" val="3192538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D1A9D-9BF9-B5C2-3485-EC1BD9086558}"/>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5BCA81A2-12E9-188A-88AA-BECC7EDE865C}"/>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E46EB0FF-5E4F-5854-B30A-8875712156AB}"/>
              </a:ext>
            </a:extLst>
          </p:cNvPr>
          <p:cNvSpPr>
            <a:spLocks noGrp="1"/>
          </p:cNvSpPr>
          <p:nvPr>
            <p:ph type="title"/>
          </p:nvPr>
        </p:nvSpPr>
        <p:spPr>
          <a:xfrm>
            <a:off x="765906" y="248928"/>
            <a:ext cx="10271883" cy="626165"/>
          </a:xfrm>
        </p:spPr>
        <p:txBody>
          <a:bodyPr/>
          <a:lstStyle/>
          <a:p>
            <a:r>
              <a:rPr lang="es-CO" b="0" dirty="0">
                <a:solidFill>
                  <a:schemeClr val="accent1"/>
                </a:solidFill>
              </a:rPr>
              <a:t>Reglas para el despliegue de solicitud de graduación en autoservicio (SHAGADR)</a:t>
            </a:r>
            <a:endParaRPr lang="es-CL" dirty="0">
              <a:solidFill>
                <a:schemeClr val="accent1"/>
              </a:solidFill>
            </a:endParaRPr>
          </a:p>
        </p:txBody>
      </p:sp>
      <p:pic>
        <p:nvPicPr>
          <p:cNvPr id="5" name="Imagen 4">
            <a:extLst>
              <a:ext uri="{FF2B5EF4-FFF2-40B4-BE49-F238E27FC236}">
                <a16:creationId xmlns:a16="http://schemas.microsoft.com/office/drawing/2014/main" id="{3BE9A26C-640B-4F2F-542B-BD7ED5151312}"/>
              </a:ext>
            </a:extLst>
          </p:cNvPr>
          <p:cNvPicPr>
            <a:picLocks noChangeAspect="1"/>
          </p:cNvPicPr>
          <p:nvPr/>
        </p:nvPicPr>
        <p:blipFill>
          <a:blip r:embed="rId2"/>
          <a:stretch>
            <a:fillRect/>
          </a:stretch>
        </p:blipFill>
        <p:spPr>
          <a:xfrm>
            <a:off x="861805" y="1219199"/>
            <a:ext cx="10844420" cy="4698681"/>
          </a:xfrm>
          <a:prstGeom prst="rect">
            <a:avLst/>
          </a:prstGeom>
        </p:spPr>
      </p:pic>
      <p:sp>
        <p:nvSpPr>
          <p:cNvPr id="9" name="Rectángulo redondeado 5">
            <a:extLst>
              <a:ext uri="{FF2B5EF4-FFF2-40B4-BE49-F238E27FC236}">
                <a16:creationId xmlns:a16="http://schemas.microsoft.com/office/drawing/2014/main" id="{9148D4CD-8874-9B76-C253-A51D2400A0F6}"/>
              </a:ext>
            </a:extLst>
          </p:cNvPr>
          <p:cNvSpPr/>
          <p:nvPr/>
        </p:nvSpPr>
        <p:spPr>
          <a:xfrm>
            <a:off x="2385940" y="4180449"/>
            <a:ext cx="4883443" cy="114402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la pestaña de </a:t>
            </a:r>
            <a:r>
              <a:rPr lang="es-ES_tradnl" sz="1400" b="1" dirty="0"/>
              <a:t>Opciones de nombre/dirección de diploma:</a:t>
            </a:r>
          </a:p>
          <a:p>
            <a:r>
              <a:rPr lang="es-ES_tradnl" sz="1400" dirty="0"/>
              <a:t>Permite desplegar los datos de nombres del estudiante, y dirección de diploma, para que el alumno, realice este cambio. </a:t>
            </a:r>
          </a:p>
        </p:txBody>
      </p:sp>
      <p:sp>
        <p:nvSpPr>
          <p:cNvPr id="12" name="Rectángulo redondeado 9">
            <a:extLst>
              <a:ext uri="{FF2B5EF4-FFF2-40B4-BE49-F238E27FC236}">
                <a16:creationId xmlns:a16="http://schemas.microsoft.com/office/drawing/2014/main" id="{3AAAD5FC-E769-D9B3-BEB2-B100651CDD5B}"/>
              </a:ext>
            </a:extLst>
          </p:cNvPr>
          <p:cNvSpPr/>
          <p:nvPr/>
        </p:nvSpPr>
        <p:spPr>
          <a:xfrm>
            <a:off x="6908962" y="3428999"/>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14</a:t>
            </a:r>
          </a:p>
        </p:txBody>
      </p:sp>
      <p:sp>
        <p:nvSpPr>
          <p:cNvPr id="15" name="Rectángulo 14">
            <a:extLst>
              <a:ext uri="{FF2B5EF4-FFF2-40B4-BE49-F238E27FC236}">
                <a16:creationId xmlns:a16="http://schemas.microsoft.com/office/drawing/2014/main" id="{8870BCBF-7AC2-9804-CACD-93A268F37053}"/>
              </a:ext>
            </a:extLst>
          </p:cNvPr>
          <p:cNvSpPr/>
          <p:nvPr/>
        </p:nvSpPr>
        <p:spPr>
          <a:xfrm>
            <a:off x="777460" y="1932608"/>
            <a:ext cx="10775576" cy="145571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5910029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0FED-D80D-C075-5D7D-65A4512FE099}"/>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309D28F7-6BA0-2B0C-821A-5CA34F83555E}"/>
              </a:ext>
            </a:extLst>
          </p:cNvPr>
          <p:cNvPicPr>
            <a:picLocks noChangeAspect="1"/>
          </p:cNvPicPr>
          <p:nvPr/>
        </p:nvPicPr>
        <p:blipFill>
          <a:blip r:embed="rId2"/>
          <a:stretch>
            <a:fillRect/>
          </a:stretch>
        </p:blipFill>
        <p:spPr>
          <a:xfrm>
            <a:off x="838200" y="1268613"/>
            <a:ext cx="11182350" cy="4812435"/>
          </a:xfrm>
          <a:prstGeom prst="rect">
            <a:avLst/>
          </a:prstGeom>
        </p:spPr>
      </p:pic>
      <p:sp>
        <p:nvSpPr>
          <p:cNvPr id="3" name="Marcador de texto vertical 2">
            <a:extLst>
              <a:ext uri="{FF2B5EF4-FFF2-40B4-BE49-F238E27FC236}">
                <a16:creationId xmlns:a16="http://schemas.microsoft.com/office/drawing/2014/main" id="{D081D767-24D1-0052-C780-3AFF9B16EE2E}"/>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D60ADBA5-2129-5C87-5403-4CB61223321D}"/>
              </a:ext>
            </a:extLst>
          </p:cNvPr>
          <p:cNvSpPr>
            <a:spLocks noGrp="1"/>
          </p:cNvSpPr>
          <p:nvPr>
            <p:ph type="title"/>
          </p:nvPr>
        </p:nvSpPr>
        <p:spPr>
          <a:xfrm>
            <a:off x="765906" y="248928"/>
            <a:ext cx="10271883" cy="626165"/>
          </a:xfrm>
        </p:spPr>
        <p:txBody>
          <a:bodyPr/>
          <a:lstStyle/>
          <a:p>
            <a:r>
              <a:rPr lang="es-CO" b="0" dirty="0">
                <a:solidFill>
                  <a:schemeClr val="accent1"/>
                </a:solidFill>
              </a:rPr>
              <a:t>Reglas para el despliegue de solicitud de graduación en autoservicio (SHAGADR)</a:t>
            </a:r>
            <a:endParaRPr lang="es-CL" dirty="0">
              <a:solidFill>
                <a:schemeClr val="accent1"/>
              </a:solidFill>
            </a:endParaRPr>
          </a:p>
        </p:txBody>
      </p:sp>
      <p:sp>
        <p:nvSpPr>
          <p:cNvPr id="8" name="Rectángulo 7">
            <a:extLst>
              <a:ext uri="{FF2B5EF4-FFF2-40B4-BE49-F238E27FC236}">
                <a16:creationId xmlns:a16="http://schemas.microsoft.com/office/drawing/2014/main" id="{F9B7D1D4-A2D8-7F45-C34E-FFB4CBA04A6F}"/>
              </a:ext>
            </a:extLst>
          </p:cNvPr>
          <p:cNvSpPr/>
          <p:nvPr/>
        </p:nvSpPr>
        <p:spPr>
          <a:xfrm>
            <a:off x="1830122" y="2245271"/>
            <a:ext cx="1448672" cy="29583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9">
            <a:extLst>
              <a:ext uri="{FF2B5EF4-FFF2-40B4-BE49-F238E27FC236}">
                <a16:creationId xmlns:a16="http://schemas.microsoft.com/office/drawing/2014/main" id="{BBD5488F-4BA8-227A-9A54-F5A9B92BE75B}"/>
              </a:ext>
            </a:extLst>
          </p:cNvPr>
          <p:cNvSpPr/>
          <p:nvPr/>
        </p:nvSpPr>
        <p:spPr>
          <a:xfrm>
            <a:off x="3323620" y="2322409"/>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15</a:t>
            </a:r>
          </a:p>
        </p:txBody>
      </p:sp>
      <p:sp>
        <p:nvSpPr>
          <p:cNvPr id="14" name="Rectángulo 13">
            <a:extLst>
              <a:ext uri="{FF2B5EF4-FFF2-40B4-BE49-F238E27FC236}">
                <a16:creationId xmlns:a16="http://schemas.microsoft.com/office/drawing/2014/main" id="{23AFCFA4-4B02-3FEE-0971-E4BBD1AF9E15}"/>
              </a:ext>
            </a:extLst>
          </p:cNvPr>
          <p:cNvSpPr/>
          <p:nvPr/>
        </p:nvSpPr>
        <p:spPr>
          <a:xfrm>
            <a:off x="746856" y="2686051"/>
            <a:ext cx="6521232" cy="46954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B60C7CE9-AF9C-06BB-6665-006AE894D905}"/>
              </a:ext>
            </a:extLst>
          </p:cNvPr>
          <p:cNvSpPr/>
          <p:nvPr/>
        </p:nvSpPr>
        <p:spPr>
          <a:xfrm>
            <a:off x="7459768" y="2686050"/>
            <a:ext cx="2208107" cy="46954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9" name="Rectángulo redondeado 9">
            <a:extLst>
              <a:ext uri="{FF2B5EF4-FFF2-40B4-BE49-F238E27FC236}">
                <a16:creationId xmlns:a16="http://schemas.microsoft.com/office/drawing/2014/main" id="{62812A12-08EB-3BF2-8746-04AB4DCBEC5A}"/>
              </a:ext>
            </a:extLst>
          </p:cNvPr>
          <p:cNvSpPr/>
          <p:nvPr/>
        </p:nvSpPr>
        <p:spPr>
          <a:xfrm>
            <a:off x="8995411" y="3210303"/>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17</a:t>
            </a:r>
          </a:p>
        </p:txBody>
      </p:sp>
      <p:sp>
        <p:nvSpPr>
          <p:cNvPr id="21" name="Rectángulo redondeado 9">
            <a:extLst>
              <a:ext uri="{FF2B5EF4-FFF2-40B4-BE49-F238E27FC236}">
                <a16:creationId xmlns:a16="http://schemas.microsoft.com/office/drawing/2014/main" id="{B6160270-2341-E08A-52F9-D79AC3A10C25}"/>
              </a:ext>
            </a:extLst>
          </p:cNvPr>
          <p:cNvSpPr/>
          <p:nvPr/>
        </p:nvSpPr>
        <p:spPr>
          <a:xfrm>
            <a:off x="3278794" y="3210303"/>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16</a:t>
            </a:r>
          </a:p>
        </p:txBody>
      </p:sp>
      <p:sp>
        <p:nvSpPr>
          <p:cNvPr id="23" name="Rectángulo redondeado 5">
            <a:extLst>
              <a:ext uri="{FF2B5EF4-FFF2-40B4-BE49-F238E27FC236}">
                <a16:creationId xmlns:a16="http://schemas.microsoft.com/office/drawing/2014/main" id="{0853E1A2-BECF-3810-AEAE-7F7B87462114}"/>
              </a:ext>
            </a:extLst>
          </p:cNvPr>
          <p:cNvSpPr/>
          <p:nvPr/>
        </p:nvSpPr>
        <p:spPr>
          <a:xfrm>
            <a:off x="1729615" y="3608149"/>
            <a:ext cx="7253019" cy="20754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endParaRPr lang="es-ES_tradnl" sz="1200" dirty="0"/>
          </a:p>
          <a:p>
            <a:r>
              <a:rPr lang="es-ES_tradnl" sz="1200" dirty="0"/>
              <a:t>En la pestaña de </a:t>
            </a:r>
            <a:r>
              <a:rPr lang="es-ES_tradnl" sz="1200" b="1" dirty="0"/>
              <a:t>Opciones de pago:</a:t>
            </a:r>
          </a:p>
          <a:p>
            <a:r>
              <a:rPr lang="es-ES_tradnl" sz="1200" dirty="0"/>
              <a:t> </a:t>
            </a:r>
          </a:p>
          <a:p>
            <a:r>
              <a:rPr lang="es-ES_tradnl" sz="1200" b="1" dirty="0"/>
              <a:t>15. Cargar cuota de graduación</a:t>
            </a:r>
            <a:r>
              <a:rPr lang="es-ES_tradnl" sz="1200" dirty="0"/>
              <a:t>: </a:t>
            </a:r>
            <a:r>
              <a:rPr lang="es-ES" sz="1200" dirty="0">
                <a:sym typeface="Wingdings" panose="05000000000000000000" pitchFamily="2" charset="2"/>
              </a:rPr>
              <a:t>Se marca para indicar que se va a realizar un cargo por algún concepto de grado en el estado de cuenta del estudiante</a:t>
            </a:r>
          </a:p>
          <a:p>
            <a:br>
              <a:rPr lang="es-ES_tradnl" sz="1200" dirty="0"/>
            </a:br>
            <a:r>
              <a:rPr lang="es-ES_tradnl" sz="1200" dirty="0"/>
              <a:t>16. </a:t>
            </a:r>
            <a:r>
              <a:rPr lang="es-ES_tradnl" sz="1200" b="1" dirty="0"/>
              <a:t>Opción de pago: </a:t>
            </a:r>
            <a:r>
              <a:rPr lang="es-ES_tradnl" sz="1200" dirty="0"/>
              <a:t> </a:t>
            </a:r>
            <a:r>
              <a:rPr lang="es-ES" sz="1200" dirty="0">
                <a:sym typeface="Wingdings" panose="05000000000000000000" pitchFamily="2" charset="2"/>
              </a:rPr>
              <a:t>Se ingresa código de pago configurado en STVWPYO.  </a:t>
            </a:r>
            <a:br>
              <a:rPr lang="es-ES" sz="1200" dirty="0">
                <a:sym typeface="Wingdings" panose="05000000000000000000" pitchFamily="2" charset="2"/>
              </a:rPr>
            </a:br>
            <a:endParaRPr lang="es-ES_tradnl" sz="1200" dirty="0"/>
          </a:p>
          <a:p>
            <a:r>
              <a:rPr lang="es-ES_tradnl" sz="1200" dirty="0"/>
              <a:t>17.</a:t>
            </a:r>
            <a:r>
              <a:rPr lang="es-ES_tradnl" sz="1200" b="1" dirty="0"/>
              <a:t> Código de detalle: </a:t>
            </a:r>
            <a:r>
              <a:rPr lang="es-ES_tradnl" sz="1200" dirty="0"/>
              <a:t> Lo traerá automáticamente de la configuración de STVWPYO.</a:t>
            </a:r>
            <a:r>
              <a:rPr lang="es-ES" sz="1200" dirty="0">
                <a:sym typeface="Wingdings" panose="05000000000000000000" pitchFamily="2" charset="2"/>
              </a:rPr>
              <a:t> </a:t>
            </a:r>
          </a:p>
          <a:p>
            <a:endParaRPr lang="es-ES" sz="1200" dirty="0">
              <a:sym typeface="Wingdings" panose="05000000000000000000" pitchFamily="2" charset="2"/>
            </a:endParaRPr>
          </a:p>
          <a:p>
            <a:r>
              <a:rPr lang="es-ES" sz="1200" dirty="0">
                <a:sym typeface="Wingdings" panose="05000000000000000000" pitchFamily="2" charset="2"/>
              </a:rPr>
              <a:t>18. </a:t>
            </a:r>
            <a:r>
              <a:rPr lang="es-ES" sz="1200" b="1" dirty="0">
                <a:sym typeface="Wingdings" panose="05000000000000000000" pitchFamily="2" charset="2"/>
              </a:rPr>
              <a:t>Cargo</a:t>
            </a:r>
            <a:r>
              <a:rPr lang="es-ES" sz="1200" dirty="0">
                <a:sym typeface="Wingdings" panose="05000000000000000000" pitchFamily="2" charset="2"/>
              </a:rPr>
              <a:t>: Ingrese el valor que se debe generar en la cuenta del estudiante.</a:t>
            </a:r>
          </a:p>
          <a:p>
            <a:endParaRPr lang="es-ES" sz="1200" dirty="0">
              <a:sym typeface="Wingdings" panose="05000000000000000000" pitchFamily="2" charset="2"/>
            </a:endParaRPr>
          </a:p>
          <a:p>
            <a:endParaRPr lang="es-ES_tradnl" sz="1200" dirty="0"/>
          </a:p>
        </p:txBody>
      </p:sp>
      <p:sp>
        <p:nvSpPr>
          <p:cNvPr id="25" name="Rectángulo 24">
            <a:extLst>
              <a:ext uri="{FF2B5EF4-FFF2-40B4-BE49-F238E27FC236}">
                <a16:creationId xmlns:a16="http://schemas.microsoft.com/office/drawing/2014/main" id="{D4352223-26CE-13F2-98DF-810F9F2419E2}"/>
              </a:ext>
            </a:extLst>
          </p:cNvPr>
          <p:cNvSpPr/>
          <p:nvPr/>
        </p:nvSpPr>
        <p:spPr>
          <a:xfrm>
            <a:off x="9740159" y="2686049"/>
            <a:ext cx="2208107" cy="46954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7" name="Rectángulo redondeado 9">
            <a:extLst>
              <a:ext uri="{FF2B5EF4-FFF2-40B4-BE49-F238E27FC236}">
                <a16:creationId xmlns:a16="http://schemas.microsoft.com/office/drawing/2014/main" id="{820C2F88-188F-34D8-A7B5-E0C2BA74C653}"/>
              </a:ext>
            </a:extLst>
          </p:cNvPr>
          <p:cNvSpPr/>
          <p:nvPr/>
        </p:nvSpPr>
        <p:spPr>
          <a:xfrm>
            <a:off x="10444351" y="321030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18</a:t>
            </a:r>
          </a:p>
        </p:txBody>
      </p:sp>
    </p:spTree>
    <p:extLst>
      <p:ext uri="{BB962C8B-B14F-4D97-AF65-F5344CB8AC3E}">
        <p14:creationId xmlns:p14="http://schemas.microsoft.com/office/powerpoint/2010/main" val="28298223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el otorgamiento y registro de grado</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1104900" y="1800808"/>
            <a:ext cx="9337548" cy="1628192"/>
          </a:xfrm>
        </p:spPr>
        <p:txBody>
          <a:bodyPr/>
          <a:lstStyle/>
          <a:p>
            <a:r>
              <a:rPr lang="es-419" dirty="0"/>
              <a:t>Reglas de elegibilidad</a:t>
            </a:r>
            <a:endParaRPr lang="en-US" dirty="0"/>
          </a:p>
        </p:txBody>
      </p:sp>
    </p:spTree>
    <p:extLst>
      <p:ext uri="{BB962C8B-B14F-4D97-AF65-F5344CB8AC3E}">
        <p14:creationId xmlns:p14="http://schemas.microsoft.com/office/powerpoint/2010/main" val="42187273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2EFE8-254B-CE82-EDF0-56AAC537A7C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1525626-F842-D076-DE4F-D8A1AA63A4A5}"/>
              </a:ext>
            </a:extLst>
          </p:cNvPr>
          <p:cNvPicPr>
            <a:picLocks noChangeAspect="1"/>
          </p:cNvPicPr>
          <p:nvPr/>
        </p:nvPicPr>
        <p:blipFill>
          <a:blip r:embed="rId2"/>
          <a:stretch>
            <a:fillRect/>
          </a:stretch>
        </p:blipFill>
        <p:spPr>
          <a:xfrm>
            <a:off x="749267" y="1076325"/>
            <a:ext cx="11042684" cy="5035042"/>
          </a:xfrm>
          <a:prstGeom prst="rect">
            <a:avLst/>
          </a:prstGeom>
        </p:spPr>
      </p:pic>
      <p:sp>
        <p:nvSpPr>
          <p:cNvPr id="3" name="Marcador de texto vertical 2">
            <a:extLst>
              <a:ext uri="{FF2B5EF4-FFF2-40B4-BE49-F238E27FC236}">
                <a16:creationId xmlns:a16="http://schemas.microsoft.com/office/drawing/2014/main" id="{42D21019-167A-0819-53C8-F7B8D6790CC9}"/>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A3EDB92C-681F-B5DD-99EA-8B1DD7DAA2EB}"/>
              </a:ext>
            </a:extLst>
          </p:cNvPr>
          <p:cNvSpPr>
            <a:spLocks noGrp="1"/>
          </p:cNvSpPr>
          <p:nvPr>
            <p:ph type="title"/>
          </p:nvPr>
        </p:nvSpPr>
        <p:spPr>
          <a:xfrm>
            <a:off x="765906" y="248928"/>
            <a:ext cx="10271883" cy="626165"/>
          </a:xfrm>
        </p:spPr>
        <p:txBody>
          <a:bodyPr/>
          <a:lstStyle/>
          <a:p>
            <a:r>
              <a:rPr lang="es-CO" b="0" dirty="0">
                <a:solidFill>
                  <a:schemeClr val="accent1"/>
                </a:solidFill>
              </a:rPr>
              <a:t>Reglas de elegibilidad de solicitud de graduación (SHAGELR)</a:t>
            </a:r>
            <a:endParaRPr lang="es-CL" dirty="0">
              <a:solidFill>
                <a:schemeClr val="accent1"/>
              </a:solidFill>
            </a:endParaRPr>
          </a:p>
        </p:txBody>
      </p:sp>
      <p:sp>
        <p:nvSpPr>
          <p:cNvPr id="9" name="Rectángulo redondeado 5">
            <a:extLst>
              <a:ext uri="{FF2B5EF4-FFF2-40B4-BE49-F238E27FC236}">
                <a16:creationId xmlns:a16="http://schemas.microsoft.com/office/drawing/2014/main" id="{D9FB333B-BC15-B2BC-A630-368015908883}"/>
              </a:ext>
            </a:extLst>
          </p:cNvPr>
          <p:cNvSpPr/>
          <p:nvPr/>
        </p:nvSpPr>
        <p:spPr>
          <a:xfrm>
            <a:off x="4022133" y="2818378"/>
            <a:ext cx="4879820" cy="12212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Nota: Las reglas de elegibilidad permiten determinar la población a la cual se le debe desplegar la solicitud de graduación en la web.</a:t>
            </a:r>
          </a:p>
        </p:txBody>
      </p:sp>
    </p:spTree>
    <p:extLst>
      <p:ext uri="{BB962C8B-B14F-4D97-AF65-F5344CB8AC3E}">
        <p14:creationId xmlns:p14="http://schemas.microsoft.com/office/powerpoint/2010/main" val="30851108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91DFA-7CD4-3F41-0690-D25E999C1B3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32BFE23-8FF7-0FCA-8594-42AEB8B71A4F}"/>
              </a:ext>
            </a:extLst>
          </p:cNvPr>
          <p:cNvPicPr>
            <a:picLocks noChangeAspect="1"/>
          </p:cNvPicPr>
          <p:nvPr/>
        </p:nvPicPr>
        <p:blipFill>
          <a:blip r:embed="rId2"/>
          <a:stretch>
            <a:fillRect/>
          </a:stretch>
        </p:blipFill>
        <p:spPr>
          <a:xfrm>
            <a:off x="749267" y="1076325"/>
            <a:ext cx="11042684" cy="5035042"/>
          </a:xfrm>
          <a:prstGeom prst="rect">
            <a:avLst/>
          </a:prstGeom>
        </p:spPr>
      </p:pic>
      <p:sp>
        <p:nvSpPr>
          <p:cNvPr id="3" name="Marcador de texto vertical 2">
            <a:extLst>
              <a:ext uri="{FF2B5EF4-FFF2-40B4-BE49-F238E27FC236}">
                <a16:creationId xmlns:a16="http://schemas.microsoft.com/office/drawing/2014/main" id="{019B96BA-C455-FDCF-E54F-E932058249A2}"/>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8AFE3583-8F6A-A825-38CC-C15565368B98}"/>
              </a:ext>
            </a:extLst>
          </p:cNvPr>
          <p:cNvSpPr>
            <a:spLocks noGrp="1"/>
          </p:cNvSpPr>
          <p:nvPr>
            <p:ph type="title"/>
          </p:nvPr>
        </p:nvSpPr>
        <p:spPr>
          <a:xfrm>
            <a:off x="765906" y="248928"/>
            <a:ext cx="10271883" cy="626165"/>
          </a:xfrm>
        </p:spPr>
        <p:txBody>
          <a:bodyPr/>
          <a:lstStyle/>
          <a:p>
            <a:r>
              <a:rPr lang="es-CO" b="0" dirty="0">
                <a:solidFill>
                  <a:schemeClr val="accent1"/>
                </a:solidFill>
              </a:rPr>
              <a:t>Reglas de elegibilidad de solicitud de graduación (SHAGELR)</a:t>
            </a:r>
            <a:endParaRPr lang="es-CL" dirty="0">
              <a:solidFill>
                <a:schemeClr val="accent1"/>
              </a:solidFill>
            </a:endParaRPr>
          </a:p>
        </p:txBody>
      </p:sp>
      <p:sp>
        <p:nvSpPr>
          <p:cNvPr id="6" name="Rectángulo 5">
            <a:extLst>
              <a:ext uri="{FF2B5EF4-FFF2-40B4-BE49-F238E27FC236}">
                <a16:creationId xmlns:a16="http://schemas.microsoft.com/office/drawing/2014/main" id="{8518E14F-562E-5DEE-9584-FD652C4A071C}"/>
              </a:ext>
            </a:extLst>
          </p:cNvPr>
          <p:cNvSpPr/>
          <p:nvPr/>
        </p:nvSpPr>
        <p:spPr>
          <a:xfrm>
            <a:off x="2685738" y="1530724"/>
            <a:ext cx="1448672" cy="29583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8" name="Rectángulo redondeado 9">
            <a:extLst>
              <a:ext uri="{FF2B5EF4-FFF2-40B4-BE49-F238E27FC236}">
                <a16:creationId xmlns:a16="http://schemas.microsoft.com/office/drawing/2014/main" id="{F2C6AB2C-5268-CAA9-CAFD-C0835AC6AE15}"/>
              </a:ext>
            </a:extLst>
          </p:cNvPr>
          <p:cNvSpPr/>
          <p:nvPr/>
        </p:nvSpPr>
        <p:spPr>
          <a:xfrm>
            <a:off x="4217598" y="1530724"/>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a:t>
            </a:r>
          </a:p>
        </p:txBody>
      </p:sp>
      <p:sp>
        <p:nvSpPr>
          <p:cNvPr id="11" name="Rectángulo redondeado 5">
            <a:extLst>
              <a:ext uri="{FF2B5EF4-FFF2-40B4-BE49-F238E27FC236}">
                <a16:creationId xmlns:a16="http://schemas.microsoft.com/office/drawing/2014/main" id="{FA23595A-BF1D-5D90-3840-A6BBEA9D663D}"/>
              </a:ext>
            </a:extLst>
          </p:cNvPr>
          <p:cNvSpPr/>
          <p:nvPr/>
        </p:nvSpPr>
        <p:spPr>
          <a:xfrm>
            <a:off x="4999021" y="1457046"/>
            <a:ext cx="3440129" cy="119090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Marcar el campo cualquier para indicar que la regla se puede crear por alumno (Sección de General de alumnos) o por el estatus de resultados (Sección de Historia académica)</a:t>
            </a:r>
          </a:p>
        </p:txBody>
      </p:sp>
    </p:spTree>
    <p:extLst>
      <p:ext uri="{BB962C8B-B14F-4D97-AF65-F5344CB8AC3E}">
        <p14:creationId xmlns:p14="http://schemas.microsoft.com/office/powerpoint/2010/main" val="4013104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6992-6726-371D-0D70-BF2020B8FDB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18A3FBC-5303-8290-F420-B5A931E4EF30}"/>
              </a:ext>
            </a:extLst>
          </p:cNvPr>
          <p:cNvPicPr>
            <a:picLocks noChangeAspect="1"/>
          </p:cNvPicPr>
          <p:nvPr/>
        </p:nvPicPr>
        <p:blipFill>
          <a:blip r:embed="rId2"/>
          <a:stretch>
            <a:fillRect/>
          </a:stretch>
        </p:blipFill>
        <p:spPr>
          <a:xfrm>
            <a:off x="749267" y="1076325"/>
            <a:ext cx="11042684" cy="5035042"/>
          </a:xfrm>
          <a:prstGeom prst="rect">
            <a:avLst/>
          </a:prstGeom>
        </p:spPr>
      </p:pic>
      <p:sp>
        <p:nvSpPr>
          <p:cNvPr id="3" name="Marcador de texto vertical 2">
            <a:extLst>
              <a:ext uri="{FF2B5EF4-FFF2-40B4-BE49-F238E27FC236}">
                <a16:creationId xmlns:a16="http://schemas.microsoft.com/office/drawing/2014/main" id="{E7EB1DDF-DD54-569A-F331-E72049F8A6AC}"/>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70ED8745-CD0D-A5B4-255D-C84DC5F75CCA}"/>
              </a:ext>
            </a:extLst>
          </p:cNvPr>
          <p:cNvSpPr>
            <a:spLocks noGrp="1"/>
          </p:cNvSpPr>
          <p:nvPr>
            <p:ph type="title"/>
          </p:nvPr>
        </p:nvSpPr>
        <p:spPr>
          <a:xfrm>
            <a:off x="765906" y="248928"/>
            <a:ext cx="10271883" cy="626165"/>
          </a:xfrm>
        </p:spPr>
        <p:txBody>
          <a:bodyPr/>
          <a:lstStyle/>
          <a:p>
            <a:r>
              <a:rPr lang="es-CO" b="0" dirty="0">
                <a:solidFill>
                  <a:schemeClr val="accent1"/>
                </a:solidFill>
              </a:rPr>
              <a:t>Reglas de elegibilidad de solicitud de graduación (SHAGELR)</a:t>
            </a:r>
            <a:endParaRPr lang="es-CL" dirty="0">
              <a:solidFill>
                <a:schemeClr val="accent1"/>
              </a:solidFill>
            </a:endParaRPr>
          </a:p>
        </p:txBody>
      </p:sp>
      <p:sp>
        <p:nvSpPr>
          <p:cNvPr id="7" name="Rectángulo 6">
            <a:extLst>
              <a:ext uri="{FF2B5EF4-FFF2-40B4-BE49-F238E27FC236}">
                <a16:creationId xmlns:a16="http://schemas.microsoft.com/office/drawing/2014/main" id="{BA50CA68-7EE1-D120-398F-57D9072D38A8}"/>
              </a:ext>
            </a:extLst>
          </p:cNvPr>
          <p:cNvSpPr/>
          <p:nvPr/>
        </p:nvSpPr>
        <p:spPr>
          <a:xfrm>
            <a:off x="4445621" y="4336678"/>
            <a:ext cx="1735544" cy="34682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redondeado 9">
            <a:extLst>
              <a:ext uri="{FF2B5EF4-FFF2-40B4-BE49-F238E27FC236}">
                <a16:creationId xmlns:a16="http://schemas.microsoft.com/office/drawing/2014/main" id="{13C83B4F-6E7A-C4AA-803D-987905E74974}"/>
              </a:ext>
            </a:extLst>
          </p:cNvPr>
          <p:cNvSpPr/>
          <p:nvPr/>
        </p:nvSpPr>
        <p:spPr>
          <a:xfrm>
            <a:off x="6296789" y="4357226"/>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2</a:t>
            </a:r>
          </a:p>
        </p:txBody>
      </p:sp>
      <p:sp>
        <p:nvSpPr>
          <p:cNvPr id="13" name="Rectángulo redondeado 5">
            <a:extLst>
              <a:ext uri="{FF2B5EF4-FFF2-40B4-BE49-F238E27FC236}">
                <a16:creationId xmlns:a16="http://schemas.microsoft.com/office/drawing/2014/main" id="{C0600387-A097-7D2E-C930-4F2104BFA33B}"/>
              </a:ext>
            </a:extLst>
          </p:cNvPr>
          <p:cNvSpPr/>
          <p:nvPr/>
        </p:nvSpPr>
        <p:spPr>
          <a:xfrm>
            <a:off x="6875389" y="4007084"/>
            <a:ext cx="3877776" cy="186031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De acuerdo con las reglas definidas la solicitud de grado web se debe desplegar a los estudiantes que están con estatus de resultados AP, por esta razón este es el código que se debe ingresar en este campo. </a:t>
            </a:r>
          </a:p>
          <a:p>
            <a:pPr algn="ctr"/>
            <a:endParaRPr lang="es-ES_tradnl" sz="1400" dirty="0"/>
          </a:p>
          <a:p>
            <a:pPr algn="ctr"/>
            <a:r>
              <a:rPr lang="es-ES_tradnl" sz="1400" dirty="0"/>
              <a:t>Se debe crear una regla por cada nivel académico</a:t>
            </a:r>
          </a:p>
        </p:txBody>
      </p:sp>
    </p:spTree>
    <p:extLst>
      <p:ext uri="{BB962C8B-B14F-4D97-AF65-F5344CB8AC3E}">
        <p14:creationId xmlns:p14="http://schemas.microsoft.com/office/powerpoint/2010/main" val="2028510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F8A6E-D033-46B9-DECE-42929F9B108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834CCEE-B417-8945-BB65-392050928880}"/>
              </a:ext>
            </a:extLst>
          </p:cNvPr>
          <p:cNvPicPr>
            <a:picLocks noChangeAspect="1"/>
          </p:cNvPicPr>
          <p:nvPr/>
        </p:nvPicPr>
        <p:blipFill>
          <a:blip r:embed="rId2"/>
          <a:stretch>
            <a:fillRect/>
          </a:stretch>
        </p:blipFill>
        <p:spPr>
          <a:xfrm>
            <a:off x="749267" y="1076325"/>
            <a:ext cx="11042684" cy="5035042"/>
          </a:xfrm>
          <a:prstGeom prst="rect">
            <a:avLst/>
          </a:prstGeom>
        </p:spPr>
      </p:pic>
      <p:sp>
        <p:nvSpPr>
          <p:cNvPr id="3" name="Marcador de texto vertical 2">
            <a:extLst>
              <a:ext uri="{FF2B5EF4-FFF2-40B4-BE49-F238E27FC236}">
                <a16:creationId xmlns:a16="http://schemas.microsoft.com/office/drawing/2014/main" id="{D7105EF4-A36E-DFC2-98C8-2CB08F3EC4C3}"/>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3F185310-894A-9271-23FD-3366431F0C27}"/>
              </a:ext>
            </a:extLst>
          </p:cNvPr>
          <p:cNvSpPr>
            <a:spLocks noGrp="1"/>
          </p:cNvSpPr>
          <p:nvPr>
            <p:ph type="title"/>
          </p:nvPr>
        </p:nvSpPr>
        <p:spPr>
          <a:xfrm>
            <a:off x="765906" y="248928"/>
            <a:ext cx="10271883" cy="626165"/>
          </a:xfrm>
        </p:spPr>
        <p:txBody>
          <a:bodyPr/>
          <a:lstStyle/>
          <a:p>
            <a:r>
              <a:rPr lang="es-CO" b="0" dirty="0">
                <a:solidFill>
                  <a:schemeClr val="accent1"/>
                </a:solidFill>
              </a:rPr>
              <a:t>Reglas de elegibilidad de solicitud de graduación (SHAGELR)</a:t>
            </a:r>
            <a:endParaRPr lang="es-CL" dirty="0">
              <a:solidFill>
                <a:schemeClr val="accent1"/>
              </a:solidFill>
            </a:endParaRPr>
          </a:p>
        </p:txBody>
      </p:sp>
      <p:sp>
        <p:nvSpPr>
          <p:cNvPr id="21" name="Rectángulo 20">
            <a:extLst>
              <a:ext uri="{FF2B5EF4-FFF2-40B4-BE49-F238E27FC236}">
                <a16:creationId xmlns:a16="http://schemas.microsoft.com/office/drawing/2014/main" id="{906677D6-F336-015F-8103-99FC78B13B31}"/>
              </a:ext>
            </a:extLst>
          </p:cNvPr>
          <p:cNvSpPr/>
          <p:nvPr/>
        </p:nvSpPr>
        <p:spPr>
          <a:xfrm>
            <a:off x="1155573" y="2979086"/>
            <a:ext cx="1735544" cy="34682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3" name="Rectángulo redondeado 9">
            <a:extLst>
              <a:ext uri="{FF2B5EF4-FFF2-40B4-BE49-F238E27FC236}">
                <a16:creationId xmlns:a16="http://schemas.microsoft.com/office/drawing/2014/main" id="{3211E1CD-3C46-497D-EB2C-A4B6E73D8403}"/>
              </a:ext>
            </a:extLst>
          </p:cNvPr>
          <p:cNvSpPr/>
          <p:nvPr/>
        </p:nvSpPr>
        <p:spPr>
          <a:xfrm>
            <a:off x="2924455" y="3043147"/>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3</a:t>
            </a:r>
          </a:p>
        </p:txBody>
      </p:sp>
      <p:sp>
        <p:nvSpPr>
          <p:cNvPr id="25" name="Rectángulo redondeado 5">
            <a:extLst>
              <a:ext uri="{FF2B5EF4-FFF2-40B4-BE49-F238E27FC236}">
                <a16:creationId xmlns:a16="http://schemas.microsoft.com/office/drawing/2014/main" id="{B5A837D5-912E-CDAA-F11C-E6C8D16603A5}"/>
              </a:ext>
            </a:extLst>
          </p:cNvPr>
          <p:cNvSpPr/>
          <p:nvPr/>
        </p:nvSpPr>
        <p:spPr>
          <a:xfrm>
            <a:off x="3536467" y="2585707"/>
            <a:ext cx="4226408" cy="150051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O" sz="1400" dirty="0"/>
              <a:t>Es posible agregar campos adicionales a la regla cuando sea necesario. Por ejemplo, además de las condiciones ya definidas, se puede incluir el programa académico como criterio, de manera que la regla solo se aplique o se despliegue para el programa específico que se indique</a:t>
            </a:r>
            <a:endParaRPr lang="es-ES_tradnl" sz="1400" dirty="0"/>
          </a:p>
        </p:txBody>
      </p:sp>
      <p:sp>
        <p:nvSpPr>
          <p:cNvPr id="27" name="Rectángulo redondeado 9">
            <a:extLst>
              <a:ext uri="{FF2B5EF4-FFF2-40B4-BE49-F238E27FC236}">
                <a16:creationId xmlns:a16="http://schemas.microsoft.com/office/drawing/2014/main" id="{092F661C-C169-D86F-6268-2A65AB3E1FC7}"/>
              </a:ext>
            </a:extLst>
          </p:cNvPr>
          <p:cNvSpPr/>
          <p:nvPr/>
        </p:nvSpPr>
        <p:spPr>
          <a:xfrm>
            <a:off x="10899010" y="5886241"/>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4</a:t>
            </a:r>
          </a:p>
        </p:txBody>
      </p:sp>
      <p:sp>
        <p:nvSpPr>
          <p:cNvPr id="29" name="Rectángulo 28">
            <a:extLst>
              <a:ext uri="{FF2B5EF4-FFF2-40B4-BE49-F238E27FC236}">
                <a16:creationId xmlns:a16="http://schemas.microsoft.com/office/drawing/2014/main" id="{3DBBD7D8-A8A1-F849-E05E-34A495E362AD}"/>
              </a:ext>
            </a:extLst>
          </p:cNvPr>
          <p:cNvSpPr/>
          <p:nvPr/>
        </p:nvSpPr>
        <p:spPr>
          <a:xfrm>
            <a:off x="11259431" y="5862380"/>
            <a:ext cx="532520" cy="26642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1" name="Rectángulo redondeado 5">
            <a:extLst>
              <a:ext uri="{FF2B5EF4-FFF2-40B4-BE49-F238E27FC236}">
                <a16:creationId xmlns:a16="http://schemas.microsoft.com/office/drawing/2014/main" id="{BD81BD62-40FB-5F94-E451-B8247D083D36}"/>
              </a:ext>
            </a:extLst>
          </p:cNvPr>
          <p:cNvSpPr/>
          <p:nvPr/>
        </p:nvSpPr>
        <p:spPr>
          <a:xfrm>
            <a:off x="9591939" y="5744577"/>
            <a:ext cx="1237238" cy="50202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guarda el registro</a:t>
            </a:r>
          </a:p>
        </p:txBody>
      </p:sp>
    </p:spTree>
    <p:extLst>
      <p:ext uri="{BB962C8B-B14F-4D97-AF65-F5344CB8AC3E}">
        <p14:creationId xmlns:p14="http://schemas.microsoft.com/office/powerpoint/2010/main" val="37025867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303B8-38E2-3110-6A56-07CC2F27EA83}"/>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937E015E-FF72-5555-507B-CB6E4E356379}"/>
              </a:ext>
            </a:extLst>
          </p:cNvPr>
          <p:cNvSpPr>
            <a:spLocks noGrp="1"/>
          </p:cNvSpPr>
          <p:nvPr>
            <p:ph type="body" orient="vert" sz="quarter" idx="10"/>
          </p:nvPr>
        </p:nvSpPr>
        <p:spPr/>
        <p:txBody>
          <a:bodyPr/>
          <a:lstStyle/>
          <a:p>
            <a:r>
              <a:rPr lang="es-419" sz="1200" dirty="0"/>
              <a:t>Gestionar el otorgamiento y registro de grado</a:t>
            </a:r>
            <a:endParaRPr lang="en-US" dirty="0"/>
          </a:p>
        </p:txBody>
      </p:sp>
      <p:sp>
        <p:nvSpPr>
          <p:cNvPr id="16" name="Title 15">
            <a:extLst>
              <a:ext uri="{FF2B5EF4-FFF2-40B4-BE49-F238E27FC236}">
                <a16:creationId xmlns:a16="http://schemas.microsoft.com/office/drawing/2014/main" id="{65FD7F13-DCBA-CCDA-7658-9B60EA23BACF}"/>
              </a:ext>
            </a:extLst>
          </p:cNvPr>
          <p:cNvSpPr>
            <a:spLocks noGrp="1"/>
          </p:cNvSpPr>
          <p:nvPr>
            <p:ph type="title"/>
          </p:nvPr>
        </p:nvSpPr>
        <p:spPr>
          <a:xfrm>
            <a:off x="1104900" y="1800808"/>
            <a:ext cx="9337548" cy="1628192"/>
          </a:xfrm>
        </p:spPr>
        <p:txBody>
          <a:bodyPr/>
          <a:lstStyle/>
          <a:p>
            <a:r>
              <a:rPr lang="es-419" dirty="0"/>
              <a:t>Autoservicio: Solicitud de grado</a:t>
            </a:r>
            <a:endParaRPr lang="en-US" dirty="0"/>
          </a:p>
        </p:txBody>
      </p:sp>
    </p:spTree>
    <p:extLst>
      <p:ext uri="{BB962C8B-B14F-4D97-AF65-F5344CB8AC3E}">
        <p14:creationId xmlns:p14="http://schemas.microsoft.com/office/powerpoint/2010/main" val="339384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CF0E137-F221-DDD6-3D4C-59C8D9FC4B3C}"/>
              </a:ext>
            </a:extLst>
          </p:cNvPr>
          <p:cNvPicPr>
            <a:picLocks noChangeAspect="1"/>
          </p:cNvPicPr>
          <p:nvPr/>
        </p:nvPicPr>
        <p:blipFill>
          <a:blip r:embed="rId2"/>
          <a:stretch>
            <a:fillRect/>
          </a:stretch>
        </p:blipFill>
        <p:spPr>
          <a:xfrm>
            <a:off x="962647" y="1152669"/>
            <a:ext cx="10698961" cy="522493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br>
              <a:rPr lang="es-CL" dirty="0">
                <a:solidFill>
                  <a:schemeClr val="tx2"/>
                </a:solidFill>
              </a:rPr>
            </a:br>
            <a:endParaRPr lang="es-CL" dirty="0">
              <a:solidFill>
                <a:schemeClr val="tx2"/>
              </a:solidFill>
            </a:endParaRPr>
          </a:p>
        </p:txBody>
      </p:sp>
      <p:sp>
        <p:nvSpPr>
          <p:cNvPr id="6" name="Título 3">
            <a:extLst>
              <a:ext uri="{FF2B5EF4-FFF2-40B4-BE49-F238E27FC236}">
                <a16:creationId xmlns:a16="http://schemas.microsoft.com/office/drawing/2014/main" id="{90BE0BF5-1AB9-29FC-E385-F7406CC2D4B0}"/>
              </a:ext>
            </a:extLst>
          </p:cNvPr>
          <p:cNvSpPr txBox="1">
            <a:spLocks/>
          </p:cNvSpPr>
          <p:nvPr/>
        </p:nvSpPr>
        <p:spPr>
          <a:xfrm>
            <a:off x="962647" y="480392"/>
            <a:ext cx="10271883" cy="62616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Autoservicio</a:t>
            </a:r>
            <a:br>
              <a:rPr lang="es-CL" dirty="0">
                <a:solidFill>
                  <a:schemeClr val="accent1"/>
                </a:solidFill>
              </a:rPr>
            </a:br>
            <a:endParaRPr lang="es-CL" dirty="0">
              <a:solidFill>
                <a:schemeClr val="accent1"/>
              </a:solidFill>
            </a:endParaRPr>
          </a:p>
        </p:txBody>
      </p:sp>
      <p:sp>
        <p:nvSpPr>
          <p:cNvPr id="9" name="Rectángulo redondeado 5">
            <a:extLst>
              <a:ext uri="{FF2B5EF4-FFF2-40B4-BE49-F238E27FC236}">
                <a16:creationId xmlns:a16="http://schemas.microsoft.com/office/drawing/2014/main" id="{A3F01052-B319-D534-FA6C-C0CC23C4C488}"/>
              </a:ext>
            </a:extLst>
          </p:cNvPr>
          <p:cNvSpPr/>
          <p:nvPr/>
        </p:nvSpPr>
        <p:spPr>
          <a:xfrm>
            <a:off x="1245256" y="1825931"/>
            <a:ext cx="10133742" cy="127922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La institución puede crear tarjetas (</a:t>
            </a:r>
            <a:r>
              <a:rPr lang="es-CO" sz="1200" dirty="0" err="1"/>
              <a:t>cards</a:t>
            </a:r>
            <a:r>
              <a:rPr lang="es-CO" sz="1200" dirty="0"/>
              <a:t>) para cada proceso, donde el estudiante podrá encontrar las diferentes opciones disponibles. El nombre de cada tarjeta puede ser definido por la institución; sin embargo, el enlace asociado dependerá de las funcionalidades disponibles en Ellucian Student Self-Service o de los enlaces propios que la universidad decida incorporar.</a:t>
            </a:r>
            <a:endParaRPr lang="es-419" sz="1200" dirty="0"/>
          </a:p>
        </p:txBody>
      </p:sp>
      <p:sp>
        <p:nvSpPr>
          <p:cNvPr id="10" name="Rectángulo redondeado 5">
            <a:extLst>
              <a:ext uri="{FF2B5EF4-FFF2-40B4-BE49-F238E27FC236}">
                <a16:creationId xmlns:a16="http://schemas.microsoft.com/office/drawing/2014/main" id="{FE80E673-6F48-D650-68E2-829FD1570E6C}"/>
              </a:ext>
            </a:extLst>
          </p:cNvPr>
          <p:cNvSpPr/>
          <p:nvPr/>
        </p:nvSpPr>
        <p:spPr>
          <a:xfrm>
            <a:off x="6648449" y="5029055"/>
            <a:ext cx="3916213" cy="67627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La opción ‘Solicitar derechos ceremonia’ está direccionando a Solicitud de graduación</a:t>
            </a:r>
            <a:endParaRPr lang="es-419" sz="1200" dirty="0"/>
          </a:p>
        </p:txBody>
      </p:sp>
      <p:sp>
        <p:nvSpPr>
          <p:cNvPr id="12" name="Rectángulo 11">
            <a:extLst>
              <a:ext uri="{FF2B5EF4-FFF2-40B4-BE49-F238E27FC236}">
                <a16:creationId xmlns:a16="http://schemas.microsoft.com/office/drawing/2014/main" id="{2B6C2882-85E5-D111-7FD1-A555FFD72151}"/>
              </a:ext>
            </a:extLst>
          </p:cNvPr>
          <p:cNvSpPr/>
          <p:nvPr/>
        </p:nvSpPr>
        <p:spPr>
          <a:xfrm>
            <a:off x="3852828" y="5429250"/>
            <a:ext cx="1957422" cy="27608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281778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6887B-FFD9-34D5-8852-2B2B68427817}"/>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529B6A4F-0FC0-4160-A8D2-2398A91536EA}"/>
              </a:ext>
            </a:extLst>
          </p:cNvPr>
          <p:cNvPicPr>
            <a:picLocks noChangeAspect="1"/>
          </p:cNvPicPr>
          <p:nvPr/>
        </p:nvPicPr>
        <p:blipFill>
          <a:blip r:embed="rId2"/>
          <a:stretch>
            <a:fillRect/>
          </a:stretch>
        </p:blipFill>
        <p:spPr>
          <a:xfrm>
            <a:off x="810247" y="1258957"/>
            <a:ext cx="11084374" cy="3894349"/>
          </a:xfrm>
          <a:prstGeom prst="rect">
            <a:avLst/>
          </a:prstGeom>
        </p:spPr>
      </p:pic>
      <p:sp>
        <p:nvSpPr>
          <p:cNvPr id="3" name="Marcador de texto vertical 2">
            <a:extLst>
              <a:ext uri="{FF2B5EF4-FFF2-40B4-BE49-F238E27FC236}">
                <a16:creationId xmlns:a16="http://schemas.microsoft.com/office/drawing/2014/main" id="{7759566D-7956-4869-B69A-03982EA4DF9B}"/>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5D0F4A6C-3B9C-BAB2-5D6E-BC133A07E148}"/>
              </a:ext>
            </a:extLst>
          </p:cNvPr>
          <p:cNvSpPr>
            <a:spLocks noGrp="1"/>
          </p:cNvSpPr>
          <p:nvPr>
            <p:ph type="title"/>
          </p:nvPr>
        </p:nvSpPr>
        <p:spPr>
          <a:xfrm>
            <a:off x="810247" y="327992"/>
            <a:ext cx="10271883" cy="626165"/>
          </a:xfrm>
        </p:spPr>
        <p:txBody>
          <a:bodyPr/>
          <a:lstStyle/>
          <a:p>
            <a:br>
              <a:rPr lang="es-CL" dirty="0">
                <a:solidFill>
                  <a:schemeClr val="tx2"/>
                </a:solidFill>
              </a:rPr>
            </a:br>
            <a:endParaRPr lang="es-CL" dirty="0">
              <a:solidFill>
                <a:schemeClr val="tx2"/>
              </a:solidFill>
            </a:endParaRPr>
          </a:p>
        </p:txBody>
      </p:sp>
      <p:sp>
        <p:nvSpPr>
          <p:cNvPr id="6" name="Título 3">
            <a:extLst>
              <a:ext uri="{FF2B5EF4-FFF2-40B4-BE49-F238E27FC236}">
                <a16:creationId xmlns:a16="http://schemas.microsoft.com/office/drawing/2014/main" id="{1F18EEB3-9292-8A40-5C4A-04E14941D32E}"/>
              </a:ext>
            </a:extLst>
          </p:cNvPr>
          <p:cNvSpPr txBox="1">
            <a:spLocks/>
          </p:cNvSpPr>
          <p:nvPr/>
        </p:nvSpPr>
        <p:spPr>
          <a:xfrm>
            <a:off x="962647" y="480392"/>
            <a:ext cx="10271883" cy="62616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Autoservicio</a:t>
            </a:r>
            <a:br>
              <a:rPr lang="es-CL" dirty="0">
                <a:solidFill>
                  <a:schemeClr val="accent1"/>
                </a:solidFill>
              </a:rPr>
            </a:br>
            <a:endParaRPr lang="es-CL" dirty="0">
              <a:solidFill>
                <a:schemeClr val="accent1"/>
              </a:solidFill>
            </a:endParaRPr>
          </a:p>
        </p:txBody>
      </p:sp>
      <p:sp>
        <p:nvSpPr>
          <p:cNvPr id="10" name="Rectángulo redondeado 5">
            <a:extLst>
              <a:ext uri="{FF2B5EF4-FFF2-40B4-BE49-F238E27FC236}">
                <a16:creationId xmlns:a16="http://schemas.microsoft.com/office/drawing/2014/main" id="{4517D20C-198C-E1DC-DAD4-B339C3C5E5A4}"/>
              </a:ext>
            </a:extLst>
          </p:cNvPr>
          <p:cNvSpPr/>
          <p:nvPr/>
        </p:nvSpPr>
        <p:spPr>
          <a:xfrm>
            <a:off x="4084632" y="3276600"/>
            <a:ext cx="7149898" cy="104775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El estudiante debe seleccionar un periodo dónde se le generará el cargo en la cuenta del estudiante. Se sugiere que escoja el mayor periodo académico. Los periodos que se visualizarán, dependen de la configuración realizada en SHACTRL</a:t>
            </a:r>
            <a:endParaRPr lang="es-419" sz="1200" dirty="0"/>
          </a:p>
        </p:txBody>
      </p:sp>
    </p:spTree>
    <p:extLst>
      <p:ext uri="{BB962C8B-B14F-4D97-AF65-F5344CB8AC3E}">
        <p14:creationId xmlns:p14="http://schemas.microsoft.com/office/powerpoint/2010/main" val="1483831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946CE-F102-DE27-CC15-ABCC5C064813}"/>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66ED831C-88D6-3ACE-30A3-2FAD693E8A7B}"/>
              </a:ext>
            </a:extLst>
          </p:cNvPr>
          <p:cNvPicPr>
            <a:picLocks noChangeAspect="1"/>
          </p:cNvPicPr>
          <p:nvPr/>
        </p:nvPicPr>
        <p:blipFill>
          <a:blip r:embed="rId2"/>
          <a:stretch>
            <a:fillRect/>
          </a:stretch>
        </p:blipFill>
        <p:spPr>
          <a:xfrm>
            <a:off x="728662" y="1106557"/>
            <a:ext cx="10601325" cy="4547470"/>
          </a:xfrm>
          <a:prstGeom prst="rect">
            <a:avLst/>
          </a:prstGeom>
        </p:spPr>
      </p:pic>
      <p:sp>
        <p:nvSpPr>
          <p:cNvPr id="3" name="Marcador de texto vertical 2">
            <a:extLst>
              <a:ext uri="{FF2B5EF4-FFF2-40B4-BE49-F238E27FC236}">
                <a16:creationId xmlns:a16="http://schemas.microsoft.com/office/drawing/2014/main" id="{B0279D34-7F5F-7191-FA8A-01F3A1AFD438}"/>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5D933AC8-DD0B-8EDD-E44E-58D97E1E9D62}"/>
              </a:ext>
            </a:extLst>
          </p:cNvPr>
          <p:cNvSpPr>
            <a:spLocks noGrp="1"/>
          </p:cNvSpPr>
          <p:nvPr>
            <p:ph type="title"/>
          </p:nvPr>
        </p:nvSpPr>
        <p:spPr>
          <a:xfrm>
            <a:off x="810247" y="327992"/>
            <a:ext cx="10271883" cy="626165"/>
          </a:xfrm>
        </p:spPr>
        <p:txBody>
          <a:bodyPr/>
          <a:lstStyle/>
          <a:p>
            <a:br>
              <a:rPr lang="es-CL" dirty="0">
                <a:solidFill>
                  <a:schemeClr val="tx2"/>
                </a:solidFill>
              </a:rPr>
            </a:br>
            <a:endParaRPr lang="es-CL" dirty="0">
              <a:solidFill>
                <a:schemeClr val="tx2"/>
              </a:solidFill>
            </a:endParaRPr>
          </a:p>
        </p:txBody>
      </p:sp>
      <p:sp>
        <p:nvSpPr>
          <p:cNvPr id="6" name="Título 3">
            <a:extLst>
              <a:ext uri="{FF2B5EF4-FFF2-40B4-BE49-F238E27FC236}">
                <a16:creationId xmlns:a16="http://schemas.microsoft.com/office/drawing/2014/main" id="{0C801A57-052B-B6F4-DC99-0753F3DB0F97}"/>
              </a:ext>
            </a:extLst>
          </p:cNvPr>
          <p:cNvSpPr txBox="1">
            <a:spLocks/>
          </p:cNvSpPr>
          <p:nvPr/>
        </p:nvSpPr>
        <p:spPr>
          <a:xfrm>
            <a:off x="962647" y="480392"/>
            <a:ext cx="10271883" cy="62616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Autoservicio</a:t>
            </a:r>
            <a:br>
              <a:rPr lang="es-CL" dirty="0">
                <a:solidFill>
                  <a:schemeClr val="accent1"/>
                </a:solidFill>
              </a:rPr>
            </a:br>
            <a:endParaRPr lang="es-CL" dirty="0">
              <a:solidFill>
                <a:schemeClr val="accent1"/>
              </a:solidFill>
            </a:endParaRPr>
          </a:p>
        </p:txBody>
      </p:sp>
      <p:sp>
        <p:nvSpPr>
          <p:cNvPr id="10" name="Rectángulo redondeado 5">
            <a:extLst>
              <a:ext uri="{FF2B5EF4-FFF2-40B4-BE49-F238E27FC236}">
                <a16:creationId xmlns:a16="http://schemas.microsoft.com/office/drawing/2014/main" id="{05D31B54-586E-AFD4-8180-5674AF421546}"/>
              </a:ext>
            </a:extLst>
          </p:cNvPr>
          <p:cNvSpPr/>
          <p:nvPr/>
        </p:nvSpPr>
        <p:spPr>
          <a:xfrm>
            <a:off x="4084632" y="3276600"/>
            <a:ext cx="7149898" cy="104775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AutoNum type="arabicPeriod"/>
            </a:pPr>
            <a:r>
              <a:rPr lang="es-CO" sz="1200" dirty="0"/>
              <a:t>Se debe seleccionar el programa, el programa que se visualizará será el que cumple las condiciones indicadas en ‘Reglas de elegibilidad de solicitud de graduación (SHAGELR)’</a:t>
            </a:r>
          </a:p>
          <a:p>
            <a:pPr marL="228600" indent="-228600">
              <a:buAutoNum type="arabicPeriod"/>
            </a:pPr>
            <a:r>
              <a:rPr lang="es-CO" sz="1200" dirty="0"/>
              <a:t>Seleccione CONTINUAR</a:t>
            </a:r>
            <a:endParaRPr lang="es-419" sz="1200" dirty="0"/>
          </a:p>
        </p:txBody>
      </p:sp>
      <p:sp>
        <p:nvSpPr>
          <p:cNvPr id="8" name="Rectángulo 7">
            <a:extLst>
              <a:ext uri="{FF2B5EF4-FFF2-40B4-BE49-F238E27FC236}">
                <a16:creationId xmlns:a16="http://schemas.microsoft.com/office/drawing/2014/main" id="{3B02E636-B82F-7D69-C5AA-B21FBCDF35F0}"/>
              </a:ext>
            </a:extLst>
          </p:cNvPr>
          <p:cNvSpPr/>
          <p:nvPr/>
        </p:nvSpPr>
        <p:spPr>
          <a:xfrm>
            <a:off x="973927" y="3662434"/>
            <a:ext cx="1957422" cy="27608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4A7CF9F4-5C1D-9974-39BC-856B51B770BA}"/>
              </a:ext>
            </a:extLst>
          </p:cNvPr>
          <p:cNvSpPr/>
          <p:nvPr/>
        </p:nvSpPr>
        <p:spPr>
          <a:xfrm>
            <a:off x="728662" y="5024509"/>
            <a:ext cx="1957422" cy="27608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6" name="Rectángulo redondeado 9">
            <a:extLst>
              <a:ext uri="{FF2B5EF4-FFF2-40B4-BE49-F238E27FC236}">
                <a16:creationId xmlns:a16="http://schemas.microsoft.com/office/drawing/2014/main" id="{3017DD2D-6ACD-D54D-345F-61610CF5D3B2}"/>
              </a:ext>
            </a:extLst>
          </p:cNvPr>
          <p:cNvSpPr/>
          <p:nvPr/>
        </p:nvSpPr>
        <p:spPr>
          <a:xfrm>
            <a:off x="2718975" y="5081893"/>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2</a:t>
            </a:r>
          </a:p>
        </p:txBody>
      </p:sp>
      <p:sp>
        <p:nvSpPr>
          <p:cNvPr id="18" name="Rectángulo redondeado 9">
            <a:extLst>
              <a:ext uri="{FF2B5EF4-FFF2-40B4-BE49-F238E27FC236}">
                <a16:creationId xmlns:a16="http://schemas.microsoft.com/office/drawing/2014/main" id="{5477BD24-20DC-D662-65A6-E78CFDF2B31D}"/>
              </a:ext>
            </a:extLst>
          </p:cNvPr>
          <p:cNvSpPr/>
          <p:nvPr/>
        </p:nvSpPr>
        <p:spPr>
          <a:xfrm>
            <a:off x="2877738" y="3716225"/>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38289942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96DE2-43A5-EB67-0578-6261E40A066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68C8C04B-E5E4-C584-6E42-DC9CF4F669E9}"/>
              </a:ext>
            </a:extLst>
          </p:cNvPr>
          <p:cNvPicPr>
            <a:picLocks noChangeAspect="1"/>
          </p:cNvPicPr>
          <p:nvPr/>
        </p:nvPicPr>
        <p:blipFill>
          <a:blip r:embed="rId2"/>
          <a:stretch>
            <a:fillRect/>
          </a:stretch>
        </p:blipFill>
        <p:spPr>
          <a:xfrm>
            <a:off x="836543" y="1282841"/>
            <a:ext cx="10772775" cy="4475729"/>
          </a:xfrm>
          <a:prstGeom prst="rect">
            <a:avLst/>
          </a:prstGeom>
        </p:spPr>
      </p:pic>
      <p:sp>
        <p:nvSpPr>
          <p:cNvPr id="3" name="Marcador de texto vertical 2">
            <a:extLst>
              <a:ext uri="{FF2B5EF4-FFF2-40B4-BE49-F238E27FC236}">
                <a16:creationId xmlns:a16="http://schemas.microsoft.com/office/drawing/2014/main" id="{6CF53FF2-F129-17EC-E8B8-073FD0F0531D}"/>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EA3B0252-9C33-911D-F246-77405DE9A5A5}"/>
              </a:ext>
            </a:extLst>
          </p:cNvPr>
          <p:cNvSpPr>
            <a:spLocks noGrp="1"/>
          </p:cNvSpPr>
          <p:nvPr>
            <p:ph type="title"/>
          </p:nvPr>
        </p:nvSpPr>
        <p:spPr>
          <a:xfrm>
            <a:off x="810247" y="327992"/>
            <a:ext cx="10271883" cy="626165"/>
          </a:xfrm>
        </p:spPr>
        <p:txBody>
          <a:bodyPr/>
          <a:lstStyle/>
          <a:p>
            <a:br>
              <a:rPr lang="es-CL" dirty="0">
                <a:solidFill>
                  <a:schemeClr val="tx2"/>
                </a:solidFill>
              </a:rPr>
            </a:br>
            <a:endParaRPr lang="es-CL" dirty="0">
              <a:solidFill>
                <a:schemeClr val="tx2"/>
              </a:solidFill>
            </a:endParaRPr>
          </a:p>
        </p:txBody>
      </p:sp>
      <p:sp>
        <p:nvSpPr>
          <p:cNvPr id="6" name="Título 3">
            <a:extLst>
              <a:ext uri="{FF2B5EF4-FFF2-40B4-BE49-F238E27FC236}">
                <a16:creationId xmlns:a16="http://schemas.microsoft.com/office/drawing/2014/main" id="{00A9F1A5-0055-31F3-26BE-015E8E27C29E}"/>
              </a:ext>
            </a:extLst>
          </p:cNvPr>
          <p:cNvSpPr txBox="1">
            <a:spLocks/>
          </p:cNvSpPr>
          <p:nvPr/>
        </p:nvSpPr>
        <p:spPr>
          <a:xfrm>
            <a:off x="962647" y="480392"/>
            <a:ext cx="10271883" cy="62616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Autoservicio</a:t>
            </a:r>
            <a:br>
              <a:rPr lang="es-CL" dirty="0">
                <a:solidFill>
                  <a:schemeClr val="accent1"/>
                </a:solidFill>
              </a:rPr>
            </a:br>
            <a:endParaRPr lang="es-CL" dirty="0">
              <a:solidFill>
                <a:schemeClr val="accent1"/>
              </a:solidFill>
            </a:endParaRPr>
          </a:p>
        </p:txBody>
      </p:sp>
      <p:sp>
        <p:nvSpPr>
          <p:cNvPr id="10" name="Rectángulo redondeado 5">
            <a:extLst>
              <a:ext uri="{FF2B5EF4-FFF2-40B4-BE49-F238E27FC236}">
                <a16:creationId xmlns:a16="http://schemas.microsoft.com/office/drawing/2014/main" id="{2F84B74B-8A6D-169B-6190-FD74133F00CE}"/>
              </a:ext>
            </a:extLst>
          </p:cNvPr>
          <p:cNvSpPr/>
          <p:nvPr/>
        </p:nvSpPr>
        <p:spPr>
          <a:xfrm>
            <a:off x="4084632" y="3276600"/>
            <a:ext cx="7149898" cy="104775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3. Seleccione la fecha  de graduación. Depende de la configuración realizada en ‘Reglas para el despliegue de solicitud de graduación en autoservicio (SHAGADR)’</a:t>
            </a:r>
          </a:p>
          <a:p>
            <a:r>
              <a:rPr lang="es-CO" sz="1200" dirty="0"/>
              <a:t>4. Indique si va a asistir a la ceremonia</a:t>
            </a:r>
          </a:p>
          <a:p>
            <a:r>
              <a:rPr lang="es-CO" sz="1200" dirty="0"/>
              <a:t>5. Seleccione CONTINUAR</a:t>
            </a:r>
            <a:endParaRPr lang="es-419" sz="1200" dirty="0"/>
          </a:p>
        </p:txBody>
      </p:sp>
      <p:sp>
        <p:nvSpPr>
          <p:cNvPr id="8" name="Rectángulo 7">
            <a:extLst>
              <a:ext uri="{FF2B5EF4-FFF2-40B4-BE49-F238E27FC236}">
                <a16:creationId xmlns:a16="http://schemas.microsoft.com/office/drawing/2014/main" id="{9BF8B293-516E-03B6-5521-9F69937B9248}"/>
              </a:ext>
            </a:extLst>
          </p:cNvPr>
          <p:cNvSpPr/>
          <p:nvPr/>
        </p:nvSpPr>
        <p:spPr>
          <a:xfrm>
            <a:off x="957469" y="3707797"/>
            <a:ext cx="2671555" cy="34985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1B60E063-F3AC-9572-C611-2564113C7250}"/>
              </a:ext>
            </a:extLst>
          </p:cNvPr>
          <p:cNvSpPr/>
          <p:nvPr/>
        </p:nvSpPr>
        <p:spPr>
          <a:xfrm>
            <a:off x="941763" y="4141434"/>
            <a:ext cx="1957422" cy="78299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6" name="Rectángulo redondeado 9">
            <a:extLst>
              <a:ext uri="{FF2B5EF4-FFF2-40B4-BE49-F238E27FC236}">
                <a16:creationId xmlns:a16="http://schemas.microsoft.com/office/drawing/2014/main" id="{D8C66BED-AF35-0E19-AE8B-60708258DF70}"/>
              </a:ext>
            </a:extLst>
          </p:cNvPr>
          <p:cNvSpPr/>
          <p:nvPr/>
        </p:nvSpPr>
        <p:spPr>
          <a:xfrm>
            <a:off x="2824194" y="447132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4</a:t>
            </a:r>
          </a:p>
        </p:txBody>
      </p:sp>
      <p:sp>
        <p:nvSpPr>
          <p:cNvPr id="18" name="Rectángulo redondeado 9">
            <a:extLst>
              <a:ext uri="{FF2B5EF4-FFF2-40B4-BE49-F238E27FC236}">
                <a16:creationId xmlns:a16="http://schemas.microsoft.com/office/drawing/2014/main" id="{555178EF-973E-BFD3-14B7-32C638864B3B}"/>
              </a:ext>
            </a:extLst>
          </p:cNvPr>
          <p:cNvSpPr/>
          <p:nvPr/>
        </p:nvSpPr>
        <p:spPr>
          <a:xfrm>
            <a:off x="3596035" y="3773374"/>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3</a:t>
            </a:r>
          </a:p>
        </p:txBody>
      </p:sp>
      <p:sp>
        <p:nvSpPr>
          <p:cNvPr id="9" name="Rectángulo 8">
            <a:extLst>
              <a:ext uri="{FF2B5EF4-FFF2-40B4-BE49-F238E27FC236}">
                <a16:creationId xmlns:a16="http://schemas.microsoft.com/office/drawing/2014/main" id="{1E12FB86-F515-10D9-D327-EF23E341ECC2}"/>
              </a:ext>
            </a:extLst>
          </p:cNvPr>
          <p:cNvSpPr/>
          <p:nvPr/>
        </p:nvSpPr>
        <p:spPr>
          <a:xfrm>
            <a:off x="2419350" y="5100709"/>
            <a:ext cx="1665282" cy="34985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9">
            <a:extLst>
              <a:ext uri="{FF2B5EF4-FFF2-40B4-BE49-F238E27FC236}">
                <a16:creationId xmlns:a16="http://schemas.microsoft.com/office/drawing/2014/main" id="{6503685B-F2FF-F467-44C5-6032E162FB0F}"/>
              </a:ext>
            </a:extLst>
          </p:cNvPr>
          <p:cNvSpPr/>
          <p:nvPr/>
        </p:nvSpPr>
        <p:spPr>
          <a:xfrm>
            <a:off x="4084632" y="514871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40119590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96913-E974-FE54-6600-A3624C49F3B5}"/>
            </a:ext>
          </a:extLst>
        </p:cNvPr>
        <p:cNvGrpSpPr/>
        <p:nvPr/>
      </p:nvGrpSpPr>
      <p:grpSpPr>
        <a:xfrm>
          <a:off x="0" y="0"/>
          <a:ext cx="0" cy="0"/>
          <a:chOff x="0" y="0"/>
          <a:chExt cx="0" cy="0"/>
        </a:xfrm>
      </p:grpSpPr>
      <p:pic>
        <p:nvPicPr>
          <p:cNvPr id="20" name="Imagen 19">
            <a:extLst>
              <a:ext uri="{FF2B5EF4-FFF2-40B4-BE49-F238E27FC236}">
                <a16:creationId xmlns:a16="http://schemas.microsoft.com/office/drawing/2014/main" id="{87EE7096-48AF-DC48-84EB-8B5C26DA55CA}"/>
              </a:ext>
            </a:extLst>
          </p:cNvPr>
          <p:cNvPicPr>
            <a:picLocks noChangeAspect="1"/>
          </p:cNvPicPr>
          <p:nvPr/>
        </p:nvPicPr>
        <p:blipFill>
          <a:blip r:embed="rId2"/>
          <a:stretch>
            <a:fillRect/>
          </a:stretch>
        </p:blipFill>
        <p:spPr>
          <a:xfrm>
            <a:off x="723900" y="1757291"/>
            <a:ext cx="11068049" cy="3510034"/>
          </a:xfrm>
          <a:prstGeom prst="rect">
            <a:avLst/>
          </a:prstGeom>
        </p:spPr>
      </p:pic>
      <p:sp>
        <p:nvSpPr>
          <p:cNvPr id="3" name="Marcador de texto vertical 2">
            <a:extLst>
              <a:ext uri="{FF2B5EF4-FFF2-40B4-BE49-F238E27FC236}">
                <a16:creationId xmlns:a16="http://schemas.microsoft.com/office/drawing/2014/main" id="{E258990F-67C0-A6E0-8E5B-B614A6152756}"/>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90CB4502-5233-507C-D9ED-457772F27D9B}"/>
              </a:ext>
            </a:extLst>
          </p:cNvPr>
          <p:cNvSpPr>
            <a:spLocks noGrp="1"/>
          </p:cNvSpPr>
          <p:nvPr>
            <p:ph type="title"/>
          </p:nvPr>
        </p:nvSpPr>
        <p:spPr>
          <a:xfrm>
            <a:off x="810247" y="327992"/>
            <a:ext cx="10271883" cy="626165"/>
          </a:xfrm>
        </p:spPr>
        <p:txBody>
          <a:bodyPr/>
          <a:lstStyle/>
          <a:p>
            <a:br>
              <a:rPr lang="es-CL" dirty="0">
                <a:solidFill>
                  <a:schemeClr val="tx2"/>
                </a:solidFill>
              </a:rPr>
            </a:br>
            <a:endParaRPr lang="es-CL" dirty="0">
              <a:solidFill>
                <a:schemeClr val="tx2"/>
              </a:solidFill>
            </a:endParaRPr>
          </a:p>
        </p:txBody>
      </p:sp>
      <p:sp>
        <p:nvSpPr>
          <p:cNvPr id="6" name="Título 3">
            <a:extLst>
              <a:ext uri="{FF2B5EF4-FFF2-40B4-BE49-F238E27FC236}">
                <a16:creationId xmlns:a16="http://schemas.microsoft.com/office/drawing/2014/main" id="{891C6834-0DE1-6C84-391C-E187B2370857}"/>
              </a:ext>
            </a:extLst>
          </p:cNvPr>
          <p:cNvSpPr txBox="1">
            <a:spLocks/>
          </p:cNvSpPr>
          <p:nvPr/>
        </p:nvSpPr>
        <p:spPr>
          <a:xfrm>
            <a:off x="962647" y="480392"/>
            <a:ext cx="10271883" cy="62616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Autoservicio</a:t>
            </a:r>
            <a:br>
              <a:rPr lang="es-CL" dirty="0">
                <a:solidFill>
                  <a:schemeClr val="accent1"/>
                </a:solidFill>
              </a:rPr>
            </a:br>
            <a:endParaRPr lang="es-CL" dirty="0">
              <a:solidFill>
                <a:schemeClr val="accent1"/>
              </a:solidFill>
            </a:endParaRPr>
          </a:p>
        </p:txBody>
      </p:sp>
      <p:sp>
        <p:nvSpPr>
          <p:cNvPr id="10" name="Rectángulo redondeado 5">
            <a:extLst>
              <a:ext uri="{FF2B5EF4-FFF2-40B4-BE49-F238E27FC236}">
                <a16:creationId xmlns:a16="http://schemas.microsoft.com/office/drawing/2014/main" id="{64004E8A-D904-DB4E-8984-DF650D39202E}"/>
              </a:ext>
            </a:extLst>
          </p:cNvPr>
          <p:cNvSpPr/>
          <p:nvPr/>
        </p:nvSpPr>
        <p:spPr>
          <a:xfrm>
            <a:off x="4560493" y="3764947"/>
            <a:ext cx="7149898" cy="104775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6. Mostrará grado que tiene configurado el programa, mostrará el grado de BACHILLER para el caso de pregrado</a:t>
            </a:r>
          </a:p>
          <a:p>
            <a:r>
              <a:rPr lang="es-CO" sz="1200" dirty="0"/>
              <a:t>7. Seleccione CONTINUAR</a:t>
            </a:r>
            <a:endParaRPr lang="es-419" sz="1200" dirty="0"/>
          </a:p>
        </p:txBody>
      </p:sp>
      <p:sp>
        <p:nvSpPr>
          <p:cNvPr id="8" name="Rectángulo 7">
            <a:extLst>
              <a:ext uri="{FF2B5EF4-FFF2-40B4-BE49-F238E27FC236}">
                <a16:creationId xmlns:a16="http://schemas.microsoft.com/office/drawing/2014/main" id="{E14E9DF0-AA79-0FCE-9018-61E7865F6AB4}"/>
              </a:ext>
            </a:extLst>
          </p:cNvPr>
          <p:cNvSpPr/>
          <p:nvPr/>
        </p:nvSpPr>
        <p:spPr>
          <a:xfrm>
            <a:off x="776146" y="3552825"/>
            <a:ext cx="1957529" cy="23084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redondeado 9">
            <a:extLst>
              <a:ext uri="{FF2B5EF4-FFF2-40B4-BE49-F238E27FC236}">
                <a16:creationId xmlns:a16="http://schemas.microsoft.com/office/drawing/2014/main" id="{29645B09-9BE9-70DC-4762-42D93B4F6561}"/>
              </a:ext>
            </a:extLst>
          </p:cNvPr>
          <p:cNvSpPr/>
          <p:nvPr/>
        </p:nvSpPr>
        <p:spPr>
          <a:xfrm>
            <a:off x="2785921" y="3552825"/>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8</a:t>
            </a:r>
          </a:p>
        </p:txBody>
      </p:sp>
      <p:sp>
        <p:nvSpPr>
          <p:cNvPr id="9" name="Rectángulo 8">
            <a:extLst>
              <a:ext uri="{FF2B5EF4-FFF2-40B4-BE49-F238E27FC236}">
                <a16:creationId xmlns:a16="http://schemas.microsoft.com/office/drawing/2014/main" id="{FF88B012-DA8A-7556-20FD-D3BA6A8583FC}"/>
              </a:ext>
            </a:extLst>
          </p:cNvPr>
          <p:cNvSpPr/>
          <p:nvPr/>
        </p:nvSpPr>
        <p:spPr>
          <a:xfrm>
            <a:off x="2385216" y="4143376"/>
            <a:ext cx="1472409" cy="37604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9">
            <a:extLst>
              <a:ext uri="{FF2B5EF4-FFF2-40B4-BE49-F238E27FC236}">
                <a16:creationId xmlns:a16="http://schemas.microsoft.com/office/drawing/2014/main" id="{6504EB6D-AE7A-B0F3-DE99-FD787075D069}"/>
              </a:ext>
            </a:extLst>
          </p:cNvPr>
          <p:cNvSpPr/>
          <p:nvPr/>
        </p:nvSpPr>
        <p:spPr>
          <a:xfrm>
            <a:off x="3883078" y="4191001"/>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9</a:t>
            </a:r>
          </a:p>
        </p:txBody>
      </p:sp>
    </p:spTree>
    <p:extLst>
      <p:ext uri="{BB962C8B-B14F-4D97-AF65-F5344CB8AC3E}">
        <p14:creationId xmlns:p14="http://schemas.microsoft.com/office/powerpoint/2010/main" val="33194064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F87FD-4876-126C-05F4-99C986C6A7DB}"/>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1D0DADA-DF92-792E-FC90-4C483B8D24EF}"/>
              </a:ext>
            </a:extLst>
          </p:cNvPr>
          <p:cNvPicPr>
            <a:picLocks noChangeAspect="1"/>
          </p:cNvPicPr>
          <p:nvPr/>
        </p:nvPicPr>
        <p:blipFill>
          <a:blip r:embed="rId2"/>
          <a:stretch>
            <a:fillRect/>
          </a:stretch>
        </p:blipFill>
        <p:spPr>
          <a:xfrm>
            <a:off x="609601" y="1258957"/>
            <a:ext cx="11315321" cy="3944129"/>
          </a:xfrm>
          <a:prstGeom prst="rect">
            <a:avLst/>
          </a:prstGeom>
        </p:spPr>
      </p:pic>
      <p:sp>
        <p:nvSpPr>
          <p:cNvPr id="3" name="Marcador de texto vertical 2">
            <a:extLst>
              <a:ext uri="{FF2B5EF4-FFF2-40B4-BE49-F238E27FC236}">
                <a16:creationId xmlns:a16="http://schemas.microsoft.com/office/drawing/2014/main" id="{A67E9965-2006-8F10-E5E8-62C65B7488EF}"/>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25F3036F-185E-C6A8-EDBB-BD8E990019B0}"/>
              </a:ext>
            </a:extLst>
          </p:cNvPr>
          <p:cNvSpPr>
            <a:spLocks noGrp="1"/>
          </p:cNvSpPr>
          <p:nvPr>
            <p:ph type="title"/>
          </p:nvPr>
        </p:nvSpPr>
        <p:spPr>
          <a:xfrm>
            <a:off x="810247" y="327992"/>
            <a:ext cx="10271883" cy="626165"/>
          </a:xfrm>
        </p:spPr>
        <p:txBody>
          <a:bodyPr/>
          <a:lstStyle/>
          <a:p>
            <a:br>
              <a:rPr lang="es-CL" dirty="0">
                <a:solidFill>
                  <a:schemeClr val="tx2"/>
                </a:solidFill>
              </a:rPr>
            </a:br>
            <a:endParaRPr lang="es-CL" dirty="0">
              <a:solidFill>
                <a:schemeClr val="tx2"/>
              </a:solidFill>
            </a:endParaRPr>
          </a:p>
        </p:txBody>
      </p:sp>
      <p:sp>
        <p:nvSpPr>
          <p:cNvPr id="6" name="Título 3">
            <a:extLst>
              <a:ext uri="{FF2B5EF4-FFF2-40B4-BE49-F238E27FC236}">
                <a16:creationId xmlns:a16="http://schemas.microsoft.com/office/drawing/2014/main" id="{2ABD18C9-A516-4FE7-F07C-F704D585DF42}"/>
              </a:ext>
            </a:extLst>
          </p:cNvPr>
          <p:cNvSpPr txBox="1">
            <a:spLocks/>
          </p:cNvSpPr>
          <p:nvPr/>
        </p:nvSpPr>
        <p:spPr>
          <a:xfrm>
            <a:off x="962647" y="480392"/>
            <a:ext cx="10271883" cy="62616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Autoservicio</a:t>
            </a:r>
            <a:br>
              <a:rPr lang="es-CL" dirty="0">
                <a:solidFill>
                  <a:schemeClr val="accent1"/>
                </a:solidFill>
              </a:rPr>
            </a:br>
            <a:endParaRPr lang="es-CL" dirty="0">
              <a:solidFill>
                <a:schemeClr val="accent1"/>
              </a:solidFill>
            </a:endParaRPr>
          </a:p>
        </p:txBody>
      </p:sp>
      <p:sp>
        <p:nvSpPr>
          <p:cNvPr id="10" name="Rectángulo redondeado 5">
            <a:extLst>
              <a:ext uri="{FF2B5EF4-FFF2-40B4-BE49-F238E27FC236}">
                <a16:creationId xmlns:a16="http://schemas.microsoft.com/office/drawing/2014/main" id="{87388EF9-E7E4-DAB3-AEE0-05CECCAFFA11}"/>
              </a:ext>
            </a:extLst>
          </p:cNvPr>
          <p:cNvSpPr/>
          <p:nvPr/>
        </p:nvSpPr>
        <p:spPr>
          <a:xfrm>
            <a:off x="4560493" y="3764947"/>
            <a:ext cx="7149898" cy="104775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AutoNum type="arabicPeriod" startAt="10"/>
            </a:pPr>
            <a:r>
              <a:rPr lang="es-CO" sz="1200" dirty="0"/>
              <a:t>El estudiante debe seleccionar el valor</a:t>
            </a:r>
          </a:p>
          <a:p>
            <a:r>
              <a:rPr lang="es-CO" sz="1200" dirty="0"/>
              <a:t>11. Seleccione CONTINUAR</a:t>
            </a:r>
            <a:endParaRPr lang="es-419" sz="1200" dirty="0"/>
          </a:p>
        </p:txBody>
      </p:sp>
      <p:sp>
        <p:nvSpPr>
          <p:cNvPr id="8" name="Rectángulo 7">
            <a:extLst>
              <a:ext uri="{FF2B5EF4-FFF2-40B4-BE49-F238E27FC236}">
                <a16:creationId xmlns:a16="http://schemas.microsoft.com/office/drawing/2014/main" id="{0D263506-E795-D454-7C96-C0B9B7647F51}"/>
              </a:ext>
            </a:extLst>
          </p:cNvPr>
          <p:cNvSpPr/>
          <p:nvPr/>
        </p:nvSpPr>
        <p:spPr>
          <a:xfrm>
            <a:off x="828392" y="3809034"/>
            <a:ext cx="3629308" cy="37604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redondeado 9">
            <a:extLst>
              <a:ext uri="{FF2B5EF4-FFF2-40B4-BE49-F238E27FC236}">
                <a16:creationId xmlns:a16="http://schemas.microsoft.com/office/drawing/2014/main" id="{D9B426BF-B9CF-99E3-9A78-C7358AF9E0C5}"/>
              </a:ext>
            </a:extLst>
          </p:cNvPr>
          <p:cNvSpPr/>
          <p:nvPr/>
        </p:nvSpPr>
        <p:spPr>
          <a:xfrm>
            <a:off x="489685" y="3843786"/>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10</a:t>
            </a:r>
          </a:p>
        </p:txBody>
      </p:sp>
      <p:sp>
        <p:nvSpPr>
          <p:cNvPr id="9" name="Rectángulo 8">
            <a:extLst>
              <a:ext uri="{FF2B5EF4-FFF2-40B4-BE49-F238E27FC236}">
                <a16:creationId xmlns:a16="http://schemas.microsoft.com/office/drawing/2014/main" id="{DFEFDDC3-1965-15D4-5FB7-EFE1A6933BAD}"/>
              </a:ext>
            </a:extLst>
          </p:cNvPr>
          <p:cNvSpPr/>
          <p:nvPr/>
        </p:nvSpPr>
        <p:spPr>
          <a:xfrm>
            <a:off x="2252172" y="4344679"/>
            <a:ext cx="1472409" cy="37604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9">
            <a:extLst>
              <a:ext uri="{FF2B5EF4-FFF2-40B4-BE49-F238E27FC236}">
                <a16:creationId xmlns:a16="http://schemas.microsoft.com/office/drawing/2014/main" id="{68E47B9F-953D-EF3F-01A5-5143C0A4D0E9}"/>
              </a:ext>
            </a:extLst>
          </p:cNvPr>
          <p:cNvSpPr/>
          <p:nvPr/>
        </p:nvSpPr>
        <p:spPr>
          <a:xfrm>
            <a:off x="3724581" y="4450940"/>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dirty="0"/>
              <a:t>11</a:t>
            </a:r>
          </a:p>
        </p:txBody>
      </p:sp>
    </p:spTree>
    <p:extLst>
      <p:ext uri="{BB962C8B-B14F-4D97-AF65-F5344CB8AC3E}">
        <p14:creationId xmlns:p14="http://schemas.microsoft.com/office/powerpoint/2010/main" val="28790163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54E9B-67F8-3109-982B-A476D74A407A}"/>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64C1914F-DE55-67AD-6721-5C8853C610BF}"/>
              </a:ext>
            </a:extLst>
          </p:cNvPr>
          <p:cNvPicPr>
            <a:picLocks noChangeAspect="1"/>
          </p:cNvPicPr>
          <p:nvPr/>
        </p:nvPicPr>
        <p:blipFill>
          <a:blip r:embed="rId2"/>
          <a:stretch>
            <a:fillRect/>
          </a:stretch>
        </p:blipFill>
        <p:spPr>
          <a:xfrm>
            <a:off x="669895" y="1258957"/>
            <a:ext cx="11456345" cy="4295372"/>
          </a:xfrm>
          <a:prstGeom prst="rect">
            <a:avLst/>
          </a:prstGeom>
        </p:spPr>
      </p:pic>
      <p:sp>
        <p:nvSpPr>
          <p:cNvPr id="3" name="Marcador de texto vertical 2">
            <a:extLst>
              <a:ext uri="{FF2B5EF4-FFF2-40B4-BE49-F238E27FC236}">
                <a16:creationId xmlns:a16="http://schemas.microsoft.com/office/drawing/2014/main" id="{8AB88165-5C5F-B94F-2EF8-4A862D0F7594}"/>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E5AA98F1-8610-E5E8-7D8B-96608A87D85F}"/>
              </a:ext>
            </a:extLst>
          </p:cNvPr>
          <p:cNvSpPr>
            <a:spLocks noGrp="1"/>
          </p:cNvSpPr>
          <p:nvPr>
            <p:ph type="title"/>
          </p:nvPr>
        </p:nvSpPr>
        <p:spPr>
          <a:xfrm>
            <a:off x="810247" y="327992"/>
            <a:ext cx="10271883" cy="626165"/>
          </a:xfrm>
        </p:spPr>
        <p:txBody>
          <a:bodyPr/>
          <a:lstStyle/>
          <a:p>
            <a:br>
              <a:rPr lang="es-CL" dirty="0">
                <a:solidFill>
                  <a:schemeClr val="tx2"/>
                </a:solidFill>
              </a:rPr>
            </a:br>
            <a:endParaRPr lang="es-CL" dirty="0">
              <a:solidFill>
                <a:schemeClr val="tx2"/>
              </a:solidFill>
            </a:endParaRPr>
          </a:p>
        </p:txBody>
      </p:sp>
      <p:sp>
        <p:nvSpPr>
          <p:cNvPr id="6" name="Título 3">
            <a:extLst>
              <a:ext uri="{FF2B5EF4-FFF2-40B4-BE49-F238E27FC236}">
                <a16:creationId xmlns:a16="http://schemas.microsoft.com/office/drawing/2014/main" id="{05A5DCDE-B252-9E8A-B70B-0EE3883B6DC1}"/>
              </a:ext>
            </a:extLst>
          </p:cNvPr>
          <p:cNvSpPr txBox="1">
            <a:spLocks/>
          </p:cNvSpPr>
          <p:nvPr/>
        </p:nvSpPr>
        <p:spPr>
          <a:xfrm>
            <a:off x="962647" y="480392"/>
            <a:ext cx="10271883" cy="62616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Autoservicio</a:t>
            </a:r>
            <a:br>
              <a:rPr lang="es-CL" dirty="0">
                <a:solidFill>
                  <a:schemeClr val="accent1"/>
                </a:solidFill>
              </a:rPr>
            </a:br>
            <a:endParaRPr lang="es-CL" dirty="0">
              <a:solidFill>
                <a:schemeClr val="accent1"/>
              </a:solidFill>
            </a:endParaRPr>
          </a:p>
        </p:txBody>
      </p:sp>
      <p:sp>
        <p:nvSpPr>
          <p:cNvPr id="10" name="Rectángulo redondeado 5">
            <a:extLst>
              <a:ext uri="{FF2B5EF4-FFF2-40B4-BE49-F238E27FC236}">
                <a16:creationId xmlns:a16="http://schemas.microsoft.com/office/drawing/2014/main" id="{635557A1-E3EB-B28C-304A-DCB1056D11F3}"/>
              </a:ext>
            </a:extLst>
          </p:cNvPr>
          <p:cNvSpPr/>
          <p:nvPr/>
        </p:nvSpPr>
        <p:spPr>
          <a:xfrm>
            <a:off x="5048249" y="4181475"/>
            <a:ext cx="6662141" cy="6312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Muestra un resumen de la solicitud de graduación. Se debe seleccionar ‘Enviar Solicitud’</a:t>
            </a:r>
          </a:p>
        </p:txBody>
      </p:sp>
    </p:spTree>
    <p:extLst>
      <p:ext uri="{BB962C8B-B14F-4D97-AF65-F5344CB8AC3E}">
        <p14:creationId xmlns:p14="http://schemas.microsoft.com/office/powerpoint/2010/main" val="34464619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9FB54-2CD6-860C-4D74-448944BDC7D3}"/>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E32D5C62-FFB9-4FB7-09D7-B498FEBE7B6B}"/>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26ECC209-8052-4BA5-9E18-8D04165A5052}"/>
              </a:ext>
            </a:extLst>
          </p:cNvPr>
          <p:cNvSpPr>
            <a:spLocks noGrp="1"/>
          </p:cNvSpPr>
          <p:nvPr>
            <p:ph type="title"/>
          </p:nvPr>
        </p:nvSpPr>
        <p:spPr>
          <a:xfrm>
            <a:off x="810247" y="327992"/>
            <a:ext cx="10271883" cy="626165"/>
          </a:xfrm>
        </p:spPr>
        <p:txBody>
          <a:bodyPr/>
          <a:lstStyle/>
          <a:p>
            <a:br>
              <a:rPr lang="es-CL" dirty="0">
                <a:solidFill>
                  <a:schemeClr val="tx2"/>
                </a:solidFill>
              </a:rPr>
            </a:br>
            <a:endParaRPr lang="es-CL" dirty="0">
              <a:solidFill>
                <a:schemeClr val="tx2"/>
              </a:solidFill>
            </a:endParaRPr>
          </a:p>
        </p:txBody>
      </p:sp>
      <p:sp>
        <p:nvSpPr>
          <p:cNvPr id="6" name="Título 3">
            <a:extLst>
              <a:ext uri="{FF2B5EF4-FFF2-40B4-BE49-F238E27FC236}">
                <a16:creationId xmlns:a16="http://schemas.microsoft.com/office/drawing/2014/main" id="{7D9DEB78-4636-F405-8989-5E9961FCC335}"/>
              </a:ext>
            </a:extLst>
          </p:cNvPr>
          <p:cNvSpPr txBox="1">
            <a:spLocks/>
          </p:cNvSpPr>
          <p:nvPr/>
        </p:nvSpPr>
        <p:spPr>
          <a:xfrm>
            <a:off x="962647" y="480392"/>
            <a:ext cx="10271883" cy="62616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Autoservicio</a:t>
            </a:r>
            <a:br>
              <a:rPr lang="es-CL" dirty="0">
                <a:solidFill>
                  <a:schemeClr val="accent1"/>
                </a:solidFill>
              </a:rPr>
            </a:br>
            <a:endParaRPr lang="es-CL" dirty="0">
              <a:solidFill>
                <a:schemeClr val="accent1"/>
              </a:solidFill>
            </a:endParaRPr>
          </a:p>
        </p:txBody>
      </p:sp>
      <p:sp>
        <p:nvSpPr>
          <p:cNvPr id="10" name="Rectángulo redondeado 5">
            <a:extLst>
              <a:ext uri="{FF2B5EF4-FFF2-40B4-BE49-F238E27FC236}">
                <a16:creationId xmlns:a16="http://schemas.microsoft.com/office/drawing/2014/main" id="{1FB7D65D-3002-CE7F-7AF3-6B5655448E39}"/>
              </a:ext>
            </a:extLst>
          </p:cNvPr>
          <p:cNvSpPr/>
          <p:nvPr/>
        </p:nvSpPr>
        <p:spPr>
          <a:xfrm>
            <a:off x="3143249" y="3865864"/>
            <a:ext cx="6662141" cy="6312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Muestra un resumen de la solicitud de graduación. Se debe seleccionar ‘Enviar Solicitud’</a:t>
            </a:r>
          </a:p>
        </p:txBody>
      </p:sp>
      <p:pic>
        <p:nvPicPr>
          <p:cNvPr id="5" name="Imagen 4">
            <a:extLst>
              <a:ext uri="{FF2B5EF4-FFF2-40B4-BE49-F238E27FC236}">
                <a16:creationId xmlns:a16="http://schemas.microsoft.com/office/drawing/2014/main" id="{3F690C32-3EB9-D9E9-19A7-FAEC5E3B6967}"/>
              </a:ext>
            </a:extLst>
          </p:cNvPr>
          <p:cNvPicPr>
            <a:picLocks noChangeAspect="1"/>
          </p:cNvPicPr>
          <p:nvPr/>
        </p:nvPicPr>
        <p:blipFill>
          <a:blip r:embed="rId2"/>
          <a:stretch>
            <a:fillRect/>
          </a:stretch>
        </p:blipFill>
        <p:spPr>
          <a:xfrm>
            <a:off x="1042780" y="1928735"/>
            <a:ext cx="10191750" cy="1430562"/>
          </a:xfrm>
          <a:prstGeom prst="rect">
            <a:avLst/>
          </a:prstGeom>
        </p:spPr>
      </p:pic>
    </p:spTree>
    <p:extLst>
      <p:ext uri="{BB962C8B-B14F-4D97-AF65-F5344CB8AC3E}">
        <p14:creationId xmlns:p14="http://schemas.microsoft.com/office/powerpoint/2010/main" val="29240094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E5FBC-3DAA-47DB-B3A7-0904AA70F91D}"/>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ACF34DAB-E34B-7D7B-7774-4AE0901D62DD}"/>
              </a:ext>
            </a:extLst>
          </p:cNvPr>
          <p:cNvSpPr>
            <a:spLocks noGrp="1"/>
          </p:cNvSpPr>
          <p:nvPr>
            <p:ph type="body" orient="vert" sz="quarter" idx="10"/>
          </p:nvPr>
        </p:nvSpPr>
        <p:spPr/>
        <p:txBody>
          <a:bodyPr/>
          <a:lstStyle/>
          <a:p>
            <a:r>
              <a:rPr lang="es-419" sz="1200" dirty="0"/>
              <a:t>Gestionar el otorgamiento y registro de grado</a:t>
            </a:r>
            <a:endParaRPr lang="en-US" dirty="0"/>
          </a:p>
        </p:txBody>
      </p:sp>
      <p:sp>
        <p:nvSpPr>
          <p:cNvPr id="16" name="Title 15">
            <a:extLst>
              <a:ext uri="{FF2B5EF4-FFF2-40B4-BE49-F238E27FC236}">
                <a16:creationId xmlns:a16="http://schemas.microsoft.com/office/drawing/2014/main" id="{3A06EEA2-44B3-E725-79FB-B2458EAAA05F}"/>
              </a:ext>
            </a:extLst>
          </p:cNvPr>
          <p:cNvSpPr>
            <a:spLocks noGrp="1"/>
          </p:cNvSpPr>
          <p:nvPr>
            <p:ph type="title"/>
          </p:nvPr>
        </p:nvSpPr>
        <p:spPr>
          <a:xfrm>
            <a:off x="1104900" y="1800808"/>
            <a:ext cx="9337548" cy="1628192"/>
          </a:xfrm>
        </p:spPr>
        <p:txBody>
          <a:bodyPr/>
          <a:lstStyle/>
          <a:p>
            <a:r>
              <a:rPr lang="es-419" dirty="0"/>
              <a:t>Administración de la Solicitud de Graduación</a:t>
            </a:r>
            <a:endParaRPr lang="en-US" dirty="0"/>
          </a:p>
        </p:txBody>
      </p:sp>
    </p:spTree>
    <p:extLst>
      <p:ext uri="{BB962C8B-B14F-4D97-AF65-F5344CB8AC3E}">
        <p14:creationId xmlns:p14="http://schemas.microsoft.com/office/powerpoint/2010/main" val="1202891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039F-BB13-191F-6878-1968278189C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938596C-C27A-5254-A550-4D9222C2B380}"/>
              </a:ext>
            </a:extLst>
          </p:cNvPr>
          <p:cNvPicPr>
            <a:picLocks noChangeAspect="1"/>
          </p:cNvPicPr>
          <p:nvPr/>
        </p:nvPicPr>
        <p:blipFill>
          <a:blip r:embed="rId2"/>
          <a:stretch>
            <a:fillRect/>
          </a:stretch>
        </p:blipFill>
        <p:spPr>
          <a:xfrm>
            <a:off x="1109870" y="927218"/>
            <a:ext cx="10830644" cy="4793521"/>
          </a:xfrm>
          <a:prstGeom prst="rect">
            <a:avLst/>
          </a:prstGeom>
        </p:spPr>
      </p:pic>
      <p:sp>
        <p:nvSpPr>
          <p:cNvPr id="3" name="Marcador de texto vertical 2">
            <a:extLst>
              <a:ext uri="{FF2B5EF4-FFF2-40B4-BE49-F238E27FC236}">
                <a16:creationId xmlns:a16="http://schemas.microsoft.com/office/drawing/2014/main" id="{BDED9480-DF72-55C9-D0D8-7141797AFF49}"/>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D2FD8C0C-4A3D-F078-AD6C-A99E4039C78A}"/>
              </a:ext>
            </a:extLst>
          </p:cNvPr>
          <p:cNvSpPr>
            <a:spLocks noGrp="1"/>
          </p:cNvSpPr>
          <p:nvPr>
            <p:ph type="title"/>
          </p:nvPr>
        </p:nvSpPr>
        <p:spPr>
          <a:xfrm>
            <a:off x="810247" y="327992"/>
            <a:ext cx="10271883" cy="626165"/>
          </a:xfrm>
        </p:spPr>
        <p:txBody>
          <a:bodyPr/>
          <a:lstStyle/>
          <a:p>
            <a:br>
              <a:rPr lang="es-CL" dirty="0">
                <a:solidFill>
                  <a:schemeClr val="tx2"/>
                </a:solidFill>
              </a:rPr>
            </a:br>
            <a:endParaRPr lang="es-CL" dirty="0">
              <a:solidFill>
                <a:schemeClr val="tx2"/>
              </a:solidFill>
            </a:endParaRPr>
          </a:p>
        </p:txBody>
      </p:sp>
      <p:sp>
        <p:nvSpPr>
          <p:cNvPr id="6" name="Título 3">
            <a:extLst>
              <a:ext uri="{FF2B5EF4-FFF2-40B4-BE49-F238E27FC236}">
                <a16:creationId xmlns:a16="http://schemas.microsoft.com/office/drawing/2014/main" id="{1A9D8B27-6268-1681-918A-1642EC2B6513}"/>
              </a:ext>
            </a:extLst>
          </p:cNvPr>
          <p:cNvSpPr txBox="1">
            <a:spLocks/>
          </p:cNvSpPr>
          <p:nvPr/>
        </p:nvSpPr>
        <p:spPr>
          <a:xfrm>
            <a:off x="962647" y="480392"/>
            <a:ext cx="10271883" cy="62616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Solicitud de graduación SHAGAPP</a:t>
            </a:r>
            <a:br>
              <a:rPr lang="es-CL" dirty="0">
                <a:solidFill>
                  <a:schemeClr val="accent1"/>
                </a:solidFill>
              </a:rPr>
            </a:br>
            <a:endParaRPr lang="es-CL" dirty="0">
              <a:solidFill>
                <a:schemeClr val="accent1"/>
              </a:solidFill>
            </a:endParaRPr>
          </a:p>
        </p:txBody>
      </p:sp>
      <p:sp>
        <p:nvSpPr>
          <p:cNvPr id="9" name="Rectángulo redondeado 5">
            <a:extLst>
              <a:ext uri="{FF2B5EF4-FFF2-40B4-BE49-F238E27FC236}">
                <a16:creationId xmlns:a16="http://schemas.microsoft.com/office/drawing/2014/main" id="{37C7B005-2350-885F-017C-79F0269E7FD6}"/>
              </a:ext>
            </a:extLst>
          </p:cNvPr>
          <p:cNvSpPr/>
          <p:nvPr/>
        </p:nvSpPr>
        <p:spPr>
          <a:xfrm>
            <a:off x="4117262" y="2619375"/>
            <a:ext cx="7112091" cy="140920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esta página se observa toda la información ingresada por el estudiante en el autoservicio</a:t>
            </a:r>
          </a:p>
          <a:p>
            <a:endParaRPr lang="es-ES_tradnl" sz="1200" dirty="0"/>
          </a:p>
          <a:p>
            <a:r>
              <a:rPr lang="es-ES_tradnl" sz="1200" dirty="0"/>
              <a:t>Se puede actualizar el estatus de la solicitud, esto se hace manualmente estudiante por estudiante</a:t>
            </a:r>
          </a:p>
          <a:p>
            <a:endParaRPr lang="es-419" sz="1200" dirty="0"/>
          </a:p>
        </p:txBody>
      </p:sp>
      <p:sp>
        <p:nvSpPr>
          <p:cNvPr id="10" name="Rectángulo 9">
            <a:extLst>
              <a:ext uri="{FF2B5EF4-FFF2-40B4-BE49-F238E27FC236}">
                <a16:creationId xmlns:a16="http://schemas.microsoft.com/office/drawing/2014/main" id="{783C66C3-4BD7-63F4-9404-DDAA307BF555}"/>
              </a:ext>
            </a:extLst>
          </p:cNvPr>
          <p:cNvSpPr/>
          <p:nvPr/>
        </p:nvSpPr>
        <p:spPr>
          <a:xfrm>
            <a:off x="1141157" y="2431351"/>
            <a:ext cx="2106868" cy="27374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5142207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8481A-DB67-0DB4-7DB8-EB7B03879745}"/>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79B59F2E-12AF-D3D1-3335-E1D8843C8712}"/>
              </a:ext>
            </a:extLst>
          </p:cNvPr>
          <p:cNvSpPr>
            <a:spLocks noGrp="1"/>
          </p:cNvSpPr>
          <p:nvPr>
            <p:ph type="body" orient="vert" sz="quarter" idx="10"/>
          </p:nvPr>
        </p:nvSpPr>
        <p:spPr/>
        <p:txBody>
          <a:bodyPr/>
          <a:lstStyle/>
          <a:p>
            <a:r>
              <a:rPr lang="es-419" sz="1200" dirty="0"/>
              <a:t>Gestionar el otorgamiento y registro de grado</a:t>
            </a:r>
            <a:endParaRPr lang="en-US" dirty="0"/>
          </a:p>
        </p:txBody>
      </p:sp>
      <p:sp>
        <p:nvSpPr>
          <p:cNvPr id="16" name="Title 15">
            <a:extLst>
              <a:ext uri="{FF2B5EF4-FFF2-40B4-BE49-F238E27FC236}">
                <a16:creationId xmlns:a16="http://schemas.microsoft.com/office/drawing/2014/main" id="{C2191E22-1409-7AA0-ED2B-E06CD82EE666}"/>
              </a:ext>
            </a:extLst>
          </p:cNvPr>
          <p:cNvSpPr>
            <a:spLocks noGrp="1"/>
          </p:cNvSpPr>
          <p:nvPr>
            <p:ph type="title"/>
          </p:nvPr>
        </p:nvSpPr>
        <p:spPr>
          <a:xfrm>
            <a:off x="1104900" y="1800808"/>
            <a:ext cx="9337548" cy="1628192"/>
          </a:xfrm>
        </p:spPr>
        <p:txBody>
          <a:bodyPr/>
          <a:lstStyle/>
          <a:p>
            <a:r>
              <a:rPr lang="es-419" dirty="0"/>
              <a:t>Registro en el Estado de cuenta</a:t>
            </a:r>
            <a:endParaRPr lang="en-US" dirty="0"/>
          </a:p>
        </p:txBody>
      </p:sp>
    </p:spTree>
    <p:extLst>
      <p:ext uri="{BB962C8B-B14F-4D97-AF65-F5344CB8AC3E}">
        <p14:creationId xmlns:p14="http://schemas.microsoft.com/office/powerpoint/2010/main" val="6486963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6D2D1-07FA-A1B3-49C7-387EC8978D43}"/>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A42339E4-9EB3-9B67-A1B3-C112B957BBA4}"/>
              </a:ext>
            </a:extLst>
          </p:cNvPr>
          <p:cNvPicPr>
            <a:picLocks noChangeAspect="1"/>
          </p:cNvPicPr>
          <p:nvPr/>
        </p:nvPicPr>
        <p:blipFill>
          <a:blip r:embed="rId2"/>
          <a:stretch>
            <a:fillRect/>
          </a:stretch>
        </p:blipFill>
        <p:spPr>
          <a:xfrm>
            <a:off x="1047749" y="1258957"/>
            <a:ext cx="10753725" cy="4746433"/>
          </a:xfrm>
          <a:prstGeom prst="rect">
            <a:avLst/>
          </a:prstGeom>
        </p:spPr>
      </p:pic>
      <p:sp>
        <p:nvSpPr>
          <p:cNvPr id="3" name="Marcador de texto vertical 2">
            <a:extLst>
              <a:ext uri="{FF2B5EF4-FFF2-40B4-BE49-F238E27FC236}">
                <a16:creationId xmlns:a16="http://schemas.microsoft.com/office/drawing/2014/main" id="{58E206BC-8ECA-9205-40CF-C5E22DB4073D}"/>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AFC98D98-7E59-1CCA-2C29-2A190ACA74A1}"/>
              </a:ext>
            </a:extLst>
          </p:cNvPr>
          <p:cNvSpPr>
            <a:spLocks noGrp="1"/>
          </p:cNvSpPr>
          <p:nvPr>
            <p:ph type="title"/>
          </p:nvPr>
        </p:nvSpPr>
        <p:spPr>
          <a:xfrm>
            <a:off x="810247" y="327992"/>
            <a:ext cx="10271883" cy="626165"/>
          </a:xfrm>
        </p:spPr>
        <p:txBody>
          <a:bodyPr/>
          <a:lstStyle/>
          <a:p>
            <a:br>
              <a:rPr lang="es-CL" dirty="0">
                <a:solidFill>
                  <a:schemeClr val="tx2"/>
                </a:solidFill>
              </a:rPr>
            </a:br>
            <a:endParaRPr lang="es-CL" dirty="0">
              <a:solidFill>
                <a:schemeClr val="tx2"/>
              </a:solidFill>
            </a:endParaRPr>
          </a:p>
        </p:txBody>
      </p:sp>
      <p:sp>
        <p:nvSpPr>
          <p:cNvPr id="6" name="Título 3">
            <a:extLst>
              <a:ext uri="{FF2B5EF4-FFF2-40B4-BE49-F238E27FC236}">
                <a16:creationId xmlns:a16="http://schemas.microsoft.com/office/drawing/2014/main" id="{EF88AC4A-9FB2-3AB8-23D9-A7343A0BEC5A}"/>
              </a:ext>
            </a:extLst>
          </p:cNvPr>
          <p:cNvSpPr txBox="1">
            <a:spLocks/>
          </p:cNvSpPr>
          <p:nvPr/>
        </p:nvSpPr>
        <p:spPr>
          <a:xfrm>
            <a:off x="962647" y="480392"/>
            <a:ext cx="10271883" cy="62616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Solicitud de graduación SHAGAPP</a:t>
            </a:r>
            <a:br>
              <a:rPr lang="es-CL" dirty="0">
                <a:solidFill>
                  <a:schemeClr val="accent1"/>
                </a:solidFill>
              </a:rPr>
            </a:br>
            <a:endParaRPr lang="es-CL" dirty="0">
              <a:solidFill>
                <a:schemeClr val="accent1"/>
              </a:solidFill>
            </a:endParaRPr>
          </a:p>
        </p:txBody>
      </p:sp>
      <p:pic>
        <p:nvPicPr>
          <p:cNvPr id="11" name="Imagen 10">
            <a:extLst>
              <a:ext uri="{FF2B5EF4-FFF2-40B4-BE49-F238E27FC236}">
                <a16:creationId xmlns:a16="http://schemas.microsoft.com/office/drawing/2014/main" id="{562836B6-F82D-1115-1C0E-C98697D90A6D}"/>
              </a:ext>
            </a:extLst>
          </p:cNvPr>
          <p:cNvPicPr>
            <a:picLocks noChangeAspect="1"/>
          </p:cNvPicPr>
          <p:nvPr/>
        </p:nvPicPr>
        <p:blipFill>
          <a:blip r:embed="rId3"/>
          <a:stretch>
            <a:fillRect/>
          </a:stretch>
        </p:blipFill>
        <p:spPr>
          <a:xfrm>
            <a:off x="6402662" y="2840053"/>
            <a:ext cx="9525" cy="9525"/>
          </a:xfrm>
          <a:prstGeom prst="rect">
            <a:avLst/>
          </a:prstGeom>
        </p:spPr>
      </p:pic>
      <p:pic>
        <p:nvPicPr>
          <p:cNvPr id="13" name="Imagen 12">
            <a:extLst>
              <a:ext uri="{FF2B5EF4-FFF2-40B4-BE49-F238E27FC236}">
                <a16:creationId xmlns:a16="http://schemas.microsoft.com/office/drawing/2014/main" id="{EC37F812-1A48-E4A6-38C4-1328EA02550E}"/>
              </a:ext>
            </a:extLst>
          </p:cNvPr>
          <p:cNvPicPr>
            <a:picLocks noChangeAspect="1"/>
          </p:cNvPicPr>
          <p:nvPr/>
        </p:nvPicPr>
        <p:blipFill>
          <a:blip r:embed="rId3"/>
          <a:stretch>
            <a:fillRect/>
          </a:stretch>
        </p:blipFill>
        <p:spPr>
          <a:xfrm>
            <a:off x="6402662" y="2840053"/>
            <a:ext cx="9525" cy="9525"/>
          </a:xfrm>
          <a:prstGeom prst="rect">
            <a:avLst/>
          </a:prstGeom>
        </p:spPr>
      </p:pic>
      <p:sp>
        <p:nvSpPr>
          <p:cNvPr id="15" name="Rectángulo 14">
            <a:extLst>
              <a:ext uri="{FF2B5EF4-FFF2-40B4-BE49-F238E27FC236}">
                <a16:creationId xmlns:a16="http://schemas.microsoft.com/office/drawing/2014/main" id="{E882269F-98CD-669E-A96B-2489D58D2EFB}"/>
              </a:ext>
            </a:extLst>
          </p:cNvPr>
          <p:cNvSpPr/>
          <p:nvPr/>
        </p:nvSpPr>
        <p:spPr>
          <a:xfrm>
            <a:off x="1047749" y="2263020"/>
            <a:ext cx="10419728" cy="30557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7" name="Rectángulo redondeado 5">
            <a:extLst>
              <a:ext uri="{FF2B5EF4-FFF2-40B4-BE49-F238E27FC236}">
                <a16:creationId xmlns:a16="http://schemas.microsoft.com/office/drawing/2014/main" id="{311F2C70-5507-3C05-3DC9-E0A5C5A02837}"/>
              </a:ext>
            </a:extLst>
          </p:cNvPr>
          <p:cNvSpPr/>
          <p:nvPr/>
        </p:nvSpPr>
        <p:spPr>
          <a:xfrm>
            <a:off x="3698664" y="2965502"/>
            <a:ext cx="3089761" cy="46349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000" dirty="0"/>
              <a:t>El cargo de los derechos de grado fue insertado en el estado de cuenta por la solicitud de graduación, </a:t>
            </a:r>
          </a:p>
        </p:txBody>
      </p:sp>
    </p:spTree>
    <p:extLst>
      <p:ext uri="{BB962C8B-B14F-4D97-AF65-F5344CB8AC3E}">
        <p14:creationId xmlns:p14="http://schemas.microsoft.com/office/powerpoint/2010/main" val="6022870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DC7CA-2E5D-C21A-7AE4-FB420401F90B}"/>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04622452-B8EA-2D1A-B09B-2CD42166BAF3}"/>
              </a:ext>
            </a:extLst>
          </p:cNvPr>
          <p:cNvSpPr>
            <a:spLocks noGrp="1"/>
          </p:cNvSpPr>
          <p:nvPr>
            <p:ph type="body" orient="vert" sz="quarter" idx="10"/>
          </p:nvPr>
        </p:nvSpPr>
        <p:spPr/>
        <p:txBody>
          <a:bodyPr/>
          <a:lstStyle/>
          <a:p>
            <a:r>
              <a:rPr lang="es-419" sz="1200" dirty="0"/>
              <a:t>Gestionar el otorgamiento y registro de grado</a:t>
            </a:r>
            <a:endParaRPr lang="en-US" dirty="0"/>
          </a:p>
        </p:txBody>
      </p:sp>
      <p:sp>
        <p:nvSpPr>
          <p:cNvPr id="16" name="Title 15">
            <a:extLst>
              <a:ext uri="{FF2B5EF4-FFF2-40B4-BE49-F238E27FC236}">
                <a16:creationId xmlns:a16="http://schemas.microsoft.com/office/drawing/2014/main" id="{26413F79-AE96-F1EA-FFB4-B8DF3731C148}"/>
              </a:ext>
            </a:extLst>
          </p:cNvPr>
          <p:cNvSpPr>
            <a:spLocks noGrp="1"/>
          </p:cNvSpPr>
          <p:nvPr>
            <p:ph type="title"/>
          </p:nvPr>
        </p:nvSpPr>
        <p:spPr>
          <a:xfrm>
            <a:off x="1104900" y="1800808"/>
            <a:ext cx="9337548" cy="1628192"/>
          </a:xfrm>
        </p:spPr>
        <p:txBody>
          <a:bodyPr/>
          <a:lstStyle/>
          <a:p>
            <a:r>
              <a:rPr lang="es-419" dirty="0"/>
              <a:t>Registro en SHADEGR</a:t>
            </a:r>
            <a:endParaRPr lang="en-US" dirty="0"/>
          </a:p>
        </p:txBody>
      </p:sp>
    </p:spTree>
    <p:extLst>
      <p:ext uri="{BB962C8B-B14F-4D97-AF65-F5344CB8AC3E}">
        <p14:creationId xmlns:p14="http://schemas.microsoft.com/office/powerpoint/2010/main" val="32404157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DAB5D-4941-AEA0-3359-0CDABD712462}"/>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104C715C-6429-1FE5-6733-39E6E93262A6}"/>
              </a:ext>
            </a:extLst>
          </p:cNvPr>
          <p:cNvPicPr>
            <a:picLocks noChangeAspect="1"/>
          </p:cNvPicPr>
          <p:nvPr/>
        </p:nvPicPr>
        <p:blipFill>
          <a:blip r:embed="rId2"/>
          <a:stretch>
            <a:fillRect/>
          </a:stretch>
        </p:blipFill>
        <p:spPr>
          <a:xfrm>
            <a:off x="1201158" y="1191452"/>
            <a:ext cx="10704467" cy="4475093"/>
          </a:xfrm>
          <a:prstGeom prst="rect">
            <a:avLst/>
          </a:prstGeom>
        </p:spPr>
      </p:pic>
      <p:sp>
        <p:nvSpPr>
          <p:cNvPr id="3" name="Marcador de texto vertical 2">
            <a:extLst>
              <a:ext uri="{FF2B5EF4-FFF2-40B4-BE49-F238E27FC236}">
                <a16:creationId xmlns:a16="http://schemas.microsoft.com/office/drawing/2014/main" id="{0951F6C5-79D7-C3F5-9D9C-9B378BB917FB}"/>
              </a:ext>
            </a:extLst>
          </p:cNvPr>
          <p:cNvSpPr>
            <a:spLocks noGrp="1"/>
          </p:cNvSpPr>
          <p:nvPr>
            <p:ph type="body" orient="vert" sz="quarter" idx="17"/>
          </p:nvPr>
        </p:nvSpPr>
        <p:spPr/>
        <p:txBody>
          <a:bodyPr/>
          <a:lstStyle/>
          <a:p>
            <a:r>
              <a:rPr lang="es-419" sz="1200" dirty="0"/>
              <a:t>Gestionar el otorgamiento y registro de grado</a:t>
            </a:r>
            <a:endParaRPr lang="en-US" dirty="0"/>
          </a:p>
        </p:txBody>
      </p:sp>
      <p:sp>
        <p:nvSpPr>
          <p:cNvPr id="4" name="Título 3">
            <a:extLst>
              <a:ext uri="{FF2B5EF4-FFF2-40B4-BE49-F238E27FC236}">
                <a16:creationId xmlns:a16="http://schemas.microsoft.com/office/drawing/2014/main" id="{1DFD12C4-FF66-F791-832E-3B3D144C2FAE}"/>
              </a:ext>
            </a:extLst>
          </p:cNvPr>
          <p:cNvSpPr>
            <a:spLocks noGrp="1"/>
          </p:cNvSpPr>
          <p:nvPr>
            <p:ph type="title"/>
          </p:nvPr>
        </p:nvSpPr>
        <p:spPr>
          <a:xfrm>
            <a:off x="810247" y="327992"/>
            <a:ext cx="10271883" cy="626165"/>
          </a:xfrm>
        </p:spPr>
        <p:txBody>
          <a:bodyPr/>
          <a:lstStyle/>
          <a:p>
            <a:br>
              <a:rPr lang="es-CL" dirty="0">
                <a:solidFill>
                  <a:schemeClr val="tx2"/>
                </a:solidFill>
              </a:rPr>
            </a:br>
            <a:endParaRPr lang="es-CL" dirty="0">
              <a:solidFill>
                <a:schemeClr val="tx2"/>
              </a:solidFill>
            </a:endParaRPr>
          </a:p>
        </p:txBody>
      </p:sp>
      <p:sp>
        <p:nvSpPr>
          <p:cNvPr id="6" name="Título 3">
            <a:extLst>
              <a:ext uri="{FF2B5EF4-FFF2-40B4-BE49-F238E27FC236}">
                <a16:creationId xmlns:a16="http://schemas.microsoft.com/office/drawing/2014/main" id="{4D0B2B42-861A-7D52-6031-82C3E8684482}"/>
              </a:ext>
            </a:extLst>
          </p:cNvPr>
          <p:cNvSpPr txBox="1">
            <a:spLocks/>
          </p:cNvSpPr>
          <p:nvPr/>
        </p:nvSpPr>
        <p:spPr>
          <a:xfrm>
            <a:off x="962647" y="480392"/>
            <a:ext cx="10271883" cy="62616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CO" dirty="0">
                <a:solidFill>
                  <a:schemeClr val="accent1"/>
                </a:solidFill>
              </a:rPr>
              <a:t>Grados y otros otorgamientos formales SHADEGR</a:t>
            </a:r>
            <a:br>
              <a:rPr lang="es-CL" dirty="0">
                <a:solidFill>
                  <a:schemeClr val="accent1"/>
                </a:solidFill>
              </a:rPr>
            </a:br>
            <a:endParaRPr lang="es-CL" dirty="0">
              <a:solidFill>
                <a:schemeClr val="accent1"/>
              </a:solidFill>
            </a:endParaRPr>
          </a:p>
        </p:txBody>
      </p:sp>
      <p:pic>
        <p:nvPicPr>
          <p:cNvPr id="12" name="Imagen 11">
            <a:extLst>
              <a:ext uri="{FF2B5EF4-FFF2-40B4-BE49-F238E27FC236}">
                <a16:creationId xmlns:a16="http://schemas.microsoft.com/office/drawing/2014/main" id="{FA1C77F6-7390-A292-B2E5-AB283247E4B8}"/>
              </a:ext>
            </a:extLst>
          </p:cNvPr>
          <p:cNvPicPr>
            <a:picLocks noChangeAspect="1"/>
          </p:cNvPicPr>
          <p:nvPr/>
        </p:nvPicPr>
        <p:blipFill>
          <a:blip r:embed="rId3"/>
          <a:stretch>
            <a:fillRect/>
          </a:stretch>
        </p:blipFill>
        <p:spPr>
          <a:xfrm>
            <a:off x="6386512" y="2919412"/>
            <a:ext cx="9525" cy="9525"/>
          </a:xfrm>
          <a:prstGeom prst="rect">
            <a:avLst/>
          </a:prstGeom>
        </p:spPr>
      </p:pic>
      <p:pic>
        <p:nvPicPr>
          <p:cNvPr id="16" name="Imagen 15">
            <a:extLst>
              <a:ext uri="{FF2B5EF4-FFF2-40B4-BE49-F238E27FC236}">
                <a16:creationId xmlns:a16="http://schemas.microsoft.com/office/drawing/2014/main" id="{74C1C0B3-7CE3-00D5-0033-D07C31CE74BB}"/>
              </a:ext>
            </a:extLst>
          </p:cNvPr>
          <p:cNvPicPr>
            <a:picLocks noChangeAspect="1"/>
          </p:cNvPicPr>
          <p:nvPr/>
        </p:nvPicPr>
        <p:blipFill>
          <a:blip r:embed="rId3"/>
          <a:stretch>
            <a:fillRect/>
          </a:stretch>
        </p:blipFill>
        <p:spPr>
          <a:xfrm>
            <a:off x="6386512" y="2919412"/>
            <a:ext cx="9525" cy="9525"/>
          </a:xfrm>
          <a:prstGeom prst="rect">
            <a:avLst/>
          </a:prstGeom>
        </p:spPr>
      </p:pic>
      <p:sp>
        <p:nvSpPr>
          <p:cNvPr id="19" name="Rectángulo 18">
            <a:extLst>
              <a:ext uri="{FF2B5EF4-FFF2-40B4-BE49-F238E27FC236}">
                <a16:creationId xmlns:a16="http://schemas.microsoft.com/office/drawing/2014/main" id="{A9CCBE79-0FC0-E6C3-D1AA-CA30CF0E773C}"/>
              </a:ext>
            </a:extLst>
          </p:cNvPr>
          <p:cNvSpPr/>
          <p:nvPr/>
        </p:nvSpPr>
        <p:spPr>
          <a:xfrm>
            <a:off x="1186173" y="2770052"/>
            <a:ext cx="10419728" cy="126771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1" name="Rectángulo redondeado 5">
            <a:extLst>
              <a:ext uri="{FF2B5EF4-FFF2-40B4-BE49-F238E27FC236}">
                <a16:creationId xmlns:a16="http://schemas.microsoft.com/office/drawing/2014/main" id="{624FC9FD-2735-0AC4-D517-2099A899F4A1}"/>
              </a:ext>
            </a:extLst>
          </p:cNvPr>
          <p:cNvSpPr/>
          <p:nvPr/>
        </p:nvSpPr>
        <p:spPr>
          <a:xfrm>
            <a:off x="4482614" y="4275067"/>
            <a:ext cx="3089761" cy="46349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000" dirty="0"/>
              <a:t>Se muestra cómo se actualizó el bloque de información de graduación, con los datos ingresados en la solicitud</a:t>
            </a:r>
          </a:p>
        </p:txBody>
      </p:sp>
    </p:spTree>
    <p:extLst>
      <p:ext uri="{BB962C8B-B14F-4D97-AF65-F5344CB8AC3E}">
        <p14:creationId xmlns:p14="http://schemas.microsoft.com/office/powerpoint/2010/main" val="14604253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49BE6-9C13-FCAC-2861-0D55F664024A}"/>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C6C3A27C-7A0B-1D1E-B975-43FE254151C4}"/>
              </a:ext>
            </a:extLst>
          </p:cNvPr>
          <p:cNvSpPr>
            <a:spLocks noGrp="1"/>
          </p:cNvSpPr>
          <p:nvPr>
            <p:ph type="body" orient="vert" sz="quarter" idx="10"/>
          </p:nvPr>
        </p:nvSpPr>
        <p:spPr/>
        <p:txBody>
          <a:bodyPr/>
          <a:lstStyle/>
          <a:p>
            <a:r>
              <a:rPr lang="es-419" dirty="0"/>
              <a:t>Gestionar el otorgamiento y registro de grado</a:t>
            </a:r>
            <a:endParaRPr lang="en-US" dirty="0"/>
          </a:p>
        </p:txBody>
      </p:sp>
      <p:sp>
        <p:nvSpPr>
          <p:cNvPr id="16" name="Title 15">
            <a:extLst>
              <a:ext uri="{FF2B5EF4-FFF2-40B4-BE49-F238E27FC236}">
                <a16:creationId xmlns:a16="http://schemas.microsoft.com/office/drawing/2014/main" id="{7B284559-06C9-77B6-4DB2-DA31AB712041}"/>
              </a:ext>
            </a:extLst>
          </p:cNvPr>
          <p:cNvSpPr>
            <a:spLocks noGrp="1"/>
          </p:cNvSpPr>
          <p:nvPr>
            <p:ph type="title"/>
          </p:nvPr>
        </p:nvSpPr>
        <p:spPr/>
        <p:txBody>
          <a:bodyPr/>
          <a:lstStyle/>
          <a:p>
            <a:r>
              <a:rPr lang="en-US" dirty="0"/>
              <a:t>RESUMEN</a:t>
            </a:r>
          </a:p>
        </p:txBody>
      </p:sp>
      <p:sp>
        <p:nvSpPr>
          <p:cNvPr id="17" name="Text Placeholder 16">
            <a:extLst>
              <a:ext uri="{FF2B5EF4-FFF2-40B4-BE49-F238E27FC236}">
                <a16:creationId xmlns:a16="http://schemas.microsoft.com/office/drawing/2014/main" id="{A20C8EB0-D0F0-4FA5-7CAA-D0483BBF61E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19904011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B8239-6096-8B04-FE02-27F762A4A3CF}"/>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2FFCFA04-98AE-5642-C7A0-944FF6D715BA}"/>
              </a:ext>
            </a:extLst>
          </p:cNvPr>
          <p:cNvSpPr>
            <a:spLocks noGrp="1"/>
          </p:cNvSpPr>
          <p:nvPr>
            <p:ph type="body" sz="quarter" idx="18"/>
          </p:nvPr>
        </p:nvSpPr>
        <p:spPr>
          <a:xfrm>
            <a:off x="981456" y="1584355"/>
            <a:ext cx="10477499" cy="4267198"/>
          </a:xfrm>
        </p:spPr>
        <p:txBody>
          <a:bodyPr/>
          <a:lstStyle/>
          <a:p>
            <a:pPr marL="342900" indent="-342900" algn="just">
              <a:buClr>
                <a:srgbClr val="0CB4B4"/>
              </a:buClr>
              <a:buFont typeface="Wingdings" panose="05000000000000000000" pitchFamily="2" charset="2"/>
              <a:buChar char="q"/>
            </a:pPr>
            <a:endParaRPr lang="es-419" sz="2000" dirty="0"/>
          </a:p>
          <a:p>
            <a:pPr marL="0" indent="0">
              <a:buNone/>
            </a:pPr>
            <a:r>
              <a:rPr lang="es-419" sz="2000" dirty="0"/>
              <a:t>Gestionar solicitudes de graduación</a:t>
            </a:r>
          </a:p>
          <a:p>
            <a:pPr algn="just">
              <a:buClr>
                <a:schemeClr val="tx1"/>
              </a:buClr>
              <a:buFont typeface="Wingdings" panose="05000000000000000000" pitchFamily="2" charset="2"/>
              <a:buChar char="v"/>
            </a:pPr>
            <a:r>
              <a:rPr lang="es-419" sz="2000" dirty="0"/>
              <a:t>Previamente, se debe definir el estado de registro de grado STVDEGS</a:t>
            </a:r>
          </a:p>
          <a:p>
            <a:pPr lvl="2">
              <a:buClr>
                <a:schemeClr val="tx1"/>
              </a:buClr>
              <a:buFont typeface="Wingdings" panose="05000000000000000000" pitchFamily="2" charset="2"/>
              <a:buChar char="ü"/>
            </a:pPr>
            <a:r>
              <a:rPr lang="es-ES_tradnl" dirty="0"/>
              <a:t>Se configura las reglas de despliegue </a:t>
            </a:r>
            <a:r>
              <a:rPr lang="es-ES" dirty="0"/>
              <a:t>de solicitud de graduación en autoservicio</a:t>
            </a:r>
            <a:r>
              <a:rPr lang="es-ES_tradnl" dirty="0"/>
              <a:t> (SHAGADR).</a:t>
            </a:r>
          </a:p>
          <a:p>
            <a:pPr lvl="2">
              <a:buClr>
                <a:schemeClr val="tx1"/>
              </a:buClr>
              <a:buFont typeface="Wingdings" panose="05000000000000000000" pitchFamily="2" charset="2"/>
              <a:buChar char="ü"/>
            </a:pPr>
            <a:r>
              <a:rPr lang="es-ES_tradnl" dirty="0"/>
              <a:t>Se configura las reglas de elegibilidad </a:t>
            </a:r>
            <a:r>
              <a:rPr lang="es-ES" dirty="0"/>
              <a:t>de solicitud de graduación </a:t>
            </a:r>
            <a:r>
              <a:rPr lang="es-ES_tradnl" dirty="0"/>
              <a:t>(SHAGELR).</a:t>
            </a:r>
          </a:p>
          <a:p>
            <a:pPr lvl="2">
              <a:buClr>
                <a:schemeClr val="tx1"/>
              </a:buClr>
              <a:buFont typeface="Wingdings" panose="05000000000000000000" pitchFamily="2" charset="2"/>
              <a:buChar char="ü"/>
            </a:pPr>
            <a:r>
              <a:rPr lang="es-ES_tradnl" dirty="0"/>
              <a:t>Se configura las reglas de despliegue </a:t>
            </a:r>
            <a:r>
              <a:rPr lang="es-ES" dirty="0"/>
              <a:t>de solicitud de graduación </a:t>
            </a:r>
            <a:r>
              <a:rPr lang="es-ES_tradnl" dirty="0"/>
              <a:t>(SHAGADS).</a:t>
            </a:r>
          </a:p>
          <a:p>
            <a:pPr algn="just">
              <a:buClr>
                <a:schemeClr val="tx1"/>
              </a:buClr>
              <a:buFont typeface="Wingdings" panose="05000000000000000000" pitchFamily="2" charset="2"/>
              <a:buChar char="v"/>
            </a:pPr>
            <a:r>
              <a:rPr lang="es-419" sz="2000" dirty="0"/>
              <a:t>Datos</a:t>
            </a:r>
          </a:p>
          <a:p>
            <a:pPr marL="342900" lvl="2" indent="0">
              <a:buClr>
                <a:schemeClr val="tx1"/>
              </a:buClr>
              <a:buNone/>
            </a:pPr>
            <a:r>
              <a:rPr lang="es-ES_tradnl" dirty="0"/>
              <a:t>Los datos de estados y reglas a considerar son:</a:t>
            </a:r>
          </a:p>
          <a:p>
            <a:pPr lvl="3">
              <a:buClr>
                <a:schemeClr val="tx1"/>
              </a:buClr>
              <a:buFont typeface="Wingdings" panose="05000000000000000000" pitchFamily="2" charset="2"/>
              <a:buChar char="ü"/>
            </a:pPr>
            <a:r>
              <a:rPr lang="es-ES_tradnl" dirty="0"/>
              <a:t>Estado de solicitud de graduación (STVGADS).</a:t>
            </a:r>
          </a:p>
          <a:p>
            <a:pPr lvl="3">
              <a:buClr>
                <a:schemeClr val="tx1"/>
              </a:buClr>
              <a:buFont typeface="Wingdings" panose="05000000000000000000" pitchFamily="2" charset="2"/>
              <a:buChar char="ü"/>
            </a:pPr>
            <a:r>
              <a:rPr lang="es-ES_tradnl" dirty="0"/>
              <a:t>Reglas de despliegue (STVGADR).</a:t>
            </a:r>
          </a:p>
          <a:p>
            <a:pPr lvl="3">
              <a:buClr>
                <a:schemeClr val="tx1"/>
              </a:buClr>
              <a:buFont typeface="Wingdings" panose="05000000000000000000" pitchFamily="2" charset="2"/>
              <a:buChar char="ü"/>
            </a:pPr>
            <a:r>
              <a:rPr lang="es-ES_tradnl" dirty="0"/>
              <a:t>Estado de graduación (STVGRST).</a:t>
            </a:r>
          </a:p>
          <a:p>
            <a:pPr marL="0" indent="0" algn="just">
              <a:buClr>
                <a:srgbClr val="0CB4B4"/>
              </a:buClr>
              <a:buNone/>
            </a:pPr>
            <a:endParaRPr lang="es-419" sz="2000" dirty="0"/>
          </a:p>
        </p:txBody>
      </p:sp>
      <p:sp>
        <p:nvSpPr>
          <p:cNvPr id="10" name="Vertical Text Placeholder 9">
            <a:extLst>
              <a:ext uri="{FF2B5EF4-FFF2-40B4-BE49-F238E27FC236}">
                <a16:creationId xmlns:a16="http://schemas.microsoft.com/office/drawing/2014/main" id="{5459240E-56A8-2BDE-4B7E-6E7303339CC2}"/>
              </a:ext>
            </a:extLst>
          </p:cNvPr>
          <p:cNvSpPr>
            <a:spLocks noGrp="1"/>
          </p:cNvSpPr>
          <p:nvPr>
            <p:ph type="body" orient="vert" sz="quarter" idx="17"/>
          </p:nvPr>
        </p:nvSpPr>
        <p:spPr/>
        <p:txBody>
          <a:bodyPr/>
          <a:lstStyle/>
          <a:p>
            <a:r>
              <a:rPr lang="es-419" dirty="0"/>
              <a:t>Gestionar el otorgamiento y registro de grado</a:t>
            </a:r>
            <a:endParaRPr lang="en-US" dirty="0"/>
          </a:p>
        </p:txBody>
      </p:sp>
      <p:sp>
        <p:nvSpPr>
          <p:cNvPr id="16" name="Title 15">
            <a:extLst>
              <a:ext uri="{FF2B5EF4-FFF2-40B4-BE49-F238E27FC236}">
                <a16:creationId xmlns:a16="http://schemas.microsoft.com/office/drawing/2014/main" id="{FA544842-7D5D-F2DC-C50A-666026DED0A2}"/>
              </a:ext>
            </a:extLst>
          </p:cNvPr>
          <p:cNvSpPr>
            <a:spLocks noGrp="1"/>
          </p:cNvSpPr>
          <p:nvPr>
            <p:ph type="title"/>
          </p:nvPr>
        </p:nvSpPr>
        <p:spPr/>
        <p:txBody>
          <a:bodyPr/>
          <a:lstStyle/>
          <a:p>
            <a:r>
              <a:rPr lang="en-US" dirty="0">
                <a:solidFill>
                  <a:schemeClr val="accent1"/>
                </a:solidFill>
              </a:rPr>
              <a:t>RESUMEN</a:t>
            </a:r>
          </a:p>
        </p:txBody>
      </p:sp>
    </p:spTree>
    <p:extLst>
      <p:ext uri="{BB962C8B-B14F-4D97-AF65-F5344CB8AC3E}">
        <p14:creationId xmlns:p14="http://schemas.microsoft.com/office/powerpoint/2010/main" val="33614248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dirty="0"/>
              <a:t>Nidia Beltran</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a:t>Nidia.beltran@</a:t>
            </a:r>
            <a:r>
              <a:rPr lang="es-419" dirty="0"/>
              <a:t>ellucian.com</a:t>
            </a:r>
          </a:p>
        </p:txBody>
      </p:sp>
    </p:spTree>
    <p:extLst>
      <p:ext uri="{BB962C8B-B14F-4D97-AF65-F5344CB8AC3E}">
        <p14:creationId xmlns:p14="http://schemas.microsoft.com/office/powerpoint/2010/main" val="3192274581"/>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  Read-Only" id="{F4D757E7-3114-4C8F-9950-97785E4EE6CC}" vid="{D25AB14E-5FB9-4D56-95F9-7C8720217562}"/>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  Read-Only" id="{F4D757E7-3114-4C8F-9950-97785E4EE6CC}" vid="{7FF827A8-C46A-4566-99A6-5F934CCE2EB3}"/>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Ellucian-PPT-Template-2025-V5</Template>
  <TotalTime>6363</TotalTime>
  <Words>3350</Words>
  <Application>Microsoft Office PowerPoint</Application>
  <PresentationFormat>Panorámica</PresentationFormat>
  <Paragraphs>410</Paragraphs>
  <Slides>64</Slides>
  <Notes>5</Notes>
  <HiddenSlides>0</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64</vt:i4>
      </vt:variant>
    </vt:vector>
  </HeadingPairs>
  <TitlesOfParts>
    <vt:vector size="74" baseType="lpstr">
      <vt:lpstr>Aptos</vt:lpstr>
      <vt:lpstr>Aptos Display</vt:lpstr>
      <vt:lpstr>Arial</vt:lpstr>
      <vt:lpstr>Calibri</vt:lpstr>
      <vt:lpstr>Courier New</vt:lpstr>
      <vt:lpstr>Helvetica Neue</vt:lpstr>
      <vt:lpstr>Segoe UI</vt:lpstr>
      <vt:lpstr>Wingdings</vt:lpstr>
      <vt:lpstr>Ellucian Main Layouts</vt:lpstr>
      <vt:lpstr>Ellucian Blank Layouts</vt:lpstr>
      <vt:lpstr>Presentación de PowerPoint</vt:lpstr>
      <vt:lpstr>Presentación de PowerPoint</vt:lpstr>
      <vt:lpstr>Overview</vt:lpstr>
      <vt:lpstr>Overview: Mapa de capacidades</vt:lpstr>
      <vt:lpstr>Overview: Capacidad Otorgamiento del Título y Ceremonia del estudiante</vt:lpstr>
      <vt:lpstr>Overview: Capacidad Otorgamiento del Título y Ceremonia del estudiante</vt:lpstr>
      <vt:lpstr>Overview: Capacidad Operativa Gestión de Elegibilidad para Titulación </vt:lpstr>
      <vt:lpstr>Overview: Capacidad Operativa Gestión de Elegibilidad para Titulación </vt:lpstr>
      <vt:lpstr>Overview: Capacidad Operativa Gestión de Elegibilidad para Titulación </vt:lpstr>
      <vt:lpstr>Overview: Procedimiento Gestionar Solicitudes de Graduación</vt:lpstr>
      <vt:lpstr>Presentación de PowerPoint</vt:lpstr>
      <vt:lpstr>Definiciones</vt:lpstr>
      <vt:lpstr>Presentación de PowerPoint</vt:lpstr>
      <vt:lpstr>Presentación de PowerPoint</vt:lpstr>
      <vt:lpstr>CONFIGURACIONES</vt:lpstr>
      <vt:lpstr>Configuraciones: Control de historia académica (SHACTRL)</vt:lpstr>
      <vt:lpstr>Configuraciones: Validación de opciones de pago en web (STVWPYO)</vt:lpstr>
      <vt:lpstr>Configuraciones: Validación de código de status de solicitud de graduación (STVGAST)</vt:lpstr>
      <vt:lpstr>Configuraciones: Validación de código de status de solicitud de graduación (STVGAST)</vt:lpstr>
      <vt:lpstr>Configuraciones: Validación de código de regla de despliegue de solicitud de graduación (STVGADR)</vt:lpstr>
      <vt:lpstr>Configuraciones: Validación de status de graduación (STVGRST)</vt:lpstr>
      <vt:lpstr>Configuraciones: Validación de status de graduación (STVGRST)</vt:lpstr>
      <vt:lpstr>Configuraciones: Validación de status de graduación (STVGRST)</vt:lpstr>
      <vt:lpstr>Configuraciones: Validación del código de estatus del grado (STVDEGS)</vt:lpstr>
      <vt:lpstr>Configuraciones: Validación de código de honores institucionales (STVHONR) </vt:lpstr>
      <vt:lpstr>Configuraciones: Validación de código de tipo de histórico académico (STVTPRT) </vt:lpstr>
      <vt:lpstr>Presentación de PowerPoint</vt:lpstr>
      <vt:lpstr>Validación del código de carta(GTVLETR)</vt:lpstr>
      <vt:lpstr>Validación del código de párrafo(GTVPARA)</vt:lpstr>
      <vt:lpstr>Párrafo(GUAPARA)</vt:lpstr>
      <vt:lpstr>Proceso de carta(GUALETR)</vt:lpstr>
      <vt:lpstr>Asignación de carta HTML (SOAELTL)</vt:lpstr>
      <vt:lpstr>Selección de regla de despliegue de solicitud de graduación </vt:lpstr>
      <vt:lpstr>Selección de regla de despliegue de solicitud de graduación (SHAGADS)</vt:lpstr>
      <vt:lpstr>Reglas de despliegue  de graduación</vt:lpstr>
      <vt:lpstr>Reglas para el despliegue de solicitud de graduación en autoservicio (SHAGADR)</vt:lpstr>
      <vt:lpstr>Reglas para el despliegue de solicitud de graduación en autoservicio (SHAGADR)</vt:lpstr>
      <vt:lpstr>Reglas para el despliegue de solicitud de graduación en autoservicio (SHAGADR)</vt:lpstr>
      <vt:lpstr>Reglas para el despliegue de solicitud de graduación en autoservicio (SHAGADR)</vt:lpstr>
      <vt:lpstr>Reglas para el despliegue de solicitud de graduación en autoservicio (SHAGADR)</vt:lpstr>
      <vt:lpstr>Reglas para el despliegue de solicitud de graduación en autoservicio (SHAGADR)</vt:lpstr>
      <vt:lpstr>Reglas de elegibilidad</vt:lpstr>
      <vt:lpstr>Reglas de elegibilidad de solicitud de graduación (SHAGELR)</vt:lpstr>
      <vt:lpstr>Reglas de elegibilidad de solicitud de graduación (SHAGELR)</vt:lpstr>
      <vt:lpstr>Reglas de elegibilidad de solicitud de graduación (SHAGELR)</vt:lpstr>
      <vt:lpstr>Reglas de elegibilidad de solicitud de graduación (SHAGELR)</vt:lpstr>
      <vt:lpstr>Autoservicio: Solicitud de grado</vt:lpstr>
      <vt:lpstr> </vt:lpstr>
      <vt:lpstr> </vt:lpstr>
      <vt:lpstr> </vt:lpstr>
      <vt:lpstr> </vt:lpstr>
      <vt:lpstr> </vt:lpstr>
      <vt:lpstr> </vt:lpstr>
      <vt:lpstr> </vt:lpstr>
      <vt:lpstr> </vt:lpstr>
      <vt:lpstr>Administración de la Solicitud de Graduación</vt:lpstr>
      <vt:lpstr> </vt:lpstr>
      <vt:lpstr>Registro en el Estado de cuenta</vt:lpstr>
      <vt:lpstr> </vt:lpstr>
      <vt:lpstr>Registro en SHADEGR</vt:lpstr>
      <vt:lpstr> </vt:lpstr>
      <vt:lpstr>RESUMEN</vt:lpstr>
      <vt:lpstr>RESUMEN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391</cp:revision>
  <dcterms:created xsi:type="dcterms:W3CDTF">2023-07-17T20:07:38Z</dcterms:created>
  <dcterms:modified xsi:type="dcterms:W3CDTF">2026-07-21T14:36:00Z</dcterms:modified>
</cp:coreProperties>
</file>
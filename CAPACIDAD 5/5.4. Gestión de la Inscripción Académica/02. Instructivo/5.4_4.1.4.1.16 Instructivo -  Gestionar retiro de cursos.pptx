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2" r:id="rId2"/>
  </p:sldMasterIdLst>
  <p:notesMasterIdLst>
    <p:notesMasterId r:id="rId64"/>
  </p:notesMasterIdLst>
  <p:sldIdLst>
    <p:sldId id="257" r:id="rId3"/>
    <p:sldId id="423" r:id="rId4"/>
    <p:sldId id="476" r:id="rId5"/>
    <p:sldId id="348" r:id="rId6"/>
    <p:sldId id="349" r:id="rId7"/>
    <p:sldId id="350" r:id="rId8"/>
    <p:sldId id="1877" r:id="rId9"/>
    <p:sldId id="352" r:id="rId10"/>
    <p:sldId id="421" r:id="rId11"/>
    <p:sldId id="566" r:id="rId12"/>
    <p:sldId id="469" r:id="rId13"/>
    <p:sldId id="1843" r:id="rId14"/>
    <p:sldId id="1872" r:id="rId15"/>
    <p:sldId id="1878" r:id="rId16"/>
    <p:sldId id="1728" r:id="rId17"/>
    <p:sldId id="1879" r:id="rId18"/>
    <p:sldId id="1880" r:id="rId19"/>
    <p:sldId id="1881" r:id="rId20"/>
    <p:sldId id="1882" r:id="rId21"/>
    <p:sldId id="1883" r:id="rId22"/>
    <p:sldId id="1734" r:id="rId23"/>
    <p:sldId id="1844" r:id="rId24"/>
    <p:sldId id="1652" r:id="rId25"/>
    <p:sldId id="1653" r:id="rId26"/>
    <p:sldId id="1747" r:id="rId27"/>
    <p:sldId id="1748" r:id="rId28"/>
    <p:sldId id="1749" r:id="rId29"/>
    <p:sldId id="1846" r:id="rId30"/>
    <p:sldId id="1657" r:id="rId31"/>
    <p:sldId id="1751" r:id="rId32"/>
    <p:sldId id="1750" r:id="rId33"/>
    <p:sldId id="1752" r:id="rId34"/>
    <p:sldId id="1848" r:id="rId35"/>
    <p:sldId id="1670" r:id="rId36"/>
    <p:sldId id="1884" r:id="rId37"/>
    <p:sldId id="1885" r:id="rId38"/>
    <p:sldId id="543" r:id="rId39"/>
    <p:sldId id="1861" r:id="rId40"/>
    <p:sldId id="1817" r:id="rId41"/>
    <p:sldId id="1850" r:id="rId42"/>
    <p:sldId id="1851" r:id="rId43"/>
    <p:sldId id="1852" r:id="rId44"/>
    <p:sldId id="1853" r:id="rId45"/>
    <p:sldId id="1859" r:id="rId46"/>
    <p:sldId id="1862" r:id="rId47"/>
    <p:sldId id="1886" r:id="rId48"/>
    <p:sldId id="1887" r:id="rId49"/>
    <p:sldId id="1864" r:id="rId50"/>
    <p:sldId id="1865" r:id="rId51"/>
    <p:sldId id="1888" r:id="rId52"/>
    <p:sldId id="1869" r:id="rId53"/>
    <p:sldId id="1870" r:id="rId54"/>
    <p:sldId id="1873" r:id="rId55"/>
    <p:sldId id="1874" r:id="rId56"/>
    <p:sldId id="1875" r:id="rId57"/>
    <p:sldId id="1876" r:id="rId58"/>
    <p:sldId id="1889" r:id="rId59"/>
    <p:sldId id="1890" r:id="rId60"/>
    <p:sldId id="345" r:id="rId61"/>
    <p:sldId id="1860" r:id="rId62"/>
    <p:sldId id="50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53" autoAdjust="0"/>
    <p:restoredTop sz="95107" autoAdjust="0"/>
  </p:normalViewPr>
  <p:slideViewPr>
    <p:cSldViewPr snapToGrid="0">
      <p:cViewPr varScale="1">
        <p:scale>
          <a:sx n="105" d="100"/>
          <a:sy n="105" d="100"/>
        </p:scale>
        <p:origin x="1068" y="10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microsoft.com/office/2018/10/relationships/authors" Target="author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14-07-2026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A5FC1-2DE3-40DD-5C13-5E74F2B874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79C20D-5AA8-7312-3B16-5324513309F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A529332-547F-5B13-6617-B7325AE1D7E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E5C181B-BCD4-504F-7F2E-70CAB78791CD}"/>
              </a:ext>
            </a:extLst>
          </p:cNvPr>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269233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C914-D17E-619D-C5E1-B24A59A7B1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469A54-0C28-0FD8-BB76-D64688CE262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D47E28-DCE1-FD6B-D3C4-17573165E71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4FA05E5-E8DD-4536-A0D9-0B4F7DEAE72F}"/>
              </a:ext>
            </a:extLst>
          </p:cNvPr>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2444262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8CE8A-4C56-CE24-D548-39EB924BD0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B3C15C-A130-A058-4150-9BA29A48A4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A54384-2A8A-F12A-75FE-6D36DD4018B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8C9947C-073C-0995-D430-477E41BFC695}"/>
              </a:ext>
            </a:extLst>
          </p:cNvPr>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3206134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06A5-E0D0-A435-61DB-548929D975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B55B66-F8A9-C316-A40B-BADA79D8BA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37CD8EC-E2C5-D10D-F646-346CA6B4B7C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656FD9C-BFD1-6095-8A90-7DAEB1A21512}"/>
              </a:ext>
            </a:extLst>
          </p:cNvPr>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761771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AA82-7EEF-702E-33E5-50395D6D1B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1FE66D-62C0-D23C-4614-A61127B7E4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73C078-2FCA-8795-AD47-0B87D763A92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2E3A215-72E5-27AF-00C8-72A8792205A5}"/>
              </a:ext>
            </a:extLst>
          </p:cNvPr>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140933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82FC7-FFA7-025A-CB68-2B7A7DE015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75E17B-E416-6039-A5F9-EC25FB0844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CF68D2-D097-DEF4-8C74-1AE016E8615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366989C-742A-4052-33FC-1C6C5131C442}"/>
              </a:ext>
            </a:extLst>
          </p:cNvPr>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2248607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12325-1F6D-5B64-F950-6B01A213FF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EC5246-28EA-1759-FB69-BB7B883B6F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0FD39B-01DA-E3FA-B518-A7E4D90628E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4E91B30-5319-72B9-0963-58493612FC41}"/>
              </a:ext>
            </a:extLst>
          </p:cNvPr>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3096720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0E26F-E3C0-D82A-4CE2-21A6167667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41DC92-A03B-23D4-AB53-066E3BB24F5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4892011-7C2A-FDAA-8D43-E4BF0CBB9F9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6443591-118A-DF62-32A1-08BE4EAE0412}"/>
              </a:ext>
            </a:extLst>
          </p:cNvPr>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3412848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021D0-433A-8C8A-2959-067836B094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301A851-777C-7CF9-0FA3-572E292C2C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5EADD3-FF7B-802E-5117-A85EB1FCCC9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EB3A4CD-2B3C-593C-A9ED-A126217F0E06}"/>
              </a:ext>
            </a:extLst>
          </p:cNvPr>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2645329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EA759-72F8-7D65-6048-BF23BFC868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016741-D0D8-1791-FA70-C101FCE5A52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188146A-2027-96DD-D01F-F435FA24013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20FC4D2-D7F9-D307-C6D2-782A95B436EB}"/>
              </a:ext>
            </a:extLst>
          </p:cNvPr>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1305412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E10A-EF64-C9C3-F51A-FD71A8F62F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DA93B3-F9A3-4B8F-BB4A-28056D2414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643158-AF07-A017-B9AF-C6937D1FC01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EEEF089-16B0-4669-B993-D72BAA536D2D}"/>
              </a:ext>
            </a:extLst>
          </p:cNvPr>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2640881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FA26C-3149-A40D-B390-3359602E52A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681A5F-D95C-FBC8-BC6A-1720A4706E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D42883-7F5B-D5DF-2500-27845F824AA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5D034A8-7B78-99D8-72B4-D9A92BF163E4}"/>
              </a:ext>
            </a:extLst>
          </p:cNvPr>
          <p:cNvSpPr>
            <a:spLocks noGrp="1"/>
          </p:cNvSpPr>
          <p:nvPr>
            <p:ph type="sldNum" sz="quarter" idx="5"/>
          </p:nvPr>
        </p:nvSpPr>
        <p:spPr/>
        <p:txBody>
          <a:bodyPr/>
          <a:lstStyle/>
          <a:p>
            <a:fld id="{CF541D2A-E99A-2F4F-B8C9-28142709F87F}" type="slidenum">
              <a:rPr lang="en-US" smtClean="0"/>
              <a:pPr/>
              <a:t>25</a:t>
            </a:fld>
            <a:endParaRPr lang="en-US"/>
          </a:p>
        </p:txBody>
      </p:sp>
    </p:spTree>
    <p:extLst>
      <p:ext uri="{BB962C8B-B14F-4D97-AF65-F5344CB8AC3E}">
        <p14:creationId xmlns:p14="http://schemas.microsoft.com/office/powerpoint/2010/main" val="2015883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3EA3F-777E-02DE-6CE1-A6324F58730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E6002E-5174-E4C7-6877-736DEFDC49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95DB5B-34BF-C72A-65B4-0B61CCA47B3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F3EAB96-B508-407C-88B4-AACE3AB65D6A}"/>
              </a:ext>
            </a:extLst>
          </p:cNvPr>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136433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129C-B6FC-C692-FA18-D3CA2832D9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E3CF11-818B-1A3F-A08A-9B00D7F1EBD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0420BCF-F8A9-00C3-8DC0-1844DE28C2D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3AF0CBD-9C11-209A-731E-C923B35C011B}"/>
              </a:ext>
            </a:extLst>
          </p:cNvPr>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496511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C1F14-6CB3-8C72-9C40-268E930E81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6F33FF-0C0F-121A-2BD2-ADDD60E063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581ABE-C45B-A05F-5D03-86889FDD43F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712E502-5E62-8BA9-EF09-2BE87F2E0286}"/>
              </a:ext>
            </a:extLst>
          </p:cNvPr>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1931383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353DF-DEB3-B32F-C925-8CE49751E9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A7D3AC-6EB6-6F38-5388-8976E500E9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507C1B-5883-CC5D-976D-EEA39E61482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DB23168-CAE0-DDCA-F430-DD08C551C10C}"/>
              </a:ext>
            </a:extLst>
          </p:cNvPr>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3601294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C20FD-E890-4560-C1C6-DFE2C06749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571873-D7EB-84D3-9581-4D5CB7407A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F1B4C40-6F29-C598-5115-C423EEFEBF8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AAD172A-D3E4-F2A4-5F9F-7E208FF80E89}"/>
              </a:ext>
            </a:extLst>
          </p:cNvPr>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2182479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398CA-735E-C1D2-3F2C-0DF01BB398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B0FAA0-D16E-EB3E-404D-2AC8544ED2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E333CC-55FC-8A1C-424A-3274B8761E4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CEE4BAB-ABA6-8BF3-7976-5C8A3FB0A7CA}"/>
              </a:ext>
            </a:extLst>
          </p:cNvPr>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3660231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65B77-D34F-92BC-EC08-BF5A5888C8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E10E68-FFE0-495A-D202-687CDA9915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0675EE6-51EB-009A-897A-65DDA47509E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BA4F0F1-29D6-8D15-5CD7-127F0E351513}"/>
              </a:ext>
            </a:extLst>
          </p:cNvPr>
          <p:cNvSpPr>
            <a:spLocks noGrp="1"/>
          </p:cNvSpPr>
          <p:nvPr>
            <p:ph type="sldNum" sz="quarter" idx="5"/>
          </p:nvPr>
        </p:nvSpPr>
        <p:spPr/>
        <p:txBody>
          <a:bodyPr/>
          <a:lstStyle/>
          <a:p>
            <a:fld id="{CF541D2A-E99A-2F4F-B8C9-28142709F87F}" type="slidenum">
              <a:rPr lang="en-US" smtClean="0"/>
              <a:pPr/>
              <a:t>34</a:t>
            </a:fld>
            <a:endParaRPr lang="en-US"/>
          </a:p>
        </p:txBody>
      </p:sp>
    </p:spTree>
    <p:extLst>
      <p:ext uri="{BB962C8B-B14F-4D97-AF65-F5344CB8AC3E}">
        <p14:creationId xmlns:p14="http://schemas.microsoft.com/office/powerpoint/2010/main" val="26721887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81F8-3D8E-065D-D116-F9BC3C6F83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4469C8-F6CD-5901-9354-21794479D6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2F1C8C-A967-B3B6-0D13-86C373357CE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340B7AE-3B80-3773-A858-E210D2EF90F8}"/>
              </a:ext>
            </a:extLst>
          </p:cNvPr>
          <p:cNvSpPr>
            <a:spLocks noGrp="1"/>
          </p:cNvSpPr>
          <p:nvPr>
            <p:ph type="sldNum" sz="quarter" idx="5"/>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3380456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D5110-EF9E-8D02-D09D-F9B8A361AB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1D8D2C-F6E3-2D2F-32F4-5BAB4EDDB6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1556CD-E30F-FCB2-9339-D27DF2BA092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1F5C5F1-C7C4-5ACE-A8E6-729BCACAFF20}"/>
              </a:ext>
            </a:extLst>
          </p:cNvPr>
          <p:cNvSpPr>
            <a:spLocks noGrp="1"/>
          </p:cNvSpPr>
          <p:nvPr>
            <p:ph type="sldNum" sz="quarter" idx="5"/>
          </p:nvPr>
        </p:nvSpPr>
        <p:spPr/>
        <p:txBody>
          <a:bodyPr/>
          <a:lstStyle/>
          <a:p>
            <a:fld id="{CF541D2A-E99A-2F4F-B8C9-28142709F87F}" type="slidenum">
              <a:rPr lang="en-US" smtClean="0"/>
              <a:pPr/>
              <a:t>36</a:t>
            </a:fld>
            <a:endParaRPr lang="en-US"/>
          </a:p>
        </p:txBody>
      </p:sp>
    </p:spTree>
    <p:extLst>
      <p:ext uri="{BB962C8B-B14F-4D97-AF65-F5344CB8AC3E}">
        <p14:creationId xmlns:p14="http://schemas.microsoft.com/office/powerpoint/2010/main" val="39818714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40A45-9222-6A05-1AED-B268BB6E8E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63ECE0-504B-282C-8FE0-F18BB73728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8E57F9B-A4AD-9962-3545-C581179D472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99B5946-635D-A28A-F955-160A280D3867}"/>
              </a:ext>
            </a:extLst>
          </p:cNvPr>
          <p:cNvSpPr>
            <a:spLocks noGrp="1"/>
          </p:cNvSpPr>
          <p:nvPr>
            <p:ph type="sldNum" sz="quarter" idx="5"/>
          </p:nvPr>
        </p:nvSpPr>
        <p:spPr/>
        <p:txBody>
          <a:bodyPr/>
          <a:lstStyle/>
          <a:p>
            <a:fld id="{CF541D2A-E99A-2F4F-B8C9-28142709F87F}" type="slidenum">
              <a:rPr lang="en-US" smtClean="0"/>
              <a:pPr/>
              <a:t>39</a:t>
            </a:fld>
            <a:endParaRPr lang="en-US"/>
          </a:p>
        </p:txBody>
      </p:sp>
    </p:spTree>
    <p:extLst>
      <p:ext uri="{BB962C8B-B14F-4D97-AF65-F5344CB8AC3E}">
        <p14:creationId xmlns:p14="http://schemas.microsoft.com/office/powerpoint/2010/main" val="2027486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0457-1086-805D-7B8C-4552C6B24EC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AD44F6-CF37-7DA4-B233-114AF92DAF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6E29664-E6EC-D589-E4C5-F47217EB93C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231DF38-3535-26FC-9F20-F2F3AE30940A}"/>
              </a:ext>
            </a:extLst>
          </p:cNvPr>
          <p:cNvSpPr>
            <a:spLocks noGrp="1"/>
          </p:cNvSpPr>
          <p:nvPr>
            <p:ph type="sldNum" sz="quarter" idx="5"/>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15900586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93269-B6FC-2DE5-661E-97B5924D82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A45502-AB3F-6132-2A06-CC7EE6087B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947943-AF35-76D7-1090-2AEEC90BC46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77F2EFC-C250-80EF-A2B4-12D559B48276}"/>
              </a:ext>
            </a:extLst>
          </p:cNvPr>
          <p:cNvSpPr>
            <a:spLocks noGrp="1"/>
          </p:cNvSpPr>
          <p:nvPr>
            <p:ph type="sldNum" sz="quarter" idx="5"/>
          </p:nvPr>
        </p:nvSpPr>
        <p:spPr/>
        <p:txBody>
          <a:bodyPr/>
          <a:lstStyle/>
          <a:p>
            <a:fld id="{CF541D2A-E99A-2F4F-B8C9-28142709F87F}" type="slidenum">
              <a:rPr lang="en-US" smtClean="0"/>
              <a:pPr/>
              <a:t>41</a:t>
            </a:fld>
            <a:endParaRPr lang="en-US"/>
          </a:p>
        </p:txBody>
      </p:sp>
    </p:spTree>
    <p:extLst>
      <p:ext uri="{BB962C8B-B14F-4D97-AF65-F5344CB8AC3E}">
        <p14:creationId xmlns:p14="http://schemas.microsoft.com/office/powerpoint/2010/main" val="42823543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17BEF-F269-C386-09FF-20AA024685B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73FD18-8B5E-C994-6BB1-D6BBAE3464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32B52A-10E3-C065-413C-5ACB1D0011D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6D0F855-5751-1C4F-8476-EE28DBB46FC0}"/>
              </a:ext>
            </a:extLst>
          </p:cNvPr>
          <p:cNvSpPr>
            <a:spLocks noGrp="1"/>
          </p:cNvSpPr>
          <p:nvPr>
            <p:ph type="sldNum" sz="quarter" idx="5"/>
          </p:nvPr>
        </p:nvSpPr>
        <p:spPr/>
        <p:txBody>
          <a:bodyPr/>
          <a:lstStyle/>
          <a:p>
            <a:fld id="{CF541D2A-E99A-2F4F-B8C9-28142709F87F}" type="slidenum">
              <a:rPr lang="en-US" smtClean="0"/>
              <a:pPr/>
              <a:t>42</a:t>
            </a:fld>
            <a:endParaRPr lang="en-US"/>
          </a:p>
        </p:txBody>
      </p:sp>
    </p:spTree>
    <p:extLst>
      <p:ext uri="{BB962C8B-B14F-4D97-AF65-F5344CB8AC3E}">
        <p14:creationId xmlns:p14="http://schemas.microsoft.com/office/powerpoint/2010/main" val="41154930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A0C5A-0E59-8AD1-991A-434BE0DF2C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1BE82A-8E48-E1FF-F561-B9738DD82C1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08F942-BCBF-DD9D-C391-3E260AD46E1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F80AE43-561A-2794-C1F5-B200A50D4D93}"/>
              </a:ext>
            </a:extLst>
          </p:cNvPr>
          <p:cNvSpPr>
            <a:spLocks noGrp="1"/>
          </p:cNvSpPr>
          <p:nvPr>
            <p:ph type="sldNum" sz="quarter" idx="5"/>
          </p:nvPr>
        </p:nvSpPr>
        <p:spPr/>
        <p:txBody>
          <a:bodyPr/>
          <a:lstStyle/>
          <a:p>
            <a:fld id="{CF541D2A-E99A-2F4F-B8C9-28142709F87F}" type="slidenum">
              <a:rPr lang="en-US" smtClean="0"/>
              <a:pPr/>
              <a:t>43</a:t>
            </a:fld>
            <a:endParaRPr lang="en-US"/>
          </a:p>
        </p:txBody>
      </p:sp>
    </p:spTree>
    <p:extLst>
      <p:ext uri="{BB962C8B-B14F-4D97-AF65-F5344CB8AC3E}">
        <p14:creationId xmlns:p14="http://schemas.microsoft.com/office/powerpoint/2010/main" val="32517716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E2F39-9D23-6196-001C-117DD6C65C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F59035-E95A-BAAC-BA8F-ED5C1CF559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B18B34-41BB-2EEE-EB13-92A09A6340D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D96F176-1D61-DB6A-09F6-445029C21B4D}"/>
              </a:ext>
            </a:extLst>
          </p:cNvPr>
          <p:cNvSpPr>
            <a:spLocks noGrp="1"/>
          </p:cNvSpPr>
          <p:nvPr>
            <p:ph type="sldNum" sz="quarter" idx="5"/>
          </p:nvPr>
        </p:nvSpPr>
        <p:spPr/>
        <p:txBody>
          <a:bodyPr/>
          <a:lstStyle/>
          <a:p>
            <a:fld id="{CF541D2A-E99A-2F4F-B8C9-28142709F87F}" type="slidenum">
              <a:rPr lang="en-US" smtClean="0"/>
              <a:pPr/>
              <a:t>44</a:t>
            </a:fld>
            <a:endParaRPr lang="en-US"/>
          </a:p>
        </p:txBody>
      </p:sp>
    </p:spTree>
    <p:extLst>
      <p:ext uri="{BB962C8B-B14F-4D97-AF65-F5344CB8AC3E}">
        <p14:creationId xmlns:p14="http://schemas.microsoft.com/office/powerpoint/2010/main" val="27213180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0DD56-4A66-730A-D8A9-3F2D84FF84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6EB7C3-E860-DAA9-6AA2-BEE1625050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F06AFF7-33A2-2823-E4D4-62BA2D2B781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25D7F69-C1F0-96E5-4396-D12BFAE2230F}"/>
              </a:ext>
            </a:extLst>
          </p:cNvPr>
          <p:cNvSpPr>
            <a:spLocks noGrp="1"/>
          </p:cNvSpPr>
          <p:nvPr>
            <p:ph type="sldNum" sz="quarter" idx="5"/>
          </p:nvPr>
        </p:nvSpPr>
        <p:spPr/>
        <p:txBody>
          <a:bodyPr/>
          <a:lstStyle/>
          <a:p>
            <a:fld id="{CF541D2A-E99A-2F4F-B8C9-28142709F87F}" type="slidenum">
              <a:rPr lang="en-US" smtClean="0"/>
              <a:pPr/>
              <a:t>46</a:t>
            </a:fld>
            <a:endParaRPr lang="en-US"/>
          </a:p>
        </p:txBody>
      </p:sp>
    </p:spTree>
    <p:extLst>
      <p:ext uri="{BB962C8B-B14F-4D97-AF65-F5344CB8AC3E}">
        <p14:creationId xmlns:p14="http://schemas.microsoft.com/office/powerpoint/2010/main" val="41194693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FC62F-8FAA-B685-FA01-639CCAE097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CB3EF3-9CC2-4ADD-050D-03B7825F79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693D73-605A-C469-D0A3-0A9B21BE0E7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D0E97E3-7B10-9633-C2BF-849DA8FFA472}"/>
              </a:ext>
            </a:extLst>
          </p:cNvPr>
          <p:cNvSpPr>
            <a:spLocks noGrp="1"/>
          </p:cNvSpPr>
          <p:nvPr>
            <p:ph type="sldNum" sz="quarter" idx="5"/>
          </p:nvPr>
        </p:nvSpPr>
        <p:spPr/>
        <p:txBody>
          <a:bodyPr/>
          <a:lstStyle/>
          <a:p>
            <a:fld id="{CF541D2A-E99A-2F4F-B8C9-28142709F87F}" type="slidenum">
              <a:rPr lang="en-US" smtClean="0"/>
              <a:pPr/>
              <a:t>47</a:t>
            </a:fld>
            <a:endParaRPr lang="en-US"/>
          </a:p>
        </p:txBody>
      </p:sp>
    </p:spTree>
    <p:extLst>
      <p:ext uri="{BB962C8B-B14F-4D97-AF65-F5344CB8AC3E}">
        <p14:creationId xmlns:p14="http://schemas.microsoft.com/office/powerpoint/2010/main" val="25981432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66601-45C7-04BC-F876-92F482569EF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7B4C419-16B2-CBB7-50B9-A03A66D4994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D5908FD-847C-443C-F851-83C008CF724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0273D4B-0EC2-1D47-B7EC-03DF35330F7D}"/>
              </a:ext>
            </a:extLst>
          </p:cNvPr>
          <p:cNvSpPr>
            <a:spLocks noGrp="1"/>
          </p:cNvSpPr>
          <p:nvPr>
            <p:ph type="sldNum" sz="quarter" idx="5"/>
          </p:nvPr>
        </p:nvSpPr>
        <p:spPr/>
        <p:txBody>
          <a:bodyPr/>
          <a:lstStyle/>
          <a:p>
            <a:fld id="{CF541D2A-E99A-2F4F-B8C9-28142709F87F}" type="slidenum">
              <a:rPr lang="en-US" smtClean="0"/>
              <a:pPr/>
              <a:t>48</a:t>
            </a:fld>
            <a:endParaRPr lang="en-US"/>
          </a:p>
        </p:txBody>
      </p:sp>
    </p:spTree>
    <p:extLst>
      <p:ext uri="{BB962C8B-B14F-4D97-AF65-F5344CB8AC3E}">
        <p14:creationId xmlns:p14="http://schemas.microsoft.com/office/powerpoint/2010/main" val="2923976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2D73-81FF-41BF-D8EF-511B5890D7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DE5580-BB75-E189-2D44-804D552C7A3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7105E32-1825-4E10-F6A4-F1AC8CE81EF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0E7247B-0E38-C84A-3FBA-4E4937697C95}"/>
              </a:ext>
            </a:extLst>
          </p:cNvPr>
          <p:cNvSpPr>
            <a:spLocks noGrp="1"/>
          </p:cNvSpPr>
          <p:nvPr>
            <p:ph type="sldNum" sz="quarter" idx="5"/>
          </p:nvPr>
        </p:nvSpPr>
        <p:spPr/>
        <p:txBody>
          <a:bodyPr/>
          <a:lstStyle/>
          <a:p>
            <a:fld id="{CF541D2A-E99A-2F4F-B8C9-28142709F87F}" type="slidenum">
              <a:rPr lang="en-US" smtClean="0"/>
              <a:pPr/>
              <a:t>49</a:t>
            </a:fld>
            <a:endParaRPr lang="en-US"/>
          </a:p>
        </p:txBody>
      </p:sp>
    </p:spTree>
    <p:extLst>
      <p:ext uri="{BB962C8B-B14F-4D97-AF65-F5344CB8AC3E}">
        <p14:creationId xmlns:p14="http://schemas.microsoft.com/office/powerpoint/2010/main" val="28540818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87C09-5025-DC95-66C0-5F65F70784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DE3C78-8B30-06CA-6755-AACE71C356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3F1694-97C0-9031-C940-706E142E85C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4F8EC0F-25A3-0059-382D-96E86422BFFF}"/>
              </a:ext>
            </a:extLst>
          </p:cNvPr>
          <p:cNvSpPr>
            <a:spLocks noGrp="1"/>
          </p:cNvSpPr>
          <p:nvPr>
            <p:ph type="sldNum" sz="quarter" idx="5"/>
          </p:nvPr>
        </p:nvSpPr>
        <p:spPr/>
        <p:txBody>
          <a:bodyPr/>
          <a:lstStyle/>
          <a:p>
            <a:fld id="{CF541D2A-E99A-2F4F-B8C9-28142709F87F}" type="slidenum">
              <a:rPr lang="en-US" smtClean="0"/>
              <a:pPr/>
              <a:t>50</a:t>
            </a:fld>
            <a:endParaRPr lang="en-US"/>
          </a:p>
        </p:txBody>
      </p:sp>
    </p:spTree>
    <p:extLst>
      <p:ext uri="{BB962C8B-B14F-4D97-AF65-F5344CB8AC3E}">
        <p14:creationId xmlns:p14="http://schemas.microsoft.com/office/powerpoint/2010/main" val="35864140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7A661-07C8-D9B9-745C-6A64F3F3E6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7D6A4B-79B5-C9CD-7835-32BDC27E9BD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93D6CF4-6974-C5BC-AAF3-F991FD05373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1760F91-148E-F1A3-B010-42EB1D19F2C8}"/>
              </a:ext>
            </a:extLst>
          </p:cNvPr>
          <p:cNvSpPr>
            <a:spLocks noGrp="1"/>
          </p:cNvSpPr>
          <p:nvPr>
            <p:ph type="sldNum" sz="quarter" idx="5"/>
          </p:nvPr>
        </p:nvSpPr>
        <p:spPr/>
        <p:txBody>
          <a:bodyPr/>
          <a:lstStyle/>
          <a:p>
            <a:fld id="{CF541D2A-E99A-2F4F-B8C9-28142709F87F}" type="slidenum">
              <a:rPr lang="en-US" smtClean="0"/>
              <a:pPr/>
              <a:t>52</a:t>
            </a:fld>
            <a:endParaRPr lang="en-US"/>
          </a:p>
        </p:txBody>
      </p:sp>
    </p:spTree>
    <p:extLst>
      <p:ext uri="{BB962C8B-B14F-4D97-AF65-F5344CB8AC3E}">
        <p14:creationId xmlns:p14="http://schemas.microsoft.com/office/powerpoint/2010/main" val="39444130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570E-E599-AF92-85D2-182960AF40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4BFC730-0301-E39B-FC6B-1D54C0EB5B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F329969-FDD3-2F47-49A9-83251FE2C9C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8727793-C978-21F1-78C0-071529667D8D}"/>
              </a:ext>
            </a:extLst>
          </p:cNvPr>
          <p:cNvSpPr>
            <a:spLocks noGrp="1"/>
          </p:cNvSpPr>
          <p:nvPr>
            <p:ph type="sldNum" sz="quarter" idx="5"/>
          </p:nvPr>
        </p:nvSpPr>
        <p:spPr/>
        <p:txBody>
          <a:bodyPr/>
          <a:lstStyle/>
          <a:p>
            <a:fld id="{CF541D2A-E99A-2F4F-B8C9-28142709F87F}" type="slidenum">
              <a:rPr lang="en-US" smtClean="0"/>
              <a:pPr/>
              <a:t>53</a:t>
            </a:fld>
            <a:endParaRPr lang="en-US"/>
          </a:p>
        </p:txBody>
      </p:sp>
    </p:spTree>
    <p:extLst>
      <p:ext uri="{BB962C8B-B14F-4D97-AF65-F5344CB8AC3E}">
        <p14:creationId xmlns:p14="http://schemas.microsoft.com/office/powerpoint/2010/main" val="34357921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9EA05-A50E-8A06-6271-2B97D3E8C2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C98CB9-24CD-D5A0-05CA-2257ED9A6D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29FEF6D-C875-9343-20B8-1E7D5EDFF50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C1CB082-CB19-4A27-80B8-2F9022E94619}"/>
              </a:ext>
            </a:extLst>
          </p:cNvPr>
          <p:cNvSpPr>
            <a:spLocks noGrp="1"/>
          </p:cNvSpPr>
          <p:nvPr>
            <p:ph type="sldNum" sz="quarter" idx="5"/>
          </p:nvPr>
        </p:nvSpPr>
        <p:spPr/>
        <p:txBody>
          <a:bodyPr/>
          <a:lstStyle/>
          <a:p>
            <a:fld id="{CF541D2A-E99A-2F4F-B8C9-28142709F87F}" type="slidenum">
              <a:rPr lang="en-US" smtClean="0"/>
              <a:pPr/>
              <a:t>54</a:t>
            </a:fld>
            <a:endParaRPr lang="en-US"/>
          </a:p>
        </p:txBody>
      </p:sp>
    </p:spTree>
    <p:extLst>
      <p:ext uri="{BB962C8B-B14F-4D97-AF65-F5344CB8AC3E}">
        <p14:creationId xmlns:p14="http://schemas.microsoft.com/office/powerpoint/2010/main" val="42795679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81DD0-7B76-9083-B355-D68170554D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06C504-3F42-2C31-0F04-7E801033854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1ED0652-9C83-3E1E-570E-79F04CBC91D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D756E84-3AF2-19A8-2E4A-84A4ADDF182A}"/>
              </a:ext>
            </a:extLst>
          </p:cNvPr>
          <p:cNvSpPr>
            <a:spLocks noGrp="1"/>
          </p:cNvSpPr>
          <p:nvPr>
            <p:ph type="sldNum" sz="quarter" idx="5"/>
          </p:nvPr>
        </p:nvSpPr>
        <p:spPr/>
        <p:txBody>
          <a:bodyPr/>
          <a:lstStyle/>
          <a:p>
            <a:fld id="{CF541D2A-E99A-2F4F-B8C9-28142709F87F}" type="slidenum">
              <a:rPr lang="en-US" smtClean="0"/>
              <a:pPr/>
              <a:t>55</a:t>
            </a:fld>
            <a:endParaRPr lang="en-US"/>
          </a:p>
        </p:txBody>
      </p:sp>
    </p:spTree>
    <p:extLst>
      <p:ext uri="{BB962C8B-B14F-4D97-AF65-F5344CB8AC3E}">
        <p14:creationId xmlns:p14="http://schemas.microsoft.com/office/powerpoint/2010/main" val="10045478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D6C70-AA2F-84F3-B2EE-3CE862C74E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711735-700F-EB62-8BB3-FCA28F83755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A1223F7-F167-391B-97A6-C072BF7F727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04D0C49-7132-AC33-F6E6-DEEA616CAAA2}"/>
              </a:ext>
            </a:extLst>
          </p:cNvPr>
          <p:cNvSpPr>
            <a:spLocks noGrp="1"/>
          </p:cNvSpPr>
          <p:nvPr>
            <p:ph type="sldNum" sz="quarter" idx="5"/>
          </p:nvPr>
        </p:nvSpPr>
        <p:spPr/>
        <p:txBody>
          <a:bodyPr/>
          <a:lstStyle/>
          <a:p>
            <a:fld id="{CF541D2A-E99A-2F4F-B8C9-28142709F87F}" type="slidenum">
              <a:rPr lang="en-US" smtClean="0"/>
              <a:pPr/>
              <a:t>56</a:t>
            </a:fld>
            <a:endParaRPr lang="en-US"/>
          </a:p>
        </p:txBody>
      </p:sp>
    </p:spTree>
    <p:extLst>
      <p:ext uri="{BB962C8B-B14F-4D97-AF65-F5344CB8AC3E}">
        <p14:creationId xmlns:p14="http://schemas.microsoft.com/office/powerpoint/2010/main" val="36896024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6B658-4A13-FCDF-D2E8-1FF1B815EE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24580E-DF8A-B41D-9C95-AD11FA5559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35676C-DBD2-2966-59BD-A1620171BB4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F1BB281-EA08-AEF8-64AA-95D940D4DC39}"/>
              </a:ext>
            </a:extLst>
          </p:cNvPr>
          <p:cNvSpPr>
            <a:spLocks noGrp="1"/>
          </p:cNvSpPr>
          <p:nvPr>
            <p:ph type="sldNum" sz="quarter" idx="5"/>
          </p:nvPr>
        </p:nvSpPr>
        <p:spPr/>
        <p:txBody>
          <a:bodyPr/>
          <a:lstStyle/>
          <a:p>
            <a:fld id="{CF541D2A-E99A-2F4F-B8C9-28142709F87F}" type="slidenum">
              <a:rPr lang="en-US" smtClean="0"/>
              <a:pPr/>
              <a:t>57</a:t>
            </a:fld>
            <a:endParaRPr lang="en-US"/>
          </a:p>
        </p:txBody>
      </p:sp>
    </p:spTree>
    <p:extLst>
      <p:ext uri="{BB962C8B-B14F-4D97-AF65-F5344CB8AC3E}">
        <p14:creationId xmlns:p14="http://schemas.microsoft.com/office/powerpoint/2010/main" val="22820669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4BB48-3A0B-92CE-6CE4-1031AD9649C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2AC06B-5B51-94A8-42B2-4B2CDD4CCAD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263E69-3180-882A-8017-B3D1F10A66C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67F7ECB-18F7-4D47-8C87-2D9FC75CAA1C}"/>
              </a:ext>
            </a:extLst>
          </p:cNvPr>
          <p:cNvSpPr>
            <a:spLocks noGrp="1"/>
          </p:cNvSpPr>
          <p:nvPr>
            <p:ph type="sldNum" sz="quarter" idx="5"/>
          </p:nvPr>
        </p:nvSpPr>
        <p:spPr/>
        <p:txBody>
          <a:bodyPr/>
          <a:lstStyle/>
          <a:p>
            <a:fld id="{CF541D2A-E99A-2F4F-B8C9-28142709F87F}" type="slidenum">
              <a:rPr lang="en-US" smtClean="0"/>
              <a:pPr/>
              <a:t>58</a:t>
            </a:fld>
            <a:endParaRPr lang="en-US"/>
          </a:p>
        </p:txBody>
      </p:sp>
    </p:spTree>
    <p:extLst>
      <p:ext uri="{BB962C8B-B14F-4D97-AF65-F5344CB8AC3E}">
        <p14:creationId xmlns:p14="http://schemas.microsoft.com/office/powerpoint/2010/main" val="32675991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14541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62074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87855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84752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57563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17660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8523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9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869772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027169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075907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801455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204399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380008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12742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07094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22063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919084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683408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913015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217230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243262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940606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3277762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576225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229887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831669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285059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438464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876544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758798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739202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696179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14-07-2026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469178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221531294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252981230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71260118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333520942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238620072"/>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5144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599480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343872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994904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141815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253451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755543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87031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649937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565368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492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6937944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378519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668208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88488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7339614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8316136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232061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2402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8067623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 id="2147483750" r:id="rId3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264098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9.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39.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39.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39.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39.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39.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39.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39.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39.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3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1.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881998" cy="1167179"/>
          </a:xfrm>
        </p:spPr>
        <p:txBody>
          <a:bodyPr/>
          <a:lstStyle/>
          <a:p>
            <a:r>
              <a:rPr lang="es-CO" dirty="0"/>
              <a:t>Gestionar retiro de cursos</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674095"/>
          </a:xfrm>
        </p:spPr>
        <p:txBody>
          <a:bodyPr/>
          <a:lstStyle/>
          <a:p>
            <a:endParaRPr lang="es-ES" sz="1800" dirty="0"/>
          </a:p>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194925"/>
          </a:xfrm>
        </p:spPr>
        <p:txBody>
          <a:bodyPr/>
          <a:lstStyle/>
          <a:p>
            <a:r>
              <a:rPr lang="es-419" dirty="0"/>
              <a:t>Universidad de Señor de SIPAN</a:t>
            </a:r>
            <a:endParaRPr lang="es-CL" dirty="0"/>
          </a:p>
        </p:txBody>
      </p:sp>
      <p:sp>
        <p:nvSpPr>
          <p:cNvPr id="6" name="Marcador de texto 5">
            <a:extLst>
              <a:ext uri="{FF2B5EF4-FFF2-40B4-BE49-F238E27FC236}">
                <a16:creationId xmlns:a16="http://schemas.microsoft.com/office/drawing/2014/main" id="{64129C26-F47C-FF9C-252B-A5DA07F37989}"/>
              </a:ext>
            </a:extLst>
          </p:cNvPr>
          <p:cNvSpPr>
            <a:spLocks noGrp="1"/>
          </p:cNvSpPr>
          <p:nvPr>
            <p:ph type="body" sz="quarter" idx="13"/>
          </p:nvPr>
        </p:nvSpPr>
        <p:spPr/>
        <p:txBody>
          <a:bodyPr/>
          <a:lstStyle/>
          <a:p>
            <a:r>
              <a:rPr lang="es-419" dirty="0"/>
              <a:t>Julio, 2026</a:t>
            </a:r>
          </a:p>
        </p:txBody>
      </p:sp>
      <p:pic>
        <p:nvPicPr>
          <p:cNvPr id="9" name="Marcador de posición de imagen 8" descr="Un grupo de folletos sobre una mesa de madera&#10;&#10;El contenido generado por IA puede ser incorrecto.">
            <a:extLst>
              <a:ext uri="{FF2B5EF4-FFF2-40B4-BE49-F238E27FC236}">
                <a16:creationId xmlns:a16="http://schemas.microsoft.com/office/drawing/2014/main" id="{80FC90EB-A950-55F9-C482-D120F7C34756}"/>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retiro de cursos</a:t>
            </a:r>
            <a:endParaRPr lang="es-419"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2797603836"/>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Gestionar retiro de cursos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retiro de cursos</a:t>
            </a:r>
            <a:endParaRPr lang="es-419"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´Gestión de la Inscripción Académica</a:t>
            </a:r>
          </a:p>
        </p:txBody>
      </p:sp>
      <p:sp>
        <p:nvSpPr>
          <p:cNvPr id="17" name="Slide Number Placeholder 16">
            <a:extLst>
              <a:ext uri="{FF2B5EF4-FFF2-40B4-BE49-F238E27FC236}">
                <a16:creationId xmlns:a16="http://schemas.microsoft.com/office/drawing/2014/main" id="{8AC1633D-9215-2128-452C-BEE52AEB6D5E}"/>
              </a:ext>
            </a:extLst>
          </p:cNvPr>
          <p:cNvSpPr>
            <a:spLocks noGrp="1"/>
          </p:cNvSpPr>
          <p:nvPr>
            <p:ph type="sldNum" sz="quarter" idx="4"/>
          </p:nvPr>
        </p:nvSpPr>
        <p:spPr/>
        <p:txBody>
          <a:bodyPr/>
          <a:lstStyle/>
          <a:p>
            <a:fld id="{4A16F8ED-7337-F64C-865A-41A1F48E54DF}" type="slidenum">
              <a:rPr lang="en-US" smtClean="0"/>
              <a:pPr/>
              <a:t>4</a:t>
            </a:fld>
            <a:endParaRPr lang="en-US"/>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ES_tradnl" sz="3200" dirty="0">
                <a:solidFill>
                  <a:schemeClr val="tx2"/>
                </a:solidFill>
              </a:rPr>
              <a:t>Overview: </a:t>
            </a:r>
            <a:r>
              <a:rPr lang="es-ES_tradnl" sz="3200" b="1" dirty="0">
                <a:solidFill>
                  <a:schemeClr val="tx2"/>
                </a:solidFill>
              </a:rPr>
              <a:t>Mapa de capacidades</a:t>
            </a:r>
            <a:endParaRPr lang="en-US" dirty="0"/>
          </a:p>
        </p:txBody>
      </p:sp>
      <p:pic>
        <p:nvPicPr>
          <p:cNvPr id="2" name="Imagen 2">
            <a:extLst>
              <a:ext uri="{FF2B5EF4-FFF2-40B4-BE49-F238E27FC236}">
                <a16:creationId xmlns:a16="http://schemas.microsoft.com/office/drawing/2014/main" id="{CD767F04-A4F8-7CF9-45B1-8070B88894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166297"/>
            <a:ext cx="10180101" cy="4796619"/>
          </a:xfrm>
          <a:prstGeom prst="rect">
            <a:avLst/>
          </a:prstGeom>
        </p:spPr>
      </p:pic>
      <p:sp>
        <p:nvSpPr>
          <p:cNvPr id="6" name="Rectangle 5">
            <a:extLst>
              <a:ext uri="{FF2B5EF4-FFF2-40B4-BE49-F238E27FC236}">
                <a16:creationId xmlns:a16="http://schemas.microsoft.com/office/drawing/2014/main" id="{226A4735-976B-631C-3E5A-3509C44EC4B5}"/>
              </a:ext>
            </a:extLst>
          </p:cNvPr>
          <p:cNvSpPr/>
          <p:nvPr/>
        </p:nvSpPr>
        <p:spPr>
          <a:xfrm>
            <a:off x="1463336" y="4713818"/>
            <a:ext cx="3986487" cy="6728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3312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031009" y="1584355"/>
            <a:ext cx="9698935" cy="3737745"/>
          </a:xfrm>
        </p:spPr>
        <p:txBody>
          <a:bodyPr anchor="ctr"/>
          <a:lstStyle/>
          <a:p>
            <a:pPr marL="0" lvl="0" indent="0" algn="just">
              <a:buClr>
                <a:srgbClr val="0CB4B4"/>
              </a:buClr>
              <a:buNone/>
            </a:pPr>
            <a:r>
              <a:rPr lang="es-CO" sz="2000" dirty="0"/>
              <a:t>Tiene como propósito </a:t>
            </a:r>
            <a:r>
              <a:rPr lang="es-CO" sz="2000" b="1" dirty="0"/>
              <a:t>administrar el registro y retiro de asignaturas</a:t>
            </a:r>
            <a:r>
              <a:rPr lang="es-CO" sz="2000" dirty="0"/>
              <a:t> que los estudiantes cursarán en un periodo académico. Para ello utiliza los distintos </a:t>
            </a:r>
            <a:r>
              <a:rPr lang="es-CO" sz="2000" b="1" dirty="0"/>
              <a:t>modelos de inscripción</a:t>
            </a:r>
            <a:r>
              <a:rPr lang="es-CO" sz="2000" dirty="0"/>
              <a:t> definidos por la institución —como inscripción básica, estructurada o proyectada— y opera en conjunto con funcionalidades complementarias como la </a:t>
            </a:r>
            <a:r>
              <a:rPr lang="es-CO" sz="2000" b="1" dirty="0"/>
              <a:t>gestión de turnos</a:t>
            </a:r>
            <a:r>
              <a:rPr lang="es-CO" sz="2000" dirty="0"/>
              <a:t>, </a:t>
            </a:r>
            <a:r>
              <a:rPr lang="es-CO" sz="2000" b="1" dirty="0"/>
              <a:t>inscripción por bloques</a:t>
            </a:r>
            <a:r>
              <a:rPr lang="es-CO" sz="2000" dirty="0"/>
              <a:t>, </a:t>
            </a:r>
            <a:r>
              <a:rPr lang="es-CO" sz="2000" b="1" dirty="0"/>
              <a:t>listas de espera</a:t>
            </a:r>
            <a:r>
              <a:rPr lang="es-CO" sz="2000" dirty="0"/>
              <a:t>, </a:t>
            </a:r>
            <a:r>
              <a:rPr lang="es-CO" sz="2000" b="1" dirty="0"/>
              <a:t>sobrepasos</a:t>
            </a:r>
            <a:r>
              <a:rPr lang="es-CO" sz="2000" dirty="0"/>
              <a:t>, entre otras herramientas que permiten controlar y organizar el proceso de matrícula de manera eficiente.</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CL" dirty="0">
              <a:solidFill>
                <a:schemeClr val="tx2"/>
              </a:solidFill>
            </a:endParaRPr>
          </a:p>
        </p:txBody>
      </p:sp>
      <p:sp>
        <p:nvSpPr>
          <p:cNvPr id="7" name="Vertical Text Placeholder 3">
            <a:extLst>
              <a:ext uri="{FF2B5EF4-FFF2-40B4-BE49-F238E27FC236}">
                <a16:creationId xmlns:a16="http://schemas.microsoft.com/office/drawing/2014/main" id="{7A5B615C-2E6F-63B7-AAC2-AA0545E94BBE}"/>
              </a:ext>
            </a:extLst>
          </p:cNvPr>
          <p:cNvSpPr>
            <a:spLocks noGrp="1"/>
          </p:cNvSpPr>
          <p:nvPr>
            <p:ph type="body" orient="vert" sz="quarter" idx="17"/>
          </p:nvPr>
        </p:nvSpPr>
        <p:spPr>
          <a:xfrm rot="10800000">
            <a:off x="0" y="685800"/>
            <a:ext cx="609600" cy="5486399"/>
          </a:xfrm>
        </p:spPr>
        <p:txBody>
          <a:bodyPr/>
          <a:lstStyle/>
          <a:p>
            <a:r>
              <a:rPr lang="es-419" sz="1200" dirty="0"/>
              <a:t>´Gestión de la Inscripción Académica</a:t>
            </a:r>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924354" y="1500996"/>
            <a:ext cx="10136257" cy="4671203"/>
          </a:xfrm>
        </p:spPr>
        <p:txBody>
          <a:bodyPr vert="horz" lIns="91440" tIns="45720" rIns="91440" bIns="45720" rtlCol="0" anchor="t">
            <a:noAutofit/>
          </a:bodyPr>
          <a:lstStyle/>
          <a:p>
            <a:pPr>
              <a:buClr>
                <a:schemeClr val="bg2">
                  <a:lumMod val="10000"/>
                </a:schemeClr>
              </a:buClr>
              <a:buFont typeface="Wingdings" panose="05000000000000000000" pitchFamily="2" charset="2"/>
              <a:buChar char="v"/>
            </a:pPr>
            <a:r>
              <a:rPr lang="es-ES" sz="2400" dirty="0">
                <a:solidFill>
                  <a:srgbClr val="7030A0"/>
                </a:solidFill>
              </a:rPr>
              <a:t> </a:t>
            </a:r>
            <a:r>
              <a:rPr lang="es-ES" sz="2400" b="1" dirty="0">
                <a:solidFill>
                  <a:srgbClr val="7030A0"/>
                </a:solidFill>
              </a:rPr>
              <a:t>Ejecutar Proyección Académica</a:t>
            </a:r>
          </a:p>
          <a:p>
            <a:pPr>
              <a:buClr>
                <a:schemeClr val="bg2">
                  <a:lumMod val="10000"/>
                </a:schemeClr>
              </a:buClr>
              <a:buFont typeface="Wingdings" panose="05000000000000000000" pitchFamily="2" charset="2"/>
              <a:buChar char="v"/>
            </a:pPr>
            <a:r>
              <a:rPr lang="es-ES" sz="2400" b="1" dirty="0">
                <a:solidFill>
                  <a:srgbClr val="7030A0"/>
                </a:solidFill>
              </a:rPr>
              <a:t> </a:t>
            </a:r>
            <a:r>
              <a:rPr lang="es-ES" sz="2400" dirty="0">
                <a:solidFill>
                  <a:srgbClr val="7030A0"/>
                </a:solidFill>
              </a:rPr>
              <a:t>Ejecutar Planificación de cursos</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Básico</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por Bloques</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Estructurado</a:t>
            </a:r>
          </a:p>
          <a:p>
            <a:pPr>
              <a:buClr>
                <a:schemeClr val="bg2">
                  <a:lumMod val="10000"/>
                </a:schemeClr>
              </a:buClr>
              <a:buFont typeface="Wingdings" panose="05000000000000000000" pitchFamily="2" charset="2"/>
              <a:buChar char="v"/>
            </a:pPr>
            <a:r>
              <a:rPr lang="es-CO" sz="2400" dirty="0">
                <a:solidFill>
                  <a:srgbClr val="7030A0"/>
                </a:solidFill>
              </a:rPr>
              <a:t>Inscripción de Cursos por </a:t>
            </a:r>
            <a:r>
              <a:rPr lang="es-CO" sz="2400" dirty="0" err="1">
                <a:solidFill>
                  <a:srgbClr val="7030A0"/>
                </a:solidFill>
              </a:rPr>
              <a:t>Backoffice</a:t>
            </a:r>
            <a:endParaRPr lang="es-CO" sz="2400" dirty="0">
              <a:solidFill>
                <a:srgbClr val="7030A0"/>
              </a:solidFill>
            </a:endParaRPr>
          </a:p>
          <a:p>
            <a:pPr>
              <a:buClr>
                <a:schemeClr val="bg2">
                  <a:lumMod val="10000"/>
                </a:schemeClr>
              </a:buClr>
              <a:buFont typeface="Wingdings" panose="05000000000000000000" pitchFamily="2" charset="2"/>
              <a:buChar char="v"/>
            </a:pPr>
            <a:r>
              <a:rPr lang="es-ES" sz="2400" dirty="0">
                <a:solidFill>
                  <a:srgbClr val="7030A0"/>
                </a:solidFill>
              </a:rPr>
              <a:t>Inscripción de cursos por </a:t>
            </a:r>
            <a:r>
              <a:rPr lang="es-ES" sz="2400" dirty="0" err="1">
                <a:solidFill>
                  <a:srgbClr val="7030A0"/>
                </a:solidFill>
              </a:rPr>
              <a:t>Backoffice</a:t>
            </a:r>
            <a:r>
              <a:rPr lang="es-ES" sz="2400" dirty="0">
                <a:solidFill>
                  <a:srgbClr val="7030A0"/>
                </a:solidFill>
              </a:rPr>
              <a:t> por Bloques</a:t>
            </a:r>
          </a:p>
          <a:p>
            <a:pPr>
              <a:buClr>
                <a:schemeClr val="bg2">
                  <a:lumMod val="10000"/>
                </a:schemeClr>
              </a:buClr>
              <a:buFont typeface="Wingdings" panose="05000000000000000000" pitchFamily="2" charset="2"/>
              <a:buChar char="v"/>
            </a:pPr>
            <a:r>
              <a:rPr lang="es-ES" sz="2400" dirty="0">
                <a:solidFill>
                  <a:srgbClr val="7030A0"/>
                </a:solidFill>
              </a:rPr>
              <a:t>Inscripción de cursos por Lista de Espera</a:t>
            </a:r>
          </a:p>
          <a:p>
            <a:pPr>
              <a:buClr>
                <a:schemeClr val="bg2">
                  <a:lumMod val="10000"/>
                </a:schemeClr>
              </a:buClr>
              <a:buFont typeface="Wingdings" panose="05000000000000000000" pitchFamily="2" charset="2"/>
              <a:buChar char="v"/>
            </a:pPr>
            <a:r>
              <a:rPr lang="es-ES" sz="2400" dirty="0">
                <a:solidFill>
                  <a:srgbClr val="7030A0"/>
                </a:solidFill>
              </a:rPr>
              <a:t>Gestionar Sobrepasos de Inscripción</a:t>
            </a:r>
          </a:p>
          <a:p>
            <a:pPr>
              <a:buClr>
                <a:schemeClr val="bg2">
                  <a:lumMod val="10000"/>
                </a:schemeClr>
              </a:buClr>
              <a:buFont typeface="Wingdings" panose="05000000000000000000" pitchFamily="2" charset="2"/>
              <a:buChar char="v"/>
            </a:pPr>
            <a:r>
              <a:rPr lang="es-ES" sz="2400" dirty="0">
                <a:solidFill>
                  <a:srgbClr val="7030A0"/>
                </a:solidFill>
              </a:rPr>
              <a:t>Gestionar Retiro de Cursos por Autoservicio</a:t>
            </a: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924354" y="236522"/>
            <a:ext cx="10477497" cy="898555"/>
          </a:xfrm>
        </p:spPr>
        <p:txBody>
          <a:bodyPr/>
          <a:lstStyle/>
          <a:p>
            <a:r>
              <a:rPr lang="es-ES_tradnl" sz="3200"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CL" dirty="0">
              <a:solidFill>
                <a:schemeClr val="tx2"/>
              </a:solidFill>
            </a:endParaRPr>
          </a:p>
        </p:txBody>
      </p:sp>
      <p:sp>
        <p:nvSpPr>
          <p:cNvPr id="7" name="Vertical Text Placeholder 3">
            <a:extLst>
              <a:ext uri="{FF2B5EF4-FFF2-40B4-BE49-F238E27FC236}">
                <a16:creationId xmlns:a16="http://schemas.microsoft.com/office/drawing/2014/main" id="{C031A173-880F-0E1B-25E5-A1B03E6E36AE}"/>
              </a:ext>
            </a:extLst>
          </p:cNvPr>
          <p:cNvSpPr txBox="1">
            <a:spLocks/>
          </p:cNvSpPr>
          <p:nvPr/>
        </p:nvSpPr>
        <p:spPr>
          <a:xfrm rot="10800000">
            <a:off x="0" y="5966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´Gestión de la Inscripción Académica</a:t>
            </a:r>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419" sz="3200" dirty="0"/>
          </a:p>
        </p:txBody>
      </p:sp>
      <p:pic>
        <p:nvPicPr>
          <p:cNvPr id="2" name="Picture 49">
            <a:extLst>
              <a:ext uri="{FF2B5EF4-FFF2-40B4-BE49-F238E27FC236}">
                <a16:creationId xmlns:a16="http://schemas.microsoft.com/office/drawing/2014/main" id="{F747E82D-4004-F481-DBFE-93BF2BFB3E5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4" r="840" b="2225"/>
          <a:stretch>
            <a:fillRect/>
          </a:stretch>
        </p:blipFill>
        <p:spPr bwMode="auto">
          <a:xfrm>
            <a:off x="1457864" y="1803624"/>
            <a:ext cx="9622905" cy="3372226"/>
          </a:xfrm>
          <a:prstGeom prst="rect">
            <a:avLst/>
          </a:prstGeom>
          <a:noFill/>
          <a:ln>
            <a:noFill/>
          </a:ln>
          <a:extLst>
            <a:ext uri="{53640926-AAD7-44D8-BBD7-CCE9431645EC}">
              <a14:shadowObscured xmlns:a14="http://schemas.microsoft.com/office/drawing/2010/main"/>
            </a:ext>
          </a:extLst>
        </p:spPr>
      </p:pic>
      <p:sp>
        <p:nvSpPr>
          <p:cNvPr id="7" name="Vertical Text Placeholder 3">
            <a:extLst>
              <a:ext uri="{FF2B5EF4-FFF2-40B4-BE49-F238E27FC236}">
                <a16:creationId xmlns:a16="http://schemas.microsoft.com/office/drawing/2014/main" id="{13913AA1-AF07-8DBA-ED4D-D5C0F670DEA1}"/>
              </a:ext>
            </a:extLst>
          </p:cNvPr>
          <p:cNvSpPr>
            <a:spLocks noGrp="1"/>
          </p:cNvSpPr>
          <p:nvPr>
            <p:ph type="body" orient="vert" sz="quarter" idx="17"/>
          </p:nvPr>
        </p:nvSpPr>
        <p:spPr>
          <a:xfrm rot="10800000">
            <a:off x="0" y="685800"/>
            <a:ext cx="609600" cy="5486399"/>
          </a:xfrm>
        </p:spPr>
        <p:txBody>
          <a:bodyPr/>
          <a:lstStyle/>
          <a:p>
            <a:r>
              <a:rPr lang="es-419" sz="1200" dirty="0"/>
              <a:t>´Gestión de la Inscripción Académica</a:t>
            </a:r>
          </a:p>
        </p:txBody>
      </p:sp>
    </p:spTree>
    <p:extLst>
      <p:ext uri="{BB962C8B-B14F-4D97-AF65-F5344CB8AC3E}">
        <p14:creationId xmlns:p14="http://schemas.microsoft.com/office/powerpoint/2010/main" val="3593469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retiro de cursos</a:t>
            </a:r>
            <a:endParaRPr lang="es-419" dirty="0"/>
          </a:p>
        </p:txBody>
      </p:sp>
      <p:pic>
        <p:nvPicPr>
          <p:cNvPr id="8" name="Imagen 7" descr="Imagen que contiene texto, mapa&#10;&#10;Descripción generada automáticamente">
            <a:extLst>
              <a:ext uri="{FF2B5EF4-FFF2-40B4-BE49-F238E27FC236}">
                <a16:creationId xmlns:a16="http://schemas.microsoft.com/office/drawing/2014/main" id="{171DEDFE-F050-E179-A066-C9F72BC68D9D}"/>
              </a:ext>
            </a:extLst>
          </p:cNvPr>
          <p:cNvPicPr>
            <a:picLocks noChangeAspect="1"/>
          </p:cNvPicPr>
          <p:nvPr/>
        </p:nvPicPr>
        <p:blipFill rotWithShape="1">
          <a:blip r:embed="rId2"/>
          <a:srcRect l="14657" t="34650" b="2103"/>
          <a:stretch/>
        </p:blipFill>
        <p:spPr>
          <a:xfrm>
            <a:off x="3558539" y="1306630"/>
            <a:ext cx="4750021" cy="5049719"/>
          </a:xfrm>
          <a:prstGeom prst="rect">
            <a:avLst/>
          </a:prstGeom>
        </p:spPr>
      </p:pic>
      <p:sp>
        <p:nvSpPr>
          <p:cNvPr id="9" name="CuadroTexto 8">
            <a:extLst>
              <a:ext uri="{FF2B5EF4-FFF2-40B4-BE49-F238E27FC236}">
                <a16:creationId xmlns:a16="http://schemas.microsoft.com/office/drawing/2014/main" id="{CDA0D89D-33DC-4151-D805-A43C6E21B822}"/>
              </a:ext>
            </a:extLst>
          </p:cNvPr>
          <p:cNvSpPr txBox="1"/>
          <p:nvPr/>
        </p:nvSpPr>
        <p:spPr>
          <a:xfrm>
            <a:off x="8921175" y="2785533"/>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1046745"/>
          </a:xfrm>
          <a:prstGeom prst="rect">
            <a:avLst/>
          </a:prstGeom>
        </p:spPr>
        <p:txBody>
          <a:bodyPr vert="horz" lIns="0" tIns="0" rIns="0" bIns="0" rtlCol="0" anchor="t" anchorCtr="0">
            <a:noAutofit/>
          </a:bodyPr>
          <a:lstStyle>
            <a:lvl1pPr>
              <a:lnSpc>
                <a:spcPct val="90000"/>
              </a:lnSpc>
              <a:spcBef>
                <a:spcPct val="0"/>
              </a:spcBef>
              <a:buNone/>
              <a:defRPr sz="3200" b="1">
                <a:solidFill>
                  <a:schemeClr val="tx2"/>
                </a:solidFill>
                <a:latin typeface="+mj-lt"/>
                <a:ea typeface="+mj-ea"/>
                <a:cs typeface="+mj-cs"/>
              </a:defRPr>
            </a:lvl1pPr>
          </a:lstStyle>
          <a:p>
            <a:r>
              <a:rPr lang="es-ES_tradnl" dirty="0"/>
              <a:t>Overview: Macroproceso </a:t>
            </a:r>
            <a:r>
              <a:rPr lang="es-419" dirty="0"/>
              <a:t>Gestionar la inscripción de cursos – Inscripción de Cursos</a:t>
            </a:r>
          </a:p>
        </p:txBody>
      </p:sp>
    </p:spTree>
    <p:extLst>
      <p:ext uri="{BB962C8B-B14F-4D97-AF65-F5344CB8AC3E}">
        <p14:creationId xmlns:p14="http://schemas.microsoft.com/office/powerpoint/2010/main" val="1448098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0" tIns="0" rIns="0" bIns="0" rtlCol="0" anchor="t" anchorCtr="0">
            <a:noAutofit/>
          </a:bodyPr>
          <a:lstStyle>
            <a:defPPr>
              <a:defRPr lang="en-US"/>
            </a:defPPr>
            <a:lvl1pPr>
              <a:lnSpc>
                <a:spcPct val="90000"/>
              </a:lnSpc>
              <a:spcBef>
                <a:spcPct val="0"/>
              </a:spcBef>
              <a:buNone/>
              <a:defRPr sz="3200" b="1">
                <a:solidFill>
                  <a:schemeClr val="tx2"/>
                </a:solidFill>
                <a:latin typeface="+mj-lt"/>
                <a:ea typeface="+mj-ea"/>
                <a:cs typeface="+mj-cs"/>
              </a:defRPr>
            </a:lvl1pPr>
          </a:lstStyle>
          <a:p>
            <a:r>
              <a:rPr lang="es-ES_tradnl" dirty="0"/>
              <a:t>Overview: </a:t>
            </a:r>
            <a:r>
              <a:rPr lang="es-CO" dirty="0"/>
              <a:t>Procedimiento </a:t>
            </a:r>
            <a:r>
              <a:rPr lang="es-419" dirty="0"/>
              <a:t>Gestionar retiro de cursos</a:t>
            </a:r>
          </a:p>
          <a:p>
            <a:endParaRPr lang="es-419" dirty="0"/>
          </a:p>
        </p:txBody>
      </p:sp>
      <p:pic>
        <p:nvPicPr>
          <p:cNvPr id="4" name="Imagen 3" descr="Diagrama&#10;&#10;Descripción generada automáticamente">
            <a:extLst>
              <a:ext uri="{FF2B5EF4-FFF2-40B4-BE49-F238E27FC236}">
                <a16:creationId xmlns:a16="http://schemas.microsoft.com/office/drawing/2014/main" id="{AE93F0D6-08D6-EC42-45A6-1BCD929FEEC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339" t="3071" r="4241" b="2888"/>
          <a:stretch/>
        </p:blipFill>
        <p:spPr bwMode="auto">
          <a:xfrm>
            <a:off x="1368060" y="1792225"/>
            <a:ext cx="9309465" cy="246170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75546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A6BF-A195-B50F-C3BB-73FFCB6357F8}"/>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51945B24-A53A-5B2A-A335-1B6099500175}"/>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7" name="Título 3">
            <a:extLst>
              <a:ext uri="{FF2B5EF4-FFF2-40B4-BE49-F238E27FC236}">
                <a16:creationId xmlns:a16="http://schemas.microsoft.com/office/drawing/2014/main" id="{66B5A0C4-0379-D054-42EB-7E956BE2ED30}"/>
              </a:ext>
            </a:extLst>
          </p:cNvPr>
          <p:cNvSpPr txBox="1">
            <a:spLocks/>
          </p:cNvSpPr>
          <p:nvPr/>
        </p:nvSpPr>
        <p:spPr>
          <a:xfrm>
            <a:off x="1104900" y="452120"/>
            <a:ext cx="10477497" cy="898555"/>
          </a:xfrm>
          <a:prstGeom prst="rect">
            <a:avLst/>
          </a:prstGeom>
        </p:spPr>
        <p:txBody>
          <a:bodyPr vert="horz" lIns="0" tIns="0" rIns="0" bIns="0" rtlCol="0" anchor="t" anchorCtr="0">
            <a:noAutofit/>
          </a:bodyPr>
          <a:lstStyle>
            <a:defPPr>
              <a:defRPr lang="en-US"/>
            </a:defPPr>
            <a:lvl1pPr>
              <a:lnSpc>
                <a:spcPct val="90000"/>
              </a:lnSpc>
              <a:spcBef>
                <a:spcPct val="0"/>
              </a:spcBef>
              <a:buNone/>
              <a:defRPr sz="3200" b="1">
                <a:solidFill>
                  <a:schemeClr val="tx2"/>
                </a:solidFill>
                <a:latin typeface="+mj-lt"/>
                <a:ea typeface="+mj-ea"/>
                <a:cs typeface="+mj-cs"/>
              </a:defRPr>
            </a:lvl1pPr>
          </a:lstStyle>
          <a:p>
            <a:r>
              <a:rPr lang="es-ES_tradnl" dirty="0"/>
              <a:t>Overview: </a:t>
            </a:r>
            <a:r>
              <a:rPr lang="es-CO" dirty="0"/>
              <a:t>Procedimiento</a:t>
            </a:r>
            <a:r>
              <a:rPr lang="es-419" dirty="0"/>
              <a:t>Gestionar retiro de cursos</a:t>
            </a:r>
          </a:p>
        </p:txBody>
      </p:sp>
      <p:sp>
        <p:nvSpPr>
          <p:cNvPr id="4" name="Marcador de texto 1">
            <a:extLst>
              <a:ext uri="{FF2B5EF4-FFF2-40B4-BE49-F238E27FC236}">
                <a16:creationId xmlns:a16="http://schemas.microsoft.com/office/drawing/2014/main" id="{07B16285-E536-FD06-1C3C-4C5E637169C0}"/>
              </a:ext>
            </a:extLst>
          </p:cNvPr>
          <p:cNvSpPr txBox="1">
            <a:spLocks/>
          </p:cNvSpPr>
          <p:nvPr/>
        </p:nvSpPr>
        <p:spPr>
          <a:xfrm>
            <a:off x="996096" y="1350675"/>
            <a:ext cx="10350709" cy="3725360"/>
          </a:xfrm>
          <a:prstGeom prst="rect">
            <a:avLst/>
          </a:prstGeom>
        </p:spPr>
        <p:txBody>
          <a:bodyPr vert="horz" lIns="91440" tIns="45720" rIns="91440" bIns="45720" rtlCol="0" anchor="ctr">
            <a:noAutofit/>
          </a:bodyPr>
          <a:lstStyle>
            <a:lvl1pPr marL="174625" indent="-174625" algn="l" defTabSz="914400" rtl="0" eaLnBrk="1" latinLnBrk="0" hangingPunct="1">
              <a:lnSpc>
                <a:spcPct val="100000"/>
              </a:lnSpc>
              <a:spcBef>
                <a:spcPts val="1000"/>
              </a:spcBef>
              <a:buClr>
                <a:schemeClr val="accent2"/>
              </a:buClr>
              <a:buFont typeface="Arial" panose="020B0604020202020204" pitchFamily="34" charset="0"/>
              <a:buChar char="•"/>
              <a:tabLst/>
              <a:defRPr sz="1600" kern="1200">
                <a:solidFill>
                  <a:schemeClr val="tx1"/>
                </a:solidFill>
                <a:latin typeface="+mn-lt"/>
                <a:ea typeface="+mn-ea"/>
                <a:cs typeface="+mn-cs"/>
              </a:defRPr>
            </a:lvl1pPr>
            <a:lvl2pPr marL="342900" indent="-168275"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2pPr>
            <a:lvl3pPr marL="519113" indent="-176213"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3pPr>
            <a:lvl4pPr marL="685800" indent="-166688"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4pPr>
            <a:lvl5pPr marL="862013" indent="-176213"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chemeClr val="tx1"/>
              </a:buClr>
              <a:buFont typeface="Wingdings" panose="05000000000000000000" pitchFamily="2" charset="2"/>
              <a:buChar char="v"/>
            </a:pPr>
            <a:r>
              <a:rPr lang="es-419" sz="2400" dirty="0">
                <a:solidFill>
                  <a:srgbClr val="7030A0"/>
                </a:solidFill>
              </a:rPr>
              <a:t>La inscripción por </a:t>
            </a:r>
            <a:r>
              <a:rPr lang="es-419" sz="2400" dirty="0" err="1">
                <a:solidFill>
                  <a:srgbClr val="7030A0"/>
                </a:solidFill>
              </a:rPr>
              <a:t>backoffice</a:t>
            </a:r>
            <a:r>
              <a:rPr lang="es-419" sz="2400" dirty="0">
                <a:solidFill>
                  <a:srgbClr val="7030A0"/>
                </a:solidFill>
              </a:rPr>
              <a:t> permite que área administrativa realice la inscripción/retiro de los NRC del estudiante directamente a su carga académica de SFAREGS.</a:t>
            </a:r>
          </a:p>
          <a:p>
            <a:pPr algn="just">
              <a:buClr>
                <a:schemeClr val="tx1"/>
              </a:buClr>
              <a:buFont typeface="Wingdings" panose="05000000000000000000" pitchFamily="2" charset="2"/>
              <a:buChar char="v"/>
            </a:pPr>
            <a:r>
              <a:rPr lang="es-419" sz="2400" dirty="0">
                <a:solidFill>
                  <a:srgbClr val="7030A0"/>
                </a:solidFill>
              </a:rPr>
              <a:t>La inscripción por </a:t>
            </a:r>
            <a:r>
              <a:rPr lang="es-419" sz="2400" dirty="0" err="1">
                <a:solidFill>
                  <a:srgbClr val="7030A0"/>
                </a:solidFill>
              </a:rPr>
              <a:t>backoffice</a:t>
            </a:r>
            <a:r>
              <a:rPr lang="es-419" sz="2400" dirty="0">
                <a:solidFill>
                  <a:srgbClr val="7030A0"/>
                </a:solidFill>
              </a:rPr>
              <a:t>, Banner realiza la verificación de errores de inscripción, por ende, es responsabilidad de la institución abordar estos potenciales errores siendo la acción más frecuente la corrección de los mismos o el sobrepaso a los errores identificados.</a:t>
            </a:r>
          </a:p>
        </p:txBody>
      </p:sp>
    </p:spTree>
    <p:extLst>
      <p:ext uri="{BB962C8B-B14F-4D97-AF65-F5344CB8AC3E}">
        <p14:creationId xmlns:p14="http://schemas.microsoft.com/office/powerpoint/2010/main" val="4032646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retiro de cursos</a:t>
            </a:r>
            <a:endParaRPr lang="es-419"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143C752-CE26-5494-1CDC-DCEB0AE63DDC}"/>
              </a:ext>
            </a:extLst>
          </p:cNvPr>
          <p:cNvSpPr>
            <a:spLocks noGrp="1"/>
          </p:cNvSpPr>
          <p:nvPr>
            <p:ph type="body" sz="quarter" idx="10"/>
          </p:nvPr>
        </p:nvSpPr>
        <p:spPr>
          <a:xfrm>
            <a:off x="914399" y="2238843"/>
            <a:ext cx="10363202" cy="669094"/>
          </a:xfrm>
        </p:spPr>
        <p:txBody>
          <a:bodyPr/>
          <a:lstStyle/>
          <a:p>
            <a:r>
              <a:rPr lang="es-ES_tradnl" dirty="0"/>
              <a:t>Control de periodo</a:t>
            </a:r>
            <a:endParaRPr lang="es-419" dirty="0"/>
          </a:p>
        </p:txBody>
      </p:sp>
      <p:sp>
        <p:nvSpPr>
          <p:cNvPr id="2" name="Marcador de texto vertical 1">
            <a:extLst>
              <a:ext uri="{FF2B5EF4-FFF2-40B4-BE49-F238E27FC236}">
                <a16:creationId xmlns:a16="http://schemas.microsoft.com/office/drawing/2014/main" id="{0320B4EA-306B-0CB1-7AEB-BCE5B580A23E}"/>
              </a:ext>
            </a:extLst>
          </p:cNvPr>
          <p:cNvSpPr>
            <a:spLocks noGrp="1"/>
          </p:cNvSpPr>
          <p:nvPr>
            <p:ph type="body" sz="quarter" idx="11"/>
          </p:nvPr>
        </p:nvSpPr>
        <p:spPr/>
        <p:txBody>
          <a:bodyPr vert="horz" lIns="0" tIns="0" rIns="0" bIns="0" rtlCol="0">
            <a:spAutoFit/>
          </a:bodyPr>
          <a:lstStyle/>
          <a:p>
            <a:r>
              <a:rPr lang="es-419" dirty="0"/>
              <a:t>Gestionar retiro de cursos</a:t>
            </a:r>
          </a:p>
        </p:txBody>
      </p:sp>
    </p:spTree>
    <p:extLst>
      <p:ext uri="{BB962C8B-B14F-4D97-AF65-F5344CB8AC3E}">
        <p14:creationId xmlns:p14="http://schemas.microsoft.com/office/powerpoint/2010/main" val="761672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8E27-D1EF-76A9-43F2-F81781626A5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B74A7EF6-9FC1-9B60-DE5F-89B35E16B832}"/>
              </a:ext>
            </a:extLst>
          </p:cNvPr>
          <p:cNvPicPr>
            <a:picLocks noChangeAspect="1"/>
          </p:cNvPicPr>
          <p:nvPr/>
        </p:nvPicPr>
        <p:blipFill>
          <a:blip r:embed="rId3"/>
          <a:stretch>
            <a:fillRect/>
          </a:stretch>
        </p:blipFill>
        <p:spPr>
          <a:xfrm>
            <a:off x="973116" y="1136950"/>
            <a:ext cx="11109368" cy="4932327"/>
          </a:xfrm>
          <a:prstGeom prst="rect">
            <a:avLst/>
          </a:prstGeom>
        </p:spPr>
      </p:pic>
      <p:sp>
        <p:nvSpPr>
          <p:cNvPr id="2" name="Marcador de texto vertical 1">
            <a:extLst>
              <a:ext uri="{FF2B5EF4-FFF2-40B4-BE49-F238E27FC236}">
                <a16:creationId xmlns:a16="http://schemas.microsoft.com/office/drawing/2014/main" id="{2EED8686-52DA-1917-086A-EA6490D3F5DF}"/>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35B8105D-8D46-2D08-C9AE-F099A1C09B58}"/>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8" name="Rectángulo: esquinas redondeadas 7">
            <a:extLst>
              <a:ext uri="{FF2B5EF4-FFF2-40B4-BE49-F238E27FC236}">
                <a16:creationId xmlns:a16="http://schemas.microsoft.com/office/drawing/2014/main" id="{31EBFF20-A2A8-5E02-FF02-B269CD933106}"/>
              </a:ext>
            </a:extLst>
          </p:cNvPr>
          <p:cNvSpPr/>
          <p:nvPr/>
        </p:nvSpPr>
        <p:spPr>
          <a:xfrm>
            <a:off x="3313465" y="4929405"/>
            <a:ext cx="7629408" cy="113987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Para activar la inscripción básica para un periodo académico, en SOATERM, siga los siguientes pasos:</a:t>
            </a:r>
          </a:p>
          <a:p>
            <a:endParaRPr lang="es-ES_tradnl" sz="1200" dirty="0"/>
          </a:p>
          <a:p>
            <a:pPr marL="228600" indent="-228600">
              <a:buFont typeface="+mj-lt"/>
              <a:buAutoNum type="arabicPeriod"/>
            </a:pPr>
            <a:r>
              <a:rPr lang="es-ES_tradnl" sz="1200" dirty="0"/>
              <a:t>En la pestaña ‘Inscripción’ , active la casilla “</a:t>
            </a:r>
            <a:r>
              <a:rPr lang="es-ES_tradnl" sz="1200" b="1" dirty="0"/>
              <a:t>Permitir</a:t>
            </a:r>
            <a:r>
              <a:rPr lang="es-ES_tradnl" sz="1200" dirty="0"/>
              <a:t>’</a:t>
            </a:r>
          </a:p>
          <a:p>
            <a:pPr marL="228600" indent="-228600">
              <a:buFont typeface="+mj-lt"/>
              <a:buAutoNum type="arabicPeriod"/>
            </a:pPr>
            <a:r>
              <a:rPr lang="es-ES_tradnl" sz="1200" dirty="0"/>
              <a:t>Active la opción  ‘</a:t>
            </a:r>
            <a:r>
              <a:rPr lang="es-ES_tradnl" sz="1200" b="1" dirty="0"/>
              <a:t>Plan de estudios requerido</a:t>
            </a:r>
            <a:r>
              <a:rPr lang="es-ES_tradnl" sz="1200" dirty="0"/>
              <a:t>’ </a:t>
            </a:r>
          </a:p>
          <a:p>
            <a:pPr marL="228600" indent="-228600">
              <a:buFont typeface="+mj-lt"/>
              <a:buAutoNum type="arabicPeriod"/>
            </a:pPr>
            <a:r>
              <a:rPr lang="es-ES_tradnl" sz="1200" dirty="0"/>
              <a:t>Active el Modelo de Inscripción ‘</a:t>
            </a:r>
            <a:r>
              <a:rPr lang="es-ES_tradnl" sz="1200" b="1" dirty="0"/>
              <a:t>Básico</a:t>
            </a:r>
            <a:r>
              <a:rPr lang="es-ES_tradnl" sz="1200" dirty="0"/>
              <a:t>’.</a:t>
            </a:r>
          </a:p>
        </p:txBody>
      </p:sp>
      <p:sp>
        <p:nvSpPr>
          <p:cNvPr id="9" name="Rectángulo 8">
            <a:extLst>
              <a:ext uri="{FF2B5EF4-FFF2-40B4-BE49-F238E27FC236}">
                <a16:creationId xmlns:a16="http://schemas.microsoft.com/office/drawing/2014/main" id="{B860CBB7-52F1-E328-D134-4A44108B6B8D}"/>
              </a:ext>
            </a:extLst>
          </p:cNvPr>
          <p:cNvSpPr/>
          <p:nvPr/>
        </p:nvSpPr>
        <p:spPr>
          <a:xfrm>
            <a:off x="1629829" y="3985397"/>
            <a:ext cx="581938" cy="2186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16">
            <a:extLst>
              <a:ext uri="{FF2B5EF4-FFF2-40B4-BE49-F238E27FC236}">
                <a16:creationId xmlns:a16="http://schemas.microsoft.com/office/drawing/2014/main" id="{4B9D6BBC-6F5A-A2E0-F8A2-87373DB3C85E}"/>
              </a:ext>
            </a:extLst>
          </p:cNvPr>
          <p:cNvSpPr/>
          <p:nvPr/>
        </p:nvSpPr>
        <p:spPr>
          <a:xfrm>
            <a:off x="1678662" y="2539609"/>
            <a:ext cx="581938" cy="2186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17">
            <a:extLst>
              <a:ext uri="{FF2B5EF4-FFF2-40B4-BE49-F238E27FC236}">
                <a16:creationId xmlns:a16="http://schemas.microsoft.com/office/drawing/2014/main" id="{F7189F7D-6BB1-7676-EB52-F820518DA08D}"/>
              </a:ext>
            </a:extLst>
          </p:cNvPr>
          <p:cNvSpPr/>
          <p:nvPr/>
        </p:nvSpPr>
        <p:spPr>
          <a:xfrm>
            <a:off x="5209262" y="2864504"/>
            <a:ext cx="1318538" cy="21869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9" name="Rectángulo redondeado 15">
            <a:extLst>
              <a:ext uri="{FF2B5EF4-FFF2-40B4-BE49-F238E27FC236}">
                <a16:creationId xmlns:a16="http://schemas.microsoft.com/office/drawing/2014/main" id="{1F0D4610-DC62-0DDD-C7F5-5D0D6F82BC86}"/>
              </a:ext>
            </a:extLst>
          </p:cNvPr>
          <p:cNvSpPr/>
          <p:nvPr/>
        </p:nvSpPr>
        <p:spPr>
          <a:xfrm>
            <a:off x="2297371" y="245920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20" name="Rectángulo redondeado 15">
            <a:extLst>
              <a:ext uri="{FF2B5EF4-FFF2-40B4-BE49-F238E27FC236}">
                <a16:creationId xmlns:a16="http://schemas.microsoft.com/office/drawing/2014/main" id="{EE3FAC36-53F4-5A7C-0B23-08EE10D19E12}"/>
              </a:ext>
            </a:extLst>
          </p:cNvPr>
          <p:cNvSpPr/>
          <p:nvPr/>
        </p:nvSpPr>
        <p:spPr>
          <a:xfrm>
            <a:off x="4914221" y="2771005"/>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21" name="Rectángulo redondeado 15">
            <a:extLst>
              <a:ext uri="{FF2B5EF4-FFF2-40B4-BE49-F238E27FC236}">
                <a16:creationId xmlns:a16="http://schemas.microsoft.com/office/drawing/2014/main" id="{15109762-B616-B0A8-DA61-C565FA5A0CBD}"/>
              </a:ext>
            </a:extLst>
          </p:cNvPr>
          <p:cNvSpPr/>
          <p:nvPr/>
        </p:nvSpPr>
        <p:spPr>
          <a:xfrm>
            <a:off x="1384091" y="401433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Tree>
    <p:extLst>
      <p:ext uri="{BB962C8B-B14F-4D97-AF65-F5344CB8AC3E}">
        <p14:creationId xmlns:p14="http://schemas.microsoft.com/office/powerpoint/2010/main" val="1374958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25E2C-ED70-DE67-653D-AF2EC15F59B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A23F2DB-FDB1-3BE8-8DB2-EEB3505C96FF}"/>
              </a:ext>
            </a:extLst>
          </p:cNvPr>
          <p:cNvPicPr>
            <a:picLocks noChangeAspect="1"/>
          </p:cNvPicPr>
          <p:nvPr/>
        </p:nvPicPr>
        <p:blipFill>
          <a:blip r:embed="rId3"/>
          <a:stretch>
            <a:fillRect/>
          </a:stretch>
        </p:blipFill>
        <p:spPr>
          <a:xfrm>
            <a:off x="775507" y="841030"/>
            <a:ext cx="11109368" cy="4932327"/>
          </a:xfrm>
          <a:prstGeom prst="rect">
            <a:avLst/>
          </a:prstGeom>
        </p:spPr>
      </p:pic>
      <p:sp>
        <p:nvSpPr>
          <p:cNvPr id="2" name="Marcador de texto vertical 1">
            <a:extLst>
              <a:ext uri="{FF2B5EF4-FFF2-40B4-BE49-F238E27FC236}">
                <a16:creationId xmlns:a16="http://schemas.microsoft.com/office/drawing/2014/main" id="{B6336221-E7BA-AD17-B59B-E5604D0044B5}"/>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8E8201E4-600C-7DD9-196E-E42A188CAD50}"/>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9" name="Rectángulo 8">
            <a:extLst>
              <a:ext uri="{FF2B5EF4-FFF2-40B4-BE49-F238E27FC236}">
                <a16:creationId xmlns:a16="http://schemas.microsoft.com/office/drawing/2014/main" id="{D64A178A-648E-9B83-9800-9DA0CDA16105}"/>
              </a:ext>
            </a:extLst>
          </p:cNvPr>
          <p:cNvSpPr/>
          <p:nvPr/>
        </p:nvSpPr>
        <p:spPr>
          <a:xfrm>
            <a:off x="2363040" y="4882712"/>
            <a:ext cx="1648738" cy="29593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8FACBB8E-654D-D600-B627-B221B8F26CF9}"/>
              </a:ext>
            </a:extLst>
          </p:cNvPr>
          <p:cNvSpPr/>
          <p:nvPr/>
        </p:nvSpPr>
        <p:spPr>
          <a:xfrm>
            <a:off x="4011778" y="4950274"/>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5" name="Rectángulo: esquinas redondeadas 4">
            <a:extLst>
              <a:ext uri="{FF2B5EF4-FFF2-40B4-BE49-F238E27FC236}">
                <a16:creationId xmlns:a16="http://schemas.microsoft.com/office/drawing/2014/main" id="{0C711D2B-162A-F9B3-0721-AF16AD20293A}"/>
              </a:ext>
            </a:extLst>
          </p:cNvPr>
          <p:cNvSpPr/>
          <p:nvPr/>
        </p:nvSpPr>
        <p:spPr>
          <a:xfrm>
            <a:off x="2363040" y="3600357"/>
            <a:ext cx="7629408" cy="113987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endParaRPr lang="es-ES_tradnl" sz="1200" dirty="0"/>
          </a:p>
          <a:p>
            <a:pPr marL="228600" indent="-228600">
              <a:buFont typeface="+mj-lt"/>
              <a:buAutoNum type="arabicPeriod" startAt="4"/>
            </a:pPr>
            <a:r>
              <a:rPr lang="es-ES_tradnl" sz="1200" dirty="0"/>
              <a:t>Desplácese hacia abajo en la página hasta la sección Atributos de Control y active el campo ‘Control de período en web maestro’. Permite visualizar el periodo en el autoservicio.</a:t>
            </a:r>
          </a:p>
          <a:p>
            <a:endParaRPr lang="es-ES_tradnl" sz="1200" dirty="0"/>
          </a:p>
          <a:p>
            <a:r>
              <a:rPr lang="es-ES_tradnl" sz="1200" dirty="0"/>
              <a:t>Al finalizar el periodo Inscripción se debe desactivar esté </a:t>
            </a:r>
            <a:r>
              <a:rPr lang="es-ES_tradnl" sz="1200" dirty="0" err="1"/>
              <a:t>flag</a:t>
            </a:r>
            <a:r>
              <a:rPr lang="es-ES_tradnl" sz="1200" dirty="0"/>
              <a:t>.</a:t>
            </a:r>
          </a:p>
        </p:txBody>
      </p:sp>
    </p:spTree>
    <p:extLst>
      <p:ext uri="{BB962C8B-B14F-4D97-AF65-F5344CB8AC3E}">
        <p14:creationId xmlns:p14="http://schemas.microsoft.com/office/powerpoint/2010/main" val="157108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28A75-B353-F3AC-0889-50B2C9DBFCA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D6F5B6D-F189-0B4F-B4E3-C9ACB8E03161}"/>
              </a:ext>
            </a:extLst>
          </p:cNvPr>
          <p:cNvPicPr>
            <a:picLocks noChangeAspect="1"/>
          </p:cNvPicPr>
          <p:nvPr/>
        </p:nvPicPr>
        <p:blipFill>
          <a:blip r:embed="rId3"/>
          <a:stretch>
            <a:fillRect/>
          </a:stretch>
        </p:blipFill>
        <p:spPr>
          <a:xfrm>
            <a:off x="903433" y="1201015"/>
            <a:ext cx="11122661" cy="4971184"/>
          </a:xfrm>
          <a:prstGeom prst="rect">
            <a:avLst/>
          </a:prstGeom>
        </p:spPr>
      </p:pic>
      <p:sp>
        <p:nvSpPr>
          <p:cNvPr id="2" name="Marcador de texto vertical 1">
            <a:extLst>
              <a:ext uri="{FF2B5EF4-FFF2-40B4-BE49-F238E27FC236}">
                <a16:creationId xmlns:a16="http://schemas.microsoft.com/office/drawing/2014/main" id="{582C77CB-5DB3-EA38-751A-F546743CBC8A}"/>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D3E2CF92-01EB-27F4-E2F0-1411752A91E9}"/>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8" name="Rectángulo: esquinas redondeadas 7">
            <a:extLst>
              <a:ext uri="{FF2B5EF4-FFF2-40B4-BE49-F238E27FC236}">
                <a16:creationId xmlns:a16="http://schemas.microsoft.com/office/drawing/2014/main" id="{E2F5D371-D3D7-F543-31DB-742F83FFEC59}"/>
              </a:ext>
            </a:extLst>
          </p:cNvPr>
          <p:cNvSpPr/>
          <p:nvPr/>
        </p:nvSpPr>
        <p:spPr>
          <a:xfrm>
            <a:off x="2363040" y="5332691"/>
            <a:ext cx="7629408" cy="93880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5"/>
            </a:pPr>
            <a:r>
              <a:rPr lang="es-ES_tradnl" sz="1200" dirty="0"/>
              <a:t>En la pestaña ‘Verificación de errores de inscripción’ , se deben configurar las distintas acciones que ha de realizar Ellucian Student si en el proceso de inscripción encuentra algún error asociado. Se sugiere colocar en fatal aquellos elementos que, según el modelo de la Universidad, se controlen desde la programación académica o desde el catálogo.</a:t>
            </a:r>
          </a:p>
          <a:p>
            <a:pPr marL="228600" indent="-228600">
              <a:buFont typeface="+mj-lt"/>
              <a:buAutoNum type="arabicPeriod" startAt="5"/>
            </a:pPr>
            <a:r>
              <a:rPr lang="es-ES_tradnl" sz="1200" dirty="0"/>
              <a:t>Guarde la información</a:t>
            </a:r>
          </a:p>
        </p:txBody>
      </p:sp>
      <p:sp>
        <p:nvSpPr>
          <p:cNvPr id="17" name="Rectángulo 16">
            <a:extLst>
              <a:ext uri="{FF2B5EF4-FFF2-40B4-BE49-F238E27FC236}">
                <a16:creationId xmlns:a16="http://schemas.microsoft.com/office/drawing/2014/main" id="{F0AE4108-D870-75D2-2AF8-85194FBE3CF2}"/>
              </a:ext>
            </a:extLst>
          </p:cNvPr>
          <p:cNvSpPr/>
          <p:nvPr/>
        </p:nvSpPr>
        <p:spPr>
          <a:xfrm>
            <a:off x="775507" y="1638300"/>
            <a:ext cx="10812836" cy="34290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92AB4288-6358-5898-E289-E6AAF23F2E6D}"/>
              </a:ext>
            </a:extLst>
          </p:cNvPr>
          <p:cNvSpPr/>
          <p:nvPr/>
        </p:nvSpPr>
        <p:spPr>
          <a:xfrm>
            <a:off x="645163" y="143938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9" name="Rectángulo redondeado 15">
            <a:extLst>
              <a:ext uri="{FF2B5EF4-FFF2-40B4-BE49-F238E27FC236}">
                <a16:creationId xmlns:a16="http://schemas.microsoft.com/office/drawing/2014/main" id="{05A16339-5F77-084A-C68D-5A352F1C6195}"/>
              </a:ext>
            </a:extLst>
          </p:cNvPr>
          <p:cNvSpPr/>
          <p:nvPr/>
        </p:nvSpPr>
        <p:spPr>
          <a:xfrm>
            <a:off x="11322920" y="596370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Tree>
    <p:extLst>
      <p:ext uri="{BB962C8B-B14F-4D97-AF65-F5344CB8AC3E}">
        <p14:creationId xmlns:p14="http://schemas.microsoft.com/office/powerpoint/2010/main" val="1992481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CE4E3-7480-9531-2C10-028AB2122397}"/>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686F9F1-D52E-BD5A-36BA-FB1B3CF6CE58}"/>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17CB3015-E875-ED62-BE1F-538974F3AF75}"/>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6E290DEE-E326-1D5C-1D8E-6CB652830B7A}"/>
              </a:ext>
            </a:extLst>
          </p:cNvPr>
          <p:cNvGraphicFramePr>
            <a:graphicFrameLocks noGrp="1"/>
          </p:cNvGraphicFramePr>
          <p:nvPr/>
        </p:nvGraphicFramePr>
        <p:xfrm>
          <a:off x="938996" y="753891"/>
          <a:ext cx="10477497" cy="543207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492499">
                  <a:extLst>
                    <a:ext uri="{9D8B030D-6E8A-4147-A177-3AD203B41FA5}">
                      <a16:colId xmlns:a16="http://schemas.microsoft.com/office/drawing/2014/main" val="2538440960"/>
                    </a:ext>
                  </a:extLst>
                </a:gridCol>
                <a:gridCol w="3492499">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Duplicados</a:t>
                      </a:r>
                    </a:p>
                  </a:txBody>
                  <a:tcPr/>
                </a:tc>
                <a:tc>
                  <a:txBody>
                    <a:bodyPr/>
                    <a:lstStyle/>
                    <a:p>
                      <a:r>
                        <a:rPr lang="es-419" sz="1400" dirty="0"/>
                        <a:t>En la inscripción se valida si el estudiante inscribe dos o más veces el mismo curso</a:t>
                      </a:r>
                    </a:p>
                  </a:txBody>
                  <a:tcPr/>
                </a:tc>
                <a:tc>
                  <a:txBody>
                    <a:bodyPr/>
                    <a:lstStyle/>
                    <a:p>
                      <a:r>
                        <a:rPr lang="es-419" sz="1400" b="0" i="0" kern="1200" dirty="0">
                          <a:solidFill>
                            <a:schemeClr val="dk1"/>
                          </a:solidFill>
                          <a:effectLst/>
                          <a:latin typeface="+mn-lt"/>
                          <a:ea typeface="+mn-ea"/>
                          <a:cs typeface="+mn-cs"/>
                        </a:rPr>
                        <a:t> Fatal o No Verificar.</a:t>
                      </a:r>
                      <a:endParaRPr lang="es-419" sz="1400" b="0" dirty="0"/>
                    </a:p>
                  </a:txBody>
                  <a:tcPr/>
                </a:tc>
                <a:extLst>
                  <a:ext uri="{0D108BD9-81ED-4DB2-BD59-A6C34878D82A}">
                    <a16:rowId xmlns:a16="http://schemas.microsoft.com/office/drawing/2014/main" val="2372821979"/>
                  </a:ext>
                </a:extLst>
              </a:tr>
              <a:tr h="402872">
                <a:tc>
                  <a:txBody>
                    <a:bodyPr/>
                    <a:lstStyle/>
                    <a:p>
                      <a:r>
                        <a:rPr lang="es-419" sz="1400" dirty="0"/>
                        <a:t>Ligas</a:t>
                      </a:r>
                    </a:p>
                  </a:txBody>
                  <a:tcPr/>
                </a:tc>
                <a:tc>
                  <a:txBody>
                    <a:bodyPr/>
                    <a:lstStyle/>
                    <a:p>
                      <a:r>
                        <a:rPr lang="es-419" sz="1400" dirty="0"/>
                        <a:t>En la inscripción se valida  si los estudiantes tienen la obligatoriedad de inscribir los NRC ligados. </a:t>
                      </a:r>
                    </a:p>
                  </a:txBody>
                  <a:tcPr/>
                </a:tc>
                <a:tc>
                  <a:txBody>
                    <a:bodyPr/>
                    <a:lstStyle/>
                    <a:p>
                      <a:r>
                        <a:rPr lang="es-419" sz="1400" b="0" dirty="0"/>
                        <a:t>Fatal o No Verificar.</a:t>
                      </a:r>
                    </a:p>
                  </a:txBody>
                  <a:tcPr/>
                </a:tc>
                <a:extLst>
                  <a:ext uri="{0D108BD9-81ED-4DB2-BD59-A6C34878D82A}">
                    <a16:rowId xmlns:a16="http://schemas.microsoft.com/office/drawing/2014/main" val="109511402"/>
                  </a:ext>
                </a:extLst>
              </a:tr>
              <a:tr h="402872">
                <a:tc>
                  <a:txBody>
                    <a:bodyPr/>
                    <a:lstStyle/>
                    <a:p>
                      <a:r>
                        <a:rPr lang="es-419" sz="1400" dirty="0"/>
                        <a:t>Correquisitos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si los estudiantes tienen la obligatoriedad de inscribir los cursos o NRC que son correquisitos. </a:t>
                      </a:r>
                    </a:p>
                  </a:txBody>
                  <a:tcPr/>
                </a:tc>
                <a:tc>
                  <a:txBody>
                    <a:bodyPr/>
                    <a:lstStyle/>
                    <a:p>
                      <a:r>
                        <a:rPr lang="es-419" sz="1400" b="0" dirty="0"/>
                        <a:t>Fatal o No Verificar.</a:t>
                      </a:r>
                    </a:p>
                  </a:txBody>
                  <a:tcPr/>
                </a:tc>
                <a:extLst>
                  <a:ext uri="{0D108BD9-81ED-4DB2-BD59-A6C34878D82A}">
                    <a16:rowId xmlns:a16="http://schemas.microsoft.com/office/drawing/2014/main" val="106026169"/>
                  </a:ext>
                </a:extLst>
              </a:tr>
              <a:tr h="402872">
                <a:tc>
                  <a:txBody>
                    <a:bodyPr/>
                    <a:lstStyle/>
                    <a:p>
                      <a:r>
                        <a:rPr lang="es-419" sz="1400" dirty="0"/>
                        <a:t>Prerrequisitos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que el estudiante no inscriba cursos o NRC sin haber cumplido los prerrequisitos que le correspondan.</a:t>
                      </a:r>
                    </a:p>
                  </a:txBody>
                  <a:tcPr/>
                </a:tc>
                <a:tc>
                  <a:txBody>
                    <a:bodyPr/>
                    <a:lstStyle/>
                    <a:p>
                      <a:r>
                        <a:rPr lang="es-419" sz="1400" b="0" i="0" kern="1200" dirty="0">
                          <a:solidFill>
                            <a:schemeClr val="dk1"/>
                          </a:solidFill>
                          <a:effectLst/>
                          <a:latin typeface="+mn-lt"/>
                          <a:ea typeface="+mn-ea"/>
                          <a:cs typeface="+mn-cs"/>
                        </a:rPr>
                        <a:t>Fatal o No Verificar.</a:t>
                      </a:r>
                      <a:endParaRPr lang="es-419" sz="1400" b="0" dirty="0"/>
                    </a:p>
                  </a:txBody>
                  <a:tcPr/>
                </a:tc>
                <a:extLst>
                  <a:ext uri="{0D108BD9-81ED-4DB2-BD59-A6C34878D82A}">
                    <a16:rowId xmlns:a16="http://schemas.microsoft.com/office/drawing/2014/main" val="3754479394"/>
                  </a:ext>
                </a:extLst>
              </a:tr>
              <a:tr h="402872">
                <a:tc>
                  <a:txBody>
                    <a:bodyPr/>
                    <a:lstStyle/>
                    <a:p>
                      <a:r>
                        <a:rPr lang="es-419" sz="1400" dirty="0"/>
                        <a:t>Horas mínimas</a:t>
                      </a:r>
                    </a:p>
                  </a:txBody>
                  <a:tcPr/>
                </a:tc>
                <a:tc>
                  <a:txBody>
                    <a:bodyPr/>
                    <a:lstStyle/>
                    <a:p>
                      <a:r>
                        <a:rPr lang="es-419" sz="1400" dirty="0"/>
                        <a:t>En la inscripción se valida que el estudiante no pueda inscribir menos créditos que los configurados como mínimos en SFAMHRS.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b="0" i="0" kern="1200" dirty="0">
                          <a:solidFill>
                            <a:schemeClr val="dk1"/>
                          </a:solidFill>
                          <a:effectLst/>
                          <a:latin typeface="+mn-lt"/>
                          <a:ea typeface="+mn-ea"/>
                          <a:cs typeface="+mn-cs"/>
                        </a:rPr>
                        <a:t>Fatal o No Verificar.</a:t>
                      </a:r>
                      <a:endParaRPr lang="es-419" sz="1400" b="0" dirty="0"/>
                    </a:p>
                    <a:p>
                      <a:endParaRPr lang="es-419" sz="1400" b="0" dirty="0"/>
                    </a:p>
                  </a:txBody>
                  <a:tcPr/>
                </a:tc>
                <a:extLst>
                  <a:ext uri="{0D108BD9-81ED-4DB2-BD59-A6C34878D82A}">
                    <a16:rowId xmlns:a16="http://schemas.microsoft.com/office/drawing/2014/main" val="3164855438"/>
                  </a:ext>
                </a:extLst>
              </a:tr>
              <a:tr h="402872">
                <a:tc>
                  <a:txBody>
                    <a:bodyPr/>
                    <a:lstStyle/>
                    <a:p>
                      <a:r>
                        <a:rPr lang="es-419" sz="1400" dirty="0"/>
                        <a:t>Horas máximas</a:t>
                      </a:r>
                    </a:p>
                  </a:txBody>
                  <a:tcPr/>
                </a:tc>
                <a:tc>
                  <a:txBody>
                    <a:bodyPr/>
                    <a:lstStyle/>
                    <a:p>
                      <a:r>
                        <a:rPr lang="es-419" sz="1400" dirty="0"/>
                        <a:t>En la inscripción se valida que el estudiante no pueda inscribir más créditos que los configurados como máximos en SFAMHRS.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b="0" i="0" kern="1200" dirty="0">
                          <a:solidFill>
                            <a:schemeClr val="dk1"/>
                          </a:solidFill>
                          <a:effectLst/>
                          <a:latin typeface="+mn-lt"/>
                          <a:ea typeface="+mn-ea"/>
                          <a:cs typeface="+mn-cs"/>
                        </a:rPr>
                        <a:t>Fatal o No Verificar.</a:t>
                      </a:r>
                      <a:endParaRPr lang="es-419" sz="1400" b="0" dirty="0"/>
                    </a:p>
                  </a:txBody>
                  <a:tcPr/>
                </a:tc>
                <a:extLst>
                  <a:ext uri="{0D108BD9-81ED-4DB2-BD59-A6C34878D82A}">
                    <a16:rowId xmlns:a16="http://schemas.microsoft.com/office/drawing/2014/main" val="2910444943"/>
                  </a:ext>
                </a:extLst>
              </a:tr>
            </a:tbl>
          </a:graphicData>
        </a:graphic>
      </p:graphicFrame>
    </p:spTree>
    <p:extLst>
      <p:ext uri="{BB962C8B-B14F-4D97-AF65-F5344CB8AC3E}">
        <p14:creationId xmlns:p14="http://schemas.microsoft.com/office/powerpoint/2010/main" val="1839069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B6DD4-FD1F-B4F7-548A-896A5AD83189}"/>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72DD9CE1-FCE1-05F4-DBA2-8BE63FEB767D}"/>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100A6F35-1D06-458A-7C5C-F78A42E0E6CF}"/>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28ED5A99-226C-9D3A-BEC5-843738E740B3}"/>
              </a:ext>
            </a:extLst>
          </p:cNvPr>
          <p:cNvGraphicFramePr>
            <a:graphicFrameLocks noGrp="1"/>
          </p:cNvGraphicFramePr>
          <p:nvPr/>
        </p:nvGraphicFramePr>
        <p:xfrm>
          <a:off x="938996" y="753891"/>
          <a:ext cx="10477497" cy="521871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492499">
                  <a:extLst>
                    <a:ext uri="{9D8B030D-6E8A-4147-A177-3AD203B41FA5}">
                      <a16:colId xmlns:a16="http://schemas.microsoft.com/office/drawing/2014/main" val="2538440960"/>
                    </a:ext>
                  </a:extLst>
                </a:gridCol>
                <a:gridCol w="3492499">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Hora</a:t>
                      </a:r>
                    </a:p>
                  </a:txBody>
                  <a:tcPr/>
                </a:tc>
                <a:tc>
                  <a:txBody>
                    <a:bodyPr/>
                    <a:lstStyle/>
                    <a:p>
                      <a:r>
                        <a:rPr lang="es-419" sz="1400" dirty="0"/>
                        <a:t>En la inscripción se valida que el estudiante no inscriba NRC que tengan tope de horario.</a:t>
                      </a:r>
                    </a:p>
                  </a:txBody>
                  <a:tcPr/>
                </a:tc>
                <a:tc>
                  <a:txBody>
                    <a:bodyPr/>
                    <a:lstStyle/>
                    <a:p>
                      <a:r>
                        <a:rPr lang="es-419" sz="1400" b="0" i="0" kern="1200" dirty="0">
                          <a:solidFill>
                            <a:schemeClr val="dk1"/>
                          </a:solidFill>
                          <a:effectLst/>
                          <a:latin typeface="+mn-lt"/>
                          <a:ea typeface="+mn-ea"/>
                          <a:cs typeface="+mn-cs"/>
                        </a:rPr>
                        <a:t> Fatal o No Verificar.</a:t>
                      </a:r>
                      <a:endParaRPr lang="es-419" sz="1400" b="0" dirty="0"/>
                    </a:p>
                  </a:txBody>
                  <a:tcPr/>
                </a:tc>
                <a:extLst>
                  <a:ext uri="{0D108BD9-81ED-4DB2-BD59-A6C34878D82A}">
                    <a16:rowId xmlns:a16="http://schemas.microsoft.com/office/drawing/2014/main" val="2372821979"/>
                  </a:ext>
                </a:extLst>
              </a:tr>
              <a:tr h="402872">
                <a:tc>
                  <a:txBody>
                    <a:bodyPr/>
                    <a:lstStyle/>
                    <a:p>
                      <a:r>
                        <a:rPr lang="es-419" sz="1400" dirty="0"/>
                        <a:t>Exclusión mutua</a:t>
                      </a:r>
                    </a:p>
                  </a:txBody>
                  <a:tcPr/>
                </a:tc>
                <a:tc>
                  <a:txBody>
                    <a:bodyPr/>
                    <a:lstStyle/>
                    <a:p>
                      <a:r>
                        <a:rPr lang="es-419" sz="1400" dirty="0"/>
                        <a:t>En la inscripción se valida  que los estudiantes no inscriban cursos que son mutuamente excluyentes, según lo definido en el catálogo.</a:t>
                      </a:r>
                    </a:p>
                  </a:txBody>
                  <a:tcPr/>
                </a:tc>
                <a:tc>
                  <a:txBody>
                    <a:bodyPr/>
                    <a:lstStyle/>
                    <a:p>
                      <a:r>
                        <a:rPr lang="es-419" sz="1400" b="0" dirty="0"/>
                        <a:t>Fatal o No Verificar.</a:t>
                      </a:r>
                    </a:p>
                  </a:txBody>
                  <a:tcPr/>
                </a:tc>
                <a:extLst>
                  <a:ext uri="{0D108BD9-81ED-4DB2-BD59-A6C34878D82A}">
                    <a16:rowId xmlns:a16="http://schemas.microsoft.com/office/drawing/2014/main" val="109511402"/>
                  </a:ext>
                </a:extLst>
              </a:tr>
              <a:tr h="402872">
                <a:tc>
                  <a:txBody>
                    <a:bodyPr/>
                    <a:lstStyle/>
                    <a:p>
                      <a:r>
                        <a:rPr lang="es-419" sz="1400" dirty="0"/>
                        <a:t>Aprobación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que el estudiante haya sido aprobado para que pueda inscribir un NRC. </a:t>
                      </a:r>
                    </a:p>
                  </a:txBody>
                  <a:tcPr/>
                </a:tc>
                <a:tc>
                  <a:txBody>
                    <a:bodyPr/>
                    <a:lstStyle/>
                    <a:p>
                      <a:r>
                        <a:rPr lang="pt-BR" sz="1400" b="0" dirty="0"/>
                        <a:t>Fatal, Alerta o No verificar.</a:t>
                      </a:r>
                      <a:endParaRPr lang="es-419" sz="1400" b="0" dirty="0"/>
                    </a:p>
                  </a:txBody>
                  <a:tcPr/>
                </a:tc>
                <a:extLst>
                  <a:ext uri="{0D108BD9-81ED-4DB2-BD59-A6C34878D82A}">
                    <a16:rowId xmlns:a16="http://schemas.microsoft.com/office/drawing/2014/main" val="106026169"/>
                  </a:ext>
                </a:extLst>
              </a:tr>
              <a:tr h="402872">
                <a:tc>
                  <a:txBody>
                    <a:bodyPr/>
                    <a:lstStyle/>
                    <a:p>
                      <a:r>
                        <a:rPr lang="es-419" sz="1400" dirty="0"/>
                        <a:t>Capacidad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el cupo máximo del NRC cuando un estudiante lo inscribe.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754479394"/>
                  </a:ext>
                </a:extLst>
              </a:tr>
              <a:tr h="402872">
                <a:tc>
                  <a:txBody>
                    <a:bodyPr/>
                    <a:lstStyle/>
                    <a:p>
                      <a:r>
                        <a:rPr lang="es-419" sz="1400" dirty="0"/>
                        <a:t>Campo de estudio</a:t>
                      </a:r>
                    </a:p>
                  </a:txBody>
                  <a:tcPr/>
                </a:tc>
                <a:tc>
                  <a:txBody>
                    <a:bodyPr/>
                    <a:lstStyle/>
                    <a:p>
                      <a:r>
                        <a:rPr lang="es-419" sz="1400" dirty="0"/>
                        <a:t>En la inscripción se valida si el estudiante pertenece al campo de estudios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164855438"/>
                  </a:ext>
                </a:extLst>
              </a:tr>
              <a:tr h="402872">
                <a:tc>
                  <a:txBody>
                    <a:bodyPr/>
                    <a:lstStyle/>
                    <a:p>
                      <a:r>
                        <a:rPr lang="es-419" sz="1400" dirty="0"/>
                        <a:t>Departamento</a:t>
                      </a:r>
                    </a:p>
                  </a:txBody>
                  <a:tcPr/>
                </a:tc>
                <a:tc>
                  <a:txBody>
                    <a:bodyPr/>
                    <a:lstStyle/>
                    <a:p>
                      <a:r>
                        <a:rPr lang="es-419" sz="1400" dirty="0"/>
                        <a:t>En la inscripción se valida si el estudiante pertenece al departamento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2910444943"/>
                  </a:ext>
                </a:extLst>
              </a:tr>
            </a:tbl>
          </a:graphicData>
        </a:graphic>
      </p:graphicFrame>
    </p:spTree>
    <p:extLst>
      <p:ext uri="{BB962C8B-B14F-4D97-AF65-F5344CB8AC3E}">
        <p14:creationId xmlns:p14="http://schemas.microsoft.com/office/powerpoint/2010/main" val="3744173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B84D6-8590-6245-0027-5ECD76DF8613}"/>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8D2E101D-E603-9E8F-6161-20717028C0E3}"/>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ABEF5BE6-D779-9E31-BD77-BE6BB1C43CBB}"/>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79D70AC9-3768-F5BD-EFC3-D799CC787AA4}"/>
              </a:ext>
            </a:extLst>
          </p:cNvPr>
          <p:cNvGraphicFramePr>
            <a:graphicFrameLocks noGrp="1"/>
          </p:cNvGraphicFramePr>
          <p:nvPr/>
        </p:nvGraphicFramePr>
        <p:xfrm>
          <a:off x="938996" y="753891"/>
          <a:ext cx="10477497" cy="543207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517448">
                  <a:extLst>
                    <a:ext uri="{9D8B030D-6E8A-4147-A177-3AD203B41FA5}">
                      <a16:colId xmlns:a16="http://schemas.microsoft.com/office/drawing/2014/main" val="2538440960"/>
                    </a:ext>
                  </a:extLst>
                </a:gridCol>
                <a:gridCol w="3467550">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Escuela</a:t>
                      </a:r>
                    </a:p>
                  </a:txBody>
                  <a:tcPr/>
                </a:tc>
                <a:tc>
                  <a:txBody>
                    <a:bodyPr/>
                    <a:lstStyle/>
                    <a:p>
                      <a:r>
                        <a:rPr lang="es-419" sz="1400" dirty="0"/>
                        <a:t>En la inscripción se valida si el estudiante pertenece a la Escuela o Unidad Académica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2372821979"/>
                  </a:ext>
                </a:extLst>
              </a:tr>
              <a:tr h="402872">
                <a:tc>
                  <a:txBody>
                    <a:bodyPr/>
                    <a:lstStyle/>
                    <a:p>
                      <a:r>
                        <a:rPr lang="es-419" sz="1400" dirty="0"/>
                        <a:t>Nivel</a:t>
                      </a:r>
                    </a:p>
                  </a:txBody>
                  <a:tcPr/>
                </a:tc>
                <a:tc>
                  <a:txBody>
                    <a:bodyPr/>
                    <a:lstStyle/>
                    <a:p>
                      <a:r>
                        <a:rPr lang="es-419" sz="1400" dirty="0"/>
                        <a:t>En la inscripción se valida si el estudiante pertenece al Nivel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109511402"/>
                  </a:ext>
                </a:extLst>
              </a:tr>
              <a:tr h="402872">
                <a:tc>
                  <a:txBody>
                    <a:bodyPr/>
                    <a:lstStyle/>
                    <a:p>
                      <a:r>
                        <a:rPr lang="es-419" sz="1400" dirty="0"/>
                        <a:t>Clase</a:t>
                      </a:r>
                    </a:p>
                  </a:txBody>
                  <a:tcPr/>
                </a:tc>
                <a:tc>
                  <a:txBody>
                    <a:bodyPr/>
                    <a:lstStyle/>
                    <a:p>
                      <a:r>
                        <a:rPr lang="es-419" sz="1400" dirty="0"/>
                        <a:t>En la inscripción se valida si el estudiante pertenece a la Clase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106026169"/>
                  </a:ext>
                </a:extLst>
              </a:tr>
              <a:tr h="402872">
                <a:tc>
                  <a:txBody>
                    <a:bodyPr/>
                    <a:lstStyle/>
                    <a:p>
                      <a:r>
                        <a:rPr lang="es-419" sz="1400" dirty="0"/>
                        <a:t>Horas repetidas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si se repite el curso, según las reglas de repetición de H.A.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754479394"/>
                  </a:ext>
                </a:extLst>
              </a:tr>
              <a:tr h="402872">
                <a:tc>
                  <a:txBody>
                    <a:bodyPr/>
                    <a:lstStyle/>
                    <a:p>
                      <a:r>
                        <a:rPr lang="es-419" sz="1400" dirty="0"/>
                        <a:t>Retenciones</a:t>
                      </a:r>
                    </a:p>
                  </a:txBody>
                  <a:tcPr/>
                </a:tc>
                <a:tc>
                  <a:txBody>
                    <a:bodyPr/>
                    <a:lstStyle/>
                    <a:p>
                      <a:r>
                        <a:rPr lang="es-419" sz="1400" dirty="0"/>
                        <a:t>En la inscripción se valida si el estudiante tiene retenciones que impidan inscribir cursos.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164855438"/>
                  </a:ext>
                </a:extLst>
              </a:tr>
              <a:tr h="402872">
                <a:tc>
                  <a:txBody>
                    <a:bodyPr/>
                    <a:lstStyle/>
                    <a:p>
                      <a:r>
                        <a:rPr lang="es-419" sz="1400" dirty="0"/>
                        <a:t>Límite de repetición</a:t>
                      </a:r>
                    </a:p>
                  </a:txBody>
                  <a:tcPr/>
                </a:tc>
                <a:tc>
                  <a:txBody>
                    <a:bodyPr/>
                    <a:lstStyle/>
                    <a:p>
                      <a:r>
                        <a:rPr lang="es-419" sz="1400" dirty="0"/>
                        <a:t>En la inscripción se valida si el estudiante ha cursado la asignatura el número máximo de repeticiones configurado en el catálogo.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2910444943"/>
                  </a:ext>
                </a:extLst>
              </a:tr>
            </a:tbl>
          </a:graphicData>
        </a:graphic>
      </p:graphicFrame>
    </p:spTree>
    <p:extLst>
      <p:ext uri="{BB962C8B-B14F-4D97-AF65-F5344CB8AC3E}">
        <p14:creationId xmlns:p14="http://schemas.microsoft.com/office/powerpoint/2010/main" val="3469692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57E99-5541-F6D8-4047-01F11150CE88}"/>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9FDBB0F-61AB-48C2-CEB0-20BFC52A6FE2}"/>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5790845F-4646-7ADE-ACEB-DAA789F00B80}"/>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07A2AE6F-544D-4F2B-C3F7-2D739DD2DA5D}"/>
              </a:ext>
            </a:extLst>
          </p:cNvPr>
          <p:cNvGraphicFramePr>
            <a:graphicFrameLocks noGrp="1"/>
          </p:cNvGraphicFramePr>
          <p:nvPr/>
        </p:nvGraphicFramePr>
        <p:xfrm>
          <a:off x="938996" y="753891"/>
          <a:ext cx="10477497" cy="470055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492499">
                  <a:extLst>
                    <a:ext uri="{9D8B030D-6E8A-4147-A177-3AD203B41FA5}">
                      <a16:colId xmlns:a16="http://schemas.microsoft.com/office/drawing/2014/main" val="2538440960"/>
                    </a:ext>
                  </a:extLst>
                </a:gridCol>
                <a:gridCol w="3492499">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Campus</a:t>
                      </a:r>
                    </a:p>
                  </a:txBody>
                  <a:tcPr/>
                </a:tc>
                <a:tc>
                  <a:txBody>
                    <a:bodyPr/>
                    <a:lstStyle/>
                    <a:p>
                      <a:r>
                        <a:rPr lang="es-419" sz="1400" dirty="0"/>
                        <a:t>En la inscripción se valida si el estudiante pertenece al campus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tc>
                <a:extLst>
                  <a:ext uri="{0D108BD9-81ED-4DB2-BD59-A6C34878D82A}">
                    <a16:rowId xmlns:a16="http://schemas.microsoft.com/office/drawing/2014/main" val="2372821979"/>
                  </a:ext>
                </a:extLst>
              </a:tr>
              <a:tr h="402872">
                <a:tc>
                  <a:txBody>
                    <a:bodyPr/>
                    <a:lstStyle/>
                    <a:p>
                      <a:r>
                        <a:rPr lang="es-419" sz="1400" dirty="0"/>
                        <a:t>Grado</a:t>
                      </a:r>
                    </a:p>
                  </a:txBody>
                  <a:tcPr/>
                </a:tc>
                <a:tc>
                  <a:txBody>
                    <a:bodyPr/>
                    <a:lstStyle/>
                    <a:p>
                      <a:r>
                        <a:rPr lang="es-419" sz="1400" dirty="0"/>
                        <a:t>En la inscripción se valida si el estudiante pertenece al Grado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tc>
                <a:extLst>
                  <a:ext uri="{0D108BD9-81ED-4DB2-BD59-A6C34878D82A}">
                    <a16:rowId xmlns:a16="http://schemas.microsoft.com/office/drawing/2014/main" val="109511402"/>
                  </a:ext>
                </a:extLst>
              </a:tr>
              <a:tr h="402872">
                <a:tc>
                  <a:txBody>
                    <a:bodyPr/>
                    <a:lstStyle/>
                    <a:p>
                      <a:r>
                        <a:rPr lang="es-419" sz="1400" dirty="0"/>
                        <a:t>Programa</a:t>
                      </a:r>
                    </a:p>
                  </a:txBody>
                  <a:tcPr/>
                </a:tc>
                <a:tc>
                  <a:txBody>
                    <a:bodyPr/>
                    <a:lstStyle/>
                    <a:p>
                      <a:r>
                        <a:rPr lang="es-419" sz="1400" dirty="0"/>
                        <a:t>En la inscripción se valida si el estudiante pertenece al Programa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tc>
                <a:extLst>
                  <a:ext uri="{0D108BD9-81ED-4DB2-BD59-A6C34878D82A}">
                    <a16:rowId xmlns:a16="http://schemas.microsoft.com/office/drawing/2014/main" val="106026169"/>
                  </a:ext>
                </a:extLst>
              </a:tr>
              <a:tr h="402872">
                <a:tc>
                  <a:txBody>
                    <a:bodyPr/>
                    <a:lstStyle/>
                    <a:p>
                      <a:r>
                        <a:rPr lang="es-419" sz="1400" dirty="0"/>
                        <a:t>Atributo de alumno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400" b="0" i="0" u="none" strike="noStrike" kern="1200" cap="none" spc="0" normalizeH="0" baseline="0" noProof="0" dirty="0">
                          <a:ln>
                            <a:noFill/>
                          </a:ln>
                          <a:solidFill>
                            <a:srgbClr val="000000"/>
                          </a:solidFill>
                          <a:effectLst/>
                          <a:uLnTx/>
                          <a:uFillTx/>
                          <a:latin typeface="Aptos" panose="02110004020202020204"/>
                          <a:ea typeface="+mn-ea"/>
                          <a:cs typeface="+mn-cs"/>
                        </a:rPr>
                        <a:t>En la inscripción se valida si el estudiante tiene el atributo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a:t>
                      </a:r>
                      <a:r>
                        <a:rPr lang="pt-BR" sz="1400" dirty="0"/>
                        <a:t>, Alerta o </a:t>
                      </a:r>
                      <a:r>
                        <a:rPr lang="pt-BR" sz="1400" b="0" dirty="0"/>
                        <a:t>No verificar</a:t>
                      </a:r>
                      <a:r>
                        <a:rPr lang="pt-BR" sz="1400" dirty="0"/>
                        <a:t>.</a:t>
                      </a:r>
                      <a:endParaRPr lang="es-419" sz="1400" dirty="0"/>
                    </a:p>
                    <a:p>
                      <a:endParaRPr lang="es-419" sz="1400" dirty="0"/>
                    </a:p>
                  </a:txBody>
                  <a:tcPr/>
                </a:tc>
                <a:extLst>
                  <a:ext uri="{0D108BD9-81ED-4DB2-BD59-A6C34878D82A}">
                    <a16:rowId xmlns:a16="http://schemas.microsoft.com/office/drawing/2014/main" val="3754479394"/>
                  </a:ext>
                </a:extLst>
              </a:tr>
              <a:tr h="402872">
                <a:tc>
                  <a:txBody>
                    <a:bodyPr/>
                    <a:lstStyle/>
                    <a:p>
                      <a:r>
                        <a:rPr lang="es-419" sz="1400" dirty="0"/>
                        <a:t>Cohorte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400" b="0" i="0" u="none" strike="noStrike" kern="1200" cap="none" spc="0" normalizeH="0" baseline="0" noProof="0" dirty="0">
                          <a:ln>
                            <a:noFill/>
                          </a:ln>
                          <a:solidFill>
                            <a:srgbClr val="000000"/>
                          </a:solidFill>
                          <a:effectLst/>
                          <a:uLnTx/>
                          <a:uFillTx/>
                          <a:latin typeface="Aptos" panose="02110004020202020204"/>
                          <a:ea typeface="+mn-ea"/>
                          <a:cs typeface="+mn-cs"/>
                        </a:rPr>
                        <a:t>En la inscripción se valida si el estudiante pertenece a la cohorte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a:t>
                      </a:r>
                      <a:r>
                        <a:rPr lang="pt-BR" sz="1400" dirty="0"/>
                        <a:t>, Alerta o </a:t>
                      </a:r>
                      <a:r>
                        <a:rPr lang="pt-BR" sz="1400" b="0" dirty="0"/>
                        <a:t>No verificar</a:t>
                      </a:r>
                      <a:r>
                        <a:rPr lang="pt-BR" sz="1400" dirty="0"/>
                        <a:t>.</a:t>
                      </a:r>
                      <a:endParaRPr lang="es-419" sz="1400" dirty="0"/>
                    </a:p>
                    <a:p>
                      <a:endParaRPr lang="es-419" sz="1400" dirty="0"/>
                    </a:p>
                  </a:txBody>
                  <a:tcPr/>
                </a:tc>
                <a:extLst>
                  <a:ext uri="{0D108BD9-81ED-4DB2-BD59-A6C34878D82A}">
                    <a16:rowId xmlns:a16="http://schemas.microsoft.com/office/drawing/2014/main" val="3164855438"/>
                  </a:ext>
                </a:extLst>
              </a:tr>
            </a:tbl>
          </a:graphicData>
        </a:graphic>
      </p:graphicFrame>
    </p:spTree>
    <p:extLst>
      <p:ext uri="{BB962C8B-B14F-4D97-AF65-F5344CB8AC3E}">
        <p14:creationId xmlns:p14="http://schemas.microsoft.com/office/powerpoint/2010/main" val="1025604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C8B9B-96FD-3DA4-E30E-0316315FC77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CC1136E3-0067-507A-E05D-F021C4732B6C}"/>
              </a:ext>
            </a:extLst>
          </p:cNvPr>
          <p:cNvPicPr>
            <a:picLocks noChangeAspect="1"/>
          </p:cNvPicPr>
          <p:nvPr/>
        </p:nvPicPr>
        <p:blipFill>
          <a:blip r:embed="rId3"/>
          <a:stretch>
            <a:fillRect/>
          </a:stretch>
        </p:blipFill>
        <p:spPr>
          <a:xfrm>
            <a:off x="609601" y="1032095"/>
            <a:ext cx="11462939" cy="5061402"/>
          </a:xfrm>
          <a:prstGeom prst="rect">
            <a:avLst/>
          </a:prstGeom>
        </p:spPr>
      </p:pic>
      <p:sp>
        <p:nvSpPr>
          <p:cNvPr id="2" name="Marcador de texto vertical 1">
            <a:extLst>
              <a:ext uri="{FF2B5EF4-FFF2-40B4-BE49-F238E27FC236}">
                <a16:creationId xmlns:a16="http://schemas.microsoft.com/office/drawing/2014/main" id="{27C5D2D6-7484-CA44-6E70-CE31402793DF}"/>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533198D3-7561-61E6-A37A-0251C7406325}"/>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endParaRPr lang="es-ES_tradnl" b="1" dirty="0"/>
          </a:p>
        </p:txBody>
      </p:sp>
      <p:sp>
        <p:nvSpPr>
          <p:cNvPr id="7" name="Rectángulo: esquinas redondeadas 6">
            <a:extLst>
              <a:ext uri="{FF2B5EF4-FFF2-40B4-BE49-F238E27FC236}">
                <a16:creationId xmlns:a16="http://schemas.microsoft.com/office/drawing/2014/main" id="{D3D126F2-88D2-F7F2-FBFE-443C9C79C5AD}"/>
              </a:ext>
            </a:extLst>
          </p:cNvPr>
          <p:cNvSpPr/>
          <p:nvPr/>
        </p:nvSpPr>
        <p:spPr>
          <a:xfrm>
            <a:off x="1841788" y="4841102"/>
            <a:ext cx="8265651" cy="112465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7"/>
            </a:pPr>
            <a:r>
              <a:rPr lang="es-ES_tradnl" sz="1200" dirty="0"/>
              <a:t>En la pestaña ‘Controles de procesamiento web?, sección ‘Opciones de autoservicio’, No se activa la casilla ‘Permitir al alumno eliminar sus últimas clases’  si desea se puede cambiar está definición, para permitir que el estudiante no pueda eliminar el último NRC que haya inscrito previamente.  Esto podrá hacerlo si cumple con los créditos mínimos configurados en la página SFAMHRS.</a:t>
            </a:r>
          </a:p>
        </p:txBody>
      </p:sp>
      <p:sp>
        <p:nvSpPr>
          <p:cNvPr id="9" name="Rectángulo 8">
            <a:extLst>
              <a:ext uri="{FF2B5EF4-FFF2-40B4-BE49-F238E27FC236}">
                <a16:creationId xmlns:a16="http://schemas.microsoft.com/office/drawing/2014/main" id="{87C9D5DD-EB59-3F1D-AC0F-5665B67B1030}"/>
              </a:ext>
            </a:extLst>
          </p:cNvPr>
          <p:cNvSpPr/>
          <p:nvPr/>
        </p:nvSpPr>
        <p:spPr>
          <a:xfrm>
            <a:off x="1219203" y="3651808"/>
            <a:ext cx="2122226" cy="28297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BD6EECED-36AD-BF1B-CE9B-CF60AD03DE3D}"/>
              </a:ext>
            </a:extLst>
          </p:cNvPr>
          <p:cNvSpPr/>
          <p:nvPr/>
        </p:nvSpPr>
        <p:spPr>
          <a:xfrm>
            <a:off x="938996" y="371288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Tree>
    <p:extLst>
      <p:ext uri="{BB962C8B-B14F-4D97-AF65-F5344CB8AC3E}">
        <p14:creationId xmlns:p14="http://schemas.microsoft.com/office/powerpoint/2010/main" val="2720552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C188-EF7C-71A2-A057-E8B9547AB6C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24E16F37-1D6A-07F6-B6AB-169ECA7EEA7D}"/>
              </a:ext>
            </a:extLst>
          </p:cNvPr>
          <p:cNvPicPr>
            <a:picLocks noChangeAspect="1"/>
          </p:cNvPicPr>
          <p:nvPr/>
        </p:nvPicPr>
        <p:blipFill>
          <a:blip r:embed="rId3"/>
          <a:stretch>
            <a:fillRect/>
          </a:stretch>
        </p:blipFill>
        <p:spPr>
          <a:xfrm>
            <a:off x="784373" y="821663"/>
            <a:ext cx="10844993" cy="4811192"/>
          </a:xfrm>
          <a:prstGeom prst="rect">
            <a:avLst/>
          </a:prstGeom>
        </p:spPr>
      </p:pic>
      <p:sp>
        <p:nvSpPr>
          <p:cNvPr id="2" name="Marcador de texto vertical 1">
            <a:extLst>
              <a:ext uri="{FF2B5EF4-FFF2-40B4-BE49-F238E27FC236}">
                <a16:creationId xmlns:a16="http://schemas.microsoft.com/office/drawing/2014/main" id="{92A04C06-B0D8-FF1C-8C27-C8FBC3434C3E}"/>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C183BA7D-2C95-2A40-F408-62965D7097E9}"/>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endParaRPr lang="es-ES_tradnl" b="1" dirty="0"/>
          </a:p>
        </p:txBody>
      </p:sp>
      <p:sp>
        <p:nvSpPr>
          <p:cNvPr id="7" name="Rectángulo: esquinas redondeadas 6">
            <a:extLst>
              <a:ext uri="{FF2B5EF4-FFF2-40B4-BE49-F238E27FC236}">
                <a16:creationId xmlns:a16="http://schemas.microsoft.com/office/drawing/2014/main" id="{85662628-6BE5-44B2-5B36-9AD208718159}"/>
              </a:ext>
            </a:extLst>
          </p:cNvPr>
          <p:cNvSpPr/>
          <p:nvPr/>
        </p:nvSpPr>
        <p:spPr>
          <a:xfrm>
            <a:off x="1475686" y="4911685"/>
            <a:ext cx="8938314" cy="112465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8"/>
            </a:pPr>
            <a:r>
              <a:rPr lang="es-ES_tradnl" sz="1200" dirty="0"/>
              <a:t>Adicionalmente en la pestaña ‘Controles de inscripción de parte de periodo y web’, debemos definir el rango de las fechas de inicio y fin en las que el periodo académico estaría disponible para la visualización de inscripción de autoservicios.</a:t>
            </a:r>
          </a:p>
          <a:p>
            <a:pPr marL="228600" indent="-228600">
              <a:buFont typeface="+mj-lt"/>
              <a:buAutoNum type="arabicPeriod" startAt="8"/>
            </a:pPr>
            <a:r>
              <a:rPr lang="es-ES_tradnl" sz="1200" dirty="0"/>
              <a:t>Guarde la información ingresada.</a:t>
            </a:r>
          </a:p>
        </p:txBody>
      </p:sp>
      <p:sp>
        <p:nvSpPr>
          <p:cNvPr id="9" name="Rectángulo 8">
            <a:extLst>
              <a:ext uri="{FF2B5EF4-FFF2-40B4-BE49-F238E27FC236}">
                <a16:creationId xmlns:a16="http://schemas.microsoft.com/office/drawing/2014/main" id="{BEDB7FED-7FC7-AD0A-23C8-23CF9709991E}"/>
              </a:ext>
            </a:extLst>
          </p:cNvPr>
          <p:cNvSpPr/>
          <p:nvPr/>
        </p:nvSpPr>
        <p:spPr>
          <a:xfrm>
            <a:off x="775506" y="3785314"/>
            <a:ext cx="10844993" cy="67238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9695556F-C03D-6E43-960B-BEB8BFBD7105}"/>
              </a:ext>
            </a:extLst>
          </p:cNvPr>
          <p:cNvSpPr/>
          <p:nvPr/>
        </p:nvSpPr>
        <p:spPr>
          <a:xfrm>
            <a:off x="784373" y="350519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5" name="Rectángulo 4">
            <a:extLst>
              <a:ext uri="{FF2B5EF4-FFF2-40B4-BE49-F238E27FC236}">
                <a16:creationId xmlns:a16="http://schemas.microsoft.com/office/drawing/2014/main" id="{C8727AD7-48F0-8ACF-7675-3E1AFB66D250}"/>
              </a:ext>
            </a:extLst>
          </p:cNvPr>
          <p:cNvSpPr/>
          <p:nvPr/>
        </p:nvSpPr>
        <p:spPr>
          <a:xfrm>
            <a:off x="10991450" y="5348094"/>
            <a:ext cx="717949" cy="2794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E1FBF600-5985-F797-87E7-A263F7BC8CEE}"/>
              </a:ext>
            </a:extLst>
          </p:cNvPr>
          <p:cNvSpPr/>
          <p:nvPr/>
        </p:nvSpPr>
        <p:spPr>
          <a:xfrm>
            <a:off x="10733180" y="5158090"/>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Tree>
    <p:extLst>
      <p:ext uri="{BB962C8B-B14F-4D97-AF65-F5344CB8AC3E}">
        <p14:creationId xmlns:p14="http://schemas.microsoft.com/office/powerpoint/2010/main" val="1383819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93737-F202-AAC3-1413-399F530B8FE4}"/>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17079D0-8865-BC0C-40C6-818812C8C3CF}"/>
              </a:ext>
            </a:extLst>
          </p:cNvPr>
          <p:cNvSpPr>
            <a:spLocks noGrp="1"/>
          </p:cNvSpPr>
          <p:nvPr>
            <p:ph type="body" sz="quarter" idx="10"/>
          </p:nvPr>
        </p:nvSpPr>
        <p:spPr>
          <a:xfrm>
            <a:off x="914399" y="2238843"/>
            <a:ext cx="10363202" cy="669094"/>
          </a:xfrm>
        </p:spPr>
        <p:txBody>
          <a:bodyPr/>
          <a:lstStyle/>
          <a:p>
            <a:r>
              <a:rPr lang="es-419" dirty="0"/>
              <a:t>Control del estatus de ingreso</a:t>
            </a:r>
          </a:p>
        </p:txBody>
      </p:sp>
      <p:sp>
        <p:nvSpPr>
          <p:cNvPr id="2" name="Marcador de texto vertical 1">
            <a:extLst>
              <a:ext uri="{FF2B5EF4-FFF2-40B4-BE49-F238E27FC236}">
                <a16:creationId xmlns:a16="http://schemas.microsoft.com/office/drawing/2014/main" id="{7CC78A46-5247-EC1A-4CAD-44403113290D}"/>
              </a:ext>
            </a:extLst>
          </p:cNvPr>
          <p:cNvSpPr>
            <a:spLocks noGrp="1"/>
          </p:cNvSpPr>
          <p:nvPr>
            <p:ph type="body" sz="quarter" idx="11"/>
          </p:nvPr>
        </p:nvSpPr>
        <p:spPr/>
        <p:txBody>
          <a:bodyPr vert="horz" lIns="0" tIns="0" rIns="0" bIns="0" rtlCol="0">
            <a:spAutoFit/>
          </a:bodyPr>
          <a:lstStyle/>
          <a:p>
            <a:r>
              <a:rPr lang="es-419" dirty="0"/>
              <a:t>Gestionar retiro de cursos</a:t>
            </a:r>
          </a:p>
        </p:txBody>
      </p:sp>
    </p:spTree>
    <p:extLst>
      <p:ext uri="{BB962C8B-B14F-4D97-AF65-F5344CB8AC3E}">
        <p14:creationId xmlns:p14="http://schemas.microsoft.com/office/powerpoint/2010/main" val="1410584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F6474-F06D-A6BA-ECB2-15F12E6D378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EAB8B11-A0F4-8AAE-C19B-2E5872C6556D}"/>
              </a:ext>
            </a:extLst>
          </p:cNvPr>
          <p:cNvPicPr>
            <a:picLocks noChangeAspect="1"/>
          </p:cNvPicPr>
          <p:nvPr/>
        </p:nvPicPr>
        <p:blipFill>
          <a:blip r:embed="rId3"/>
          <a:stretch>
            <a:fillRect/>
          </a:stretch>
        </p:blipFill>
        <p:spPr>
          <a:xfrm>
            <a:off x="938996" y="1195551"/>
            <a:ext cx="10477498" cy="4466895"/>
          </a:xfrm>
          <a:prstGeom prst="rect">
            <a:avLst/>
          </a:prstGeom>
        </p:spPr>
      </p:pic>
      <p:sp>
        <p:nvSpPr>
          <p:cNvPr id="2" name="Marcador de texto vertical 1">
            <a:extLst>
              <a:ext uri="{FF2B5EF4-FFF2-40B4-BE49-F238E27FC236}">
                <a16:creationId xmlns:a16="http://schemas.microsoft.com/office/drawing/2014/main" id="{F27AA9DB-0034-9430-B41A-59BAA527BF05}"/>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7EA8FE26-C45C-43B5-09E2-57115892AA8E}"/>
              </a:ext>
            </a:extLst>
          </p:cNvPr>
          <p:cNvSpPr>
            <a:spLocks noGrp="1"/>
          </p:cNvSpPr>
          <p:nvPr>
            <p:ph type="title"/>
          </p:nvPr>
        </p:nvSpPr>
        <p:spPr>
          <a:xfrm>
            <a:off x="938996" y="304614"/>
            <a:ext cx="10477497" cy="898555"/>
          </a:xfrm>
        </p:spPr>
        <p:txBody>
          <a:bodyPr/>
          <a:lstStyle/>
          <a:p>
            <a:r>
              <a:rPr lang="es-ES_tradnl" dirty="0">
                <a:solidFill>
                  <a:schemeClr val="tx2"/>
                </a:solidFill>
              </a:rPr>
              <a:t>Premisa: </a:t>
            </a:r>
            <a:r>
              <a:rPr lang="es-419" dirty="0">
                <a:solidFill>
                  <a:schemeClr val="tx2"/>
                </a:solidFill>
              </a:rPr>
              <a:t>Validación del código del estatus de ingreso (STVESTS)</a:t>
            </a:r>
            <a:br>
              <a:rPr lang="es-419" dirty="0">
                <a:solidFill>
                  <a:schemeClr val="tx2"/>
                </a:solidFill>
              </a:rPr>
            </a:br>
            <a:endParaRPr lang="es-ES_tradnl" dirty="0">
              <a:solidFill>
                <a:schemeClr val="tx2"/>
              </a:solidFill>
            </a:endParaRPr>
          </a:p>
        </p:txBody>
      </p:sp>
      <p:sp>
        <p:nvSpPr>
          <p:cNvPr id="11" name="Rectángulo 10">
            <a:extLst>
              <a:ext uri="{FF2B5EF4-FFF2-40B4-BE49-F238E27FC236}">
                <a16:creationId xmlns:a16="http://schemas.microsoft.com/office/drawing/2014/main" id="{1232D9D4-D173-D35C-9346-BF89EBFCA02C}"/>
              </a:ext>
            </a:extLst>
          </p:cNvPr>
          <p:cNvSpPr/>
          <p:nvPr/>
        </p:nvSpPr>
        <p:spPr>
          <a:xfrm>
            <a:off x="938996" y="2336800"/>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5" name="Rectángulo: esquinas redondeadas 14">
            <a:extLst>
              <a:ext uri="{FF2B5EF4-FFF2-40B4-BE49-F238E27FC236}">
                <a16:creationId xmlns:a16="http://schemas.microsoft.com/office/drawing/2014/main" id="{0F4F0E81-623A-EFE2-8777-F1ECBEE2A705}"/>
              </a:ext>
            </a:extLst>
          </p:cNvPr>
          <p:cNvSpPr/>
          <p:nvPr/>
        </p:nvSpPr>
        <p:spPr>
          <a:xfrm>
            <a:off x="1883068" y="4083235"/>
            <a:ext cx="8425863" cy="92672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Se espera que exista al menos un registro de estatus de ingreso que permita la inscripción de asignaturas (no debe poseer la casilla ‘Impedir Inscripción’ activa). En este caso el estado esperado sería “Elegible para inscripción “ (EL)</a:t>
            </a:r>
          </a:p>
        </p:txBody>
      </p:sp>
    </p:spTree>
    <p:extLst>
      <p:ext uri="{BB962C8B-B14F-4D97-AF65-F5344CB8AC3E}">
        <p14:creationId xmlns:p14="http://schemas.microsoft.com/office/powerpoint/2010/main" val="548985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F42FE-A2EB-9E49-DD04-6346066F050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7DD125A-01B9-6412-3E1B-B0541563F72F}"/>
              </a:ext>
            </a:extLst>
          </p:cNvPr>
          <p:cNvPicPr>
            <a:picLocks noChangeAspect="1"/>
          </p:cNvPicPr>
          <p:nvPr/>
        </p:nvPicPr>
        <p:blipFill>
          <a:blip r:embed="rId3"/>
          <a:stretch>
            <a:fillRect/>
          </a:stretch>
        </p:blipFill>
        <p:spPr>
          <a:xfrm>
            <a:off x="762880" y="1420231"/>
            <a:ext cx="10806820" cy="1280348"/>
          </a:xfrm>
          <a:prstGeom prst="rect">
            <a:avLst/>
          </a:prstGeom>
        </p:spPr>
      </p:pic>
      <p:sp>
        <p:nvSpPr>
          <p:cNvPr id="2" name="Marcador de texto vertical 1">
            <a:extLst>
              <a:ext uri="{FF2B5EF4-FFF2-40B4-BE49-F238E27FC236}">
                <a16:creationId xmlns:a16="http://schemas.microsoft.com/office/drawing/2014/main" id="{951C8791-7527-E743-7C87-218CEF79FFCE}"/>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5519F350-8461-2D36-BA16-4670FAFA6077}"/>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3353B795-29E6-EAF9-6F1C-905494160D5D}"/>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requiere configurar SFAESTS, página administrativa donde se establecen los estatus de ingreso (STVESTS) que estarían habilitados para su asignación en un periodo académico determinado. Para ello se debe:</a:t>
            </a:r>
          </a:p>
          <a:p>
            <a:endParaRPr lang="es-ES_tradnl" sz="1200" dirty="0"/>
          </a:p>
          <a:p>
            <a:pPr marL="228600" indent="-228600">
              <a:buFont typeface="+mj-lt"/>
              <a:buAutoNum type="arabicPeriod"/>
            </a:pPr>
            <a:r>
              <a:rPr lang="es-ES_tradnl" sz="1200" dirty="0"/>
              <a:t>Ingresar el Periodo Académico para el cual se definirán las fechas de los estatus </a:t>
            </a:r>
          </a:p>
          <a:p>
            <a:pPr marL="228600" indent="-228600">
              <a:buFont typeface="+mj-lt"/>
              <a:buAutoNum type="arabicPeriod"/>
            </a:pPr>
            <a:r>
              <a:rPr lang="es-ES_tradnl" sz="1200" dirty="0"/>
              <a:t>Presionar el botón ‘Ir’.</a:t>
            </a:r>
          </a:p>
        </p:txBody>
      </p:sp>
      <p:sp>
        <p:nvSpPr>
          <p:cNvPr id="10" name="Rectángulo 9">
            <a:extLst>
              <a:ext uri="{FF2B5EF4-FFF2-40B4-BE49-F238E27FC236}">
                <a16:creationId xmlns:a16="http://schemas.microsoft.com/office/drawing/2014/main" id="{E8860C21-DA09-8F67-0718-41B6583D69F9}"/>
              </a:ext>
            </a:extLst>
          </p:cNvPr>
          <p:cNvSpPr/>
          <p:nvPr/>
        </p:nvSpPr>
        <p:spPr>
          <a:xfrm>
            <a:off x="1321471" y="1893828"/>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AC241E84-7049-03FD-4501-DDC6E39E4A61}"/>
              </a:ext>
            </a:extLst>
          </p:cNvPr>
          <p:cNvSpPr/>
          <p:nvPr/>
        </p:nvSpPr>
        <p:spPr>
          <a:xfrm>
            <a:off x="3225800" y="218352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redondeado 15">
            <a:extLst>
              <a:ext uri="{FF2B5EF4-FFF2-40B4-BE49-F238E27FC236}">
                <a16:creationId xmlns:a16="http://schemas.microsoft.com/office/drawing/2014/main" id="{5575EBED-1688-2F9E-9F70-7C51969869F7}"/>
              </a:ext>
            </a:extLst>
          </p:cNvPr>
          <p:cNvSpPr/>
          <p:nvPr/>
        </p:nvSpPr>
        <p:spPr>
          <a:xfrm>
            <a:off x="10994734" y="218352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7" name="Rectángulo 16">
            <a:extLst>
              <a:ext uri="{FF2B5EF4-FFF2-40B4-BE49-F238E27FC236}">
                <a16:creationId xmlns:a16="http://schemas.microsoft.com/office/drawing/2014/main" id="{C81540BE-C0DF-DBF4-3002-A24A7FF33BBF}"/>
              </a:ext>
            </a:extLst>
          </p:cNvPr>
          <p:cNvSpPr/>
          <p:nvPr/>
        </p:nvSpPr>
        <p:spPr>
          <a:xfrm>
            <a:off x="11123869" y="1895640"/>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830560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3042E-91BB-15D3-CA94-B9455B543E6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DC99ED4-5827-F0A5-F66C-34FFAFDCEC9C}"/>
              </a:ext>
            </a:extLst>
          </p:cNvPr>
          <p:cNvPicPr>
            <a:picLocks noChangeAspect="1"/>
          </p:cNvPicPr>
          <p:nvPr/>
        </p:nvPicPr>
        <p:blipFill>
          <a:blip r:embed="rId3"/>
          <a:stretch>
            <a:fillRect/>
          </a:stretch>
        </p:blipFill>
        <p:spPr>
          <a:xfrm>
            <a:off x="938996" y="1033472"/>
            <a:ext cx="11088365" cy="4791054"/>
          </a:xfrm>
          <a:prstGeom prst="rect">
            <a:avLst/>
          </a:prstGeom>
        </p:spPr>
      </p:pic>
      <p:sp>
        <p:nvSpPr>
          <p:cNvPr id="2" name="Marcador de texto vertical 1">
            <a:extLst>
              <a:ext uri="{FF2B5EF4-FFF2-40B4-BE49-F238E27FC236}">
                <a16:creationId xmlns:a16="http://schemas.microsoft.com/office/drawing/2014/main" id="{FEBE20B5-2F6D-C285-E5D5-B00C500F43A3}"/>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26F84759-01DB-B943-64C0-523B3B3EB69B}"/>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3FCAAF3F-959E-3569-5F0C-0579FF0416C8}"/>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Para efectos de la inscripción de asignaturas se requiere que el Estatus de Ingreso (</a:t>
            </a:r>
            <a:r>
              <a:rPr lang="es-ES_tradnl" sz="1200" b="1" dirty="0"/>
              <a:t>EL</a:t>
            </a:r>
            <a:r>
              <a:rPr lang="es-ES_tradnl" sz="1200" dirty="0"/>
              <a:t>) se encuentre configurado con una ‘Fecha de inicio’ y ‘Fecha de fin’ definida. Este rango de tiempo corresponderá al periodo de tiempo en el cual se permitiría la inscripción o modificación de la carga académica del estudiante (Inscripción).</a:t>
            </a:r>
          </a:p>
        </p:txBody>
      </p:sp>
      <p:sp>
        <p:nvSpPr>
          <p:cNvPr id="10" name="Rectángulo 9">
            <a:extLst>
              <a:ext uri="{FF2B5EF4-FFF2-40B4-BE49-F238E27FC236}">
                <a16:creationId xmlns:a16="http://schemas.microsoft.com/office/drawing/2014/main" id="{AEC76531-F1CD-54D2-25C8-D28A19437320}"/>
              </a:ext>
            </a:extLst>
          </p:cNvPr>
          <p:cNvSpPr/>
          <p:nvPr/>
        </p:nvSpPr>
        <p:spPr>
          <a:xfrm>
            <a:off x="938996" y="2266301"/>
            <a:ext cx="10681504"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07B7EB72-B717-014A-34E2-77CC23FCB2C4}"/>
              </a:ext>
            </a:extLst>
          </p:cNvPr>
          <p:cNvSpPr/>
          <p:nvPr/>
        </p:nvSpPr>
        <p:spPr>
          <a:xfrm>
            <a:off x="631291" y="226630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Tree>
    <p:extLst>
      <p:ext uri="{BB962C8B-B14F-4D97-AF65-F5344CB8AC3E}">
        <p14:creationId xmlns:p14="http://schemas.microsoft.com/office/powerpoint/2010/main" val="1922130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D6C31-9664-4143-B711-AFDD84DCD5C5}"/>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4DE26F26-4BA6-2264-F039-1B6A87C3B192}"/>
              </a:ext>
            </a:extLst>
          </p:cNvPr>
          <p:cNvPicPr>
            <a:picLocks noChangeAspect="1"/>
          </p:cNvPicPr>
          <p:nvPr/>
        </p:nvPicPr>
        <p:blipFill>
          <a:blip r:embed="rId3"/>
          <a:stretch>
            <a:fillRect/>
          </a:stretch>
        </p:blipFill>
        <p:spPr>
          <a:xfrm>
            <a:off x="1010121" y="1033472"/>
            <a:ext cx="11088365" cy="4791054"/>
          </a:xfrm>
          <a:prstGeom prst="rect">
            <a:avLst/>
          </a:prstGeom>
        </p:spPr>
      </p:pic>
      <p:sp>
        <p:nvSpPr>
          <p:cNvPr id="2" name="Marcador de texto vertical 1">
            <a:extLst>
              <a:ext uri="{FF2B5EF4-FFF2-40B4-BE49-F238E27FC236}">
                <a16:creationId xmlns:a16="http://schemas.microsoft.com/office/drawing/2014/main" id="{BEA3616C-8F42-95E2-F28E-74BF7D9AC097}"/>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5F675E0A-B6AC-A94E-41DB-8A54EEAA0446}"/>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7A023096-0923-DD21-78F2-B1769992FCD4}"/>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Para efectos de la inscripción de asignaturas se requiere que el Estatus de Ingreso (</a:t>
            </a:r>
            <a:r>
              <a:rPr lang="es-ES_tradnl" sz="1200" b="1" dirty="0"/>
              <a:t>EL</a:t>
            </a:r>
            <a:r>
              <a:rPr lang="es-ES_tradnl" sz="1200" dirty="0"/>
              <a:t>) se encuentre configurado con una ‘Fecha de inicio’ y ‘Fecha de fin’ definida. Este rango de tiempo corresponderá al periodo de tiempo en el cual se permitiría la inscripción o modificación de la carga académica del estudiante (Inscripción).</a:t>
            </a:r>
          </a:p>
          <a:p>
            <a:endParaRPr lang="es-ES_tradnl" sz="1200" dirty="0"/>
          </a:p>
          <a:p>
            <a:r>
              <a:rPr lang="es-ES_tradnl" sz="1100" dirty="0"/>
              <a:t>En caso de no estar presente el estado (EL), para ingresar el registro ser debe seleccionar la opción ‘</a:t>
            </a:r>
            <a:r>
              <a:rPr lang="es-ES_tradnl" sz="1100" b="1" dirty="0"/>
              <a:t>+</a:t>
            </a:r>
            <a:r>
              <a:rPr lang="es-ES_tradnl" sz="1100" dirty="0"/>
              <a:t>’, ingresar el código EL en el campo ‘Estatus’ y definir las fechas de inicio y fin respectivamente</a:t>
            </a:r>
          </a:p>
        </p:txBody>
      </p:sp>
      <p:sp>
        <p:nvSpPr>
          <p:cNvPr id="10" name="Rectángulo 9">
            <a:extLst>
              <a:ext uri="{FF2B5EF4-FFF2-40B4-BE49-F238E27FC236}">
                <a16:creationId xmlns:a16="http://schemas.microsoft.com/office/drawing/2014/main" id="{D1B05D9C-45EA-32F3-DD87-213B61612A03}"/>
              </a:ext>
            </a:extLst>
          </p:cNvPr>
          <p:cNvSpPr/>
          <p:nvPr/>
        </p:nvSpPr>
        <p:spPr>
          <a:xfrm>
            <a:off x="938996" y="2266301"/>
            <a:ext cx="10681504"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4AF42AF5-E880-99D5-630C-69090423E18C}"/>
              </a:ext>
            </a:extLst>
          </p:cNvPr>
          <p:cNvSpPr/>
          <p:nvPr/>
        </p:nvSpPr>
        <p:spPr>
          <a:xfrm>
            <a:off x="680726" y="258992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3" name="Rectángulo 2">
            <a:extLst>
              <a:ext uri="{FF2B5EF4-FFF2-40B4-BE49-F238E27FC236}">
                <a16:creationId xmlns:a16="http://schemas.microsoft.com/office/drawing/2014/main" id="{CEDAD311-5199-2B31-DB69-DFE07E1B7D7D}"/>
              </a:ext>
            </a:extLst>
          </p:cNvPr>
          <p:cNvSpPr/>
          <p:nvPr/>
        </p:nvSpPr>
        <p:spPr>
          <a:xfrm>
            <a:off x="10731500" y="1771159"/>
            <a:ext cx="242104"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1065434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CF675-60D0-40AA-D413-52B55404E716}"/>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05C77BD5-9213-43A1-EF72-D6C35B5015A3}"/>
              </a:ext>
            </a:extLst>
          </p:cNvPr>
          <p:cNvPicPr>
            <a:picLocks noChangeAspect="1"/>
          </p:cNvPicPr>
          <p:nvPr/>
        </p:nvPicPr>
        <p:blipFill>
          <a:blip r:embed="rId3"/>
          <a:stretch>
            <a:fillRect/>
          </a:stretch>
        </p:blipFill>
        <p:spPr>
          <a:xfrm>
            <a:off x="809861" y="1614384"/>
            <a:ext cx="10810639" cy="1156110"/>
          </a:xfrm>
          <a:prstGeom prst="rect">
            <a:avLst/>
          </a:prstGeom>
        </p:spPr>
      </p:pic>
      <p:sp>
        <p:nvSpPr>
          <p:cNvPr id="2" name="Marcador de texto vertical 1">
            <a:extLst>
              <a:ext uri="{FF2B5EF4-FFF2-40B4-BE49-F238E27FC236}">
                <a16:creationId xmlns:a16="http://schemas.microsoft.com/office/drawing/2014/main" id="{BD13C1EC-81D1-BCB3-0D0B-0DCACDC46DE3}"/>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A8BCBAAE-1160-9117-40EF-0B670BBBD86F}"/>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19C877B3-6D9E-68D3-DAC1-A4D1F3AFA2A3}"/>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Por medio del campo ‘Copiar del periodo’, se puede copiar la configuración del período que se ingrese en dicho campo a otro período, con lo cual solo deberá modificar las fechas que correspondan al nuevo período en cada uno de los estatus.</a:t>
            </a:r>
          </a:p>
        </p:txBody>
      </p:sp>
      <p:sp>
        <p:nvSpPr>
          <p:cNvPr id="10" name="Rectángulo 9">
            <a:extLst>
              <a:ext uri="{FF2B5EF4-FFF2-40B4-BE49-F238E27FC236}">
                <a16:creationId xmlns:a16="http://schemas.microsoft.com/office/drawing/2014/main" id="{71545AD6-7686-748B-5979-7D273A2AF9BB}"/>
              </a:ext>
            </a:extLst>
          </p:cNvPr>
          <p:cNvSpPr/>
          <p:nvPr/>
        </p:nvSpPr>
        <p:spPr>
          <a:xfrm>
            <a:off x="5632852" y="1962504"/>
            <a:ext cx="2368148"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578996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D092-969A-8BA6-0044-C19B96C2624D}"/>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AC26B074-EA88-DDAF-A507-269D8836AC5E}"/>
              </a:ext>
            </a:extLst>
          </p:cNvPr>
          <p:cNvSpPr>
            <a:spLocks noGrp="1"/>
          </p:cNvSpPr>
          <p:nvPr>
            <p:ph type="body" sz="quarter" idx="10"/>
          </p:nvPr>
        </p:nvSpPr>
        <p:spPr>
          <a:xfrm>
            <a:off x="914399" y="2238843"/>
            <a:ext cx="10363202" cy="669094"/>
          </a:xfrm>
        </p:spPr>
        <p:txBody>
          <a:bodyPr/>
          <a:lstStyle/>
          <a:p>
            <a:r>
              <a:rPr lang="es-419" dirty="0"/>
              <a:t>Estatus de inscripción al curso</a:t>
            </a:r>
          </a:p>
        </p:txBody>
      </p:sp>
      <p:sp>
        <p:nvSpPr>
          <p:cNvPr id="2" name="Marcador de texto vertical 1">
            <a:extLst>
              <a:ext uri="{FF2B5EF4-FFF2-40B4-BE49-F238E27FC236}">
                <a16:creationId xmlns:a16="http://schemas.microsoft.com/office/drawing/2014/main" id="{3CCDE5A6-A1F9-470F-6796-AA91B5C07EF9}"/>
              </a:ext>
            </a:extLst>
          </p:cNvPr>
          <p:cNvSpPr>
            <a:spLocks noGrp="1"/>
          </p:cNvSpPr>
          <p:nvPr>
            <p:ph type="body" sz="quarter" idx="11"/>
          </p:nvPr>
        </p:nvSpPr>
        <p:spPr/>
        <p:txBody>
          <a:bodyPr vert="horz" lIns="0" tIns="0" rIns="0" bIns="0" rtlCol="0">
            <a:spAutoFit/>
          </a:bodyPr>
          <a:lstStyle/>
          <a:p>
            <a:r>
              <a:rPr lang="es-419" dirty="0"/>
              <a:t>Gestionar retiro de cursos</a:t>
            </a:r>
          </a:p>
        </p:txBody>
      </p:sp>
    </p:spTree>
    <p:extLst>
      <p:ext uri="{BB962C8B-B14F-4D97-AF65-F5344CB8AC3E}">
        <p14:creationId xmlns:p14="http://schemas.microsoft.com/office/powerpoint/2010/main" val="7744372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5C473-AE99-E9F0-6184-842FC09F1DCC}"/>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458E0B2-C7DD-1937-7AAE-C9652B4B6F75}"/>
              </a:ext>
            </a:extLst>
          </p:cNvPr>
          <p:cNvPicPr>
            <a:picLocks noChangeAspect="1"/>
          </p:cNvPicPr>
          <p:nvPr/>
        </p:nvPicPr>
        <p:blipFill>
          <a:blip r:embed="rId3"/>
          <a:stretch>
            <a:fillRect/>
          </a:stretch>
        </p:blipFill>
        <p:spPr>
          <a:xfrm>
            <a:off x="698043" y="1623077"/>
            <a:ext cx="11010202" cy="4721138"/>
          </a:xfrm>
          <a:prstGeom prst="rect">
            <a:avLst/>
          </a:prstGeom>
        </p:spPr>
      </p:pic>
      <p:sp>
        <p:nvSpPr>
          <p:cNvPr id="2" name="Marcador de texto vertical 1">
            <a:extLst>
              <a:ext uri="{FF2B5EF4-FFF2-40B4-BE49-F238E27FC236}">
                <a16:creationId xmlns:a16="http://schemas.microsoft.com/office/drawing/2014/main" id="{1DADB18B-EE98-381A-FAA9-42C231C343EC}"/>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939B77A4-83FC-AEFF-4A48-BF44D22BAF93}"/>
              </a:ext>
            </a:extLst>
          </p:cNvPr>
          <p:cNvSpPr>
            <a:spLocks noGrp="1"/>
          </p:cNvSpPr>
          <p:nvPr>
            <p:ph type="title"/>
          </p:nvPr>
        </p:nvSpPr>
        <p:spPr>
          <a:xfrm>
            <a:off x="938996" y="304614"/>
            <a:ext cx="10477497" cy="898555"/>
          </a:xfrm>
        </p:spPr>
        <p:txBody>
          <a:bodyPr/>
          <a:lstStyle/>
          <a:p>
            <a:r>
              <a:rPr lang="es-ES_tradnl" dirty="0">
                <a:solidFill>
                  <a:schemeClr val="tx2"/>
                </a:solidFill>
              </a:rPr>
              <a:t> </a:t>
            </a:r>
            <a:r>
              <a:rPr lang="es-419" dirty="0">
                <a:solidFill>
                  <a:schemeClr val="tx2"/>
                </a:solidFill>
              </a:rPr>
              <a:t>Validación del código de estatus de la inscripción al curso (STVRSTS)</a:t>
            </a:r>
            <a:br>
              <a:rPr lang="es-419" dirty="0">
                <a:solidFill>
                  <a:schemeClr val="tx2"/>
                </a:solidFill>
              </a:rPr>
            </a:br>
            <a:endParaRPr lang="es-ES_tradnl" dirty="0">
              <a:solidFill>
                <a:schemeClr val="tx2"/>
              </a:solidFill>
            </a:endParaRPr>
          </a:p>
        </p:txBody>
      </p:sp>
      <p:sp>
        <p:nvSpPr>
          <p:cNvPr id="8" name="Rectángulo 7">
            <a:extLst>
              <a:ext uri="{FF2B5EF4-FFF2-40B4-BE49-F238E27FC236}">
                <a16:creationId xmlns:a16="http://schemas.microsoft.com/office/drawing/2014/main" id="{C0AC5596-A5B1-93B3-6BA7-CF30AAD91689}"/>
              </a:ext>
            </a:extLst>
          </p:cNvPr>
          <p:cNvSpPr/>
          <p:nvPr/>
        </p:nvSpPr>
        <p:spPr>
          <a:xfrm>
            <a:off x="483755" y="3252581"/>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esquinas redondeadas 8">
            <a:extLst>
              <a:ext uri="{FF2B5EF4-FFF2-40B4-BE49-F238E27FC236}">
                <a16:creationId xmlns:a16="http://schemas.microsoft.com/office/drawing/2014/main" id="{DF388ABA-0A04-0FFA-7F87-5F51604122F7}"/>
              </a:ext>
            </a:extLst>
          </p:cNvPr>
          <p:cNvSpPr/>
          <p:nvPr/>
        </p:nvSpPr>
        <p:spPr>
          <a:xfrm>
            <a:off x="1540168" y="4819581"/>
            <a:ext cx="8425863" cy="92672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Se espera que existan los estatus de inscripción de curso nativos de Banner, particularmente los estatus RW y DW, los cuales representan la inscripción y retiro de asignaturas desde autoservicio.</a:t>
            </a:r>
          </a:p>
        </p:txBody>
      </p:sp>
      <p:sp>
        <p:nvSpPr>
          <p:cNvPr id="10" name="Rectángulo 9">
            <a:extLst>
              <a:ext uri="{FF2B5EF4-FFF2-40B4-BE49-F238E27FC236}">
                <a16:creationId xmlns:a16="http://schemas.microsoft.com/office/drawing/2014/main" id="{CCFAFCC4-6388-F0D9-4013-834650C4A9F3}"/>
              </a:ext>
            </a:extLst>
          </p:cNvPr>
          <p:cNvSpPr/>
          <p:nvPr/>
        </p:nvSpPr>
        <p:spPr>
          <a:xfrm>
            <a:off x="483755" y="3672489"/>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388664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22FF9-E9D6-B666-BCAC-9DA81C3F98AD}"/>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179E7985-C70C-758B-641A-AC1EAF5F280C}"/>
              </a:ext>
            </a:extLst>
          </p:cNvPr>
          <p:cNvPicPr>
            <a:picLocks noChangeAspect="1"/>
          </p:cNvPicPr>
          <p:nvPr/>
        </p:nvPicPr>
        <p:blipFill>
          <a:blip r:embed="rId3"/>
          <a:stretch>
            <a:fillRect/>
          </a:stretch>
        </p:blipFill>
        <p:spPr>
          <a:xfrm>
            <a:off x="864455" y="1456394"/>
            <a:ext cx="10626578" cy="1263611"/>
          </a:xfrm>
          <a:prstGeom prst="rect">
            <a:avLst/>
          </a:prstGeom>
        </p:spPr>
      </p:pic>
      <p:sp>
        <p:nvSpPr>
          <p:cNvPr id="2" name="Marcador de texto vertical 1">
            <a:extLst>
              <a:ext uri="{FF2B5EF4-FFF2-40B4-BE49-F238E27FC236}">
                <a16:creationId xmlns:a16="http://schemas.microsoft.com/office/drawing/2014/main" id="{067FF77B-3DF7-1A0F-1FCA-B0EB6756688E}"/>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CB016422-444F-0843-1530-900C479CACD7}"/>
              </a:ext>
            </a:extLst>
          </p:cNvPr>
          <p:cNvSpPr>
            <a:spLocks noGrp="1"/>
          </p:cNvSpPr>
          <p:nvPr>
            <p:ph type="title"/>
          </p:nvPr>
        </p:nvSpPr>
        <p:spPr>
          <a:xfrm>
            <a:off x="938996" y="304614"/>
            <a:ext cx="10477497" cy="898555"/>
          </a:xfrm>
        </p:spPr>
        <p:txBody>
          <a:bodyPr/>
          <a:lstStyle/>
          <a:p>
            <a:r>
              <a:rPr lang="es-419" dirty="0">
                <a:solidFill>
                  <a:schemeClr val="tx2"/>
                </a:solidFill>
              </a:rPr>
              <a:t>Estatus de inscripción a curso (SFARSTS)</a:t>
            </a:r>
            <a:endParaRPr lang="es-ES_tradnl" dirty="0">
              <a:solidFill>
                <a:schemeClr val="tx2"/>
              </a:solidFill>
            </a:endParaRPr>
          </a:p>
        </p:txBody>
      </p:sp>
      <p:sp>
        <p:nvSpPr>
          <p:cNvPr id="3" name="Rectángulo: esquinas redondeadas 2">
            <a:extLst>
              <a:ext uri="{FF2B5EF4-FFF2-40B4-BE49-F238E27FC236}">
                <a16:creationId xmlns:a16="http://schemas.microsoft.com/office/drawing/2014/main" id="{07CE779A-7EDF-B134-BFD6-631585A27A35}"/>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requiere configurar SFARSTS, página administrativa donde se establecen los estatus de inscripción de los cursos  que estarían habilitados para su asignación en un periodo académico determinado. Para ello se debe:</a:t>
            </a:r>
          </a:p>
          <a:p>
            <a:endParaRPr lang="es-ES_tradnl" sz="1200" dirty="0"/>
          </a:p>
          <a:p>
            <a:pPr marL="228600" indent="-228600">
              <a:buFont typeface="+mj-lt"/>
              <a:buAutoNum type="arabicPeriod"/>
            </a:pPr>
            <a:r>
              <a:rPr lang="es-ES_tradnl" sz="1200" dirty="0"/>
              <a:t>Ingresar el Periodo Académico para el cual se definirán las fechas de los estatus de inscripción de cursos</a:t>
            </a:r>
          </a:p>
          <a:p>
            <a:pPr marL="228600" indent="-228600">
              <a:buFont typeface="+mj-lt"/>
              <a:buAutoNum type="arabicPeriod"/>
            </a:pPr>
            <a:r>
              <a:rPr lang="es-ES_tradnl" sz="1200" dirty="0"/>
              <a:t>Ingresar la parte de período en el cual están programadas las asignaturas para su inscripción. Se deben configurar los estatus para cada parte de período que esté habilitada en la página SOATERM para el período.</a:t>
            </a:r>
          </a:p>
          <a:p>
            <a:pPr marL="228600" indent="-228600">
              <a:buFont typeface="+mj-lt"/>
              <a:buAutoNum type="arabicPeriod"/>
            </a:pPr>
            <a:r>
              <a:rPr lang="es-ES_tradnl" sz="1200" dirty="0"/>
              <a:t>Presionar el botón ‘Ir’.</a:t>
            </a:r>
          </a:p>
        </p:txBody>
      </p:sp>
      <p:sp>
        <p:nvSpPr>
          <p:cNvPr id="5" name="Rectángulo 4">
            <a:extLst>
              <a:ext uri="{FF2B5EF4-FFF2-40B4-BE49-F238E27FC236}">
                <a16:creationId xmlns:a16="http://schemas.microsoft.com/office/drawing/2014/main" id="{04452D7E-542F-AFCE-7271-7E8BF66C840A}"/>
              </a:ext>
            </a:extLst>
          </p:cNvPr>
          <p:cNvSpPr/>
          <p:nvPr/>
        </p:nvSpPr>
        <p:spPr>
          <a:xfrm>
            <a:off x="1475129" y="1858754"/>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629A36AA-883A-F5F6-76DC-EC6F3B8C16CB}"/>
              </a:ext>
            </a:extLst>
          </p:cNvPr>
          <p:cNvSpPr/>
          <p:nvPr/>
        </p:nvSpPr>
        <p:spPr>
          <a:xfrm>
            <a:off x="3468358" y="20976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7" name="Rectángulo redondeado 15">
            <a:extLst>
              <a:ext uri="{FF2B5EF4-FFF2-40B4-BE49-F238E27FC236}">
                <a16:creationId xmlns:a16="http://schemas.microsoft.com/office/drawing/2014/main" id="{6AAA3B3F-6C04-D5A2-5DF3-83315470ABD7}"/>
              </a:ext>
            </a:extLst>
          </p:cNvPr>
          <p:cNvSpPr/>
          <p:nvPr/>
        </p:nvSpPr>
        <p:spPr>
          <a:xfrm>
            <a:off x="10924694" y="20976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8" name="Rectángulo 7">
            <a:extLst>
              <a:ext uri="{FF2B5EF4-FFF2-40B4-BE49-F238E27FC236}">
                <a16:creationId xmlns:a16="http://schemas.microsoft.com/office/drawing/2014/main" id="{148FD5E9-F7E8-B8BD-F692-C6B0B40D5DA1}"/>
              </a:ext>
            </a:extLst>
          </p:cNvPr>
          <p:cNvSpPr/>
          <p:nvPr/>
        </p:nvSpPr>
        <p:spPr>
          <a:xfrm>
            <a:off x="11104629" y="1868202"/>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8">
            <a:extLst>
              <a:ext uri="{FF2B5EF4-FFF2-40B4-BE49-F238E27FC236}">
                <a16:creationId xmlns:a16="http://schemas.microsoft.com/office/drawing/2014/main" id="{B8465676-89C9-1724-4FCB-CE636ECE03CD}"/>
              </a:ext>
            </a:extLst>
          </p:cNvPr>
          <p:cNvSpPr/>
          <p:nvPr/>
        </p:nvSpPr>
        <p:spPr>
          <a:xfrm>
            <a:off x="6596080" y="1840876"/>
            <a:ext cx="163697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15AE44DC-215E-2C74-1EC0-404861207EB6}"/>
              </a:ext>
            </a:extLst>
          </p:cNvPr>
          <p:cNvSpPr/>
          <p:nvPr/>
        </p:nvSpPr>
        <p:spPr>
          <a:xfrm>
            <a:off x="8233059" y="20976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3797257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40E92-0F5C-DAFF-428B-EC4FDF16894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D48ADDF-4B24-EA3B-02FB-3C1C35E56247}"/>
              </a:ext>
            </a:extLst>
          </p:cNvPr>
          <p:cNvPicPr>
            <a:picLocks noChangeAspect="1"/>
          </p:cNvPicPr>
          <p:nvPr/>
        </p:nvPicPr>
        <p:blipFill>
          <a:blip r:embed="rId3"/>
          <a:stretch>
            <a:fillRect/>
          </a:stretch>
        </p:blipFill>
        <p:spPr>
          <a:xfrm>
            <a:off x="773767" y="1050905"/>
            <a:ext cx="11132745" cy="4756189"/>
          </a:xfrm>
          <a:prstGeom prst="rect">
            <a:avLst/>
          </a:prstGeom>
        </p:spPr>
      </p:pic>
      <p:sp>
        <p:nvSpPr>
          <p:cNvPr id="2" name="Marcador de texto vertical 1">
            <a:extLst>
              <a:ext uri="{FF2B5EF4-FFF2-40B4-BE49-F238E27FC236}">
                <a16:creationId xmlns:a16="http://schemas.microsoft.com/office/drawing/2014/main" id="{3C95DAC7-C144-CAC4-E9D8-E3A73280A4DC}"/>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A60D5FA5-9C19-0BF1-9518-D48C246524EB}"/>
              </a:ext>
            </a:extLst>
          </p:cNvPr>
          <p:cNvSpPr>
            <a:spLocks noGrp="1"/>
          </p:cNvSpPr>
          <p:nvPr>
            <p:ph type="title"/>
          </p:nvPr>
        </p:nvSpPr>
        <p:spPr>
          <a:xfrm>
            <a:off x="938996" y="304614"/>
            <a:ext cx="10477497" cy="898555"/>
          </a:xfrm>
        </p:spPr>
        <p:txBody>
          <a:bodyPr/>
          <a:lstStyle/>
          <a:p>
            <a:r>
              <a:rPr lang="es-ES_tradnl" dirty="0">
                <a:solidFill>
                  <a:schemeClr val="tx2"/>
                </a:solidFill>
              </a:rPr>
              <a:t> </a:t>
            </a:r>
            <a:r>
              <a:rPr lang="es-419" dirty="0">
                <a:solidFill>
                  <a:schemeClr val="tx2"/>
                </a:solidFill>
              </a:rPr>
              <a:t>Estatus de inscripción a curso (SFARSTS)</a:t>
            </a:r>
            <a:br>
              <a:rPr lang="es-419" dirty="0">
                <a:solidFill>
                  <a:schemeClr val="tx2"/>
                </a:solidFill>
              </a:rPr>
            </a:br>
            <a:endParaRPr lang="es-ES_tradnl" dirty="0">
              <a:solidFill>
                <a:schemeClr val="tx2"/>
              </a:solidFill>
            </a:endParaRPr>
          </a:p>
        </p:txBody>
      </p:sp>
      <p:sp>
        <p:nvSpPr>
          <p:cNvPr id="8" name="Rectángulo 7">
            <a:extLst>
              <a:ext uri="{FF2B5EF4-FFF2-40B4-BE49-F238E27FC236}">
                <a16:creationId xmlns:a16="http://schemas.microsoft.com/office/drawing/2014/main" id="{96F17989-A9DD-3AAB-43B6-532BC4CB186E}"/>
              </a:ext>
            </a:extLst>
          </p:cNvPr>
          <p:cNvSpPr/>
          <p:nvPr/>
        </p:nvSpPr>
        <p:spPr>
          <a:xfrm>
            <a:off x="749429" y="2455053"/>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esquinas redondeadas 8">
            <a:extLst>
              <a:ext uri="{FF2B5EF4-FFF2-40B4-BE49-F238E27FC236}">
                <a16:creationId xmlns:a16="http://schemas.microsoft.com/office/drawing/2014/main" id="{5165F702-4849-5C22-AB13-240741F45DB2}"/>
              </a:ext>
            </a:extLst>
          </p:cNvPr>
          <p:cNvSpPr/>
          <p:nvPr/>
        </p:nvSpPr>
        <p:spPr>
          <a:xfrm>
            <a:off x="1641768" y="4402947"/>
            <a:ext cx="8425863" cy="164790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Para efectos de la inscripción de asignaturas se requiere que los estatus de inscripción de cursos RW y DW se encuentre habilitados dentro de los registros y con los campos ‘Fecha de inicio’ y ‘Fecha de fin’ definidos, dado que solo se permitirá una inscripción o retiro de asignaturas dentro del rango de tiempo que ambos campos indican.</a:t>
            </a:r>
          </a:p>
          <a:p>
            <a:pPr algn="ctr"/>
            <a:endParaRPr lang="es-ES_tradnl" sz="1200" dirty="0"/>
          </a:p>
          <a:p>
            <a:pPr marL="171450" indent="-171450">
              <a:buFont typeface="Arial" panose="020B0604020202020204" pitchFamily="34" charset="0"/>
              <a:buChar char="•"/>
            </a:pPr>
            <a:r>
              <a:rPr lang="es-ES_tradnl" sz="1100" dirty="0"/>
              <a:t>En caso de no estar presente el estado de inscripción de cursos, para ingresar el registro ser debe seleccionar la opción ‘</a:t>
            </a:r>
            <a:r>
              <a:rPr lang="es-ES_tradnl" sz="1100" b="1" dirty="0"/>
              <a:t>+</a:t>
            </a:r>
            <a:r>
              <a:rPr lang="es-ES_tradnl" sz="1100" dirty="0"/>
              <a:t>’, ingresar el código correspondiente en el campo ‘Estatus’ y definir las fechas de inicio y fin respectivamente</a:t>
            </a:r>
          </a:p>
          <a:p>
            <a:pPr algn="ctr"/>
            <a:endParaRPr lang="es-ES_tradnl" sz="1200" dirty="0"/>
          </a:p>
        </p:txBody>
      </p:sp>
      <p:sp>
        <p:nvSpPr>
          <p:cNvPr id="10" name="Rectángulo 9">
            <a:extLst>
              <a:ext uri="{FF2B5EF4-FFF2-40B4-BE49-F238E27FC236}">
                <a16:creationId xmlns:a16="http://schemas.microsoft.com/office/drawing/2014/main" id="{596236B4-0D3F-F358-6FC7-39340AC7E25E}"/>
              </a:ext>
            </a:extLst>
          </p:cNvPr>
          <p:cNvSpPr/>
          <p:nvPr/>
        </p:nvSpPr>
        <p:spPr>
          <a:xfrm>
            <a:off x="719973" y="3098098"/>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809088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61F74-51A4-74F1-CA23-C0FAE307BF98}"/>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7FA50AD6-D699-A2A6-9B08-BA4FACBD0ACE}"/>
              </a:ext>
            </a:extLst>
          </p:cNvPr>
          <p:cNvPicPr>
            <a:picLocks noChangeAspect="1"/>
          </p:cNvPicPr>
          <p:nvPr/>
        </p:nvPicPr>
        <p:blipFill>
          <a:blip r:embed="rId3"/>
          <a:stretch>
            <a:fillRect/>
          </a:stretch>
        </p:blipFill>
        <p:spPr>
          <a:xfrm>
            <a:off x="720926" y="1600261"/>
            <a:ext cx="10899574" cy="1022474"/>
          </a:xfrm>
          <a:prstGeom prst="rect">
            <a:avLst/>
          </a:prstGeom>
        </p:spPr>
      </p:pic>
      <p:sp>
        <p:nvSpPr>
          <p:cNvPr id="2" name="Marcador de texto vertical 1">
            <a:extLst>
              <a:ext uri="{FF2B5EF4-FFF2-40B4-BE49-F238E27FC236}">
                <a16:creationId xmlns:a16="http://schemas.microsoft.com/office/drawing/2014/main" id="{302AA65D-2D37-C9FD-2105-BFE902E2CBA9}"/>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480A0A7B-A6C9-8CFD-3640-268391865F7D}"/>
              </a:ext>
            </a:extLst>
          </p:cNvPr>
          <p:cNvSpPr>
            <a:spLocks noGrp="1"/>
          </p:cNvSpPr>
          <p:nvPr>
            <p:ph type="title"/>
          </p:nvPr>
        </p:nvSpPr>
        <p:spPr>
          <a:xfrm>
            <a:off x="938996" y="304614"/>
            <a:ext cx="10477497" cy="898555"/>
          </a:xfrm>
        </p:spPr>
        <p:txBody>
          <a:bodyPr/>
          <a:lstStyle/>
          <a:p>
            <a:r>
              <a:rPr lang="es-419" dirty="0">
                <a:solidFill>
                  <a:schemeClr val="tx2"/>
                </a:solidFill>
              </a:rPr>
              <a:t>Estatus de inscripción a curso (SFARSTS)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2A62D24F-46D6-7471-CE87-1F8A640FFCB5}"/>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Por medio del campo ‘Copiar del periodo’, se puede copiar la configuración del período que se ingrese en dicho campo a la combinación período-parte de período que se está configurando. De esta manera solo deberá modificar las fechas que correspondan al nuevo período en cada uno de los estatus.</a:t>
            </a:r>
          </a:p>
          <a:p>
            <a:endParaRPr lang="es-ES_tradnl" sz="1200" dirty="0"/>
          </a:p>
          <a:p>
            <a:pPr marL="171450" indent="-171450">
              <a:buFont typeface="Arial" panose="020B0604020202020204" pitchFamily="34" charset="0"/>
              <a:buChar char="•"/>
            </a:pPr>
            <a:r>
              <a:rPr lang="es-ES_tradnl" sz="1100" dirty="0"/>
              <a:t>Solo podrá efectuarse la copia si la parte de período es la misma en ambos (origen y destino).</a:t>
            </a:r>
            <a:endParaRPr lang="es-ES_tradnl" sz="1050" dirty="0"/>
          </a:p>
        </p:txBody>
      </p:sp>
      <p:sp>
        <p:nvSpPr>
          <p:cNvPr id="10" name="Rectángulo 9">
            <a:extLst>
              <a:ext uri="{FF2B5EF4-FFF2-40B4-BE49-F238E27FC236}">
                <a16:creationId xmlns:a16="http://schemas.microsoft.com/office/drawing/2014/main" id="{F25E0C75-0634-37CE-BC05-B51FE4B0E9B4}"/>
              </a:ext>
            </a:extLst>
          </p:cNvPr>
          <p:cNvSpPr/>
          <p:nvPr/>
        </p:nvSpPr>
        <p:spPr>
          <a:xfrm>
            <a:off x="720926" y="2111498"/>
            <a:ext cx="2377874" cy="21260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891068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E8601-AF3D-D5A2-1964-E9CEF4BDFCFD}"/>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0BD21D30-45AB-A537-0F3F-1F6DCC5C7CDF}"/>
              </a:ext>
            </a:extLst>
          </p:cNvPr>
          <p:cNvSpPr>
            <a:spLocks noGrp="1"/>
          </p:cNvSpPr>
          <p:nvPr>
            <p:ph type="body" sz="quarter" idx="10"/>
          </p:nvPr>
        </p:nvSpPr>
        <p:spPr/>
        <p:txBody>
          <a:bodyPr/>
          <a:lstStyle/>
          <a:p>
            <a:r>
              <a:rPr lang="es-419" dirty="0"/>
              <a:t>Horas mínimas/máximas de inscripción</a:t>
            </a:r>
          </a:p>
        </p:txBody>
      </p:sp>
      <p:sp>
        <p:nvSpPr>
          <p:cNvPr id="2" name="Marcador de texto vertical 1">
            <a:extLst>
              <a:ext uri="{FF2B5EF4-FFF2-40B4-BE49-F238E27FC236}">
                <a16:creationId xmlns:a16="http://schemas.microsoft.com/office/drawing/2014/main" id="{9E731781-FD5D-ADBD-3E94-01AE1374A5ED}"/>
              </a:ext>
            </a:extLst>
          </p:cNvPr>
          <p:cNvSpPr>
            <a:spLocks noGrp="1"/>
          </p:cNvSpPr>
          <p:nvPr>
            <p:ph type="body" sz="quarter" idx="11"/>
          </p:nvPr>
        </p:nvSpPr>
        <p:spPr/>
        <p:txBody>
          <a:bodyPr vert="horz" lIns="0" tIns="0" rIns="0" bIns="0" rtlCol="0">
            <a:spAutoFit/>
          </a:bodyPr>
          <a:lstStyle/>
          <a:p>
            <a:r>
              <a:rPr lang="es-419" dirty="0"/>
              <a:t>Gestionar retiro de cursos</a:t>
            </a:r>
          </a:p>
        </p:txBody>
      </p:sp>
    </p:spTree>
    <p:extLst>
      <p:ext uri="{BB962C8B-B14F-4D97-AF65-F5344CB8AC3E}">
        <p14:creationId xmlns:p14="http://schemas.microsoft.com/office/powerpoint/2010/main" val="3822035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90720-4394-2C51-FD60-1ED17D124A52}"/>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9F9D8F36-C30D-00A9-F6B6-E1F2E766543C}"/>
              </a:ext>
            </a:extLst>
          </p:cNvPr>
          <p:cNvPicPr>
            <a:picLocks noChangeAspect="1"/>
          </p:cNvPicPr>
          <p:nvPr/>
        </p:nvPicPr>
        <p:blipFill>
          <a:blip r:embed="rId3"/>
          <a:stretch>
            <a:fillRect/>
          </a:stretch>
        </p:blipFill>
        <p:spPr>
          <a:xfrm>
            <a:off x="749144" y="1380155"/>
            <a:ext cx="10857199" cy="1225997"/>
          </a:xfrm>
          <a:prstGeom prst="rect">
            <a:avLst/>
          </a:prstGeom>
        </p:spPr>
      </p:pic>
      <p:sp>
        <p:nvSpPr>
          <p:cNvPr id="2" name="Marcador de texto vertical 1">
            <a:extLst>
              <a:ext uri="{FF2B5EF4-FFF2-40B4-BE49-F238E27FC236}">
                <a16:creationId xmlns:a16="http://schemas.microsoft.com/office/drawing/2014/main" id="{3DC75894-18C1-B907-7FD4-6D4421CEDB65}"/>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6E334514-A047-1510-329B-47A4563512F2}"/>
              </a:ext>
            </a:extLst>
          </p:cNvPr>
          <p:cNvSpPr>
            <a:spLocks noGrp="1"/>
          </p:cNvSpPr>
          <p:nvPr>
            <p:ph type="title"/>
          </p:nvPr>
        </p:nvSpPr>
        <p:spPr>
          <a:xfrm>
            <a:off x="938996" y="304614"/>
            <a:ext cx="10477497" cy="898555"/>
          </a:xfrm>
        </p:spPr>
        <p:txBody>
          <a:bodyPr/>
          <a:lstStyle/>
          <a:p>
            <a:r>
              <a:rPr lang="es-419" dirty="0">
                <a:solidFill>
                  <a:schemeClr val="tx2"/>
                </a:solidFill>
              </a:rPr>
              <a:t>Horas mínimas/máximas de inscripción (SFAMHRS)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DCEBA0B5-3637-1E21-83C7-3C0A8AF2E3C1}"/>
              </a:ext>
            </a:extLst>
          </p:cNvPr>
          <p:cNvSpPr/>
          <p:nvPr/>
        </p:nvSpPr>
        <p:spPr>
          <a:xfrm>
            <a:off x="1477247" y="4251848"/>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SFAMHRS es una página administrativa que permite restringir la cantidad mínima y/o máxima de créditos que un estudiante pudiera inscribir para un periodo académico en particular, en función a las variables académicas que lo definan. Para su configuración se requiere:</a:t>
            </a:r>
          </a:p>
          <a:p>
            <a:endParaRPr lang="es-ES_tradnl" sz="1200" dirty="0"/>
          </a:p>
          <a:p>
            <a:pPr marL="228600" indent="-228600">
              <a:buFont typeface="+mj-lt"/>
              <a:buAutoNum type="arabicPeriod"/>
            </a:pPr>
            <a:r>
              <a:rPr lang="es-ES_tradnl" sz="1200" dirty="0"/>
              <a:t>Ingresar el Periodo Académico a configurar</a:t>
            </a:r>
          </a:p>
          <a:p>
            <a:pPr marL="228600" indent="-228600">
              <a:buFont typeface="+mj-lt"/>
              <a:buAutoNum type="arabicPeriod"/>
            </a:pPr>
            <a:r>
              <a:rPr lang="es-ES_tradnl" sz="1200" dirty="0"/>
              <a:t>Presionar el botón ‘Ir’.</a:t>
            </a:r>
          </a:p>
        </p:txBody>
      </p:sp>
      <p:sp>
        <p:nvSpPr>
          <p:cNvPr id="5" name="Rectángulo 4">
            <a:extLst>
              <a:ext uri="{FF2B5EF4-FFF2-40B4-BE49-F238E27FC236}">
                <a16:creationId xmlns:a16="http://schemas.microsoft.com/office/drawing/2014/main" id="{E62779C2-025E-8DEB-8892-7737D7FB4EDB}"/>
              </a:ext>
            </a:extLst>
          </p:cNvPr>
          <p:cNvSpPr/>
          <p:nvPr/>
        </p:nvSpPr>
        <p:spPr>
          <a:xfrm>
            <a:off x="1334800" y="1821914"/>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AFDFE3C2-62AD-6134-DC0D-D6891C1E6DAF}"/>
              </a:ext>
            </a:extLst>
          </p:cNvPr>
          <p:cNvSpPr/>
          <p:nvPr/>
        </p:nvSpPr>
        <p:spPr>
          <a:xfrm>
            <a:off x="3328029" y="206080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7" name="Rectángulo redondeado 15">
            <a:extLst>
              <a:ext uri="{FF2B5EF4-FFF2-40B4-BE49-F238E27FC236}">
                <a16:creationId xmlns:a16="http://schemas.microsoft.com/office/drawing/2014/main" id="{E8F44079-EBE7-8DBC-EFF6-49C4AFC746E7}"/>
              </a:ext>
            </a:extLst>
          </p:cNvPr>
          <p:cNvSpPr/>
          <p:nvPr/>
        </p:nvSpPr>
        <p:spPr>
          <a:xfrm>
            <a:off x="10930427" y="207174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83584C26-D60E-DE21-970A-B5E979E0D65C}"/>
              </a:ext>
            </a:extLst>
          </p:cNvPr>
          <p:cNvSpPr/>
          <p:nvPr/>
        </p:nvSpPr>
        <p:spPr>
          <a:xfrm>
            <a:off x="11110362" y="1842303"/>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6295265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567C4-34B2-05EF-93C7-0ED588C9EE65}"/>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90DF889-FBE2-B684-CF11-38602901A2ED}"/>
              </a:ext>
            </a:extLst>
          </p:cNvPr>
          <p:cNvPicPr>
            <a:picLocks noChangeAspect="1"/>
          </p:cNvPicPr>
          <p:nvPr/>
        </p:nvPicPr>
        <p:blipFill>
          <a:blip r:embed="rId3"/>
          <a:stretch>
            <a:fillRect/>
          </a:stretch>
        </p:blipFill>
        <p:spPr>
          <a:xfrm>
            <a:off x="775507" y="823865"/>
            <a:ext cx="11138443" cy="4714654"/>
          </a:xfrm>
          <a:prstGeom prst="rect">
            <a:avLst/>
          </a:prstGeom>
        </p:spPr>
      </p:pic>
      <p:sp>
        <p:nvSpPr>
          <p:cNvPr id="2" name="Marcador de texto vertical 1">
            <a:extLst>
              <a:ext uri="{FF2B5EF4-FFF2-40B4-BE49-F238E27FC236}">
                <a16:creationId xmlns:a16="http://schemas.microsoft.com/office/drawing/2014/main" id="{B9AF0217-AAF8-6966-9831-8CB440CB7138}"/>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B56389BC-6BE5-2858-7937-CCD5841CECFD}"/>
              </a:ext>
            </a:extLst>
          </p:cNvPr>
          <p:cNvSpPr>
            <a:spLocks noGrp="1"/>
          </p:cNvSpPr>
          <p:nvPr>
            <p:ph type="title"/>
          </p:nvPr>
        </p:nvSpPr>
        <p:spPr>
          <a:xfrm>
            <a:off x="938996" y="304614"/>
            <a:ext cx="10477497" cy="898555"/>
          </a:xfrm>
        </p:spPr>
        <p:txBody>
          <a:bodyPr/>
          <a:lstStyle/>
          <a:p>
            <a:r>
              <a:rPr lang="es-419" dirty="0">
                <a:solidFill>
                  <a:schemeClr val="tx2"/>
                </a:solidFill>
              </a:rPr>
              <a:t>Horas mínimas/máximas de inscripción (SFAMHRS)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9C540339-62A6-E69D-B52A-ADE174D3922E}"/>
              </a:ext>
            </a:extLst>
          </p:cNvPr>
          <p:cNvSpPr/>
          <p:nvPr/>
        </p:nvSpPr>
        <p:spPr>
          <a:xfrm>
            <a:off x="1477247" y="3724433"/>
            <a:ext cx="9237506" cy="166036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Para definir una regla de inscripción debe insertar un nuevo registro presionando el botón ‘+’</a:t>
            </a:r>
          </a:p>
          <a:p>
            <a:pPr marL="228600" indent="-228600">
              <a:buFont typeface="+mj-lt"/>
              <a:buAutoNum type="arabicPeriod" startAt="3"/>
            </a:pPr>
            <a:r>
              <a:rPr lang="es-ES_tradnl" sz="1200" dirty="0"/>
              <a:t>Definir la cantidad de créditos máximos y mínimos a inscribir en los campos ‘Horas mínimas’ y ‘Horas máximas’</a:t>
            </a:r>
          </a:p>
          <a:p>
            <a:pPr marL="228600" indent="-228600">
              <a:buFont typeface="+mj-lt"/>
              <a:buAutoNum type="arabicPeriod" startAt="3"/>
            </a:pPr>
            <a:r>
              <a:rPr lang="es-ES_tradnl" sz="1200" dirty="0"/>
              <a:t>Definir los parámetros académicos con los cuales se determinaría la aplicación de la regla (</a:t>
            </a:r>
            <a:r>
              <a:rPr lang="es-ES_tradnl" sz="1200" dirty="0" err="1"/>
              <a:t>ej</a:t>
            </a:r>
            <a:r>
              <a:rPr lang="es-ES_tradnl" sz="1200" dirty="0"/>
              <a:t>: Campus y Programa). </a:t>
            </a:r>
          </a:p>
          <a:p>
            <a:pPr marL="228600" indent="-228600">
              <a:buFont typeface="+mj-lt"/>
              <a:buAutoNum type="arabicPeriod" startAt="3"/>
            </a:pPr>
            <a:endParaRPr lang="es-ES_tradnl" sz="1200" dirty="0"/>
          </a:p>
          <a:p>
            <a:r>
              <a:rPr lang="es-ES_tradnl" sz="1100" dirty="0"/>
              <a:t>Las reglas de Horas Mínimas/Máximas, además del campo Nivel, pueden utilizar una serie de variables académicas para precisar de mejor forma los estudiantes a los cuáles aplicar dicha regla, entre los campos más destacados y utilizados son: Nivel, Programa, Código de Campo de Estudio, Cohorte y Atributo.</a:t>
            </a:r>
          </a:p>
        </p:txBody>
      </p:sp>
      <p:sp>
        <p:nvSpPr>
          <p:cNvPr id="5" name="Rectángulo 4">
            <a:extLst>
              <a:ext uri="{FF2B5EF4-FFF2-40B4-BE49-F238E27FC236}">
                <a16:creationId xmlns:a16="http://schemas.microsoft.com/office/drawing/2014/main" id="{C66B3D31-11C7-CB08-0D74-30D076667122}"/>
              </a:ext>
            </a:extLst>
          </p:cNvPr>
          <p:cNvSpPr/>
          <p:nvPr/>
        </p:nvSpPr>
        <p:spPr>
          <a:xfrm>
            <a:off x="7876163" y="2184934"/>
            <a:ext cx="1573500" cy="22282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9A79E96D-A468-8188-33EC-B157B8969ED7}"/>
              </a:ext>
            </a:extLst>
          </p:cNvPr>
          <p:cNvSpPr/>
          <p:nvPr/>
        </p:nvSpPr>
        <p:spPr>
          <a:xfrm>
            <a:off x="7546768" y="23273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7" name="Rectángulo redondeado 15">
            <a:extLst>
              <a:ext uri="{FF2B5EF4-FFF2-40B4-BE49-F238E27FC236}">
                <a16:creationId xmlns:a16="http://schemas.microsoft.com/office/drawing/2014/main" id="{C0868721-9F41-1B5A-46FF-98E16B6E8902}"/>
              </a:ext>
            </a:extLst>
          </p:cNvPr>
          <p:cNvSpPr/>
          <p:nvPr/>
        </p:nvSpPr>
        <p:spPr>
          <a:xfrm>
            <a:off x="10461390" y="147319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8" name="Rectángulo 7">
            <a:extLst>
              <a:ext uri="{FF2B5EF4-FFF2-40B4-BE49-F238E27FC236}">
                <a16:creationId xmlns:a16="http://schemas.microsoft.com/office/drawing/2014/main" id="{9493D546-8B0E-92D7-1FDD-498092B002D9}"/>
              </a:ext>
            </a:extLst>
          </p:cNvPr>
          <p:cNvSpPr/>
          <p:nvPr/>
        </p:nvSpPr>
        <p:spPr>
          <a:xfrm>
            <a:off x="10773174" y="1634013"/>
            <a:ext cx="258270"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9">
            <a:extLst>
              <a:ext uri="{FF2B5EF4-FFF2-40B4-BE49-F238E27FC236}">
                <a16:creationId xmlns:a16="http://schemas.microsoft.com/office/drawing/2014/main" id="{97CA3990-F9FF-40C1-CC0C-95596FE1D561}"/>
              </a:ext>
            </a:extLst>
          </p:cNvPr>
          <p:cNvSpPr/>
          <p:nvPr/>
        </p:nvSpPr>
        <p:spPr>
          <a:xfrm>
            <a:off x="680726" y="2184933"/>
            <a:ext cx="3964507" cy="2545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E42060ED-D188-7EF6-374B-A22ADE367FAE}"/>
              </a:ext>
            </a:extLst>
          </p:cNvPr>
          <p:cNvSpPr/>
          <p:nvPr/>
        </p:nvSpPr>
        <p:spPr>
          <a:xfrm>
            <a:off x="1549434" y="2403424"/>
            <a:ext cx="393153"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Tree>
    <p:extLst>
      <p:ext uri="{BB962C8B-B14F-4D97-AF65-F5344CB8AC3E}">
        <p14:creationId xmlns:p14="http://schemas.microsoft.com/office/powerpoint/2010/main" val="2196005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CB89B-DB09-16DF-0740-CBB314782EEA}"/>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226868C6-AE1A-9474-EC03-5A0DC057ACF6}"/>
              </a:ext>
            </a:extLst>
          </p:cNvPr>
          <p:cNvPicPr>
            <a:picLocks noChangeAspect="1"/>
          </p:cNvPicPr>
          <p:nvPr/>
        </p:nvPicPr>
        <p:blipFill>
          <a:blip r:embed="rId3"/>
          <a:stretch>
            <a:fillRect/>
          </a:stretch>
        </p:blipFill>
        <p:spPr>
          <a:xfrm>
            <a:off x="938996" y="1470839"/>
            <a:ext cx="10605304" cy="1114950"/>
          </a:xfrm>
          <a:prstGeom prst="rect">
            <a:avLst/>
          </a:prstGeom>
        </p:spPr>
      </p:pic>
      <p:sp>
        <p:nvSpPr>
          <p:cNvPr id="2" name="Marcador de texto vertical 1">
            <a:extLst>
              <a:ext uri="{FF2B5EF4-FFF2-40B4-BE49-F238E27FC236}">
                <a16:creationId xmlns:a16="http://schemas.microsoft.com/office/drawing/2014/main" id="{DB0F649A-B7AF-7732-A424-079D6BA5340B}"/>
              </a:ext>
            </a:extLst>
          </p:cNvPr>
          <p:cNvSpPr>
            <a:spLocks noGrp="1"/>
          </p:cNvSpPr>
          <p:nvPr>
            <p:ph type="body" orient="vert" sz="quarter" idx="17"/>
          </p:nvPr>
        </p:nvSpPr>
        <p:spPr/>
        <p:txBody>
          <a:bodyPr/>
          <a:lstStyle/>
          <a:p>
            <a:r>
              <a:rPr lang="es-419" dirty="0"/>
              <a:t>Configuración</a:t>
            </a:r>
          </a:p>
        </p:txBody>
      </p:sp>
      <p:sp>
        <p:nvSpPr>
          <p:cNvPr id="13" name="Title 12">
            <a:extLst>
              <a:ext uri="{FF2B5EF4-FFF2-40B4-BE49-F238E27FC236}">
                <a16:creationId xmlns:a16="http://schemas.microsoft.com/office/drawing/2014/main" id="{4662E7CD-0FCF-2847-6ED5-DCBDA9EDDA6A}"/>
              </a:ext>
            </a:extLst>
          </p:cNvPr>
          <p:cNvSpPr>
            <a:spLocks noGrp="1"/>
          </p:cNvSpPr>
          <p:nvPr>
            <p:ph type="title"/>
          </p:nvPr>
        </p:nvSpPr>
        <p:spPr>
          <a:xfrm>
            <a:off x="938996" y="304614"/>
            <a:ext cx="10477497" cy="898555"/>
          </a:xfrm>
        </p:spPr>
        <p:txBody>
          <a:bodyPr/>
          <a:lstStyle/>
          <a:p>
            <a:r>
              <a:rPr lang="es-419" dirty="0">
                <a:solidFill>
                  <a:schemeClr val="tx2"/>
                </a:solidFill>
              </a:rPr>
              <a:t>Horas mínimas/máximas de inscripción (SFAMHRS)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D17A248A-DA5E-5758-ED2F-89FF2B8AE922}"/>
              </a:ext>
            </a:extLst>
          </p:cNvPr>
          <p:cNvSpPr/>
          <p:nvPr/>
        </p:nvSpPr>
        <p:spPr>
          <a:xfrm>
            <a:off x="2143273" y="2853459"/>
            <a:ext cx="7247653" cy="101865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Por medio del campo ‘Copiar del periodo’, se puede copiar la configuración del período que se ingrese en dicho campo al período que se está configurando. </a:t>
            </a:r>
            <a:endParaRPr lang="es-ES_tradnl" sz="1050" dirty="0"/>
          </a:p>
        </p:txBody>
      </p:sp>
      <p:sp>
        <p:nvSpPr>
          <p:cNvPr id="5" name="Rectángulo 4">
            <a:extLst>
              <a:ext uri="{FF2B5EF4-FFF2-40B4-BE49-F238E27FC236}">
                <a16:creationId xmlns:a16="http://schemas.microsoft.com/office/drawing/2014/main" id="{3652FF69-AD42-ED67-73B6-27461626239B}"/>
              </a:ext>
            </a:extLst>
          </p:cNvPr>
          <p:cNvSpPr/>
          <p:nvPr/>
        </p:nvSpPr>
        <p:spPr>
          <a:xfrm>
            <a:off x="5767100" y="1845710"/>
            <a:ext cx="2170400" cy="2150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6808125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Gestionar retiro de cursos</a:t>
            </a:r>
            <a:endParaRPr lang="es-419" dirty="0"/>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sz="3200" dirty="0"/>
              <a:t>Gestionar retiro de cursos</a:t>
            </a:r>
            <a:endParaRPr lang="es-419" sz="3200" b="1" dirty="0">
              <a:solidFill>
                <a:schemeClr val="bg1"/>
              </a:solidFill>
            </a:endParaRPr>
          </a:p>
        </p:txBody>
      </p:sp>
      <p:sp>
        <p:nvSpPr>
          <p:cNvPr id="17" name="Text Placeholder 16">
            <a:extLst>
              <a:ext uri="{FF2B5EF4-FFF2-40B4-BE49-F238E27FC236}">
                <a16:creationId xmlns:a16="http://schemas.microsoft.com/office/drawing/2014/main" id="{0AF09F94-9072-B9D7-D1C7-F044184D1F1C}"/>
              </a:ext>
            </a:extLst>
          </p:cNvPr>
          <p:cNvSpPr>
            <a:spLocks noGrp="1"/>
          </p:cNvSpPr>
          <p:nvPr>
            <p:ph type="body" sz="quarter" idx="18"/>
          </p:nvPr>
        </p:nvSpPr>
        <p:spPr>
          <a:xfrm>
            <a:off x="962494" y="3577587"/>
            <a:ext cx="7092820" cy="774441"/>
          </a:xfrm>
        </p:spPr>
        <p:txBody>
          <a:bodyPr/>
          <a:lstStyle/>
          <a:p>
            <a:endParaRPr lang="en-US" dirty="0"/>
          </a:p>
        </p:txBody>
      </p:sp>
    </p:spTree>
    <p:extLst>
      <p:ext uri="{BB962C8B-B14F-4D97-AF65-F5344CB8AC3E}">
        <p14:creationId xmlns:p14="http://schemas.microsoft.com/office/powerpoint/2010/main" val="7266577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3CA11-F71F-72CB-D0F8-0947115971A8}"/>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6B14FB61-5362-9262-34D6-B495552BD4BF}"/>
              </a:ext>
            </a:extLst>
          </p:cNvPr>
          <p:cNvSpPr>
            <a:spLocks noGrp="1"/>
          </p:cNvSpPr>
          <p:nvPr>
            <p:ph type="body" sz="quarter" idx="10"/>
          </p:nvPr>
        </p:nvSpPr>
        <p:spPr>
          <a:xfrm>
            <a:off x="914399" y="2238843"/>
            <a:ext cx="10363202" cy="1333891"/>
          </a:xfrm>
        </p:spPr>
        <p:txBody>
          <a:bodyPr/>
          <a:lstStyle/>
          <a:p>
            <a:r>
              <a:rPr lang="es-419" dirty="0"/>
              <a:t>Retiro de algunos cursos de forma administrativa - </a:t>
            </a:r>
            <a:r>
              <a:rPr lang="es-419" dirty="0" err="1"/>
              <a:t>Backoffice</a:t>
            </a:r>
            <a:endParaRPr lang="es-419" dirty="0"/>
          </a:p>
        </p:txBody>
      </p:sp>
      <p:sp>
        <p:nvSpPr>
          <p:cNvPr id="2" name="Marcador de texto vertical 1">
            <a:extLst>
              <a:ext uri="{FF2B5EF4-FFF2-40B4-BE49-F238E27FC236}">
                <a16:creationId xmlns:a16="http://schemas.microsoft.com/office/drawing/2014/main" id="{DA1280DC-6A74-9E33-83F1-77A031C7FF24}"/>
              </a:ext>
            </a:extLst>
          </p:cNvPr>
          <p:cNvSpPr>
            <a:spLocks noGrp="1"/>
          </p:cNvSpPr>
          <p:nvPr>
            <p:ph type="body" sz="quarter" idx="11"/>
          </p:nvPr>
        </p:nvSpPr>
        <p:spPr/>
        <p:txBody>
          <a:bodyPr vert="horz" lIns="0" tIns="0" rIns="0" bIns="0" rtlCol="0">
            <a:spAutoFit/>
          </a:bodyPr>
          <a:lstStyle/>
          <a:p>
            <a:r>
              <a:rPr lang="es-419" dirty="0"/>
              <a:t>Gestionar retiro de cursos</a:t>
            </a:r>
          </a:p>
        </p:txBody>
      </p:sp>
    </p:spTree>
    <p:extLst>
      <p:ext uri="{BB962C8B-B14F-4D97-AF65-F5344CB8AC3E}">
        <p14:creationId xmlns:p14="http://schemas.microsoft.com/office/powerpoint/2010/main" val="2680137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3985D-88C6-A724-3EBF-F60832E4A728}"/>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16671D4D-30FB-D9DC-224E-EA9D99F14DD2}"/>
              </a:ext>
            </a:extLst>
          </p:cNvPr>
          <p:cNvPicPr>
            <a:picLocks noChangeAspect="1"/>
          </p:cNvPicPr>
          <p:nvPr/>
        </p:nvPicPr>
        <p:blipFill>
          <a:blip r:embed="rId3"/>
          <a:stretch>
            <a:fillRect/>
          </a:stretch>
        </p:blipFill>
        <p:spPr>
          <a:xfrm>
            <a:off x="938996" y="1493909"/>
            <a:ext cx="11104001" cy="1822087"/>
          </a:xfrm>
          <a:prstGeom prst="rect">
            <a:avLst/>
          </a:prstGeom>
        </p:spPr>
      </p:pic>
      <p:sp>
        <p:nvSpPr>
          <p:cNvPr id="2" name="Marcador de texto vertical 1">
            <a:extLst>
              <a:ext uri="{FF2B5EF4-FFF2-40B4-BE49-F238E27FC236}">
                <a16:creationId xmlns:a16="http://schemas.microsoft.com/office/drawing/2014/main" id="{C0C4907C-ADDB-0BF8-713B-5D3182CE5734}"/>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F45F9117-A7E8-2586-1C79-9E9AF75B864F}"/>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1A599ABA-88F9-AA7B-AD4D-F6985F15B952}"/>
              </a:ext>
            </a:extLst>
          </p:cNvPr>
          <p:cNvSpPr/>
          <p:nvPr/>
        </p:nvSpPr>
        <p:spPr>
          <a:xfrm>
            <a:off x="1334800" y="1821914"/>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C28E6A12-60F4-25DC-FD03-1DFE9B1F0AC6}"/>
              </a:ext>
            </a:extLst>
          </p:cNvPr>
          <p:cNvSpPr/>
          <p:nvPr/>
        </p:nvSpPr>
        <p:spPr>
          <a:xfrm>
            <a:off x="3328029" y="206080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redondeado 15">
            <a:extLst>
              <a:ext uri="{FF2B5EF4-FFF2-40B4-BE49-F238E27FC236}">
                <a16:creationId xmlns:a16="http://schemas.microsoft.com/office/drawing/2014/main" id="{08DA3152-1484-392D-F703-A4EA6DB05751}"/>
              </a:ext>
            </a:extLst>
          </p:cNvPr>
          <p:cNvSpPr/>
          <p:nvPr/>
        </p:nvSpPr>
        <p:spPr>
          <a:xfrm>
            <a:off x="11417231" y="207220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7" name="Rectángulo 16">
            <a:extLst>
              <a:ext uri="{FF2B5EF4-FFF2-40B4-BE49-F238E27FC236}">
                <a16:creationId xmlns:a16="http://schemas.microsoft.com/office/drawing/2014/main" id="{0EDD4D35-6C45-A190-DDE9-FC846EA7D392}"/>
              </a:ext>
            </a:extLst>
          </p:cNvPr>
          <p:cNvSpPr/>
          <p:nvPr/>
        </p:nvSpPr>
        <p:spPr>
          <a:xfrm>
            <a:off x="11597166" y="1842764"/>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898C841F-0B85-037E-54B6-2EF32021A578}"/>
              </a:ext>
            </a:extLst>
          </p:cNvPr>
          <p:cNvSpPr/>
          <p:nvPr/>
        </p:nvSpPr>
        <p:spPr>
          <a:xfrm>
            <a:off x="1477247" y="4251848"/>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El proceso de inscripción desde </a:t>
            </a:r>
            <a:r>
              <a:rPr lang="es-ES_tradnl" sz="1200" dirty="0" err="1"/>
              <a:t>backoffice</a:t>
            </a:r>
            <a:r>
              <a:rPr lang="es-ES_tradnl" sz="1200" dirty="0"/>
              <a:t> se realiza por medio de la página administrativa SFAREGS. Para proceder, siga los siguientes pasos:</a:t>
            </a:r>
          </a:p>
          <a:p>
            <a:endParaRPr lang="es-ES_tradnl" sz="1200" dirty="0"/>
          </a:p>
          <a:p>
            <a:pPr marL="228600" indent="-228600">
              <a:buFont typeface="+mj-lt"/>
              <a:buAutoNum type="arabicPeriod"/>
            </a:pPr>
            <a:r>
              <a:rPr lang="es-ES_tradnl" sz="1200" dirty="0"/>
              <a:t>Ingresar el Periodo Académico en el que se realizará la inscripción</a:t>
            </a:r>
          </a:p>
          <a:p>
            <a:pPr marL="228600" indent="-228600">
              <a:buFont typeface="+mj-lt"/>
              <a:buAutoNum type="arabicPeriod"/>
            </a:pPr>
            <a:r>
              <a:rPr lang="es-ES_tradnl" sz="1200" dirty="0"/>
              <a:t>Ingresar el ID del estudiante</a:t>
            </a:r>
          </a:p>
          <a:p>
            <a:pPr marL="228600" indent="-228600">
              <a:buFont typeface="+mj-lt"/>
              <a:buAutoNum type="arabicPeriod"/>
            </a:pPr>
            <a:r>
              <a:rPr lang="es-ES_tradnl" sz="1200" dirty="0"/>
              <a:t>Presionar el botón ‘Ir’.</a:t>
            </a:r>
          </a:p>
        </p:txBody>
      </p:sp>
      <p:sp>
        <p:nvSpPr>
          <p:cNvPr id="19" name="Rectángulo 18">
            <a:extLst>
              <a:ext uri="{FF2B5EF4-FFF2-40B4-BE49-F238E27FC236}">
                <a16:creationId xmlns:a16="http://schemas.microsoft.com/office/drawing/2014/main" id="{E7465A68-671B-D284-8D15-978528379500}"/>
              </a:ext>
            </a:extLst>
          </p:cNvPr>
          <p:cNvSpPr/>
          <p:nvPr/>
        </p:nvSpPr>
        <p:spPr>
          <a:xfrm>
            <a:off x="6802909" y="1790573"/>
            <a:ext cx="1468996"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CD66F1F2-11AA-7073-F34E-4E418CE7022A}"/>
              </a:ext>
            </a:extLst>
          </p:cNvPr>
          <p:cNvSpPr/>
          <p:nvPr/>
        </p:nvSpPr>
        <p:spPr>
          <a:xfrm>
            <a:off x="8311398" y="2051820"/>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8017195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DA5B5-BBD2-AE12-8E86-9F0D14B3ED1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48E1B7B-81D3-1958-99DF-9A4A53528678}"/>
              </a:ext>
            </a:extLst>
          </p:cNvPr>
          <p:cNvPicPr>
            <a:picLocks noChangeAspect="1"/>
          </p:cNvPicPr>
          <p:nvPr/>
        </p:nvPicPr>
        <p:blipFill>
          <a:blip r:embed="rId3"/>
          <a:stretch>
            <a:fillRect/>
          </a:stretch>
        </p:blipFill>
        <p:spPr>
          <a:xfrm>
            <a:off x="1052214" y="1291778"/>
            <a:ext cx="10707584" cy="4755822"/>
          </a:xfrm>
          <a:prstGeom prst="rect">
            <a:avLst/>
          </a:prstGeom>
        </p:spPr>
      </p:pic>
      <p:sp>
        <p:nvSpPr>
          <p:cNvPr id="2" name="Marcador de texto vertical 1">
            <a:extLst>
              <a:ext uri="{FF2B5EF4-FFF2-40B4-BE49-F238E27FC236}">
                <a16:creationId xmlns:a16="http://schemas.microsoft.com/office/drawing/2014/main" id="{6F0B395B-0206-4847-C227-EA67E9519F9F}"/>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B8506E6E-3ABC-0917-BC48-9A671CD61930}"/>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6A55C1F3-3981-C1D7-1F11-1EBDC3EE7234}"/>
              </a:ext>
            </a:extLst>
          </p:cNvPr>
          <p:cNvSpPr/>
          <p:nvPr/>
        </p:nvSpPr>
        <p:spPr>
          <a:xfrm>
            <a:off x="1423701" y="2152155"/>
            <a:ext cx="875000" cy="2735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9A4B27DB-54B2-E920-C767-8F75F13A49FB}"/>
              </a:ext>
            </a:extLst>
          </p:cNvPr>
          <p:cNvSpPr/>
          <p:nvPr/>
        </p:nvSpPr>
        <p:spPr>
          <a:xfrm>
            <a:off x="1052214" y="2212173"/>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6" name="Rectángulo redondeado 15">
            <a:extLst>
              <a:ext uri="{FF2B5EF4-FFF2-40B4-BE49-F238E27FC236}">
                <a16:creationId xmlns:a16="http://schemas.microsoft.com/office/drawing/2014/main" id="{10E39B83-32B4-FA08-E8BC-D56B5F9E1D46}"/>
              </a:ext>
            </a:extLst>
          </p:cNvPr>
          <p:cNvSpPr/>
          <p:nvPr/>
        </p:nvSpPr>
        <p:spPr>
          <a:xfrm>
            <a:off x="1090564" y="588678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17" name="Rectángulo 16">
            <a:extLst>
              <a:ext uri="{FF2B5EF4-FFF2-40B4-BE49-F238E27FC236}">
                <a16:creationId xmlns:a16="http://schemas.microsoft.com/office/drawing/2014/main" id="{EBBEF3EC-3ECA-F2B5-0305-57B1F3F67DD1}"/>
              </a:ext>
            </a:extLst>
          </p:cNvPr>
          <p:cNvSpPr/>
          <p:nvPr/>
        </p:nvSpPr>
        <p:spPr>
          <a:xfrm>
            <a:off x="1383717" y="5830421"/>
            <a:ext cx="407730" cy="27354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D15AE4E1-A645-B622-9BD1-60BC58B567AB}"/>
              </a:ext>
            </a:extLst>
          </p:cNvPr>
          <p:cNvSpPr/>
          <p:nvPr/>
        </p:nvSpPr>
        <p:spPr>
          <a:xfrm>
            <a:off x="1477247" y="4251848"/>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ES_tradnl" sz="1200" dirty="0"/>
              <a:t>En el campo ‘Estatus’ de la sección ‘Información de ingreso’  debe permanecer el estatus Elegible (EL).</a:t>
            </a:r>
          </a:p>
          <a:p>
            <a:pPr marL="228600" indent="-228600">
              <a:buFont typeface="+mj-lt"/>
              <a:buAutoNum type="arabicPeriod" startAt="4"/>
            </a:pPr>
            <a:r>
              <a:rPr lang="es-ES_tradnl" sz="1200" dirty="0"/>
              <a:t>En los campos Mínimas y Máximas, se heredan los valores definidos en SFAMHRS. Estos valores pueden ser modificados por el usuario que está inscribiendo desde </a:t>
            </a:r>
            <a:r>
              <a:rPr lang="es-ES_tradnl" sz="1200" dirty="0" err="1"/>
              <a:t>backoffice</a:t>
            </a:r>
            <a:r>
              <a:rPr lang="es-ES_tradnl" sz="1200" dirty="0"/>
              <a:t>.</a:t>
            </a:r>
          </a:p>
          <a:p>
            <a:pPr marL="228600" indent="-228600">
              <a:buFont typeface="+mj-lt"/>
              <a:buAutoNum type="arabicPeriod" startAt="4"/>
            </a:pPr>
            <a:r>
              <a:rPr lang="es-ES_tradnl" sz="1200" dirty="0"/>
              <a:t>Pase al siguiente bloque.</a:t>
            </a:r>
          </a:p>
          <a:p>
            <a:pPr marL="228600" indent="-228600">
              <a:buFont typeface="+mj-lt"/>
              <a:buAutoNum type="arabicPeriod" startAt="4"/>
            </a:pPr>
            <a:endParaRPr lang="es-ES_tradnl" sz="1200" dirty="0"/>
          </a:p>
        </p:txBody>
      </p:sp>
      <p:sp>
        <p:nvSpPr>
          <p:cNvPr id="19" name="Rectángulo 18">
            <a:extLst>
              <a:ext uri="{FF2B5EF4-FFF2-40B4-BE49-F238E27FC236}">
                <a16:creationId xmlns:a16="http://schemas.microsoft.com/office/drawing/2014/main" id="{D91DE84F-2B1B-9E9C-6357-9F3B7684020F}"/>
              </a:ext>
            </a:extLst>
          </p:cNvPr>
          <p:cNvSpPr/>
          <p:nvPr/>
        </p:nvSpPr>
        <p:spPr>
          <a:xfrm>
            <a:off x="8412258" y="2196255"/>
            <a:ext cx="2035565" cy="4098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36CEF271-50FB-A5B8-26DB-3CC9C74B3CC6}"/>
              </a:ext>
            </a:extLst>
          </p:cNvPr>
          <p:cNvSpPr/>
          <p:nvPr/>
        </p:nvSpPr>
        <p:spPr>
          <a:xfrm>
            <a:off x="8082863" y="205135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Tree>
    <p:extLst>
      <p:ext uri="{BB962C8B-B14F-4D97-AF65-F5344CB8AC3E}">
        <p14:creationId xmlns:p14="http://schemas.microsoft.com/office/powerpoint/2010/main" val="2067060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870AA-A84D-C95C-BF93-D6D7259DBB1F}"/>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7002EB8-6068-7BD8-B320-8A43F28E019F}"/>
              </a:ext>
            </a:extLst>
          </p:cNvPr>
          <p:cNvPicPr>
            <a:picLocks noChangeAspect="1"/>
          </p:cNvPicPr>
          <p:nvPr/>
        </p:nvPicPr>
        <p:blipFill>
          <a:blip r:embed="rId3"/>
          <a:stretch>
            <a:fillRect/>
          </a:stretch>
        </p:blipFill>
        <p:spPr>
          <a:xfrm>
            <a:off x="1052214" y="1291778"/>
            <a:ext cx="10707584" cy="4755822"/>
          </a:xfrm>
          <a:prstGeom prst="rect">
            <a:avLst/>
          </a:prstGeom>
        </p:spPr>
      </p:pic>
      <p:sp>
        <p:nvSpPr>
          <p:cNvPr id="2" name="Marcador de texto vertical 1">
            <a:extLst>
              <a:ext uri="{FF2B5EF4-FFF2-40B4-BE49-F238E27FC236}">
                <a16:creationId xmlns:a16="http://schemas.microsoft.com/office/drawing/2014/main" id="{FB5D008B-521C-9CDD-A2B0-7796D5A773A2}"/>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006F61C9-F4E5-ED5E-63AF-8574240D5AB9}"/>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7563E4AC-B07A-BD0F-5874-00D0BC9A59B3}"/>
              </a:ext>
            </a:extLst>
          </p:cNvPr>
          <p:cNvSpPr/>
          <p:nvPr/>
        </p:nvSpPr>
        <p:spPr>
          <a:xfrm>
            <a:off x="938996" y="2874265"/>
            <a:ext cx="10753476" cy="33099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32337675-47E5-F70A-D203-D154762C9824}"/>
              </a:ext>
            </a:extLst>
          </p:cNvPr>
          <p:cNvSpPr/>
          <p:nvPr/>
        </p:nvSpPr>
        <p:spPr>
          <a:xfrm>
            <a:off x="666390" y="271345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16" name="Rectángulo redondeado 15">
            <a:extLst>
              <a:ext uri="{FF2B5EF4-FFF2-40B4-BE49-F238E27FC236}">
                <a16:creationId xmlns:a16="http://schemas.microsoft.com/office/drawing/2014/main" id="{55D56715-C4E9-81C0-D07D-05FC9F27BE61}"/>
              </a:ext>
            </a:extLst>
          </p:cNvPr>
          <p:cNvSpPr/>
          <p:nvPr/>
        </p:nvSpPr>
        <p:spPr>
          <a:xfrm>
            <a:off x="975123" y="598069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7" name="Rectángulo 16">
            <a:extLst>
              <a:ext uri="{FF2B5EF4-FFF2-40B4-BE49-F238E27FC236}">
                <a16:creationId xmlns:a16="http://schemas.microsoft.com/office/drawing/2014/main" id="{8E843C44-1037-307D-1AC0-A8BA343C2CFB}"/>
              </a:ext>
            </a:extLst>
          </p:cNvPr>
          <p:cNvSpPr/>
          <p:nvPr/>
        </p:nvSpPr>
        <p:spPr>
          <a:xfrm>
            <a:off x="1325564" y="5833533"/>
            <a:ext cx="530752" cy="3057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E015053C-5BDC-00AB-FD69-7CA97B34AD05}"/>
              </a:ext>
            </a:extLst>
          </p:cNvPr>
          <p:cNvSpPr/>
          <p:nvPr/>
        </p:nvSpPr>
        <p:spPr>
          <a:xfrm>
            <a:off x="1375647" y="3816611"/>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7"/>
            </a:pPr>
            <a:r>
              <a:rPr lang="es-ES_tradnl" sz="1200" dirty="0"/>
              <a:t>En la Sección Plan de estudios de ingreso, valide que está con la inscripción del programa que corresponda. En esté caso el plan de estudios 3.</a:t>
            </a:r>
          </a:p>
          <a:p>
            <a:pPr marL="228600" indent="-228600">
              <a:buFont typeface="+mj-lt"/>
              <a:buAutoNum type="arabicPeriod" startAt="7"/>
            </a:pPr>
            <a:r>
              <a:rPr lang="es-ES_tradnl" sz="1200" dirty="0"/>
              <a:t>Selecciones bloque siguiente</a:t>
            </a:r>
          </a:p>
        </p:txBody>
      </p:sp>
    </p:spTree>
    <p:extLst>
      <p:ext uri="{BB962C8B-B14F-4D97-AF65-F5344CB8AC3E}">
        <p14:creationId xmlns:p14="http://schemas.microsoft.com/office/powerpoint/2010/main" val="33657137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0A16-3E8C-EBF4-B66C-528B3FF12485}"/>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FC48730-D9A2-469E-6498-866FE1B28280}"/>
              </a:ext>
            </a:extLst>
          </p:cNvPr>
          <p:cNvPicPr>
            <a:picLocks noGrp="1" noRot="1" noChangeAspect="1" noMove="1" noResize="1" noEditPoints="1" noAdjustHandles="1" noChangeArrowheads="1" noChangeShapeType="1" noCrop="1"/>
          </p:cNvPicPr>
          <p:nvPr/>
        </p:nvPicPr>
        <p:blipFill>
          <a:blip r:embed="rId3"/>
          <a:stretch>
            <a:fillRect/>
          </a:stretch>
        </p:blipFill>
        <p:spPr>
          <a:xfrm>
            <a:off x="1052214" y="1291778"/>
            <a:ext cx="10707584" cy="4755822"/>
          </a:xfrm>
          <a:prstGeom prst="rect">
            <a:avLst/>
          </a:prstGeom>
        </p:spPr>
      </p:pic>
      <p:sp>
        <p:nvSpPr>
          <p:cNvPr id="2" name="Marcador de texto vertical 1">
            <a:extLst>
              <a:ext uri="{FF2B5EF4-FFF2-40B4-BE49-F238E27FC236}">
                <a16:creationId xmlns:a16="http://schemas.microsoft.com/office/drawing/2014/main" id="{63895C28-9F4A-93D1-F48D-A226B4AF79AF}"/>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D2C69E8D-B757-425E-4D63-6756D3CF705D}"/>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7DACAE0A-9CE6-F74B-4C19-CD2287E60B98}"/>
              </a:ext>
            </a:extLst>
          </p:cNvPr>
          <p:cNvSpPr/>
          <p:nvPr/>
        </p:nvSpPr>
        <p:spPr>
          <a:xfrm>
            <a:off x="7178039" y="4056048"/>
            <a:ext cx="544069" cy="17609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C6FBDA44-41FA-A23F-736A-E3E5F4C42EC4}"/>
              </a:ext>
            </a:extLst>
          </p:cNvPr>
          <p:cNvSpPr/>
          <p:nvPr/>
        </p:nvSpPr>
        <p:spPr>
          <a:xfrm>
            <a:off x="7722108" y="4214965"/>
            <a:ext cx="257514" cy="10789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
        <p:nvSpPr>
          <p:cNvPr id="18" name="Rectángulo: esquinas redondeadas 17">
            <a:extLst>
              <a:ext uri="{FF2B5EF4-FFF2-40B4-BE49-F238E27FC236}">
                <a16:creationId xmlns:a16="http://schemas.microsoft.com/office/drawing/2014/main" id="{2D8849A5-86F3-DAB1-9E85-272E51B2206D}"/>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9"/>
            </a:pPr>
            <a:r>
              <a:rPr lang="es-ES_tradnl" sz="1200" dirty="0"/>
              <a:t>En la sección ‘Información de Curso’ se muestran todos los NRC que tiene inscrito el estudiante. Seleccione aquel que va a retirar y en el campo Estatus ingrese o seleccione el código de Retiro (solo podrá seleccionar el código en las fechas en la que este esté habilitado en la página SFARSTS)</a:t>
            </a:r>
          </a:p>
        </p:txBody>
      </p:sp>
    </p:spTree>
    <p:extLst>
      <p:ext uri="{BB962C8B-B14F-4D97-AF65-F5344CB8AC3E}">
        <p14:creationId xmlns:p14="http://schemas.microsoft.com/office/powerpoint/2010/main" val="3249146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C602C-3E45-713A-05CF-FDD03ACDC60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A7DBD73-411D-37ED-042D-9F0C917ADEF8}"/>
              </a:ext>
            </a:extLst>
          </p:cNvPr>
          <p:cNvPicPr>
            <a:picLocks noChangeAspect="1"/>
          </p:cNvPicPr>
          <p:nvPr/>
        </p:nvPicPr>
        <p:blipFill>
          <a:blip r:embed="rId3"/>
          <a:stretch>
            <a:fillRect/>
          </a:stretch>
        </p:blipFill>
        <p:spPr>
          <a:xfrm>
            <a:off x="1155075" y="1087588"/>
            <a:ext cx="10477497" cy="4679112"/>
          </a:xfrm>
          <a:prstGeom prst="rect">
            <a:avLst/>
          </a:prstGeom>
        </p:spPr>
      </p:pic>
      <p:sp>
        <p:nvSpPr>
          <p:cNvPr id="2" name="Marcador de texto vertical 1">
            <a:extLst>
              <a:ext uri="{FF2B5EF4-FFF2-40B4-BE49-F238E27FC236}">
                <a16:creationId xmlns:a16="http://schemas.microsoft.com/office/drawing/2014/main" id="{DFF6AF56-3D9A-4489-3726-9C1BB2685AE9}"/>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4290985C-51A5-BBBB-6212-0163564E3260}"/>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5E47C748-CF9C-BAB2-8738-66FFC2381143}"/>
              </a:ext>
            </a:extLst>
          </p:cNvPr>
          <p:cNvSpPr/>
          <p:nvPr/>
        </p:nvSpPr>
        <p:spPr>
          <a:xfrm>
            <a:off x="11048986" y="5531072"/>
            <a:ext cx="799665" cy="31984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9B318C55-124C-F6A0-A705-C954F6A2DC86}"/>
              </a:ext>
            </a:extLst>
          </p:cNvPr>
          <p:cNvSpPr/>
          <p:nvPr/>
        </p:nvSpPr>
        <p:spPr>
          <a:xfrm>
            <a:off x="10773879" y="5766700"/>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18" name="Rectángulo: esquinas redondeadas 17">
            <a:extLst>
              <a:ext uri="{FF2B5EF4-FFF2-40B4-BE49-F238E27FC236}">
                <a16:creationId xmlns:a16="http://schemas.microsoft.com/office/drawing/2014/main" id="{5B78ECE8-9EE5-5268-C6C1-8A4F6A5262DA}"/>
              </a:ext>
            </a:extLst>
          </p:cNvPr>
          <p:cNvSpPr/>
          <p:nvPr/>
        </p:nvSpPr>
        <p:spPr>
          <a:xfrm>
            <a:off x="1104214" y="5193825"/>
            <a:ext cx="9237506" cy="67449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0"/>
            </a:pPr>
            <a:r>
              <a:rPr lang="es-ES_tradnl" sz="1200" dirty="0"/>
              <a:t>Toda vez que se ha asignado el estatus de retiro del(los) NRC(s) que el alumno retira, presione el botón guardar</a:t>
            </a:r>
          </a:p>
        </p:txBody>
      </p:sp>
      <p:sp>
        <p:nvSpPr>
          <p:cNvPr id="6" name="Rectángulo 5">
            <a:extLst>
              <a:ext uri="{FF2B5EF4-FFF2-40B4-BE49-F238E27FC236}">
                <a16:creationId xmlns:a16="http://schemas.microsoft.com/office/drawing/2014/main" id="{DF33E4EE-C32F-F040-1159-01B458F28E14}"/>
              </a:ext>
            </a:extLst>
          </p:cNvPr>
          <p:cNvSpPr/>
          <p:nvPr/>
        </p:nvSpPr>
        <p:spPr>
          <a:xfrm>
            <a:off x="7119793" y="3354900"/>
            <a:ext cx="502240" cy="89855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1493767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008BE-6D7B-F3AE-F3F4-C651BFE12E57}"/>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18CDCF57-0071-E36A-A2E0-0974AD2CEC71}"/>
              </a:ext>
            </a:extLst>
          </p:cNvPr>
          <p:cNvPicPr>
            <a:picLocks noChangeAspect="1"/>
          </p:cNvPicPr>
          <p:nvPr/>
        </p:nvPicPr>
        <p:blipFill>
          <a:blip r:embed="rId3"/>
          <a:stretch>
            <a:fillRect/>
          </a:stretch>
        </p:blipFill>
        <p:spPr>
          <a:xfrm>
            <a:off x="609601" y="932196"/>
            <a:ext cx="11191756" cy="4993605"/>
          </a:xfrm>
          <a:prstGeom prst="rect">
            <a:avLst/>
          </a:prstGeom>
        </p:spPr>
      </p:pic>
      <p:sp>
        <p:nvSpPr>
          <p:cNvPr id="2" name="Marcador de texto vertical 1">
            <a:extLst>
              <a:ext uri="{FF2B5EF4-FFF2-40B4-BE49-F238E27FC236}">
                <a16:creationId xmlns:a16="http://schemas.microsoft.com/office/drawing/2014/main" id="{1C6ABFB3-73A7-4803-78C8-DBC499E8DEB8}"/>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3D9CE4BD-57CA-6535-3625-3BF9779912A1}"/>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8" name="Rectángulo: esquinas redondeadas 17">
            <a:extLst>
              <a:ext uri="{FF2B5EF4-FFF2-40B4-BE49-F238E27FC236}">
                <a16:creationId xmlns:a16="http://schemas.microsoft.com/office/drawing/2014/main" id="{600F808E-D5D7-A9EF-1EFF-65B22023A098}"/>
              </a:ext>
            </a:extLst>
          </p:cNvPr>
          <p:cNvSpPr/>
          <p:nvPr/>
        </p:nvSpPr>
        <p:spPr>
          <a:xfrm>
            <a:off x="1760395" y="31409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1"/>
            </a:pPr>
            <a:r>
              <a:rPr lang="es-ES_tradnl" sz="1200" dirty="0"/>
              <a:t>Si  no hay errores, el sistema permite continuar hasta el bloque “Total de ingreso”, en donde se hereda la configuración que en SOATERM se tenga para el cálculo de la cuenta corriente del estudiante.</a:t>
            </a:r>
          </a:p>
          <a:p>
            <a:pPr marL="228600" indent="-228600">
              <a:buFont typeface="+mj-lt"/>
              <a:buAutoNum type="arabicPeriod" startAt="11"/>
            </a:pPr>
            <a:r>
              <a:rPr lang="es-ES_tradnl" sz="1200" dirty="0"/>
              <a:t> Presione, nuevamente, el botón Guardar.</a:t>
            </a:r>
          </a:p>
        </p:txBody>
      </p:sp>
      <p:sp>
        <p:nvSpPr>
          <p:cNvPr id="6" name="Rectángulo 5">
            <a:extLst>
              <a:ext uri="{FF2B5EF4-FFF2-40B4-BE49-F238E27FC236}">
                <a16:creationId xmlns:a16="http://schemas.microsoft.com/office/drawing/2014/main" id="{39CEA106-BCD4-AA98-D351-92C3E776476F}"/>
              </a:ext>
            </a:extLst>
          </p:cNvPr>
          <p:cNvSpPr/>
          <p:nvPr/>
        </p:nvSpPr>
        <p:spPr>
          <a:xfrm>
            <a:off x="1376414" y="4800911"/>
            <a:ext cx="1709686" cy="18214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9BAC0D9E-DBB9-D3FF-2733-C761702DD509}"/>
              </a:ext>
            </a:extLst>
          </p:cNvPr>
          <p:cNvSpPr/>
          <p:nvPr/>
        </p:nvSpPr>
        <p:spPr>
          <a:xfrm>
            <a:off x="3022334" y="5012088"/>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
        <p:nvSpPr>
          <p:cNvPr id="3" name="Rectángulo 2">
            <a:extLst>
              <a:ext uri="{FF2B5EF4-FFF2-40B4-BE49-F238E27FC236}">
                <a16:creationId xmlns:a16="http://schemas.microsoft.com/office/drawing/2014/main" id="{989C745E-DD48-F527-4BB4-0CAC61091F94}"/>
              </a:ext>
            </a:extLst>
          </p:cNvPr>
          <p:cNvSpPr/>
          <p:nvPr/>
        </p:nvSpPr>
        <p:spPr>
          <a:xfrm>
            <a:off x="11287385" y="5706599"/>
            <a:ext cx="617878" cy="21117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015EAC90-1F4F-029E-420A-65F64EBDC4FD}"/>
              </a:ext>
            </a:extLst>
          </p:cNvPr>
          <p:cNvSpPr/>
          <p:nvPr/>
        </p:nvSpPr>
        <p:spPr>
          <a:xfrm>
            <a:off x="10885750" y="5548526"/>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Tree>
    <p:extLst>
      <p:ext uri="{BB962C8B-B14F-4D97-AF65-F5344CB8AC3E}">
        <p14:creationId xmlns:p14="http://schemas.microsoft.com/office/powerpoint/2010/main" val="38776680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10292-1616-75B9-F244-265F76450AA3}"/>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91FE0389-58C3-32F9-84B7-F9A942C2964C}"/>
              </a:ext>
            </a:extLst>
          </p:cNvPr>
          <p:cNvSpPr>
            <a:spLocks noGrp="1"/>
          </p:cNvSpPr>
          <p:nvPr>
            <p:ph type="body" sz="quarter" idx="10"/>
          </p:nvPr>
        </p:nvSpPr>
        <p:spPr>
          <a:xfrm>
            <a:off x="914399" y="2238843"/>
            <a:ext cx="10363202" cy="1333891"/>
          </a:xfrm>
        </p:spPr>
        <p:txBody>
          <a:bodyPr/>
          <a:lstStyle/>
          <a:p>
            <a:r>
              <a:rPr lang="es-419" dirty="0"/>
              <a:t>Retiro de todos los cursos del estudiante </a:t>
            </a:r>
          </a:p>
        </p:txBody>
      </p:sp>
      <p:sp>
        <p:nvSpPr>
          <p:cNvPr id="2" name="Marcador de texto vertical 1">
            <a:extLst>
              <a:ext uri="{FF2B5EF4-FFF2-40B4-BE49-F238E27FC236}">
                <a16:creationId xmlns:a16="http://schemas.microsoft.com/office/drawing/2014/main" id="{9CFA8FBC-B13C-4D4E-382E-103059D33683}"/>
              </a:ext>
            </a:extLst>
          </p:cNvPr>
          <p:cNvSpPr>
            <a:spLocks noGrp="1"/>
          </p:cNvSpPr>
          <p:nvPr>
            <p:ph type="body" sz="quarter" idx="11"/>
          </p:nvPr>
        </p:nvSpPr>
        <p:spPr/>
        <p:txBody>
          <a:bodyPr vert="horz" lIns="0" tIns="0" rIns="0" bIns="0" rtlCol="0">
            <a:spAutoFit/>
          </a:bodyPr>
          <a:lstStyle/>
          <a:p>
            <a:r>
              <a:rPr lang="es-419" dirty="0"/>
              <a:t>Gestionar retiro de cursos</a:t>
            </a:r>
          </a:p>
        </p:txBody>
      </p:sp>
    </p:spTree>
    <p:extLst>
      <p:ext uri="{BB962C8B-B14F-4D97-AF65-F5344CB8AC3E}">
        <p14:creationId xmlns:p14="http://schemas.microsoft.com/office/powerpoint/2010/main" val="3030600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0F9DB-214C-161B-89BA-29CB523D9ED7}"/>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7FB0267E-16F2-C8EE-33EB-60918E50946D}"/>
              </a:ext>
            </a:extLst>
          </p:cNvPr>
          <p:cNvPicPr>
            <a:picLocks noChangeAspect="1"/>
          </p:cNvPicPr>
          <p:nvPr/>
        </p:nvPicPr>
        <p:blipFill>
          <a:blip r:embed="rId3"/>
          <a:stretch>
            <a:fillRect/>
          </a:stretch>
        </p:blipFill>
        <p:spPr>
          <a:xfrm>
            <a:off x="938996" y="1493909"/>
            <a:ext cx="11104001" cy="1822087"/>
          </a:xfrm>
          <a:prstGeom prst="rect">
            <a:avLst/>
          </a:prstGeom>
        </p:spPr>
      </p:pic>
      <p:sp>
        <p:nvSpPr>
          <p:cNvPr id="2" name="Marcador de texto vertical 1">
            <a:extLst>
              <a:ext uri="{FF2B5EF4-FFF2-40B4-BE49-F238E27FC236}">
                <a16:creationId xmlns:a16="http://schemas.microsoft.com/office/drawing/2014/main" id="{56C5042A-967C-AE84-1569-0D83E4A087D9}"/>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4657D566-2D4C-6F68-A0BB-87684D839F78}"/>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4C1496FE-C6AC-F1F0-57B1-26C083DAB00B}"/>
              </a:ext>
            </a:extLst>
          </p:cNvPr>
          <p:cNvSpPr/>
          <p:nvPr/>
        </p:nvSpPr>
        <p:spPr>
          <a:xfrm>
            <a:off x="1334800" y="1821914"/>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D0B7AA1D-444C-BA8A-ED4D-50060B6F13C4}"/>
              </a:ext>
            </a:extLst>
          </p:cNvPr>
          <p:cNvSpPr/>
          <p:nvPr/>
        </p:nvSpPr>
        <p:spPr>
          <a:xfrm>
            <a:off x="3328029" y="206080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redondeado 15">
            <a:extLst>
              <a:ext uri="{FF2B5EF4-FFF2-40B4-BE49-F238E27FC236}">
                <a16:creationId xmlns:a16="http://schemas.microsoft.com/office/drawing/2014/main" id="{D87F612A-8216-CF29-0D90-66EFCF4F27EE}"/>
              </a:ext>
            </a:extLst>
          </p:cNvPr>
          <p:cNvSpPr/>
          <p:nvPr/>
        </p:nvSpPr>
        <p:spPr>
          <a:xfrm>
            <a:off x="11417231" y="207220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7" name="Rectángulo 16">
            <a:extLst>
              <a:ext uri="{FF2B5EF4-FFF2-40B4-BE49-F238E27FC236}">
                <a16:creationId xmlns:a16="http://schemas.microsoft.com/office/drawing/2014/main" id="{C2508328-BC9B-F987-A3D0-4AA3E92B5AA6}"/>
              </a:ext>
            </a:extLst>
          </p:cNvPr>
          <p:cNvSpPr/>
          <p:nvPr/>
        </p:nvSpPr>
        <p:spPr>
          <a:xfrm>
            <a:off x="11597166" y="1842764"/>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178BC606-A8BF-A3D4-DD12-3C89E50B1261}"/>
              </a:ext>
            </a:extLst>
          </p:cNvPr>
          <p:cNvSpPr/>
          <p:nvPr/>
        </p:nvSpPr>
        <p:spPr>
          <a:xfrm>
            <a:off x="1477247" y="4251848"/>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El proceso de inscripción desde </a:t>
            </a:r>
            <a:r>
              <a:rPr lang="es-ES_tradnl" sz="1200" dirty="0" err="1"/>
              <a:t>backoffice</a:t>
            </a:r>
            <a:r>
              <a:rPr lang="es-ES_tradnl" sz="1200" dirty="0"/>
              <a:t> se realiza por medio de la página administrativa SFAREGS. Para proceder, siga los siguientes pasos:</a:t>
            </a:r>
          </a:p>
          <a:p>
            <a:endParaRPr lang="es-ES_tradnl" sz="1200" dirty="0"/>
          </a:p>
          <a:p>
            <a:pPr marL="228600" indent="-228600">
              <a:buFont typeface="+mj-lt"/>
              <a:buAutoNum type="arabicPeriod"/>
            </a:pPr>
            <a:r>
              <a:rPr lang="es-ES_tradnl" sz="1200" dirty="0"/>
              <a:t>Ingresar el Periodo Académico en el que se realizará la inscripción</a:t>
            </a:r>
          </a:p>
          <a:p>
            <a:pPr marL="228600" indent="-228600">
              <a:buFont typeface="+mj-lt"/>
              <a:buAutoNum type="arabicPeriod"/>
            </a:pPr>
            <a:r>
              <a:rPr lang="es-ES_tradnl" sz="1200" dirty="0"/>
              <a:t>Ingresar el ID del estudiante</a:t>
            </a:r>
          </a:p>
          <a:p>
            <a:pPr marL="228600" indent="-228600">
              <a:buFont typeface="+mj-lt"/>
              <a:buAutoNum type="arabicPeriod"/>
            </a:pPr>
            <a:r>
              <a:rPr lang="es-ES_tradnl" sz="1200" dirty="0"/>
              <a:t>Presionar el botón ‘Ir’.</a:t>
            </a:r>
          </a:p>
        </p:txBody>
      </p:sp>
      <p:sp>
        <p:nvSpPr>
          <p:cNvPr id="19" name="Rectángulo 18">
            <a:extLst>
              <a:ext uri="{FF2B5EF4-FFF2-40B4-BE49-F238E27FC236}">
                <a16:creationId xmlns:a16="http://schemas.microsoft.com/office/drawing/2014/main" id="{EA0E8DF4-E765-6C77-AEC9-BF9686CFA65D}"/>
              </a:ext>
            </a:extLst>
          </p:cNvPr>
          <p:cNvSpPr/>
          <p:nvPr/>
        </p:nvSpPr>
        <p:spPr>
          <a:xfrm>
            <a:off x="6802909" y="1790573"/>
            <a:ext cx="1468996"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585FF600-2F74-F47E-0440-97A4C67AF6F7}"/>
              </a:ext>
            </a:extLst>
          </p:cNvPr>
          <p:cNvSpPr/>
          <p:nvPr/>
        </p:nvSpPr>
        <p:spPr>
          <a:xfrm>
            <a:off x="8311398" y="2051820"/>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4751337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13613-C437-6B6A-D5D7-0BDE525F54C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21CEAFD-0C74-062A-D934-C91537A4A2FB}"/>
              </a:ext>
            </a:extLst>
          </p:cNvPr>
          <p:cNvPicPr>
            <a:picLocks noChangeAspect="1"/>
          </p:cNvPicPr>
          <p:nvPr/>
        </p:nvPicPr>
        <p:blipFill>
          <a:blip r:embed="rId3"/>
          <a:stretch>
            <a:fillRect/>
          </a:stretch>
        </p:blipFill>
        <p:spPr>
          <a:xfrm>
            <a:off x="1052214" y="1291778"/>
            <a:ext cx="10707584" cy="4755822"/>
          </a:xfrm>
          <a:prstGeom prst="rect">
            <a:avLst/>
          </a:prstGeom>
        </p:spPr>
      </p:pic>
      <p:sp>
        <p:nvSpPr>
          <p:cNvPr id="2" name="Marcador de texto vertical 1">
            <a:extLst>
              <a:ext uri="{FF2B5EF4-FFF2-40B4-BE49-F238E27FC236}">
                <a16:creationId xmlns:a16="http://schemas.microsoft.com/office/drawing/2014/main" id="{818F292F-A1CD-9078-9F6A-41BB9035AF1A}"/>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64028B00-E47C-3F56-0B60-524E2C0588F8}"/>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E405A06E-8FF9-C144-7284-D922036BB24E}"/>
              </a:ext>
            </a:extLst>
          </p:cNvPr>
          <p:cNvSpPr/>
          <p:nvPr/>
        </p:nvSpPr>
        <p:spPr>
          <a:xfrm>
            <a:off x="1423701" y="2152155"/>
            <a:ext cx="875000" cy="2735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43DA5A69-6670-9C48-EA5A-0BAF707C085F}"/>
              </a:ext>
            </a:extLst>
          </p:cNvPr>
          <p:cNvSpPr/>
          <p:nvPr/>
        </p:nvSpPr>
        <p:spPr>
          <a:xfrm>
            <a:off x="1052214" y="2212173"/>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6" name="Rectángulo redondeado 15">
            <a:extLst>
              <a:ext uri="{FF2B5EF4-FFF2-40B4-BE49-F238E27FC236}">
                <a16:creationId xmlns:a16="http://schemas.microsoft.com/office/drawing/2014/main" id="{C4CC5664-540D-4B65-9156-DDB1333BE595}"/>
              </a:ext>
            </a:extLst>
          </p:cNvPr>
          <p:cNvSpPr/>
          <p:nvPr/>
        </p:nvSpPr>
        <p:spPr>
          <a:xfrm>
            <a:off x="1090564" y="588678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17" name="Rectángulo 16">
            <a:extLst>
              <a:ext uri="{FF2B5EF4-FFF2-40B4-BE49-F238E27FC236}">
                <a16:creationId xmlns:a16="http://schemas.microsoft.com/office/drawing/2014/main" id="{3F911A2A-AF70-27AA-2609-A57E8DBC7937}"/>
              </a:ext>
            </a:extLst>
          </p:cNvPr>
          <p:cNvSpPr/>
          <p:nvPr/>
        </p:nvSpPr>
        <p:spPr>
          <a:xfrm>
            <a:off x="1383717" y="5830421"/>
            <a:ext cx="407730" cy="27354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1680D373-E913-E636-E204-BF7A16F65174}"/>
              </a:ext>
            </a:extLst>
          </p:cNvPr>
          <p:cNvSpPr/>
          <p:nvPr/>
        </p:nvSpPr>
        <p:spPr>
          <a:xfrm>
            <a:off x="1477247" y="4251848"/>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ES_tradnl" sz="1200" dirty="0"/>
              <a:t>En el campo ‘Estatus’ de la sección ‘Información de ingreso’  debe permanecer el estatus Elegible (EL).</a:t>
            </a:r>
          </a:p>
          <a:p>
            <a:pPr marL="228600" indent="-228600">
              <a:buFont typeface="+mj-lt"/>
              <a:buAutoNum type="arabicPeriod" startAt="4"/>
            </a:pPr>
            <a:r>
              <a:rPr lang="es-ES_tradnl" sz="1200" dirty="0"/>
              <a:t>En los campos Mínimas y Máximas, se heredan los valores definidos en SFAMHRS. Estos valores pueden ser modificados por el usuario que está inscribiendo desde </a:t>
            </a:r>
            <a:r>
              <a:rPr lang="es-ES_tradnl" sz="1200" dirty="0" err="1"/>
              <a:t>backoffice</a:t>
            </a:r>
            <a:r>
              <a:rPr lang="es-ES_tradnl" sz="1200" dirty="0"/>
              <a:t>.</a:t>
            </a:r>
          </a:p>
          <a:p>
            <a:pPr marL="228600" indent="-228600">
              <a:buFont typeface="+mj-lt"/>
              <a:buAutoNum type="arabicPeriod" startAt="4"/>
            </a:pPr>
            <a:r>
              <a:rPr lang="es-ES_tradnl" sz="1200" dirty="0"/>
              <a:t>Pase al siguiente bloque.</a:t>
            </a:r>
          </a:p>
          <a:p>
            <a:pPr marL="228600" indent="-228600">
              <a:buFont typeface="+mj-lt"/>
              <a:buAutoNum type="arabicPeriod" startAt="4"/>
            </a:pPr>
            <a:endParaRPr lang="es-ES_tradnl" sz="1200" dirty="0"/>
          </a:p>
        </p:txBody>
      </p:sp>
      <p:sp>
        <p:nvSpPr>
          <p:cNvPr id="19" name="Rectángulo 18">
            <a:extLst>
              <a:ext uri="{FF2B5EF4-FFF2-40B4-BE49-F238E27FC236}">
                <a16:creationId xmlns:a16="http://schemas.microsoft.com/office/drawing/2014/main" id="{E1F96CDC-D60D-BA56-BC0D-D95F9F83E335}"/>
              </a:ext>
            </a:extLst>
          </p:cNvPr>
          <p:cNvSpPr/>
          <p:nvPr/>
        </p:nvSpPr>
        <p:spPr>
          <a:xfrm>
            <a:off x="8412258" y="2196255"/>
            <a:ext cx="2035565" cy="4098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9423E1D5-DE47-152F-CE44-B2C561776FBE}"/>
              </a:ext>
            </a:extLst>
          </p:cNvPr>
          <p:cNvSpPr/>
          <p:nvPr/>
        </p:nvSpPr>
        <p:spPr>
          <a:xfrm>
            <a:off x="8082863" y="205135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Tree>
    <p:extLst>
      <p:ext uri="{BB962C8B-B14F-4D97-AF65-F5344CB8AC3E}">
        <p14:creationId xmlns:p14="http://schemas.microsoft.com/office/powerpoint/2010/main" val="27135740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10542-AFEC-0C0C-0888-79246FA60A9B}"/>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92E869CE-DCC2-85E1-57A0-2C41604A35FA}"/>
              </a:ext>
            </a:extLst>
          </p:cNvPr>
          <p:cNvPicPr>
            <a:picLocks noChangeAspect="1"/>
          </p:cNvPicPr>
          <p:nvPr/>
        </p:nvPicPr>
        <p:blipFill>
          <a:blip r:embed="rId3"/>
          <a:stretch>
            <a:fillRect/>
          </a:stretch>
        </p:blipFill>
        <p:spPr>
          <a:xfrm>
            <a:off x="1065414" y="1337498"/>
            <a:ext cx="10707584" cy="4755822"/>
          </a:xfrm>
          <a:prstGeom prst="rect">
            <a:avLst/>
          </a:prstGeom>
        </p:spPr>
      </p:pic>
      <p:sp>
        <p:nvSpPr>
          <p:cNvPr id="2" name="Marcador de texto vertical 1">
            <a:extLst>
              <a:ext uri="{FF2B5EF4-FFF2-40B4-BE49-F238E27FC236}">
                <a16:creationId xmlns:a16="http://schemas.microsoft.com/office/drawing/2014/main" id="{055C560E-2B8C-8115-F503-90D97CC7B74C}"/>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29AF1D00-21FD-7821-4008-1CF7343A4684}"/>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C3C5DEFB-85F4-2777-0123-42BA3DF3DA73}"/>
              </a:ext>
            </a:extLst>
          </p:cNvPr>
          <p:cNvSpPr/>
          <p:nvPr/>
        </p:nvSpPr>
        <p:spPr>
          <a:xfrm>
            <a:off x="1423700" y="2152156"/>
            <a:ext cx="900399" cy="22083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B7A2DD16-6C5C-E45F-CC7E-2D5578134A71}"/>
              </a:ext>
            </a:extLst>
          </p:cNvPr>
          <p:cNvSpPr/>
          <p:nvPr/>
        </p:nvSpPr>
        <p:spPr>
          <a:xfrm>
            <a:off x="1065414" y="2152155"/>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6" name="Rectángulo redondeado 15">
            <a:extLst>
              <a:ext uri="{FF2B5EF4-FFF2-40B4-BE49-F238E27FC236}">
                <a16:creationId xmlns:a16="http://schemas.microsoft.com/office/drawing/2014/main" id="{D3DD4749-6141-C7B4-6CB7-69650F07E5AB}"/>
              </a:ext>
            </a:extLst>
          </p:cNvPr>
          <p:cNvSpPr/>
          <p:nvPr/>
        </p:nvSpPr>
        <p:spPr>
          <a:xfrm>
            <a:off x="1090564" y="588678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17" name="Rectángulo 16">
            <a:extLst>
              <a:ext uri="{FF2B5EF4-FFF2-40B4-BE49-F238E27FC236}">
                <a16:creationId xmlns:a16="http://schemas.microsoft.com/office/drawing/2014/main" id="{9E93071C-EA3E-6720-5CBE-9152DE7AEF1E}"/>
              </a:ext>
            </a:extLst>
          </p:cNvPr>
          <p:cNvSpPr/>
          <p:nvPr/>
        </p:nvSpPr>
        <p:spPr>
          <a:xfrm>
            <a:off x="1206750" y="5555613"/>
            <a:ext cx="407730" cy="27354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E846F29C-C31B-BBA7-11A0-D9D895746B8F}"/>
              </a:ext>
            </a:extLst>
          </p:cNvPr>
          <p:cNvSpPr/>
          <p:nvPr/>
        </p:nvSpPr>
        <p:spPr>
          <a:xfrm>
            <a:off x="1686395" y="3934304"/>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ES_tradnl" sz="1200" dirty="0"/>
              <a:t>En el campo ‘Estatus’ de la sección ‘Información de ingreso’  seleccione el código de retiro que corresponda al proceso del estudiante (solo si el retiro aplica para todos los planes de estudios del estudiante, de lo contrario mantenga en estatus EL).</a:t>
            </a:r>
          </a:p>
          <a:p>
            <a:pPr marL="228600" indent="-228600">
              <a:buFont typeface="+mj-lt"/>
              <a:buAutoNum type="arabicPeriod" startAt="4"/>
            </a:pPr>
            <a:r>
              <a:rPr lang="es-ES_tradnl" sz="1200" dirty="0"/>
              <a:t>En el campo Razón, seleccione el código que corresponda a la justificación de retiro del estudiante</a:t>
            </a:r>
          </a:p>
          <a:p>
            <a:pPr marL="228600" indent="-228600">
              <a:buFont typeface="+mj-lt"/>
              <a:buAutoNum type="arabicPeriod" startAt="4"/>
            </a:pPr>
            <a:r>
              <a:rPr lang="es-ES_tradnl" sz="1200" dirty="0"/>
              <a:t>En los campos Mínimas y Máximas, se heredan los valores definidos en SFAMHRS. Para el retiro total de la carga del estudiante el campo mínimas debe modificarse a 0.</a:t>
            </a:r>
          </a:p>
          <a:p>
            <a:pPr marL="228600" indent="-228600">
              <a:buFont typeface="+mj-lt"/>
              <a:buAutoNum type="arabicPeriod" startAt="4"/>
            </a:pPr>
            <a:r>
              <a:rPr lang="es-ES_tradnl" sz="1200" dirty="0"/>
              <a:t>Pase al siguiente bloque.</a:t>
            </a:r>
          </a:p>
        </p:txBody>
      </p:sp>
      <p:sp>
        <p:nvSpPr>
          <p:cNvPr id="19" name="Rectángulo 18">
            <a:extLst>
              <a:ext uri="{FF2B5EF4-FFF2-40B4-BE49-F238E27FC236}">
                <a16:creationId xmlns:a16="http://schemas.microsoft.com/office/drawing/2014/main" id="{1D009E68-61D1-9194-1483-E6688F703855}"/>
              </a:ext>
            </a:extLst>
          </p:cNvPr>
          <p:cNvSpPr/>
          <p:nvPr/>
        </p:nvSpPr>
        <p:spPr>
          <a:xfrm>
            <a:off x="8412258" y="2196255"/>
            <a:ext cx="2035565" cy="4098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F59EC771-F1A4-0982-90C8-6E84005B6BAD}"/>
              </a:ext>
            </a:extLst>
          </p:cNvPr>
          <p:cNvSpPr/>
          <p:nvPr/>
        </p:nvSpPr>
        <p:spPr>
          <a:xfrm>
            <a:off x="8082863" y="205135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3" name="Rectángulo 2">
            <a:extLst>
              <a:ext uri="{FF2B5EF4-FFF2-40B4-BE49-F238E27FC236}">
                <a16:creationId xmlns:a16="http://schemas.microsoft.com/office/drawing/2014/main" id="{DB0623A9-2108-353F-62FA-2DEBE4EC0987}"/>
              </a:ext>
            </a:extLst>
          </p:cNvPr>
          <p:cNvSpPr/>
          <p:nvPr/>
        </p:nvSpPr>
        <p:spPr>
          <a:xfrm>
            <a:off x="1423700" y="2356692"/>
            <a:ext cx="900399" cy="22083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BE2BED84-7489-BFD2-9D6A-A4E639B41B38}"/>
              </a:ext>
            </a:extLst>
          </p:cNvPr>
          <p:cNvSpPr/>
          <p:nvPr/>
        </p:nvSpPr>
        <p:spPr>
          <a:xfrm>
            <a:off x="2395224" y="244533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Tree>
    <p:extLst>
      <p:ext uri="{BB962C8B-B14F-4D97-AF65-F5344CB8AC3E}">
        <p14:creationId xmlns:p14="http://schemas.microsoft.com/office/powerpoint/2010/main" val="27157128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FBDF1-8B46-F0BA-36D7-706A2FA5BBF2}"/>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FFAD20EC-446B-3656-F80A-CFF46C4E3B2F}"/>
              </a:ext>
            </a:extLst>
          </p:cNvPr>
          <p:cNvPicPr>
            <a:picLocks noChangeAspect="1"/>
          </p:cNvPicPr>
          <p:nvPr/>
        </p:nvPicPr>
        <p:blipFill>
          <a:blip r:embed="rId3"/>
          <a:stretch>
            <a:fillRect/>
          </a:stretch>
        </p:blipFill>
        <p:spPr>
          <a:xfrm>
            <a:off x="775507" y="1096406"/>
            <a:ext cx="11156863" cy="4906927"/>
          </a:xfrm>
          <a:prstGeom prst="rect">
            <a:avLst/>
          </a:prstGeom>
        </p:spPr>
      </p:pic>
      <p:sp>
        <p:nvSpPr>
          <p:cNvPr id="2" name="Marcador de texto vertical 1">
            <a:extLst>
              <a:ext uri="{FF2B5EF4-FFF2-40B4-BE49-F238E27FC236}">
                <a16:creationId xmlns:a16="http://schemas.microsoft.com/office/drawing/2014/main" id="{21F13244-7793-46A3-3386-5E81F4C6C6B3}"/>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EAC15873-A079-AC94-3BEB-648E410F32E7}"/>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E21BD00F-2F4F-D1D0-3F6F-51F00B7FC103}"/>
              </a:ext>
            </a:extLst>
          </p:cNvPr>
          <p:cNvSpPr/>
          <p:nvPr/>
        </p:nvSpPr>
        <p:spPr>
          <a:xfrm>
            <a:off x="4572000" y="1940477"/>
            <a:ext cx="1783080" cy="37216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1F654D49-D72B-D2AF-D92E-296C7E504DCC}"/>
              </a:ext>
            </a:extLst>
          </p:cNvPr>
          <p:cNvSpPr/>
          <p:nvPr/>
        </p:nvSpPr>
        <p:spPr>
          <a:xfrm>
            <a:off x="4313730" y="2015671"/>
            <a:ext cx="258270" cy="22177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sp>
        <p:nvSpPr>
          <p:cNvPr id="16" name="Rectángulo redondeado 15">
            <a:extLst>
              <a:ext uri="{FF2B5EF4-FFF2-40B4-BE49-F238E27FC236}">
                <a16:creationId xmlns:a16="http://schemas.microsoft.com/office/drawing/2014/main" id="{37ED38AC-CFFF-F425-1003-A467867EA618}"/>
              </a:ext>
            </a:extLst>
          </p:cNvPr>
          <p:cNvSpPr/>
          <p:nvPr/>
        </p:nvSpPr>
        <p:spPr>
          <a:xfrm>
            <a:off x="1701800" y="567517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17" name="Rectángulo 16">
            <a:extLst>
              <a:ext uri="{FF2B5EF4-FFF2-40B4-BE49-F238E27FC236}">
                <a16:creationId xmlns:a16="http://schemas.microsoft.com/office/drawing/2014/main" id="{BE2035C7-E9DC-5085-6737-BCE7B3780B99}"/>
              </a:ext>
            </a:extLst>
          </p:cNvPr>
          <p:cNvSpPr/>
          <p:nvPr/>
        </p:nvSpPr>
        <p:spPr>
          <a:xfrm>
            <a:off x="11174420" y="5530212"/>
            <a:ext cx="530752" cy="3057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AE65B8EC-63E0-0268-8DB5-F9D46E50939D}"/>
              </a:ext>
            </a:extLst>
          </p:cNvPr>
          <p:cNvSpPr/>
          <p:nvPr/>
        </p:nvSpPr>
        <p:spPr>
          <a:xfrm>
            <a:off x="2047389" y="4876355"/>
            <a:ext cx="8817427" cy="181643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8"/>
            </a:pPr>
            <a:r>
              <a:rPr lang="es-ES_tradnl" sz="1200" dirty="0"/>
              <a:t>En la Sección de Información de Ingreso, marque la casilla ‘Eliminar todos los NRC’</a:t>
            </a:r>
          </a:p>
          <a:p>
            <a:pPr marL="228600" indent="-228600">
              <a:buFont typeface="+mj-lt"/>
              <a:buAutoNum type="arabicPeriod" startAt="8"/>
            </a:pPr>
            <a:r>
              <a:rPr lang="es-ES_tradnl" sz="1200" dirty="0"/>
              <a:t>Pase al siguiente bloque. El estatus ingresado en el estatus del plan de estudios es heredado por los NRC inscritos*</a:t>
            </a:r>
          </a:p>
          <a:p>
            <a:pPr marL="228600" indent="-228600">
              <a:buFont typeface="+mj-lt"/>
              <a:buAutoNum type="arabicPeriod" startAt="8"/>
            </a:pPr>
            <a:r>
              <a:rPr lang="es-ES_tradnl" sz="1200" dirty="0"/>
              <a:t>Guarde la información</a:t>
            </a:r>
          </a:p>
          <a:p>
            <a:pPr marL="228600" indent="-228600">
              <a:buFont typeface="+mj-lt"/>
              <a:buAutoNum type="arabicPeriod" startAt="8"/>
            </a:pPr>
            <a:endParaRPr lang="es-ES_tradnl" sz="1200" dirty="0"/>
          </a:p>
          <a:p>
            <a:r>
              <a:rPr lang="es-ES_tradnl" sz="1200" dirty="0"/>
              <a:t>* Esto solo sucederá si los estatus están habilitados tanto en SFAESTS como en SFARSTS, para todas las partes de periodo.</a:t>
            </a:r>
          </a:p>
        </p:txBody>
      </p:sp>
      <p:sp>
        <p:nvSpPr>
          <p:cNvPr id="3" name="Rectángulo 2">
            <a:extLst>
              <a:ext uri="{FF2B5EF4-FFF2-40B4-BE49-F238E27FC236}">
                <a16:creationId xmlns:a16="http://schemas.microsoft.com/office/drawing/2014/main" id="{6DB41842-F1C4-5093-9E07-F6CC44205901}"/>
              </a:ext>
            </a:extLst>
          </p:cNvPr>
          <p:cNvSpPr/>
          <p:nvPr/>
        </p:nvSpPr>
        <p:spPr>
          <a:xfrm>
            <a:off x="1031365" y="5755579"/>
            <a:ext cx="407730" cy="27354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5A458582-4549-5918-92A8-2FF062473506}"/>
              </a:ext>
            </a:extLst>
          </p:cNvPr>
          <p:cNvSpPr/>
          <p:nvPr/>
        </p:nvSpPr>
        <p:spPr>
          <a:xfrm>
            <a:off x="10773879" y="5766700"/>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Tree>
    <p:extLst>
      <p:ext uri="{BB962C8B-B14F-4D97-AF65-F5344CB8AC3E}">
        <p14:creationId xmlns:p14="http://schemas.microsoft.com/office/powerpoint/2010/main" val="12488707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DA049-0598-9450-5DF0-FBA2CDD25A19}"/>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4D35C976-D494-3F36-9C8B-FA04AE4C2B74}"/>
              </a:ext>
            </a:extLst>
          </p:cNvPr>
          <p:cNvPicPr>
            <a:picLocks noChangeAspect="1"/>
          </p:cNvPicPr>
          <p:nvPr/>
        </p:nvPicPr>
        <p:blipFill>
          <a:blip r:embed="rId3"/>
          <a:stretch>
            <a:fillRect/>
          </a:stretch>
        </p:blipFill>
        <p:spPr>
          <a:xfrm>
            <a:off x="775507" y="1073808"/>
            <a:ext cx="10975550" cy="4833375"/>
          </a:xfrm>
          <a:prstGeom prst="rect">
            <a:avLst/>
          </a:prstGeom>
        </p:spPr>
      </p:pic>
      <p:sp>
        <p:nvSpPr>
          <p:cNvPr id="2" name="Marcador de texto vertical 1">
            <a:extLst>
              <a:ext uri="{FF2B5EF4-FFF2-40B4-BE49-F238E27FC236}">
                <a16:creationId xmlns:a16="http://schemas.microsoft.com/office/drawing/2014/main" id="{1BD2F658-DA7F-F741-7D6B-3D90C9C93503}"/>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4E3C9804-2A3E-DFC7-7E6E-7B9D974A7203}"/>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6" name="Rectángulo redondeado 15">
            <a:extLst>
              <a:ext uri="{FF2B5EF4-FFF2-40B4-BE49-F238E27FC236}">
                <a16:creationId xmlns:a16="http://schemas.microsoft.com/office/drawing/2014/main" id="{6EE5B609-F33C-9EBF-7339-F83DEA75D25B}"/>
              </a:ext>
            </a:extLst>
          </p:cNvPr>
          <p:cNvSpPr/>
          <p:nvPr/>
        </p:nvSpPr>
        <p:spPr>
          <a:xfrm>
            <a:off x="1701800" y="567517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17" name="Rectángulo 16">
            <a:extLst>
              <a:ext uri="{FF2B5EF4-FFF2-40B4-BE49-F238E27FC236}">
                <a16:creationId xmlns:a16="http://schemas.microsoft.com/office/drawing/2014/main" id="{73682150-8104-A8E9-CBC5-9F9FB9C2C5E2}"/>
              </a:ext>
            </a:extLst>
          </p:cNvPr>
          <p:cNvSpPr/>
          <p:nvPr/>
        </p:nvSpPr>
        <p:spPr>
          <a:xfrm>
            <a:off x="11307624" y="5622242"/>
            <a:ext cx="530752" cy="3057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D8740061-E867-A2A4-62ED-969A6EA15A24}"/>
              </a:ext>
            </a:extLst>
          </p:cNvPr>
          <p:cNvSpPr/>
          <p:nvPr/>
        </p:nvSpPr>
        <p:spPr>
          <a:xfrm>
            <a:off x="2047389" y="4876355"/>
            <a:ext cx="8817427" cy="181643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9. Al dar bloque siguiente se borran los NRC</a:t>
            </a:r>
          </a:p>
          <a:p>
            <a:r>
              <a:rPr lang="es-ES_tradnl" sz="1200" dirty="0"/>
              <a:t>10. Guarde la información</a:t>
            </a:r>
          </a:p>
          <a:p>
            <a:pPr marL="228600" indent="-228600">
              <a:buFont typeface="+mj-lt"/>
              <a:buAutoNum type="arabicPeriod" startAt="8"/>
            </a:pPr>
            <a:endParaRPr lang="es-ES_tradnl" sz="1200" dirty="0"/>
          </a:p>
          <a:p>
            <a:r>
              <a:rPr lang="es-ES_tradnl" sz="1200" dirty="0"/>
              <a:t>* Esto solo sucederá si los estatus están habilitados tanto en SFAESTS como en SFARSTS, para todas las partes de periodo.</a:t>
            </a:r>
          </a:p>
        </p:txBody>
      </p:sp>
      <p:sp>
        <p:nvSpPr>
          <p:cNvPr id="3" name="Rectángulo 2">
            <a:extLst>
              <a:ext uri="{FF2B5EF4-FFF2-40B4-BE49-F238E27FC236}">
                <a16:creationId xmlns:a16="http://schemas.microsoft.com/office/drawing/2014/main" id="{8EF3FBE1-916B-7468-2BE9-AF8A56C9DE72}"/>
              </a:ext>
            </a:extLst>
          </p:cNvPr>
          <p:cNvSpPr/>
          <p:nvPr/>
        </p:nvSpPr>
        <p:spPr>
          <a:xfrm>
            <a:off x="1015385" y="5699214"/>
            <a:ext cx="407730" cy="27354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90232241-ED97-9ED4-3708-D9905D2FBF90}"/>
              </a:ext>
            </a:extLst>
          </p:cNvPr>
          <p:cNvSpPr/>
          <p:nvPr/>
        </p:nvSpPr>
        <p:spPr>
          <a:xfrm>
            <a:off x="10773879" y="5766700"/>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Tree>
    <p:extLst>
      <p:ext uri="{BB962C8B-B14F-4D97-AF65-F5344CB8AC3E}">
        <p14:creationId xmlns:p14="http://schemas.microsoft.com/office/powerpoint/2010/main" val="8018909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C79F4-3BD3-8691-DEBB-03BF6B66FC72}"/>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4A411866-C3D9-A18F-05D3-BDB0E57101D6}"/>
              </a:ext>
            </a:extLst>
          </p:cNvPr>
          <p:cNvSpPr>
            <a:spLocks noGrp="1"/>
          </p:cNvSpPr>
          <p:nvPr>
            <p:ph type="body" sz="quarter" idx="10"/>
          </p:nvPr>
        </p:nvSpPr>
        <p:spPr>
          <a:xfrm>
            <a:off x="914399" y="2238843"/>
            <a:ext cx="10363202" cy="669094"/>
          </a:xfrm>
        </p:spPr>
        <p:txBody>
          <a:bodyPr/>
          <a:lstStyle/>
          <a:p>
            <a:r>
              <a:rPr lang="es-419" dirty="0"/>
              <a:t>Captura masiva de inscripción</a:t>
            </a:r>
          </a:p>
        </p:txBody>
      </p:sp>
      <p:sp>
        <p:nvSpPr>
          <p:cNvPr id="2" name="Marcador de texto vertical 1">
            <a:extLst>
              <a:ext uri="{FF2B5EF4-FFF2-40B4-BE49-F238E27FC236}">
                <a16:creationId xmlns:a16="http://schemas.microsoft.com/office/drawing/2014/main" id="{AD9EB6F5-1DF7-02CE-1550-12A477BDAE1A}"/>
              </a:ext>
            </a:extLst>
          </p:cNvPr>
          <p:cNvSpPr>
            <a:spLocks noGrp="1"/>
          </p:cNvSpPr>
          <p:nvPr>
            <p:ph type="body" sz="quarter" idx="11"/>
          </p:nvPr>
        </p:nvSpPr>
        <p:spPr/>
        <p:txBody>
          <a:bodyPr vert="horz" lIns="0" tIns="0" rIns="0" bIns="0" rtlCol="0">
            <a:spAutoFit/>
          </a:bodyPr>
          <a:lstStyle/>
          <a:p>
            <a:r>
              <a:rPr lang="es-419" dirty="0"/>
              <a:t>Gestionar retiro de cursos</a:t>
            </a:r>
          </a:p>
        </p:txBody>
      </p:sp>
    </p:spTree>
    <p:extLst>
      <p:ext uri="{BB962C8B-B14F-4D97-AF65-F5344CB8AC3E}">
        <p14:creationId xmlns:p14="http://schemas.microsoft.com/office/powerpoint/2010/main" val="18265253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DD859-C160-64AD-9878-1730C29F0A16}"/>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70F16FD-BF44-F5A1-B6FC-A5062BB25F44}"/>
              </a:ext>
            </a:extLst>
          </p:cNvPr>
          <p:cNvPicPr>
            <a:picLocks noChangeAspect="1"/>
          </p:cNvPicPr>
          <p:nvPr/>
        </p:nvPicPr>
        <p:blipFill>
          <a:blip r:embed="rId3"/>
          <a:stretch>
            <a:fillRect/>
          </a:stretch>
        </p:blipFill>
        <p:spPr>
          <a:xfrm>
            <a:off x="842285" y="998712"/>
            <a:ext cx="10920585" cy="4860574"/>
          </a:xfrm>
          <a:prstGeom prst="rect">
            <a:avLst/>
          </a:prstGeom>
        </p:spPr>
      </p:pic>
      <p:sp>
        <p:nvSpPr>
          <p:cNvPr id="2" name="Marcador de texto vertical 1">
            <a:extLst>
              <a:ext uri="{FF2B5EF4-FFF2-40B4-BE49-F238E27FC236}">
                <a16:creationId xmlns:a16="http://schemas.microsoft.com/office/drawing/2014/main" id="{71867494-A525-E6D7-B99B-4D351FB1A56F}"/>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EFFAE9E4-419A-D8A3-9415-56E8CA7861AA}"/>
              </a:ext>
            </a:extLst>
          </p:cNvPr>
          <p:cNvSpPr>
            <a:spLocks noGrp="1"/>
          </p:cNvSpPr>
          <p:nvPr>
            <p:ph type="title"/>
          </p:nvPr>
        </p:nvSpPr>
        <p:spPr>
          <a:xfrm>
            <a:off x="938996" y="304614"/>
            <a:ext cx="10477497" cy="898555"/>
          </a:xfrm>
        </p:spPr>
        <p:txBody>
          <a:bodyPr/>
          <a:lstStyle/>
          <a:p>
            <a:r>
              <a:rPr lang="es-419" dirty="0">
                <a:solidFill>
                  <a:schemeClr val="tx2"/>
                </a:solidFill>
              </a:rPr>
              <a:t>Captura masiva de inscripción (SFAMREG)</a:t>
            </a:r>
            <a:endParaRPr lang="es-ES_tradnl" dirty="0">
              <a:solidFill>
                <a:schemeClr val="tx2"/>
              </a:solidFill>
            </a:endParaRPr>
          </a:p>
        </p:txBody>
      </p:sp>
      <p:sp>
        <p:nvSpPr>
          <p:cNvPr id="6" name="Rectángulo: esquinas redondeadas 5">
            <a:extLst>
              <a:ext uri="{FF2B5EF4-FFF2-40B4-BE49-F238E27FC236}">
                <a16:creationId xmlns:a16="http://schemas.microsoft.com/office/drawing/2014/main" id="{8294AC58-3E9C-FDE9-CF92-72DBD39DDEB2}"/>
              </a:ext>
            </a:extLst>
          </p:cNvPr>
          <p:cNvSpPr/>
          <p:nvPr/>
        </p:nvSpPr>
        <p:spPr>
          <a:xfrm>
            <a:off x="2778359" y="2419603"/>
            <a:ext cx="6798770" cy="12954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SFAMREG permite realizar aun actualización masiva a los estados de inscripción de un NRC para población determinada</a:t>
            </a:r>
          </a:p>
        </p:txBody>
      </p:sp>
    </p:spTree>
    <p:extLst>
      <p:ext uri="{BB962C8B-B14F-4D97-AF65-F5344CB8AC3E}">
        <p14:creationId xmlns:p14="http://schemas.microsoft.com/office/powerpoint/2010/main" val="19054912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562F0-68E8-B449-A261-2757E82095CF}"/>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FBAE2A9C-9AB5-30E6-807C-33F02DB6534F}"/>
              </a:ext>
            </a:extLst>
          </p:cNvPr>
          <p:cNvPicPr>
            <a:picLocks noChangeAspect="1"/>
          </p:cNvPicPr>
          <p:nvPr/>
        </p:nvPicPr>
        <p:blipFill>
          <a:blip r:embed="rId3"/>
          <a:stretch>
            <a:fillRect/>
          </a:stretch>
        </p:blipFill>
        <p:spPr>
          <a:xfrm>
            <a:off x="906893" y="1145104"/>
            <a:ext cx="10203067" cy="4413866"/>
          </a:xfrm>
          <a:prstGeom prst="rect">
            <a:avLst/>
          </a:prstGeom>
        </p:spPr>
      </p:pic>
      <p:sp>
        <p:nvSpPr>
          <p:cNvPr id="2" name="Marcador de texto vertical 1">
            <a:extLst>
              <a:ext uri="{FF2B5EF4-FFF2-40B4-BE49-F238E27FC236}">
                <a16:creationId xmlns:a16="http://schemas.microsoft.com/office/drawing/2014/main" id="{43E6868B-3800-7B06-AC26-3B9ED450CD94}"/>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3796F12C-DB9A-FA96-ABD4-7D51B385E4B2}"/>
              </a:ext>
            </a:extLst>
          </p:cNvPr>
          <p:cNvSpPr>
            <a:spLocks noGrp="1"/>
          </p:cNvSpPr>
          <p:nvPr>
            <p:ph type="title"/>
          </p:nvPr>
        </p:nvSpPr>
        <p:spPr>
          <a:xfrm>
            <a:off x="957284" y="140491"/>
            <a:ext cx="10477497" cy="898555"/>
          </a:xfrm>
        </p:spPr>
        <p:txBody>
          <a:bodyPr/>
          <a:lstStyle/>
          <a:p>
            <a:r>
              <a:rPr lang="es-419" dirty="0">
                <a:solidFill>
                  <a:schemeClr val="tx2"/>
                </a:solidFill>
              </a:rPr>
              <a:t>Captura masiva de inscripción (SFAMREG)</a:t>
            </a:r>
            <a:endParaRPr lang="es-ES_tradnl" b="0" dirty="0"/>
          </a:p>
        </p:txBody>
      </p:sp>
      <p:sp>
        <p:nvSpPr>
          <p:cNvPr id="6" name="Rectángulo: esquinas redondeadas 5">
            <a:extLst>
              <a:ext uri="{FF2B5EF4-FFF2-40B4-BE49-F238E27FC236}">
                <a16:creationId xmlns:a16="http://schemas.microsoft.com/office/drawing/2014/main" id="{9D786F6D-63DF-64D3-73ED-31DD1C7F2EA3}"/>
              </a:ext>
            </a:extLst>
          </p:cNvPr>
          <p:cNvSpPr/>
          <p:nvPr/>
        </p:nvSpPr>
        <p:spPr>
          <a:xfrm>
            <a:off x="2280114" y="5096475"/>
            <a:ext cx="8458200" cy="12954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En la primera pestaña ‘Buscar’ se han de ingresar los parámetros necesarios para identificar la población objetivo de la cual se actualizarían sus registros de inscripción. </a:t>
            </a:r>
          </a:p>
          <a:p>
            <a:pPr marL="228600" indent="-228600">
              <a:buFont typeface="+mj-lt"/>
              <a:buAutoNum type="arabicPeriod"/>
            </a:pPr>
            <a:r>
              <a:rPr lang="es-ES_tradnl" sz="1200" dirty="0"/>
              <a:t>Ingrese los criterios de búsqueda de los estudiantes a los que se les retirará el curso, o </a:t>
            </a:r>
          </a:p>
          <a:p>
            <a:pPr marL="228600" indent="-228600">
              <a:buFont typeface="+mj-lt"/>
              <a:buAutoNum type="arabicPeriod"/>
            </a:pPr>
            <a:r>
              <a:rPr lang="es-ES_tradnl" sz="1200" dirty="0"/>
              <a:t>Ingrese el código de selección de población para que los estudiantes objeto del retiro estén definidos sin necesidad de usar las variables anteriores. </a:t>
            </a:r>
          </a:p>
          <a:p>
            <a:pPr marL="228600" indent="-228600">
              <a:buFont typeface="+mj-lt"/>
              <a:buAutoNum type="arabicPeriod"/>
            </a:pPr>
            <a:r>
              <a:rPr lang="es-ES_tradnl" sz="1200" dirty="0"/>
              <a:t>Cargado los parámetros de búsqueda pase al siguiente bloque</a:t>
            </a:r>
          </a:p>
        </p:txBody>
      </p:sp>
      <p:sp>
        <p:nvSpPr>
          <p:cNvPr id="3" name="Rectángulo 2">
            <a:extLst>
              <a:ext uri="{FF2B5EF4-FFF2-40B4-BE49-F238E27FC236}">
                <a16:creationId xmlns:a16="http://schemas.microsoft.com/office/drawing/2014/main" id="{34E0220B-A30D-BEAD-D023-C0CDA903071C}"/>
              </a:ext>
            </a:extLst>
          </p:cNvPr>
          <p:cNvSpPr/>
          <p:nvPr/>
        </p:nvSpPr>
        <p:spPr>
          <a:xfrm>
            <a:off x="957285" y="1371144"/>
            <a:ext cx="458004"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59AEFAE1-8D27-84BB-1EC6-791A1118485E}"/>
              </a:ext>
            </a:extLst>
          </p:cNvPr>
          <p:cNvSpPr/>
          <p:nvPr/>
        </p:nvSpPr>
        <p:spPr>
          <a:xfrm>
            <a:off x="8717788" y="160058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7" name="Rectángulo redondeado 15">
            <a:extLst>
              <a:ext uri="{FF2B5EF4-FFF2-40B4-BE49-F238E27FC236}">
                <a16:creationId xmlns:a16="http://schemas.microsoft.com/office/drawing/2014/main" id="{2FF90A21-262B-43C6-5603-D34835806DA9}"/>
              </a:ext>
            </a:extLst>
          </p:cNvPr>
          <p:cNvSpPr/>
          <p:nvPr/>
        </p:nvSpPr>
        <p:spPr>
          <a:xfrm>
            <a:off x="1650198" y="533642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8" name="Rectángulo 7">
            <a:extLst>
              <a:ext uri="{FF2B5EF4-FFF2-40B4-BE49-F238E27FC236}">
                <a16:creationId xmlns:a16="http://schemas.microsoft.com/office/drawing/2014/main" id="{8AE9280A-9098-AA2E-FB2A-B2AB1AE36EFC}"/>
              </a:ext>
            </a:extLst>
          </p:cNvPr>
          <p:cNvSpPr/>
          <p:nvPr/>
        </p:nvSpPr>
        <p:spPr>
          <a:xfrm>
            <a:off x="906893" y="4479469"/>
            <a:ext cx="8243106" cy="53356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8">
            <a:extLst>
              <a:ext uri="{FF2B5EF4-FFF2-40B4-BE49-F238E27FC236}">
                <a16:creationId xmlns:a16="http://schemas.microsoft.com/office/drawing/2014/main" id="{45A2A53C-06D8-64F4-79D3-623F0FB3977B}"/>
              </a:ext>
            </a:extLst>
          </p:cNvPr>
          <p:cNvSpPr/>
          <p:nvPr/>
        </p:nvSpPr>
        <p:spPr>
          <a:xfrm>
            <a:off x="957283" y="1601980"/>
            <a:ext cx="7709705" cy="261258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6EAF8474-79CB-0395-4298-FA997F0CA42B}"/>
              </a:ext>
            </a:extLst>
          </p:cNvPr>
          <p:cNvSpPr/>
          <p:nvPr/>
        </p:nvSpPr>
        <p:spPr>
          <a:xfrm>
            <a:off x="9189021" y="458543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1" name="Rectángulo 10">
            <a:extLst>
              <a:ext uri="{FF2B5EF4-FFF2-40B4-BE49-F238E27FC236}">
                <a16:creationId xmlns:a16="http://schemas.microsoft.com/office/drawing/2014/main" id="{292969E5-6AA8-A77D-9361-DD49EC9F9411}"/>
              </a:ext>
            </a:extLst>
          </p:cNvPr>
          <p:cNvSpPr/>
          <p:nvPr/>
        </p:nvSpPr>
        <p:spPr>
          <a:xfrm>
            <a:off x="1272419" y="5348309"/>
            <a:ext cx="258270" cy="1832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2333261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84B2-EAD1-28B7-CB83-74B8ECD5AEC3}"/>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D5F8FA11-6065-1420-9929-CE31145CD4EE}"/>
              </a:ext>
            </a:extLst>
          </p:cNvPr>
          <p:cNvPicPr>
            <a:picLocks noChangeAspect="1"/>
          </p:cNvPicPr>
          <p:nvPr/>
        </p:nvPicPr>
        <p:blipFill>
          <a:blip r:embed="rId3"/>
          <a:stretch>
            <a:fillRect/>
          </a:stretch>
        </p:blipFill>
        <p:spPr>
          <a:xfrm>
            <a:off x="775507" y="1113589"/>
            <a:ext cx="11211709" cy="4895254"/>
          </a:xfrm>
          <a:prstGeom prst="rect">
            <a:avLst/>
          </a:prstGeom>
        </p:spPr>
      </p:pic>
      <p:sp>
        <p:nvSpPr>
          <p:cNvPr id="2" name="Marcador de texto vertical 1">
            <a:extLst>
              <a:ext uri="{FF2B5EF4-FFF2-40B4-BE49-F238E27FC236}">
                <a16:creationId xmlns:a16="http://schemas.microsoft.com/office/drawing/2014/main" id="{0750C98D-AF1C-BCFD-AC58-61769C0AF783}"/>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7074F535-1038-E610-6C94-AFD7BAD9B542}"/>
              </a:ext>
            </a:extLst>
          </p:cNvPr>
          <p:cNvSpPr>
            <a:spLocks noGrp="1"/>
          </p:cNvSpPr>
          <p:nvPr>
            <p:ph type="title"/>
          </p:nvPr>
        </p:nvSpPr>
        <p:spPr>
          <a:xfrm>
            <a:off x="938996" y="304614"/>
            <a:ext cx="10477497" cy="898555"/>
          </a:xfrm>
        </p:spPr>
        <p:txBody>
          <a:bodyPr/>
          <a:lstStyle/>
          <a:p>
            <a:r>
              <a:rPr lang="es-419" dirty="0">
                <a:solidFill>
                  <a:schemeClr val="tx2"/>
                </a:solidFill>
              </a:rPr>
              <a:t>Captura masiva de inscripción (SFAMREG)</a:t>
            </a:r>
            <a:endParaRPr lang="es-ES_tradnl" b="0" dirty="0"/>
          </a:p>
        </p:txBody>
      </p:sp>
      <p:sp>
        <p:nvSpPr>
          <p:cNvPr id="6" name="Rectángulo: esquinas redondeadas 5">
            <a:extLst>
              <a:ext uri="{FF2B5EF4-FFF2-40B4-BE49-F238E27FC236}">
                <a16:creationId xmlns:a16="http://schemas.microsoft.com/office/drawing/2014/main" id="{C7110994-579C-0AD2-C115-508BE81E779E}"/>
              </a:ext>
            </a:extLst>
          </p:cNvPr>
          <p:cNvSpPr/>
          <p:nvPr/>
        </p:nvSpPr>
        <p:spPr>
          <a:xfrm>
            <a:off x="3381953" y="3266543"/>
            <a:ext cx="8458200" cy="12954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ES_tradnl" sz="1200" dirty="0"/>
              <a:t>En la pestaña ‘Actualizar’ ingrese o seleccione el </a:t>
            </a:r>
            <a:r>
              <a:rPr lang="es-419" sz="1200" dirty="0"/>
              <a:t>NRC a retirar </a:t>
            </a:r>
            <a:endParaRPr lang="es-ES_tradnl" sz="1200" dirty="0"/>
          </a:p>
          <a:p>
            <a:pPr marL="228600" indent="-228600">
              <a:buFont typeface="+mj-lt"/>
              <a:buAutoNum type="arabicPeriod" startAt="4"/>
            </a:pPr>
            <a:r>
              <a:rPr lang="es-ES_tradnl" sz="1200" dirty="0"/>
              <a:t>Ingrese el código de estatus con el cual se debe dejar el NRC. </a:t>
            </a:r>
          </a:p>
          <a:p>
            <a:pPr marL="228600" indent="-228600">
              <a:buFont typeface="+mj-lt"/>
              <a:buAutoNum type="arabicPeriod" startAt="4"/>
            </a:pPr>
            <a:r>
              <a:rPr lang="es-ES_tradnl" sz="1200" dirty="0"/>
              <a:t>Cargado los parámetros de actualización pase al siguiente bloque</a:t>
            </a:r>
          </a:p>
        </p:txBody>
      </p:sp>
      <p:sp>
        <p:nvSpPr>
          <p:cNvPr id="3" name="Rectángulo 2">
            <a:extLst>
              <a:ext uri="{FF2B5EF4-FFF2-40B4-BE49-F238E27FC236}">
                <a16:creationId xmlns:a16="http://schemas.microsoft.com/office/drawing/2014/main" id="{0C7E2EC5-9549-C351-E608-3B2738E5C388}"/>
              </a:ext>
            </a:extLst>
          </p:cNvPr>
          <p:cNvSpPr/>
          <p:nvPr/>
        </p:nvSpPr>
        <p:spPr>
          <a:xfrm>
            <a:off x="1435652" y="4999087"/>
            <a:ext cx="1142448" cy="16889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ABB07172-84AD-82E4-B8AB-9CC0E10EA6A7}"/>
              </a:ext>
            </a:extLst>
          </p:cNvPr>
          <p:cNvSpPr/>
          <p:nvPr/>
        </p:nvSpPr>
        <p:spPr>
          <a:xfrm>
            <a:off x="2680507" y="503718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7" name="Rectángulo redondeado 15">
            <a:extLst>
              <a:ext uri="{FF2B5EF4-FFF2-40B4-BE49-F238E27FC236}">
                <a16:creationId xmlns:a16="http://schemas.microsoft.com/office/drawing/2014/main" id="{EB000EB5-DDBB-456D-6CE1-4B28957E5AE2}"/>
              </a:ext>
            </a:extLst>
          </p:cNvPr>
          <p:cNvSpPr/>
          <p:nvPr/>
        </p:nvSpPr>
        <p:spPr>
          <a:xfrm>
            <a:off x="1578959" y="583242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8" name="Rectángulo 7">
            <a:extLst>
              <a:ext uri="{FF2B5EF4-FFF2-40B4-BE49-F238E27FC236}">
                <a16:creationId xmlns:a16="http://schemas.microsoft.com/office/drawing/2014/main" id="{FD89FFC4-9AA8-C9FB-DBE3-5EFB7C4F104D}"/>
              </a:ext>
            </a:extLst>
          </p:cNvPr>
          <p:cNvSpPr/>
          <p:nvPr/>
        </p:nvSpPr>
        <p:spPr>
          <a:xfrm>
            <a:off x="6680200" y="4999087"/>
            <a:ext cx="2212346" cy="32221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29E86D63-1D40-9187-64F6-CAFD2ECB3BFC}"/>
              </a:ext>
            </a:extLst>
          </p:cNvPr>
          <p:cNvSpPr/>
          <p:nvPr/>
        </p:nvSpPr>
        <p:spPr>
          <a:xfrm>
            <a:off x="8912870" y="495678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1" name="Rectángulo 10">
            <a:extLst>
              <a:ext uri="{FF2B5EF4-FFF2-40B4-BE49-F238E27FC236}">
                <a16:creationId xmlns:a16="http://schemas.microsoft.com/office/drawing/2014/main" id="{6F8D642E-EC26-DCAB-7419-FBB68F2243B2}"/>
              </a:ext>
            </a:extLst>
          </p:cNvPr>
          <p:cNvSpPr/>
          <p:nvPr/>
        </p:nvSpPr>
        <p:spPr>
          <a:xfrm>
            <a:off x="1188724" y="5626732"/>
            <a:ext cx="347976" cy="36650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14">
            <a:extLst>
              <a:ext uri="{FF2B5EF4-FFF2-40B4-BE49-F238E27FC236}">
                <a16:creationId xmlns:a16="http://schemas.microsoft.com/office/drawing/2014/main" id="{5762E2FA-0DD1-C3DE-08C0-E87B26ED6EC7}"/>
              </a:ext>
            </a:extLst>
          </p:cNvPr>
          <p:cNvSpPr/>
          <p:nvPr/>
        </p:nvSpPr>
        <p:spPr>
          <a:xfrm>
            <a:off x="1131204" y="1356273"/>
            <a:ext cx="719742" cy="16889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5380704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043F7-AB16-99D8-ABF7-06E08A5DF7CF}"/>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5FEFBCD6-D7B9-F0AD-2B8A-D6A57367BE93}"/>
              </a:ext>
            </a:extLst>
          </p:cNvPr>
          <p:cNvPicPr>
            <a:picLocks noChangeAspect="1"/>
          </p:cNvPicPr>
          <p:nvPr/>
        </p:nvPicPr>
        <p:blipFill>
          <a:blip r:embed="rId3"/>
          <a:stretch>
            <a:fillRect/>
          </a:stretch>
        </p:blipFill>
        <p:spPr>
          <a:xfrm>
            <a:off x="938997" y="1188556"/>
            <a:ext cx="11253003" cy="4983642"/>
          </a:xfrm>
          <a:prstGeom prst="rect">
            <a:avLst/>
          </a:prstGeom>
        </p:spPr>
      </p:pic>
      <p:sp>
        <p:nvSpPr>
          <p:cNvPr id="2" name="Marcador de texto vertical 1">
            <a:extLst>
              <a:ext uri="{FF2B5EF4-FFF2-40B4-BE49-F238E27FC236}">
                <a16:creationId xmlns:a16="http://schemas.microsoft.com/office/drawing/2014/main" id="{B8CF5B8C-1C86-3E39-669A-09B357DDB33C}"/>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DC469AE6-7FEA-CA0B-4AF9-AFD5D14F8E91}"/>
              </a:ext>
            </a:extLst>
          </p:cNvPr>
          <p:cNvSpPr>
            <a:spLocks noGrp="1"/>
          </p:cNvSpPr>
          <p:nvPr>
            <p:ph type="title"/>
          </p:nvPr>
        </p:nvSpPr>
        <p:spPr>
          <a:xfrm>
            <a:off x="938996" y="304614"/>
            <a:ext cx="10477497" cy="898555"/>
          </a:xfrm>
        </p:spPr>
        <p:txBody>
          <a:bodyPr/>
          <a:lstStyle/>
          <a:p>
            <a:r>
              <a:rPr lang="es-419" dirty="0">
                <a:solidFill>
                  <a:schemeClr val="tx2"/>
                </a:solidFill>
              </a:rPr>
              <a:t>Captura masiva de inscripción (SFAMREG)</a:t>
            </a:r>
            <a:endParaRPr lang="es-ES_tradnl" b="0" dirty="0"/>
          </a:p>
        </p:txBody>
      </p:sp>
      <p:sp>
        <p:nvSpPr>
          <p:cNvPr id="6" name="Rectángulo: esquinas redondeadas 5">
            <a:extLst>
              <a:ext uri="{FF2B5EF4-FFF2-40B4-BE49-F238E27FC236}">
                <a16:creationId xmlns:a16="http://schemas.microsoft.com/office/drawing/2014/main" id="{89E07DFC-7010-03D8-41BB-D8901508E24E}"/>
              </a:ext>
            </a:extLst>
          </p:cNvPr>
          <p:cNvSpPr/>
          <p:nvPr/>
        </p:nvSpPr>
        <p:spPr>
          <a:xfrm>
            <a:off x="2154841" y="5524498"/>
            <a:ext cx="8458200" cy="12954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7"/>
            </a:pPr>
            <a:r>
              <a:rPr lang="es-ES_tradnl" sz="1200" dirty="0"/>
              <a:t>En la pestaña Verificación de errores se heredan los valores que en este sentido están configurados en la página SOATERM para el período de actualización; se sugiere no modificar estos valores a menos que sea estrictamente necesario.</a:t>
            </a:r>
          </a:p>
          <a:p>
            <a:pPr marL="228600" indent="-228600">
              <a:buFont typeface="+mj-lt"/>
              <a:buAutoNum type="arabicPeriod" startAt="7"/>
            </a:pPr>
            <a:r>
              <a:rPr lang="es-ES_tradnl" sz="1200" dirty="0"/>
              <a:t>Pase al siguiente bloque</a:t>
            </a:r>
          </a:p>
        </p:txBody>
      </p:sp>
      <p:sp>
        <p:nvSpPr>
          <p:cNvPr id="3" name="Rectángulo 2">
            <a:extLst>
              <a:ext uri="{FF2B5EF4-FFF2-40B4-BE49-F238E27FC236}">
                <a16:creationId xmlns:a16="http://schemas.microsoft.com/office/drawing/2014/main" id="{2BA16DBB-65CB-5EAF-A5DA-0CF74D127C23}"/>
              </a:ext>
            </a:extLst>
          </p:cNvPr>
          <p:cNvSpPr/>
          <p:nvPr/>
        </p:nvSpPr>
        <p:spPr>
          <a:xfrm>
            <a:off x="888195" y="1663994"/>
            <a:ext cx="10951958" cy="369540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A3402727-CB08-B5B4-9758-064B48CDB900}"/>
              </a:ext>
            </a:extLst>
          </p:cNvPr>
          <p:cNvSpPr/>
          <p:nvPr/>
        </p:nvSpPr>
        <p:spPr>
          <a:xfrm>
            <a:off x="609601" y="1625894"/>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7" name="Rectángulo redondeado 15">
            <a:extLst>
              <a:ext uri="{FF2B5EF4-FFF2-40B4-BE49-F238E27FC236}">
                <a16:creationId xmlns:a16="http://schemas.microsoft.com/office/drawing/2014/main" id="{B92D1C95-7072-F689-29E5-6FC484CCD1BA}"/>
              </a:ext>
            </a:extLst>
          </p:cNvPr>
          <p:cNvSpPr/>
          <p:nvPr/>
        </p:nvSpPr>
        <p:spPr>
          <a:xfrm>
            <a:off x="1578959" y="583242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sp>
        <p:nvSpPr>
          <p:cNvPr id="8" name="Rectángulo 7">
            <a:extLst>
              <a:ext uri="{FF2B5EF4-FFF2-40B4-BE49-F238E27FC236}">
                <a16:creationId xmlns:a16="http://schemas.microsoft.com/office/drawing/2014/main" id="{3CA6FDCF-E084-E2F6-8F4E-CBD28D7382F2}"/>
              </a:ext>
            </a:extLst>
          </p:cNvPr>
          <p:cNvSpPr/>
          <p:nvPr/>
        </p:nvSpPr>
        <p:spPr>
          <a:xfrm>
            <a:off x="1837229" y="1502887"/>
            <a:ext cx="969471" cy="17330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10">
            <a:extLst>
              <a:ext uri="{FF2B5EF4-FFF2-40B4-BE49-F238E27FC236}">
                <a16:creationId xmlns:a16="http://schemas.microsoft.com/office/drawing/2014/main" id="{7D66DE12-4435-4C2E-0494-3C8ABAAE2B73}"/>
              </a:ext>
            </a:extLst>
          </p:cNvPr>
          <p:cNvSpPr/>
          <p:nvPr/>
        </p:nvSpPr>
        <p:spPr>
          <a:xfrm>
            <a:off x="1195420" y="5820224"/>
            <a:ext cx="347976" cy="36650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4639255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87AF9-5DBB-8FB5-DEE4-25B90FB2E7B0}"/>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4B8FB39-32E6-BC77-956F-96E1943F895C}"/>
              </a:ext>
            </a:extLst>
          </p:cNvPr>
          <p:cNvPicPr>
            <a:picLocks noChangeAspect="1"/>
          </p:cNvPicPr>
          <p:nvPr/>
        </p:nvPicPr>
        <p:blipFill>
          <a:blip r:embed="rId3"/>
          <a:stretch>
            <a:fillRect/>
          </a:stretch>
        </p:blipFill>
        <p:spPr>
          <a:xfrm>
            <a:off x="938996" y="1163554"/>
            <a:ext cx="10728387" cy="4769419"/>
          </a:xfrm>
          <a:prstGeom prst="rect">
            <a:avLst/>
          </a:prstGeom>
        </p:spPr>
      </p:pic>
      <p:sp>
        <p:nvSpPr>
          <p:cNvPr id="2" name="Marcador de texto vertical 1">
            <a:extLst>
              <a:ext uri="{FF2B5EF4-FFF2-40B4-BE49-F238E27FC236}">
                <a16:creationId xmlns:a16="http://schemas.microsoft.com/office/drawing/2014/main" id="{CEAC0511-956C-8804-09F3-AB0ED80C095A}"/>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EBB2FE55-E894-661F-7E45-1C003826D080}"/>
              </a:ext>
            </a:extLst>
          </p:cNvPr>
          <p:cNvSpPr>
            <a:spLocks noGrp="1"/>
          </p:cNvSpPr>
          <p:nvPr>
            <p:ph type="title"/>
          </p:nvPr>
        </p:nvSpPr>
        <p:spPr>
          <a:xfrm>
            <a:off x="938996" y="304614"/>
            <a:ext cx="10477497" cy="898555"/>
          </a:xfrm>
        </p:spPr>
        <p:txBody>
          <a:bodyPr/>
          <a:lstStyle/>
          <a:p>
            <a:r>
              <a:rPr lang="es-419" dirty="0">
                <a:solidFill>
                  <a:schemeClr val="tx2"/>
                </a:solidFill>
              </a:rPr>
              <a:t>Captura masiva de inscripción (SFAMREG)</a:t>
            </a:r>
            <a:endParaRPr lang="es-ES_tradnl" b="0" dirty="0"/>
          </a:p>
        </p:txBody>
      </p:sp>
      <p:sp>
        <p:nvSpPr>
          <p:cNvPr id="6" name="Rectángulo: esquinas redondeadas 5">
            <a:extLst>
              <a:ext uri="{FF2B5EF4-FFF2-40B4-BE49-F238E27FC236}">
                <a16:creationId xmlns:a16="http://schemas.microsoft.com/office/drawing/2014/main" id="{831EC6AA-CAD1-3239-E3DA-F6EFF90767FD}"/>
              </a:ext>
            </a:extLst>
          </p:cNvPr>
          <p:cNvSpPr/>
          <p:nvPr/>
        </p:nvSpPr>
        <p:spPr>
          <a:xfrm>
            <a:off x="2324100" y="3986945"/>
            <a:ext cx="8458200" cy="143888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9"/>
            </a:pPr>
            <a:r>
              <a:rPr lang="es-ES_tradnl" sz="1200" dirty="0"/>
              <a:t>Al momento de ingresar a la última pestaña ‘Resultados’ se desplegará la lista de todos los estudiantes cuyos registros académicos coincidieran con lo informado en la pestaña ‘Buscar’ y que posean el NRC a eliminar. </a:t>
            </a:r>
          </a:p>
          <a:p>
            <a:pPr marL="228600" indent="-228600">
              <a:buFont typeface="+mj-lt"/>
              <a:buAutoNum type="arabicPeriod" startAt="9"/>
            </a:pPr>
            <a:r>
              <a:rPr lang="es-ES_tradnl" sz="1200" dirty="0"/>
              <a:t>Para concretar la actualización masiva del NRC, se han de seleccionar los estudiantes de interés ya sea Seleccionar todo (marca a todos los estudiantes de la lista) o marcando a los estudiantes individualmente. </a:t>
            </a:r>
          </a:p>
          <a:p>
            <a:pPr marL="228600" indent="-228600">
              <a:buFont typeface="+mj-lt"/>
              <a:buAutoNum type="arabicPeriod" startAt="9"/>
            </a:pPr>
            <a:r>
              <a:rPr lang="es-ES_tradnl" sz="1200" dirty="0"/>
              <a:t>Active la casilla ‘Enviar’ </a:t>
            </a:r>
          </a:p>
          <a:p>
            <a:pPr marL="228600" indent="-228600">
              <a:buFont typeface="+mj-lt"/>
              <a:buAutoNum type="arabicPeriod" startAt="9"/>
            </a:pPr>
            <a:r>
              <a:rPr lang="es-ES_tradnl" sz="1200" dirty="0"/>
              <a:t>Presione el botón Guardar para concretar la actualización</a:t>
            </a:r>
          </a:p>
        </p:txBody>
      </p:sp>
      <p:sp>
        <p:nvSpPr>
          <p:cNvPr id="3" name="Rectángulo 2">
            <a:extLst>
              <a:ext uri="{FF2B5EF4-FFF2-40B4-BE49-F238E27FC236}">
                <a16:creationId xmlns:a16="http://schemas.microsoft.com/office/drawing/2014/main" id="{B39CA6CF-B454-FA97-22E2-3DB51086EE2E}"/>
              </a:ext>
            </a:extLst>
          </p:cNvPr>
          <p:cNvSpPr/>
          <p:nvPr/>
        </p:nvSpPr>
        <p:spPr>
          <a:xfrm>
            <a:off x="7091677" y="1782273"/>
            <a:ext cx="749300" cy="30186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A9A44295-1A6A-7AD5-411B-2408253D9EF8}"/>
              </a:ext>
            </a:extLst>
          </p:cNvPr>
          <p:cNvSpPr/>
          <p:nvPr/>
        </p:nvSpPr>
        <p:spPr>
          <a:xfrm>
            <a:off x="3474725" y="1498600"/>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7" name="Rectángulo redondeado 15">
            <a:extLst>
              <a:ext uri="{FF2B5EF4-FFF2-40B4-BE49-F238E27FC236}">
                <a16:creationId xmlns:a16="http://schemas.microsoft.com/office/drawing/2014/main" id="{4ED65462-E1FD-AF7D-C0D8-5C3C6D8F3C55}"/>
              </a:ext>
            </a:extLst>
          </p:cNvPr>
          <p:cNvSpPr/>
          <p:nvPr/>
        </p:nvSpPr>
        <p:spPr>
          <a:xfrm>
            <a:off x="1243584" y="3730752"/>
            <a:ext cx="386786" cy="21737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
        <p:nvSpPr>
          <p:cNvPr id="8" name="Rectángulo 7">
            <a:extLst>
              <a:ext uri="{FF2B5EF4-FFF2-40B4-BE49-F238E27FC236}">
                <a16:creationId xmlns:a16="http://schemas.microsoft.com/office/drawing/2014/main" id="{764EC34C-04CF-E627-A052-2FEAC3F9FC38}"/>
              </a:ext>
            </a:extLst>
          </p:cNvPr>
          <p:cNvSpPr/>
          <p:nvPr/>
        </p:nvSpPr>
        <p:spPr>
          <a:xfrm>
            <a:off x="2726229" y="1498600"/>
            <a:ext cx="677371" cy="16539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10">
            <a:extLst>
              <a:ext uri="{FF2B5EF4-FFF2-40B4-BE49-F238E27FC236}">
                <a16:creationId xmlns:a16="http://schemas.microsoft.com/office/drawing/2014/main" id="{502D34EB-57ED-22A2-B9AE-CD4D6888D70A}"/>
              </a:ext>
            </a:extLst>
          </p:cNvPr>
          <p:cNvSpPr/>
          <p:nvPr/>
        </p:nvSpPr>
        <p:spPr>
          <a:xfrm>
            <a:off x="1708094" y="3645119"/>
            <a:ext cx="616006" cy="36650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11">
            <a:extLst>
              <a:ext uri="{FF2B5EF4-FFF2-40B4-BE49-F238E27FC236}">
                <a16:creationId xmlns:a16="http://schemas.microsoft.com/office/drawing/2014/main" id="{BEEBA63F-D2A8-2F94-A70E-A56139263D93}"/>
              </a:ext>
            </a:extLst>
          </p:cNvPr>
          <p:cNvSpPr/>
          <p:nvPr/>
        </p:nvSpPr>
        <p:spPr>
          <a:xfrm>
            <a:off x="1000762" y="2688408"/>
            <a:ext cx="749300" cy="30186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cxnSp>
        <p:nvCxnSpPr>
          <p:cNvPr id="15" name="Conector recto de flecha 14">
            <a:extLst>
              <a:ext uri="{FF2B5EF4-FFF2-40B4-BE49-F238E27FC236}">
                <a16:creationId xmlns:a16="http://schemas.microsoft.com/office/drawing/2014/main" id="{CB9C8262-C040-3BBC-2244-66CC3652D1EE}"/>
              </a:ext>
            </a:extLst>
          </p:cNvPr>
          <p:cNvCxnSpPr>
            <a:cxnSpLocks/>
          </p:cNvCxnSpPr>
          <p:nvPr/>
        </p:nvCxnSpPr>
        <p:spPr>
          <a:xfrm flipH="1">
            <a:off x="1708094" y="2084142"/>
            <a:ext cx="5758233" cy="9061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ctángulo redondeado 15">
            <a:extLst>
              <a:ext uri="{FF2B5EF4-FFF2-40B4-BE49-F238E27FC236}">
                <a16:creationId xmlns:a16="http://schemas.microsoft.com/office/drawing/2014/main" id="{3A8265F2-FF95-8DB8-7E19-537ED66E7FDE}"/>
              </a:ext>
            </a:extLst>
          </p:cNvPr>
          <p:cNvSpPr/>
          <p:nvPr/>
        </p:nvSpPr>
        <p:spPr>
          <a:xfrm>
            <a:off x="1620927" y="2537208"/>
            <a:ext cx="458530" cy="22427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10</a:t>
            </a:r>
          </a:p>
        </p:txBody>
      </p:sp>
    </p:spTree>
    <p:extLst>
      <p:ext uri="{BB962C8B-B14F-4D97-AF65-F5344CB8AC3E}">
        <p14:creationId xmlns:p14="http://schemas.microsoft.com/office/powerpoint/2010/main" val="36509812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9E904-9224-B6D4-41F6-96113C4C3DEE}"/>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5D822E57-E782-CB52-D2AF-17559C921E3D}"/>
              </a:ext>
            </a:extLst>
          </p:cNvPr>
          <p:cNvPicPr>
            <a:picLocks noChangeAspect="1"/>
          </p:cNvPicPr>
          <p:nvPr/>
        </p:nvPicPr>
        <p:blipFill>
          <a:blip r:embed="rId3"/>
          <a:stretch>
            <a:fillRect/>
          </a:stretch>
        </p:blipFill>
        <p:spPr>
          <a:xfrm>
            <a:off x="775507" y="964750"/>
            <a:ext cx="11035789" cy="4867540"/>
          </a:xfrm>
          <a:prstGeom prst="rect">
            <a:avLst/>
          </a:prstGeom>
        </p:spPr>
      </p:pic>
      <p:sp>
        <p:nvSpPr>
          <p:cNvPr id="2" name="Marcador de texto vertical 1">
            <a:extLst>
              <a:ext uri="{FF2B5EF4-FFF2-40B4-BE49-F238E27FC236}">
                <a16:creationId xmlns:a16="http://schemas.microsoft.com/office/drawing/2014/main" id="{2AF6B210-D96B-1BA9-8386-DCCBA58A46AF}"/>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71681FD0-1E2B-0932-CC5B-9C67495C56BF}"/>
              </a:ext>
            </a:extLst>
          </p:cNvPr>
          <p:cNvSpPr>
            <a:spLocks noGrp="1"/>
          </p:cNvSpPr>
          <p:nvPr>
            <p:ph type="title"/>
          </p:nvPr>
        </p:nvSpPr>
        <p:spPr>
          <a:xfrm>
            <a:off x="938996" y="304614"/>
            <a:ext cx="10477497" cy="898555"/>
          </a:xfrm>
        </p:spPr>
        <p:txBody>
          <a:bodyPr/>
          <a:lstStyle/>
          <a:p>
            <a:r>
              <a:rPr lang="es-419" dirty="0">
                <a:solidFill>
                  <a:schemeClr val="tx2"/>
                </a:solidFill>
              </a:rPr>
              <a:t>Captura masiva de inscripción (SFAMREG)</a:t>
            </a:r>
            <a:endParaRPr lang="es-ES_tradnl" b="0" dirty="0"/>
          </a:p>
        </p:txBody>
      </p:sp>
      <p:sp>
        <p:nvSpPr>
          <p:cNvPr id="6" name="Rectángulo: esquinas redondeadas 5">
            <a:extLst>
              <a:ext uri="{FF2B5EF4-FFF2-40B4-BE49-F238E27FC236}">
                <a16:creationId xmlns:a16="http://schemas.microsoft.com/office/drawing/2014/main" id="{8AB39F79-DFB7-B349-390A-A2C987D33C2C}"/>
              </a:ext>
            </a:extLst>
          </p:cNvPr>
          <p:cNvSpPr/>
          <p:nvPr/>
        </p:nvSpPr>
        <p:spPr>
          <a:xfrm>
            <a:off x="3805428" y="5159475"/>
            <a:ext cx="3656076" cy="89855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El sistema mostrará si se realizó el retiro con éxito</a:t>
            </a:r>
          </a:p>
        </p:txBody>
      </p:sp>
      <p:sp>
        <p:nvSpPr>
          <p:cNvPr id="3" name="Rectángulo 2">
            <a:extLst>
              <a:ext uri="{FF2B5EF4-FFF2-40B4-BE49-F238E27FC236}">
                <a16:creationId xmlns:a16="http://schemas.microsoft.com/office/drawing/2014/main" id="{AC2B4D4A-3714-626F-4373-FC35A1E08B4D}"/>
              </a:ext>
            </a:extLst>
          </p:cNvPr>
          <p:cNvSpPr/>
          <p:nvPr/>
        </p:nvSpPr>
        <p:spPr>
          <a:xfrm>
            <a:off x="10782299" y="2347478"/>
            <a:ext cx="1116163" cy="4140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cxnSp>
        <p:nvCxnSpPr>
          <p:cNvPr id="15" name="Conector recto de flecha 14">
            <a:extLst>
              <a:ext uri="{FF2B5EF4-FFF2-40B4-BE49-F238E27FC236}">
                <a16:creationId xmlns:a16="http://schemas.microsoft.com/office/drawing/2014/main" id="{512A0436-9419-0EA0-B8E2-BFB4A73F3D7E}"/>
              </a:ext>
            </a:extLst>
          </p:cNvPr>
          <p:cNvCxnSpPr>
            <a:cxnSpLocks/>
          </p:cNvCxnSpPr>
          <p:nvPr/>
        </p:nvCxnSpPr>
        <p:spPr>
          <a:xfrm flipH="1">
            <a:off x="7616952" y="2720175"/>
            <a:ext cx="4237281" cy="7088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84143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44645-43B8-6541-24C0-F85001DED09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CB93D10-EB83-D319-2ADD-E8EF5BDB69E9}"/>
              </a:ext>
            </a:extLst>
          </p:cNvPr>
          <p:cNvPicPr>
            <a:picLocks noChangeAspect="1"/>
          </p:cNvPicPr>
          <p:nvPr/>
        </p:nvPicPr>
        <p:blipFill>
          <a:blip r:embed="rId3"/>
          <a:stretch>
            <a:fillRect/>
          </a:stretch>
        </p:blipFill>
        <p:spPr>
          <a:xfrm>
            <a:off x="775507" y="960224"/>
            <a:ext cx="11131296" cy="4937550"/>
          </a:xfrm>
          <a:prstGeom prst="rect">
            <a:avLst/>
          </a:prstGeom>
        </p:spPr>
      </p:pic>
      <p:sp>
        <p:nvSpPr>
          <p:cNvPr id="2" name="Marcador de texto vertical 1">
            <a:extLst>
              <a:ext uri="{FF2B5EF4-FFF2-40B4-BE49-F238E27FC236}">
                <a16:creationId xmlns:a16="http://schemas.microsoft.com/office/drawing/2014/main" id="{EC4D8876-5529-8760-0C79-57163AA0B964}"/>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3" name="Title 12">
            <a:extLst>
              <a:ext uri="{FF2B5EF4-FFF2-40B4-BE49-F238E27FC236}">
                <a16:creationId xmlns:a16="http://schemas.microsoft.com/office/drawing/2014/main" id="{FD4C8418-FEDD-EA4C-75E1-481BAC98F431}"/>
              </a:ext>
            </a:extLst>
          </p:cNvPr>
          <p:cNvSpPr>
            <a:spLocks noGrp="1"/>
          </p:cNvSpPr>
          <p:nvPr>
            <p:ph type="title"/>
          </p:nvPr>
        </p:nvSpPr>
        <p:spPr>
          <a:xfrm>
            <a:off x="938996" y="304614"/>
            <a:ext cx="10477497" cy="898555"/>
          </a:xfrm>
        </p:spPr>
        <p:txBody>
          <a:bodyPr/>
          <a:lstStyle/>
          <a:p>
            <a:r>
              <a:rPr lang="es-CO" dirty="0">
                <a:solidFill>
                  <a:schemeClr val="tx2"/>
                </a:solidFill>
              </a:rPr>
              <a:t>Inscripción de curso de alumno (SFAREGS)</a:t>
            </a:r>
            <a:endParaRPr lang="es-ES_tradnl" b="0" dirty="0"/>
          </a:p>
        </p:txBody>
      </p:sp>
      <p:sp>
        <p:nvSpPr>
          <p:cNvPr id="6" name="Rectángulo: esquinas redondeadas 5">
            <a:extLst>
              <a:ext uri="{FF2B5EF4-FFF2-40B4-BE49-F238E27FC236}">
                <a16:creationId xmlns:a16="http://schemas.microsoft.com/office/drawing/2014/main" id="{30DEF60A-D995-766C-E133-0A2B1C7E51CD}"/>
              </a:ext>
            </a:extLst>
          </p:cNvPr>
          <p:cNvSpPr/>
          <p:nvPr/>
        </p:nvSpPr>
        <p:spPr>
          <a:xfrm>
            <a:off x="4802124" y="4645415"/>
            <a:ext cx="3656076" cy="89855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En SFAREGS se puede visualizar el estatus de DD</a:t>
            </a:r>
          </a:p>
        </p:txBody>
      </p:sp>
      <p:sp>
        <p:nvSpPr>
          <p:cNvPr id="3" name="Rectángulo 2">
            <a:extLst>
              <a:ext uri="{FF2B5EF4-FFF2-40B4-BE49-F238E27FC236}">
                <a16:creationId xmlns:a16="http://schemas.microsoft.com/office/drawing/2014/main" id="{E5A653D9-482C-C0C2-A1DE-7B5D9066D431}"/>
              </a:ext>
            </a:extLst>
          </p:cNvPr>
          <p:cNvSpPr/>
          <p:nvPr/>
        </p:nvSpPr>
        <p:spPr>
          <a:xfrm>
            <a:off x="6500789" y="3877604"/>
            <a:ext cx="1116163" cy="4140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1735431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retiro de cursos</a:t>
            </a:r>
            <a:endParaRPr lang="es-419"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1104900" y="1439434"/>
            <a:ext cx="7092820" cy="1520131"/>
          </a:xfrm>
        </p:spPr>
        <p:txBody>
          <a:bodyPr/>
          <a:lstStyle/>
          <a:p>
            <a:r>
              <a:rPr lang="en-US" sz="3600" dirty="0"/>
              <a:t>RESUMEN</a:t>
            </a:r>
          </a:p>
        </p:txBody>
      </p:sp>
      <p:sp>
        <p:nvSpPr>
          <p:cNvPr id="4" name="Marcador de texto 3">
            <a:extLst>
              <a:ext uri="{FF2B5EF4-FFF2-40B4-BE49-F238E27FC236}">
                <a16:creationId xmlns:a16="http://schemas.microsoft.com/office/drawing/2014/main" id="{8A55D40A-7837-68FF-D293-EE69FCEF404B}"/>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31134856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B8239-6096-8B04-FE02-27F762A4A3CF}"/>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2FFCFA04-98AE-5642-C7A0-944FF6D715BA}"/>
              </a:ext>
            </a:extLst>
          </p:cNvPr>
          <p:cNvSpPr>
            <a:spLocks noGrp="1"/>
          </p:cNvSpPr>
          <p:nvPr>
            <p:ph type="body" sz="quarter" idx="18"/>
          </p:nvPr>
        </p:nvSpPr>
        <p:spPr>
          <a:xfrm>
            <a:off x="857250" y="1401574"/>
            <a:ext cx="10477499" cy="4267198"/>
          </a:xfrm>
        </p:spPr>
        <p:txBody>
          <a:bodyPr/>
          <a:lstStyle/>
          <a:p>
            <a:pPr algn="just">
              <a:buClr>
                <a:schemeClr val="tx1"/>
              </a:buClr>
              <a:buFont typeface="Wingdings" panose="05000000000000000000" pitchFamily="2" charset="2"/>
              <a:buChar char="v"/>
            </a:pPr>
            <a:endParaRPr lang="es-419" sz="2000" dirty="0"/>
          </a:p>
          <a:p>
            <a:pPr algn="just">
              <a:buClr>
                <a:schemeClr val="tx1"/>
              </a:buClr>
              <a:buFont typeface="Wingdings" panose="05000000000000000000" pitchFamily="2" charset="2"/>
              <a:buChar char="v"/>
            </a:pPr>
            <a:r>
              <a:rPr lang="es-419" sz="2000" dirty="0"/>
              <a:t>Ellucian Student permite realizar la el retiro de asignaturas directamente desde el </a:t>
            </a:r>
            <a:r>
              <a:rPr lang="es-419" sz="2000" dirty="0" err="1"/>
              <a:t>backoffice</a:t>
            </a:r>
            <a:r>
              <a:rPr lang="es-419" sz="2000" dirty="0"/>
              <a:t> (SFAREGS), utilizando la asignación de un estatus de inscripción de cursos que corresponda a una condición de ‘Retiro’ (</a:t>
            </a:r>
            <a:r>
              <a:rPr lang="es-419" sz="2000" dirty="0" err="1"/>
              <a:t>ej</a:t>
            </a:r>
            <a:r>
              <a:rPr lang="es-419" sz="2000" dirty="0"/>
              <a:t>: ‘DD’ o ‘DW’) o bien a un retiro total de los NRC inscriptos para un periodo utilizando la casilla ‘Eliminar todos los NRC’.</a:t>
            </a:r>
          </a:p>
          <a:p>
            <a:pPr algn="just">
              <a:buClr>
                <a:schemeClr val="tx1"/>
              </a:buClr>
              <a:buFont typeface="Wingdings" panose="05000000000000000000" pitchFamily="2" charset="2"/>
              <a:buChar char="v"/>
            </a:pPr>
            <a:r>
              <a:rPr lang="es-419" sz="2000" dirty="0"/>
              <a:t>El retiro de cursos puede ser desarrollado directamente a cada estudiante o bien puede hacer una actualización masiva de estudiante para un NRC específico utilizando SFAMREGS como proceso masivo de </a:t>
            </a:r>
            <a:r>
              <a:rPr lang="es-419" sz="2000" dirty="0" err="1"/>
              <a:t>desinscripción</a:t>
            </a:r>
            <a:r>
              <a:rPr lang="es-419" sz="2000" dirty="0"/>
              <a:t>. </a:t>
            </a:r>
          </a:p>
          <a:p>
            <a:pPr algn="just">
              <a:buClr>
                <a:schemeClr val="tx1"/>
              </a:buClr>
              <a:buFont typeface="Wingdings" panose="05000000000000000000" pitchFamily="2" charset="2"/>
              <a:buChar char="v"/>
            </a:pPr>
            <a:r>
              <a:rPr lang="es-419" sz="2000" dirty="0"/>
              <a:t>El retiro de asignaturas puede ser por actualización de estatus de inscripción o bien la eliminación del registro del propio NRC.</a:t>
            </a:r>
          </a:p>
          <a:p>
            <a:pPr algn="just">
              <a:buClr>
                <a:schemeClr val="tx1"/>
              </a:buClr>
              <a:buFont typeface="Wingdings" panose="05000000000000000000" pitchFamily="2" charset="2"/>
              <a:buChar char="v"/>
            </a:pPr>
            <a:r>
              <a:rPr lang="es-419" sz="2000" dirty="0"/>
              <a:t>El retiro de NRC puede implicar o no la realización de la estimación de cuotas del estudiante dado el cambio en la carga académica y por ello en la cantidad de créditos inscritos.</a:t>
            </a:r>
          </a:p>
        </p:txBody>
      </p:sp>
      <p:sp>
        <p:nvSpPr>
          <p:cNvPr id="10" name="Vertical Text Placeholder 9">
            <a:extLst>
              <a:ext uri="{FF2B5EF4-FFF2-40B4-BE49-F238E27FC236}">
                <a16:creationId xmlns:a16="http://schemas.microsoft.com/office/drawing/2014/main" id="{5459240E-56A8-2BDE-4B7E-6E7303339CC2}"/>
              </a:ext>
            </a:extLst>
          </p:cNvPr>
          <p:cNvSpPr>
            <a:spLocks noGrp="1"/>
          </p:cNvSpPr>
          <p:nvPr>
            <p:ph type="body" orient="vert" sz="quarter" idx="17"/>
          </p:nvPr>
        </p:nvSpPr>
        <p:spPr/>
        <p:txBody>
          <a:bodyPr/>
          <a:lstStyle/>
          <a:p>
            <a:r>
              <a:rPr lang="es-419" sz="1200" dirty="0"/>
              <a:t>Gestionar retiro de cursos</a:t>
            </a:r>
            <a:endParaRPr lang="es-419" dirty="0"/>
          </a:p>
        </p:txBody>
      </p:sp>
      <p:sp>
        <p:nvSpPr>
          <p:cNvPr id="16" name="Title 15">
            <a:extLst>
              <a:ext uri="{FF2B5EF4-FFF2-40B4-BE49-F238E27FC236}">
                <a16:creationId xmlns:a16="http://schemas.microsoft.com/office/drawing/2014/main" id="{FA544842-7D5D-F2DC-C50A-666026DED0A2}"/>
              </a:ext>
            </a:extLst>
          </p:cNvPr>
          <p:cNvSpPr>
            <a:spLocks noGrp="1"/>
          </p:cNvSpPr>
          <p:nvPr>
            <p:ph type="title"/>
          </p:nvPr>
        </p:nvSpPr>
        <p:spPr/>
        <p:txBody>
          <a:bodyPr/>
          <a:lstStyle/>
          <a:p>
            <a:r>
              <a:rPr lang="en-US" sz="3600" dirty="0"/>
              <a:t>RESUMEN</a:t>
            </a:r>
          </a:p>
        </p:txBody>
      </p:sp>
    </p:spTree>
    <p:extLst>
      <p:ext uri="{BB962C8B-B14F-4D97-AF65-F5344CB8AC3E}">
        <p14:creationId xmlns:p14="http://schemas.microsoft.com/office/powerpoint/2010/main" val="33614248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Nidia Beltran.</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a:t>Nidia.beltran@</a:t>
            </a:r>
            <a:r>
              <a:rPr lang="es-419" dirty="0"/>
              <a:t>ellucian.com</a:t>
            </a:r>
          </a:p>
        </p:txBody>
      </p:sp>
    </p:spTree>
    <p:extLst>
      <p:ext uri="{BB962C8B-B14F-4D97-AF65-F5344CB8AC3E}">
        <p14:creationId xmlns:p14="http://schemas.microsoft.com/office/powerpoint/2010/main" val="3192274581"/>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12648</TotalTime>
  <Words>3694</Words>
  <Application>Microsoft Office PowerPoint</Application>
  <PresentationFormat>Panorámica</PresentationFormat>
  <Paragraphs>431</Paragraphs>
  <Slides>61</Slides>
  <Notes>39</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61</vt:i4>
      </vt:variant>
    </vt:vector>
  </HeadingPairs>
  <TitlesOfParts>
    <vt:vector size="70" baseType="lpstr">
      <vt:lpstr>Aptos</vt:lpstr>
      <vt:lpstr>Aptos Display</vt:lpstr>
      <vt:lpstr>Arial</vt:lpstr>
      <vt:lpstr>Calibri</vt:lpstr>
      <vt:lpstr>Courier New</vt:lpstr>
      <vt:lpstr>Helvetica Neue</vt:lpstr>
      <vt:lpstr>Wingdings</vt:lpstr>
      <vt:lpstr>Ellucian_April 2025</vt:lpstr>
      <vt:lpstr>Ellucian Blank Layouts</vt:lpstr>
      <vt:lpstr>Presentación de PowerPoint</vt:lpstr>
      <vt:lpstr>Presentación de PowerPoint</vt:lpstr>
      <vt:lpstr>Overview</vt:lpstr>
      <vt:lpstr>Overview: Mapa de capacidades</vt:lpstr>
      <vt:lpstr>Overview: Capacidad operativa Gestionar la inscripción de cursos</vt:lpstr>
      <vt:lpstr>Overview: Capacidad operativa Gestionar la inscripción de cursos</vt:lpstr>
      <vt:lpstr>Presentación de PowerPoint</vt:lpstr>
      <vt:lpstr>Presentación de PowerPoint</vt:lpstr>
      <vt:lpstr>Presentación de PowerPoint</vt:lpstr>
      <vt:lpstr>Presentación de PowerPoint</vt:lpstr>
      <vt:lpstr>CONFIGURACIONES</vt:lpstr>
      <vt:lpstr>Presentación de PowerPoint</vt:lpstr>
      <vt:lpstr>Control de periodo (SOATERM)</vt:lpstr>
      <vt:lpstr>Control de periodo (SOATERM)</vt:lpstr>
      <vt:lpstr>Control de periodo (SOATERM)</vt:lpstr>
      <vt:lpstr>Control de periodo (SOATERM)</vt:lpstr>
      <vt:lpstr>Control de periodo (SOATERM)</vt:lpstr>
      <vt:lpstr>Control de periodo (SOATERM)</vt:lpstr>
      <vt:lpstr>Control de periodo (SOATERM)</vt:lpstr>
      <vt:lpstr>Control de periodo (SOATERM)</vt:lpstr>
      <vt:lpstr>Control de periodo (SOATERM)</vt:lpstr>
      <vt:lpstr>Presentación de PowerPoint</vt:lpstr>
      <vt:lpstr>Premisa: Validación del código del estatus de ingreso (STVESTS) </vt:lpstr>
      <vt:lpstr>Control del estatus de ingreso (SFAESTS)</vt:lpstr>
      <vt:lpstr>Control del estatus de ingreso (SFAESTS)</vt:lpstr>
      <vt:lpstr>Control del estatus de ingreso (SFAESTS)</vt:lpstr>
      <vt:lpstr>Control del estatus de ingreso (SFAESTS)</vt:lpstr>
      <vt:lpstr>Presentación de PowerPoint</vt:lpstr>
      <vt:lpstr> Validación del código de estatus de la inscripción al curso (STVRSTS) </vt:lpstr>
      <vt:lpstr>Estatus de inscripción a curso (SFARSTS)</vt:lpstr>
      <vt:lpstr> Estatus de inscripción a curso (SFARSTS) </vt:lpstr>
      <vt:lpstr>Estatus de inscripción a curso (SFARSTS)</vt:lpstr>
      <vt:lpstr>Presentación de PowerPoint</vt:lpstr>
      <vt:lpstr>Horas mínimas/máximas de inscripción (SFAMHRS)</vt:lpstr>
      <vt:lpstr>Horas mínimas/máximas de inscripción (SFAMHRS)</vt:lpstr>
      <vt:lpstr>Horas mínimas/máximas de inscripción (SFAMHRS)</vt:lpstr>
      <vt:lpstr>Gestionar retiro de cursos</vt:lpstr>
      <vt:lpstr>Presentación de PowerPoint</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Presentación de PowerPoint</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Presentación de PowerPoint</vt:lpstr>
      <vt:lpstr>Captura masiva de inscripción (SFAMREG)</vt:lpstr>
      <vt:lpstr>Captura masiva de inscripción (SFAMREG)</vt:lpstr>
      <vt:lpstr>Captura masiva de inscripción (SFAMREG)</vt:lpstr>
      <vt:lpstr>Captura masiva de inscripción (SFAMREG)</vt:lpstr>
      <vt:lpstr>Captura masiva de inscripción (SFAMREG)</vt:lpstr>
      <vt:lpstr>Captura masiva de inscripción (SFAMREG)</vt:lpstr>
      <vt:lpstr>Inscripción de curso de alumno (SFAREGS)</vt:lpstr>
      <vt:lpstr>RESUMEN</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310</cp:revision>
  <dcterms:created xsi:type="dcterms:W3CDTF">2023-07-17T20:07:38Z</dcterms:created>
  <dcterms:modified xsi:type="dcterms:W3CDTF">2026-07-14T14:39:25Z</dcterms:modified>
</cp:coreProperties>
</file>
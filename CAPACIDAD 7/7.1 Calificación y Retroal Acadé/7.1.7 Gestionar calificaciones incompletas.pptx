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 id="2147483768" r:id="rId2"/>
  </p:sldMasterIdLst>
  <p:notesMasterIdLst>
    <p:notesMasterId r:id="rId47"/>
  </p:notesMasterIdLst>
  <p:sldIdLst>
    <p:sldId id="1559" r:id="rId3"/>
    <p:sldId id="423" r:id="rId4"/>
    <p:sldId id="1174" r:id="rId5"/>
    <p:sldId id="523" r:id="rId6"/>
    <p:sldId id="1250" r:id="rId7"/>
    <p:sldId id="1251" r:id="rId8"/>
    <p:sldId id="1259" r:id="rId9"/>
    <p:sldId id="1292" r:id="rId10"/>
    <p:sldId id="1119" r:id="rId11"/>
    <p:sldId id="1560" r:id="rId12"/>
    <p:sldId id="1503" r:id="rId13"/>
    <p:sldId id="1453" r:id="rId14"/>
    <p:sldId id="1288" r:id="rId15"/>
    <p:sldId id="1419" r:id="rId16"/>
    <p:sldId id="1504" r:id="rId17"/>
    <p:sldId id="1506" r:id="rId18"/>
    <p:sldId id="1530" r:id="rId19"/>
    <p:sldId id="1505" r:id="rId20"/>
    <p:sldId id="1490" r:id="rId21"/>
    <p:sldId id="1491" r:id="rId22"/>
    <p:sldId id="1507" r:id="rId23"/>
    <p:sldId id="1509" r:id="rId24"/>
    <p:sldId id="1510" r:id="rId25"/>
    <p:sldId id="1511" r:id="rId26"/>
    <p:sldId id="1512" r:id="rId27"/>
    <p:sldId id="1513" r:id="rId28"/>
    <p:sldId id="1514" r:id="rId29"/>
    <p:sldId id="1516" r:id="rId30"/>
    <p:sldId id="1517" r:id="rId31"/>
    <p:sldId id="1515" r:id="rId32"/>
    <p:sldId id="1518" r:id="rId33"/>
    <p:sldId id="1519" r:id="rId34"/>
    <p:sldId id="1520" r:id="rId35"/>
    <p:sldId id="1521" r:id="rId36"/>
    <p:sldId id="1522" r:id="rId37"/>
    <p:sldId id="1523" r:id="rId38"/>
    <p:sldId id="1524" r:id="rId39"/>
    <p:sldId id="1525" r:id="rId40"/>
    <p:sldId id="1526" r:id="rId41"/>
    <p:sldId id="1527" r:id="rId42"/>
    <p:sldId id="1528" r:id="rId43"/>
    <p:sldId id="1531" r:id="rId44"/>
    <p:sldId id="1221" r:id="rId45"/>
    <p:sldId id="32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1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érica Solís Sánchez" userId="39232662421_tp_box_2" providerId="OAuth2" clId="{D615F1E9-6099-4255-87A0-7C8F35C22DAD}"/>
    <pc:docChg chg="modSld">
      <pc:chgData name="América Solís Sánchez" userId="39232662421_tp_box_2" providerId="OAuth2" clId="{D615F1E9-6099-4255-87A0-7C8F35C22DAD}" dt="2026-06-18T17:48:24.174" v="0" actId="21"/>
      <pc:docMkLst>
        <pc:docMk/>
      </pc:docMkLst>
      <pc:sldChg chg="modSp mod">
        <pc:chgData name="América Solís Sánchez" userId="39232662421_tp_box_2" providerId="OAuth2" clId="{D615F1E9-6099-4255-87A0-7C8F35C22DAD}" dt="2026-06-18T17:48:24.174" v="0" actId="21"/>
        <pc:sldMkLst>
          <pc:docMk/>
          <pc:sldMk cId="4251571145" sldId="423"/>
        </pc:sldMkLst>
        <pc:spChg chg="mod">
          <ac:chgData name="América Solís Sánchez" userId="39232662421_tp_box_2" providerId="OAuth2" clId="{D615F1E9-6099-4255-87A0-7C8F35C22DAD}" dt="2026-06-18T17:48:24.174" v="0" actId="21"/>
          <ac:spMkLst>
            <pc:docMk/>
            <pc:sldMk cId="4251571145" sldId="423"/>
            <ac:spMk id="10" creationId="{61C17162-17F1-530F-F6BC-4203C78DA5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3C117-F0D1-46E6-B911-20932DF680A3}" type="datetimeFigureOut">
              <a:rPr lang="es-419" smtClean="0"/>
              <a:t>15/7/2026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C308A-25FC-453F-866C-E0840FC3618C}" type="slidenum">
              <a:rPr lang="es-419" smtClean="0"/>
              <a:t>‹#›</a:t>
            </a:fld>
            <a:endParaRPr lang="es-419"/>
          </a:p>
        </p:txBody>
      </p:sp>
    </p:spTree>
    <p:extLst>
      <p:ext uri="{BB962C8B-B14F-4D97-AF65-F5344CB8AC3E}">
        <p14:creationId xmlns:p14="http://schemas.microsoft.com/office/powerpoint/2010/main" val="309598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2479190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1269736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1280728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3780907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3409463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2759282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32</a:t>
            </a:fld>
            <a:endParaRPr lang="es-419"/>
          </a:p>
        </p:txBody>
      </p:sp>
    </p:spTree>
    <p:extLst>
      <p:ext uri="{BB962C8B-B14F-4D97-AF65-F5344CB8AC3E}">
        <p14:creationId xmlns:p14="http://schemas.microsoft.com/office/powerpoint/2010/main" val="1319365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33</a:t>
            </a:fld>
            <a:endParaRPr lang="es-419"/>
          </a:p>
        </p:txBody>
      </p:sp>
    </p:spTree>
    <p:extLst>
      <p:ext uri="{BB962C8B-B14F-4D97-AF65-F5344CB8AC3E}">
        <p14:creationId xmlns:p14="http://schemas.microsoft.com/office/powerpoint/2010/main" val="95577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34</a:t>
            </a:fld>
            <a:endParaRPr lang="es-419"/>
          </a:p>
        </p:txBody>
      </p:sp>
    </p:spTree>
    <p:extLst>
      <p:ext uri="{BB962C8B-B14F-4D97-AF65-F5344CB8AC3E}">
        <p14:creationId xmlns:p14="http://schemas.microsoft.com/office/powerpoint/2010/main" val="3328616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35</a:t>
            </a:fld>
            <a:endParaRPr lang="es-419"/>
          </a:p>
        </p:txBody>
      </p:sp>
    </p:spTree>
    <p:extLst>
      <p:ext uri="{BB962C8B-B14F-4D97-AF65-F5344CB8AC3E}">
        <p14:creationId xmlns:p14="http://schemas.microsoft.com/office/powerpoint/2010/main" val="3967046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36</a:t>
            </a:fld>
            <a:endParaRPr lang="es-419"/>
          </a:p>
        </p:txBody>
      </p:sp>
    </p:spTree>
    <p:extLst>
      <p:ext uri="{BB962C8B-B14F-4D97-AF65-F5344CB8AC3E}">
        <p14:creationId xmlns:p14="http://schemas.microsoft.com/office/powerpoint/2010/main" val="496069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37</a:t>
            </a:fld>
            <a:endParaRPr lang="es-419"/>
          </a:p>
        </p:txBody>
      </p:sp>
    </p:spTree>
    <p:extLst>
      <p:ext uri="{BB962C8B-B14F-4D97-AF65-F5344CB8AC3E}">
        <p14:creationId xmlns:p14="http://schemas.microsoft.com/office/powerpoint/2010/main" val="301657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38</a:t>
            </a:fld>
            <a:endParaRPr lang="es-419"/>
          </a:p>
        </p:txBody>
      </p:sp>
    </p:spTree>
    <p:extLst>
      <p:ext uri="{BB962C8B-B14F-4D97-AF65-F5344CB8AC3E}">
        <p14:creationId xmlns:p14="http://schemas.microsoft.com/office/powerpoint/2010/main" val="3615141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39</a:t>
            </a:fld>
            <a:endParaRPr lang="es-419"/>
          </a:p>
        </p:txBody>
      </p:sp>
    </p:spTree>
    <p:extLst>
      <p:ext uri="{BB962C8B-B14F-4D97-AF65-F5344CB8AC3E}">
        <p14:creationId xmlns:p14="http://schemas.microsoft.com/office/powerpoint/2010/main" val="7755664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40</a:t>
            </a:fld>
            <a:endParaRPr lang="es-419"/>
          </a:p>
        </p:txBody>
      </p:sp>
    </p:spTree>
    <p:extLst>
      <p:ext uri="{BB962C8B-B14F-4D97-AF65-F5344CB8AC3E}">
        <p14:creationId xmlns:p14="http://schemas.microsoft.com/office/powerpoint/2010/main" val="1393141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41</a:t>
            </a:fld>
            <a:endParaRPr lang="es-419"/>
          </a:p>
        </p:txBody>
      </p:sp>
    </p:spTree>
    <p:extLst>
      <p:ext uri="{BB962C8B-B14F-4D97-AF65-F5344CB8AC3E}">
        <p14:creationId xmlns:p14="http://schemas.microsoft.com/office/powerpoint/2010/main" val="4116462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181C308A-25FC-453F-866C-E0840FC3618C}" type="slidenum">
              <a:rPr lang="es-419" smtClean="0"/>
              <a:t>42</a:t>
            </a:fld>
            <a:endParaRPr lang="es-419"/>
          </a:p>
        </p:txBody>
      </p:sp>
    </p:spTree>
    <p:extLst>
      <p:ext uri="{BB962C8B-B14F-4D97-AF65-F5344CB8AC3E}">
        <p14:creationId xmlns:p14="http://schemas.microsoft.com/office/powerpoint/2010/main" val="10857092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6656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58354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08815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53375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50970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91560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54096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3182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250144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279832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127364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708131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672705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563683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370508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14573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126138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28043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56395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189372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814772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688496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037763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741246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131658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2604862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5698937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313319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786283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783973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868828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915587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3182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38751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a:t>
            </a:fld>
            <a:endParaRPr lang="es-419"/>
          </a:p>
        </p:txBody>
      </p:sp>
      <p:sp>
        <p:nvSpPr>
          <p:cNvPr id="3" name="Rectángulo 2">
            <a:extLst>
              <a:ext uri="{FF2B5EF4-FFF2-40B4-BE49-F238E27FC236}">
                <a16:creationId xmlns:a16="http://schemas.microsoft.com/office/drawing/2014/main" id="{B87848C8-5306-CCBF-F8E9-C7873EA77EE5}"/>
              </a:ext>
            </a:extLst>
          </p:cNvPr>
          <p:cNvSpPr/>
          <p:nvPr/>
        </p:nvSpPr>
        <p:spPr>
          <a:xfrm>
            <a:off x="9201150" y="6477000"/>
            <a:ext cx="2381250"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ACF80B18-24B4-CBEE-9DE2-D92B53D5028B}"/>
              </a:ext>
            </a:extLst>
          </p:cNvPr>
          <p:cNvSpPr txBox="1"/>
          <p:nvPr/>
        </p:nvSpPr>
        <p:spPr>
          <a:xfrm>
            <a:off x="9710428" y="6564371"/>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solidFill>
              </a:rPr>
              <a:t>©2026 Ellucian. Confidential and Proprietary</a:t>
            </a:r>
          </a:p>
          <a:p>
            <a:pPr algn="l"/>
            <a:endParaRPr lang="es-419" dirty="0" err="1"/>
          </a:p>
        </p:txBody>
      </p:sp>
    </p:spTree>
    <p:extLst>
      <p:ext uri="{BB962C8B-B14F-4D97-AF65-F5344CB8AC3E}">
        <p14:creationId xmlns:p14="http://schemas.microsoft.com/office/powerpoint/2010/main" val="2605855378"/>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
        <p:nvSpPr>
          <p:cNvPr id="2" name="Rectángulo 1">
            <a:extLst>
              <a:ext uri="{FF2B5EF4-FFF2-40B4-BE49-F238E27FC236}">
                <a16:creationId xmlns:a16="http://schemas.microsoft.com/office/drawing/2014/main" id="{72F9C080-DD2D-FD34-D5B7-4EB1E6EC427D}"/>
              </a:ext>
            </a:extLst>
          </p:cNvPr>
          <p:cNvSpPr/>
          <p:nvPr/>
        </p:nvSpPr>
        <p:spPr>
          <a:xfrm>
            <a:off x="9144000" y="6356349"/>
            <a:ext cx="2438397" cy="5016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5BC384C8-4C26-47A6-0271-A2125548E2A0}"/>
              </a:ext>
            </a:extLst>
          </p:cNvPr>
          <p:cNvSpPr txBox="1"/>
          <p:nvPr/>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156002014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
        <p:nvSpPr>
          <p:cNvPr id="3" name="Rectángulo 2">
            <a:extLst>
              <a:ext uri="{FF2B5EF4-FFF2-40B4-BE49-F238E27FC236}">
                <a16:creationId xmlns:a16="http://schemas.microsoft.com/office/drawing/2014/main" id="{21AA0655-EF32-5703-2481-B0BE588C40AA}"/>
              </a:ext>
            </a:extLst>
          </p:cNvPr>
          <p:cNvSpPr/>
          <p:nvPr/>
        </p:nvSpPr>
        <p:spPr>
          <a:xfrm>
            <a:off x="9201150" y="6467475"/>
            <a:ext cx="2381247" cy="253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FF149BBC-CE1D-8521-C527-4F2A84EF7C23}"/>
              </a:ext>
            </a:extLst>
          </p:cNvPr>
          <p:cNvSpPr txBox="1"/>
          <p:nvPr/>
        </p:nvSpPr>
        <p:spPr>
          <a:xfrm>
            <a:off x="9748528" y="6584949"/>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30001765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7C81640C-8C6B-5E12-5738-1064EB25174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731D41CC-41AA-8FBF-DB1C-4B2455C6AE11}"/>
              </a:ext>
            </a:extLst>
          </p:cNvPr>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0E240B25-B0D6-C0C5-DE6F-14B69B1D50F6}"/>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9" name="Picture 4" descr="ellucian_purple.png">
            <a:extLst>
              <a:ext uri="{FF2B5EF4-FFF2-40B4-BE49-F238E27FC236}">
                <a16:creationId xmlns:a16="http://schemas.microsoft.com/office/drawing/2014/main" id="{65B22207-CC73-A4CB-B0FF-B3E875A87F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94ADD352-82E6-5450-DC33-C7F3B9025D08}"/>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784953DA-07E9-EF76-1A13-4EE30DE04AC3}"/>
              </a:ext>
            </a:extLst>
          </p:cNvPr>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916208526"/>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392979623"/>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ES"/>
              <a:t>Haga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ES"/>
              <a:t>Haga clic para modificar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
        <p:nvSpPr>
          <p:cNvPr id="4" name="Title 1">
            <a:extLst>
              <a:ext uri="{FF2B5EF4-FFF2-40B4-BE49-F238E27FC236}">
                <a16:creationId xmlns:a16="http://schemas.microsoft.com/office/drawing/2014/main" id="{E9B053A3-C741-2695-7B05-01BFDE7A5B80}"/>
              </a:ext>
            </a:extLst>
          </p:cNvPr>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BE41A77-31F6-FF0D-6E74-C968AED94B81}"/>
              </a:ext>
            </a:extLst>
          </p:cNvPr>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Footer Placeholder 4">
            <a:extLst>
              <a:ext uri="{FF2B5EF4-FFF2-40B4-BE49-F238E27FC236}">
                <a16:creationId xmlns:a16="http://schemas.microsoft.com/office/drawing/2014/main" id="{F24D042C-5C02-A763-5A59-5F73D288E94E}"/>
              </a:ext>
            </a:extLst>
          </p:cNvPr>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7" name="Picture 20" descr="ellucian_white.png">
            <a:extLst>
              <a:ext uri="{FF2B5EF4-FFF2-40B4-BE49-F238E27FC236}">
                <a16:creationId xmlns:a16="http://schemas.microsoft.com/office/drawing/2014/main" id="{2CA09C9E-CFD3-215D-C6A4-FD7FF30D789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8" name="Slide Number Placeholder 3">
            <a:extLst>
              <a:ext uri="{FF2B5EF4-FFF2-40B4-BE49-F238E27FC236}">
                <a16:creationId xmlns:a16="http://schemas.microsoft.com/office/drawing/2014/main" id="{3582B5CC-4C0B-326E-6B3E-162D369D0E6A}"/>
              </a:ext>
            </a:extLst>
          </p:cNvPr>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3132443414"/>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ES"/>
              <a:t>Haga clic para modificar los estilos de texto del patrón</a:t>
            </a:r>
          </a:p>
          <a:p>
            <a:pPr marL="457189" lvl="1" indent="-457189" algn="l" defTabSz="609585" rtl="0" eaLnBrk="1" latinLnBrk="0" hangingPunct="1">
              <a:spcBef>
                <a:spcPts val="1600"/>
              </a:spcBef>
              <a:buFontTx/>
              <a:buNone/>
            </a:pPr>
            <a:r>
              <a:rPr lang="es-ES"/>
              <a:t>Segundo nivel</a:t>
            </a:r>
          </a:p>
          <a:p>
            <a:pPr marL="457189" lvl="2" indent="-457189" algn="l" defTabSz="609585" rtl="0" eaLnBrk="1" latinLnBrk="0" hangingPunct="1">
              <a:spcBef>
                <a:spcPts val="1600"/>
              </a:spcBef>
              <a:buFontTx/>
              <a:buNone/>
            </a:pPr>
            <a:r>
              <a:rPr lang="es-ES"/>
              <a:t>Tercer nivel</a:t>
            </a:r>
          </a:p>
          <a:p>
            <a:pPr marL="457189" lvl="3" indent="-457189" algn="l" defTabSz="609585" rtl="0" eaLnBrk="1" latinLnBrk="0" hangingPunct="1">
              <a:spcBef>
                <a:spcPts val="1600"/>
              </a:spcBef>
              <a:buFontTx/>
              <a:buNone/>
            </a:pPr>
            <a:r>
              <a:rPr lang="es-ES"/>
              <a:t>Cuarto nivel</a:t>
            </a:r>
          </a:p>
          <a:p>
            <a:pPr marL="457189" lvl="4" indent="-457189" algn="l" defTabSz="609585" rtl="0" eaLnBrk="1" latinLnBrk="0" hangingPunct="1">
              <a:spcBef>
                <a:spcPts val="1600"/>
              </a:spcBef>
              <a:buFontTx/>
              <a:buNone/>
            </a:pPr>
            <a:r>
              <a:rPr lang="es-ES"/>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ES"/>
              <a:t>Haga clic para modificar el estilo de título del patrón</a:t>
            </a:r>
            <a:endParaRPr lang="en-US" dirty="0"/>
          </a:p>
        </p:txBody>
      </p:sp>
    </p:spTree>
    <p:extLst>
      <p:ext uri="{BB962C8B-B14F-4D97-AF65-F5344CB8AC3E}">
        <p14:creationId xmlns:p14="http://schemas.microsoft.com/office/powerpoint/2010/main" val="244790689"/>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ES"/>
              <a:t>Haga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909081982"/>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353707597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566085207"/>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Title slide al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55661284"/>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2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015573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821010585"/>
      </p:ext>
    </p:extLst>
  </p:cSld>
  <p:clrMapOvr>
    <a:masterClrMapping/>
  </p:clrMapOvr>
  <p:transition spd="slow">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1_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userDrawn="1">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20" name="Footer Placeholder 4"/>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2912799733"/>
      </p:ext>
    </p:extLst>
  </p:cSld>
  <p:clrMapOvr>
    <a:masterClrMapping/>
  </p:clrMapOvr>
  <p:transition spd="slow">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Title slide al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93322890"/>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95280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422990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072600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861457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018466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807038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86988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16472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78097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303709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004387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792756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5353082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80902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5962823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839815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106316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4345697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9379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theme" Target="../theme/theme2.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2423776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5" r:id="rId37"/>
    <p:sldLayoutId id="2147483756" r:id="rId38"/>
    <p:sldLayoutId id="2147483757" r:id="rId39"/>
    <p:sldLayoutId id="2147483758" r:id="rId40"/>
    <p:sldLayoutId id="2147483759" r:id="rId41"/>
    <p:sldLayoutId id="2147483760" r:id="rId42"/>
    <p:sldLayoutId id="2147483761" r:id="rId43"/>
    <p:sldLayoutId id="2147483762" r:id="rId44"/>
    <p:sldLayoutId id="2147483763" r:id="rId45"/>
    <p:sldLayoutId id="2147483712" r:id="rId46"/>
    <p:sldLayoutId id="2147483713" r:id="rId47"/>
    <p:sldLayoutId id="2147483714" r:id="rId48"/>
    <p:sldLayoutId id="2147483717" r:id="rId4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088073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35.xml"/><Relationship Id="rId5" Type="http://schemas.openxmlformats.org/officeDocument/2006/relationships/image" Target="../media/image47.sv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444935" y="1750898"/>
            <a:ext cx="5651066" cy="2912272"/>
          </a:xfrm>
        </p:spPr>
        <p:txBody>
          <a:bodyPr/>
          <a:lstStyle/>
          <a:p>
            <a:pPr>
              <a:spcBef>
                <a:spcPts val="0"/>
              </a:spcBef>
              <a:spcAft>
                <a:spcPts val="600"/>
              </a:spcAft>
            </a:pPr>
            <a:br>
              <a:rPr lang="es-419" sz="4200" dirty="0">
                <a:solidFill>
                  <a:schemeClr val="bg1"/>
                </a:solidFill>
                <a:latin typeface="+mn-lt"/>
                <a:ea typeface="+mn-ea"/>
                <a:cs typeface="+mn-cs"/>
              </a:rPr>
            </a:br>
            <a:r>
              <a:rPr lang="es-CO" sz="4200" dirty="0">
                <a:solidFill>
                  <a:schemeClr val="bg1"/>
                </a:solidFill>
                <a:latin typeface="+mn-lt"/>
                <a:ea typeface="+mn-ea"/>
                <a:cs typeface="+mn-cs"/>
              </a:rPr>
              <a:t>Gestionar Calificaciones Incompletas</a:t>
            </a:r>
            <a:br>
              <a:rPr lang="es-419" sz="4200" dirty="0">
                <a:solidFill>
                  <a:schemeClr val="bg1"/>
                </a:solidFill>
                <a:latin typeface="+mn-lt"/>
                <a:ea typeface="+mn-ea"/>
                <a:cs typeface="+mn-cs"/>
              </a:rPr>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endParaRPr lang="es-419"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a:p>
        </p:txBody>
      </p:sp>
      <p:graphicFrame>
        <p:nvGraphicFramePr>
          <p:cNvPr id="3" name="Tabla 2">
            <a:extLst>
              <a:ext uri="{FF2B5EF4-FFF2-40B4-BE49-F238E27FC236}">
                <a16:creationId xmlns:a16="http://schemas.microsoft.com/office/drawing/2014/main" id="{0E749F4B-AB71-0E2F-94FC-384B16FB0629}"/>
              </a:ext>
            </a:extLst>
          </p:cNvPr>
          <p:cNvGraphicFramePr>
            <a:graphicFrameLocks noGrp="1"/>
          </p:cNvGraphicFramePr>
          <p:nvPr>
            <p:extLst>
              <p:ext uri="{D42A27DB-BD31-4B8C-83A1-F6EECF244321}">
                <p14:modId xmlns:p14="http://schemas.microsoft.com/office/powerpoint/2010/main" val="2527432757"/>
              </p:ext>
            </p:extLst>
          </p:nvPr>
        </p:nvGraphicFramePr>
        <p:xfrm>
          <a:off x="819150" y="1082675"/>
          <a:ext cx="10350423" cy="5156894"/>
        </p:xfrm>
        <a:graphic>
          <a:graphicData uri="http://schemas.openxmlformats.org/drawingml/2006/table">
            <a:tbl>
              <a:tblPr firstRow="1" bandRow="1">
                <a:tableStyleId>{5C22544A-7EE6-4342-B048-85BDC9FD1C3A}</a:tableStyleId>
              </a:tblPr>
              <a:tblGrid>
                <a:gridCol w="943798">
                  <a:extLst>
                    <a:ext uri="{9D8B030D-6E8A-4147-A177-3AD203B41FA5}">
                      <a16:colId xmlns:a16="http://schemas.microsoft.com/office/drawing/2014/main" val="2167173894"/>
                    </a:ext>
                  </a:extLst>
                </a:gridCol>
                <a:gridCol w="9406625">
                  <a:extLst>
                    <a:ext uri="{9D8B030D-6E8A-4147-A177-3AD203B41FA5}">
                      <a16:colId xmlns:a16="http://schemas.microsoft.com/office/drawing/2014/main" val="1650113146"/>
                    </a:ext>
                  </a:extLst>
                </a:gridCol>
              </a:tblGrid>
              <a:tr h="617939">
                <a:tc>
                  <a:txBody>
                    <a:bodyPr/>
                    <a:lstStyle/>
                    <a:p>
                      <a:r>
                        <a:rPr lang="es-ES_tradnl" sz="2400" b="1" kern="1200" noProof="0" dirty="0">
                          <a:solidFill>
                            <a:schemeClr val="bg1"/>
                          </a:solidFill>
                          <a:latin typeface="+mn-lt"/>
                          <a:ea typeface="+mn-ea"/>
                          <a:cs typeface="+mn-cs"/>
                        </a:rPr>
                        <a:t>01</a:t>
                      </a:r>
                    </a:p>
                  </a:txBody>
                  <a:tcPr marL="121920" marR="121920" marT="60960" marB="60960" anchor="ctr">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ES_tradnl" sz="2400" b="1" kern="1200" noProof="0" dirty="0" err="1">
                          <a:solidFill>
                            <a:schemeClr val="bg1"/>
                          </a:solidFill>
                          <a:latin typeface="+mn-lt"/>
                          <a:ea typeface="+mn-ea"/>
                          <a:cs typeface="+mn-cs"/>
                        </a:rPr>
                        <a:t>Overview</a:t>
                      </a:r>
                      <a:endParaRPr lang="es-ES_tradnl" sz="2400" b="1" kern="1200" noProof="0" dirty="0">
                        <a:solidFill>
                          <a:schemeClr val="bg1"/>
                        </a:solidFill>
                        <a:latin typeface="+mn-lt"/>
                        <a:ea typeface="+mn-ea"/>
                        <a:cs typeface="+mn-cs"/>
                      </a:endParaRPr>
                    </a:p>
                  </a:txBody>
                  <a:tcPr marL="121920" marR="121920" marT="60960" marB="97536" anchor="ctr">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4071052"/>
                  </a:ext>
                </a:extLst>
              </a:tr>
              <a:tr h="649590">
                <a:tc>
                  <a:txBody>
                    <a:bodyPr/>
                    <a:lstStyle/>
                    <a:p>
                      <a:pPr marL="0" algn="l" defTabSz="914400" rtl="0" eaLnBrk="1" latinLnBrk="0" hangingPunct="1"/>
                      <a:r>
                        <a:rPr lang="es-ES_tradnl" sz="2400" b="1" kern="1200" noProof="0" dirty="0">
                          <a:solidFill>
                            <a:schemeClr val="bg1"/>
                          </a:solidFill>
                          <a:latin typeface="+mn-lt"/>
                          <a:ea typeface="+mn-ea"/>
                          <a:cs typeface="+mn-cs"/>
                        </a:rPr>
                        <a:t>02</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400" b="1" kern="1200" noProof="0" dirty="0">
                          <a:solidFill>
                            <a:schemeClr val="bg1"/>
                          </a:solidFill>
                          <a:latin typeface="+mn-lt"/>
                          <a:ea typeface="+mn-ea"/>
                          <a:cs typeface="+mn-cs"/>
                        </a:rPr>
                        <a:t>Configuraciones </a:t>
                      </a:r>
                      <a:endParaRPr lang="es-ES_tradnl" sz="2400" b="1" kern="1200" noProof="0" dirty="0">
                        <a:solidFill>
                          <a:schemeClr val="bg1"/>
                        </a:solidFill>
                        <a:latin typeface="+mn-lt"/>
                        <a:ea typeface="+mn-ea"/>
                        <a:cs typeface="+mn-cs"/>
                      </a:endParaRP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2759543"/>
                  </a:ext>
                </a:extLst>
              </a:tr>
              <a:tr h="644425">
                <a:tc>
                  <a:txBody>
                    <a:bodyPr/>
                    <a:lstStyle/>
                    <a:p>
                      <a:pPr marL="0" algn="l" defTabSz="914400" rtl="0" eaLnBrk="1" latinLnBrk="0" hangingPunct="1"/>
                      <a:r>
                        <a:rPr lang="es-ES_tradnl" sz="2400" b="1" kern="1200" noProof="0" dirty="0">
                          <a:solidFill>
                            <a:schemeClr val="bg1"/>
                          </a:solidFill>
                          <a:latin typeface="+mn-lt"/>
                          <a:ea typeface="+mn-ea"/>
                          <a:cs typeface="+mn-cs"/>
                        </a:rPr>
                        <a:t>03</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Crear códigos de calificaciones incompletas</a:t>
                      </a: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8576935"/>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04</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Definir fecha límite para reemplazo de calificación incompleta</a:t>
                      </a: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0309351"/>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05</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Definir reglas de calificación incompleta</a:t>
                      </a: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446060"/>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06</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Registro de calificación incompleta por parte del docente</a:t>
                      </a: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4106357"/>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07</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Procesar calificaciones incompletas</a:t>
                      </a: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0031602"/>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08</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mn-cs"/>
                        </a:rPr>
                        <a:t>Resumen</a:t>
                      </a:r>
                      <a:endParaRPr lang="es-419" sz="2400" b="1" kern="1200" noProof="0" dirty="0">
                        <a:solidFill>
                          <a:schemeClr val="bg1"/>
                        </a:solidFill>
                        <a:latin typeface="+mn-lt"/>
                        <a:ea typeface="+mn-ea"/>
                        <a:cs typeface="+mn-cs"/>
                      </a:endParaRP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247448"/>
                  </a:ext>
                </a:extLst>
              </a:tr>
            </a:tbl>
          </a:graphicData>
        </a:graphic>
      </p:graphicFrame>
      <p:sp>
        <p:nvSpPr>
          <p:cNvPr id="4" name="Title 1">
            <a:extLst>
              <a:ext uri="{FF2B5EF4-FFF2-40B4-BE49-F238E27FC236}">
                <a16:creationId xmlns:a16="http://schemas.microsoft.com/office/drawing/2014/main" id="{1C59DB0E-E115-8B41-58C0-00BD0E4D5913}"/>
              </a:ext>
            </a:extLst>
          </p:cNvPr>
          <p:cNvSpPr txBox="1">
            <a:spLocks/>
          </p:cNvSpPr>
          <p:nvPr/>
        </p:nvSpPr>
        <p:spPr>
          <a:xfrm>
            <a:off x="819150" y="500063"/>
            <a:ext cx="11266487" cy="582612"/>
          </a:xfrm>
          <a:prstGeom prst="rect">
            <a:avLst/>
          </a:prstGeom>
        </p:spPr>
        <p:txBody>
          <a:bodyPr vert="horz" lIns="0" tIns="0" rIns="0" bIns="0" rtlCol="0" anchor="t" anchorCtr="0">
            <a:normAutofit fontScale="97500" lnSpcReduction="1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dirty="0">
                <a:solidFill>
                  <a:schemeClr val="bg1"/>
                </a:solidFill>
              </a:rPr>
              <a:t>Contenido</a:t>
            </a:r>
          </a:p>
        </p:txBody>
      </p:sp>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EEB262EA-17F2-0141-65EE-C84E22C29CEB}"/>
              </a:ext>
            </a:extLst>
          </p:cNvPr>
          <p:cNvSpPr>
            <a:spLocks noGrp="1"/>
          </p:cNvSpPr>
          <p:nvPr>
            <p:ph type="body" orient="vert" sz="quarter" idx="10"/>
          </p:nvPr>
        </p:nvSpPr>
        <p:spPr/>
        <p:txBody>
          <a:bodyPr/>
          <a:lstStyle/>
          <a:p>
            <a:r>
              <a:rPr lang="es-419" sz="1200" dirty="0"/>
              <a:t>Gestionar calificaciones incompletas</a:t>
            </a:r>
            <a:endParaRPr lang="es-419"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5" name="Marcador de texto 4">
            <a:extLst>
              <a:ext uri="{FF2B5EF4-FFF2-40B4-BE49-F238E27FC236}">
                <a16:creationId xmlns:a16="http://schemas.microsoft.com/office/drawing/2014/main" id="{321709B6-3D7D-7AA3-22D3-520F8F6543AC}"/>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Gestionar calificaciones incompletas</a:t>
            </a:r>
            <a:endParaRPr lang="es-419"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382194" y="2619375"/>
            <a:ext cx="1713931" cy="6468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EA264FA8-8D88-4C07-B119-8483D8339E48}"/>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ADE6F1F6-6376-A432-54A8-2DC50D4AC5F2}"/>
              </a:ext>
            </a:extLst>
          </p:cNvPr>
          <p:cNvSpPr>
            <a:spLocks noGrp="1"/>
          </p:cNvSpPr>
          <p:nvPr>
            <p:ph type="body" sz="quarter" idx="18"/>
          </p:nvPr>
        </p:nvSpPr>
        <p:spPr>
          <a:xfrm>
            <a:off x="1104901" y="1905002"/>
            <a:ext cx="9974904" cy="4267198"/>
          </a:xfrm>
        </p:spPr>
        <p:txBody>
          <a:bodyPr/>
          <a:lstStyle/>
          <a:p>
            <a:pPr lvl="2" algn="just"/>
            <a:r>
              <a:rPr lang="es-CO" dirty="0"/>
              <a:t>Cuando uno o varios estudiantes no han cumplido con su plan de evaluación, el docente puede acudir a la figura de Calificación Incompleta para indicar al sistema que la calificación de ese alumno aun no se debe pasar a Historia Académica, sin afectar ese proceso para el resto de los alumnos.</a:t>
            </a:r>
          </a:p>
          <a:p>
            <a:pPr lvl="2" algn="just"/>
            <a:r>
              <a:rPr lang="es-419" dirty="0"/>
              <a:t>Registro académico es la unidad encargada de definir las reglas para las calificaciones incompletas.</a:t>
            </a:r>
          </a:p>
          <a:p>
            <a:pPr lvl="2" algn="just"/>
            <a:r>
              <a:rPr lang="es-CO" dirty="0"/>
              <a:t>Las calificaciones incompletas solo están activas cuando se usa la pestaña de Calificaciones Finales.</a:t>
            </a:r>
            <a:endParaRPr lang="es-419" dirty="0"/>
          </a:p>
          <a:p>
            <a:pPr lvl="2" algn="just"/>
            <a:r>
              <a:rPr lang="es-419" dirty="0"/>
              <a:t>El profesor puede cargar la calificación obtenida por el estudiante cuando completa su evaluación, siempre que esté dentro de las fechas declaradas en las reglas; en caso contrario, el sistema calificará automáticamente al estudiante, reemplazando la calificación incompleta por la que se defina en las reglas.</a:t>
            </a:r>
          </a:p>
          <a:p>
            <a:pPr lvl="2" algn="just"/>
            <a:r>
              <a:rPr lang="es-419" dirty="0"/>
              <a:t>La calificación incompleta solo puede ser usada cuando no hay Libro de calificaciones (componentes/subcomponentes) declarados, pues solo se aplica sobre la calificación final.</a:t>
            </a:r>
          </a:p>
          <a:p>
            <a:pPr marL="519112" lvl="3" indent="0" algn="just">
              <a:buNone/>
            </a:pPr>
            <a:endParaRPr lang="es-419" dirty="0"/>
          </a:p>
          <a:p>
            <a:pPr marL="0" indent="0">
              <a:buNone/>
            </a:pPr>
            <a:endParaRPr lang="es-419" dirty="0"/>
          </a:p>
        </p:txBody>
      </p:sp>
      <p:sp>
        <p:nvSpPr>
          <p:cNvPr id="3" name="Marcador de texto vertical 2">
            <a:extLst>
              <a:ext uri="{FF2B5EF4-FFF2-40B4-BE49-F238E27FC236}">
                <a16:creationId xmlns:a16="http://schemas.microsoft.com/office/drawing/2014/main" id="{C6F371D0-37ED-3E35-97F4-2CEDBED2385A}"/>
              </a:ext>
            </a:extLst>
          </p:cNvPr>
          <p:cNvSpPr>
            <a:spLocks noGrp="1"/>
          </p:cNvSpPr>
          <p:nvPr>
            <p:ph type="body" orient="vert" sz="quarter" idx="17"/>
          </p:nvPr>
        </p:nvSpPr>
        <p:spPr/>
        <p:txBody>
          <a:bodyPr/>
          <a:lstStyle/>
          <a:p>
            <a:r>
              <a:rPr lang="es-419" dirty="0"/>
              <a:t>Gestionar calificaciones incompletas</a:t>
            </a:r>
          </a:p>
        </p:txBody>
      </p:sp>
      <p:sp>
        <p:nvSpPr>
          <p:cNvPr id="2" name="Título 1">
            <a:extLst>
              <a:ext uri="{FF2B5EF4-FFF2-40B4-BE49-F238E27FC236}">
                <a16:creationId xmlns:a16="http://schemas.microsoft.com/office/drawing/2014/main" id="{71873B57-21C0-B73C-0651-BC5FB30B9C1F}"/>
              </a:ext>
            </a:extLst>
          </p:cNvPr>
          <p:cNvSpPr>
            <a:spLocks noGrp="1"/>
          </p:cNvSpPr>
          <p:nvPr>
            <p:ph type="title"/>
          </p:nvPr>
        </p:nvSpPr>
        <p:spPr/>
        <p:txBody>
          <a:bodyPr/>
          <a:lstStyle/>
          <a:p>
            <a:r>
              <a:rPr lang="es-ES_tradnl" sz="3467" dirty="0" err="1">
                <a:solidFill>
                  <a:schemeClr val="accent1"/>
                </a:solidFill>
              </a:rPr>
              <a:t>Overview</a:t>
            </a:r>
            <a:r>
              <a:rPr lang="es-ES_tradnl" sz="3467" dirty="0">
                <a:solidFill>
                  <a:schemeClr val="accent1"/>
                </a:solidFill>
              </a:rPr>
              <a:t>: </a:t>
            </a:r>
            <a:r>
              <a:rPr lang="es-419" sz="3200" b="0" dirty="0">
                <a:solidFill>
                  <a:schemeClr val="accent1"/>
                </a:solidFill>
              </a:rPr>
              <a:t>Gestionar calificaciones incompletas</a:t>
            </a: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14919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FB3D023-ED79-7E91-BC0A-C4048E0DD771}"/>
              </a:ext>
            </a:extLst>
          </p:cNvPr>
          <p:cNvSpPr>
            <a:spLocks noGrp="1"/>
          </p:cNvSpPr>
          <p:nvPr>
            <p:ph type="body" orient="vert" sz="quarter" idx="17"/>
          </p:nvPr>
        </p:nvSpPr>
        <p:spPr/>
        <p:txBody>
          <a:bodyPr/>
          <a:lstStyle/>
          <a:p>
            <a:r>
              <a:rPr lang="es-419" sz="1200" dirty="0"/>
              <a:t>Gestionar calificaciones incompletas</a:t>
            </a: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419" sz="3200" b="0" dirty="0">
                <a:solidFill>
                  <a:schemeClr val="accent1"/>
                </a:solidFill>
              </a:rPr>
              <a:t>Gestionar calificaciones incompletas</a:t>
            </a:r>
            <a:br>
              <a:rPr lang="es-CO" dirty="0">
                <a:solidFill>
                  <a:schemeClr val="accent1"/>
                </a:solidFill>
              </a:rPr>
            </a:br>
            <a:endParaRPr lang="es-ES_tradnl" dirty="0">
              <a:solidFill>
                <a:schemeClr val="accent1"/>
              </a:solidFill>
            </a:endParaRPr>
          </a:p>
        </p:txBody>
      </p:sp>
      <p:pic>
        <p:nvPicPr>
          <p:cNvPr id="1026" name="Picture 2">
            <a:extLst>
              <a:ext uri="{FF2B5EF4-FFF2-40B4-BE49-F238E27FC236}">
                <a16:creationId xmlns:a16="http://schemas.microsoft.com/office/drawing/2014/main" id="{3D8B4CC8-5801-7881-5A09-2D87442EBD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2210225"/>
            <a:ext cx="10896600" cy="2437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80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A8B5C6A-74D6-0564-6174-FA71F86F4809}"/>
              </a:ext>
            </a:extLst>
          </p:cNvPr>
          <p:cNvSpPr>
            <a:spLocks noGrp="1"/>
          </p:cNvSpPr>
          <p:nvPr>
            <p:ph type="body" orient="vert" sz="quarter" idx="17"/>
          </p:nvPr>
        </p:nvSpPr>
        <p:spPr/>
        <p:txBody>
          <a:bodyPr/>
          <a:lstStyle/>
          <a:p>
            <a:r>
              <a:rPr lang="es-419" sz="1200" dirty="0"/>
              <a:t>Gestionar calificaciones incompletas</a:t>
            </a:r>
            <a:endParaRPr lang="es-419"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ES_tradnl" b="0" dirty="0">
                <a:solidFill>
                  <a:schemeClr val="accent1"/>
                </a:solidFill>
              </a:rPr>
              <a:t>Región donde aplica</a:t>
            </a:r>
          </a:p>
        </p:txBody>
      </p:sp>
      <p:sp>
        <p:nvSpPr>
          <p:cNvPr id="14" name="CuadroTexto 13">
            <a:extLst>
              <a:ext uri="{FF2B5EF4-FFF2-40B4-BE49-F238E27FC236}">
                <a16:creationId xmlns:a16="http://schemas.microsoft.com/office/drawing/2014/main" id="{67F9A8D2-DB8A-9348-9C89-4582AE2EB894}"/>
              </a:ext>
            </a:extLst>
          </p:cNvPr>
          <p:cNvSpPr txBox="1"/>
          <p:nvPr/>
        </p:nvSpPr>
        <p:spPr>
          <a:xfrm>
            <a:off x="8409273" y="3182780"/>
            <a:ext cx="1537152" cy="461665"/>
          </a:xfrm>
          <a:prstGeom prst="rect">
            <a:avLst/>
          </a:prstGeom>
          <a:noFill/>
        </p:spPr>
        <p:txBody>
          <a:bodyPr wrap="none" rtlCol="0">
            <a:spAutoFit/>
          </a:bodyPr>
          <a:lstStyle/>
          <a:p>
            <a:r>
              <a:rPr lang="es-ES_tradnl" sz="2400" dirty="0"/>
              <a:t>Todo LAC</a:t>
            </a:r>
          </a:p>
        </p:txBody>
      </p:sp>
      <p:pic>
        <p:nvPicPr>
          <p:cNvPr id="4" name="Imagen 3">
            <a:extLst>
              <a:ext uri="{FF2B5EF4-FFF2-40B4-BE49-F238E27FC236}">
                <a16:creationId xmlns:a16="http://schemas.microsoft.com/office/drawing/2014/main" id="{61C0113A-FF4D-D3F6-A720-86A08D3370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199" y="1304259"/>
            <a:ext cx="5235353" cy="5235353"/>
          </a:xfrm>
          <a:prstGeom prst="rect">
            <a:avLst/>
          </a:prstGeom>
        </p:spPr>
      </p:pic>
    </p:spTree>
    <p:extLst>
      <p:ext uri="{BB962C8B-B14F-4D97-AF65-F5344CB8AC3E}">
        <p14:creationId xmlns:p14="http://schemas.microsoft.com/office/powerpoint/2010/main" val="140520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p:txBody>
          <a:bodyPr/>
          <a:lstStyle/>
          <a:p>
            <a:r>
              <a:rPr lang="es-419" sz="1200" dirty="0"/>
              <a:t>Gestionar calificaciones incompletas</a:t>
            </a:r>
            <a:endParaRPr lang="es-419" dirty="0"/>
          </a:p>
        </p:txBody>
      </p:sp>
      <p:sp>
        <p:nvSpPr>
          <p:cNvPr id="13" name="Title 12"/>
          <p:cNvSpPr>
            <a:spLocks noGrp="1"/>
          </p:cNvSpPr>
          <p:nvPr>
            <p:ph type="title"/>
          </p:nvPr>
        </p:nvSpPr>
        <p:spPr>
          <a:xfrm>
            <a:off x="1007623" y="236522"/>
            <a:ext cx="10477497" cy="898555"/>
          </a:xfrm>
        </p:spPr>
        <p:txBody>
          <a:bodyPr/>
          <a:lstStyle/>
          <a:p>
            <a:r>
              <a:rPr lang="es-ES_tradnl" dirty="0" err="1">
                <a:solidFill>
                  <a:schemeClr val="accent1"/>
                </a:solidFill>
              </a:rPr>
              <a:t>Overview</a:t>
            </a:r>
            <a:r>
              <a:rPr lang="es-ES_tradnl" dirty="0">
                <a:solidFill>
                  <a:schemeClr val="accent1"/>
                </a:solidFill>
              </a:rPr>
              <a:t>: </a:t>
            </a:r>
            <a:r>
              <a:rPr lang="es-419" sz="3200" b="0" dirty="0">
                <a:solidFill>
                  <a:schemeClr val="accent1"/>
                </a:solidFill>
              </a:rPr>
              <a:t>Gestionar calificaciones incompletas</a:t>
            </a:r>
            <a:br>
              <a:rPr lang="es-419" dirty="0">
                <a:solidFill>
                  <a:schemeClr val="accent1"/>
                </a:solidFill>
              </a:rPr>
            </a:br>
            <a:endParaRPr lang="es-ES_tradnl" dirty="0">
              <a:solidFill>
                <a:schemeClr val="accent1"/>
              </a:solidFill>
            </a:endParaRPr>
          </a:p>
        </p:txBody>
      </p:sp>
      <p:graphicFrame>
        <p:nvGraphicFramePr>
          <p:cNvPr id="5" name="Tabla 4">
            <a:extLst>
              <a:ext uri="{FF2B5EF4-FFF2-40B4-BE49-F238E27FC236}">
                <a16:creationId xmlns:a16="http://schemas.microsoft.com/office/drawing/2014/main" id="{C2FBF0DB-AA49-19BE-7699-FE95F7C4143B}"/>
              </a:ext>
            </a:extLst>
          </p:cNvPr>
          <p:cNvGraphicFramePr>
            <a:graphicFrameLocks noGrp="1"/>
          </p:cNvGraphicFramePr>
          <p:nvPr>
            <p:extLst>
              <p:ext uri="{D42A27DB-BD31-4B8C-83A1-F6EECF244321}">
                <p14:modId xmlns:p14="http://schemas.microsoft.com/office/powerpoint/2010/main" val="3310899618"/>
              </p:ext>
            </p:extLst>
          </p:nvPr>
        </p:nvGraphicFramePr>
        <p:xfrm>
          <a:off x="1007623" y="1135077"/>
          <a:ext cx="10620983" cy="4850615"/>
        </p:xfrm>
        <a:graphic>
          <a:graphicData uri="http://schemas.openxmlformats.org/drawingml/2006/table">
            <a:tbl>
              <a:tblPr firstRow="1" bandRow="1">
                <a:tableStyleId>{5C22544A-7EE6-4342-B048-85BDC9FD1C3A}</a:tableStyleId>
              </a:tblPr>
              <a:tblGrid>
                <a:gridCol w="1784215">
                  <a:extLst>
                    <a:ext uri="{9D8B030D-6E8A-4147-A177-3AD203B41FA5}">
                      <a16:colId xmlns:a16="http://schemas.microsoft.com/office/drawing/2014/main" val="34381708"/>
                    </a:ext>
                  </a:extLst>
                </a:gridCol>
                <a:gridCol w="8836768">
                  <a:extLst>
                    <a:ext uri="{9D8B030D-6E8A-4147-A177-3AD203B41FA5}">
                      <a16:colId xmlns:a16="http://schemas.microsoft.com/office/drawing/2014/main" val="1628494477"/>
                    </a:ext>
                  </a:extLst>
                </a:gridCol>
              </a:tblGrid>
              <a:tr h="540000">
                <a:tc>
                  <a:txBody>
                    <a:bodyPr/>
                    <a:lstStyle/>
                    <a:p>
                      <a:pPr algn="ctr">
                        <a:spcAft>
                          <a:spcPts val="0"/>
                        </a:spcAft>
                      </a:pPr>
                      <a:r>
                        <a:rPr lang="es-ES" sz="1200" dirty="0">
                          <a:effectLst/>
                        </a:rPr>
                        <a:t>Concepto</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200" dirty="0">
                          <a:effectLst/>
                        </a:rPr>
                        <a:t>Descripción</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379149428"/>
                  </a:ext>
                </a:extLst>
              </a:tr>
              <a:tr h="540000">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Período</a:t>
                      </a:r>
                    </a:p>
                  </a:txBody>
                  <a:tcPr marL="36830" marR="36830" marT="36830" marB="36830" anchor="ctr"/>
                </a:tc>
                <a:tc>
                  <a:txBody>
                    <a:bodyPr/>
                    <a:lstStyle/>
                    <a:p>
                      <a:pPr algn="just">
                        <a:spcAft>
                          <a:spcPts val="0"/>
                        </a:spcAft>
                      </a:pPr>
                      <a:r>
                        <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Los periodos son unidades de tiempo que permiten clasificar, activar o desactivar diferentes elementos en el sistema.</a:t>
                      </a:r>
                    </a:p>
                  </a:txBody>
                  <a:tcPr marL="36830" marR="36830" marT="36830" marB="36830" anchor="ctr"/>
                </a:tc>
                <a:extLst>
                  <a:ext uri="{0D108BD9-81ED-4DB2-BD59-A6C34878D82A}">
                    <a16:rowId xmlns:a16="http://schemas.microsoft.com/office/drawing/2014/main" val="3443696370"/>
                  </a:ext>
                </a:extLst>
              </a:tr>
              <a:tr h="540000">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Parte de período</a:t>
                      </a:r>
                    </a:p>
                  </a:txBody>
                  <a:tcPr marL="36830" marR="36830" marT="36830" marB="36830" anchor="ctr"/>
                </a:tc>
                <a:tc>
                  <a:txBody>
                    <a:bodyPr/>
                    <a:lstStyle/>
                    <a:p>
                      <a:pPr algn="just">
                        <a:spcAft>
                          <a:spcPts val="0"/>
                        </a:spcAft>
                      </a:pPr>
                      <a:r>
                        <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Unidad de tiempo que segmenta un periodo, definiendo fechas de inicio y fin de clases como prerrequisito para toda la configuración administrativa del sistema de información Banner.</a:t>
                      </a:r>
                    </a:p>
                  </a:txBody>
                  <a:tcPr marL="36830" marR="36830" marT="36830" marB="36830" anchor="ctr"/>
                </a:tc>
                <a:extLst>
                  <a:ext uri="{0D108BD9-81ED-4DB2-BD59-A6C34878D82A}">
                    <a16:rowId xmlns:a16="http://schemas.microsoft.com/office/drawing/2014/main" val="3694206484"/>
                  </a:ext>
                </a:extLst>
              </a:tr>
              <a:tr h="540000">
                <a:tc>
                  <a:txBody>
                    <a:bodyPr/>
                    <a:lstStyle/>
                    <a:p>
                      <a:pPr>
                        <a:spcAft>
                          <a:spcPts val="0"/>
                        </a:spcAft>
                      </a:pPr>
                      <a:r>
                        <a:rPr lang="es-ES" sz="1400" b="1" dirty="0">
                          <a:effectLst/>
                        </a:rPr>
                        <a:t>Número de Referencia de Curso (NRC)</a:t>
                      </a:r>
                      <a:endPar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_tradnl" sz="1300" dirty="0">
                          <a:solidFill>
                            <a:schemeClr val="tx1"/>
                          </a:solidFill>
                        </a:rPr>
                        <a:t>Es un </a:t>
                      </a:r>
                      <a:r>
                        <a:rPr lang="es-CO" sz="1300" dirty="0"/>
                        <a:t>valor numérico único, en un periodo, que identifica la oferta de un curso en un horario específico y con uno o varios docentes que lo dictan</a:t>
                      </a:r>
                      <a:r>
                        <a:rPr lang="es-419" sz="1300" dirty="0"/>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27877135"/>
                  </a:ext>
                </a:extLst>
              </a:tr>
              <a:tr h="596524">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Códigos de calificación</a:t>
                      </a:r>
                    </a:p>
                  </a:txBody>
                  <a:tcPr marL="36830" marR="36830" marT="36830" marB="36830" anchor="ctr"/>
                </a:tc>
                <a:tc>
                  <a:txBody>
                    <a:bodyPr/>
                    <a:lstStyle/>
                    <a:p>
                      <a:pPr algn="just">
                        <a:spcAft>
                          <a:spcPts val="0"/>
                        </a:spcAft>
                      </a:pPr>
                      <a:r>
                        <a:rPr lang="es-419" sz="1300" dirty="0"/>
                        <a:t>Son los códigos que se asignan a las calificaciones de los cursos. Los códigos de calificación son los que se pueden registrar en el autoservicio o en el </a:t>
                      </a:r>
                      <a:r>
                        <a:rPr lang="es-419" sz="1300" dirty="0" err="1"/>
                        <a:t>backoffice</a:t>
                      </a:r>
                      <a:r>
                        <a:rPr lang="es-CO" sz="1300" dirty="0">
                          <a:solidFill>
                            <a:schemeClr val="tx1"/>
                          </a:solidFill>
                        </a:rPr>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80877216"/>
                  </a:ext>
                </a:extLst>
              </a:tr>
              <a:tr h="626166">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Intentada</a:t>
                      </a:r>
                    </a:p>
                  </a:txBody>
                  <a:tcPr marL="36830" marR="36830" marT="36830" marB="36830" anchor="ctr"/>
                </a:tc>
                <a:tc>
                  <a:txBody>
                    <a:bodyPr/>
                    <a:lstStyle/>
                    <a:p>
                      <a:pPr algn="just">
                        <a:spcAft>
                          <a:spcPts val="0"/>
                        </a:spcAft>
                      </a:pPr>
                      <a:r>
                        <a:rPr lang="es-419" sz="1300" kern="1200" dirty="0">
                          <a:solidFill>
                            <a:schemeClr val="dk1"/>
                          </a:solidFill>
                          <a:latin typeface="+mn-lt"/>
                          <a:ea typeface="+mn-ea"/>
                          <a:cs typeface="+mn-cs"/>
                        </a:rPr>
                        <a:t>Es aquella obtenida por los cursos registrados por los estudiantes</a:t>
                      </a:r>
                      <a:r>
                        <a:rPr lang="es-CO" sz="1300" kern="1200" dirty="0">
                          <a:solidFill>
                            <a:schemeClr val="dk1"/>
                          </a:solidFill>
                          <a:latin typeface="+mn-lt"/>
                          <a:ea typeface="+mn-ea"/>
                          <a:cs typeface="+mn-cs"/>
                        </a:rPr>
                        <a:t>.</a:t>
                      </a:r>
                      <a:endParaRPr lang="es-419" sz="1300" kern="1200" dirty="0">
                        <a:solidFill>
                          <a:schemeClr val="dk1"/>
                        </a:solidFill>
                        <a:latin typeface="+mn-lt"/>
                        <a:ea typeface="+mn-ea"/>
                        <a:cs typeface="+mn-cs"/>
                      </a:endParaRPr>
                    </a:p>
                  </a:txBody>
                  <a:tcPr marL="36830" marR="36830" marT="36830" marB="36830" anchor="ctr"/>
                </a:tc>
                <a:extLst>
                  <a:ext uri="{0D108BD9-81ED-4DB2-BD59-A6C34878D82A}">
                    <a16:rowId xmlns:a16="http://schemas.microsoft.com/office/drawing/2014/main" val="1324545965"/>
                  </a:ext>
                </a:extLst>
              </a:tr>
              <a:tr h="626165">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 Incompleta</a:t>
                      </a:r>
                    </a:p>
                  </a:txBody>
                  <a:tcPr marL="36830" marR="36830" marT="36830" marB="36830" anchor="ctr"/>
                </a:tc>
                <a:tc>
                  <a:txBody>
                    <a:bodyPr/>
                    <a:lstStyle/>
                    <a:p>
                      <a:pPr algn="just">
                        <a:spcAft>
                          <a:spcPts val="0"/>
                        </a:spcAft>
                      </a:pPr>
                      <a:r>
                        <a:rPr lang="es-419" sz="1300" dirty="0"/>
                        <a:t>Código de calificación que indica que el estudiante aun no ha completado su evaluación</a:t>
                      </a:r>
                      <a:r>
                        <a:rPr lang="es-CO" sz="1300" dirty="0"/>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545342843"/>
                  </a:ext>
                </a:extLst>
              </a:tr>
              <a:tr h="626165">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Modo de calificación</a:t>
                      </a:r>
                    </a:p>
                  </a:txBody>
                  <a:tcPr marL="36830" marR="36830" marT="36830" marB="36830" anchor="ctr"/>
                </a:tc>
                <a:tc>
                  <a:txBody>
                    <a:bodyPr/>
                    <a:lstStyle/>
                    <a:p>
                      <a:pPr algn="just">
                        <a:spcAft>
                          <a:spcPts val="0"/>
                        </a:spcAft>
                      </a:pPr>
                      <a:r>
                        <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se refiere al formato bajo el cual se calificarán los cursos. Por ejemplo: numérico, cualitativo, entre otros. Los códigos de calificación se asocian a uno o varios modos de calificación, de manera que el profesor podrá utilizarlos según el modo de calificación que se establezca para el curso que dicta.</a:t>
                      </a:r>
                    </a:p>
                  </a:txBody>
                  <a:tcPr marL="36830" marR="36830" marT="36830" marB="36830" anchor="ctr"/>
                </a:tc>
                <a:extLst>
                  <a:ext uri="{0D108BD9-81ED-4DB2-BD59-A6C34878D82A}">
                    <a16:rowId xmlns:a16="http://schemas.microsoft.com/office/drawing/2014/main" val="3935950067"/>
                  </a:ext>
                </a:extLst>
              </a:tr>
            </a:tbl>
          </a:graphicData>
        </a:graphic>
      </p:graphicFrame>
    </p:spTree>
    <p:extLst>
      <p:ext uri="{BB962C8B-B14F-4D97-AF65-F5344CB8AC3E}">
        <p14:creationId xmlns:p14="http://schemas.microsoft.com/office/powerpoint/2010/main" val="190034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419" dirty="0"/>
              <a:t>Gestionar calificaciones incompletas</a:t>
            </a:r>
            <a:endParaRPr lang="es-ES_tradnl" dirty="0"/>
          </a:p>
        </p:txBody>
      </p:sp>
      <p:sp>
        <p:nvSpPr>
          <p:cNvPr id="2" name="Title 1"/>
          <p:cNvSpPr>
            <a:spLocks noGrp="1"/>
          </p:cNvSpPr>
          <p:nvPr>
            <p:ph type="title"/>
          </p:nvPr>
        </p:nvSpPr>
        <p:spPr/>
        <p:txBody>
          <a:bodyPr/>
          <a:lstStyle/>
          <a:p>
            <a:r>
              <a:rPr lang="es-ES_tradnl" dirty="0"/>
              <a:t>Configuraciones</a:t>
            </a:r>
          </a:p>
        </p:txBody>
      </p:sp>
      <p:sp>
        <p:nvSpPr>
          <p:cNvPr id="3" name="Marcador de texto 2">
            <a:extLst>
              <a:ext uri="{FF2B5EF4-FFF2-40B4-BE49-F238E27FC236}">
                <a16:creationId xmlns:a16="http://schemas.microsoft.com/office/drawing/2014/main" id="{04AA9394-E69C-C63E-8DAA-4B80F997EEAB}"/>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419" dirty="0"/>
              <a:t>Gestionar calificaciones incompletas</a:t>
            </a:r>
            <a:endParaRPr lang="es-ES_tradnl" dirty="0"/>
          </a:p>
        </p:txBody>
      </p:sp>
      <p:sp>
        <p:nvSpPr>
          <p:cNvPr id="2" name="Title 1"/>
          <p:cNvSpPr>
            <a:spLocks noGrp="1"/>
          </p:cNvSpPr>
          <p:nvPr>
            <p:ph type="title"/>
          </p:nvPr>
        </p:nvSpPr>
        <p:spPr/>
        <p:txBody>
          <a:bodyPr/>
          <a:lstStyle/>
          <a:p>
            <a:r>
              <a:rPr lang="es-ES" dirty="0"/>
              <a:t>Modo de calificar</a:t>
            </a:r>
            <a:endParaRPr lang="es-ES_tradnl" dirty="0"/>
          </a:p>
        </p:txBody>
      </p:sp>
      <p:sp>
        <p:nvSpPr>
          <p:cNvPr id="3" name="Marcador de texto 2">
            <a:extLst>
              <a:ext uri="{FF2B5EF4-FFF2-40B4-BE49-F238E27FC236}">
                <a16:creationId xmlns:a16="http://schemas.microsoft.com/office/drawing/2014/main" id="{04AA9394-E69C-C63E-8DAA-4B80F997EEAB}"/>
              </a:ext>
            </a:extLst>
          </p:cNvPr>
          <p:cNvSpPr>
            <a:spLocks noGrp="1"/>
          </p:cNvSpPr>
          <p:nvPr>
            <p:ph type="body" sz="quarter" idx="18"/>
          </p:nvPr>
        </p:nvSpPr>
        <p:spPr/>
        <p:txBody>
          <a:bodyPr/>
          <a:lstStyle/>
          <a:p>
            <a:r>
              <a:rPr lang="es-CO" dirty="0"/>
              <a:t>Modos de calificación que tendrá cada uno de los códigos de calificación</a:t>
            </a:r>
            <a:endParaRPr lang="es-ES_tradnl" dirty="0"/>
          </a:p>
          <a:p>
            <a:endParaRPr lang="es-419" dirty="0"/>
          </a:p>
        </p:txBody>
      </p:sp>
    </p:spTree>
    <p:extLst>
      <p:ext uri="{BB962C8B-B14F-4D97-AF65-F5344CB8AC3E}">
        <p14:creationId xmlns:p14="http://schemas.microsoft.com/office/powerpoint/2010/main" val="1713540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CB8C5852-12C7-FC8E-5E25-8377E15FA3B2}"/>
              </a:ext>
            </a:extLst>
          </p:cNvPr>
          <p:cNvPicPr>
            <a:picLocks noChangeAspect="1"/>
          </p:cNvPicPr>
          <p:nvPr/>
        </p:nvPicPr>
        <p:blipFill>
          <a:blip r:embed="rId3"/>
          <a:stretch>
            <a:fillRect/>
          </a:stretch>
        </p:blipFill>
        <p:spPr>
          <a:xfrm>
            <a:off x="968816" y="1030689"/>
            <a:ext cx="10421982" cy="4746161"/>
          </a:xfrm>
          <a:prstGeom prst="rect">
            <a:avLst/>
          </a:prstGeom>
          <a:solidFill>
            <a:schemeClr val="accent3"/>
          </a:solidFill>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p:txBody>
          <a:bodyPr/>
          <a:lstStyle/>
          <a:p>
            <a:r>
              <a:rPr lang="es-419" dirty="0"/>
              <a:t>Gestionar calificaciones incompletas</a:t>
            </a:r>
            <a:endParaRPr lang="es-ES_tradnl" dirty="0"/>
          </a:p>
        </p:txBody>
      </p:sp>
      <p:sp>
        <p:nvSpPr>
          <p:cNvPr id="13" name="Title 12"/>
          <p:cNvSpPr>
            <a:spLocks noGrp="1"/>
          </p:cNvSpPr>
          <p:nvPr>
            <p:ph type="title"/>
          </p:nvPr>
        </p:nvSpPr>
        <p:spPr>
          <a:xfrm>
            <a:off x="861398" y="324440"/>
            <a:ext cx="10477497" cy="898555"/>
          </a:xfrm>
        </p:spPr>
        <p:txBody>
          <a:bodyPr/>
          <a:lstStyle/>
          <a:p>
            <a:r>
              <a:rPr lang="es-ES_tradnl" dirty="0">
                <a:solidFill>
                  <a:schemeClr val="accent1"/>
                </a:solidFill>
              </a:rPr>
              <a:t> </a:t>
            </a:r>
            <a:r>
              <a:rPr lang="es-ES_tradnl" b="1" dirty="0">
                <a:solidFill>
                  <a:schemeClr val="accent1"/>
                </a:solidFill>
              </a:rPr>
              <a:t>Modo de calificar </a:t>
            </a:r>
          </a:p>
        </p:txBody>
      </p:sp>
      <p:sp>
        <p:nvSpPr>
          <p:cNvPr id="8" name="Rectángulo redondeado 5">
            <a:extLst>
              <a:ext uri="{FF2B5EF4-FFF2-40B4-BE49-F238E27FC236}">
                <a16:creationId xmlns:a16="http://schemas.microsoft.com/office/drawing/2014/main" id="{5C365D31-D788-0F72-0C35-969C91A0AC7A}"/>
              </a:ext>
            </a:extLst>
          </p:cNvPr>
          <p:cNvSpPr/>
          <p:nvPr/>
        </p:nvSpPr>
        <p:spPr>
          <a:xfrm>
            <a:off x="1429846" y="4220071"/>
            <a:ext cx="9891224" cy="1153332"/>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r>
              <a:rPr lang="es-ES_tradnl" sz="1200" dirty="0"/>
              <a:t>Los modos de calificar predefinidos ya están en la página STVGMOD. Si desea crear un nuevo código siga los pasos que a continuación se indican:</a:t>
            </a:r>
          </a:p>
          <a:p>
            <a:pPr marL="228600" indent="-228600">
              <a:buFont typeface="+mj-lt"/>
              <a:buAutoNum type="arabicPeriod"/>
            </a:pPr>
            <a:r>
              <a:rPr lang="es-ES_tradnl" sz="1200" dirty="0"/>
              <a:t>Para ingresar un nuevo código debe hacer clic en </a:t>
            </a:r>
            <a:r>
              <a:rPr lang="es-ES_tradnl" sz="1200" b="1" dirty="0"/>
              <a:t>Insertar</a:t>
            </a:r>
          </a:p>
          <a:p>
            <a:pPr marL="228600" indent="-228600">
              <a:buFont typeface="+mj-lt"/>
              <a:buAutoNum type="arabicPeriod"/>
            </a:pPr>
            <a:r>
              <a:rPr lang="es-ES_tradnl" sz="1200" dirty="0"/>
              <a:t>Ingrese el </a:t>
            </a:r>
            <a:r>
              <a:rPr lang="es-ES_tradnl" sz="1200" b="1" dirty="0"/>
              <a:t>código</a:t>
            </a:r>
            <a:r>
              <a:rPr lang="es-ES_tradnl" sz="1200" dirty="0"/>
              <a:t> para el modo de calificación </a:t>
            </a:r>
          </a:p>
          <a:p>
            <a:pPr marL="228600" indent="-228600">
              <a:buFont typeface="+mj-lt"/>
              <a:buAutoNum type="arabicPeriod"/>
            </a:pPr>
            <a:r>
              <a:rPr lang="es-ES_tradnl" sz="1200" dirty="0"/>
              <a:t>Incorpore la </a:t>
            </a:r>
            <a:r>
              <a:rPr lang="es-ES_tradnl" sz="1200" b="1" dirty="0"/>
              <a:t>Descripción</a:t>
            </a:r>
            <a:r>
              <a:rPr lang="es-ES_tradnl" sz="1200" dirty="0"/>
              <a:t> del código correspondiente</a:t>
            </a:r>
          </a:p>
          <a:p>
            <a:pPr marL="228600" indent="-228600">
              <a:buFont typeface="+mj-lt"/>
              <a:buAutoNum type="arabicPeriod"/>
            </a:pPr>
            <a:r>
              <a:rPr lang="es-ES_tradnl" sz="1200" b="1" dirty="0"/>
              <a:t>Guarde</a:t>
            </a:r>
            <a:r>
              <a:rPr lang="es-ES_tradnl" sz="1200" dirty="0"/>
              <a:t> la información</a:t>
            </a:r>
          </a:p>
        </p:txBody>
      </p:sp>
      <p:sp>
        <p:nvSpPr>
          <p:cNvPr id="5" name="Rectángulo 4">
            <a:extLst>
              <a:ext uri="{FF2B5EF4-FFF2-40B4-BE49-F238E27FC236}">
                <a16:creationId xmlns:a16="http://schemas.microsoft.com/office/drawing/2014/main" id="{6F2013EE-46B9-C4DD-B459-AB845E83A9D6}"/>
              </a:ext>
            </a:extLst>
          </p:cNvPr>
          <p:cNvSpPr/>
          <p:nvPr/>
        </p:nvSpPr>
        <p:spPr>
          <a:xfrm>
            <a:off x="10536555" y="1656739"/>
            <a:ext cx="243325" cy="18391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CuadroTexto 5">
            <a:extLst>
              <a:ext uri="{FF2B5EF4-FFF2-40B4-BE49-F238E27FC236}">
                <a16:creationId xmlns:a16="http://schemas.microsoft.com/office/drawing/2014/main" id="{3C2ECC01-59B8-861F-7327-99A7E847FB94}"/>
              </a:ext>
            </a:extLst>
          </p:cNvPr>
          <p:cNvSpPr txBox="1"/>
          <p:nvPr/>
        </p:nvSpPr>
        <p:spPr>
          <a:xfrm>
            <a:off x="9939304" y="1625209"/>
            <a:ext cx="301753"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7" name="Flecha: hacia la izquierda 6">
            <a:extLst>
              <a:ext uri="{FF2B5EF4-FFF2-40B4-BE49-F238E27FC236}">
                <a16:creationId xmlns:a16="http://schemas.microsoft.com/office/drawing/2014/main" id="{5ABD11A9-125D-16D9-080F-D1F437F5A37F}"/>
              </a:ext>
            </a:extLst>
          </p:cNvPr>
          <p:cNvSpPr/>
          <p:nvPr/>
        </p:nvSpPr>
        <p:spPr>
          <a:xfrm rot="10800000">
            <a:off x="10274361" y="171007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FA97A25A-2F57-C4FD-30F2-9768EA11FFDF}"/>
              </a:ext>
            </a:extLst>
          </p:cNvPr>
          <p:cNvSpPr txBox="1"/>
          <p:nvPr/>
        </p:nvSpPr>
        <p:spPr>
          <a:xfrm>
            <a:off x="487455" y="1993472"/>
            <a:ext cx="301753"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11" name="Flecha: hacia la izquierda 10">
            <a:extLst>
              <a:ext uri="{FF2B5EF4-FFF2-40B4-BE49-F238E27FC236}">
                <a16:creationId xmlns:a16="http://schemas.microsoft.com/office/drawing/2014/main" id="{1C83BE4A-0709-68E9-EA0E-F473B8C61069}"/>
              </a:ext>
            </a:extLst>
          </p:cNvPr>
          <p:cNvSpPr/>
          <p:nvPr/>
        </p:nvSpPr>
        <p:spPr>
          <a:xfrm rot="10800000">
            <a:off x="817083" y="205547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8477C030-BD76-2C65-DAAA-1C79347D85C5}"/>
              </a:ext>
            </a:extLst>
          </p:cNvPr>
          <p:cNvSpPr txBox="1"/>
          <p:nvPr/>
        </p:nvSpPr>
        <p:spPr>
          <a:xfrm>
            <a:off x="3272238" y="1970612"/>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4" name="Flecha: hacia la izquierda 13">
            <a:extLst>
              <a:ext uri="{FF2B5EF4-FFF2-40B4-BE49-F238E27FC236}">
                <a16:creationId xmlns:a16="http://schemas.microsoft.com/office/drawing/2014/main" id="{BD032F2C-2A07-BD64-A917-1463F5AE887F}"/>
              </a:ext>
            </a:extLst>
          </p:cNvPr>
          <p:cNvSpPr/>
          <p:nvPr/>
        </p:nvSpPr>
        <p:spPr>
          <a:xfrm>
            <a:off x="3068472" y="207833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1B4A9A05-5F4E-23AD-FEB4-F22FCEA6DF26}"/>
              </a:ext>
            </a:extLst>
          </p:cNvPr>
          <p:cNvSpPr txBox="1"/>
          <p:nvPr/>
        </p:nvSpPr>
        <p:spPr>
          <a:xfrm>
            <a:off x="10255782" y="5486764"/>
            <a:ext cx="301753" cy="215444"/>
          </a:xfrm>
          <a:prstGeom prst="rect">
            <a:avLst/>
          </a:prstGeom>
          <a:solidFill>
            <a:schemeClr val="accent3"/>
          </a:solidFill>
        </p:spPr>
        <p:txBody>
          <a:bodyPr wrap="square" rtlCol="0">
            <a:spAutoFit/>
          </a:bodyPr>
          <a:lstStyle/>
          <a:p>
            <a:r>
              <a:rPr lang="es-CO" sz="800" b="1" dirty="0">
                <a:solidFill>
                  <a:schemeClr val="bg1"/>
                </a:solidFill>
              </a:rPr>
              <a:t>4</a:t>
            </a:r>
            <a:endParaRPr lang="en-US" sz="800" b="1" dirty="0">
              <a:solidFill>
                <a:schemeClr val="bg1"/>
              </a:solidFill>
            </a:endParaRPr>
          </a:p>
        </p:txBody>
      </p:sp>
      <p:sp>
        <p:nvSpPr>
          <p:cNvPr id="16" name="Flecha: hacia la izquierda 15">
            <a:extLst>
              <a:ext uri="{FF2B5EF4-FFF2-40B4-BE49-F238E27FC236}">
                <a16:creationId xmlns:a16="http://schemas.microsoft.com/office/drawing/2014/main" id="{AAFDC955-A20A-5F5D-B7C7-86E5B2D9A37F}"/>
              </a:ext>
            </a:extLst>
          </p:cNvPr>
          <p:cNvSpPr/>
          <p:nvPr/>
        </p:nvSpPr>
        <p:spPr>
          <a:xfrm rot="10800000">
            <a:off x="10633576" y="557162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696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p:txBody>
          <a:bodyPr/>
          <a:lstStyle/>
          <a:p>
            <a:r>
              <a:rPr lang="es-419" dirty="0"/>
              <a:t>Gestionar calificaciones incompletas</a:t>
            </a:r>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ES_tradnl" dirty="0"/>
              <a:t>Crear códigos de calificaciones incompletas</a:t>
            </a:r>
            <a:endParaRPr lang="es-419" dirty="0"/>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endParaRPr lang="es-ES_tradnl" dirty="0"/>
          </a:p>
        </p:txBody>
      </p:sp>
    </p:spTree>
    <p:extLst>
      <p:ext uri="{BB962C8B-B14F-4D97-AF65-F5344CB8AC3E}">
        <p14:creationId xmlns:p14="http://schemas.microsoft.com/office/powerpoint/2010/main" val="1209848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50DE0B8-F9BA-8E53-6464-F86DA27CDC26}"/>
              </a:ext>
            </a:extLst>
          </p:cNvPr>
          <p:cNvPicPr>
            <a:picLocks noChangeAspect="1"/>
          </p:cNvPicPr>
          <p:nvPr/>
        </p:nvPicPr>
        <p:blipFill>
          <a:blip r:embed="rId3"/>
          <a:stretch>
            <a:fillRect/>
          </a:stretch>
        </p:blipFill>
        <p:spPr>
          <a:xfrm>
            <a:off x="979091" y="852881"/>
            <a:ext cx="11072315" cy="5090719"/>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calificaciones incompletas</a:t>
            </a:r>
          </a:p>
        </p:txBody>
      </p:sp>
      <p:sp>
        <p:nvSpPr>
          <p:cNvPr id="13" name="Title 12"/>
          <p:cNvSpPr>
            <a:spLocks noGrp="1"/>
          </p:cNvSpPr>
          <p:nvPr>
            <p:ph type="title"/>
          </p:nvPr>
        </p:nvSpPr>
        <p:spPr>
          <a:xfrm>
            <a:off x="857251" y="277860"/>
            <a:ext cx="11198855" cy="898555"/>
          </a:xfrm>
        </p:spPr>
        <p:txBody>
          <a:bodyPr/>
          <a:lstStyle/>
          <a:p>
            <a:r>
              <a:rPr lang="es-419" dirty="0">
                <a:solidFill>
                  <a:schemeClr val="accent1"/>
                </a:solidFill>
              </a:rPr>
              <a:t>Crear códigos de calificaciones incompletas (SHAGRDE)</a:t>
            </a:r>
            <a:endParaRPr lang="es-ES_tradnl" b="1" dirty="0">
              <a:solidFill>
                <a:schemeClr val="accent1"/>
              </a:solidFill>
            </a:endParaRPr>
          </a:p>
        </p:txBody>
      </p:sp>
      <p:sp>
        <p:nvSpPr>
          <p:cNvPr id="7" name="CuadroTexto 6">
            <a:extLst>
              <a:ext uri="{FF2B5EF4-FFF2-40B4-BE49-F238E27FC236}">
                <a16:creationId xmlns:a16="http://schemas.microsoft.com/office/drawing/2014/main" id="{21631F82-E858-7F22-27B0-0E3A2781399A}"/>
              </a:ext>
            </a:extLst>
          </p:cNvPr>
          <p:cNvSpPr txBox="1"/>
          <p:nvPr/>
        </p:nvSpPr>
        <p:spPr>
          <a:xfrm>
            <a:off x="428626" y="2002800"/>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370167" y="4380527"/>
            <a:ext cx="10100162"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419" sz="1100" dirty="0"/>
              <a:t>En </a:t>
            </a:r>
            <a:r>
              <a:rPr lang="es-ES_tradnl" sz="1100" b="1" dirty="0"/>
              <a:t>SHAGRDE</a:t>
            </a:r>
            <a:r>
              <a:rPr lang="es-ES_tradnl" sz="1100" dirty="0"/>
              <a:t>, haga clic en </a:t>
            </a:r>
            <a:r>
              <a:rPr lang="es-ES_tradnl" sz="1100" b="1" dirty="0"/>
              <a:t>Insertar </a:t>
            </a:r>
            <a:r>
              <a:rPr lang="es-ES_tradnl" sz="1100" dirty="0"/>
              <a:t>para crear un nuevo código de calificación.</a:t>
            </a:r>
            <a:endParaRPr lang="es-ES_tradnl" sz="1100" b="1" dirty="0"/>
          </a:p>
          <a:p>
            <a:pPr marL="342900" indent="-342900" algn="just">
              <a:buFont typeface="+mj-lt"/>
              <a:buAutoNum type="arabicPeriod"/>
            </a:pPr>
            <a:r>
              <a:rPr lang="es-ES_tradnl" sz="1100" dirty="0"/>
              <a:t>Ingrese el </a:t>
            </a:r>
            <a:r>
              <a:rPr lang="es-ES_tradnl" sz="1100" b="1" dirty="0"/>
              <a:t>código</a:t>
            </a:r>
            <a:r>
              <a:rPr lang="es-ES_tradnl" sz="1100" dirty="0"/>
              <a:t> correspondiente a la calificación</a:t>
            </a:r>
          </a:p>
          <a:p>
            <a:pPr marL="342900" indent="-342900" algn="just">
              <a:buFont typeface="+mj-lt"/>
              <a:buAutoNum type="arabicPeriod"/>
            </a:pPr>
            <a:r>
              <a:rPr lang="es-ES_tradnl" sz="1100" dirty="0"/>
              <a:t>Ingrese el código de </a:t>
            </a:r>
            <a:r>
              <a:rPr lang="es-ES_tradnl" sz="1100" b="1" dirty="0"/>
              <a:t>nivel</a:t>
            </a:r>
            <a:r>
              <a:rPr lang="es-ES_tradnl" sz="1100" dirty="0"/>
              <a:t> de curso para el cual el código de calificación es válido</a:t>
            </a:r>
            <a:endParaRPr lang="es-CL" sz="1100" dirty="0"/>
          </a:p>
        </p:txBody>
      </p:sp>
      <p:sp>
        <p:nvSpPr>
          <p:cNvPr id="9" name="Flecha: hacia la izquierda 8">
            <a:extLst>
              <a:ext uri="{FF2B5EF4-FFF2-40B4-BE49-F238E27FC236}">
                <a16:creationId xmlns:a16="http://schemas.microsoft.com/office/drawing/2014/main" id="{F9BE45A3-50E2-4D78-5FA8-CE8D4F611D59}"/>
              </a:ext>
            </a:extLst>
          </p:cNvPr>
          <p:cNvSpPr/>
          <p:nvPr/>
        </p:nvSpPr>
        <p:spPr>
          <a:xfrm rot="10800000">
            <a:off x="771867" y="206420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FF9D4EDB-DA57-0D13-CF4B-7BA7E9A465DE}"/>
              </a:ext>
            </a:extLst>
          </p:cNvPr>
          <p:cNvSpPr txBox="1"/>
          <p:nvPr/>
        </p:nvSpPr>
        <p:spPr>
          <a:xfrm>
            <a:off x="2195431" y="2020455"/>
            <a:ext cx="301753" cy="215444"/>
          </a:xfrm>
          <a:prstGeom prst="rect">
            <a:avLst/>
          </a:prstGeom>
          <a:solidFill>
            <a:schemeClr val="accent3"/>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11" name="Flecha: hacia la izquierda 10">
            <a:extLst>
              <a:ext uri="{FF2B5EF4-FFF2-40B4-BE49-F238E27FC236}">
                <a16:creationId xmlns:a16="http://schemas.microsoft.com/office/drawing/2014/main" id="{35944360-B85C-B984-BB73-D1646473119C}"/>
              </a:ext>
            </a:extLst>
          </p:cNvPr>
          <p:cNvSpPr/>
          <p:nvPr/>
        </p:nvSpPr>
        <p:spPr>
          <a:xfrm>
            <a:off x="2014419" y="210992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D97CEBD4-48A5-33A2-6796-2567C1977774}"/>
              </a:ext>
            </a:extLst>
          </p:cNvPr>
          <p:cNvSpPr/>
          <p:nvPr/>
        </p:nvSpPr>
        <p:spPr>
          <a:xfrm>
            <a:off x="11144250" y="1555878"/>
            <a:ext cx="200024" cy="19555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86ED028E-32B7-A9ED-B369-301CBAADD4BF}"/>
              </a:ext>
            </a:extLst>
          </p:cNvPr>
          <p:cNvSpPr txBox="1"/>
          <p:nvPr/>
        </p:nvSpPr>
        <p:spPr>
          <a:xfrm>
            <a:off x="10523680" y="1555878"/>
            <a:ext cx="301753"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14" name="Flecha: hacia la izquierda 13">
            <a:extLst>
              <a:ext uri="{FF2B5EF4-FFF2-40B4-BE49-F238E27FC236}">
                <a16:creationId xmlns:a16="http://schemas.microsoft.com/office/drawing/2014/main" id="{3099A9A5-BF17-C88F-36F7-3FF387D0BD96}"/>
              </a:ext>
            </a:extLst>
          </p:cNvPr>
          <p:cNvSpPr/>
          <p:nvPr/>
        </p:nvSpPr>
        <p:spPr>
          <a:xfrm rot="10800000">
            <a:off x="10886353" y="160793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ángulo 14">
            <a:extLst>
              <a:ext uri="{FF2B5EF4-FFF2-40B4-BE49-F238E27FC236}">
                <a16:creationId xmlns:a16="http://schemas.microsoft.com/office/drawing/2014/main" id="{0D151AA0-BE36-DFC4-8DC2-09314311A05D}"/>
              </a:ext>
            </a:extLst>
          </p:cNvPr>
          <p:cNvSpPr/>
          <p:nvPr/>
        </p:nvSpPr>
        <p:spPr>
          <a:xfrm>
            <a:off x="944383" y="2017822"/>
            <a:ext cx="503417" cy="16829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15">
            <a:extLst>
              <a:ext uri="{FF2B5EF4-FFF2-40B4-BE49-F238E27FC236}">
                <a16:creationId xmlns:a16="http://schemas.microsoft.com/office/drawing/2014/main" id="{DFB8232F-2F3F-9F47-5025-5163F95E151E}"/>
              </a:ext>
            </a:extLst>
          </p:cNvPr>
          <p:cNvSpPr/>
          <p:nvPr/>
        </p:nvSpPr>
        <p:spPr>
          <a:xfrm>
            <a:off x="1628160" y="2017822"/>
            <a:ext cx="301753" cy="18421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547845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7661CE2E-C6A2-CB03-E27E-FD6BE7C3DDFB}"/>
              </a:ext>
            </a:extLst>
          </p:cNvPr>
          <p:cNvPicPr>
            <a:picLocks noChangeAspect="1"/>
          </p:cNvPicPr>
          <p:nvPr/>
        </p:nvPicPr>
        <p:blipFill>
          <a:blip r:embed="rId3"/>
          <a:stretch>
            <a:fillRect/>
          </a:stretch>
        </p:blipFill>
        <p:spPr>
          <a:xfrm>
            <a:off x="979091" y="852881"/>
            <a:ext cx="11072315" cy="5090719"/>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calificaciones incompletas</a:t>
            </a:r>
          </a:p>
        </p:txBody>
      </p:sp>
      <p:sp>
        <p:nvSpPr>
          <p:cNvPr id="13" name="Title 12"/>
          <p:cNvSpPr>
            <a:spLocks noGrp="1"/>
          </p:cNvSpPr>
          <p:nvPr>
            <p:ph type="title"/>
          </p:nvPr>
        </p:nvSpPr>
        <p:spPr>
          <a:xfrm>
            <a:off x="857251" y="277860"/>
            <a:ext cx="11334749" cy="898555"/>
          </a:xfrm>
        </p:spPr>
        <p:txBody>
          <a:bodyPr/>
          <a:lstStyle/>
          <a:p>
            <a:r>
              <a:rPr lang="es-419" dirty="0">
                <a:solidFill>
                  <a:schemeClr val="accent1"/>
                </a:solidFill>
              </a:rPr>
              <a:t>Crear códigos de calificaciones incompletas (SHAGRDE)</a:t>
            </a:r>
            <a:endParaRPr lang="es-ES_tradnl" b="1" dirty="0">
              <a:solidFill>
                <a:schemeClr val="accent1"/>
              </a:solidFill>
            </a:endParaRPr>
          </a:p>
        </p:txBody>
      </p:sp>
      <p:sp>
        <p:nvSpPr>
          <p:cNvPr id="7" name="CuadroTexto 6">
            <a:extLst>
              <a:ext uri="{FF2B5EF4-FFF2-40B4-BE49-F238E27FC236}">
                <a16:creationId xmlns:a16="http://schemas.microsoft.com/office/drawing/2014/main" id="{21631F82-E858-7F22-27B0-0E3A2781399A}"/>
              </a:ext>
            </a:extLst>
          </p:cNvPr>
          <p:cNvSpPr txBox="1"/>
          <p:nvPr/>
        </p:nvSpPr>
        <p:spPr>
          <a:xfrm>
            <a:off x="2115040" y="2515032"/>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8" name="Rectángulo: esquinas redondeadas 7">
            <a:extLst>
              <a:ext uri="{FF2B5EF4-FFF2-40B4-BE49-F238E27FC236}">
                <a16:creationId xmlns:a16="http://schemas.microsoft.com/office/drawing/2014/main" id="{070C0048-A69C-F572-0139-14744F56729C}"/>
              </a:ext>
            </a:extLst>
          </p:cNvPr>
          <p:cNvSpPr/>
          <p:nvPr/>
        </p:nvSpPr>
        <p:spPr>
          <a:xfrm>
            <a:off x="1501386" y="4836069"/>
            <a:ext cx="10100162"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4"/>
            </a:pPr>
            <a:r>
              <a:rPr lang="es-CO" sz="1100" dirty="0"/>
              <a:t>Ingrese una descripción </a:t>
            </a:r>
            <a:r>
              <a:rPr lang="es-CO" sz="1100" b="1" dirty="0"/>
              <a:t>abreviada</a:t>
            </a:r>
            <a:r>
              <a:rPr lang="es-CO" sz="1100" dirty="0"/>
              <a:t> del código de calificación</a:t>
            </a:r>
            <a:r>
              <a:rPr lang="es-ES_tradnl" sz="1100" dirty="0"/>
              <a:t>.</a:t>
            </a:r>
            <a:endParaRPr lang="es-ES_tradnl" sz="1100" b="1" dirty="0"/>
          </a:p>
          <a:p>
            <a:pPr marL="342900" indent="-342900" algn="just">
              <a:buFont typeface="+mj-lt"/>
              <a:buAutoNum type="arabicPeriod" startAt="4"/>
            </a:pPr>
            <a:r>
              <a:rPr lang="es-CO" sz="1100" dirty="0"/>
              <a:t>Ingrese el código de </a:t>
            </a:r>
            <a:r>
              <a:rPr lang="es-CO" sz="1100" b="1" dirty="0"/>
              <a:t>período</a:t>
            </a:r>
            <a:r>
              <a:rPr lang="es-CO" sz="1100" dirty="0"/>
              <a:t> a partir del cual se puede utilizar el código de calificación con las características que se van a definir.</a:t>
            </a:r>
            <a:endParaRPr lang="es-ES_tradnl" sz="1100" dirty="0"/>
          </a:p>
          <a:p>
            <a:pPr marL="342900" indent="-342900" algn="just">
              <a:buFont typeface="+mj-lt"/>
              <a:buAutoNum type="arabicPeriod" startAt="4"/>
            </a:pPr>
            <a:r>
              <a:rPr lang="es-CO" sz="1100" dirty="0"/>
              <a:t>Ingrese el </a:t>
            </a:r>
            <a:r>
              <a:rPr lang="es-CO" sz="1100" b="1" dirty="0"/>
              <a:t>estatus</a:t>
            </a:r>
            <a:r>
              <a:rPr lang="es-CO" sz="1100" dirty="0"/>
              <a:t> del código de calificación. Los valores son I (Inactivo) o A (Activo). </a:t>
            </a:r>
          </a:p>
          <a:p>
            <a:pPr marL="342900" indent="-342900" algn="just">
              <a:buFont typeface="+mj-lt"/>
              <a:buAutoNum type="arabicPeriod" startAt="4"/>
            </a:pPr>
            <a:r>
              <a:rPr lang="es-CO" sz="1100" dirty="0"/>
              <a:t>Ingrese el valor numérico del código de calificación. Estos puntos de calidad son los que se toman en cuenta para el cálculo del promedio del estudiante.</a:t>
            </a:r>
            <a:endParaRPr lang="es-ES_tradnl" sz="1100" dirty="0"/>
          </a:p>
        </p:txBody>
      </p:sp>
      <p:sp>
        <p:nvSpPr>
          <p:cNvPr id="9" name="Flecha: hacia la izquierda 8">
            <a:extLst>
              <a:ext uri="{FF2B5EF4-FFF2-40B4-BE49-F238E27FC236}">
                <a16:creationId xmlns:a16="http://schemas.microsoft.com/office/drawing/2014/main" id="{F9BE45A3-50E2-4D78-5FA8-CE8D4F611D59}"/>
              </a:ext>
            </a:extLst>
          </p:cNvPr>
          <p:cNvSpPr/>
          <p:nvPr/>
        </p:nvSpPr>
        <p:spPr>
          <a:xfrm rot="10800000">
            <a:off x="2477714" y="260053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FF9D4EDB-DA57-0D13-CF4B-7BA7E9A465DE}"/>
              </a:ext>
            </a:extLst>
          </p:cNvPr>
          <p:cNvSpPr txBox="1"/>
          <p:nvPr/>
        </p:nvSpPr>
        <p:spPr>
          <a:xfrm>
            <a:off x="3827960" y="2311108"/>
            <a:ext cx="301753" cy="215444"/>
          </a:xfrm>
          <a:prstGeom prst="rect">
            <a:avLst/>
          </a:prstGeom>
          <a:solidFill>
            <a:schemeClr val="accent3"/>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11" name="Flecha: hacia la izquierda 10">
            <a:extLst>
              <a:ext uri="{FF2B5EF4-FFF2-40B4-BE49-F238E27FC236}">
                <a16:creationId xmlns:a16="http://schemas.microsoft.com/office/drawing/2014/main" id="{35944360-B85C-B984-BB73-D1646473119C}"/>
              </a:ext>
            </a:extLst>
          </p:cNvPr>
          <p:cNvSpPr/>
          <p:nvPr/>
        </p:nvSpPr>
        <p:spPr>
          <a:xfrm>
            <a:off x="3614214" y="2395970"/>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D97CEBD4-48A5-33A2-6796-2567C1977774}"/>
              </a:ext>
            </a:extLst>
          </p:cNvPr>
          <p:cNvSpPr/>
          <p:nvPr/>
        </p:nvSpPr>
        <p:spPr>
          <a:xfrm>
            <a:off x="1947021" y="2021931"/>
            <a:ext cx="308570" cy="19597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86ED028E-32B7-A9ED-B369-301CBAADD4BF}"/>
              </a:ext>
            </a:extLst>
          </p:cNvPr>
          <p:cNvSpPr txBox="1"/>
          <p:nvPr/>
        </p:nvSpPr>
        <p:spPr>
          <a:xfrm>
            <a:off x="1406507" y="2002457"/>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4" name="Flecha: hacia la izquierda 13">
            <a:extLst>
              <a:ext uri="{FF2B5EF4-FFF2-40B4-BE49-F238E27FC236}">
                <a16:creationId xmlns:a16="http://schemas.microsoft.com/office/drawing/2014/main" id="{3099A9A5-BF17-C88F-36F7-3FF387D0BD96}"/>
              </a:ext>
            </a:extLst>
          </p:cNvPr>
          <p:cNvSpPr/>
          <p:nvPr/>
        </p:nvSpPr>
        <p:spPr>
          <a:xfrm rot="10800000">
            <a:off x="1739796" y="2098123"/>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ángulo 14">
            <a:extLst>
              <a:ext uri="{FF2B5EF4-FFF2-40B4-BE49-F238E27FC236}">
                <a16:creationId xmlns:a16="http://schemas.microsoft.com/office/drawing/2014/main" id="{0D151AA0-BE36-DFC4-8DC2-09314311A05D}"/>
              </a:ext>
            </a:extLst>
          </p:cNvPr>
          <p:cNvSpPr/>
          <p:nvPr/>
        </p:nvSpPr>
        <p:spPr>
          <a:xfrm>
            <a:off x="2706913" y="2524345"/>
            <a:ext cx="469773" cy="15238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15">
            <a:extLst>
              <a:ext uri="{FF2B5EF4-FFF2-40B4-BE49-F238E27FC236}">
                <a16:creationId xmlns:a16="http://schemas.microsoft.com/office/drawing/2014/main" id="{DFB8232F-2F3F-9F47-5025-5163F95E151E}"/>
              </a:ext>
            </a:extLst>
          </p:cNvPr>
          <p:cNvSpPr/>
          <p:nvPr/>
        </p:nvSpPr>
        <p:spPr>
          <a:xfrm>
            <a:off x="3298526" y="2371961"/>
            <a:ext cx="235331" cy="15238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3" name="Rectángulo 2">
            <a:extLst>
              <a:ext uri="{FF2B5EF4-FFF2-40B4-BE49-F238E27FC236}">
                <a16:creationId xmlns:a16="http://schemas.microsoft.com/office/drawing/2014/main" id="{43E47A34-1AA1-E9BD-C579-54CFC23210F2}"/>
              </a:ext>
            </a:extLst>
          </p:cNvPr>
          <p:cNvSpPr/>
          <p:nvPr/>
        </p:nvSpPr>
        <p:spPr>
          <a:xfrm>
            <a:off x="4250375" y="2683172"/>
            <a:ext cx="469773" cy="15238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CuadroTexto 3">
            <a:extLst>
              <a:ext uri="{FF2B5EF4-FFF2-40B4-BE49-F238E27FC236}">
                <a16:creationId xmlns:a16="http://schemas.microsoft.com/office/drawing/2014/main" id="{E0C12B83-8CD1-A9C6-1672-2ED5D29E3383}"/>
              </a:ext>
            </a:extLst>
          </p:cNvPr>
          <p:cNvSpPr txBox="1"/>
          <p:nvPr/>
        </p:nvSpPr>
        <p:spPr>
          <a:xfrm>
            <a:off x="3701154" y="2674502"/>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17" name="Flecha: hacia la izquierda 16">
            <a:extLst>
              <a:ext uri="{FF2B5EF4-FFF2-40B4-BE49-F238E27FC236}">
                <a16:creationId xmlns:a16="http://schemas.microsoft.com/office/drawing/2014/main" id="{65992467-0898-8CB1-FC9E-5BFE5CAD218B}"/>
              </a:ext>
            </a:extLst>
          </p:cNvPr>
          <p:cNvSpPr/>
          <p:nvPr/>
        </p:nvSpPr>
        <p:spPr>
          <a:xfrm rot="10800000">
            <a:off x="4036629" y="275936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245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6E2809D-D837-5157-450B-AE3F22FDAC05}"/>
              </a:ext>
            </a:extLst>
          </p:cNvPr>
          <p:cNvPicPr>
            <a:picLocks noChangeAspect="1"/>
          </p:cNvPicPr>
          <p:nvPr/>
        </p:nvPicPr>
        <p:blipFill>
          <a:blip r:embed="rId3"/>
          <a:stretch>
            <a:fillRect/>
          </a:stretch>
        </p:blipFill>
        <p:spPr>
          <a:xfrm>
            <a:off x="979091" y="852881"/>
            <a:ext cx="11072315" cy="5090719"/>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calificaciones incompletas</a:t>
            </a:r>
          </a:p>
        </p:txBody>
      </p:sp>
      <p:sp>
        <p:nvSpPr>
          <p:cNvPr id="13" name="Title 12"/>
          <p:cNvSpPr>
            <a:spLocks noGrp="1"/>
          </p:cNvSpPr>
          <p:nvPr>
            <p:ph type="title"/>
          </p:nvPr>
        </p:nvSpPr>
        <p:spPr>
          <a:xfrm>
            <a:off x="857251" y="277860"/>
            <a:ext cx="11334749" cy="898555"/>
          </a:xfrm>
        </p:spPr>
        <p:txBody>
          <a:bodyPr/>
          <a:lstStyle/>
          <a:p>
            <a:r>
              <a:rPr lang="es-419" dirty="0">
                <a:solidFill>
                  <a:schemeClr val="accent1"/>
                </a:solidFill>
              </a:rPr>
              <a:t>Crear códigos de calificaciones incompletas (SHAGRDE)</a:t>
            </a:r>
            <a:endParaRPr lang="es-ES_tradnl" b="1" dirty="0">
              <a:solidFill>
                <a:schemeClr val="accent1"/>
              </a:solidFill>
            </a:endParaRPr>
          </a:p>
        </p:txBody>
      </p:sp>
      <p:sp>
        <p:nvSpPr>
          <p:cNvPr id="18" name="Rectángulo: esquinas redondeadas 17">
            <a:extLst>
              <a:ext uri="{FF2B5EF4-FFF2-40B4-BE49-F238E27FC236}">
                <a16:creationId xmlns:a16="http://schemas.microsoft.com/office/drawing/2014/main" id="{4670C6E4-E85D-5770-9A76-CD5C9D7A842E}"/>
              </a:ext>
            </a:extLst>
          </p:cNvPr>
          <p:cNvSpPr/>
          <p:nvPr/>
        </p:nvSpPr>
        <p:spPr>
          <a:xfrm>
            <a:off x="2364090" y="3938252"/>
            <a:ext cx="7953406"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lgn="just">
              <a:buFont typeface="+mj-lt"/>
              <a:buAutoNum type="arabicPeriod" startAt="8"/>
            </a:pPr>
            <a:r>
              <a:rPr lang="es-CO" sz="1100" dirty="0"/>
              <a:t>Active la casilla para que  el código de calificación incompleta se cuente como intentado para el alumno.</a:t>
            </a:r>
          </a:p>
          <a:p>
            <a:pPr marL="228600" indent="-228600" algn="just">
              <a:buFont typeface="+mj-lt"/>
              <a:buAutoNum type="arabicPeriod" startAt="9"/>
            </a:pPr>
            <a:r>
              <a:rPr lang="es-CO" sz="1100" dirty="0"/>
              <a:t>Active la casilla Indicador de calificación incompleta para definir el código de calificación como calificación incompleta</a:t>
            </a:r>
            <a:r>
              <a:rPr lang="es-ES_tradnl" sz="1100" dirty="0"/>
              <a:t>.</a:t>
            </a:r>
            <a:endParaRPr lang="es-CO" sz="1100" dirty="0"/>
          </a:p>
        </p:txBody>
      </p:sp>
      <p:sp>
        <p:nvSpPr>
          <p:cNvPr id="20" name="Rectángulo 19">
            <a:extLst>
              <a:ext uri="{FF2B5EF4-FFF2-40B4-BE49-F238E27FC236}">
                <a16:creationId xmlns:a16="http://schemas.microsoft.com/office/drawing/2014/main" id="{057BF2FA-C334-2A94-AFBB-6A0CFA63977E}"/>
              </a:ext>
            </a:extLst>
          </p:cNvPr>
          <p:cNvSpPr/>
          <p:nvPr/>
        </p:nvSpPr>
        <p:spPr>
          <a:xfrm>
            <a:off x="4725033" y="3515978"/>
            <a:ext cx="828042" cy="13476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1" name="CuadroTexto 20">
            <a:extLst>
              <a:ext uri="{FF2B5EF4-FFF2-40B4-BE49-F238E27FC236}">
                <a16:creationId xmlns:a16="http://schemas.microsoft.com/office/drawing/2014/main" id="{B930FDBE-D4EB-CAFE-99B4-8CD2C145F2A5}"/>
              </a:ext>
            </a:extLst>
          </p:cNvPr>
          <p:cNvSpPr txBox="1"/>
          <p:nvPr/>
        </p:nvSpPr>
        <p:spPr>
          <a:xfrm>
            <a:off x="4133874" y="3493694"/>
            <a:ext cx="301753" cy="215444"/>
          </a:xfrm>
          <a:prstGeom prst="rect">
            <a:avLst/>
          </a:prstGeom>
          <a:solidFill>
            <a:schemeClr val="accent3"/>
          </a:solidFill>
        </p:spPr>
        <p:txBody>
          <a:bodyPr wrap="square" rtlCol="0">
            <a:spAutoFit/>
          </a:bodyPr>
          <a:lstStyle/>
          <a:p>
            <a:r>
              <a:rPr lang="en-US" sz="800" b="1" dirty="0">
                <a:solidFill>
                  <a:schemeClr val="bg1"/>
                </a:solidFill>
              </a:rPr>
              <a:t>8</a:t>
            </a:r>
          </a:p>
        </p:txBody>
      </p:sp>
      <p:sp>
        <p:nvSpPr>
          <p:cNvPr id="22" name="Flecha: hacia la izquierda 21">
            <a:extLst>
              <a:ext uri="{FF2B5EF4-FFF2-40B4-BE49-F238E27FC236}">
                <a16:creationId xmlns:a16="http://schemas.microsoft.com/office/drawing/2014/main" id="{DC30B657-EF6E-AC21-710C-CBFAEB5B1159}"/>
              </a:ext>
            </a:extLst>
          </p:cNvPr>
          <p:cNvSpPr/>
          <p:nvPr/>
        </p:nvSpPr>
        <p:spPr>
          <a:xfrm rot="10800000">
            <a:off x="4517809" y="357855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ángulo 22">
            <a:extLst>
              <a:ext uri="{FF2B5EF4-FFF2-40B4-BE49-F238E27FC236}">
                <a16:creationId xmlns:a16="http://schemas.microsoft.com/office/drawing/2014/main" id="{1815D95F-A76A-E6C9-EFF7-61C65CF3A7ED}"/>
              </a:ext>
            </a:extLst>
          </p:cNvPr>
          <p:cNvSpPr/>
          <p:nvPr/>
        </p:nvSpPr>
        <p:spPr>
          <a:xfrm>
            <a:off x="8767034" y="3537452"/>
            <a:ext cx="837409" cy="12792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4" name="CuadroTexto 23">
            <a:extLst>
              <a:ext uri="{FF2B5EF4-FFF2-40B4-BE49-F238E27FC236}">
                <a16:creationId xmlns:a16="http://schemas.microsoft.com/office/drawing/2014/main" id="{10002CD5-0A96-FF1E-D8DD-BE7C4E127574}"/>
              </a:ext>
            </a:extLst>
          </p:cNvPr>
          <p:cNvSpPr txBox="1"/>
          <p:nvPr/>
        </p:nvSpPr>
        <p:spPr>
          <a:xfrm>
            <a:off x="8129660" y="3500529"/>
            <a:ext cx="301753" cy="215444"/>
          </a:xfrm>
          <a:prstGeom prst="rect">
            <a:avLst/>
          </a:prstGeom>
          <a:solidFill>
            <a:schemeClr val="accent3"/>
          </a:solidFill>
        </p:spPr>
        <p:txBody>
          <a:bodyPr wrap="square" rtlCol="0">
            <a:spAutoFit/>
          </a:bodyPr>
          <a:lstStyle/>
          <a:p>
            <a:r>
              <a:rPr lang="en-US" sz="800" b="1" dirty="0">
                <a:solidFill>
                  <a:schemeClr val="bg1"/>
                </a:solidFill>
              </a:rPr>
              <a:t>9</a:t>
            </a:r>
          </a:p>
        </p:txBody>
      </p:sp>
      <p:sp>
        <p:nvSpPr>
          <p:cNvPr id="25" name="Flecha: hacia la izquierda 24">
            <a:extLst>
              <a:ext uri="{FF2B5EF4-FFF2-40B4-BE49-F238E27FC236}">
                <a16:creationId xmlns:a16="http://schemas.microsoft.com/office/drawing/2014/main" id="{D81A9E72-42B7-D1B4-2083-F4F98E659A3A}"/>
              </a:ext>
            </a:extLst>
          </p:cNvPr>
          <p:cNvSpPr/>
          <p:nvPr/>
        </p:nvSpPr>
        <p:spPr>
          <a:xfrm rot="10800000">
            <a:off x="8514746" y="360097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9762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D03C958-BDC1-BA39-F230-EA8127191F07}"/>
              </a:ext>
            </a:extLst>
          </p:cNvPr>
          <p:cNvPicPr>
            <a:picLocks noChangeAspect="1"/>
          </p:cNvPicPr>
          <p:nvPr/>
        </p:nvPicPr>
        <p:blipFill>
          <a:blip r:embed="rId3"/>
          <a:stretch>
            <a:fillRect/>
          </a:stretch>
        </p:blipFill>
        <p:spPr>
          <a:xfrm>
            <a:off x="979091" y="852881"/>
            <a:ext cx="11072315" cy="5090719"/>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calificaciones incompletas</a:t>
            </a:r>
          </a:p>
        </p:txBody>
      </p:sp>
      <p:sp>
        <p:nvSpPr>
          <p:cNvPr id="13" name="Title 12"/>
          <p:cNvSpPr>
            <a:spLocks noGrp="1"/>
          </p:cNvSpPr>
          <p:nvPr>
            <p:ph type="title"/>
          </p:nvPr>
        </p:nvSpPr>
        <p:spPr>
          <a:xfrm>
            <a:off x="857251" y="277860"/>
            <a:ext cx="11234230" cy="898555"/>
          </a:xfrm>
        </p:spPr>
        <p:txBody>
          <a:bodyPr/>
          <a:lstStyle/>
          <a:p>
            <a:r>
              <a:rPr lang="es-419" dirty="0">
                <a:solidFill>
                  <a:schemeClr val="accent1"/>
                </a:solidFill>
              </a:rPr>
              <a:t>Crear códigos de calificaciones incompletas (SHAGRDE)</a:t>
            </a:r>
            <a:endParaRPr lang="es-ES_tradnl" b="1" dirty="0">
              <a:solidFill>
                <a:schemeClr val="accent1"/>
              </a:solidFill>
            </a:endParaRPr>
          </a:p>
        </p:txBody>
      </p:sp>
      <p:sp>
        <p:nvSpPr>
          <p:cNvPr id="18" name="Rectángulo: esquinas redondeadas 17">
            <a:extLst>
              <a:ext uri="{FF2B5EF4-FFF2-40B4-BE49-F238E27FC236}">
                <a16:creationId xmlns:a16="http://schemas.microsoft.com/office/drawing/2014/main" id="{4670C6E4-E85D-5770-9A76-CD5C9D7A842E}"/>
              </a:ext>
            </a:extLst>
          </p:cNvPr>
          <p:cNvSpPr/>
          <p:nvPr/>
        </p:nvSpPr>
        <p:spPr>
          <a:xfrm>
            <a:off x="2364090" y="3938252"/>
            <a:ext cx="7953406"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lgn="just">
              <a:buFont typeface="+mj-lt"/>
              <a:buAutoNum type="arabicPeriod" startAt="10"/>
            </a:pPr>
            <a:r>
              <a:rPr lang="es-CO" sz="1100" dirty="0"/>
              <a:t>Indique la calificación final, de reemplazo, predefinida, para la calificación incompleta.</a:t>
            </a:r>
          </a:p>
          <a:p>
            <a:pPr marL="228600" indent="-228600" algn="just">
              <a:buFont typeface="+mj-lt"/>
              <a:buAutoNum type="arabicPeriod" startAt="10"/>
            </a:pPr>
            <a:r>
              <a:rPr lang="es-CO" sz="1100" dirty="0"/>
              <a:t>Active la casilla para que el código de calificación pueda ser utilizado por el profesor en la carga de calificaciones de curso por el autoservicio</a:t>
            </a:r>
          </a:p>
        </p:txBody>
      </p:sp>
      <p:sp>
        <p:nvSpPr>
          <p:cNvPr id="21" name="CuadroTexto 20">
            <a:extLst>
              <a:ext uri="{FF2B5EF4-FFF2-40B4-BE49-F238E27FC236}">
                <a16:creationId xmlns:a16="http://schemas.microsoft.com/office/drawing/2014/main" id="{B930FDBE-D4EB-CAFE-99B4-8CD2C145F2A5}"/>
              </a:ext>
            </a:extLst>
          </p:cNvPr>
          <p:cNvSpPr txBox="1"/>
          <p:nvPr/>
        </p:nvSpPr>
        <p:spPr>
          <a:xfrm>
            <a:off x="11543080" y="3503388"/>
            <a:ext cx="301753" cy="215444"/>
          </a:xfrm>
          <a:prstGeom prst="rect">
            <a:avLst/>
          </a:prstGeom>
          <a:solidFill>
            <a:schemeClr val="accent3"/>
          </a:solidFill>
        </p:spPr>
        <p:txBody>
          <a:bodyPr wrap="square" rtlCol="0">
            <a:spAutoFit/>
          </a:bodyPr>
          <a:lstStyle/>
          <a:p>
            <a:r>
              <a:rPr lang="en-US" sz="800" b="1" dirty="0">
                <a:solidFill>
                  <a:schemeClr val="bg1"/>
                </a:solidFill>
              </a:rPr>
              <a:t>11</a:t>
            </a:r>
          </a:p>
        </p:txBody>
      </p:sp>
      <p:sp>
        <p:nvSpPr>
          <p:cNvPr id="22" name="Flecha: hacia la izquierda 21">
            <a:extLst>
              <a:ext uri="{FF2B5EF4-FFF2-40B4-BE49-F238E27FC236}">
                <a16:creationId xmlns:a16="http://schemas.microsoft.com/office/drawing/2014/main" id="{DC30B657-EF6E-AC21-710C-CBFAEB5B1159}"/>
              </a:ext>
            </a:extLst>
          </p:cNvPr>
          <p:cNvSpPr/>
          <p:nvPr/>
        </p:nvSpPr>
        <p:spPr>
          <a:xfrm>
            <a:off x="11360917" y="3590955"/>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ángulo 22">
            <a:extLst>
              <a:ext uri="{FF2B5EF4-FFF2-40B4-BE49-F238E27FC236}">
                <a16:creationId xmlns:a16="http://schemas.microsoft.com/office/drawing/2014/main" id="{1815D95F-A76A-E6C9-EFF7-61C65CF3A7ED}"/>
              </a:ext>
            </a:extLst>
          </p:cNvPr>
          <p:cNvSpPr/>
          <p:nvPr/>
        </p:nvSpPr>
        <p:spPr>
          <a:xfrm>
            <a:off x="9661360" y="3483233"/>
            <a:ext cx="1028000" cy="21544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4" name="CuadroTexto 23">
            <a:extLst>
              <a:ext uri="{FF2B5EF4-FFF2-40B4-BE49-F238E27FC236}">
                <a16:creationId xmlns:a16="http://schemas.microsoft.com/office/drawing/2014/main" id="{10002CD5-0A96-FF1E-D8DD-BE7C4E127574}"/>
              </a:ext>
            </a:extLst>
          </p:cNvPr>
          <p:cNvSpPr txBox="1"/>
          <p:nvPr/>
        </p:nvSpPr>
        <p:spPr>
          <a:xfrm>
            <a:off x="9058788" y="3501709"/>
            <a:ext cx="301753" cy="215444"/>
          </a:xfrm>
          <a:prstGeom prst="rect">
            <a:avLst/>
          </a:prstGeom>
          <a:solidFill>
            <a:schemeClr val="accent3"/>
          </a:solidFill>
        </p:spPr>
        <p:txBody>
          <a:bodyPr wrap="square" rtlCol="0">
            <a:spAutoFit/>
          </a:bodyPr>
          <a:lstStyle/>
          <a:p>
            <a:r>
              <a:rPr lang="en-US" sz="800" b="1" dirty="0">
                <a:solidFill>
                  <a:schemeClr val="bg1"/>
                </a:solidFill>
              </a:rPr>
              <a:t>10</a:t>
            </a:r>
          </a:p>
        </p:txBody>
      </p:sp>
      <p:sp>
        <p:nvSpPr>
          <p:cNvPr id="25" name="Flecha: hacia la izquierda 24">
            <a:extLst>
              <a:ext uri="{FF2B5EF4-FFF2-40B4-BE49-F238E27FC236}">
                <a16:creationId xmlns:a16="http://schemas.microsoft.com/office/drawing/2014/main" id="{D81A9E72-42B7-D1B4-2083-F4F98E659A3A}"/>
              </a:ext>
            </a:extLst>
          </p:cNvPr>
          <p:cNvSpPr/>
          <p:nvPr/>
        </p:nvSpPr>
        <p:spPr>
          <a:xfrm rot="10800000">
            <a:off x="9423975" y="359990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812A1DB4-AA80-A6E7-AF65-50133FDB3104}"/>
              </a:ext>
            </a:extLst>
          </p:cNvPr>
          <p:cNvSpPr/>
          <p:nvPr/>
        </p:nvSpPr>
        <p:spPr>
          <a:xfrm>
            <a:off x="10874105" y="3503388"/>
            <a:ext cx="406646" cy="17513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323025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08D7E500-F145-B889-C89F-A82B7E8F19B2}"/>
              </a:ext>
            </a:extLst>
          </p:cNvPr>
          <p:cNvPicPr>
            <a:picLocks noChangeAspect="1"/>
          </p:cNvPicPr>
          <p:nvPr/>
        </p:nvPicPr>
        <p:blipFill>
          <a:blip r:embed="rId3"/>
          <a:stretch>
            <a:fillRect/>
          </a:stretch>
        </p:blipFill>
        <p:spPr>
          <a:xfrm>
            <a:off x="979091" y="852881"/>
            <a:ext cx="11072315" cy="5090719"/>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calificaciones incompletas</a:t>
            </a:r>
          </a:p>
        </p:txBody>
      </p:sp>
      <p:sp>
        <p:nvSpPr>
          <p:cNvPr id="13" name="Title 12"/>
          <p:cNvSpPr>
            <a:spLocks noGrp="1"/>
          </p:cNvSpPr>
          <p:nvPr>
            <p:ph type="title"/>
          </p:nvPr>
        </p:nvSpPr>
        <p:spPr>
          <a:xfrm>
            <a:off x="857251" y="277860"/>
            <a:ext cx="11234230" cy="898555"/>
          </a:xfrm>
        </p:spPr>
        <p:txBody>
          <a:bodyPr/>
          <a:lstStyle/>
          <a:p>
            <a:r>
              <a:rPr lang="es-419" dirty="0">
                <a:solidFill>
                  <a:schemeClr val="accent1"/>
                </a:solidFill>
              </a:rPr>
              <a:t>Crear códigos de calificaciones incompletas (SHAGRDE)</a:t>
            </a:r>
            <a:endParaRPr lang="es-ES_tradnl" b="1" dirty="0">
              <a:solidFill>
                <a:schemeClr val="accent1"/>
              </a:solidFill>
            </a:endParaRPr>
          </a:p>
        </p:txBody>
      </p:sp>
      <p:sp>
        <p:nvSpPr>
          <p:cNvPr id="18" name="Rectángulo: esquinas redondeadas 17">
            <a:extLst>
              <a:ext uri="{FF2B5EF4-FFF2-40B4-BE49-F238E27FC236}">
                <a16:creationId xmlns:a16="http://schemas.microsoft.com/office/drawing/2014/main" id="{4670C6E4-E85D-5770-9A76-CD5C9D7A842E}"/>
              </a:ext>
            </a:extLst>
          </p:cNvPr>
          <p:cNvSpPr/>
          <p:nvPr/>
        </p:nvSpPr>
        <p:spPr>
          <a:xfrm>
            <a:off x="2364090" y="3938252"/>
            <a:ext cx="7953406"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lgn="just">
              <a:buFont typeface="+mj-lt"/>
              <a:buAutoNum type="arabicPeriod" startAt="12"/>
            </a:pPr>
            <a:r>
              <a:rPr lang="es-419" sz="1100" dirty="0"/>
              <a:t>Indique el valor numérico de la calificación.</a:t>
            </a:r>
          </a:p>
          <a:p>
            <a:pPr marL="228600" indent="-228600" algn="just">
              <a:buFont typeface="+mj-lt"/>
              <a:buAutoNum type="arabicPeriod" startAt="12"/>
            </a:pPr>
            <a:r>
              <a:rPr lang="es-419" sz="1100" dirty="0"/>
              <a:t>Pase al siguiente bloque</a:t>
            </a:r>
            <a:r>
              <a:rPr lang="es-ES_tradnl" sz="1100" dirty="0"/>
              <a:t>.</a:t>
            </a:r>
            <a:endParaRPr lang="es-CO" sz="1100" dirty="0"/>
          </a:p>
        </p:txBody>
      </p:sp>
      <p:sp>
        <p:nvSpPr>
          <p:cNvPr id="21" name="CuadroTexto 20">
            <a:extLst>
              <a:ext uri="{FF2B5EF4-FFF2-40B4-BE49-F238E27FC236}">
                <a16:creationId xmlns:a16="http://schemas.microsoft.com/office/drawing/2014/main" id="{B930FDBE-D4EB-CAFE-99B4-8CD2C145F2A5}"/>
              </a:ext>
            </a:extLst>
          </p:cNvPr>
          <p:cNvSpPr txBox="1"/>
          <p:nvPr/>
        </p:nvSpPr>
        <p:spPr>
          <a:xfrm>
            <a:off x="11233159" y="3478881"/>
            <a:ext cx="301753" cy="215444"/>
          </a:xfrm>
          <a:prstGeom prst="rect">
            <a:avLst/>
          </a:prstGeom>
          <a:solidFill>
            <a:schemeClr val="accent3"/>
          </a:solidFill>
        </p:spPr>
        <p:txBody>
          <a:bodyPr wrap="square" rtlCol="0">
            <a:spAutoFit/>
          </a:bodyPr>
          <a:lstStyle/>
          <a:p>
            <a:r>
              <a:rPr lang="en-US" sz="800" b="1" dirty="0">
                <a:solidFill>
                  <a:schemeClr val="bg1"/>
                </a:solidFill>
              </a:rPr>
              <a:t>12</a:t>
            </a:r>
          </a:p>
        </p:txBody>
      </p:sp>
      <p:sp>
        <p:nvSpPr>
          <p:cNvPr id="22" name="Flecha: hacia la izquierda 21">
            <a:extLst>
              <a:ext uri="{FF2B5EF4-FFF2-40B4-BE49-F238E27FC236}">
                <a16:creationId xmlns:a16="http://schemas.microsoft.com/office/drawing/2014/main" id="{DC30B657-EF6E-AC21-710C-CBFAEB5B1159}"/>
              </a:ext>
            </a:extLst>
          </p:cNvPr>
          <p:cNvSpPr/>
          <p:nvPr/>
        </p:nvSpPr>
        <p:spPr>
          <a:xfrm rot="10800000">
            <a:off x="11574987" y="3582180"/>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812A1DB4-AA80-A6E7-AF65-50133FDB3104}"/>
              </a:ext>
            </a:extLst>
          </p:cNvPr>
          <p:cNvSpPr/>
          <p:nvPr/>
        </p:nvSpPr>
        <p:spPr>
          <a:xfrm>
            <a:off x="11761366" y="3478881"/>
            <a:ext cx="301753" cy="20660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CuadroTexto 3">
            <a:extLst>
              <a:ext uri="{FF2B5EF4-FFF2-40B4-BE49-F238E27FC236}">
                <a16:creationId xmlns:a16="http://schemas.microsoft.com/office/drawing/2014/main" id="{30F27189-B73F-DCDB-C63A-9C737DF96E25}"/>
              </a:ext>
            </a:extLst>
          </p:cNvPr>
          <p:cNvSpPr txBox="1"/>
          <p:nvPr/>
        </p:nvSpPr>
        <p:spPr>
          <a:xfrm>
            <a:off x="1319898" y="5082883"/>
            <a:ext cx="301753" cy="215444"/>
          </a:xfrm>
          <a:prstGeom prst="rect">
            <a:avLst/>
          </a:prstGeom>
          <a:solidFill>
            <a:schemeClr val="accent3"/>
          </a:solidFill>
        </p:spPr>
        <p:txBody>
          <a:bodyPr wrap="square" rtlCol="0">
            <a:spAutoFit/>
          </a:bodyPr>
          <a:lstStyle/>
          <a:p>
            <a:r>
              <a:rPr lang="en-US" sz="800" b="1" dirty="0">
                <a:solidFill>
                  <a:schemeClr val="bg1"/>
                </a:solidFill>
              </a:rPr>
              <a:t>13</a:t>
            </a:r>
          </a:p>
        </p:txBody>
      </p:sp>
      <p:sp>
        <p:nvSpPr>
          <p:cNvPr id="5" name="Flecha: hacia la izquierda 4">
            <a:extLst>
              <a:ext uri="{FF2B5EF4-FFF2-40B4-BE49-F238E27FC236}">
                <a16:creationId xmlns:a16="http://schemas.microsoft.com/office/drawing/2014/main" id="{00D8058B-954E-E118-A93A-0F6E07DBAE06}"/>
              </a:ext>
            </a:extLst>
          </p:cNvPr>
          <p:cNvSpPr/>
          <p:nvPr/>
        </p:nvSpPr>
        <p:spPr>
          <a:xfrm rot="16039828">
            <a:off x="1397622" y="5419222"/>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75B6E8B-B1D6-7540-4E8A-944800515663}"/>
              </a:ext>
            </a:extLst>
          </p:cNvPr>
          <p:cNvSpPr/>
          <p:nvPr/>
        </p:nvSpPr>
        <p:spPr>
          <a:xfrm>
            <a:off x="1284200" y="5585837"/>
            <a:ext cx="373150" cy="19583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864837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3711CD6-2300-C90F-3089-6E1983EA2AA8}"/>
              </a:ext>
            </a:extLst>
          </p:cNvPr>
          <p:cNvPicPr>
            <a:picLocks noChangeAspect="1"/>
          </p:cNvPicPr>
          <p:nvPr/>
        </p:nvPicPr>
        <p:blipFill>
          <a:blip r:embed="rId3"/>
          <a:stretch>
            <a:fillRect/>
          </a:stretch>
        </p:blipFill>
        <p:spPr>
          <a:xfrm>
            <a:off x="979091" y="852881"/>
            <a:ext cx="11072315" cy="5090719"/>
          </a:xfrm>
          <a:prstGeom prst="rect">
            <a:avLst/>
          </a:prstGeom>
        </p:spPr>
      </p:pic>
      <p:sp>
        <p:nvSpPr>
          <p:cNvPr id="2" name="Marcador de texto vertical 1">
            <a:extLst>
              <a:ext uri="{FF2B5EF4-FFF2-40B4-BE49-F238E27FC236}">
                <a16:creationId xmlns:a16="http://schemas.microsoft.com/office/drawing/2014/main" id="{87503865-D809-43D0-2AAE-3B76B2B1251D}"/>
              </a:ext>
            </a:extLst>
          </p:cNvPr>
          <p:cNvSpPr>
            <a:spLocks noGrp="1"/>
          </p:cNvSpPr>
          <p:nvPr>
            <p:ph type="body" orient="vert" sz="quarter" idx="17"/>
          </p:nvPr>
        </p:nvSpPr>
        <p:spPr/>
        <p:txBody>
          <a:bodyPr/>
          <a:lstStyle/>
          <a:p>
            <a:r>
              <a:rPr lang="es-419" dirty="0"/>
              <a:t>Gestionar calificaciones incompletas</a:t>
            </a:r>
          </a:p>
        </p:txBody>
      </p:sp>
      <p:sp>
        <p:nvSpPr>
          <p:cNvPr id="13" name="Title 12"/>
          <p:cNvSpPr>
            <a:spLocks noGrp="1"/>
          </p:cNvSpPr>
          <p:nvPr>
            <p:ph type="title"/>
          </p:nvPr>
        </p:nvSpPr>
        <p:spPr>
          <a:xfrm>
            <a:off x="857251" y="277860"/>
            <a:ext cx="11224502" cy="898555"/>
          </a:xfrm>
        </p:spPr>
        <p:txBody>
          <a:bodyPr/>
          <a:lstStyle/>
          <a:p>
            <a:r>
              <a:rPr lang="es-419" dirty="0">
                <a:solidFill>
                  <a:schemeClr val="accent1"/>
                </a:solidFill>
              </a:rPr>
              <a:t>Crear códigos de calificaciones incompletas (SHAGRDE)</a:t>
            </a:r>
            <a:endParaRPr lang="es-ES_tradnl" b="1" dirty="0">
              <a:solidFill>
                <a:schemeClr val="accent1"/>
              </a:solidFill>
            </a:endParaRPr>
          </a:p>
        </p:txBody>
      </p:sp>
      <p:sp>
        <p:nvSpPr>
          <p:cNvPr id="6" name="Rectángulo: esquinas redondeadas 5">
            <a:extLst>
              <a:ext uri="{FF2B5EF4-FFF2-40B4-BE49-F238E27FC236}">
                <a16:creationId xmlns:a16="http://schemas.microsoft.com/office/drawing/2014/main" id="{CCF97DD7-911E-AD57-2535-76C418A251C0}"/>
              </a:ext>
            </a:extLst>
          </p:cNvPr>
          <p:cNvSpPr/>
          <p:nvPr/>
        </p:nvSpPr>
        <p:spPr>
          <a:xfrm>
            <a:off x="2258523" y="5048492"/>
            <a:ext cx="8421958" cy="89510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14"/>
            </a:pPr>
            <a:r>
              <a:rPr lang="es-CO" sz="1100" dirty="0"/>
              <a:t>Ingrese el o los modos de calificación asociados al código de calificación (inserte nuevos registros si es más de un modo de calificar)</a:t>
            </a:r>
            <a:r>
              <a:rPr lang="es-ES_tradnl" sz="1100" dirty="0"/>
              <a:t>. </a:t>
            </a:r>
            <a:endParaRPr lang="es-ES_tradnl" sz="1100" b="1" dirty="0"/>
          </a:p>
          <a:p>
            <a:pPr marL="342900" indent="-342900" algn="just">
              <a:buFont typeface="+mj-lt"/>
              <a:buAutoNum type="arabicPeriod" startAt="14"/>
            </a:pPr>
            <a:r>
              <a:rPr lang="es-419" sz="1100" dirty="0"/>
              <a:t>Guarde la información. </a:t>
            </a:r>
            <a:endParaRPr lang="es-ES_tradnl" sz="1100" dirty="0"/>
          </a:p>
        </p:txBody>
      </p:sp>
      <p:sp>
        <p:nvSpPr>
          <p:cNvPr id="7" name="CuadroTexto 6">
            <a:extLst>
              <a:ext uri="{FF2B5EF4-FFF2-40B4-BE49-F238E27FC236}">
                <a16:creationId xmlns:a16="http://schemas.microsoft.com/office/drawing/2014/main" id="{943883E1-346B-6C61-D84E-085A78969F51}"/>
              </a:ext>
            </a:extLst>
          </p:cNvPr>
          <p:cNvSpPr txBox="1"/>
          <p:nvPr/>
        </p:nvSpPr>
        <p:spPr>
          <a:xfrm>
            <a:off x="10930118" y="5590435"/>
            <a:ext cx="301753" cy="215444"/>
          </a:xfrm>
          <a:prstGeom prst="rect">
            <a:avLst/>
          </a:prstGeom>
          <a:solidFill>
            <a:schemeClr val="accent3"/>
          </a:solidFill>
        </p:spPr>
        <p:txBody>
          <a:bodyPr wrap="square" rtlCol="0">
            <a:spAutoFit/>
          </a:bodyPr>
          <a:lstStyle/>
          <a:p>
            <a:r>
              <a:rPr lang="en-US" sz="800" b="1" dirty="0">
                <a:solidFill>
                  <a:schemeClr val="bg1"/>
                </a:solidFill>
              </a:rPr>
              <a:t>15</a:t>
            </a:r>
          </a:p>
        </p:txBody>
      </p:sp>
      <p:sp>
        <p:nvSpPr>
          <p:cNvPr id="8" name="Flecha: hacia la izquierda 7">
            <a:extLst>
              <a:ext uri="{FF2B5EF4-FFF2-40B4-BE49-F238E27FC236}">
                <a16:creationId xmlns:a16="http://schemas.microsoft.com/office/drawing/2014/main" id="{F6049FBF-6A41-42B1-8C31-5EA4F3D5F442}"/>
              </a:ext>
            </a:extLst>
          </p:cNvPr>
          <p:cNvSpPr/>
          <p:nvPr/>
        </p:nvSpPr>
        <p:spPr>
          <a:xfrm rot="10800000">
            <a:off x="11292791" y="567529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7CD4DAF-276E-38E9-B99A-2EEF72142C4C}"/>
              </a:ext>
            </a:extLst>
          </p:cNvPr>
          <p:cNvSpPr txBox="1"/>
          <p:nvPr/>
        </p:nvSpPr>
        <p:spPr>
          <a:xfrm>
            <a:off x="4865233" y="4348772"/>
            <a:ext cx="301753" cy="215444"/>
          </a:xfrm>
          <a:prstGeom prst="rect">
            <a:avLst/>
          </a:prstGeom>
          <a:solidFill>
            <a:schemeClr val="accent3"/>
          </a:solidFill>
        </p:spPr>
        <p:txBody>
          <a:bodyPr wrap="square" rtlCol="0">
            <a:spAutoFit/>
          </a:bodyPr>
          <a:lstStyle/>
          <a:p>
            <a:r>
              <a:rPr lang="es-CO" sz="800" b="1" dirty="0">
                <a:solidFill>
                  <a:schemeClr val="bg1"/>
                </a:solidFill>
              </a:rPr>
              <a:t>14</a:t>
            </a:r>
            <a:endParaRPr lang="en-US" sz="800" b="1" dirty="0">
              <a:solidFill>
                <a:schemeClr val="bg1"/>
              </a:solidFill>
            </a:endParaRPr>
          </a:p>
        </p:txBody>
      </p:sp>
      <p:sp>
        <p:nvSpPr>
          <p:cNvPr id="10" name="Flecha: hacia la izquierda 9">
            <a:extLst>
              <a:ext uri="{FF2B5EF4-FFF2-40B4-BE49-F238E27FC236}">
                <a16:creationId xmlns:a16="http://schemas.microsoft.com/office/drawing/2014/main" id="{9590AC33-9566-D20E-990D-9F246B10E952}"/>
              </a:ext>
            </a:extLst>
          </p:cNvPr>
          <p:cNvSpPr/>
          <p:nvPr/>
        </p:nvSpPr>
        <p:spPr>
          <a:xfrm>
            <a:off x="4688582" y="445649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a:extLst>
              <a:ext uri="{FF2B5EF4-FFF2-40B4-BE49-F238E27FC236}">
                <a16:creationId xmlns:a16="http://schemas.microsoft.com/office/drawing/2014/main" id="{17670BA2-739A-7E93-376D-64CB1218E5CC}"/>
              </a:ext>
            </a:extLst>
          </p:cNvPr>
          <p:cNvSpPr/>
          <p:nvPr/>
        </p:nvSpPr>
        <p:spPr>
          <a:xfrm>
            <a:off x="948744" y="4371632"/>
            <a:ext cx="3628245" cy="16972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162681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p:txBody>
          <a:bodyPr/>
          <a:lstStyle/>
          <a:p>
            <a:r>
              <a:rPr lang="es-419" dirty="0"/>
              <a:t>Gestionar calificaciones incompletas</a:t>
            </a:r>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CO" dirty="0"/>
              <a:t>Definir fecha límite para reemplazo de calificación incompleta</a:t>
            </a:r>
            <a:endParaRPr lang="es-419" dirty="0"/>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r>
              <a:rPr lang="es-CO" dirty="0"/>
              <a:t>Se establece para cada Parte de período…</a:t>
            </a:r>
            <a:endParaRPr lang="es-ES_tradnl" dirty="0"/>
          </a:p>
        </p:txBody>
      </p:sp>
    </p:spTree>
    <p:extLst>
      <p:ext uri="{BB962C8B-B14F-4D97-AF65-F5344CB8AC3E}">
        <p14:creationId xmlns:p14="http://schemas.microsoft.com/office/powerpoint/2010/main" val="1987121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07CFF3A-75CA-C2AD-0D87-A5E009A7A81E}"/>
              </a:ext>
            </a:extLst>
          </p:cNvPr>
          <p:cNvPicPr>
            <a:picLocks noChangeAspect="1"/>
          </p:cNvPicPr>
          <p:nvPr/>
        </p:nvPicPr>
        <p:blipFill>
          <a:blip r:embed="rId2"/>
          <a:stretch>
            <a:fillRect/>
          </a:stretch>
        </p:blipFill>
        <p:spPr>
          <a:xfrm>
            <a:off x="871824" y="1129306"/>
            <a:ext cx="10891551" cy="4971365"/>
          </a:xfrm>
          <a:prstGeom prst="rect">
            <a:avLst/>
          </a:prstGeom>
          <a:solidFill>
            <a:schemeClr val="accent3"/>
          </a:solidFill>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83978" y="230751"/>
            <a:ext cx="10477497" cy="898555"/>
          </a:xfrm>
        </p:spPr>
        <p:txBody>
          <a:bodyPr/>
          <a:lstStyle/>
          <a:p>
            <a:r>
              <a:rPr lang="es-CO" dirty="0">
                <a:solidFill>
                  <a:schemeClr val="accent1"/>
                </a:solidFill>
              </a:rPr>
              <a:t>Definir fecha límite para reemplazo de calificación incompleta</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298136" y="3414411"/>
            <a:ext cx="7649183"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En la página </a:t>
            </a:r>
            <a:r>
              <a:rPr lang="es-ES_tradnl" sz="1100" b="1" dirty="0"/>
              <a:t>SOATERM</a:t>
            </a:r>
            <a:r>
              <a:rPr lang="es-ES_tradnl" sz="1100" dirty="0"/>
              <a:t>:</a:t>
            </a:r>
          </a:p>
          <a:p>
            <a:pPr marL="228600" indent="-228600">
              <a:buFont typeface="+mj-lt"/>
              <a:buAutoNum type="arabicPeriod"/>
            </a:pPr>
            <a:r>
              <a:rPr lang="es-ES_tradnl" sz="1100" dirty="0"/>
              <a:t>Ingrese el </a:t>
            </a:r>
            <a:r>
              <a:rPr lang="es-ES_tradnl" sz="1100" b="1" dirty="0"/>
              <a:t>Período</a:t>
            </a:r>
            <a:r>
              <a:rPr lang="es-ES_tradnl" sz="1100" dirty="0"/>
              <a:t> para el cual se establecerán las fechas.</a:t>
            </a:r>
          </a:p>
          <a:p>
            <a:pPr marL="228600" indent="-228600">
              <a:buFont typeface="+mj-lt"/>
              <a:buAutoNum type="arabicPeriod"/>
            </a:pPr>
            <a:r>
              <a:rPr lang="es-ES_tradnl" sz="1100" dirty="0"/>
              <a:t>Presione el botón </a:t>
            </a:r>
            <a:r>
              <a:rPr lang="es-ES_tradnl" sz="1100" b="1" dirty="0"/>
              <a:t>Ir</a:t>
            </a:r>
            <a:r>
              <a:rPr lang="es-ES_tradnl" sz="1100" dirty="0"/>
              <a:t>.</a:t>
            </a:r>
          </a:p>
        </p:txBody>
      </p:sp>
      <p:sp>
        <p:nvSpPr>
          <p:cNvPr id="14" name="CuadroTexto 13">
            <a:extLst>
              <a:ext uri="{FF2B5EF4-FFF2-40B4-BE49-F238E27FC236}">
                <a16:creationId xmlns:a16="http://schemas.microsoft.com/office/drawing/2014/main" id="{74DE2BBC-D5F1-A015-ADFE-7AFF2B4FC0A6}"/>
              </a:ext>
            </a:extLst>
          </p:cNvPr>
          <p:cNvSpPr txBox="1"/>
          <p:nvPr/>
        </p:nvSpPr>
        <p:spPr>
          <a:xfrm>
            <a:off x="822838" y="1813168"/>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15" name="Flecha: hacia la izquierda 14">
            <a:extLst>
              <a:ext uri="{FF2B5EF4-FFF2-40B4-BE49-F238E27FC236}">
                <a16:creationId xmlns:a16="http://schemas.microsoft.com/office/drawing/2014/main" id="{F573EAB5-A155-6256-2C01-E76690A60BE8}"/>
              </a:ext>
            </a:extLst>
          </p:cNvPr>
          <p:cNvSpPr/>
          <p:nvPr/>
        </p:nvSpPr>
        <p:spPr>
          <a:xfrm rot="10800000">
            <a:off x="1191524" y="189257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9EC7E634-69DF-A252-DE48-633225E2845F}"/>
              </a:ext>
            </a:extLst>
          </p:cNvPr>
          <p:cNvSpPr txBox="1"/>
          <p:nvPr/>
        </p:nvSpPr>
        <p:spPr>
          <a:xfrm>
            <a:off x="10814641" y="1813168"/>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7" name="Flecha: hacia la izquierda 16">
            <a:extLst>
              <a:ext uri="{FF2B5EF4-FFF2-40B4-BE49-F238E27FC236}">
                <a16:creationId xmlns:a16="http://schemas.microsoft.com/office/drawing/2014/main" id="{FB83DC46-34B3-BD60-6CB7-CB688363C245}"/>
              </a:ext>
            </a:extLst>
          </p:cNvPr>
          <p:cNvSpPr/>
          <p:nvPr/>
        </p:nvSpPr>
        <p:spPr>
          <a:xfrm rot="10800000">
            <a:off x="11186334" y="1912813"/>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CC8DDC09-1AD2-5CB9-4F03-7553A22A3563}"/>
              </a:ext>
            </a:extLst>
          </p:cNvPr>
          <p:cNvSpPr/>
          <p:nvPr/>
        </p:nvSpPr>
        <p:spPr>
          <a:xfrm>
            <a:off x="1377359" y="1807714"/>
            <a:ext cx="1647560" cy="21544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932779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8546A19-7EAF-889F-A8DF-E207CF0C9FCE}"/>
              </a:ext>
            </a:extLst>
          </p:cNvPr>
          <p:cNvPicPr>
            <a:picLocks noChangeAspect="1"/>
          </p:cNvPicPr>
          <p:nvPr/>
        </p:nvPicPr>
        <p:blipFill>
          <a:blip r:embed="rId2"/>
          <a:stretch>
            <a:fillRect/>
          </a:stretch>
        </p:blipFill>
        <p:spPr>
          <a:xfrm>
            <a:off x="883978" y="1147385"/>
            <a:ext cx="10772775" cy="4922286"/>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83978" y="230751"/>
            <a:ext cx="10477497" cy="898555"/>
          </a:xfrm>
        </p:spPr>
        <p:txBody>
          <a:bodyPr/>
          <a:lstStyle/>
          <a:p>
            <a:r>
              <a:rPr lang="es-CO" dirty="0">
                <a:solidFill>
                  <a:schemeClr val="accent1"/>
                </a:solidFill>
              </a:rPr>
              <a:t>Definir fecha límite para reemplazo de calificación incompleta</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179288" y="4484453"/>
            <a:ext cx="8236919" cy="122616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En la pestaña Controles de inscripción de parte de período y web:</a:t>
            </a:r>
          </a:p>
          <a:p>
            <a:pPr marL="228600" indent="-228600">
              <a:buFont typeface="+mj-lt"/>
              <a:buAutoNum type="arabicPeriod" startAt="3"/>
            </a:pPr>
            <a:r>
              <a:rPr lang="es-CO" sz="1100" dirty="0"/>
              <a:t>Ingrese la </a:t>
            </a:r>
            <a:r>
              <a:rPr lang="es-CO" sz="1100" b="1" dirty="0"/>
              <a:t>fecha de extensión incompleta</a:t>
            </a:r>
            <a:r>
              <a:rPr lang="es-CO" sz="1100" dirty="0"/>
              <a:t>. Esta fecha es la que va a heredar la calificación en historia académica y  es la que toma el sistema para reemplazar la calificación incompleta por la que se ha definido en SHAGRDE cuando se ejecute el procesamiento</a:t>
            </a:r>
            <a:r>
              <a:rPr lang="es-ES_tradnl" sz="1100" dirty="0"/>
              <a:t>.</a:t>
            </a:r>
          </a:p>
          <a:p>
            <a:pPr marL="228600" indent="-228600">
              <a:buFont typeface="+mj-lt"/>
              <a:buAutoNum type="arabicPeriod" startAt="3"/>
            </a:pPr>
            <a:r>
              <a:rPr lang="es-ES_tradnl" sz="1100" dirty="0"/>
              <a:t>Presione el botón </a:t>
            </a:r>
            <a:r>
              <a:rPr lang="es-ES_tradnl" sz="1100" b="1" dirty="0"/>
              <a:t>Guardar</a:t>
            </a:r>
            <a:r>
              <a:rPr lang="es-ES_tradnl" sz="1100" dirty="0"/>
              <a:t>.</a:t>
            </a:r>
          </a:p>
        </p:txBody>
      </p:sp>
      <p:sp>
        <p:nvSpPr>
          <p:cNvPr id="14" name="CuadroTexto 13">
            <a:extLst>
              <a:ext uri="{FF2B5EF4-FFF2-40B4-BE49-F238E27FC236}">
                <a16:creationId xmlns:a16="http://schemas.microsoft.com/office/drawing/2014/main" id="{74DE2BBC-D5F1-A015-ADFE-7AFF2B4FC0A6}"/>
              </a:ext>
            </a:extLst>
          </p:cNvPr>
          <p:cNvSpPr txBox="1"/>
          <p:nvPr/>
        </p:nvSpPr>
        <p:spPr>
          <a:xfrm>
            <a:off x="7857748" y="2594462"/>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5" name="Flecha: hacia la izquierda 14">
            <a:extLst>
              <a:ext uri="{FF2B5EF4-FFF2-40B4-BE49-F238E27FC236}">
                <a16:creationId xmlns:a16="http://schemas.microsoft.com/office/drawing/2014/main" id="{F573EAB5-A155-6256-2C01-E76690A60BE8}"/>
              </a:ext>
            </a:extLst>
          </p:cNvPr>
          <p:cNvSpPr/>
          <p:nvPr/>
        </p:nvSpPr>
        <p:spPr>
          <a:xfrm rot="10800000">
            <a:off x="8200504" y="2685315"/>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9EC7E634-69DF-A252-DE48-633225E2845F}"/>
              </a:ext>
            </a:extLst>
          </p:cNvPr>
          <p:cNvSpPr txBox="1"/>
          <p:nvPr/>
        </p:nvSpPr>
        <p:spPr>
          <a:xfrm>
            <a:off x="10590965" y="5739897"/>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7" name="Flecha: hacia la izquierda 16">
            <a:extLst>
              <a:ext uri="{FF2B5EF4-FFF2-40B4-BE49-F238E27FC236}">
                <a16:creationId xmlns:a16="http://schemas.microsoft.com/office/drawing/2014/main" id="{FB83DC46-34B3-BD60-6CB7-CB688363C245}"/>
              </a:ext>
            </a:extLst>
          </p:cNvPr>
          <p:cNvSpPr/>
          <p:nvPr/>
        </p:nvSpPr>
        <p:spPr>
          <a:xfrm rot="10800000">
            <a:off x="10919936" y="582475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CC8DDC09-1AD2-5CB9-4F03-7553A22A3563}"/>
              </a:ext>
            </a:extLst>
          </p:cNvPr>
          <p:cNvSpPr/>
          <p:nvPr/>
        </p:nvSpPr>
        <p:spPr>
          <a:xfrm>
            <a:off x="8428814" y="2600453"/>
            <a:ext cx="1077136" cy="25704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37323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p:txBody>
          <a:bodyPr/>
          <a:lstStyle/>
          <a:p>
            <a:r>
              <a:rPr lang="es-419" dirty="0"/>
              <a:t>Gestionar calificaciones incompletas</a:t>
            </a:r>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CO" dirty="0"/>
              <a:t>Definir las reglas de calificación incompleta</a:t>
            </a:r>
            <a:endParaRPr lang="es-419" dirty="0"/>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endParaRPr lang="es-ES_tradnl" dirty="0"/>
          </a:p>
        </p:txBody>
      </p:sp>
    </p:spTree>
    <p:extLst>
      <p:ext uri="{BB962C8B-B14F-4D97-AF65-F5344CB8AC3E}">
        <p14:creationId xmlns:p14="http://schemas.microsoft.com/office/powerpoint/2010/main" val="2980428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4845281-9E7B-4BBF-7B05-D44330D28956}"/>
              </a:ext>
            </a:extLst>
          </p:cNvPr>
          <p:cNvPicPr>
            <a:picLocks noChangeAspect="1"/>
          </p:cNvPicPr>
          <p:nvPr/>
        </p:nvPicPr>
        <p:blipFill>
          <a:blip r:embed="rId2"/>
          <a:stretch>
            <a:fillRect/>
          </a:stretch>
        </p:blipFill>
        <p:spPr>
          <a:xfrm>
            <a:off x="961735" y="1051320"/>
            <a:ext cx="10872036" cy="4973801"/>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83978" y="363918"/>
            <a:ext cx="10477497" cy="898555"/>
          </a:xfrm>
        </p:spPr>
        <p:txBody>
          <a:bodyPr/>
          <a:lstStyle/>
          <a:p>
            <a:r>
              <a:rPr lang="es-CO" dirty="0">
                <a:solidFill>
                  <a:schemeClr val="accent1"/>
                </a:solidFill>
              </a:rPr>
              <a:t>Definir las reglas de calificación incompleta</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337048" y="3414411"/>
            <a:ext cx="7649183" cy="97276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En la página </a:t>
            </a:r>
            <a:r>
              <a:rPr lang="es-ES_tradnl" sz="1100" b="1" dirty="0"/>
              <a:t>SHAINCG</a:t>
            </a:r>
            <a:r>
              <a:rPr lang="es-ES_tradnl" sz="1100" dirty="0"/>
              <a:t>:</a:t>
            </a:r>
          </a:p>
          <a:p>
            <a:pPr marL="228600" indent="-228600">
              <a:buFont typeface="+mj-lt"/>
              <a:buAutoNum type="arabicPeriod"/>
            </a:pPr>
            <a:r>
              <a:rPr lang="es-ES_tradnl" sz="1100" dirty="0"/>
              <a:t>Presione la opción </a:t>
            </a:r>
            <a:r>
              <a:rPr lang="es-ES_tradnl" sz="1100" b="1" dirty="0"/>
              <a:t>Insertar</a:t>
            </a:r>
            <a:r>
              <a:rPr lang="es-ES_tradnl" sz="1100" dirty="0"/>
              <a:t> para establecer una nueva regla.</a:t>
            </a:r>
          </a:p>
          <a:p>
            <a:pPr marL="228600" indent="-228600">
              <a:buFont typeface="+mj-lt"/>
              <a:buAutoNum type="arabicPeriod"/>
            </a:pPr>
            <a:r>
              <a:rPr lang="es-ES_tradnl" sz="1100" dirty="0"/>
              <a:t>Ingrese el código correspondiente al </a:t>
            </a:r>
            <a:r>
              <a:rPr lang="es-CO" sz="1100" b="1" dirty="0"/>
              <a:t>periodo</a:t>
            </a:r>
            <a:r>
              <a:rPr lang="es-CO" sz="1100" dirty="0"/>
              <a:t> vigente para la regla.</a:t>
            </a:r>
          </a:p>
          <a:p>
            <a:pPr marL="228600" indent="-228600">
              <a:buFont typeface="+mj-lt"/>
              <a:buAutoNum type="arabicPeriod"/>
            </a:pPr>
            <a:r>
              <a:rPr lang="es-ES_tradnl" sz="1100" dirty="0"/>
              <a:t>Ingrese el código </a:t>
            </a:r>
            <a:r>
              <a:rPr lang="es-419" sz="1100" dirty="0"/>
              <a:t>del </a:t>
            </a:r>
            <a:r>
              <a:rPr lang="es-419" sz="1100" b="1" dirty="0"/>
              <a:t>nivel</a:t>
            </a:r>
            <a:r>
              <a:rPr lang="es-419" sz="1100" dirty="0"/>
              <a:t> para el que aplique </a:t>
            </a:r>
            <a:r>
              <a:rPr lang="es-CO" sz="1100" dirty="0"/>
              <a:t>la regla. Si no se indica un nivel específico, la regla se aplicará para todos los niveles.</a:t>
            </a:r>
            <a:endParaRPr lang="es-ES_tradnl" sz="1100" dirty="0"/>
          </a:p>
        </p:txBody>
      </p:sp>
      <p:sp>
        <p:nvSpPr>
          <p:cNvPr id="14" name="CuadroTexto 13">
            <a:extLst>
              <a:ext uri="{FF2B5EF4-FFF2-40B4-BE49-F238E27FC236}">
                <a16:creationId xmlns:a16="http://schemas.microsoft.com/office/drawing/2014/main" id="{74DE2BBC-D5F1-A015-ADFE-7AFF2B4FC0A6}"/>
              </a:ext>
            </a:extLst>
          </p:cNvPr>
          <p:cNvSpPr txBox="1"/>
          <p:nvPr/>
        </p:nvSpPr>
        <p:spPr>
          <a:xfrm>
            <a:off x="445036" y="2075177"/>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5" name="Flecha: hacia la izquierda 14">
            <a:extLst>
              <a:ext uri="{FF2B5EF4-FFF2-40B4-BE49-F238E27FC236}">
                <a16:creationId xmlns:a16="http://schemas.microsoft.com/office/drawing/2014/main" id="{F573EAB5-A155-6256-2C01-E76690A60BE8}"/>
              </a:ext>
            </a:extLst>
          </p:cNvPr>
          <p:cNvSpPr/>
          <p:nvPr/>
        </p:nvSpPr>
        <p:spPr>
          <a:xfrm rot="10800000">
            <a:off x="767846" y="216003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9EC7E634-69DF-A252-DE48-633225E2845F}"/>
              </a:ext>
            </a:extLst>
          </p:cNvPr>
          <p:cNvSpPr txBox="1"/>
          <p:nvPr/>
        </p:nvSpPr>
        <p:spPr>
          <a:xfrm>
            <a:off x="10373115" y="1687906"/>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17" name="Flecha: hacia la izquierda 16">
            <a:extLst>
              <a:ext uri="{FF2B5EF4-FFF2-40B4-BE49-F238E27FC236}">
                <a16:creationId xmlns:a16="http://schemas.microsoft.com/office/drawing/2014/main" id="{FB83DC46-34B3-BD60-6CB7-CB688363C245}"/>
              </a:ext>
            </a:extLst>
          </p:cNvPr>
          <p:cNvSpPr/>
          <p:nvPr/>
        </p:nvSpPr>
        <p:spPr>
          <a:xfrm rot="10800000">
            <a:off x="10749518" y="177276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CC8DDC09-1AD2-5CB9-4F03-7553A22A3563}"/>
              </a:ext>
            </a:extLst>
          </p:cNvPr>
          <p:cNvSpPr/>
          <p:nvPr/>
        </p:nvSpPr>
        <p:spPr>
          <a:xfrm>
            <a:off x="961735" y="2075177"/>
            <a:ext cx="1373913" cy="21544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Rectángulo 5">
            <a:extLst>
              <a:ext uri="{FF2B5EF4-FFF2-40B4-BE49-F238E27FC236}">
                <a16:creationId xmlns:a16="http://schemas.microsoft.com/office/drawing/2014/main" id="{882C4A6E-5685-642C-9007-F7FB816CA58F}"/>
              </a:ext>
            </a:extLst>
          </p:cNvPr>
          <p:cNvSpPr/>
          <p:nvPr/>
        </p:nvSpPr>
        <p:spPr>
          <a:xfrm>
            <a:off x="10934700" y="1712191"/>
            <a:ext cx="212358" cy="13441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2FEE7F43-5EFF-BC53-D155-10E6B26D3D2F}"/>
              </a:ext>
            </a:extLst>
          </p:cNvPr>
          <p:cNvSpPr txBox="1"/>
          <p:nvPr/>
        </p:nvSpPr>
        <p:spPr>
          <a:xfrm>
            <a:off x="3587978" y="2097297"/>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0" name="Flecha: hacia la izquierda 9">
            <a:extLst>
              <a:ext uri="{FF2B5EF4-FFF2-40B4-BE49-F238E27FC236}">
                <a16:creationId xmlns:a16="http://schemas.microsoft.com/office/drawing/2014/main" id="{2FAC5C33-C889-9968-EECE-AECBBF29EBA6}"/>
              </a:ext>
            </a:extLst>
          </p:cNvPr>
          <p:cNvSpPr/>
          <p:nvPr/>
        </p:nvSpPr>
        <p:spPr>
          <a:xfrm>
            <a:off x="3409186" y="215929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a:extLst>
              <a:ext uri="{FF2B5EF4-FFF2-40B4-BE49-F238E27FC236}">
                <a16:creationId xmlns:a16="http://schemas.microsoft.com/office/drawing/2014/main" id="{4516956C-D9EA-C47D-143C-11739B430BA4}"/>
              </a:ext>
            </a:extLst>
          </p:cNvPr>
          <p:cNvSpPr/>
          <p:nvPr/>
        </p:nvSpPr>
        <p:spPr>
          <a:xfrm>
            <a:off x="2391939" y="2075177"/>
            <a:ext cx="981093" cy="21396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709463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7E9BB2E-B922-DE45-1334-0AFE640717F0}"/>
              </a:ext>
            </a:extLst>
          </p:cNvPr>
          <p:cNvPicPr>
            <a:picLocks noChangeAspect="1"/>
          </p:cNvPicPr>
          <p:nvPr/>
        </p:nvPicPr>
        <p:blipFill>
          <a:blip r:embed="rId2"/>
          <a:stretch>
            <a:fillRect/>
          </a:stretch>
        </p:blipFill>
        <p:spPr>
          <a:xfrm>
            <a:off x="883978" y="897342"/>
            <a:ext cx="10988776" cy="5027207"/>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83978" y="363918"/>
            <a:ext cx="10477497" cy="898555"/>
          </a:xfrm>
        </p:spPr>
        <p:txBody>
          <a:bodyPr/>
          <a:lstStyle/>
          <a:p>
            <a:r>
              <a:rPr lang="es-CO" dirty="0">
                <a:solidFill>
                  <a:schemeClr val="accent1"/>
                </a:solidFill>
              </a:rPr>
              <a:t>Definir las reglas de calificación incompleta</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337048" y="3414411"/>
            <a:ext cx="7649183" cy="76139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4"/>
            </a:pPr>
            <a:r>
              <a:rPr lang="es-419" sz="1100" dirty="0"/>
              <a:t>Active la casilla </a:t>
            </a:r>
            <a:r>
              <a:rPr lang="es-CO" sz="1100" dirty="0"/>
              <a:t>si la regla de nivel o periodo está activa para el </a:t>
            </a:r>
            <a:r>
              <a:rPr lang="es-CO" sz="1100" b="1" dirty="0"/>
              <a:t>procesamiento de calificación incompleta</a:t>
            </a:r>
            <a:r>
              <a:rPr lang="es-ES_tradnl" sz="1100" dirty="0"/>
              <a:t>.</a:t>
            </a:r>
          </a:p>
          <a:p>
            <a:pPr marL="228600" indent="-228600">
              <a:buFont typeface="+mj-lt"/>
              <a:buAutoNum type="arabicPeriod" startAt="4"/>
            </a:pPr>
            <a:r>
              <a:rPr lang="es-419" sz="1100" dirty="0"/>
              <a:t>Active la casilla </a:t>
            </a:r>
            <a:r>
              <a:rPr lang="es-CO" sz="1100" dirty="0"/>
              <a:t>si el docente puede </a:t>
            </a:r>
            <a:r>
              <a:rPr lang="es-CO" sz="1100" b="1" dirty="0"/>
              <a:t>sobrepasar</a:t>
            </a:r>
            <a:r>
              <a:rPr lang="es-CO" sz="1100" dirty="0"/>
              <a:t> una calificación predefinida, incompleta y final, es decir, si se activa, el docente pudiese cambiar la calificación predefinida (0.0 en el caso del CESA) por otra.</a:t>
            </a:r>
          </a:p>
        </p:txBody>
      </p:sp>
      <p:sp>
        <p:nvSpPr>
          <p:cNvPr id="14" name="CuadroTexto 13">
            <a:extLst>
              <a:ext uri="{FF2B5EF4-FFF2-40B4-BE49-F238E27FC236}">
                <a16:creationId xmlns:a16="http://schemas.microsoft.com/office/drawing/2014/main" id="{74DE2BBC-D5F1-A015-ADFE-7AFF2B4FC0A6}"/>
              </a:ext>
            </a:extLst>
          </p:cNvPr>
          <p:cNvSpPr txBox="1"/>
          <p:nvPr/>
        </p:nvSpPr>
        <p:spPr>
          <a:xfrm>
            <a:off x="2855497" y="2088007"/>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5" name="Flecha: hacia la izquierda 14">
            <a:extLst>
              <a:ext uri="{FF2B5EF4-FFF2-40B4-BE49-F238E27FC236}">
                <a16:creationId xmlns:a16="http://schemas.microsoft.com/office/drawing/2014/main" id="{F573EAB5-A155-6256-2C01-E76690A60BE8}"/>
              </a:ext>
            </a:extLst>
          </p:cNvPr>
          <p:cNvSpPr/>
          <p:nvPr/>
        </p:nvSpPr>
        <p:spPr>
          <a:xfrm rot="10800000">
            <a:off x="3196674" y="220466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CC8DDC09-1AD2-5CB9-4F03-7553A22A3563}"/>
              </a:ext>
            </a:extLst>
          </p:cNvPr>
          <p:cNvSpPr/>
          <p:nvPr/>
        </p:nvSpPr>
        <p:spPr>
          <a:xfrm>
            <a:off x="3421824" y="2103463"/>
            <a:ext cx="2309168" cy="19998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2FEE7F43-5EFF-BC53-D155-10E6B26D3D2F}"/>
              </a:ext>
            </a:extLst>
          </p:cNvPr>
          <p:cNvSpPr txBox="1"/>
          <p:nvPr/>
        </p:nvSpPr>
        <p:spPr>
          <a:xfrm>
            <a:off x="7639338" y="2082726"/>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10" name="Flecha: hacia la izquierda 9">
            <a:extLst>
              <a:ext uri="{FF2B5EF4-FFF2-40B4-BE49-F238E27FC236}">
                <a16:creationId xmlns:a16="http://schemas.microsoft.com/office/drawing/2014/main" id="{2FAC5C33-C889-9968-EECE-AECBBF29EBA6}"/>
              </a:ext>
            </a:extLst>
          </p:cNvPr>
          <p:cNvSpPr/>
          <p:nvPr/>
        </p:nvSpPr>
        <p:spPr>
          <a:xfrm>
            <a:off x="7384989" y="215773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a:extLst>
              <a:ext uri="{FF2B5EF4-FFF2-40B4-BE49-F238E27FC236}">
                <a16:creationId xmlns:a16="http://schemas.microsoft.com/office/drawing/2014/main" id="{4516956C-D9EA-C47D-143C-11739B430BA4}"/>
              </a:ext>
            </a:extLst>
          </p:cNvPr>
          <p:cNvSpPr/>
          <p:nvPr/>
        </p:nvSpPr>
        <p:spPr>
          <a:xfrm>
            <a:off x="5787756" y="2103463"/>
            <a:ext cx="1505639" cy="19998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129097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444CF69-DC35-45ED-6037-B33E3B61FD66}"/>
              </a:ext>
            </a:extLst>
          </p:cNvPr>
          <p:cNvPicPr>
            <a:picLocks noChangeAspect="1"/>
          </p:cNvPicPr>
          <p:nvPr/>
        </p:nvPicPr>
        <p:blipFill>
          <a:blip r:embed="rId2"/>
          <a:stretch>
            <a:fillRect/>
          </a:stretch>
        </p:blipFill>
        <p:spPr>
          <a:xfrm>
            <a:off x="883978" y="897342"/>
            <a:ext cx="10988776" cy="5027207"/>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83978" y="363918"/>
            <a:ext cx="10477497" cy="898555"/>
          </a:xfrm>
        </p:spPr>
        <p:txBody>
          <a:bodyPr/>
          <a:lstStyle/>
          <a:p>
            <a:r>
              <a:rPr lang="es-CO" dirty="0">
                <a:solidFill>
                  <a:schemeClr val="accent1"/>
                </a:solidFill>
              </a:rPr>
              <a:t>Definir las reglas de calificación incompleta</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2337048" y="3414411"/>
            <a:ext cx="7649183" cy="180089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6"/>
            </a:pPr>
            <a:r>
              <a:rPr lang="es-419" sz="1100" dirty="0"/>
              <a:t>Indique si los docentes tienen permiso para sobrepasar la fecha de extensión para calificaciones incompletas en relación al valor predefinido, y que permisos están otorgando. Las opciones son:</a:t>
            </a:r>
          </a:p>
          <a:p>
            <a:pPr marL="685800" lvl="1" indent="-228600">
              <a:buFont typeface="Arial" panose="020B0604020202020204" pitchFamily="34" charset="0"/>
              <a:buChar char="•"/>
            </a:pPr>
            <a:r>
              <a:rPr lang="es-419" sz="1100" dirty="0"/>
              <a:t>Reducir: el docente puede colocar una fecha anterior a la predefinida.</a:t>
            </a:r>
          </a:p>
          <a:p>
            <a:pPr marL="685800" lvl="1" indent="-228600">
              <a:buFont typeface="Arial" panose="020B0604020202020204" pitchFamily="34" charset="0"/>
              <a:buChar char="•"/>
            </a:pPr>
            <a:r>
              <a:rPr lang="es-419" sz="1100" dirty="0"/>
              <a:t>Ampliar: para ingresar una fecha posterior a la predefinida.</a:t>
            </a:r>
          </a:p>
          <a:p>
            <a:pPr marL="685800" lvl="1" indent="-228600">
              <a:buFont typeface="Arial" panose="020B0604020202020204" pitchFamily="34" charset="0"/>
              <a:buChar char="•"/>
            </a:pPr>
            <a:r>
              <a:rPr lang="es-419" sz="1100" dirty="0"/>
              <a:t>Cualquier: el docente puede colocar cualquier fecha, anterior o posterior, diferente a la predefinida</a:t>
            </a:r>
          </a:p>
          <a:p>
            <a:pPr marL="685800" lvl="1" indent="-228600">
              <a:buFont typeface="Arial" panose="020B0604020202020204" pitchFamily="34" charset="0"/>
              <a:buChar char="•"/>
            </a:pPr>
            <a:r>
              <a:rPr lang="es-419" sz="1100" dirty="0"/>
              <a:t>Ninguno: el profesor no puede sobrepasar la fecha predefinida</a:t>
            </a:r>
            <a:r>
              <a:rPr lang="es-ES_tradnl" sz="1100" dirty="0"/>
              <a:t>.</a:t>
            </a:r>
          </a:p>
          <a:p>
            <a:pPr marL="228600" indent="-228600">
              <a:buFont typeface="+mj-lt"/>
              <a:buAutoNum type="arabicPeriod" startAt="6"/>
            </a:pPr>
            <a:r>
              <a:rPr lang="es-419" sz="1100" dirty="0"/>
              <a:t>Active la casilla </a:t>
            </a:r>
            <a:r>
              <a:rPr lang="es-CO" sz="1100" dirty="0"/>
              <a:t>si los valores de calificación final, substituta, predefinida e incompleta y la fecha de extensión se deben desplegar en SSB en la página de Calificaciones Finales.</a:t>
            </a:r>
          </a:p>
          <a:p>
            <a:pPr marL="228600" indent="-228600">
              <a:buFont typeface="+mj-lt"/>
              <a:buAutoNum type="arabicPeriod" startAt="6"/>
            </a:pPr>
            <a:r>
              <a:rPr lang="es-CO" sz="1100" dirty="0"/>
              <a:t>Guarde la información de la regla.</a:t>
            </a:r>
          </a:p>
        </p:txBody>
      </p:sp>
      <p:sp>
        <p:nvSpPr>
          <p:cNvPr id="14" name="CuadroTexto 13">
            <a:extLst>
              <a:ext uri="{FF2B5EF4-FFF2-40B4-BE49-F238E27FC236}">
                <a16:creationId xmlns:a16="http://schemas.microsoft.com/office/drawing/2014/main" id="{74DE2BBC-D5F1-A015-ADFE-7AFF2B4FC0A6}"/>
              </a:ext>
            </a:extLst>
          </p:cNvPr>
          <p:cNvSpPr txBox="1"/>
          <p:nvPr/>
        </p:nvSpPr>
        <p:spPr>
          <a:xfrm>
            <a:off x="6708783" y="2077706"/>
            <a:ext cx="301753" cy="215444"/>
          </a:xfrm>
          <a:prstGeom prst="rect">
            <a:avLst/>
          </a:prstGeom>
          <a:solidFill>
            <a:schemeClr val="accent3"/>
          </a:solidFill>
        </p:spPr>
        <p:txBody>
          <a:bodyPr wrap="square" rtlCol="0">
            <a:spAutoFit/>
          </a:bodyPr>
          <a:lstStyle/>
          <a:p>
            <a:r>
              <a:rPr lang="en-US" sz="800" b="1" dirty="0">
                <a:solidFill>
                  <a:schemeClr val="bg1"/>
                </a:solidFill>
              </a:rPr>
              <a:t>6</a:t>
            </a:r>
          </a:p>
        </p:txBody>
      </p:sp>
      <p:sp>
        <p:nvSpPr>
          <p:cNvPr id="15" name="Flecha: hacia la izquierda 14">
            <a:extLst>
              <a:ext uri="{FF2B5EF4-FFF2-40B4-BE49-F238E27FC236}">
                <a16:creationId xmlns:a16="http://schemas.microsoft.com/office/drawing/2014/main" id="{F573EAB5-A155-6256-2C01-E76690A60BE8}"/>
              </a:ext>
            </a:extLst>
          </p:cNvPr>
          <p:cNvSpPr/>
          <p:nvPr/>
        </p:nvSpPr>
        <p:spPr>
          <a:xfrm rot="10800000">
            <a:off x="7042554" y="218542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ángulo 17">
            <a:extLst>
              <a:ext uri="{FF2B5EF4-FFF2-40B4-BE49-F238E27FC236}">
                <a16:creationId xmlns:a16="http://schemas.microsoft.com/office/drawing/2014/main" id="{CC8DDC09-1AD2-5CB9-4F03-7553A22A3563}"/>
              </a:ext>
            </a:extLst>
          </p:cNvPr>
          <p:cNvSpPr/>
          <p:nvPr/>
        </p:nvSpPr>
        <p:spPr>
          <a:xfrm>
            <a:off x="7252894" y="2101679"/>
            <a:ext cx="1968503" cy="19998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2FEE7F43-5EFF-BC53-D155-10E6B26D3D2F}"/>
              </a:ext>
            </a:extLst>
          </p:cNvPr>
          <p:cNvSpPr txBox="1"/>
          <p:nvPr/>
        </p:nvSpPr>
        <p:spPr>
          <a:xfrm>
            <a:off x="10663463" y="2069471"/>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10" name="Flecha: hacia la izquierda 9">
            <a:extLst>
              <a:ext uri="{FF2B5EF4-FFF2-40B4-BE49-F238E27FC236}">
                <a16:creationId xmlns:a16="http://schemas.microsoft.com/office/drawing/2014/main" id="{2FAC5C33-C889-9968-EECE-AECBBF29EBA6}"/>
              </a:ext>
            </a:extLst>
          </p:cNvPr>
          <p:cNvSpPr/>
          <p:nvPr/>
        </p:nvSpPr>
        <p:spPr>
          <a:xfrm>
            <a:off x="10498693" y="218542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a:extLst>
              <a:ext uri="{FF2B5EF4-FFF2-40B4-BE49-F238E27FC236}">
                <a16:creationId xmlns:a16="http://schemas.microsoft.com/office/drawing/2014/main" id="{4516956C-D9EA-C47D-143C-11739B430BA4}"/>
              </a:ext>
            </a:extLst>
          </p:cNvPr>
          <p:cNvSpPr/>
          <p:nvPr/>
        </p:nvSpPr>
        <p:spPr>
          <a:xfrm>
            <a:off x="9288670" y="2108294"/>
            <a:ext cx="1143993" cy="19998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CuadroTexto 3">
            <a:extLst>
              <a:ext uri="{FF2B5EF4-FFF2-40B4-BE49-F238E27FC236}">
                <a16:creationId xmlns:a16="http://schemas.microsoft.com/office/drawing/2014/main" id="{752453DA-8A51-A913-532A-A3B6F18D61FF}"/>
              </a:ext>
            </a:extLst>
          </p:cNvPr>
          <p:cNvSpPr txBox="1"/>
          <p:nvPr/>
        </p:nvSpPr>
        <p:spPr>
          <a:xfrm>
            <a:off x="10746437" y="5954127"/>
            <a:ext cx="301753" cy="215444"/>
          </a:xfrm>
          <a:prstGeom prst="rect">
            <a:avLst/>
          </a:prstGeom>
          <a:solidFill>
            <a:schemeClr val="accent3"/>
          </a:solidFill>
        </p:spPr>
        <p:txBody>
          <a:bodyPr wrap="square" rtlCol="0">
            <a:spAutoFit/>
          </a:bodyPr>
          <a:lstStyle/>
          <a:p>
            <a:r>
              <a:rPr lang="en-US" sz="800" b="1" dirty="0">
                <a:solidFill>
                  <a:schemeClr val="bg1"/>
                </a:solidFill>
              </a:rPr>
              <a:t>8</a:t>
            </a:r>
          </a:p>
        </p:txBody>
      </p:sp>
      <p:sp>
        <p:nvSpPr>
          <p:cNvPr id="6" name="Flecha: hacia la izquierda 5">
            <a:extLst>
              <a:ext uri="{FF2B5EF4-FFF2-40B4-BE49-F238E27FC236}">
                <a16:creationId xmlns:a16="http://schemas.microsoft.com/office/drawing/2014/main" id="{7C62F262-57A9-3FB0-32BE-CB45DC38A2C9}"/>
              </a:ext>
            </a:extLst>
          </p:cNvPr>
          <p:cNvSpPr/>
          <p:nvPr/>
        </p:nvSpPr>
        <p:spPr>
          <a:xfrm rot="10800000">
            <a:off x="11065698" y="603976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1086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p:txBody>
          <a:bodyPr/>
          <a:lstStyle/>
          <a:p>
            <a:r>
              <a:rPr lang="es-419" dirty="0"/>
              <a:t>Gestionar calificaciones incompletas</a:t>
            </a:r>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ES_tradnl" dirty="0"/>
              <a:t>Registro de calificación incompleta por parte del docente</a:t>
            </a:r>
            <a:endParaRPr lang="es-419" dirty="0"/>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r>
              <a:rPr lang="es-ES" dirty="0"/>
              <a:t>Y posterior sustitución por la calificación obtenida por el estudiante</a:t>
            </a:r>
            <a:endParaRPr lang="es-ES_tradnl" dirty="0"/>
          </a:p>
        </p:txBody>
      </p:sp>
    </p:spTree>
    <p:extLst>
      <p:ext uri="{BB962C8B-B14F-4D97-AF65-F5344CB8AC3E}">
        <p14:creationId xmlns:p14="http://schemas.microsoft.com/office/powerpoint/2010/main" val="1094282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0940B0-6526-66D0-E29F-98DCC7B36EE3}"/>
              </a:ext>
            </a:extLst>
          </p:cNvPr>
          <p:cNvPicPr>
            <a:picLocks noChangeAspect="1"/>
          </p:cNvPicPr>
          <p:nvPr/>
        </p:nvPicPr>
        <p:blipFill>
          <a:blip r:embed="rId2"/>
          <a:stretch>
            <a:fillRect/>
          </a:stretch>
        </p:blipFill>
        <p:spPr>
          <a:xfrm>
            <a:off x="693610" y="1335024"/>
            <a:ext cx="11115675" cy="5029200"/>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Registro de calificación incompleta por parte del docente</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5126088" y="2895785"/>
            <a:ext cx="3069865" cy="72275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El profesor accede a la sección donde registra las calificaciones de sus alumnos en el autoservicio.</a:t>
            </a:r>
          </a:p>
        </p:txBody>
      </p:sp>
    </p:spTree>
    <p:extLst>
      <p:ext uri="{BB962C8B-B14F-4D97-AF65-F5344CB8AC3E}">
        <p14:creationId xmlns:p14="http://schemas.microsoft.com/office/powerpoint/2010/main" val="2266222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01C4A56-141C-93DA-E0F0-54CCAAE758C1}"/>
              </a:ext>
            </a:extLst>
          </p:cNvPr>
          <p:cNvPicPr>
            <a:picLocks noChangeAspect="1"/>
          </p:cNvPicPr>
          <p:nvPr/>
        </p:nvPicPr>
        <p:blipFill>
          <a:blip r:embed="rId2"/>
          <a:srcRect t="6136"/>
          <a:stretch/>
        </p:blipFill>
        <p:spPr>
          <a:xfrm>
            <a:off x="1052394" y="1514475"/>
            <a:ext cx="10696056" cy="4807982"/>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Registro de calificación incompleta por parte del docente</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5749048" y="2610514"/>
            <a:ext cx="4066161" cy="103735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r>
              <a:rPr lang="es-ES_tradnl" sz="1100" dirty="0"/>
              <a:t>En la pestaña Calificaciones Finales, se debe asignar al estudiante el código correspondiente a la calificación incompleta (código creado en SHAGRDE) </a:t>
            </a:r>
          </a:p>
        </p:txBody>
      </p:sp>
      <p:sp>
        <p:nvSpPr>
          <p:cNvPr id="6" name="Rectángulo 5">
            <a:extLst>
              <a:ext uri="{FF2B5EF4-FFF2-40B4-BE49-F238E27FC236}">
                <a16:creationId xmlns:a16="http://schemas.microsoft.com/office/drawing/2014/main" id="{882C4A6E-5685-642C-9007-F7FB816CA58F}"/>
              </a:ext>
            </a:extLst>
          </p:cNvPr>
          <p:cNvSpPr/>
          <p:nvPr/>
        </p:nvSpPr>
        <p:spPr>
          <a:xfrm>
            <a:off x="2159059" y="1990505"/>
            <a:ext cx="914881" cy="24685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pic>
        <p:nvPicPr>
          <p:cNvPr id="7" name="Imagen 6">
            <a:extLst>
              <a:ext uri="{FF2B5EF4-FFF2-40B4-BE49-F238E27FC236}">
                <a16:creationId xmlns:a16="http://schemas.microsoft.com/office/drawing/2014/main" id="{B308BE34-669F-3C9C-7471-96168BCF572E}"/>
              </a:ext>
            </a:extLst>
          </p:cNvPr>
          <p:cNvPicPr>
            <a:picLocks noChangeAspect="1"/>
          </p:cNvPicPr>
          <p:nvPr/>
        </p:nvPicPr>
        <p:blipFill>
          <a:blip r:embed="rId3"/>
          <a:stretch>
            <a:fillRect/>
          </a:stretch>
        </p:blipFill>
        <p:spPr>
          <a:xfrm>
            <a:off x="4715192" y="1200166"/>
            <a:ext cx="812460" cy="3200096"/>
          </a:xfrm>
          <a:prstGeom prst="rect">
            <a:avLst/>
          </a:prstGeom>
        </p:spPr>
      </p:pic>
      <p:sp>
        <p:nvSpPr>
          <p:cNvPr id="9" name="Rectángulo 8">
            <a:extLst>
              <a:ext uri="{FF2B5EF4-FFF2-40B4-BE49-F238E27FC236}">
                <a16:creationId xmlns:a16="http://schemas.microsoft.com/office/drawing/2014/main" id="{671101D5-BDB4-059F-1DBE-970D7AF71D18}"/>
              </a:ext>
            </a:extLst>
          </p:cNvPr>
          <p:cNvSpPr/>
          <p:nvPr/>
        </p:nvSpPr>
        <p:spPr>
          <a:xfrm>
            <a:off x="4665553" y="4205168"/>
            <a:ext cx="914881" cy="24685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Rectángulo 11">
            <a:extLst>
              <a:ext uri="{FF2B5EF4-FFF2-40B4-BE49-F238E27FC236}">
                <a16:creationId xmlns:a16="http://schemas.microsoft.com/office/drawing/2014/main" id="{ED6704AA-5ACA-B04B-4B16-76E30D1DB364}"/>
              </a:ext>
            </a:extLst>
          </p:cNvPr>
          <p:cNvSpPr/>
          <p:nvPr/>
        </p:nvSpPr>
        <p:spPr>
          <a:xfrm>
            <a:off x="4715191" y="1629365"/>
            <a:ext cx="812461" cy="126883"/>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3" name="CuadroTexto 12">
            <a:extLst>
              <a:ext uri="{FF2B5EF4-FFF2-40B4-BE49-F238E27FC236}">
                <a16:creationId xmlns:a16="http://schemas.microsoft.com/office/drawing/2014/main" id="{0B2DC12D-68C3-ACC3-AAB5-37E20876AE01}"/>
              </a:ext>
            </a:extLst>
          </p:cNvPr>
          <p:cNvSpPr txBox="1"/>
          <p:nvPr/>
        </p:nvSpPr>
        <p:spPr>
          <a:xfrm>
            <a:off x="4134247" y="4214896"/>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14" name="Flecha: hacia la izquierda 13">
            <a:extLst>
              <a:ext uri="{FF2B5EF4-FFF2-40B4-BE49-F238E27FC236}">
                <a16:creationId xmlns:a16="http://schemas.microsoft.com/office/drawing/2014/main" id="{05D5132B-CE64-4D3C-4C87-73651719FB0D}"/>
              </a:ext>
            </a:extLst>
          </p:cNvPr>
          <p:cNvSpPr/>
          <p:nvPr/>
        </p:nvSpPr>
        <p:spPr>
          <a:xfrm rot="10800000">
            <a:off x="4453508" y="430053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8199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3200E8FD-62AE-672B-F6DA-FD8D351E54B7}"/>
              </a:ext>
            </a:extLst>
          </p:cNvPr>
          <p:cNvPicPr>
            <a:picLocks noChangeAspect="1"/>
          </p:cNvPicPr>
          <p:nvPr/>
        </p:nvPicPr>
        <p:blipFill>
          <a:blip r:embed="rId2"/>
          <a:srcRect t="5466"/>
          <a:stretch/>
        </p:blipFill>
        <p:spPr>
          <a:xfrm>
            <a:off x="1052394" y="1451359"/>
            <a:ext cx="10679336" cy="4842304"/>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Registro de calificación incompleta por parte del docente</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5749048" y="2610514"/>
            <a:ext cx="5194569" cy="119314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2"/>
            </a:pPr>
            <a:r>
              <a:rPr lang="es-ES_tradnl" sz="1100" dirty="0"/>
              <a:t>Automáticamente, el sistema activa la pestaña Calificación Incompleta y muestra la calificación configurada para el código ingresado.</a:t>
            </a:r>
          </a:p>
          <a:p>
            <a:pPr marL="228600" indent="-228600">
              <a:buFont typeface="+mj-lt"/>
              <a:buAutoNum type="arabicPeriod" startAt="2"/>
            </a:pPr>
            <a:r>
              <a:rPr lang="es-ES_tradnl" sz="1100" dirty="0"/>
              <a:t>Si lo desea, el docente puede agregar un comentario.</a:t>
            </a:r>
          </a:p>
          <a:p>
            <a:pPr marL="228600" indent="-228600">
              <a:buFont typeface="+mj-lt"/>
              <a:buAutoNum type="arabicPeriod" startAt="2"/>
            </a:pPr>
            <a:r>
              <a:rPr lang="es-ES_tradnl" sz="1100" dirty="0"/>
              <a:t>Guardar la información. </a:t>
            </a:r>
          </a:p>
          <a:p>
            <a:pPr marL="228600" indent="-228600">
              <a:buFont typeface="+mj-lt"/>
              <a:buAutoNum type="arabicPeriod" startAt="2"/>
            </a:pPr>
            <a:r>
              <a:rPr lang="es-ES_tradnl" sz="1100" dirty="0"/>
              <a:t>El sistema muestra un mensaje de éxito.</a:t>
            </a:r>
          </a:p>
        </p:txBody>
      </p:sp>
      <p:sp>
        <p:nvSpPr>
          <p:cNvPr id="6" name="Rectángulo 5">
            <a:extLst>
              <a:ext uri="{FF2B5EF4-FFF2-40B4-BE49-F238E27FC236}">
                <a16:creationId xmlns:a16="http://schemas.microsoft.com/office/drawing/2014/main" id="{882C4A6E-5685-642C-9007-F7FB816CA58F}"/>
              </a:ext>
            </a:extLst>
          </p:cNvPr>
          <p:cNvSpPr/>
          <p:nvPr/>
        </p:nvSpPr>
        <p:spPr>
          <a:xfrm>
            <a:off x="4269961" y="4169500"/>
            <a:ext cx="914881" cy="24685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8">
            <a:extLst>
              <a:ext uri="{FF2B5EF4-FFF2-40B4-BE49-F238E27FC236}">
                <a16:creationId xmlns:a16="http://schemas.microsoft.com/office/drawing/2014/main" id="{671101D5-BDB4-059F-1DBE-970D7AF71D18}"/>
              </a:ext>
            </a:extLst>
          </p:cNvPr>
          <p:cNvSpPr/>
          <p:nvPr/>
        </p:nvSpPr>
        <p:spPr>
          <a:xfrm>
            <a:off x="1416514" y="3609089"/>
            <a:ext cx="1083495" cy="34034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EA475F48-294F-9EC6-37F8-24844D284B75}"/>
              </a:ext>
            </a:extLst>
          </p:cNvPr>
          <p:cNvSpPr txBox="1"/>
          <p:nvPr/>
        </p:nvSpPr>
        <p:spPr>
          <a:xfrm>
            <a:off x="3713678" y="4169499"/>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3" name="Flecha: hacia la izquierda 12">
            <a:extLst>
              <a:ext uri="{FF2B5EF4-FFF2-40B4-BE49-F238E27FC236}">
                <a16:creationId xmlns:a16="http://schemas.microsoft.com/office/drawing/2014/main" id="{E3AF95A7-E15E-05C7-0D8A-3529C4F1CADE}"/>
              </a:ext>
            </a:extLst>
          </p:cNvPr>
          <p:cNvSpPr/>
          <p:nvPr/>
        </p:nvSpPr>
        <p:spPr>
          <a:xfrm rot="10800000">
            <a:off x="4032939" y="425513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a:extLst>
              <a:ext uri="{FF2B5EF4-FFF2-40B4-BE49-F238E27FC236}">
                <a16:creationId xmlns:a16="http://schemas.microsoft.com/office/drawing/2014/main" id="{8E6DA4C6-51A3-3FAF-5284-E6DBBE481122}"/>
              </a:ext>
            </a:extLst>
          </p:cNvPr>
          <p:cNvSpPr txBox="1"/>
          <p:nvPr/>
        </p:nvSpPr>
        <p:spPr>
          <a:xfrm>
            <a:off x="8516468" y="4169499"/>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5" name="Flecha: hacia la izquierda 14">
            <a:extLst>
              <a:ext uri="{FF2B5EF4-FFF2-40B4-BE49-F238E27FC236}">
                <a16:creationId xmlns:a16="http://schemas.microsoft.com/office/drawing/2014/main" id="{70CA31F2-C7CB-3C95-A1A1-8B2C523D0C2C}"/>
              </a:ext>
            </a:extLst>
          </p:cNvPr>
          <p:cNvSpPr/>
          <p:nvPr/>
        </p:nvSpPr>
        <p:spPr>
          <a:xfrm rot="10800000">
            <a:off x="8835729" y="425513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DC53CB1F-2F28-1730-0693-B827EA2CFFC0}"/>
              </a:ext>
            </a:extLst>
          </p:cNvPr>
          <p:cNvSpPr txBox="1"/>
          <p:nvPr/>
        </p:nvSpPr>
        <p:spPr>
          <a:xfrm>
            <a:off x="8838745" y="4968728"/>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7" name="Flecha: hacia la izquierda 16">
            <a:extLst>
              <a:ext uri="{FF2B5EF4-FFF2-40B4-BE49-F238E27FC236}">
                <a16:creationId xmlns:a16="http://schemas.microsoft.com/office/drawing/2014/main" id="{563ED191-C7A3-776B-91BE-78397F7F6488}"/>
              </a:ext>
            </a:extLst>
          </p:cNvPr>
          <p:cNvSpPr/>
          <p:nvPr/>
        </p:nvSpPr>
        <p:spPr>
          <a:xfrm rot="10800000">
            <a:off x="9158006" y="505436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0E5BBDF-E455-37A5-87B6-82B0E82167F3}"/>
              </a:ext>
            </a:extLst>
          </p:cNvPr>
          <p:cNvPicPr>
            <a:picLocks noChangeAspect="1"/>
          </p:cNvPicPr>
          <p:nvPr/>
        </p:nvPicPr>
        <p:blipFill>
          <a:blip r:embed="rId3"/>
          <a:stretch>
            <a:fillRect/>
          </a:stretch>
        </p:blipFill>
        <p:spPr>
          <a:xfrm>
            <a:off x="9589660" y="1451359"/>
            <a:ext cx="2122614" cy="581721"/>
          </a:xfrm>
          <a:prstGeom prst="rect">
            <a:avLst/>
          </a:prstGeom>
        </p:spPr>
      </p:pic>
      <p:sp>
        <p:nvSpPr>
          <p:cNvPr id="7" name="CuadroTexto 6">
            <a:extLst>
              <a:ext uri="{FF2B5EF4-FFF2-40B4-BE49-F238E27FC236}">
                <a16:creationId xmlns:a16="http://schemas.microsoft.com/office/drawing/2014/main" id="{88982464-3DB8-3C21-9AA0-32F0E6873EA2}"/>
              </a:ext>
            </a:extLst>
          </p:cNvPr>
          <p:cNvSpPr txBox="1"/>
          <p:nvPr/>
        </p:nvSpPr>
        <p:spPr>
          <a:xfrm>
            <a:off x="10792740" y="1817636"/>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10" name="Flecha: hacia la izquierda 9">
            <a:extLst>
              <a:ext uri="{FF2B5EF4-FFF2-40B4-BE49-F238E27FC236}">
                <a16:creationId xmlns:a16="http://schemas.microsoft.com/office/drawing/2014/main" id="{4EACA9F4-2F3F-DF0E-23BA-C46FEE00C40B}"/>
              </a:ext>
            </a:extLst>
          </p:cNvPr>
          <p:cNvSpPr/>
          <p:nvPr/>
        </p:nvSpPr>
        <p:spPr>
          <a:xfrm rot="10800000">
            <a:off x="11112001" y="190327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6714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C7F038ED-59C2-7415-1D8E-130C5A2D5FF2}"/>
              </a:ext>
            </a:extLst>
          </p:cNvPr>
          <p:cNvPicPr>
            <a:picLocks noChangeAspect="1"/>
          </p:cNvPicPr>
          <p:nvPr/>
        </p:nvPicPr>
        <p:blipFill>
          <a:blip r:embed="rId2"/>
          <a:srcRect t="5774"/>
          <a:stretch/>
        </p:blipFill>
        <p:spPr>
          <a:xfrm>
            <a:off x="1052394" y="1466850"/>
            <a:ext cx="10685389" cy="4821704"/>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Registro de calificación incompleta por parte del docente</a:t>
            </a:r>
            <a:endParaRPr lang="es-419" dirty="0">
              <a:solidFill>
                <a:schemeClr val="accent1"/>
              </a:solidFill>
            </a:endParaRPr>
          </a:p>
        </p:txBody>
      </p:sp>
      <p:sp>
        <p:nvSpPr>
          <p:cNvPr id="8" name="Rectángulo: esquinas redondeadas 7">
            <a:extLst>
              <a:ext uri="{FF2B5EF4-FFF2-40B4-BE49-F238E27FC236}">
                <a16:creationId xmlns:a16="http://schemas.microsoft.com/office/drawing/2014/main" id="{E0A493AF-AE16-BA44-E552-3B2025C6EA50}"/>
              </a:ext>
            </a:extLst>
          </p:cNvPr>
          <p:cNvSpPr/>
          <p:nvPr/>
        </p:nvSpPr>
        <p:spPr>
          <a:xfrm>
            <a:off x="5749048" y="2610514"/>
            <a:ext cx="5194569" cy="119314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5"/>
            </a:pPr>
            <a:r>
              <a:rPr lang="es-ES_tradnl" sz="1100" dirty="0"/>
              <a:t>Cuando el estudiante complete su evaluación, el docente puede ingresar nuevamente a la Pestaña de Calificaciones finales.</a:t>
            </a:r>
          </a:p>
          <a:p>
            <a:pPr marL="228600" indent="-228600">
              <a:buFont typeface="+mj-lt"/>
              <a:buAutoNum type="arabicPeriod" startAt="5"/>
            </a:pPr>
            <a:r>
              <a:rPr lang="es-ES_tradnl" sz="1100" dirty="0"/>
              <a:t>En la pestaña Lista, el docente ingresa el código de la calificación obtenida por el estudiante, sustituyendo la calificación incompleta.</a:t>
            </a:r>
          </a:p>
          <a:p>
            <a:pPr marL="228600" indent="-228600">
              <a:buFont typeface="+mj-lt"/>
              <a:buAutoNum type="arabicPeriod" startAt="5"/>
            </a:pPr>
            <a:r>
              <a:rPr lang="es-ES_tradnl" sz="1100" dirty="0"/>
              <a:t>Guardar la información. </a:t>
            </a:r>
          </a:p>
        </p:txBody>
      </p:sp>
      <p:sp>
        <p:nvSpPr>
          <p:cNvPr id="6" name="Rectángulo 5">
            <a:extLst>
              <a:ext uri="{FF2B5EF4-FFF2-40B4-BE49-F238E27FC236}">
                <a16:creationId xmlns:a16="http://schemas.microsoft.com/office/drawing/2014/main" id="{882C4A6E-5685-642C-9007-F7FB816CA58F}"/>
              </a:ext>
            </a:extLst>
          </p:cNvPr>
          <p:cNvSpPr/>
          <p:nvPr/>
        </p:nvSpPr>
        <p:spPr>
          <a:xfrm>
            <a:off x="4682025" y="4169500"/>
            <a:ext cx="914881" cy="24685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8">
            <a:extLst>
              <a:ext uri="{FF2B5EF4-FFF2-40B4-BE49-F238E27FC236}">
                <a16:creationId xmlns:a16="http://schemas.microsoft.com/office/drawing/2014/main" id="{671101D5-BDB4-059F-1DBE-970D7AF71D18}"/>
              </a:ext>
            </a:extLst>
          </p:cNvPr>
          <p:cNvSpPr/>
          <p:nvPr/>
        </p:nvSpPr>
        <p:spPr>
          <a:xfrm>
            <a:off x="2126633" y="1899755"/>
            <a:ext cx="966763" cy="31815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EA475F48-294F-9EC6-37F8-24844D284B75}"/>
              </a:ext>
            </a:extLst>
          </p:cNvPr>
          <p:cNvSpPr txBox="1"/>
          <p:nvPr/>
        </p:nvSpPr>
        <p:spPr>
          <a:xfrm>
            <a:off x="4125742" y="4169499"/>
            <a:ext cx="301753" cy="215444"/>
          </a:xfrm>
          <a:prstGeom prst="rect">
            <a:avLst/>
          </a:prstGeom>
          <a:solidFill>
            <a:schemeClr val="accent3"/>
          </a:solidFill>
        </p:spPr>
        <p:txBody>
          <a:bodyPr wrap="square" rtlCol="0">
            <a:spAutoFit/>
          </a:bodyPr>
          <a:lstStyle/>
          <a:p>
            <a:r>
              <a:rPr lang="en-US" sz="800" b="1" dirty="0">
                <a:solidFill>
                  <a:schemeClr val="bg1"/>
                </a:solidFill>
              </a:rPr>
              <a:t>6</a:t>
            </a:r>
          </a:p>
        </p:txBody>
      </p:sp>
      <p:sp>
        <p:nvSpPr>
          <p:cNvPr id="13" name="Flecha: hacia la izquierda 12">
            <a:extLst>
              <a:ext uri="{FF2B5EF4-FFF2-40B4-BE49-F238E27FC236}">
                <a16:creationId xmlns:a16="http://schemas.microsoft.com/office/drawing/2014/main" id="{E3AF95A7-E15E-05C7-0D8A-3529C4F1CADE}"/>
              </a:ext>
            </a:extLst>
          </p:cNvPr>
          <p:cNvSpPr/>
          <p:nvPr/>
        </p:nvSpPr>
        <p:spPr>
          <a:xfrm rot="10800000">
            <a:off x="4445003" y="425513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a:extLst>
              <a:ext uri="{FF2B5EF4-FFF2-40B4-BE49-F238E27FC236}">
                <a16:creationId xmlns:a16="http://schemas.microsoft.com/office/drawing/2014/main" id="{8E6DA4C6-51A3-3FAF-5284-E6DBBE481122}"/>
              </a:ext>
            </a:extLst>
          </p:cNvPr>
          <p:cNvSpPr txBox="1"/>
          <p:nvPr/>
        </p:nvSpPr>
        <p:spPr>
          <a:xfrm>
            <a:off x="8876392" y="5056540"/>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15" name="Flecha: hacia la izquierda 14">
            <a:extLst>
              <a:ext uri="{FF2B5EF4-FFF2-40B4-BE49-F238E27FC236}">
                <a16:creationId xmlns:a16="http://schemas.microsoft.com/office/drawing/2014/main" id="{70CA31F2-C7CB-3C95-A1A1-8B2C523D0C2C}"/>
              </a:ext>
            </a:extLst>
          </p:cNvPr>
          <p:cNvSpPr/>
          <p:nvPr/>
        </p:nvSpPr>
        <p:spPr>
          <a:xfrm rot="10800000">
            <a:off x="9195653" y="5142180"/>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DC53CB1F-2F28-1730-0693-B827EA2CFFC0}"/>
              </a:ext>
            </a:extLst>
          </p:cNvPr>
          <p:cNvSpPr txBox="1"/>
          <p:nvPr/>
        </p:nvSpPr>
        <p:spPr>
          <a:xfrm>
            <a:off x="1616218" y="1952476"/>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17" name="Flecha: hacia la izquierda 16">
            <a:extLst>
              <a:ext uri="{FF2B5EF4-FFF2-40B4-BE49-F238E27FC236}">
                <a16:creationId xmlns:a16="http://schemas.microsoft.com/office/drawing/2014/main" id="{563ED191-C7A3-776B-91BE-78397F7F6488}"/>
              </a:ext>
            </a:extLst>
          </p:cNvPr>
          <p:cNvSpPr/>
          <p:nvPr/>
        </p:nvSpPr>
        <p:spPr>
          <a:xfrm rot="10800000">
            <a:off x="1935479" y="203811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ángulo 19">
            <a:extLst>
              <a:ext uri="{FF2B5EF4-FFF2-40B4-BE49-F238E27FC236}">
                <a16:creationId xmlns:a16="http://schemas.microsoft.com/office/drawing/2014/main" id="{6A588AAE-BC80-3309-4623-9ED3540F7B03}"/>
              </a:ext>
            </a:extLst>
          </p:cNvPr>
          <p:cNvSpPr/>
          <p:nvPr/>
        </p:nvSpPr>
        <p:spPr>
          <a:xfrm>
            <a:off x="1132836" y="3677055"/>
            <a:ext cx="316585" cy="21453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43713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p:txBody>
          <a:bodyPr/>
          <a:lstStyle/>
          <a:p>
            <a:r>
              <a:rPr lang="es-419" dirty="0"/>
              <a:t>Gestionar calificaciones incompletas</a:t>
            </a:r>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ES_tradnl" dirty="0"/>
              <a:t>Procesar calificaciones incompletas</a:t>
            </a:r>
            <a:endParaRPr lang="es-419" dirty="0"/>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r>
              <a:rPr lang="es-ES" dirty="0"/>
              <a:t>Reemplazándola, en historia académica, con la calificación predefinida cuando pasó la fecha de extensión</a:t>
            </a:r>
            <a:endParaRPr lang="es-ES_tradnl" dirty="0"/>
          </a:p>
        </p:txBody>
      </p:sp>
    </p:spTree>
    <p:extLst>
      <p:ext uri="{BB962C8B-B14F-4D97-AF65-F5344CB8AC3E}">
        <p14:creationId xmlns:p14="http://schemas.microsoft.com/office/powerpoint/2010/main" val="2061667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F168427-D555-04F9-894A-75850567F5B4}"/>
              </a:ext>
            </a:extLst>
          </p:cNvPr>
          <p:cNvPicPr>
            <a:picLocks noChangeAspect="1"/>
          </p:cNvPicPr>
          <p:nvPr/>
        </p:nvPicPr>
        <p:blipFill>
          <a:blip r:embed="rId3"/>
          <a:stretch>
            <a:fillRect/>
          </a:stretch>
        </p:blipFill>
        <p:spPr>
          <a:xfrm>
            <a:off x="994467" y="1026703"/>
            <a:ext cx="10400483" cy="2181008"/>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9" name="Rectángulo: esquinas redondeadas 8">
            <a:extLst>
              <a:ext uri="{FF2B5EF4-FFF2-40B4-BE49-F238E27FC236}">
                <a16:creationId xmlns:a16="http://schemas.microsoft.com/office/drawing/2014/main" id="{B2C0B36E-6EF6-0997-2FF8-70B8EB4148F3}"/>
              </a:ext>
            </a:extLst>
          </p:cNvPr>
          <p:cNvSpPr/>
          <p:nvPr/>
        </p:nvSpPr>
        <p:spPr>
          <a:xfrm>
            <a:off x="3268494" y="3414411"/>
            <a:ext cx="6717737" cy="6322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r>
              <a:rPr lang="es-ES_tradnl" sz="1100" dirty="0"/>
              <a:t>Ingrese al proceso </a:t>
            </a:r>
            <a:r>
              <a:rPr lang="es-ES_tradnl" sz="1100" b="1" dirty="0"/>
              <a:t>SHRCINC</a:t>
            </a:r>
            <a:r>
              <a:rPr lang="es-ES_tradnl" sz="1100" dirty="0"/>
              <a:t> desde la página GJAPCTL.</a:t>
            </a:r>
          </a:p>
          <a:p>
            <a:pPr marL="228600" indent="-228600">
              <a:buFont typeface="+mj-lt"/>
              <a:buAutoNum type="arabicPeriod"/>
            </a:pPr>
            <a:r>
              <a:rPr lang="es-ES_tradnl" sz="1100" dirty="0"/>
              <a:t>Presione el botón </a:t>
            </a:r>
            <a:r>
              <a:rPr lang="es-ES_tradnl" sz="1100" b="1" dirty="0"/>
              <a:t>Ir</a:t>
            </a:r>
            <a:r>
              <a:rPr lang="es-CO" sz="1100" dirty="0"/>
              <a:t>.</a:t>
            </a:r>
            <a:endParaRPr lang="es-ES_tradnl" sz="1100" dirty="0"/>
          </a:p>
        </p:txBody>
      </p:sp>
      <p:sp>
        <p:nvSpPr>
          <p:cNvPr id="10" name="CuadroTexto 9">
            <a:extLst>
              <a:ext uri="{FF2B5EF4-FFF2-40B4-BE49-F238E27FC236}">
                <a16:creationId xmlns:a16="http://schemas.microsoft.com/office/drawing/2014/main" id="{428663F3-795E-ED1E-E9AE-87C12DDB0AAE}"/>
              </a:ext>
            </a:extLst>
          </p:cNvPr>
          <p:cNvSpPr txBox="1"/>
          <p:nvPr/>
        </p:nvSpPr>
        <p:spPr>
          <a:xfrm>
            <a:off x="976341" y="1446529"/>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11" name="Flecha: hacia la izquierda 10">
            <a:extLst>
              <a:ext uri="{FF2B5EF4-FFF2-40B4-BE49-F238E27FC236}">
                <a16:creationId xmlns:a16="http://schemas.microsoft.com/office/drawing/2014/main" id="{09E24649-7EC7-28AB-FA68-846E13DA3B8D}"/>
              </a:ext>
            </a:extLst>
          </p:cNvPr>
          <p:cNvSpPr/>
          <p:nvPr/>
        </p:nvSpPr>
        <p:spPr>
          <a:xfrm rot="10800000">
            <a:off x="1396250" y="152941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2B65659-914F-2A0A-061F-6E8401272874}"/>
              </a:ext>
            </a:extLst>
          </p:cNvPr>
          <p:cNvSpPr txBox="1"/>
          <p:nvPr/>
        </p:nvSpPr>
        <p:spPr>
          <a:xfrm>
            <a:off x="10489852" y="1421696"/>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3" name="Flecha: hacia la izquierda 12">
            <a:extLst>
              <a:ext uri="{FF2B5EF4-FFF2-40B4-BE49-F238E27FC236}">
                <a16:creationId xmlns:a16="http://schemas.microsoft.com/office/drawing/2014/main" id="{2308F921-2F8C-EC75-C12F-DCD4ECE836CB}"/>
              </a:ext>
            </a:extLst>
          </p:cNvPr>
          <p:cNvSpPr/>
          <p:nvPr/>
        </p:nvSpPr>
        <p:spPr>
          <a:xfrm rot="10800000">
            <a:off x="10839452" y="150655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75DB38AD-BE0A-6EC6-30CF-87EA1A8EBB4C}"/>
              </a:ext>
            </a:extLst>
          </p:cNvPr>
          <p:cNvSpPr/>
          <p:nvPr/>
        </p:nvSpPr>
        <p:spPr>
          <a:xfrm>
            <a:off x="1597248" y="1411414"/>
            <a:ext cx="1022127" cy="215445"/>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Rectángulo 14">
            <a:extLst>
              <a:ext uri="{FF2B5EF4-FFF2-40B4-BE49-F238E27FC236}">
                <a16:creationId xmlns:a16="http://schemas.microsoft.com/office/drawing/2014/main" id="{410D9FF8-00ED-1A3E-B78E-4FB1A2534D03}"/>
              </a:ext>
            </a:extLst>
          </p:cNvPr>
          <p:cNvSpPr/>
          <p:nvPr/>
        </p:nvSpPr>
        <p:spPr>
          <a:xfrm>
            <a:off x="11049713" y="1421142"/>
            <a:ext cx="345238" cy="18793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442687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29DEA280-5B0E-7CD0-547F-0A4B6A62CFD1}"/>
              </a:ext>
            </a:extLst>
          </p:cNvPr>
          <p:cNvPicPr>
            <a:picLocks noChangeAspect="1"/>
          </p:cNvPicPr>
          <p:nvPr/>
        </p:nvPicPr>
        <p:blipFill>
          <a:blip r:embed="rId3"/>
          <a:stretch>
            <a:fillRect/>
          </a:stretch>
        </p:blipFill>
        <p:spPr>
          <a:xfrm>
            <a:off x="654997" y="754611"/>
            <a:ext cx="11195288" cy="5437044"/>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9" name="Rectángulo: esquinas redondeadas 8">
            <a:extLst>
              <a:ext uri="{FF2B5EF4-FFF2-40B4-BE49-F238E27FC236}">
                <a16:creationId xmlns:a16="http://schemas.microsoft.com/office/drawing/2014/main" id="{B2C0B36E-6EF6-0997-2FF8-70B8EB4148F3}"/>
              </a:ext>
            </a:extLst>
          </p:cNvPr>
          <p:cNvSpPr/>
          <p:nvPr/>
        </p:nvSpPr>
        <p:spPr>
          <a:xfrm>
            <a:off x="3414410" y="5385705"/>
            <a:ext cx="6673174" cy="85804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3"/>
            </a:pPr>
            <a:r>
              <a:rPr lang="es-ES_tradnl" sz="1100" dirty="0"/>
              <a:t>Defina la impresora como </a:t>
            </a:r>
            <a:r>
              <a:rPr lang="es-ES_tradnl" sz="1100" b="1" dirty="0"/>
              <a:t>DATABASE</a:t>
            </a:r>
          </a:p>
          <a:p>
            <a:pPr marL="228600" indent="-228600">
              <a:buFont typeface="+mj-lt"/>
              <a:buAutoNum type="arabicPeriod" startAt="3"/>
            </a:pPr>
            <a:r>
              <a:rPr lang="es-ES_tradnl" sz="1100" dirty="0"/>
              <a:t>Pase al siguiente bloque.</a:t>
            </a:r>
          </a:p>
          <a:p>
            <a:pPr marL="228600" indent="-228600">
              <a:buFont typeface="+mj-lt"/>
              <a:buAutoNum type="arabicPeriod" startAt="3"/>
            </a:pPr>
            <a:r>
              <a:rPr lang="es-CO" sz="1100" dirty="0"/>
              <a:t>Ingrese los parámetros del proceso, según la tabla que se presenta en la siguiente diapositiva. </a:t>
            </a:r>
          </a:p>
          <a:p>
            <a:r>
              <a:rPr lang="es-CO" sz="1100" dirty="0"/>
              <a:t>Inicialmente se muestras solo 10 parámetros, amplíe los registros por página para ver todos los que se solicitan.</a:t>
            </a:r>
            <a:endParaRPr lang="es-ES_tradnl" sz="1100" dirty="0"/>
          </a:p>
        </p:txBody>
      </p:sp>
      <p:sp>
        <p:nvSpPr>
          <p:cNvPr id="10" name="CuadroTexto 9">
            <a:extLst>
              <a:ext uri="{FF2B5EF4-FFF2-40B4-BE49-F238E27FC236}">
                <a16:creationId xmlns:a16="http://schemas.microsoft.com/office/drawing/2014/main" id="{428663F3-795E-ED1E-E9AE-87C12DDB0AAE}"/>
              </a:ext>
            </a:extLst>
          </p:cNvPr>
          <p:cNvSpPr txBox="1"/>
          <p:nvPr/>
        </p:nvSpPr>
        <p:spPr>
          <a:xfrm>
            <a:off x="3468334" y="1463556"/>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1" name="Flecha: hacia la izquierda 10">
            <a:extLst>
              <a:ext uri="{FF2B5EF4-FFF2-40B4-BE49-F238E27FC236}">
                <a16:creationId xmlns:a16="http://schemas.microsoft.com/office/drawing/2014/main" id="{09E24649-7EC7-28AB-FA68-846E13DA3B8D}"/>
              </a:ext>
            </a:extLst>
          </p:cNvPr>
          <p:cNvSpPr/>
          <p:nvPr/>
        </p:nvSpPr>
        <p:spPr>
          <a:xfrm>
            <a:off x="3226180" y="154240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2B65659-914F-2A0A-061F-6E8401272874}"/>
              </a:ext>
            </a:extLst>
          </p:cNvPr>
          <p:cNvSpPr txBox="1"/>
          <p:nvPr/>
        </p:nvSpPr>
        <p:spPr>
          <a:xfrm>
            <a:off x="857251" y="5564972"/>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3" name="Flecha: hacia la izquierda 12">
            <a:extLst>
              <a:ext uri="{FF2B5EF4-FFF2-40B4-BE49-F238E27FC236}">
                <a16:creationId xmlns:a16="http://schemas.microsoft.com/office/drawing/2014/main" id="{2308F921-2F8C-EC75-C12F-DCD4ECE836CB}"/>
              </a:ext>
            </a:extLst>
          </p:cNvPr>
          <p:cNvSpPr/>
          <p:nvPr/>
        </p:nvSpPr>
        <p:spPr>
          <a:xfrm rot="16200000">
            <a:off x="931244" y="5853442"/>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3">
            <a:extLst>
              <a:ext uri="{FF2B5EF4-FFF2-40B4-BE49-F238E27FC236}">
                <a16:creationId xmlns:a16="http://schemas.microsoft.com/office/drawing/2014/main" id="{75DB38AD-BE0A-6EC6-30CF-87EA1A8EBB4C}"/>
              </a:ext>
            </a:extLst>
          </p:cNvPr>
          <p:cNvSpPr/>
          <p:nvPr/>
        </p:nvSpPr>
        <p:spPr>
          <a:xfrm>
            <a:off x="1284067" y="1457539"/>
            <a:ext cx="1844877" cy="215445"/>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Rectángulo 14">
            <a:extLst>
              <a:ext uri="{FF2B5EF4-FFF2-40B4-BE49-F238E27FC236}">
                <a16:creationId xmlns:a16="http://schemas.microsoft.com/office/drawing/2014/main" id="{410D9FF8-00ED-1A3E-B78E-4FB1A2534D03}"/>
              </a:ext>
            </a:extLst>
          </p:cNvPr>
          <p:cNvSpPr/>
          <p:nvPr/>
        </p:nvSpPr>
        <p:spPr>
          <a:xfrm>
            <a:off x="857251" y="5994923"/>
            <a:ext cx="294291" cy="19598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FCD78405-12E1-2A99-EC81-0F4083EE700E}"/>
              </a:ext>
            </a:extLst>
          </p:cNvPr>
          <p:cNvSpPr/>
          <p:nvPr/>
        </p:nvSpPr>
        <p:spPr>
          <a:xfrm>
            <a:off x="654996" y="2193758"/>
            <a:ext cx="11195287" cy="177816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CuadroTexto 3">
            <a:extLst>
              <a:ext uri="{FF2B5EF4-FFF2-40B4-BE49-F238E27FC236}">
                <a16:creationId xmlns:a16="http://schemas.microsoft.com/office/drawing/2014/main" id="{00B5D7FA-63D3-B0F8-6AAA-F6B6983D931C}"/>
              </a:ext>
            </a:extLst>
          </p:cNvPr>
          <p:cNvSpPr txBox="1"/>
          <p:nvPr/>
        </p:nvSpPr>
        <p:spPr>
          <a:xfrm>
            <a:off x="4193681" y="1717927"/>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5" name="Flecha: hacia la izquierda 4">
            <a:extLst>
              <a:ext uri="{FF2B5EF4-FFF2-40B4-BE49-F238E27FC236}">
                <a16:creationId xmlns:a16="http://schemas.microsoft.com/office/drawing/2014/main" id="{6D61C225-7829-9BD8-7EC7-8962A0B3E5CA}"/>
              </a:ext>
            </a:extLst>
          </p:cNvPr>
          <p:cNvSpPr/>
          <p:nvPr/>
        </p:nvSpPr>
        <p:spPr>
          <a:xfrm rot="16200000">
            <a:off x="4271405" y="2017844"/>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4939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graphicFrame>
        <p:nvGraphicFramePr>
          <p:cNvPr id="4" name="Marcador de contenido 3">
            <a:extLst>
              <a:ext uri="{FF2B5EF4-FFF2-40B4-BE49-F238E27FC236}">
                <a16:creationId xmlns:a16="http://schemas.microsoft.com/office/drawing/2014/main" id="{1467D477-7765-8CD5-6F42-410183D57800}"/>
              </a:ext>
            </a:extLst>
          </p:cNvPr>
          <p:cNvGraphicFramePr>
            <a:graphicFrameLocks/>
          </p:cNvGraphicFramePr>
          <p:nvPr>
            <p:extLst>
              <p:ext uri="{D42A27DB-BD31-4B8C-83A1-F6EECF244321}">
                <p14:modId xmlns:p14="http://schemas.microsoft.com/office/powerpoint/2010/main" val="334130313"/>
              </p:ext>
            </p:extLst>
          </p:nvPr>
        </p:nvGraphicFramePr>
        <p:xfrm>
          <a:off x="934651" y="893177"/>
          <a:ext cx="10748268" cy="5431284"/>
        </p:xfrm>
        <a:graphic>
          <a:graphicData uri="http://schemas.openxmlformats.org/drawingml/2006/table">
            <a:tbl>
              <a:tblPr firstRow="1" bandRow="1">
                <a:tableStyleId>{5C22544A-7EE6-4342-B048-85BDC9FD1C3A}</a:tableStyleId>
              </a:tblPr>
              <a:tblGrid>
                <a:gridCol w="785237">
                  <a:extLst>
                    <a:ext uri="{9D8B030D-6E8A-4147-A177-3AD203B41FA5}">
                      <a16:colId xmlns:a16="http://schemas.microsoft.com/office/drawing/2014/main" val="249767121"/>
                    </a:ext>
                  </a:extLst>
                </a:gridCol>
                <a:gridCol w="1344325">
                  <a:extLst>
                    <a:ext uri="{9D8B030D-6E8A-4147-A177-3AD203B41FA5}">
                      <a16:colId xmlns:a16="http://schemas.microsoft.com/office/drawing/2014/main" val="915586211"/>
                    </a:ext>
                  </a:extLst>
                </a:gridCol>
                <a:gridCol w="6877455">
                  <a:extLst>
                    <a:ext uri="{9D8B030D-6E8A-4147-A177-3AD203B41FA5}">
                      <a16:colId xmlns:a16="http://schemas.microsoft.com/office/drawing/2014/main" val="523512153"/>
                    </a:ext>
                  </a:extLst>
                </a:gridCol>
                <a:gridCol w="1741251">
                  <a:extLst>
                    <a:ext uri="{9D8B030D-6E8A-4147-A177-3AD203B41FA5}">
                      <a16:colId xmlns:a16="http://schemas.microsoft.com/office/drawing/2014/main" val="1126850053"/>
                    </a:ext>
                  </a:extLst>
                </a:gridCol>
              </a:tblGrid>
              <a:tr h="493955">
                <a:tc>
                  <a:txBody>
                    <a:bodyPr/>
                    <a:lstStyle/>
                    <a:p>
                      <a:pPr marL="0" marR="0">
                        <a:lnSpc>
                          <a:spcPct val="115000"/>
                        </a:lnSpc>
                        <a:spcBef>
                          <a:spcPts val="0"/>
                        </a:spcBef>
                        <a:spcAft>
                          <a:spcPts val="0"/>
                        </a:spcAft>
                      </a:pPr>
                      <a:r>
                        <a:rPr lang="es-419" sz="900" dirty="0">
                          <a:solidFill>
                            <a:schemeClr val="bg1"/>
                          </a:solidFill>
                          <a:effectLst/>
                        </a:rPr>
                        <a:t>Número</a:t>
                      </a:r>
                      <a:endParaRPr lang="es-CO" sz="9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00" dirty="0">
                          <a:solidFill>
                            <a:schemeClr val="bg1"/>
                          </a:solidFill>
                          <a:effectLst/>
                        </a:rPr>
                        <a:t>Parámetro</a:t>
                      </a:r>
                      <a:endParaRPr lang="es-CO" sz="9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bg1"/>
                          </a:solidFill>
                          <a:effectLst/>
                        </a:rPr>
                        <a:t>Valores</a:t>
                      </a:r>
                      <a:endParaRPr lang="es-CO" sz="9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bg1"/>
                          </a:solidFill>
                          <a:effectLst/>
                        </a:rPr>
                        <a:t>Requerido / Opcional</a:t>
                      </a:r>
                      <a:endParaRPr lang="es-CO" sz="9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264739">
                <a:tc>
                  <a:txBody>
                    <a:bodyPr/>
                    <a:lstStyle/>
                    <a:p>
                      <a:pPr marL="0" marR="0">
                        <a:lnSpc>
                          <a:spcPct val="115000"/>
                        </a:lnSpc>
                        <a:spcBef>
                          <a:spcPts val="0"/>
                        </a:spcBef>
                        <a:spcAft>
                          <a:spcPts val="0"/>
                        </a:spcAft>
                      </a:pPr>
                      <a:r>
                        <a:rPr lang="es-419" sz="800" dirty="0">
                          <a:solidFill>
                            <a:schemeClr val="tx1"/>
                          </a:solidFill>
                          <a:effectLst/>
                        </a:rPr>
                        <a:t>01</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rPr>
                        <a:t>Código de Periodo</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rPr>
                        <a:t>Seleccione el período para el cual desea correr el procesamiento de calificaciones incompletas</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57562266"/>
                  </a:ext>
                </a:extLst>
              </a:tr>
              <a:tr h="449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02</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Código de Nivel</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Seleccione el código del nivel para el cual desea correr el proceso. </a:t>
                      </a:r>
                    </a:p>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Si no ingresa nivel, el procesamiento se hará a todos los niveles.</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509454192"/>
                  </a:ext>
                </a:extLst>
              </a:tr>
              <a:tr h="578068">
                <a:tc>
                  <a:txBody>
                    <a:bodyPr/>
                    <a:lstStyle/>
                    <a:p>
                      <a:pPr marL="0" marR="0">
                        <a:lnSpc>
                          <a:spcPct val="115000"/>
                        </a:lnSpc>
                        <a:spcBef>
                          <a:spcPts val="0"/>
                        </a:spcBef>
                        <a:spcAft>
                          <a:spcPts val="0"/>
                        </a:spcAft>
                      </a:pPr>
                      <a:r>
                        <a:rPr lang="es-419" sz="80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03</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Número de Referencia de curso (NRC)</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Ingrese, si así lo desea, el NRC para el cual se correrá el proceso. </a:t>
                      </a:r>
                    </a:p>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Si no ingresa un NRC específico, el proceso aplicará a todos los NRC del periodo.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956190754"/>
                  </a:ext>
                </a:extLst>
              </a:tr>
              <a:tr h="449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04</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Código de Razón</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Seleccione el código de razón de cambio de calificación que se ingresará a la nueva calificación del estudiante. </a:t>
                      </a:r>
                    </a:p>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Los posibles códigos son definidos en la tabla STVGCHG.</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00244662"/>
                  </a:ext>
                </a:extLst>
              </a:tr>
              <a:tr h="449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05</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Imprimir ID de alumno.</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Señale si desea que en resultado del proceso se imprima o no el ID del alumno. </a:t>
                      </a:r>
                    </a:p>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Los posibles valores son: I (incluir) y E (Excluir)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990127115"/>
                  </a:ext>
                </a:extLst>
              </a:tr>
              <a:tr h="26473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06</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Corte de página</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Señale el criterio para que la salida del proceso salte las páginas:</a:t>
                      </a:r>
                    </a:p>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T (Periodo), C(curso) o N (no se haga salto de páginas)</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453907063"/>
                  </a:ext>
                </a:extLst>
              </a:tr>
              <a:tr h="449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07</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Modo de ejecución</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Ingrese el modo en que se ejecutará el proceso: </a:t>
                      </a:r>
                    </a:p>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A (auditoría, no se procesa ningún registro) o U (actualizar, con lo que se procesan los registros)</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2658827102"/>
                  </a:ext>
                </a:extLst>
              </a:tr>
              <a:tr h="449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08</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Fecha futura</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Solo puede declararse en modo de ejecución Auditoría. Ingrese la fecha para la cual quiere hacer una proyección del proceso a esa fecha.</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633076062"/>
                  </a:ext>
                </a:extLst>
              </a:tr>
              <a:tr h="449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09</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Comentario de calificación</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Seleccione, si así lo desea, el código de comentario que se agregaría en la calificación.</a:t>
                      </a:r>
                    </a:p>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Los posibles códigos son definidos en la página STVGCMT.</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3529984638"/>
                  </a:ext>
                </a:extLst>
              </a:tr>
              <a:tr h="26473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10</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Calcular GPA</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Indique si al terminar el procesamiento, se debe calcular el promedio de calificaciones de los estudiantes: </a:t>
                      </a:r>
                    </a:p>
                    <a:p>
                      <a:pPr algn="just">
                        <a:lnSpc>
                          <a:spcPct val="115000"/>
                        </a:lnSpc>
                      </a:pPr>
                      <a:r>
                        <a:rPr lang="es-419" sz="800" dirty="0">
                          <a:solidFill>
                            <a:schemeClr val="tx1"/>
                          </a:solidFill>
                          <a:effectLst/>
                          <a:latin typeface="Arial" panose="020B0604020202020204" pitchFamily="34" charset="0"/>
                          <a:cs typeface="Times New Roman" panose="02020603050405020304" pitchFamily="18" charset="0"/>
                        </a:rPr>
                        <a:t>Y (si) o N (no).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4164571078"/>
                  </a:ext>
                </a:extLst>
              </a:tr>
              <a:tr h="449721">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11</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Imprimir sustituciones </a:t>
                      </a:r>
                      <a:r>
                        <a:rPr lang="es-419" sz="800" dirty="0" err="1">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calif</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lvl="0" indent="0" algn="just" defTabSz="457200" rtl="0" eaLnBrk="1" fontAlgn="auto" latinLnBrk="0" hangingPunct="1">
                        <a:lnSpc>
                          <a:spcPct val="115000"/>
                        </a:lnSpc>
                        <a:spcBef>
                          <a:spcPts val="0"/>
                        </a:spcBef>
                        <a:spcAft>
                          <a:spcPts val="0"/>
                        </a:spcAft>
                        <a:buClrTx/>
                        <a:buSzTx/>
                        <a:buFontTx/>
                        <a:buNone/>
                        <a:tabLst/>
                        <a:defRPr/>
                      </a:pPr>
                      <a:r>
                        <a:rPr lang="es-419" sz="800" dirty="0">
                          <a:solidFill>
                            <a:schemeClr val="tx1"/>
                          </a:solidFill>
                          <a:effectLst/>
                          <a:latin typeface="Arial" panose="020B0604020202020204" pitchFamily="34" charset="0"/>
                          <a:cs typeface="Times New Roman" panose="02020603050405020304" pitchFamily="18" charset="0"/>
                        </a:rPr>
                        <a:t>Señale si desea que en resultado del proceso se imprima o no las calificaciones sustituidas. </a:t>
                      </a:r>
                    </a:p>
                    <a:p>
                      <a:pPr marL="0" marR="0" lvl="0" indent="0" algn="just" defTabSz="457200" rtl="0" eaLnBrk="1" fontAlgn="auto" latinLnBrk="0" hangingPunct="1">
                        <a:lnSpc>
                          <a:spcPct val="115000"/>
                        </a:lnSpc>
                        <a:spcBef>
                          <a:spcPts val="0"/>
                        </a:spcBef>
                        <a:spcAft>
                          <a:spcPts val="0"/>
                        </a:spcAft>
                        <a:buClrTx/>
                        <a:buSzTx/>
                        <a:buFontTx/>
                        <a:buNone/>
                        <a:tabLst/>
                        <a:defRPr/>
                      </a:pPr>
                      <a:r>
                        <a:rPr lang="es-419" sz="800" dirty="0">
                          <a:solidFill>
                            <a:schemeClr val="tx1"/>
                          </a:solidFill>
                          <a:effectLst/>
                          <a:latin typeface="Arial" panose="020B0604020202020204" pitchFamily="34" charset="0"/>
                          <a:cs typeface="Times New Roman" panose="02020603050405020304" pitchFamily="18" charset="0"/>
                        </a:rPr>
                        <a:t>Los posibles valores son: Y (si) y N (no)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350621720"/>
                  </a:ext>
                </a:extLst>
              </a:tr>
              <a:tr h="264739">
                <a:tc>
                  <a:txBody>
                    <a:bodyPr/>
                    <a:lstStyle/>
                    <a:p>
                      <a:pPr marL="0" marR="0">
                        <a:lnSpc>
                          <a:spcPct val="115000"/>
                        </a:lnSpc>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12</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l">
                        <a:spcBef>
                          <a:spcPts val="0"/>
                        </a:spcBef>
                        <a:spcAft>
                          <a:spcPts val="0"/>
                        </a:spcAft>
                      </a:pPr>
                      <a:r>
                        <a:rPr lang="es-419"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rPr>
                        <a:t>ID usuario</a:t>
                      </a:r>
                      <a:endParaRPr lang="es-CO" sz="800" dirty="0">
                        <a:solidFill>
                          <a:schemeClr val="tx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lvl="0" indent="0" algn="just" defTabSz="457200" rtl="0" eaLnBrk="1" fontAlgn="auto" latinLnBrk="0" hangingPunct="1">
                        <a:lnSpc>
                          <a:spcPct val="115000"/>
                        </a:lnSpc>
                        <a:spcBef>
                          <a:spcPts val="0"/>
                        </a:spcBef>
                        <a:spcAft>
                          <a:spcPts val="0"/>
                        </a:spcAft>
                        <a:buClrTx/>
                        <a:buSzTx/>
                        <a:buFontTx/>
                        <a:buNone/>
                        <a:tabLst/>
                        <a:defRPr/>
                      </a:pPr>
                      <a:r>
                        <a:rPr lang="es-419" sz="800" dirty="0">
                          <a:solidFill>
                            <a:schemeClr val="tx1"/>
                          </a:solidFill>
                          <a:effectLst/>
                          <a:latin typeface="Arial" panose="020B0604020202020204" pitchFamily="34" charset="0"/>
                          <a:cs typeface="Times New Roman" panose="02020603050405020304" pitchFamily="18" charset="0"/>
                        </a:rPr>
                        <a:t>Ingrese el ID del usuario que ejecuta el proceso</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800" dirty="0">
                          <a:solidFill>
                            <a:schemeClr val="tx1"/>
                          </a:solidFill>
                          <a:effectLst/>
                          <a:latin typeface="Arial" panose="020B0604020202020204" pitchFamily="34" charset="0"/>
                          <a:cs typeface="Times New Roman" panose="02020603050405020304" pitchFamily="18" charset="0"/>
                        </a:rPr>
                        <a:t>R</a:t>
                      </a:r>
                      <a:endParaRPr lang="es-CO" sz="800" dirty="0">
                        <a:solidFill>
                          <a:schemeClr val="tx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4126910990"/>
                  </a:ext>
                </a:extLst>
              </a:tr>
            </a:tbl>
          </a:graphicData>
        </a:graphic>
      </p:graphicFrame>
    </p:spTree>
    <p:extLst>
      <p:ext uri="{BB962C8B-B14F-4D97-AF65-F5344CB8AC3E}">
        <p14:creationId xmlns:p14="http://schemas.microsoft.com/office/powerpoint/2010/main" val="24218555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2C252A07-9342-0F1C-9F86-6F8D3BDBACA1}"/>
              </a:ext>
            </a:extLst>
          </p:cNvPr>
          <p:cNvPicPr>
            <a:picLocks noChangeAspect="1"/>
          </p:cNvPicPr>
          <p:nvPr/>
        </p:nvPicPr>
        <p:blipFill>
          <a:blip r:embed="rId3"/>
          <a:stretch>
            <a:fillRect/>
          </a:stretch>
        </p:blipFill>
        <p:spPr>
          <a:xfrm>
            <a:off x="654997" y="754611"/>
            <a:ext cx="11195288" cy="5437044"/>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9" name="Rectángulo: esquinas redondeadas 8">
            <a:extLst>
              <a:ext uri="{FF2B5EF4-FFF2-40B4-BE49-F238E27FC236}">
                <a16:creationId xmlns:a16="http://schemas.microsoft.com/office/drawing/2014/main" id="{B2C0B36E-6EF6-0997-2FF8-70B8EB4148F3}"/>
              </a:ext>
            </a:extLst>
          </p:cNvPr>
          <p:cNvSpPr/>
          <p:nvPr/>
        </p:nvSpPr>
        <p:spPr>
          <a:xfrm>
            <a:off x="3083918" y="5486616"/>
            <a:ext cx="5145930" cy="56787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6"/>
            </a:pPr>
            <a:r>
              <a:rPr lang="es-419" sz="1100" dirty="0"/>
              <a:t>Toda vez que se ingresaron los parámetros, pase al siguiente bloque</a:t>
            </a:r>
            <a:r>
              <a:rPr lang="es-ES_tradnl" sz="1100" dirty="0"/>
              <a:t>.</a:t>
            </a:r>
            <a:endParaRPr lang="es-419" sz="1100" dirty="0"/>
          </a:p>
        </p:txBody>
      </p:sp>
      <p:sp>
        <p:nvSpPr>
          <p:cNvPr id="12" name="CuadroTexto 11">
            <a:extLst>
              <a:ext uri="{FF2B5EF4-FFF2-40B4-BE49-F238E27FC236}">
                <a16:creationId xmlns:a16="http://schemas.microsoft.com/office/drawing/2014/main" id="{32B65659-914F-2A0A-061F-6E8401272874}"/>
              </a:ext>
            </a:extLst>
          </p:cNvPr>
          <p:cNvSpPr txBox="1"/>
          <p:nvPr/>
        </p:nvSpPr>
        <p:spPr>
          <a:xfrm>
            <a:off x="867161" y="5555111"/>
            <a:ext cx="301753" cy="215444"/>
          </a:xfrm>
          <a:prstGeom prst="rect">
            <a:avLst/>
          </a:prstGeom>
          <a:solidFill>
            <a:schemeClr val="accent3"/>
          </a:solidFill>
        </p:spPr>
        <p:txBody>
          <a:bodyPr wrap="square" rtlCol="0">
            <a:spAutoFit/>
          </a:bodyPr>
          <a:lstStyle/>
          <a:p>
            <a:r>
              <a:rPr lang="en-US" sz="800" b="1" dirty="0">
                <a:solidFill>
                  <a:schemeClr val="bg1"/>
                </a:solidFill>
              </a:rPr>
              <a:t>6</a:t>
            </a:r>
          </a:p>
        </p:txBody>
      </p:sp>
      <p:sp>
        <p:nvSpPr>
          <p:cNvPr id="13" name="Flecha: hacia la izquierda 12">
            <a:extLst>
              <a:ext uri="{FF2B5EF4-FFF2-40B4-BE49-F238E27FC236}">
                <a16:creationId xmlns:a16="http://schemas.microsoft.com/office/drawing/2014/main" id="{2308F921-2F8C-EC75-C12F-DCD4ECE836CB}"/>
              </a:ext>
            </a:extLst>
          </p:cNvPr>
          <p:cNvSpPr/>
          <p:nvPr/>
        </p:nvSpPr>
        <p:spPr>
          <a:xfrm rot="16200000">
            <a:off x="944885" y="5850725"/>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ángulo 14">
            <a:extLst>
              <a:ext uri="{FF2B5EF4-FFF2-40B4-BE49-F238E27FC236}">
                <a16:creationId xmlns:a16="http://schemas.microsoft.com/office/drawing/2014/main" id="{410D9FF8-00ED-1A3E-B78E-4FB1A2534D03}"/>
              </a:ext>
            </a:extLst>
          </p:cNvPr>
          <p:cNvSpPr/>
          <p:nvPr/>
        </p:nvSpPr>
        <p:spPr>
          <a:xfrm>
            <a:off x="874623" y="5976616"/>
            <a:ext cx="294291" cy="19598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219337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3FCAC701-8E1F-0783-9F2E-DF4601BAAA9A}"/>
              </a:ext>
            </a:extLst>
          </p:cNvPr>
          <p:cNvPicPr>
            <a:picLocks noChangeAspect="1"/>
          </p:cNvPicPr>
          <p:nvPr/>
        </p:nvPicPr>
        <p:blipFill>
          <a:blip r:embed="rId3"/>
          <a:stretch>
            <a:fillRect/>
          </a:stretch>
        </p:blipFill>
        <p:spPr>
          <a:xfrm>
            <a:off x="654997" y="754611"/>
            <a:ext cx="11195288" cy="5437044"/>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9" name="Rectángulo: esquinas redondeadas 8">
            <a:extLst>
              <a:ext uri="{FF2B5EF4-FFF2-40B4-BE49-F238E27FC236}">
                <a16:creationId xmlns:a16="http://schemas.microsoft.com/office/drawing/2014/main" id="{B2C0B36E-6EF6-0997-2FF8-70B8EB4148F3}"/>
              </a:ext>
            </a:extLst>
          </p:cNvPr>
          <p:cNvSpPr/>
          <p:nvPr/>
        </p:nvSpPr>
        <p:spPr>
          <a:xfrm>
            <a:off x="3083918" y="5486616"/>
            <a:ext cx="5145930" cy="56787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7"/>
            </a:pPr>
            <a:r>
              <a:rPr lang="es-ES_tradnl" sz="1100" dirty="0"/>
              <a:t>Seleccione la opción enviar.</a:t>
            </a:r>
          </a:p>
          <a:p>
            <a:pPr marL="228600" indent="-228600">
              <a:buFont typeface="+mj-lt"/>
              <a:buAutoNum type="arabicPeriod" startAt="7"/>
            </a:pPr>
            <a:r>
              <a:rPr lang="es-ES_tradnl" sz="1100" dirty="0"/>
              <a:t>Guarde la información.</a:t>
            </a:r>
            <a:endParaRPr lang="es-419" sz="1100" dirty="0"/>
          </a:p>
        </p:txBody>
      </p:sp>
      <p:sp>
        <p:nvSpPr>
          <p:cNvPr id="12" name="CuadroTexto 11">
            <a:extLst>
              <a:ext uri="{FF2B5EF4-FFF2-40B4-BE49-F238E27FC236}">
                <a16:creationId xmlns:a16="http://schemas.microsoft.com/office/drawing/2014/main" id="{32B65659-914F-2A0A-061F-6E8401272874}"/>
              </a:ext>
            </a:extLst>
          </p:cNvPr>
          <p:cNvSpPr txBox="1"/>
          <p:nvPr/>
        </p:nvSpPr>
        <p:spPr>
          <a:xfrm>
            <a:off x="7863529" y="4274369"/>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13" name="Flecha: hacia la izquierda 12">
            <a:extLst>
              <a:ext uri="{FF2B5EF4-FFF2-40B4-BE49-F238E27FC236}">
                <a16:creationId xmlns:a16="http://schemas.microsoft.com/office/drawing/2014/main" id="{2308F921-2F8C-EC75-C12F-DCD4ECE836CB}"/>
              </a:ext>
            </a:extLst>
          </p:cNvPr>
          <p:cNvSpPr/>
          <p:nvPr/>
        </p:nvSpPr>
        <p:spPr>
          <a:xfrm>
            <a:off x="7671829" y="435923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ángulo 14">
            <a:extLst>
              <a:ext uri="{FF2B5EF4-FFF2-40B4-BE49-F238E27FC236}">
                <a16:creationId xmlns:a16="http://schemas.microsoft.com/office/drawing/2014/main" id="{410D9FF8-00ED-1A3E-B78E-4FB1A2534D03}"/>
              </a:ext>
            </a:extLst>
          </p:cNvPr>
          <p:cNvSpPr/>
          <p:nvPr/>
        </p:nvSpPr>
        <p:spPr>
          <a:xfrm>
            <a:off x="7225641" y="4274369"/>
            <a:ext cx="400792" cy="21544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CuadroTexto 3">
            <a:extLst>
              <a:ext uri="{FF2B5EF4-FFF2-40B4-BE49-F238E27FC236}">
                <a16:creationId xmlns:a16="http://schemas.microsoft.com/office/drawing/2014/main" id="{9CA09F69-3484-C81D-65F2-4F4135F0F467}"/>
              </a:ext>
            </a:extLst>
          </p:cNvPr>
          <p:cNvSpPr txBox="1"/>
          <p:nvPr/>
        </p:nvSpPr>
        <p:spPr>
          <a:xfrm>
            <a:off x="10944456" y="5980884"/>
            <a:ext cx="301753" cy="215444"/>
          </a:xfrm>
          <a:prstGeom prst="rect">
            <a:avLst/>
          </a:prstGeom>
          <a:solidFill>
            <a:schemeClr val="accent3"/>
          </a:solidFill>
        </p:spPr>
        <p:txBody>
          <a:bodyPr wrap="square" rtlCol="0">
            <a:spAutoFit/>
          </a:bodyPr>
          <a:lstStyle/>
          <a:p>
            <a:r>
              <a:rPr lang="en-US" sz="800" b="1" dirty="0">
                <a:solidFill>
                  <a:schemeClr val="bg1"/>
                </a:solidFill>
              </a:rPr>
              <a:t>8</a:t>
            </a:r>
          </a:p>
        </p:txBody>
      </p:sp>
      <p:sp>
        <p:nvSpPr>
          <p:cNvPr id="5" name="Flecha: hacia la izquierda 4">
            <a:extLst>
              <a:ext uri="{FF2B5EF4-FFF2-40B4-BE49-F238E27FC236}">
                <a16:creationId xmlns:a16="http://schemas.microsoft.com/office/drawing/2014/main" id="{3CABDF7A-A790-7F22-04EE-49C10B8B859F}"/>
              </a:ext>
            </a:extLst>
          </p:cNvPr>
          <p:cNvSpPr/>
          <p:nvPr/>
        </p:nvSpPr>
        <p:spPr>
          <a:xfrm rot="10800000">
            <a:off x="11291605" y="6064477"/>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619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EBE5D8ED-0CEB-7116-1026-FB79C3D32A73}"/>
              </a:ext>
            </a:extLst>
          </p:cNvPr>
          <p:cNvPicPr>
            <a:picLocks noChangeAspect="1"/>
          </p:cNvPicPr>
          <p:nvPr/>
        </p:nvPicPr>
        <p:blipFill>
          <a:blip r:embed="rId3"/>
          <a:stretch>
            <a:fillRect/>
          </a:stretch>
        </p:blipFill>
        <p:spPr>
          <a:xfrm>
            <a:off x="742950" y="992318"/>
            <a:ext cx="11144250" cy="2556553"/>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9" name="Rectángulo: esquinas redondeadas 8">
            <a:extLst>
              <a:ext uri="{FF2B5EF4-FFF2-40B4-BE49-F238E27FC236}">
                <a16:creationId xmlns:a16="http://schemas.microsoft.com/office/drawing/2014/main" id="{B2C0B36E-6EF6-0997-2FF8-70B8EB4148F3}"/>
              </a:ext>
            </a:extLst>
          </p:cNvPr>
          <p:cNvSpPr/>
          <p:nvPr/>
        </p:nvSpPr>
        <p:spPr>
          <a:xfrm>
            <a:off x="4163688" y="2284443"/>
            <a:ext cx="5145930" cy="56787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419" sz="1100" dirty="0"/>
              <a:t>El sistema asignará un número al proceso ejecutado.</a:t>
            </a:r>
          </a:p>
        </p:txBody>
      </p:sp>
      <p:sp>
        <p:nvSpPr>
          <p:cNvPr id="15" name="Rectángulo 14">
            <a:extLst>
              <a:ext uri="{FF2B5EF4-FFF2-40B4-BE49-F238E27FC236}">
                <a16:creationId xmlns:a16="http://schemas.microsoft.com/office/drawing/2014/main" id="{410D9FF8-00ED-1A3E-B78E-4FB1A2534D03}"/>
              </a:ext>
            </a:extLst>
          </p:cNvPr>
          <p:cNvSpPr/>
          <p:nvPr/>
        </p:nvSpPr>
        <p:spPr>
          <a:xfrm>
            <a:off x="9677400" y="1412993"/>
            <a:ext cx="2209800" cy="26340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2399700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51288A4-A088-B99F-D5F0-29A0367A6AF9}"/>
              </a:ext>
            </a:extLst>
          </p:cNvPr>
          <p:cNvPicPr>
            <a:picLocks noChangeAspect="1"/>
          </p:cNvPicPr>
          <p:nvPr/>
        </p:nvPicPr>
        <p:blipFill>
          <a:blip r:embed="rId3"/>
          <a:stretch>
            <a:fillRect/>
          </a:stretch>
        </p:blipFill>
        <p:spPr>
          <a:xfrm>
            <a:off x="523875" y="685800"/>
            <a:ext cx="11558359" cy="4684843"/>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15" name="Rectángulo 14">
            <a:extLst>
              <a:ext uri="{FF2B5EF4-FFF2-40B4-BE49-F238E27FC236}">
                <a16:creationId xmlns:a16="http://schemas.microsoft.com/office/drawing/2014/main" id="{410D9FF8-00ED-1A3E-B78E-4FB1A2534D03}"/>
              </a:ext>
            </a:extLst>
          </p:cNvPr>
          <p:cNvSpPr/>
          <p:nvPr/>
        </p:nvSpPr>
        <p:spPr>
          <a:xfrm>
            <a:off x="10834605" y="906580"/>
            <a:ext cx="301753" cy="20273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Rectángulo: esquinas redondeadas 5">
            <a:extLst>
              <a:ext uri="{FF2B5EF4-FFF2-40B4-BE49-F238E27FC236}">
                <a16:creationId xmlns:a16="http://schemas.microsoft.com/office/drawing/2014/main" id="{8D202F98-0C73-1B4C-AA53-56D3E911250A}"/>
              </a:ext>
            </a:extLst>
          </p:cNvPr>
          <p:cNvSpPr/>
          <p:nvPr/>
        </p:nvSpPr>
        <p:spPr>
          <a:xfrm>
            <a:off x="3083918" y="5486616"/>
            <a:ext cx="5145930" cy="56787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9"/>
            </a:pPr>
            <a:r>
              <a:rPr lang="es-ES_tradnl" sz="1100" dirty="0"/>
              <a:t>Presione la opción </a:t>
            </a:r>
            <a:r>
              <a:rPr lang="es-ES_tradnl" sz="1100" b="1" dirty="0"/>
              <a:t>Relacionado</a:t>
            </a:r>
            <a:r>
              <a:rPr lang="es-ES_tradnl" sz="1100" dirty="0"/>
              <a:t> en la barra superior.</a:t>
            </a:r>
          </a:p>
          <a:p>
            <a:pPr marL="228600" indent="-228600">
              <a:buFont typeface="+mj-lt"/>
              <a:buAutoNum type="arabicPeriod" startAt="9"/>
            </a:pPr>
            <a:r>
              <a:rPr lang="es-ES_tradnl" sz="1100" dirty="0"/>
              <a:t>Seleccione </a:t>
            </a:r>
            <a:r>
              <a:rPr lang="es-ES_tradnl" sz="1100" b="1" dirty="0"/>
              <a:t>Revisar Salida </a:t>
            </a:r>
            <a:r>
              <a:rPr lang="es-ES_tradnl" sz="1100" dirty="0"/>
              <a:t>(GJIREVO).</a:t>
            </a:r>
          </a:p>
        </p:txBody>
      </p:sp>
      <p:sp>
        <p:nvSpPr>
          <p:cNvPr id="11" name="Rectángulo 10">
            <a:extLst>
              <a:ext uri="{FF2B5EF4-FFF2-40B4-BE49-F238E27FC236}">
                <a16:creationId xmlns:a16="http://schemas.microsoft.com/office/drawing/2014/main" id="{3BE15B70-60E9-DCA6-BF3F-2671A7321EE7}"/>
              </a:ext>
            </a:extLst>
          </p:cNvPr>
          <p:cNvSpPr/>
          <p:nvPr/>
        </p:nvSpPr>
        <p:spPr>
          <a:xfrm>
            <a:off x="10635128" y="1342804"/>
            <a:ext cx="1413675" cy="24155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E71BE3FF-B0BA-91A0-9F24-D1EE0BF5A71E}"/>
              </a:ext>
            </a:extLst>
          </p:cNvPr>
          <p:cNvSpPr txBox="1"/>
          <p:nvPr/>
        </p:nvSpPr>
        <p:spPr>
          <a:xfrm>
            <a:off x="10280202" y="906580"/>
            <a:ext cx="301753" cy="215444"/>
          </a:xfrm>
          <a:prstGeom prst="rect">
            <a:avLst/>
          </a:prstGeom>
          <a:solidFill>
            <a:schemeClr val="accent3"/>
          </a:solidFill>
        </p:spPr>
        <p:txBody>
          <a:bodyPr wrap="square" rtlCol="0">
            <a:spAutoFit/>
          </a:bodyPr>
          <a:lstStyle/>
          <a:p>
            <a:r>
              <a:rPr lang="en-US" sz="800" b="1" dirty="0">
                <a:solidFill>
                  <a:schemeClr val="bg1"/>
                </a:solidFill>
              </a:rPr>
              <a:t>9</a:t>
            </a:r>
          </a:p>
        </p:txBody>
      </p:sp>
      <p:sp>
        <p:nvSpPr>
          <p:cNvPr id="13" name="Flecha: hacia la izquierda 12">
            <a:extLst>
              <a:ext uri="{FF2B5EF4-FFF2-40B4-BE49-F238E27FC236}">
                <a16:creationId xmlns:a16="http://schemas.microsoft.com/office/drawing/2014/main" id="{306D1E55-3C83-E8E3-EDCC-699862A9355D}"/>
              </a:ext>
            </a:extLst>
          </p:cNvPr>
          <p:cNvSpPr/>
          <p:nvPr/>
        </p:nvSpPr>
        <p:spPr>
          <a:xfrm rot="10800000">
            <a:off x="10635128" y="985088"/>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a:extLst>
              <a:ext uri="{FF2B5EF4-FFF2-40B4-BE49-F238E27FC236}">
                <a16:creationId xmlns:a16="http://schemas.microsoft.com/office/drawing/2014/main" id="{F9B1415D-E752-577D-90FE-68B097CEC30D}"/>
              </a:ext>
            </a:extLst>
          </p:cNvPr>
          <p:cNvSpPr txBox="1"/>
          <p:nvPr/>
        </p:nvSpPr>
        <p:spPr>
          <a:xfrm>
            <a:off x="10071437" y="1346499"/>
            <a:ext cx="301753" cy="215444"/>
          </a:xfrm>
          <a:prstGeom prst="rect">
            <a:avLst/>
          </a:prstGeom>
          <a:solidFill>
            <a:schemeClr val="accent3"/>
          </a:solidFill>
        </p:spPr>
        <p:txBody>
          <a:bodyPr wrap="square" rtlCol="0">
            <a:spAutoFit/>
          </a:bodyPr>
          <a:lstStyle/>
          <a:p>
            <a:r>
              <a:rPr lang="en-US" sz="800" b="1" dirty="0">
                <a:solidFill>
                  <a:schemeClr val="bg1"/>
                </a:solidFill>
              </a:rPr>
              <a:t>10</a:t>
            </a:r>
          </a:p>
        </p:txBody>
      </p:sp>
      <p:sp>
        <p:nvSpPr>
          <p:cNvPr id="16" name="Flecha: hacia la izquierda 15">
            <a:extLst>
              <a:ext uri="{FF2B5EF4-FFF2-40B4-BE49-F238E27FC236}">
                <a16:creationId xmlns:a16="http://schemas.microsoft.com/office/drawing/2014/main" id="{F7A6D5D3-9B11-6EC6-7451-EC7842AC3A74}"/>
              </a:ext>
            </a:extLst>
          </p:cNvPr>
          <p:cNvSpPr/>
          <p:nvPr/>
        </p:nvSpPr>
        <p:spPr>
          <a:xfrm rot="10800000">
            <a:off x="10431078" y="1454222"/>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11617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EE2407D-609D-486D-DBC3-388039E7D90E}"/>
              </a:ext>
            </a:extLst>
          </p:cNvPr>
          <p:cNvPicPr>
            <a:picLocks noChangeAspect="1"/>
          </p:cNvPicPr>
          <p:nvPr/>
        </p:nvPicPr>
        <p:blipFill>
          <a:blip r:embed="rId3"/>
          <a:stretch>
            <a:fillRect/>
          </a:stretch>
        </p:blipFill>
        <p:spPr>
          <a:xfrm>
            <a:off x="609601" y="685800"/>
            <a:ext cx="11383477" cy="5373049"/>
          </a:xfrm>
          <a:prstGeom prst="rect">
            <a:avLst/>
          </a:prstGeom>
          <a:solidFill>
            <a:schemeClr val="accent3"/>
          </a:solidFill>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15" name="Rectángulo 14">
            <a:extLst>
              <a:ext uri="{FF2B5EF4-FFF2-40B4-BE49-F238E27FC236}">
                <a16:creationId xmlns:a16="http://schemas.microsoft.com/office/drawing/2014/main" id="{410D9FF8-00ED-1A3E-B78E-4FB1A2534D03}"/>
              </a:ext>
            </a:extLst>
          </p:cNvPr>
          <p:cNvSpPr/>
          <p:nvPr/>
        </p:nvSpPr>
        <p:spPr>
          <a:xfrm>
            <a:off x="1264680" y="1164590"/>
            <a:ext cx="6769336" cy="10805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Rectángulo: esquinas redondeadas 5">
            <a:extLst>
              <a:ext uri="{FF2B5EF4-FFF2-40B4-BE49-F238E27FC236}">
                <a16:creationId xmlns:a16="http://schemas.microsoft.com/office/drawing/2014/main" id="{8D202F98-0C73-1B4C-AA53-56D3E911250A}"/>
              </a:ext>
            </a:extLst>
          </p:cNvPr>
          <p:cNvSpPr/>
          <p:nvPr/>
        </p:nvSpPr>
        <p:spPr>
          <a:xfrm>
            <a:off x="3192418" y="4852623"/>
            <a:ext cx="5807163" cy="108366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1"/>
            </a:pPr>
            <a:r>
              <a:rPr lang="es-ES_tradnl" sz="1100" dirty="0"/>
              <a:t>Automáticamente, la página muestra el código  del proceso y el número asignado.</a:t>
            </a:r>
          </a:p>
          <a:p>
            <a:pPr marL="228600" indent="-228600">
              <a:buFont typeface="+mj-lt"/>
              <a:buAutoNum type="arabicPeriod" startAt="11"/>
            </a:pPr>
            <a:r>
              <a:rPr lang="es-ES_tradnl" sz="1100" dirty="0"/>
              <a:t>Presione los tres puntos del campo </a:t>
            </a:r>
            <a:r>
              <a:rPr lang="es-ES_tradnl" sz="1100" b="1" dirty="0"/>
              <a:t>Nombre de archivo</a:t>
            </a:r>
            <a:r>
              <a:rPr lang="es-ES_tradnl" sz="1100" dirty="0"/>
              <a:t>.</a:t>
            </a:r>
          </a:p>
          <a:p>
            <a:pPr marL="228600" indent="-228600">
              <a:buFont typeface="+mj-lt"/>
              <a:buAutoNum type="arabicPeriod" startAt="11"/>
            </a:pPr>
            <a:r>
              <a:rPr lang="es-ES_tradnl" sz="1100" dirty="0"/>
              <a:t>Seleccione, de la ventana que emergió, el archivo .lis que se muestra (se despliega solamente si el proceso terminó su ejecución), presionando el botón </a:t>
            </a:r>
            <a:r>
              <a:rPr lang="es-ES_tradnl" sz="1100" b="1" dirty="0"/>
              <a:t>OK</a:t>
            </a:r>
          </a:p>
        </p:txBody>
      </p:sp>
      <p:sp>
        <p:nvSpPr>
          <p:cNvPr id="11" name="Rectángulo 10">
            <a:extLst>
              <a:ext uri="{FF2B5EF4-FFF2-40B4-BE49-F238E27FC236}">
                <a16:creationId xmlns:a16="http://schemas.microsoft.com/office/drawing/2014/main" id="{3BE15B70-60E9-DCA6-BF3F-2671A7321EE7}"/>
              </a:ext>
            </a:extLst>
          </p:cNvPr>
          <p:cNvSpPr/>
          <p:nvPr/>
        </p:nvSpPr>
        <p:spPr>
          <a:xfrm>
            <a:off x="1264680" y="1297529"/>
            <a:ext cx="1002270" cy="10805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E71BE3FF-B0BA-91A0-9F24-D1EE0BF5A71E}"/>
              </a:ext>
            </a:extLst>
          </p:cNvPr>
          <p:cNvSpPr txBox="1"/>
          <p:nvPr/>
        </p:nvSpPr>
        <p:spPr>
          <a:xfrm>
            <a:off x="725668" y="1111891"/>
            <a:ext cx="301753" cy="215444"/>
          </a:xfrm>
          <a:prstGeom prst="rect">
            <a:avLst/>
          </a:prstGeom>
          <a:solidFill>
            <a:schemeClr val="accent3"/>
          </a:solidFill>
        </p:spPr>
        <p:txBody>
          <a:bodyPr wrap="square" rtlCol="0">
            <a:spAutoFit/>
          </a:bodyPr>
          <a:lstStyle/>
          <a:p>
            <a:r>
              <a:rPr lang="en-US" sz="800" b="1" dirty="0">
                <a:solidFill>
                  <a:schemeClr val="bg1"/>
                </a:solidFill>
              </a:rPr>
              <a:t>11</a:t>
            </a:r>
          </a:p>
        </p:txBody>
      </p:sp>
      <p:sp>
        <p:nvSpPr>
          <p:cNvPr id="13" name="Flecha: hacia la izquierda 12">
            <a:extLst>
              <a:ext uri="{FF2B5EF4-FFF2-40B4-BE49-F238E27FC236}">
                <a16:creationId xmlns:a16="http://schemas.microsoft.com/office/drawing/2014/main" id="{306D1E55-3C83-E8E3-EDCC-699862A9355D}"/>
              </a:ext>
            </a:extLst>
          </p:cNvPr>
          <p:cNvSpPr/>
          <p:nvPr/>
        </p:nvSpPr>
        <p:spPr>
          <a:xfrm rot="10800000">
            <a:off x="1072899" y="1219613"/>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uadroTexto 13">
            <a:extLst>
              <a:ext uri="{FF2B5EF4-FFF2-40B4-BE49-F238E27FC236}">
                <a16:creationId xmlns:a16="http://schemas.microsoft.com/office/drawing/2014/main" id="{F9B1415D-E752-577D-90FE-68B097CEC30D}"/>
              </a:ext>
            </a:extLst>
          </p:cNvPr>
          <p:cNvSpPr txBox="1"/>
          <p:nvPr/>
        </p:nvSpPr>
        <p:spPr>
          <a:xfrm>
            <a:off x="2589296" y="1327335"/>
            <a:ext cx="301753" cy="215444"/>
          </a:xfrm>
          <a:prstGeom prst="rect">
            <a:avLst/>
          </a:prstGeom>
          <a:solidFill>
            <a:schemeClr val="accent3"/>
          </a:solidFill>
        </p:spPr>
        <p:txBody>
          <a:bodyPr wrap="square" rtlCol="0">
            <a:spAutoFit/>
          </a:bodyPr>
          <a:lstStyle/>
          <a:p>
            <a:r>
              <a:rPr lang="en-US" sz="800" b="1" dirty="0">
                <a:solidFill>
                  <a:schemeClr val="bg1"/>
                </a:solidFill>
              </a:rPr>
              <a:t>12</a:t>
            </a:r>
          </a:p>
        </p:txBody>
      </p:sp>
      <p:sp>
        <p:nvSpPr>
          <p:cNvPr id="16" name="Flecha: hacia la izquierda 15">
            <a:extLst>
              <a:ext uri="{FF2B5EF4-FFF2-40B4-BE49-F238E27FC236}">
                <a16:creationId xmlns:a16="http://schemas.microsoft.com/office/drawing/2014/main" id="{F7A6D5D3-9B11-6EC6-7451-EC7842AC3A74}"/>
              </a:ext>
            </a:extLst>
          </p:cNvPr>
          <p:cNvSpPr/>
          <p:nvPr/>
        </p:nvSpPr>
        <p:spPr>
          <a:xfrm>
            <a:off x="2342481" y="137896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9">
            <a:extLst>
              <a:ext uri="{FF2B5EF4-FFF2-40B4-BE49-F238E27FC236}">
                <a16:creationId xmlns:a16="http://schemas.microsoft.com/office/drawing/2014/main" id="{2B850762-167C-2FD5-98CD-0C4036911025}"/>
              </a:ext>
            </a:extLst>
          </p:cNvPr>
          <p:cNvSpPr/>
          <p:nvPr/>
        </p:nvSpPr>
        <p:spPr>
          <a:xfrm>
            <a:off x="4940366" y="3287463"/>
            <a:ext cx="2812984" cy="14153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7" name="CuadroTexto 16">
            <a:extLst>
              <a:ext uri="{FF2B5EF4-FFF2-40B4-BE49-F238E27FC236}">
                <a16:creationId xmlns:a16="http://schemas.microsoft.com/office/drawing/2014/main" id="{FFCA64B8-243C-1D04-195E-E3913DB1DFC1}"/>
              </a:ext>
            </a:extLst>
          </p:cNvPr>
          <p:cNvSpPr txBox="1"/>
          <p:nvPr/>
        </p:nvSpPr>
        <p:spPr>
          <a:xfrm>
            <a:off x="4397196" y="3242344"/>
            <a:ext cx="301753" cy="215444"/>
          </a:xfrm>
          <a:prstGeom prst="rect">
            <a:avLst/>
          </a:prstGeom>
          <a:solidFill>
            <a:schemeClr val="accent3"/>
          </a:solidFill>
        </p:spPr>
        <p:txBody>
          <a:bodyPr wrap="square" rtlCol="0">
            <a:spAutoFit/>
          </a:bodyPr>
          <a:lstStyle/>
          <a:p>
            <a:r>
              <a:rPr lang="en-US" sz="800" b="1" dirty="0">
                <a:solidFill>
                  <a:schemeClr val="bg1"/>
                </a:solidFill>
              </a:rPr>
              <a:t>13</a:t>
            </a:r>
          </a:p>
        </p:txBody>
      </p:sp>
      <p:sp>
        <p:nvSpPr>
          <p:cNvPr id="18" name="Flecha: hacia la izquierda 17">
            <a:extLst>
              <a:ext uri="{FF2B5EF4-FFF2-40B4-BE49-F238E27FC236}">
                <a16:creationId xmlns:a16="http://schemas.microsoft.com/office/drawing/2014/main" id="{A563D1A3-1CBF-3D06-2569-5C712CC7A83B}"/>
              </a:ext>
            </a:extLst>
          </p:cNvPr>
          <p:cNvSpPr/>
          <p:nvPr/>
        </p:nvSpPr>
        <p:spPr>
          <a:xfrm rot="10800000">
            <a:off x="4722119" y="3353412"/>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0944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BD81A8D-C884-AD97-B467-288E562D61C5}"/>
              </a:ext>
            </a:extLst>
          </p:cNvPr>
          <p:cNvPicPr>
            <a:picLocks noChangeAspect="1"/>
          </p:cNvPicPr>
          <p:nvPr/>
        </p:nvPicPr>
        <p:blipFill>
          <a:blip r:embed="rId3"/>
          <a:stretch>
            <a:fillRect/>
          </a:stretch>
        </p:blipFill>
        <p:spPr>
          <a:xfrm>
            <a:off x="857251" y="943131"/>
            <a:ext cx="10763900" cy="3503742"/>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6" name="Rectángulo: esquinas redondeadas 5">
            <a:extLst>
              <a:ext uri="{FF2B5EF4-FFF2-40B4-BE49-F238E27FC236}">
                <a16:creationId xmlns:a16="http://schemas.microsoft.com/office/drawing/2014/main" id="{8D202F98-0C73-1B4C-AA53-56D3E911250A}"/>
              </a:ext>
            </a:extLst>
          </p:cNvPr>
          <p:cNvSpPr/>
          <p:nvPr/>
        </p:nvSpPr>
        <p:spPr>
          <a:xfrm>
            <a:off x="4350009" y="4609434"/>
            <a:ext cx="3918501" cy="60459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Puede visualizar los resultados del proceso en la página…</a:t>
            </a:r>
          </a:p>
        </p:txBody>
      </p:sp>
    </p:spTree>
    <p:extLst>
      <p:ext uri="{BB962C8B-B14F-4D97-AF65-F5344CB8AC3E}">
        <p14:creationId xmlns:p14="http://schemas.microsoft.com/office/powerpoint/2010/main" val="1428957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7BA3C0C6-5A89-76AC-BC4D-E0CE2B766BED}"/>
              </a:ext>
            </a:extLst>
          </p:cNvPr>
          <p:cNvPicPr>
            <a:picLocks noChangeAspect="1"/>
          </p:cNvPicPr>
          <p:nvPr/>
        </p:nvPicPr>
        <p:blipFill>
          <a:blip r:embed="rId3"/>
          <a:stretch>
            <a:fillRect/>
          </a:stretch>
        </p:blipFill>
        <p:spPr>
          <a:xfrm>
            <a:off x="790575" y="817010"/>
            <a:ext cx="11144751" cy="4966809"/>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6" name="Rectángulo: esquinas redondeadas 5">
            <a:extLst>
              <a:ext uri="{FF2B5EF4-FFF2-40B4-BE49-F238E27FC236}">
                <a16:creationId xmlns:a16="http://schemas.microsoft.com/office/drawing/2014/main" id="{8D202F98-0C73-1B4C-AA53-56D3E911250A}"/>
              </a:ext>
            </a:extLst>
          </p:cNvPr>
          <p:cNvSpPr/>
          <p:nvPr/>
        </p:nvSpPr>
        <p:spPr>
          <a:xfrm>
            <a:off x="3928961" y="4192991"/>
            <a:ext cx="4155207" cy="64350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O bien guardar el archivo mediante el menú de Herramientas</a:t>
            </a:r>
            <a:endParaRPr lang="es-ES_tradnl" sz="1100" b="1" dirty="0"/>
          </a:p>
        </p:txBody>
      </p:sp>
      <p:sp>
        <p:nvSpPr>
          <p:cNvPr id="8" name="Rectángulo 7">
            <a:extLst>
              <a:ext uri="{FF2B5EF4-FFF2-40B4-BE49-F238E27FC236}">
                <a16:creationId xmlns:a16="http://schemas.microsoft.com/office/drawing/2014/main" id="{5A5420A9-4D55-5D01-D8F4-09458F0665FF}"/>
              </a:ext>
            </a:extLst>
          </p:cNvPr>
          <p:cNvSpPr/>
          <p:nvPr/>
        </p:nvSpPr>
        <p:spPr>
          <a:xfrm>
            <a:off x="10363200" y="3914775"/>
            <a:ext cx="1572126" cy="278216"/>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679969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3E2DAF20-2A4A-FE70-CC5B-B77B00334C0B}"/>
              </a:ext>
            </a:extLst>
          </p:cNvPr>
          <p:cNvPicPr>
            <a:picLocks noChangeAspect="1"/>
          </p:cNvPicPr>
          <p:nvPr/>
        </p:nvPicPr>
        <p:blipFill>
          <a:blip r:embed="rId3"/>
          <a:stretch>
            <a:fillRect/>
          </a:stretch>
        </p:blipFill>
        <p:spPr>
          <a:xfrm>
            <a:off x="839822" y="670442"/>
            <a:ext cx="10819912" cy="5249096"/>
          </a:xfrm>
          <a:prstGeom prst="rect">
            <a:avLst/>
          </a:prstGeom>
        </p:spPr>
      </p:pic>
      <p:sp>
        <p:nvSpPr>
          <p:cNvPr id="2" name="Marcador de texto vertical 1">
            <a:extLst>
              <a:ext uri="{FF2B5EF4-FFF2-40B4-BE49-F238E27FC236}">
                <a16:creationId xmlns:a16="http://schemas.microsoft.com/office/drawing/2014/main" id="{393300FE-93A3-1753-59DF-7E1CBCE6B4C7}"/>
              </a:ext>
            </a:extLst>
          </p:cNvPr>
          <p:cNvSpPr>
            <a:spLocks noGrp="1"/>
          </p:cNvSpPr>
          <p:nvPr>
            <p:ph type="body" orient="vert" sz="quarter" idx="17"/>
          </p:nvPr>
        </p:nvSpPr>
        <p:spPr/>
        <p:txBody>
          <a:bodyPr/>
          <a:lstStyle/>
          <a:p>
            <a:r>
              <a:rPr lang="es-419" dirty="0"/>
              <a:t>Gestionar calificaciones incompletas</a:t>
            </a:r>
          </a:p>
        </p:txBody>
      </p:sp>
      <p:sp>
        <p:nvSpPr>
          <p:cNvPr id="3" name="Título 2">
            <a:extLst>
              <a:ext uri="{FF2B5EF4-FFF2-40B4-BE49-F238E27FC236}">
                <a16:creationId xmlns:a16="http://schemas.microsoft.com/office/drawing/2014/main" id="{C0CB16F3-F3CB-1B86-21EF-B4ED5951F284}"/>
              </a:ext>
            </a:extLst>
          </p:cNvPr>
          <p:cNvSpPr>
            <a:spLocks noGrp="1"/>
          </p:cNvSpPr>
          <p:nvPr>
            <p:ph type="title"/>
          </p:nvPr>
        </p:nvSpPr>
        <p:spPr>
          <a:xfrm>
            <a:off x="857251" y="272818"/>
            <a:ext cx="10477497" cy="898555"/>
          </a:xfrm>
        </p:spPr>
        <p:txBody>
          <a:bodyPr/>
          <a:lstStyle/>
          <a:p>
            <a:r>
              <a:rPr lang="es-ES_tradnl" dirty="0">
                <a:solidFill>
                  <a:schemeClr val="accent1"/>
                </a:solidFill>
              </a:rPr>
              <a:t>Procesar calificaciones incompletas</a:t>
            </a:r>
            <a:endParaRPr lang="es-419" dirty="0">
              <a:solidFill>
                <a:schemeClr val="accent1"/>
              </a:solidFill>
            </a:endParaRPr>
          </a:p>
        </p:txBody>
      </p:sp>
      <p:sp>
        <p:nvSpPr>
          <p:cNvPr id="6" name="Rectángulo: esquinas redondeadas 5">
            <a:extLst>
              <a:ext uri="{FF2B5EF4-FFF2-40B4-BE49-F238E27FC236}">
                <a16:creationId xmlns:a16="http://schemas.microsoft.com/office/drawing/2014/main" id="{8D202F98-0C73-1B4C-AA53-56D3E911250A}"/>
              </a:ext>
            </a:extLst>
          </p:cNvPr>
          <p:cNvSpPr/>
          <p:nvPr/>
        </p:nvSpPr>
        <p:spPr>
          <a:xfrm>
            <a:off x="3278019" y="3460306"/>
            <a:ext cx="5123640" cy="113887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La fecha de extensión de la calificación en historia académica del estudiante debe ser igual o menor a la fecha de ejecución del proceso, para que tome al estudiante.</a:t>
            </a:r>
          </a:p>
          <a:p>
            <a:pPr algn="ctr"/>
            <a:r>
              <a:rPr lang="es-ES_tradnl" sz="1100" b="1" dirty="0"/>
              <a:t>Luego de la ejecución del proceso, se ha cambiado la calificación del estudiante por la que está configurada en SHAGRDE para el código de calificación incompleta </a:t>
            </a:r>
          </a:p>
        </p:txBody>
      </p:sp>
      <p:sp>
        <p:nvSpPr>
          <p:cNvPr id="11" name="Rectángulo 10">
            <a:extLst>
              <a:ext uri="{FF2B5EF4-FFF2-40B4-BE49-F238E27FC236}">
                <a16:creationId xmlns:a16="http://schemas.microsoft.com/office/drawing/2014/main" id="{404B8577-9D3C-3F48-02B1-57B93A0C062E}"/>
              </a:ext>
            </a:extLst>
          </p:cNvPr>
          <p:cNvSpPr/>
          <p:nvPr/>
        </p:nvSpPr>
        <p:spPr>
          <a:xfrm>
            <a:off x="6520977" y="2398776"/>
            <a:ext cx="710120" cy="329427"/>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42207910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p:txBody>
          <a:bodyPr/>
          <a:lstStyle/>
          <a:p>
            <a:r>
              <a:rPr lang="es-419" dirty="0"/>
              <a:t>Gestionar calificaciones incompletas</a:t>
            </a:r>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789568"/>
          </a:xfrm>
        </p:spPr>
        <p:txBody>
          <a:bodyPr/>
          <a:lstStyle/>
          <a:p>
            <a:pPr marL="342900" lvl="1" indent="-342900" algn="just">
              <a:spcBef>
                <a:spcPts val="1000"/>
              </a:spcBef>
              <a:buClr>
                <a:srgbClr val="0CB4B4"/>
              </a:buClr>
              <a:buFont typeface="Wingdings" panose="05000000000000000000" pitchFamily="2" charset="2"/>
              <a:buChar char="q"/>
            </a:pPr>
            <a:r>
              <a:rPr lang="es-419" sz="1800" dirty="0"/>
              <a:t>Mediante la página de Mantenimiento de Código de Calificación (SHAGRDE) se definen los calificación incompleta, para los cuales se deben definir, también, la calificación que la reemplazará en caso de que el estudiante no complete su evaluación.</a:t>
            </a:r>
          </a:p>
          <a:p>
            <a:pPr marL="342900" lvl="1" indent="-342900" algn="just">
              <a:spcBef>
                <a:spcPts val="1000"/>
              </a:spcBef>
              <a:buClr>
                <a:srgbClr val="0CB4B4"/>
              </a:buClr>
              <a:buFont typeface="Wingdings" panose="05000000000000000000" pitchFamily="2" charset="2"/>
              <a:buChar char="q"/>
            </a:pPr>
            <a:r>
              <a:rPr lang="es-419" sz="1800" dirty="0"/>
              <a:t>Registro Académico define las reglas que aplican para el procesamiento de las calificaciones incompletas:</a:t>
            </a:r>
          </a:p>
          <a:p>
            <a:pPr marL="511175" lvl="2" indent="-342900" algn="just">
              <a:spcBef>
                <a:spcPts val="1000"/>
              </a:spcBef>
              <a:buClr>
                <a:srgbClr val="0CB4B4"/>
              </a:buClr>
              <a:buFont typeface="Wingdings" panose="05000000000000000000" pitchFamily="2" charset="2"/>
              <a:buChar char="q"/>
            </a:pPr>
            <a:r>
              <a:rPr lang="es-419" sz="1600" dirty="0"/>
              <a:t>Fecha límite para completar recuperar la calificación incompleta.</a:t>
            </a:r>
          </a:p>
          <a:p>
            <a:pPr marL="511175" lvl="2" indent="-342900" algn="just">
              <a:spcBef>
                <a:spcPts val="1000"/>
              </a:spcBef>
              <a:buClr>
                <a:srgbClr val="0CB4B4"/>
              </a:buClr>
              <a:buFont typeface="Wingdings" panose="05000000000000000000" pitchFamily="2" charset="2"/>
              <a:buChar char="q"/>
            </a:pPr>
            <a:r>
              <a:rPr lang="es-419" sz="1600" dirty="0"/>
              <a:t>Reglas propias de la calificación incompleta para cada período.</a:t>
            </a:r>
          </a:p>
          <a:p>
            <a:pPr marL="342900" lvl="1" indent="-342900" algn="just">
              <a:spcBef>
                <a:spcPts val="1000"/>
              </a:spcBef>
              <a:buClr>
                <a:srgbClr val="0CB4B4"/>
              </a:buClr>
              <a:buFont typeface="Wingdings" panose="05000000000000000000" pitchFamily="2" charset="2"/>
              <a:buChar char="q"/>
            </a:pPr>
            <a:r>
              <a:rPr lang="es-419" sz="1800" dirty="0"/>
              <a:t>El profesor podrá sustituir la calificación incompleta por la calificación obtenida por el estudiante, hasta la fecha límite definida por Registro Académico.</a:t>
            </a:r>
          </a:p>
          <a:p>
            <a:pPr marL="342900" lvl="1" indent="-342900" algn="just">
              <a:spcBef>
                <a:spcPts val="1000"/>
              </a:spcBef>
              <a:buClr>
                <a:srgbClr val="0CB4B4"/>
              </a:buClr>
              <a:buFont typeface="Wingdings" panose="05000000000000000000" pitchFamily="2" charset="2"/>
              <a:buChar char="q"/>
            </a:pPr>
            <a:r>
              <a:rPr lang="es-419" sz="1800" dirty="0"/>
              <a:t>Registro Académico deberá correr el proceso SHRCINC para reemplazar la calificación incompleta de los estudiantes que no completaron su evaluación por la definida en SHAGRDE.</a:t>
            </a:r>
          </a:p>
          <a:p>
            <a:pPr marL="0" lvl="1" algn="just">
              <a:spcBef>
                <a:spcPts val="1000"/>
              </a:spcBef>
              <a:buClr>
                <a:srgbClr val="0CB4B4"/>
              </a:buClr>
            </a:pPr>
            <a:endParaRPr lang="es-419" sz="1800" dirty="0"/>
          </a:p>
          <a:p>
            <a:pPr marL="0" lvl="1" algn="just">
              <a:spcBef>
                <a:spcPts val="1000"/>
              </a:spcBef>
              <a:buClr>
                <a:srgbClr val="0CB4B4"/>
              </a:buClr>
            </a:pPr>
            <a:endParaRPr lang="es-419" sz="1800" dirty="0"/>
          </a:p>
        </p:txBody>
      </p:sp>
    </p:spTree>
    <p:extLst>
      <p:ext uri="{BB962C8B-B14F-4D97-AF65-F5344CB8AC3E}">
        <p14:creationId xmlns:p14="http://schemas.microsoft.com/office/powerpoint/2010/main" val="30517754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err="1"/>
              <a:t>Correo</a:t>
            </a:r>
            <a:endParaRPr lang="en-US" dirty="0"/>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EBP 07 4.3.6.1. Ejecutar procesos de cierre de periodo académico</Template>
  <TotalTime>5531</TotalTime>
  <Words>2392</Words>
  <Application>Microsoft Office PowerPoint</Application>
  <PresentationFormat>Widescreen</PresentationFormat>
  <Paragraphs>338</Paragraphs>
  <Slides>44</Slides>
  <Notes>19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44</vt:i4>
      </vt:variant>
    </vt:vector>
  </HeadingPairs>
  <TitlesOfParts>
    <vt:vector size="52" baseType="lpstr">
      <vt:lpstr>Aptos</vt:lpstr>
      <vt:lpstr>Aptos Display</vt:lpstr>
      <vt:lpstr>Arial</vt:lpstr>
      <vt:lpstr>Courier New</vt:lpstr>
      <vt:lpstr>Helvetica Neue</vt:lpstr>
      <vt:lpstr>Wingdings</vt:lpstr>
      <vt:lpstr>Ellucian Main Layouts</vt:lpstr>
      <vt:lpstr>Ellucian Blank Layouts</vt:lpstr>
      <vt:lpstr> Gestionar Calificaciones Incompletas </vt:lpstr>
      <vt:lpstr>PowerPoint Presentation</vt:lpstr>
      <vt:lpstr>Overview</vt:lpstr>
      <vt:lpstr>Overview: Mapa de capacidades</vt:lpstr>
      <vt:lpstr>Overview: Gestionar calificaciones incompletas </vt:lpstr>
      <vt:lpstr>Overview: Gestionar calificaciones incompletas </vt:lpstr>
      <vt:lpstr>Overview: Región donde aplica</vt:lpstr>
      <vt:lpstr>Overview: Gestionar calificaciones incompletas </vt:lpstr>
      <vt:lpstr>Configuraciones</vt:lpstr>
      <vt:lpstr>Modo de calificar</vt:lpstr>
      <vt:lpstr> Modo de calificar </vt:lpstr>
      <vt:lpstr>Crear códigos de calificaciones incompletas</vt:lpstr>
      <vt:lpstr>Crear códigos de calificaciones incompletas (SHAGRDE)</vt:lpstr>
      <vt:lpstr>Crear códigos de calificaciones incompletas (SHAGRDE)</vt:lpstr>
      <vt:lpstr>Crear códigos de calificaciones incompletas (SHAGRDE)</vt:lpstr>
      <vt:lpstr>Crear códigos de calificaciones incompletas (SHAGRDE)</vt:lpstr>
      <vt:lpstr>Crear códigos de calificaciones incompletas (SHAGRDE)</vt:lpstr>
      <vt:lpstr>Crear códigos de calificaciones incompletas (SHAGRDE)</vt:lpstr>
      <vt:lpstr>Definir fecha límite para reemplazo de calificación incompleta</vt:lpstr>
      <vt:lpstr>Definir fecha límite para reemplazo de calificación incompleta</vt:lpstr>
      <vt:lpstr>Definir fecha límite para reemplazo de calificación incompleta</vt:lpstr>
      <vt:lpstr>Definir las reglas de calificación incompleta</vt:lpstr>
      <vt:lpstr>Definir las reglas de calificación incompleta</vt:lpstr>
      <vt:lpstr>Definir las reglas de calificación incompleta</vt:lpstr>
      <vt:lpstr>Definir las reglas de calificación incompleta</vt:lpstr>
      <vt:lpstr>Registro de calificación incompleta por parte del docente</vt:lpstr>
      <vt:lpstr>Registro de calificación incompleta por parte del docente</vt:lpstr>
      <vt:lpstr>Registro de calificación incompleta por parte del docente</vt:lpstr>
      <vt:lpstr>Registro de calificación incompleta por parte del docente</vt:lpstr>
      <vt:lpstr>Registro de calificación incompleta por parte del docente</vt:lpstr>
      <vt:lpstr>Procesar calificaciones incompletas</vt:lpstr>
      <vt:lpstr>Procesar calificaciones incompletas</vt:lpstr>
      <vt:lpstr>Procesar calificaciones incompletas</vt:lpstr>
      <vt:lpstr>Procesar calificaciones incompletas</vt:lpstr>
      <vt:lpstr>Procesar calificaciones incompletas</vt:lpstr>
      <vt:lpstr>Procesar calificaciones incompletas</vt:lpstr>
      <vt:lpstr>Procesar calificaciones incompletas</vt:lpstr>
      <vt:lpstr>Procesar calificaciones incompletas</vt:lpstr>
      <vt:lpstr>Procesar calificaciones incompletas</vt:lpstr>
      <vt:lpstr>Procesar calificaciones incompletas</vt:lpstr>
      <vt:lpstr>Procesar calificaciones incompletas</vt:lpstr>
      <vt:lpstr>Procesar calificaciones incompletas</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Molina, Sergio</cp:lastModifiedBy>
  <cp:revision>69</cp:revision>
  <dcterms:created xsi:type="dcterms:W3CDTF">2024-10-02T00:21:55Z</dcterms:created>
  <dcterms:modified xsi:type="dcterms:W3CDTF">2026-07-15T17:24:28Z</dcterms:modified>
</cp:coreProperties>
</file>
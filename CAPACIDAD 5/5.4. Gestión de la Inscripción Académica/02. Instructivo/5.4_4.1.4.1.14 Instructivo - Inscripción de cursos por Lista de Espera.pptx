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2" r:id="rId2"/>
  </p:sldMasterIdLst>
  <p:notesMasterIdLst>
    <p:notesMasterId r:id="rId119"/>
  </p:notesMasterIdLst>
  <p:sldIdLst>
    <p:sldId id="257" r:id="rId3"/>
    <p:sldId id="423" r:id="rId4"/>
    <p:sldId id="476" r:id="rId5"/>
    <p:sldId id="1868" r:id="rId6"/>
    <p:sldId id="1869" r:id="rId7"/>
    <p:sldId id="1870" r:id="rId8"/>
    <p:sldId id="1871" r:id="rId9"/>
    <p:sldId id="352" r:id="rId10"/>
    <p:sldId id="566" r:id="rId11"/>
    <p:sldId id="421" r:id="rId12"/>
    <p:sldId id="469" r:id="rId13"/>
    <p:sldId id="1786" r:id="rId14"/>
    <p:sldId id="1872" r:id="rId15"/>
    <p:sldId id="1873" r:id="rId16"/>
    <p:sldId id="1728" r:id="rId17"/>
    <p:sldId id="1729" r:id="rId18"/>
    <p:sldId id="1900" r:id="rId19"/>
    <p:sldId id="1731" r:id="rId20"/>
    <p:sldId id="1732" r:id="rId21"/>
    <p:sldId id="1878" r:id="rId22"/>
    <p:sldId id="1879" r:id="rId23"/>
    <p:sldId id="1734" r:id="rId24"/>
    <p:sldId id="1793" r:id="rId25"/>
    <p:sldId id="1794" r:id="rId26"/>
    <p:sldId id="1795" r:id="rId27"/>
    <p:sldId id="1796" r:id="rId28"/>
    <p:sldId id="1738" r:id="rId29"/>
    <p:sldId id="1625" r:id="rId30"/>
    <p:sldId id="1623" r:id="rId31"/>
    <p:sldId id="1880" r:id="rId32"/>
    <p:sldId id="1626" r:id="rId33"/>
    <p:sldId id="1627" r:id="rId34"/>
    <p:sldId id="1644" r:id="rId35"/>
    <p:sldId id="1652" r:id="rId36"/>
    <p:sldId id="1653" r:id="rId37"/>
    <p:sldId id="1747" r:id="rId38"/>
    <p:sldId id="1748" r:id="rId39"/>
    <p:sldId id="1749" r:id="rId40"/>
    <p:sldId id="1632" r:id="rId41"/>
    <p:sldId id="1657" r:id="rId42"/>
    <p:sldId id="1751" r:id="rId43"/>
    <p:sldId id="1750" r:id="rId44"/>
    <p:sldId id="1752" r:id="rId45"/>
    <p:sldId id="1720" r:id="rId46"/>
    <p:sldId id="1670" r:id="rId47"/>
    <p:sldId id="1881" r:id="rId48"/>
    <p:sldId id="1882" r:id="rId49"/>
    <p:sldId id="1818" r:id="rId50"/>
    <p:sldId id="1817" r:id="rId51"/>
    <p:sldId id="1675" r:id="rId52"/>
    <p:sldId id="1756" r:id="rId53"/>
    <p:sldId id="1757" r:id="rId54"/>
    <p:sldId id="1902" r:id="rId55"/>
    <p:sldId id="1677" r:id="rId56"/>
    <p:sldId id="1758" r:id="rId57"/>
    <p:sldId id="1903" r:id="rId58"/>
    <p:sldId id="1689" r:id="rId59"/>
    <p:sldId id="1690" r:id="rId60"/>
    <p:sldId id="1759" r:id="rId61"/>
    <p:sldId id="1761" r:id="rId62"/>
    <p:sldId id="1813" r:id="rId63"/>
    <p:sldId id="1814" r:id="rId64"/>
    <p:sldId id="1693" r:id="rId65"/>
    <p:sldId id="1802" r:id="rId66"/>
    <p:sldId id="1803" r:id="rId67"/>
    <p:sldId id="1801" r:id="rId68"/>
    <p:sldId id="1797" r:id="rId69"/>
    <p:sldId id="1798" r:id="rId70"/>
    <p:sldId id="1804" r:id="rId71"/>
    <p:sldId id="1805" r:id="rId72"/>
    <p:sldId id="1806" r:id="rId73"/>
    <p:sldId id="1807" r:id="rId74"/>
    <p:sldId id="1808" r:id="rId75"/>
    <p:sldId id="1809" r:id="rId76"/>
    <p:sldId id="1815" r:id="rId77"/>
    <p:sldId id="1901" r:id="rId78"/>
    <p:sldId id="1762" r:id="rId79"/>
    <p:sldId id="1763" r:id="rId80"/>
    <p:sldId id="1696" r:id="rId81"/>
    <p:sldId id="1704" r:id="rId82"/>
    <p:sldId id="1764" r:id="rId83"/>
    <p:sldId id="1765" r:id="rId84"/>
    <p:sldId id="1699" r:id="rId85"/>
    <p:sldId id="1700" r:id="rId86"/>
    <p:sldId id="1701" r:id="rId87"/>
    <p:sldId id="1766" r:id="rId88"/>
    <p:sldId id="1767" r:id="rId89"/>
    <p:sldId id="1810" r:id="rId90"/>
    <p:sldId id="1739" r:id="rId91"/>
    <p:sldId id="1846" r:id="rId92"/>
    <p:sldId id="1883" r:id="rId93"/>
    <p:sldId id="1884" r:id="rId94"/>
    <p:sldId id="1885" r:id="rId95"/>
    <p:sldId id="1886" r:id="rId96"/>
    <p:sldId id="1730" r:id="rId97"/>
    <p:sldId id="1740" r:id="rId98"/>
    <p:sldId id="1887" r:id="rId99"/>
    <p:sldId id="1889" r:id="rId100"/>
    <p:sldId id="1890" r:id="rId101"/>
    <p:sldId id="1891" r:id="rId102"/>
    <p:sldId id="1892" r:id="rId103"/>
    <p:sldId id="543" r:id="rId104"/>
    <p:sldId id="1859" r:id="rId105"/>
    <p:sldId id="1860" r:id="rId106"/>
    <p:sldId id="1769" r:id="rId107"/>
    <p:sldId id="1861" r:id="rId108"/>
    <p:sldId id="1893" r:id="rId109"/>
    <p:sldId id="1894" r:id="rId110"/>
    <p:sldId id="1780" r:id="rId111"/>
    <p:sldId id="1895" r:id="rId112"/>
    <p:sldId id="1897" r:id="rId113"/>
    <p:sldId id="1898" r:id="rId114"/>
    <p:sldId id="1899" r:id="rId115"/>
    <p:sldId id="345" r:id="rId116"/>
    <p:sldId id="1864" r:id="rId117"/>
    <p:sldId id="501" r:id="rId1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72" autoAdjust="0"/>
    <p:restoredTop sz="95107" autoAdjust="0"/>
  </p:normalViewPr>
  <p:slideViewPr>
    <p:cSldViewPr snapToGrid="0">
      <p:cViewPr varScale="1">
        <p:scale>
          <a:sx n="105" d="100"/>
          <a:sy n="105" d="100"/>
        </p:scale>
        <p:origin x="330" y="10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microsoft.com/office/2018/10/relationships/authors" Target="author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notesMaster" Target="notesMasters/notesMaster1.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viewProps" Target="view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14-07-2026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A5FC1-2DE3-40DD-5C13-5E74F2B874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79C20D-5AA8-7312-3B16-5324513309F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A529332-547F-5B13-6617-B7325AE1D7E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E5C181B-BCD4-504F-7F2E-70CAB78791CD}"/>
              </a:ext>
            </a:extLst>
          </p:cNvPr>
          <p:cNvSpPr>
            <a:spLocks noGrp="1"/>
          </p:cNvSpPr>
          <p:nvPr>
            <p:ph type="sldNum" sz="quarter" idx="5"/>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269233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C914-D17E-619D-C5E1-B24A59A7B1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469A54-0C28-0FD8-BB76-D64688CE262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D47E28-DCE1-FD6B-D3C4-17573165E71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4FA05E5-E8DD-4536-A0D9-0B4F7DEAE72F}"/>
              </a:ext>
            </a:extLst>
          </p:cNvPr>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2444262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8CE8A-4C56-CE24-D548-39EB924BD0C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B3C15C-A130-A058-4150-9BA29A48A43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A54384-2A8A-F12A-75FE-6D36DD4018B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8C9947C-073C-0995-D430-477E41BFC695}"/>
              </a:ext>
            </a:extLst>
          </p:cNvPr>
          <p:cNvSpPr>
            <a:spLocks noGrp="1"/>
          </p:cNvSpPr>
          <p:nvPr>
            <p:ph type="sldNum" sz="quarter" idx="5"/>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3206134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06A5-E0D0-A435-61DB-548929D975C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8B55B66-F8A9-C316-A40B-BADA79D8BA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37CD8EC-E2C5-D10D-F646-346CA6B4B7C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656FD9C-BFD1-6095-8A90-7DAEB1A21512}"/>
              </a:ext>
            </a:extLst>
          </p:cNvPr>
          <p:cNvSpPr>
            <a:spLocks noGrp="1"/>
          </p:cNvSpPr>
          <p:nvPr>
            <p:ph type="sldNum" sz="quarter" idx="5"/>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761771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7AA82-7EEF-702E-33E5-50395D6D1B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1FE66D-62C0-D23C-4614-A61127B7E4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73C078-2FCA-8795-AD47-0B87D763A92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2E3A215-72E5-27AF-00C8-72A8792205A5}"/>
              </a:ext>
            </a:extLst>
          </p:cNvPr>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140933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82FC7-FFA7-025A-CB68-2B7A7DE015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B75E17B-E416-6039-A5F9-EC25FB0844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CF68D2-D097-DEF4-8C74-1AE016E8615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366989C-742A-4052-33FC-1C6C5131C442}"/>
              </a:ext>
            </a:extLst>
          </p:cNvPr>
          <p:cNvSpPr>
            <a:spLocks noGrp="1"/>
          </p:cNvSpPr>
          <p:nvPr>
            <p:ph type="sldNum" sz="quarter" idx="5"/>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2248607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12325-1F6D-5B64-F950-6B01A213FF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1EC5246-28EA-1759-FB69-BB7B883B6FE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D0FD39B-01DA-E3FA-B518-A7E4D90628E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4E91B30-5319-72B9-0963-58493612FC41}"/>
              </a:ext>
            </a:extLst>
          </p:cNvPr>
          <p:cNvSpPr>
            <a:spLocks noGrp="1"/>
          </p:cNvSpPr>
          <p:nvPr>
            <p:ph type="sldNum" sz="quarter" idx="5"/>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3096720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7C1D0-66AD-ACC1-6E6A-2C631DEFB6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E7DFF31-EB9E-096B-37B9-E8FD605860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5F26B72-DAD3-EC67-5D1B-4177A5A83CD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4BA5E2C-F56B-464C-3544-E506A33EDB92}"/>
              </a:ext>
            </a:extLst>
          </p:cNvPr>
          <p:cNvSpPr>
            <a:spLocks noGrp="1"/>
          </p:cNvSpPr>
          <p:nvPr>
            <p:ph type="sldNum" sz="quarter" idx="5"/>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354358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0E26F-E3C0-D82A-4CE2-21A6167667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41DC92-A03B-23D4-AB53-066E3BB24F5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4892011-7C2A-FDAA-8D43-E4BF0CBB9F9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6443591-118A-DF62-32A1-08BE4EAE0412}"/>
              </a:ext>
            </a:extLst>
          </p:cNvPr>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34128483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021D0-433A-8C8A-2959-067836B094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301A851-777C-7CF9-0FA3-572E292C2C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5EADD3-FF7B-802E-5117-A85EB1FCCC9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EB3A4CD-2B3C-593C-A9ED-A126217F0E06}"/>
              </a:ext>
            </a:extLst>
          </p:cNvPr>
          <p:cNvSpPr>
            <a:spLocks noGrp="1"/>
          </p:cNvSpPr>
          <p:nvPr>
            <p:ph type="sldNum" sz="quarter" idx="5"/>
          </p:nvPr>
        </p:nvSpPr>
        <p:spPr/>
        <p:txBody>
          <a:bodyPr/>
          <a:lstStyle/>
          <a:p>
            <a:fld id="{CF541D2A-E99A-2F4F-B8C9-28142709F87F}" type="slidenum">
              <a:rPr lang="en-US" smtClean="0"/>
              <a:pPr/>
              <a:t>22</a:t>
            </a:fld>
            <a:endParaRPr lang="en-US"/>
          </a:p>
        </p:txBody>
      </p:sp>
    </p:spTree>
    <p:extLst>
      <p:ext uri="{BB962C8B-B14F-4D97-AF65-F5344CB8AC3E}">
        <p14:creationId xmlns:p14="http://schemas.microsoft.com/office/powerpoint/2010/main" val="2645329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91AFE-3344-B90B-2F40-5C7C0FBAE6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D1A168-A29C-0851-FF99-C26944EE823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5C37A64-3F00-3D47-3974-DA729E3F6C0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92D9FB9-C6B6-11E9-E541-4451C0516749}"/>
              </a:ext>
            </a:extLst>
          </p:cNvPr>
          <p:cNvSpPr>
            <a:spLocks noGrp="1"/>
          </p:cNvSpPr>
          <p:nvPr>
            <p:ph type="sldNum" sz="quarter" idx="5"/>
          </p:nvPr>
        </p:nvSpPr>
        <p:spPr/>
        <p:txBody>
          <a:bodyPr/>
          <a:lstStyle/>
          <a:p>
            <a:fld id="{CF541D2A-E99A-2F4F-B8C9-28142709F87F}" type="slidenum">
              <a:rPr lang="en-US" smtClean="0"/>
              <a:pPr/>
              <a:t>24</a:t>
            </a:fld>
            <a:endParaRPr lang="en-US"/>
          </a:p>
        </p:txBody>
      </p:sp>
    </p:spTree>
    <p:extLst>
      <p:ext uri="{BB962C8B-B14F-4D97-AF65-F5344CB8AC3E}">
        <p14:creationId xmlns:p14="http://schemas.microsoft.com/office/powerpoint/2010/main" val="844634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3A885-9E6A-03DE-0A4B-13C75E7A2D3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B20A83-42D4-648E-6A96-9FC9AC7882D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D7AC69-4AE4-FDDE-CF07-9193DAAB457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BB51F90-4CEE-5BC3-BD74-D2FD84508159}"/>
              </a:ext>
            </a:extLst>
          </p:cNvPr>
          <p:cNvSpPr>
            <a:spLocks noGrp="1"/>
          </p:cNvSpPr>
          <p:nvPr>
            <p:ph type="sldNum" sz="quarter" idx="5"/>
          </p:nvPr>
        </p:nvSpPr>
        <p:spPr/>
        <p:txBody>
          <a:bodyPr/>
          <a:lstStyle/>
          <a:p>
            <a:fld id="{CF541D2A-E99A-2F4F-B8C9-28142709F87F}" type="slidenum">
              <a:rPr lang="en-US" smtClean="0"/>
              <a:pPr/>
              <a:t>25</a:t>
            </a:fld>
            <a:endParaRPr lang="en-US"/>
          </a:p>
        </p:txBody>
      </p:sp>
    </p:spTree>
    <p:extLst>
      <p:ext uri="{BB962C8B-B14F-4D97-AF65-F5344CB8AC3E}">
        <p14:creationId xmlns:p14="http://schemas.microsoft.com/office/powerpoint/2010/main" val="29173762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DB88B-84A1-BCA3-0672-BB6CC2AD253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D09BD34-1709-38D2-9C21-7E214E8F073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0D774C7-FE9D-F3A0-AB4C-EB0D5CE1DB0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5C361BC-991E-F7F9-A3BA-C4B21EB0B47D}"/>
              </a:ext>
            </a:extLst>
          </p:cNvPr>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578988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9BE68-A084-08DD-F8E4-B8F26A3F5F2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A8386B-78D0-AD32-B8F3-2CC9EE63F12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4F86069-4FE4-97C4-6F68-1A010C58BE1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9828E9B-0C09-97B7-C244-DBF91057387F}"/>
              </a:ext>
            </a:extLst>
          </p:cNvPr>
          <p:cNvSpPr>
            <a:spLocks noGrp="1"/>
          </p:cNvSpPr>
          <p:nvPr>
            <p:ph type="sldNum" sz="quarter" idx="5"/>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1542713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0831B-B047-6559-FB25-0F610D96949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FAAE013-04E4-068E-5FFB-2460939F733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0685244-9CFC-7436-5A22-C5F4D4B4190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B25C617-D2C3-B62E-CEC4-6576FA4BA7A6}"/>
              </a:ext>
            </a:extLst>
          </p:cNvPr>
          <p:cNvSpPr>
            <a:spLocks noGrp="1"/>
          </p:cNvSpPr>
          <p:nvPr>
            <p:ph type="sldNum" sz="quarter" idx="5"/>
          </p:nvPr>
        </p:nvSpPr>
        <p:spPr/>
        <p:txBody>
          <a:bodyPr/>
          <a:lstStyle/>
          <a:p>
            <a:fld id="{CF541D2A-E99A-2F4F-B8C9-28142709F87F}" type="slidenum">
              <a:rPr lang="en-US" smtClean="0"/>
              <a:pPr/>
              <a:t>28</a:t>
            </a:fld>
            <a:endParaRPr lang="en-US"/>
          </a:p>
        </p:txBody>
      </p:sp>
    </p:spTree>
    <p:extLst>
      <p:ext uri="{BB962C8B-B14F-4D97-AF65-F5344CB8AC3E}">
        <p14:creationId xmlns:p14="http://schemas.microsoft.com/office/powerpoint/2010/main" val="925192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A51BE-7B80-64D5-B34D-F9A8DE5D5C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067BF4-62C5-A4F9-6F2F-1CB8AE1D2A0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5C61FA-6B26-71DE-A65E-5F87B4C032C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995FF9B-40F4-73D6-39EB-24711374EE4B}"/>
              </a:ext>
            </a:extLst>
          </p:cNvPr>
          <p:cNvSpPr>
            <a:spLocks noGrp="1"/>
          </p:cNvSpPr>
          <p:nvPr>
            <p:ph type="sldNum" sz="quarter" idx="5"/>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1584357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53AD8-C62B-034D-39EC-7F271BFFE9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58EE149-ED30-5088-27C3-2811919418B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A729A1-C37A-0023-187C-4349354CB68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F687DA7-A9F2-22C1-3B55-FFC1D5435373}"/>
              </a:ext>
            </a:extLst>
          </p:cNvPr>
          <p:cNvSpPr>
            <a:spLocks noGrp="1"/>
          </p:cNvSpPr>
          <p:nvPr>
            <p:ph type="sldNum" sz="quarter" idx="5"/>
          </p:nvPr>
        </p:nvSpPr>
        <p:spPr/>
        <p:txBody>
          <a:bodyPr/>
          <a:lstStyle/>
          <a:p>
            <a:fld id="{CF541D2A-E99A-2F4F-B8C9-28142709F87F}" type="slidenum">
              <a:rPr lang="en-US" smtClean="0"/>
              <a:pPr/>
              <a:t>30</a:t>
            </a:fld>
            <a:endParaRPr lang="en-US"/>
          </a:p>
        </p:txBody>
      </p:sp>
    </p:spTree>
    <p:extLst>
      <p:ext uri="{BB962C8B-B14F-4D97-AF65-F5344CB8AC3E}">
        <p14:creationId xmlns:p14="http://schemas.microsoft.com/office/powerpoint/2010/main" val="35570117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AF383-DEF3-9B15-2745-8C326C08BFA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FA2A6B6-0508-F2F9-09C3-7724707A767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4A2E72-AA39-2207-CA30-2C5CAB4DF88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8FC5A32-D47E-12DA-CA4F-7E4C75D73F8A}"/>
              </a:ext>
            </a:extLst>
          </p:cNvPr>
          <p:cNvSpPr>
            <a:spLocks noGrp="1"/>
          </p:cNvSpPr>
          <p:nvPr>
            <p:ph type="sldNum" sz="quarter" idx="5"/>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2161796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EA759-72F8-7D65-6048-BF23BFC8689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016741-D0D8-1791-FA70-C101FCE5A52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188146A-2027-96DD-D01F-F435FA24013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20FC4D2-D7F9-D307-C6D2-782A95B436EB}"/>
              </a:ext>
            </a:extLst>
          </p:cNvPr>
          <p:cNvSpPr>
            <a:spLocks noGrp="1"/>
          </p:cNvSpPr>
          <p:nvPr>
            <p:ph type="sldNum" sz="quarter" idx="5"/>
          </p:nvPr>
        </p:nvSpPr>
        <p:spPr/>
        <p:txBody>
          <a:bodyPr/>
          <a:lstStyle/>
          <a:p>
            <a:fld id="{CF541D2A-E99A-2F4F-B8C9-28142709F87F}" type="slidenum">
              <a:rPr lang="en-US" smtClean="0"/>
              <a:pPr/>
              <a:t>34</a:t>
            </a:fld>
            <a:endParaRPr lang="en-US"/>
          </a:p>
        </p:txBody>
      </p:sp>
    </p:spTree>
    <p:extLst>
      <p:ext uri="{BB962C8B-B14F-4D97-AF65-F5344CB8AC3E}">
        <p14:creationId xmlns:p14="http://schemas.microsoft.com/office/powerpoint/2010/main" val="13054123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CE10A-EF64-C9C3-F51A-FD71A8F62F1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5DA93B3-F9A3-4B8F-BB4A-28056D2414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643158-AF07-A017-B9AF-C6937D1FC01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EEEF089-16B0-4669-B993-D72BAA536D2D}"/>
              </a:ext>
            </a:extLst>
          </p:cNvPr>
          <p:cNvSpPr>
            <a:spLocks noGrp="1"/>
          </p:cNvSpPr>
          <p:nvPr>
            <p:ph type="sldNum" sz="quarter" idx="5"/>
          </p:nvPr>
        </p:nvSpPr>
        <p:spPr/>
        <p:txBody>
          <a:bodyPr/>
          <a:lstStyle/>
          <a:p>
            <a:fld id="{CF541D2A-E99A-2F4F-B8C9-28142709F87F}" type="slidenum">
              <a:rPr lang="en-US" smtClean="0"/>
              <a:pPr/>
              <a:t>35</a:t>
            </a:fld>
            <a:endParaRPr lang="en-US"/>
          </a:p>
        </p:txBody>
      </p:sp>
    </p:spTree>
    <p:extLst>
      <p:ext uri="{BB962C8B-B14F-4D97-AF65-F5344CB8AC3E}">
        <p14:creationId xmlns:p14="http://schemas.microsoft.com/office/powerpoint/2010/main" val="26408819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FA26C-3149-A40D-B390-3359602E52A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5681A5F-D95C-FBC8-BC6A-1720A4706E7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D42883-7F5B-D5DF-2500-27845F824AA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5D034A8-7B78-99D8-72B4-D9A92BF163E4}"/>
              </a:ext>
            </a:extLst>
          </p:cNvPr>
          <p:cNvSpPr>
            <a:spLocks noGrp="1"/>
          </p:cNvSpPr>
          <p:nvPr>
            <p:ph type="sldNum" sz="quarter" idx="5"/>
          </p:nvPr>
        </p:nvSpPr>
        <p:spPr/>
        <p:txBody>
          <a:bodyPr/>
          <a:lstStyle/>
          <a:p>
            <a:fld id="{CF541D2A-E99A-2F4F-B8C9-28142709F87F}" type="slidenum">
              <a:rPr lang="en-US" smtClean="0"/>
              <a:pPr/>
              <a:t>36</a:t>
            </a:fld>
            <a:endParaRPr lang="en-US"/>
          </a:p>
        </p:txBody>
      </p:sp>
    </p:spTree>
    <p:extLst>
      <p:ext uri="{BB962C8B-B14F-4D97-AF65-F5344CB8AC3E}">
        <p14:creationId xmlns:p14="http://schemas.microsoft.com/office/powerpoint/2010/main" val="2015883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3EA3F-777E-02DE-6CE1-A6324F58730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E6002E-5174-E4C7-6877-736DEFDC49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195DB5B-34BF-C72A-65B4-0B61CCA47B3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F3EAB96-B508-407C-88B4-AACE3AB65D6A}"/>
              </a:ext>
            </a:extLst>
          </p:cNvPr>
          <p:cNvSpPr>
            <a:spLocks noGrp="1"/>
          </p:cNvSpPr>
          <p:nvPr>
            <p:ph type="sldNum" sz="quarter" idx="5"/>
          </p:nvPr>
        </p:nvSpPr>
        <p:spPr/>
        <p:txBody>
          <a:bodyPr/>
          <a:lstStyle/>
          <a:p>
            <a:fld id="{CF541D2A-E99A-2F4F-B8C9-28142709F87F}" type="slidenum">
              <a:rPr lang="en-US" smtClean="0"/>
              <a:pPr/>
              <a:t>37</a:t>
            </a:fld>
            <a:endParaRPr lang="en-US"/>
          </a:p>
        </p:txBody>
      </p:sp>
    </p:spTree>
    <p:extLst>
      <p:ext uri="{BB962C8B-B14F-4D97-AF65-F5344CB8AC3E}">
        <p14:creationId xmlns:p14="http://schemas.microsoft.com/office/powerpoint/2010/main" val="1364330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129C-B6FC-C692-FA18-D3CA2832D9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E3CF11-818B-1A3F-A08A-9B00D7F1EBD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0420BCF-F8A9-00C3-8DC0-1844DE28C2D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3AF0CBD-9C11-209A-731E-C923B35C011B}"/>
              </a:ext>
            </a:extLst>
          </p:cNvPr>
          <p:cNvSpPr>
            <a:spLocks noGrp="1"/>
          </p:cNvSpPr>
          <p:nvPr>
            <p:ph type="sldNum" sz="quarter" idx="5"/>
          </p:nvPr>
        </p:nvSpPr>
        <p:spPr/>
        <p:txBody>
          <a:bodyPr/>
          <a:lstStyle/>
          <a:p>
            <a:fld id="{CF541D2A-E99A-2F4F-B8C9-28142709F87F}" type="slidenum">
              <a:rPr lang="en-US" smtClean="0"/>
              <a:pPr/>
              <a:t>38</a:t>
            </a:fld>
            <a:endParaRPr lang="en-US"/>
          </a:p>
        </p:txBody>
      </p:sp>
    </p:spTree>
    <p:extLst>
      <p:ext uri="{BB962C8B-B14F-4D97-AF65-F5344CB8AC3E}">
        <p14:creationId xmlns:p14="http://schemas.microsoft.com/office/powerpoint/2010/main" val="4965110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C1F14-6CB3-8C72-9C40-268E930E81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6F33FF-0C0F-121A-2BD2-ADDD60E063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581ABE-C45B-A05F-5D03-86889FDD43F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712E502-5E62-8BA9-EF09-2BE87F2E0286}"/>
              </a:ext>
            </a:extLst>
          </p:cNvPr>
          <p:cNvSpPr>
            <a:spLocks noGrp="1"/>
          </p:cNvSpPr>
          <p:nvPr>
            <p:ph type="sldNum" sz="quarter" idx="5"/>
          </p:nvPr>
        </p:nvSpPr>
        <p:spPr/>
        <p:txBody>
          <a:bodyPr/>
          <a:lstStyle/>
          <a:p>
            <a:fld id="{CF541D2A-E99A-2F4F-B8C9-28142709F87F}" type="slidenum">
              <a:rPr lang="en-US" smtClean="0"/>
              <a:pPr/>
              <a:t>40</a:t>
            </a:fld>
            <a:endParaRPr lang="en-US"/>
          </a:p>
        </p:txBody>
      </p:sp>
    </p:spTree>
    <p:extLst>
      <p:ext uri="{BB962C8B-B14F-4D97-AF65-F5344CB8AC3E}">
        <p14:creationId xmlns:p14="http://schemas.microsoft.com/office/powerpoint/2010/main" val="19313838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353DF-DEB3-B32F-C925-8CE49751E9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4A7D3AC-6EB6-6F38-5388-8976E500E9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507C1B-5883-CC5D-976D-EEA39E61482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DB23168-CAE0-DDCA-F430-DD08C551C10C}"/>
              </a:ext>
            </a:extLst>
          </p:cNvPr>
          <p:cNvSpPr>
            <a:spLocks noGrp="1"/>
          </p:cNvSpPr>
          <p:nvPr>
            <p:ph type="sldNum" sz="quarter" idx="5"/>
          </p:nvPr>
        </p:nvSpPr>
        <p:spPr/>
        <p:txBody>
          <a:bodyPr/>
          <a:lstStyle/>
          <a:p>
            <a:fld id="{CF541D2A-E99A-2F4F-B8C9-28142709F87F}" type="slidenum">
              <a:rPr lang="en-US" smtClean="0"/>
              <a:pPr/>
              <a:t>41</a:t>
            </a:fld>
            <a:endParaRPr lang="en-US"/>
          </a:p>
        </p:txBody>
      </p:sp>
    </p:spTree>
    <p:extLst>
      <p:ext uri="{BB962C8B-B14F-4D97-AF65-F5344CB8AC3E}">
        <p14:creationId xmlns:p14="http://schemas.microsoft.com/office/powerpoint/2010/main" val="36012943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C20FD-E890-4560-C1C6-DFE2C06749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571873-D7EB-84D3-9581-4D5CB7407A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F1B4C40-6F29-C598-5115-C423EEFEBF8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AAD172A-D3E4-F2A4-5F9F-7E208FF80E89}"/>
              </a:ext>
            </a:extLst>
          </p:cNvPr>
          <p:cNvSpPr>
            <a:spLocks noGrp="1"/>
          </p:cNvSpPr>
          <p:nvPr>
            <p:ph type="sldNum" sz="quarter" idx="5"/>
          </p:nvPr>
        </p:nvSpPr>
        <p:spPr/>
        <p:txBody>
          <a:bodyPr/>
          <a:lstStyle/>
          <a:p>
            <a:fld id="{CF541D2A-E99A-2F4F-B8C9-28142709F87F}" type="slidenum">
              <a:rPr lang="en-US" smtClean="0"/>
              <a:pPr/>
              <a:t>42</a:t>
            </a:fld>
            <a:endParaRPr lang="en-US"/>
          </a:p>
        </p:txBody>
      </p:sp>
    </p:spTree>
    <p:extLst>
      <p:ext uri="{BB962C8B-B14F-4D97-AF65-F5344CB8AC3E}">
        <p14:creationId xmlns:p14="http://schemas.microsoft.com/office/powerpoint/2010/main" val="21824791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398CA-735E-C1D2-3F2C-0DF01BB398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B0FAA0-D16E-EB3E-404D-2AC8544ED23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E333CC-55FC-8A1C-424A-3274B8761E4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CEE4BAB-ABA6-8BF3-7976-5C8A3FB0A7CA}"/>
              </a:ext>
            </a:extLst>
          </p:cNvPr>
          <p:cNvSpPr>
            <a:spLocks noGrp="1"/>
          </p:cNvSpPr>
          <p:nvPr>
            <p:ph type="sldNum" sz="quarter" idx="5"/>
          </p:nvPr>
        </p:nvSpPr>
        <p:spPr/>
        <p:txBody>
          <a:bodyPr/>
          <a:lstStyle/>
          <a:p>
            <a:fld id="{CF541D2A-E99A-2F4F-B8C9-28142709F87F}" type="slidenum">
              <a:rPr lang="en-US" smtClean="0"/>
              <a:pPr/>
              <a:t>43</a:t>
            </a:fld>
            <a:endParaRPr lang="en-US"/>
          </a:p>
        </p:txBody>
      </p:sp>
    </p:spTree>
    <p:extLst>
      <p:ext uri="{BB962C8B-B14F-4D97-AF65-F5344CB8AC3E}">
        <p14:creationId xmlns:p14="http://schemas.microsoft.com/office/powerpoint/2010/main" val="36602318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65B77-D34F-92BC-EC08-BF5A5888C8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E10E68-FFE0-495A-D202-687CDA9915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0675EE6-51EB-009A-897A-65DDA47509E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BA4F0F1-29D6-8D15-5CD7-127F0E351513}"/>
              </a:ext>
            </a:extLst>
          </p:cNvPr>
          <p:cNvSpPr>
            <a:spLocks noGrp="1"/>
          </p:cNvSpPr>
          <p:nvPr>
            <p:ph type="sldNum" sz="quarter" idx="5"/>
          </p:nvPr>
        </p:nvSpPr>
        <p:spPr/>
        <p:txBody>
          <a:bodyPr/>
          <a:lstStyle/>
          <a:p>
            <a:fld id="{CF541D2A-E99A-2F4F-B8C9-28142709F87F}" type="slidenum">
              <a:rPr lang="en-US" smtClean="0"/>
              <a:pPr/>
              <a:t>45</a:t>
            </a:fld>
            <a:endParaRPr lang="en-US"/>
          </a:p>
        </p:txBody>
      </p:sp>
    </p:spTree>
    <p:extLst>
      <p:ext uri="{BB962C8B-B14F-4D97-AF65-F5344CB8AC3E}">
        <p14:creationId xmlns:p14="http://schemas.microsoft.com/office/powerpoint/2010/main" val="26721887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81F8-3D8E-065D-D116-F9BC3C6F83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4469C8-F6CD-5901-9354-21794479D6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82F1C8C-A967-B3B6-0D13-86C373357CE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340B7AE-3B80-3773-A858-E210D2EF90F8}"/>
              </a:ext>
            </a:extLst>
          </p:cNvPr>
          <p:cNvSpPr>
            <a:spLocks noGrp="1"/>
          </p:cNvSpPr>
          <p:nvPr>
            <p:ph type="sldNum" sz="quarter" idx="5"/>
          </p:nvPr>
        </p:nvSpPr>
        <p:spPr/>
        <p:txBody>
          <a:bodyPr/>
          <a:lstStyle/>
          <a:p>
            <a:fld id="{CF541D2A-E99A-2F4F-B8C9-28142709F87F}" type="slidenum">
              <a:rPr lang="en-US" smtClean="0"/>
              <a:pPr/>
              <a:t>46</a:t>
            </a:fld>
            <a:endParaRPr lang="en-US"/>
          </a:p>
        </p:txBody>
      </p:sp>
    </p:spTree>
    <p:extLst>
      <p:ext uri="{BB962C8B-B14F-4D97-AF65-F5344CB8AC3E}">
        <p14:creationId xmlns:p14="http://schemas.microsoft.com/office/powerpoint/2010/main" val="33804564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D5110-EF9E-8D02-D09D-F9B8A361AB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1D8D2C-F6E3-2D2F-32F4-5BAB4EDDB6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1556CD-E30F-FCB2-9339-D27DF2BA092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1F5C5F1-C7C4-5ACE-A8E6-729BCACAFF20}"/>
              </a:ext>
            </a:extLst>
          </p:cNvPr>
          <p:cNvSpPr>
            <a:spLocks noGrp="1"/>
          </p:cNvSpPr>
          <p:nvPr>
            <p:ph type="sldNum" sz="quarter" idx="5"/>
          </p:nvPr>
        </p:nvSpPr>
        <p:spPr/>
        <p:txBody>
          <a:bodyPr/>
          <a:lstStyle/>
          <a:p>
            <a:fld id="{CF541D2A-E99A-2F4F-B8C9-28142709F87F}" type="slidenum">
              <a:rPr lang="en-US" smtClean="0"/>
              <a:pPr/>
              <a:t>47</a:t>
            </a:fld>
            <a:endParaRPr lang="en-US"/>
          </a:p>
        </p:txBody>
      </p:sp>
    </p:spTree>
    <p:extLst>
      <p:ext uri="{BB962C8B-B14F-4D97-AF65-F5344CB8AC3E}">
        <p14:creationId xmlns:p14="http://schemas.microsoft.com/office/powerpoint/2010/main" val="39818714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5FD85-2323-CB47-17B0-A093C9659FF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7EED02-7F92-56A4-95D1-F40B522576C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3116C9-7C7C-95EC-3D79-CEEDBE7F808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0B2A445-7EEE-B9F9-FE85-7CD0B49E485F}"/>
              </a:ext>
            </a:extLst>
          </p:cNvPr>
          <p:cNvSpPr>
            <a:spLocks noGrp="1"/>
          </p:cNvSpPr>
          <p:nvPr>
            <p:ph type="sldNum" sz="quarter" idx="5"/>
          </p:nvPr>
        </p:nvSpPr>
        <p:spPr/>
        <p:txBody>
          <a:bodyPr/>
          <a:lstStyle/>
          <a:p>
            <a:fld id="{CF541D2A-E99A-2F4F-B8C9-28142709F87F}" type="slidenum">
              <a:rPr lang="en-US" smtClean="0"/>
              <a:pPr/>
              <a:t>50</a:t>
            </a:fld>
            <a:endParaRPr lang="en-US"/>
          </a:p>
        </p:txBody>
      </p:sp>
    </p:spTree>
    <p:extLst>
      <p:ext uri="{BB962C8B-B14F-4D97-AF65-F5344CB8AC3E}">
        <p14:creationId xmlns:p14="http://schemas.microsoft.com/office/powerpoint/2010/main" val="16613576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C1A61-9045-32A8-EE31-ED055F4ACB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D40FE9D-B5F1-D003-F18A-F80827F164D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AA9498-0E97-4A07-6FA7-36CD486EAA4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B97888E-6458-3710-D32E-0133CB2A5F83}"/>
              </a:ext>
            </a:extLst>
          </p:cNvPr>
          <p:cNvSpPr>
            <a:spLocks noGrp="1"/>
          </p:cNvSpPr>
          <p:nvPr>
            <p:ph type="sldNum" sz="quarter" idx="5"/>
          </p:nvPr>
        </p:nvSpPr>
        <p:spPr/>
        <p:txBody>
          <a:bodyPr/>
          <a:lstStyle/>
          <a:p>
            <a:fld id="{CF541D2A-E99A-2F4F-B8C9-28142709F87F}" type="slidenum">
              <a:rPr lang="en-US" smtClean="0"/>
              <a:pPr/>
              <a:t>51</a:t>
            </a:fld>
            <a:endParaRPr lang="en-US"/>
          </a:p>
        </p:txBody>
      </p:sp>
    </p:spTree>
    <p:extLst>
      <p:ext uri="{BB962C8B-B14F-4D97-AF65-F5344CB8AC3E}">
        <p14:creationId xmlns:p14="http://schemas.microsoft.com/office/powerpoint/2010/main" val="21319681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C09D8-1BC2-58A8-D2CE-8B5BE162070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5113A3-A845-4C9B-607E-50C53B44C69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722E665-2225-A6B9-0136-C10C93DFC7F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077F83C-D87B-BA0D-29C9-CF0B0B6E18BF}"/>
              </a:ext>
            </a:extLst>
          </p:cNvPr>
          <p:cNvSpPr>
            <a:spLocks noGrp="1"/>
          </p:cNvSpPr>
          <p:nvPr>
            <p:ph type="sldNum" sz="quarter" idx="5"/>
          </p:nvPr>
        </p:nvSpPr>
        <p:spPr/>
        <p:txBody>
          <a:bodyPr/>
          <a:lstStyle/>
          <a:p>
            <a:fld id="{CF541D2A-E99A-2F4F-B8C9-28142709F87F}" type="slidenum">
              <a:rPr lang="en-US" smtClean="0"/>
              <a:pPr/>
              <a:t>52</a:t>
            </a:fld>
            <a:endParaRPr lang="en-US"/>
          </a:p>
        </p:txBody>
      </p:sp>
    </p:spTree>
    <p:extLst>
      <p:ext uri="{BB962C8B-B14F-4D97-AF65-F5344CB8AC3E}">
        <p14:creationId xmlns:p14="http://schemas.microsoft.com/office/powerpoint/2010/main" val="40946885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EFF28-A9C8-85DA-C853-E1876280DB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109F1C-D56F-5AA2-1A33-502B0719E4B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1D66A11-A3A9-EAE3-52C5-25F9DFF91FF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1983BCC-865D-3D01-6C23-EAE266FC198D}"/>
              </a:ext>
            </a:extLst>
          </p:cNvPr>
          <p:cNvSpPr>
            <a:spLocks noGrp="1"/>
          </p:cNvSpPr>
          <p:nvPr>
            <p:ph type="sldNum" sz="quarter" idx="5"/>
          </p:nvPr>
        </p:nvSpPr>
        <p:spPr/>
        <p:txBody>
          <a:bodyPr/>
          <a:lstStyle/>
          <a:p>
            <a:fld id="{CF541D2A-E99A-2F4F-B8C9-28142709F87F}" type="slidenum">
              <a:rPr lang="en-US" smtClean="0"/>
              <a:pPr/>
              <a:t>54</a:t>
            </a:fld>
            <a:endParaRPr lang="en-US"/>
          </a:p>
        </p:txBody>
      </p:sp>
    </p:spTree>
    <p:extLst>
      <p:ext uri="{BB962C8B-B14F-4D97-AF65-F5344CB8AC3E}">
        <p14:creationId xmlns:p14="http://schemas.microsoft.com/office/powerpoint/2010/main" val="42572635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E63F2-D664-F28A-2A74-4BB95EFBB3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7220002-B727-1EEA-5668-E1D21BF1C4A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1966CD2-9382-14CB-96C8-BEA00B99BB1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BCFD6BB-76AA-31EF-D7BE-A0573B61D054}"/>
              </a:ext>
            </a:extLst>
          </p:cNvPr>
          <p:cNvSpPr>
            <a:spLocks noGrp="1"/>
          </p:cNvSpPr>
          <p:nvPr>
            <p:ph type="sldNum" sz="quarter" idx="5"/>
          </p:nvPr>
        </p:nvSpPr>
        <p:spPr/>
        <p:txBody>
          <a:bodyPr/>
          <a:lstStyle/>
          <a:p>
            <a:fld id="{CF541D2A-E99A-2F4F-B8C9-28142709F87F}" type="slidenum">
              <a:rPr lang="en-US" smtClean="0"/>
              <a:pPr/>
              <a:t>55</a:t>
            </a:fld>
            <a:endParaRPr lang="en-US"/>
          </a:p>
        </p:txBody>
      </p:sp>
    </p:spTree>
    <p:extLst>
      <p:ext uri="{BB962C8B-B14F-4D97-AF65-F5344CB8AC3E}">
        <p14:creationId xmlns:p14="http://schemas.microsoft.com/office/powerpoint/2010/main" val="25141350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2D0DA-A5B7-2E08-49D2-795883E52B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238FA8-6B7F-0BCC-E0C1-4BDC933466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40A94DA-2ADB-E9ED-6E69-F0BBFDFA587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6F8B10C-2595-D7FC-F2E4-17928203E6DB}"/>
              </a:ext>
            </a:extLst>
          </p:cNvPr>
          <p:cNvSpPr>
            <a:spLocks noGrp="1"/>
          </p:cNvSpPr>
          <p:nvPr>
            <p:ph type="sldNum" sz="quarter" idx="5"/>
          </p:nvPr>
        </p:nvSpPr>
        <p:spPr/>
        <p:txBody>
          <a:bodyPr/>
          <a:lstStyle/>
          <a:p>
            <a:fld id="{CF541D2A-E99A-2F4F-B8C9-28142709F87F}" type="slidenum">
              <a:rPr lang="en-US" smtClean="0"/>
              <a:pPr/>
              <a:t>57</a:t>
            </a:fld>
            <a:endParaRPr lang="en-US"/>
          </a:p>
        </p:txBody>
      </p:sp>
    </p:spTree>
    <p:extLst>
      <p:ext uri="{BB962C8B-B14F-4D97-AF65-F5344CB8AC3E}">
        <p14:creationId xmlns:p14="http://schemas.microsoft.com/office/powerpoint/2010/main" val="14342433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AD20B-4CA9-F2FE-E01E-64E9596E077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C03D7D-3772-83F0-507F-E7AAA41B93F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739D5CB-D91D-CA56-CE8F-DF97683FF5B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72768C8-AE56-4006-B82B-0E45191B6B06}"/>
              </a:ext>
            </a:extLst>
          </p:cNvPr>
          <p:cNvSpPr>
            <a:spLocks noGrp="1"/>
          </p:cNvSpPr>
          <p:nvPr>
            <p:ph type="sldNum" sz="quarter" idx="5"/>
          </p:nvPr>
        </p:nvSpPr>
        <p:spPr/>
        <p:txBody>
          <a:bodyPr/>
          <a:lstStyle/>
          <a:p>
            <a:fld id="{CF541D2A-E99A-2F4F-B8C9-28142709F87F}" type="slidenum">
              <a:rPr lang="en-US" smtClean="0"/>
              <a:pPr/>
              <a:t>58</a:t>
            </a:fld>
            <a:endParaRPr lang="en-US"/>
          </a:p>
        </p:txBody>
      </p:sp>
    </p:spTree>
    <p:extLst>
      <p:ext uri="{BB962C8B-B14F-4D97-AF65-F5344CB8AC3E}">
        <p14:creationId xmlns:p14="http://schemas.microsoft.com/office/powerpoint/2010/main" val="4694358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65CA6-A9CC-0044-0D74-388DA32934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DB3462B-0AD1-3C02-31B4-139C041D104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77A478-915C-6EAE-D0F5-5ED6358AEA2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D22EC2DA-E0FC-FB0B-2928-4C00A513F22D}"/>
              </a:ext>
            </a:extLst>
          </p:cNvPr>
          <p:cNvSpPr>
            <a:spLocks noGrp="1"/>
          </p:cNvSpPr>
          <p:nvPr>
            <p:ph type="sldNum" sz="quarter" idx="5"/>
          </p:nvPr>
        </p:nvSpPr>
        <p:spPr/>
        <p:txBody>
          <a:bodyPr/>
          <a:lstStyle/>
          <a:p>
            <a:fld id="{CF541D2A-E99A-2F4F-B8C9-28142709F87F}" type="slidenum">
              <a:rPr lang="en-US" smtClean="0"/>
              <a:pPr/>
              <a:t>59</a:t>
            </a:fld>
            <a:endParaRPr lang="en-US"/>
          </a:p>
        </p:txBody>
      </p:sp>
    </p:spTree>
    <p:extLst>
      <p:ext uri="{BB962C8B-B14F-4D97-AF65-F5344CB8AC3E}">
        <p14:creationId xmlns:p14="http://schemas.microsoft.com/office/powerpoint/2010/main" val="35351265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F0312-6780-05BB-E8FF-6DCA19B556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A092EF-FC5A-9798-AB43-E27DE63CD08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D577746-1B87-BA5B-74AA-49B01241628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9FAF960-8EBB-385A-4C4E-6A6B4F4B96CB}"/>
              </a:ext>
            </a:extLst>
          </p:cNvPr>
          <p:cNvSpPr>
            <a:spLocks noGrp="1"/>
          </p:cNvSpPr>
          <p:nvPr>
            <p:ph type="sldNum" sz="quarter" idx="5"/>
          </p:nvPr>
        </p:nvSpPr>
        <p:spPr/>
        <p:txBody>
          <a:bodyPr/>
          <a:lstStyle/>
          <a:p>
            <a:fld id="{CF541D2A-E99A-2F4F-B8C9-28142709F87F}" type="slidenum">
              <a:rPr lang="en-US" smtClean="0"/>
              <a:pPr/>
              <a:t>60</a:t>
            </a:fld>
            <a:endParaRPr lang="en-US"/>
          </a:p>
        </p:txBody>
      </p:sp>
    </p:spTree>
    <p:extLst>
      <p:ext uri="{BB962C8B-B14F-4D97-AF65-F5344CB8AC3E}">
        <p14:creationId xmlns:p14="http://schemas.microsoft.com/office/powerpoint/2010/main" val="6228905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8EBE-7981-BA53-F129-6E8B1AD2080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05262F-4968-B133-D4B4-6496B4B6DDE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EEAE23A-83F1-CE26-20EE-CCDE77DEDA9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6416F15-8A5F-C11D-C195-207CAAECC19C}"/>
              </a:ext>
            </a:extLst>
          </p:cNvPr>
          <p:cNvSpPr>
            <a:spLocks noGrp="1"/>
          </p:cNvSpPr>
          <p:nvPr>
            <p:ph type="sldNum" sz="quarter" idx="5"/>
          </p:nvPr>
        </p:nvSpPr>
        <p:spPr/>
        <p:txBody>
          <a:bodyPr/>
          <a:lstStyle/>
          <a:p>
            <a:fld id="{CF541D2A-E99A-2F4F-B8C9-28142709F87F}" type="slidenum">
              <a:rPr lang="en-US" smtClean="0"/>
              <a:pPr/>
              <a:t>63</a:t>
            </a:fld>
            <a:endParaRPr lang="en-US"/>
          </a:p>
        </p:txBody>
      </p:sp>
    </p:spTree>
    <p:extLst>
      <p:ext uri="{BB962C8B-B14F-4D97-AF65-F5344CB8AC3E}">
        <p14:creationId xmlns:p14="http://schemas.microsoft.com/office/powerpoint/2010/main" val="3544124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30707-75F0-4A7A-0354-45B293E943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47D0777-F52B-745A-7657-C7746CD14E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B62C7BF-35A6-04F6-724C-E34FD6C3FE2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520643B-9666-36AF-DDA0-8D28900B3D2C}"/>
              </a:ext>
            </a:extLst>
          </p:cNvPr>
          <p:cNvSpPr>
            <a:spLocks noGrp="1"/>
          </p:cNvSpPr>
          <p:nvPr>
            <p:ph type="sldNum" sz="quarter" idx="5"/>
          </p:nvPr>
        </p:nvSpPr>
        <p:spPr/>
        <p:txBody>
          <a:bodyPr/>
          <a:lstStyle/>
          <a:p>
            <a:fld id="{CF541D2A-E99A-2F4F-B8C9-28142709F87F}" type="slidenum">
              <a:rPr lang="en-US" smtClean="0"/>
              <a:pPr/>
              <a:t>64</a:t>
            </a:fld>
            <a:endParaRPr lang="en-US"/>
          </a:p>
        </p:txBody>
      </p:sp>
    </p:spTree>
    <p:extLst>
      <p:ext uri="{BB962C8B-B14F-4D97-AF65-F5344CB8AC3E}">
        <p14:creationId xmlns:p14="http://schemas.microsoft.com/office/powerpoint/2010/main" val="32851144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B06A7-BEE5-A6AC-AAA4-88495D9AB1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737BDB-F621-203B-EDE7-6D13D4361D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1D12F12-99F7-35AE-AB86-A630B697D7F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5E403A9-40F7-EA55-E5BD-866CA344A5C2}"/>
              </a:ext>
            </a:extLst>
          </p:cNvPr>
          <p:cNvSpPr>
            <a:spLocks noGrp="1"/>
          </p:cNvSpPr>
          <p:nvPr>
            <p:ph type="sldNum" sz="quarter" idx="5"/>
          </p:nvPr>
        </p:nvSpPr>
        <p:spPr/>
        <p:txBody>
          <a:bodyPr/>
          <a:lstStyle/>
          <a:p>
            <a:fld id="{CF541D2A-E99A-2F4F-B8C9-28142709F87F}" type="slidenum">
              <a:rPr lang="en-US" smtClean="0"/>
              <a:pPr/>
              <a:t>65</a:t>
            </a:fld>
            <a:endParaRPr lang="en-US"/>
          </a:p>
        </p:txBody>
      </p:sp>
    </p:spTree>
    <p:extLst>
      <p:ext uri="{BB962C8B-B14F-4D97-AF65-F5344CB8AC3E}">
        <p14:creationId xmlns:p14="http://schemas.microsoft.com/office/powerpoint/2010/main" val="9109616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B7819-5D68-F843-1007-78190BFE4CF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6747937-476B-EDA5-BD43-B7BA0077AA5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9E7AE24-AD8D-ED70-B4D6-1BFE6374D53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FCC549F-7D68-03DF-37C1-13EE3D37AB74}"/>
              </a:ext>
            </a:extLst>
          </p:cNvPr>
          <p:cNvSpPr>
            <a:spLocks noGrp="1"/>
          </p:cNvSpPr>
          <p:nvPr>
            <p:ph type="sldNum" sz="quarter" idx="5"/>
          </p:nvPr>
        </p:nvSpPr>
        <p:spPr/>
        <p:txBody>
          <a:bodyPr/>
          <a:lstStyle/>
          <a:p>
            <a:fld id="{CF541D2A-E99A-2F4F-B8C9-28142709F87F}" type="slidenum">
              <a:rPr lang="en-US" smtClean="0"/>
              <a:pPr/>
              <a:t>66</a:t>
            </a:fld>
            <a:endParaRPr lang="en-US"/>
          </a:p>
        </p:txBody>
      </p:sp>
    </p:spTree>
    <p:extLst>
      <p:ext uri="{BB962C8B-B14F-4D97-AF65-F5344CB8AC3E}">
        <p14:creationId xmlns:p14="http://schemas.microsoft.com/office/powerpoint/2010/main" val="10131651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02F8F-55D7-9EED-9868-55E0C48157C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E68C69-4B23-DB79-7282-D217407E03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911AC8D-2F53-6581-6610-940E6685A91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35E4950-7C8F-4B4F-18D2-6A6F2E89813E}"/>
              </a:ext>
            </a:extLst>
          </p:cNvPr>
          <p:cNvSpPr>
            <a:spLocks noGrp="1"/>
          </p:cNvSpPr>
          <p:nvPr>
            <p:ph type="sldNum" sz="quarter" idx="5"/>
          </p:nvPr>
        </p:nvSpPr>
        <p:spPr/>
        <p:txBody>
          <a:bodyPr/>
          <a:lstStyle/>
          <a:p>
            <a:fld id="{CF541D2A-E99A-2F4F-B8C9-28142709F87F}" type="slidenum">
              <a:rPr lang="en-US" smtClean="0"/>
              <a:pPr/>
              <a:t>67</a:t>
            </a:fld>
            <a:endParaRPr lang="en-US"/>
          </a:p>
        </p:txBody>
      </p:sp>
    </p:spTree>
    <p:extLst>
      <p:ext uri="{BB962C8B-B14F-4D97-AF65-F5344CB8AC3E}">
        <p14:creationId xmlns:p14="http://schemas.microsoft.com/office/powerpoint/2010/main" val="1202219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A7A6F-C3AA-F85F-5ABF-495850A0177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BED4932-081D-CAD0-D975-6F732845AF9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9018E5-A167-16D3-2859-E5AC7847022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54F3359-3CD0-6D7A-94BD-ACA5A86E8DF5}"/>
              </a:ext>
            </a:extLst>
          </p:cNvPr>
          <p:cNvSpPr>
            <a:spLocks noGrp="1"/>
          </p:cNvSpPr>
          <p:nvPr>
            <p:ph type="sldNum" sz="quarter" idx="5"/>
          </p:nvPr>
        </p:nvSpPr>
        <p:spPr/>
        <p:txBody>
          <a:bodyPr/>
          <a:lstStyle/>
          <a:p>
            <a:fld id="{CF541D2A-E99A-2F4F-B8C9-28142709F87F}" type="slidenum">
              <a:rPr lang="en-US" smtClean="0"/>
              <a:pPr/>
              <a:t>68</a:t>
            </a:fld>
            <a:endParaRPr lang="en-US"/>
          </a:p>
        </p:txBody>
      </p:sp>
    </p:spTree>
    <p:extLst>
      <p:ext uri="{BB962C8B-B14F-4D97-AF65-F5344CB8AC3E}">
        <p14:creationId xmlns:p14="http://schemas.microsoft.com/office/powerpoint/2010/main" val="9736708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53CAE-5B28-6E89-8565-7A4188006E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F30864-BF14-3D36-93FF-541BF7AB9DA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0A437BB-9CB0-EC32-C289-83C01BAD4B9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74AB873-2746-3F5E-0229-9848C1227A25}"/>
              </a:ext>
            </a:extLst>
          </p:cNvPr>
          <p:cNvSpPr>
            <a:spLocks noGrp="1"/>
          </p:cNvSpPr>
          <p:nvPr>
            <p:ph type="sldNum" sz="quarter" idx="5"/>
          </p:nvPr>
        </p:nvSpPr>
        <p:spPr/>
        <p:txBody>
          <a:bodyPr/>
          <a:lstStyle/>
          <a:p>
            <a:fld id="{CF541D2A-E99A-2F4F-B8C9-28142709F87F}" type="slidenum">
              <a:rPr lang="en-US" smtClean="0"/>
              <a:pPr/>
              <a:t>69</a:t>
            </a:fld>
            <a:endParaRPr lang="en-US"/>
          </a:p>
        </p:txBody>
      </p:sp>
    </p:spTree>
    <p:extLst>
      <p:ext uri="{BB962C8B-B14F-4D97-AF65-F5344CB8AC3E}">
        <p14:creationId xmlns:p14="http://schemas.microsoft.com/office/powerpoint/2010/main" val="8753996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09C0C-BD61-2ECF-1AF9-CF2D2F68CEB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AEDE6B0-7DBF-8476-8DBC-0651426C73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3E4C49F-BF40-D3EB-90BB-5D8FD58D328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6F57E0C-D52B-9CE8-5081-E2B8BE9545B4}"/>
              </a:ext>
            </a:extLst>
          </p:cNvPr>
          <p:cNvSpPr>
            <a:spLocks noGrp="1"/>
          </p:cNvSpPr>
          <p:nvPr>
            <p:ph type="sldNum" sz="quarter" idx="5"/>
          </p:nvPr>
        </p:nvSpPr>
        <p:spPr/>
        <p:txBody>
          <a:bodyPr/>
          <a:lstStyle/>
          <a:p>
            <a:fld id="{CF541D2A-E99A-2F4F-B8C9-28142709F87F}" type="slidenum">
              <a:rPr lang="en-US" smtClean="0"/>
              <a:pPr/>
              <a:t>70</a:t>
            </a:fld>
            <a:endParaRPr lang="en-US"/>
          </a:p>
        </p:txBody>
      </p:sp>
    </p:spTree>
    <p:extLst>
      <p:ext uri="{BB962C8B-B14F-4D97-AF65-F5344CB8AC3E}">
        <p14:creationId xmlns:p14="http://schemas.microsoft.com/office/powerpoint/2010/main" val="21179631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07F36-23AF-4B35-7141-E6826BC2DA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85F991-501C-CE8D-A312-A777307B7E0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F8BB7E3-B098-A4E9-EA6A-951C3446596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378F4E7-3E4C-6A62-CE34-93358E7286B7}"/>
              </a:ext>
            </a:extLst>
          </p:cNvPr>
          <p:cNvSpPr>
            <a:spLocks noGrp="1"/>
          </p:cNvSpPr>
          <p:nvPr>
            <p:ph type="sldNum" sz="quarter" idx="5"/>
          </p:nvPr>
        </p:nvSpPr>
        <p:spPr/>
        <p:txBody>
          <a:bodyPr/>
          <a:lstStyle/>
          <a:p>
            <a:fld id="{CF541D2A-E99A-2F4F-B8C9-28142709F87F}" type="slidenum">
              <a:rPr lang="en-US" smtClean="0"/>
              <a:pPr/>
              <a:t>71</a:t>
            </a:fld>
            <a:endParaRPr lang="en-US"/>
          </a:p>
        </p:txBody>
      </p:sp>
    </p:spTree>
    <p:extLst>
      <p:ext uri="{BB962C8B-B14F-4D97-AF65-F5344CB8AC3E}">
        <p14:creationId xmlns:p14="http://schemas.microsoft.com/office/powerpoint/2010/main" val="28691822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C609D-5A07-3880-830D-C70AFE2CCE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048B6B-AA94-A65C-9678-E71C3EA5190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7D8484E-6BD7-AA7D-A94A-4F57FDBDB62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C0DD362-6FB3-538E-9C01-96626DFB2EBA}"/>
              </a:ext>
            </a:extLst>
          </p:cNvPr>
          <p:cNvSpPr>
            <a:spLocks noGrp="1"/>
          </p:cNvSpPr>
          <p:nvPr>
            <p:ph type="sldNum" sz="quarter" idx="5"/>
          </p:nvPr>
        </p:nvSpPr>
        <p:spPr/>
        <p:txBody>
          <a:bodyPr/>
          <a:lstStyle/>
          <a:p>
            <a:fld id="{CF541D2A-E99A-2F4F-B8C9-28142709F87F}" type="slidenum">
              <a:rPr lang="en-US" smtClean="0"/>
              <a:pPr/>
              <a:t>72</a:t>
            </a:fld>
            <a:endParaRPr lang="en-US"/>
          </a:p>
        </p:txBody>
      </p:sp>
    </p:spTree>
    <p:extLst>
      <p:ext uri="{BB962C8B-B14F-4D97-AF65-F5344CB8AC3E}">
        <p14:creationId xmlns:p14="http://schemas.microsoft.com/office/powerpoint/2010/main" val="13461933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03B41-795E-34E1-EF57-88B0DE0B15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A49F30-4780-288D-E4B1-9016FA337E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CE97F95-4FF5-6240-F798-3146E38F356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F0FAF3A-570B-721F-C23C-AE19B62CF4CC}"/>
              </a:ext>
            </a:extLst>
          </p:cNvPr>
          <p:cNvSpPr>
            <a:spLocks noGrp="1"/>
          </p:cNvSpPr>
          <p:nvPr>
            <p:ph type="sldNum" sz="quarter" idx="5"/>
          </p:nvPr>
        </p:nvSpPr>
        <p:spPr/>
        <p:txBody>
          <a:bodyPr/>
          <a:lstStyle/>
          <a:p>
            <a:fld id="{CF541D2A-E99A-2F4F-B8C9-28142709F87F}" type="slidenum">
              <a:rPr lang="en-US" smtClean="0"/>
              <a:pPr/>
              <a:t>73</a:t>
            </a:fld>
            <a:endParaRPr lang="en-US"/>
          </a:p>
        </p:txBody>
      </p:sp>
    </p:spTree>
    <p:extLst>
      <p:ext uri="{BB962C8B-B14F-4D97-AF65-F5344CB8AC3E}">
        <p14:creationId xmlns:p14="http://schemas.microsoft.com/office/powerpoint/2010/main" val="28169670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5EA54-A27D-71E4-1FFF-F8F789DAC9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8EC174-3CB2-F10B-DEF4-8983F5D4E0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C9C3032-5A51-B4FA-AC59-BE51884EA98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DFB44BC-CBFC-E648-75AD-7E86ACD02CB1}"/>
              </a:ext>
            </a:extLst>
          </p:cNvPr>
          <p:cNvSpPr>
            <a:spLocks noGrp="1"/>
          </p:cNvSpPr>
          <p:nvPr>
            <p:ph type="sldNum" sz="quarter" idx="5"/>
          </p:nvPr>
        </p:nvSpPr>
        <p:spPr/>
        <p:txBody>
          <a:bodyPr/>
          <a:lstStyle/>
          <a:p>
            <a:fld id="{CF541D2A-E99A-2F4F-B8C9-28142709F87F}" type="slidenum">
              <a:rPr lang="en-US" smtClean="0"/>
              <a:pPr/>
              <a:t>74</a:t>
            </a:fld>
            <a:endParaRPr lang="en-US"/>
          </a:p>
        </p:txBody>
      </p:sp>
    </p:spTree>
    <p:extLst>
      <p:ext uri="{BB962C8B-B14F-4D97-AF65-F5344CB8AC3E}">
        <p14:creationId xmlns:p14="http://schemas.microsoft.com/office/powerpoint/2010/main" val="29656677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0A44E-29F8-AECD-5111-7445448E2B7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279F392-A7BC-613F-1358-8D218946961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F325EC3-DEE9-6539-1B8C-B80F685405A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FD16E75-6739-FE3D-D27F-9A8FCB083DD5}"/>
              </a:ext>
            </a:extLst>
          </p:cNvPr>
          <p:cNvSpPr>
            <a:spLocks noGrp="1"/>
          </p:cNvSpPr>
          <p:nvPr>
            <p:ph type="sldNum" sz="quarter" idx="5"/>
          </p:nvPr>
        </p:nvSpPr>
        <p:spPr/>
        <p:txBody>
          <a:bodyPr/>
          <a:lstStyle/>
          <a:p>
            <a:fld id="{CF541D2A-E99A-2F4F-B8C9-28142709F87F}" type="slidenum">
              <a:rPr lang="en-US" smtClean="0"/>
              <a:pPr/>
              <a:t>76</a:t>
            </a:fld>
            <a:endParaRPr lang="en-US"/>
          </a:p>
        </p:txBody>
      </p:sp>
    </p:spTree>
    <p:extLst>
      <p:ext uri="{BB962C8B-B14F-4D97-AF65-F5344CB8AC3E}">
        <p14:creationId xmlns:p14="http://schemas.microsoft.com/office/powerpoint/2010/main" val="42216124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F414F-081A-1D77-8F66-707AAEE4CBF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AAB75D5-B880-0EFE-DAEE-F55CBDEDEDE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D235886-701E-EC20-B9FA-DF4AAAFF209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DE0D8B0-DEB5-7E0E-6878-261C11EDB555}"/>
              </a:ext>
            </a:extLst>
          </p:cNvPr>
          <p:cNvSpPr>
            <a:spLocks noGrp="1"/>
          </p:cNvSpPr>
          <p:nvPr>
            <p:ph type="sldNum" sz="quarter" idx="5"/>
          </p:nvPr>
        </p:nvSpPr>
        <p:spPr/>
        <p:txBody>
          <a:bodyPr/>
          <a:lstStyle/>
          <a:p>
            <a:fld id="{CF541D2A-E99A-2F4F-B8C9-28142709F87F}" type="slidenum">
              <a:rPr lang="en-US" smtClean="0"/>
              <a:pPr/>
              <a:t>77</a:t>
            </a:fld>
            <a:endParaRPr lang="en-US"/>
          </a:p>
        </p:txBody>
      </p:sp>
    </p:spTree>
    <p:extLst>
      <p:ext uri="{BB962C8B-B14F-4D97-AF65-F5344CB8AC3E}">
        <p14:creationId xmlns:p14="http://schemas.microsoft.com/office/powerpoint/2010/main" val="31618444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2AB94-6BC0-5283-2C9F-6C49CBA103F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F54F356-3F1E-98F4-EA89-32630BC4CC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7CD0E3-3C09-9E28-73B6-3C66B071398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910ECD7-6A26-5EEB-721E-5B7DDE3E5AB8}"/>
              </a:ext>
            </a:extLst>
          </p:cNvPr>
          <p:cNvSpPr>
            <a:spLocks noGrp="1"/>
          </p:cNvSpPr>
          <p:nvPr>
            <p:ph type="sldNum" sz="quarter" idx="5"/>
          </p:nvPr>
        </p:nvSpPr>
        <p:spPr/>
        <p:txBody>
          <a:bodyPr/>
          <a:lstStyle/>
          <a:p>
            <a:fld id="{CF541D2A-E99A-2F4F-B8C9-28142709F87F}" type="slidenum">
              <a:rPr lang="en-US" smtClean="0"/>
              <a:pPr/>
              <a:t>78</a:t>
            </a:fld>
            <a:endParaRPr lang="en-US"/>
          </a:p>
        </p:txBody>
      </p:sp>
    </p:spTree>
    <p:extLst>
      <p:ext uri="{BB962C8B-B14F-4D97-AF65-F5344CB8AC3E}">
        <p14:creationId xmlns:p14="http://schemas.microsoft.com/office/powerpoint/2010/main" val="38816679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8B319-9EEB-9B3D-36F1-2D07D6E2ED2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48045B3-DAA6-C9C5-5578-513F2875CC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4831605-32F9-A290-4916-6857057B11B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BBA0AE2-0EB0-8388-9170-0CB2E2704CBF}"/>
              </a:ext>
            </a:extLst>
          </p:cNvPr>
          <p:cNvSpPr>
            <a:spLocks noGrp="1"/>
          </p:cNvSpPr>
          <p:nvPr>
            <p:ph type="sldNum" sz="quarter" idx="5"/>
          </p:nvPr>
        </p:nvSpPr>
        <p:spPr/>
        <p:txBody>
          <a:bodyPr/>
          <a:lstStyle/>
          <a:p>
            <a:fld id="{CF541D2A-E99A-2F4F-B8C9-28142709F87F}" type="slidenum">
              <a:rPr lang="en-US" smtClean="0"/>
              <a:pPr/>
              <a:t>79</a:t>
            </a:fld>
            <a:endParaRPr lang="en-US"/>
          </a:p>
        </p:txBody>
      </p:sp>
    </p:spTree>
    <p:extLst>
      <p:ext uri="{BB962C8B-B14F-4D97-AF65-F5344CB8AC3E}">
        <p14:creationId xmlns:p14="http://schemas.microsoft.com/office/powerpoint/2010/main" val="18613350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696CD-27D3-5177-E72C-73220392907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B62004-4C1A-9F70-58EA-0C0139CF693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D9FF953-1ADF-2AF4-DD43-549886BA829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FBC7F39-1969-F3CC-8F66-32F5DAC5E400}"/>
              </a:ext>
            </a:extLst>
          </p:cNvPr>
          <p:cNvSpPr>
            <a:spLocks noGrp="1"/>
          </p:cNvSpPr>
          <p:nvPr>
            <p:ph type="sldNum" sz="quarter" idx="5"/>
          </p:nvPr>
        </p:nvSpPr>
        <p:spPr/>
        <p:txBody>
          <a:bodyPr/>
          <a:lstStyle/>
          <a:p>
            <a:fld id="{CF541D2A-E99A-2F4F-B8C9-28142709F87F}" type="slidenum">
              <a:rPr lang="en-US" smtClean="0"/>
              <a:pPr/>
              <a:t>80</a:t>
            </a:fld>
            <a:endParaRPr lang="en-US"/>
          </a:p>
        </p:txBody>
      </p:sp>
    </p:spTree>
    <p:extLst>
      <p:ext uri="{BB962C8B-B14F-4D97-AF65-F5344CB8AC3E}">
        <p14:creationId xmlns:p14="http://schemas.microsoft.com/office/powerpoint/2010/main" val="96037892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7D783-2B3B-7CBC-F7B9-5C755553CC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CEE76D-76FC-B422-343E-9E509FE8B9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67A47EB-93D5-566D-4823-6F687F9F448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C7B8D50-1635-4134-7156-C4B005F2BCEB}"/>
              </a:ext>
            </a:extLst>
          </p:cNvPr>
          <p:cNvSpPr>
            <a:spLocks noGrp="1"/>
          </p:cNvSpPr>
          <p:nvPr>
            <p:ph type="sldNum" sz="quarter" idx="5"/>
          </p:nvPr>
        </p:nvSpPr>
        <p:spPr/>
        <p:txBody>
          <a:bodyPr/>
          <a:lstStyle/>
          <a:p>
            <a:fld id="{CF541D2A-E99A-2F4F-B8C9-28142709F87F}" type="slidenum">
              <a:rPr lang="en-US" smtClean="0"/>
              <a:pPr/>
              <a:t>81</a:t>
            </a:fld>
            <a:endParaRPr lang="en-US"/>
          </a:p>
        </p:txBody>
      </p:sp>
    </p:spTree>
    <p:extLst>
      <p:ext uri="{BB962C8B-B14F-4D97-AF65-F5344CB8AC3E}">
        <p14:creationId xmlns:p14="http://schemas.microsoft.com/office/powerpoint/2010/main" val="29477846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C29B0-9C97-D861-B491-989CE94EE51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D6CB86-2D54-0C3F-54B0-6760667DDF2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763CB4-2E51-417D-617B-4C90836E5B9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1F2A784-F571-DC53-BE4C-FB2D7B85BA80}"/>
              </a:ext>
            </a:extLst>
          </p:cNvPr>
          <p:cNvSpPr>
            <a:spLocks noGrp="1"/>
          </p:cNvSpPr>
          <p:nvPr>
            <p:ph type="sldNum" sz="quarter" idx="5"/>
          </p:nvPr>
        </p:nvSpPr>
        <p:spPr/>
        <p:txBody>
          <a:bodyPr/>
          <a:lstStyle/>
          <a:p>
            <a:fld id="{CF541D2A-E99A-2F4F-B8C9-28142709F87F}" type="slidenum">
              <a:rPr lang="en-US" smtClean="0"/>
              <a:pPr/>
              <a:t>82</a:t>
            </a:fld>
            <a:endParaRPr lang="en-US"/>
          </a:p>
        </p:txBody>
      </p:sp>
    </p:spTree>
    <p:extLst>
      <p:ext uri="{BB962C8B-B14F-4D97-AF65-F5344CB8AC3E}">
        <p14:creationId xmlns:p14="http://schemas.microsoft.com/office/powerpoint/2010/main" val="12831193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D9F8B-B84C-4034-D1ED-DD8B7653A4F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A21EC-5F12-6B31-C3E0-6B7FC2ED5C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F98F43-E873-B4CD-F1C0-2F653D467D7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DFCDA48C-6DDA-8F2A-CB76-7939A63977BB}"/>
              </a:ext>
            </a:extLst>
          </p:cNvPr>
          <p:cNvSpPr>
            <a:spLocks noGrp="1"/>
          </p:cNvSpPr>
          <p:nvPr>
            <p:ph type="sldNum" sz="quarter" idx="5"/>
          </p:nvPr>
        </p:nvSpPr>
        <p:spPr/>
        <p:txBody>
          <a:bodyPr/>
          <a:lstStyle/>
          <a:p>
            <a:fld id="{CF541D2A-E99A-2F4F-B8C9-28142709F87F}" type="slidenum">
              <a:rPr lang="en-US" smtClean="0"/>
              <a:pPr/>
              <a:t>83</a:t>
            </a:fld>
            <a:endParaRPr lang="en-US"/>
          </a:p>
        </p:txBody>
      </p:sp>
    </p:spTree>
    <p:extLst>
      <p:ext uri="{BB962C8B-B14F-4D97-AF65-F5344CB8AC3E}">
        <p14:creationId xmlns:p14="http://schemas.microsoft.com/office/powerpoint/2010/main" val="23694571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8203D-5B5D-57BD-3495-20DB3A221A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DF92E2F-2BB0-306F-D457-8842BE6285C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3730BE8-88BD-3D0B-6588-FAF14C52F20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BE87FA6-2B4C-CBFD-9228-B36728F812EE}"/>
              </a:ext>
            </a:extLst>
          </p:cNvPr>
          <p:cNvSpPr>
            <a:spLocks noGrp="1"/>
          </p:cNvSpPr>
          <p:nvPr>
            <p:ph type="sldNum" sz="quarter" idx="5"/>
          </p:nvPr>
        </p:nvSpPr>
        <p:spPr/>
        <p:txBody>
          <a:bodyPr/>
          <a:lstStyle/>
          <a:p>
            <a:fld id="{CF541D2A-E99A-2F4F-B8C9-28142709F87F}" type="slidenum">
              <a:rPr lang="en-US" smtClean="0"/>
              <a:pPr/>
              <a:t>84</a:t>
            </a:fld>
            <a:endParaRPr lang="en-US"/>
          </a:p>
        </p:txBody>
      </p:sp>
    </p:spTree>
    <p:extLst>
      <p:ext uri="{BB962C8B-B14F-4D97-AF65-F5344CB8AC3E}">
        <p14:creationId xmlns:p14="http://schemas.microsoft.com/office/powerpoint/2010/main" val="41299630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98708-2BD2-1880-DF20-9181C8BD7F9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DEB906B-2B78-09D8-20CB-9E04BEBDDC1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6D1AD59-FC6A-97AB-D723-227C95522E3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C4C8C74-7628-4086-F174-24238C88E648}"/>
              </a:ext>
            </a:extLst>
          </p:cNvPr>
          <p:cNvSpPr>
            <a:spLocks noGrp="1"/>
          </p:cNvSpPr>
          <p:nvPr>
            <p:ph type="sldNum" sz="quarter" idx="5"/>
          </p:nvPr>
        </p:nvSpPr>
        <p:spPr/>
        <p:txBody>
          <a:bodyPr/>
          <a:lstStyle/>
          <a:p>
            <a:fld id="{CF541D2A-E99A-2F4F-B8C9-28142709F87F}" type="slidenum">
              <a:rPr lang="en-US" smtClean="0"/>
              <a:pPr/>
              <a:t>85</a:t>
            </a:fld>
            <a:endParaRPr lang="en-US"/>
          </a:p>
        </p:txBody>
      </p:sp>
    </p:spTree>
    <p:extLst>
      <p:ext uri="{BB962C8B-B14F-4D97-AF65-F5344CB8AC3E}">
        <p14:creationId xmlns:p14="http://schemas.microsoft.com/office/powerpoint/2010/main" val="37232501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3DB63-E8D0-8DCD-8A30-15EA3EB6F1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67AF8D-6D1C-A81F-4B88-2973DC3AFC3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282A97-1A5B-600F-9670-E835269B6D1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54D1CAA-C2D1-2ED6-B9FE-8D2508DC7D49}"/>
              </a:ext>
            </a:extLst>
          </p:cNvPr>
          <p:cNvSpPr>
            <a:spLocks noGrp="1"/>
          </p:cNvSpPr>
          <p:nvPr>
            <p:ph type="sldNum" sz="quarter" idx="5"/>
          </p:nvPr>
        </p:nvSpPr>
        <p:spPr/>
        <p:txBody>
          <a:bodyPr/>
          <a:lstStyle/>
          <a:p>
            <a:fld id="{CF541D2A-E99A-2F4F-B8C9-28142709F87F}" type="slidenum">
              <a:rPr lang="en-US" smtClean="0"/>
              <a:pPr/>
              <a:t>86</a:t>
            </a:fld>
            <a:endParaRPr lang="en-US"/>
          </a:p>
        </p:txBody>
      </p:sp>
    </p:spTree>
    <p:extLst>
      <p:ext uri="{BB962C8B-B14F-4D97-AF65-F5344CB8AC3E}">
        <p14:creationId xmlns:p14="http://schemas.microsoft.com/office/powerpoint/2010/main" val="30153046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5A375-85E8-4FB8-8DC1-6A7750A0F24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AEEFF1-2943-AE64-1F47-F7700146A63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90C1567-FDA1-2282-A3A8-362DA4EB034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60BA908-7E1D-8979-6EB6-B40BF629B5A5}"/>
              </a:ext>
            </a:extLst>
          </p:cNvPr>
          <p:cNvSpPr>
            <a:spLocks noGrp="1"/>
          </p:cNvSpPr>
          <p:nvPr>
            <p:ph type="sldNum" sz="quarter" idx="5"/>
          </p:nvPr>
        </p:nvSpPr>
        <p:spPr/>
        <p:txBody>
          <a:bodyPr/>
          <a:lstStyle/>
          <a:p>
            <a:fld id="{CF541D2A-E99A-2F4F-B8C9-28142709F87F}" type="slidenum">
              <a:rPr lang="en-US" smtClean="0"/>
              <a:pPr/>
              <a:t>87</a:t>
            </a:fld>
            <a:endParaRPr lang="en-US"/>
          </a:p>
        </p:txBody>
      </p:sp>
    </p:spTree>
    <p:extLst>
      <p:ext uri="{BB962C8B-B14F-4D97-AF65-F5344CB8AC3E}">
        <p14:creationId xmlns:p14="http://schemas.microsoft.com/office/powerpoint/2010/main" val="351897534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66073-B1B4-F44E-3329-63EA2AA1AF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A05B1D8-3BC7-30FC-0AA6-4DF873ECBED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89B36C9-4A59-F763-07F3-DAAC24E0BF6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38FDD63-702D-E527-97B5-B6658737A725}"/>
              </a:ext>
            </a:extLst>
          </p:cNvPr>
          <p:cNvSpPr>
            <a:spLocks noGrp="1"/>
          </p:cNvSpPr>
          <p:nvPr>
            <p:ph type="sldNum" sz="quarter" idx="5"/>
          </p:nvPr>
        </p:nvSpPr>
        <p:spPr/>
        <p:txBody>
          <a:bodyPr/>
          <a:lstStyle/>
          <a:p>
            <a:fld id="{CF541D2A-E99A-2F4F-B8C9-28142709F87F}" type="slidenum">
              <a:rPr lang="en-US" smtClean="0"/>
              <a:pPr/>
              <a:t>88</a:t>
            </a:fld>
            <a:endParaRPr lang="en-US"/>
          </a:p>
        </p:txBody>
      </p:sp>
    </p:spTree>
    <p:extLst>
      <p:ext uri="{BB962C8B-B14F-4D97-AF65-F5344CB8AC3E}">
        <p14:creationId xmlns:p14="http://schemas.microsoft.com/office/powerpoint/2010/main" val="33550962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E5114-A9BE-226F-3D79-CE83FEAC74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481A9E6-11B3-F2E3-23D7-0DBEAA3C9A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4CF1D5-D8C2-1A32-10DD-2B2BE515C68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328E4BB-BB5F-F9D9-20EC-AE394762B615}"/>
              </a:ext>
            </a:extLst>
          </p:cNvPr>
          <p:cNvSpPr>
            <a:spLocks noGrp="1"/>
          </p:cNvSpPr>
          <p:nvPr>
            <p:ph type="sldNum" sz="quarter" idx="5"/>
          </p:nvPr>
        </p:nvSpPr>
        <p:spPr/>
        <p:txBody>
          <a:bodyPr/>
          <a:lstStyle/>
          <a:p>
            <a:fld id="{CF541D2A-E99A-2F4F-B8C9-28142709F87F}" type="slidenum">
              <a:rPr lang="en-US" smtClean="0"/>
              <a:pPr/>
              <a:t>90</a:t>
            </a:fld>
            <a:endParaRPr lang="en-US"/>
          </a:p>
        </p:txBody>
      </p:sp>
    </p:spTree>
    <p:extLst>
      <p:ext uri="{BB962C8B-B14F-4D97-AF65-F5344CB8AC3E}">
        <p14:creationId xmlns:p14="http://schemas.microsoft.com/office/powerpoint/2010/main" val="301706697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024E6-56F6-CA51-359C-A51C2EC895F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D923D52-9665-DE6D-0327-F1A81509EB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228425C-C989-8A8E-75BC-8BA17500EE0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4FA155C-B02E-A700-6111-2CE3A52BC275}"/>
              </a:ext>
            </a:extLst>
          </p:cNvPr>
          <p:cNvSpPr>
            <a:spLocks noGrp="1"/>
          </p:cNvSpPr>
          <p:nvPr>
            <p:ph type="sldNum" sz="quarter" idx="5"/>
          </p:nvPr>
        </p:nvSpPr>
        <p:spPr/>
        <p:txBody>
          <a:bodyPr/>
          <a:lstStyle/>
          <a:p>
            <a:fld id="{CF541D2A-E99A-2F4F-B8C9-28142709F87F}" type="slidenum">
              <a:rPr lang="en-US" smtClean="0"/>
              <a:pPr/>
              <a:t>91</a:t>
            </a:fld>
            <a:endParaRPr lang="en-US"/>
          </a:p>
        </p:txBody>
      </p:sp>
    </p:spTree>
    <p:extLst>
      <p:ext uri="{BB962C8B-B14F-4D97-AF65-F5344CB8AC3E}">
        <p14:creationId xmlns:p14="http://schemas.microsoft.com/office/powerpoint/2010/main" val="306365665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CA24-29B5-FE0F-6BB3-E45C3C89A0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043FBF-2DE2-602C-FABE-2B30BCE84BA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0855141-6E3D-9905-DB95-ED59CD4A984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ADB57F1-D0AA-6565-9E48-2CB84518C52B}"/>
              </a:ext>
            </a:extLst>
          </p:cNvPr>
          <p:cNvSpPr>
            <a:spLocks noGrp="1"/>
          </p:cNvSpPr>
          <p:nvPr>
            <p:ph type="sldNum" sz="quarter" idx="5"/>
          </p:nvPr>
        </p:nvSpPr>
        <p:spPr/>
        <p:txBody>
          <a:bodyPr/>
          <a:lstStyle/>
          <a:p>
            <a:fld id="{CF541D2A-E99A-2F4F-B8C9-28142709F87F}" type="slidenum">
              <a:rPr lang="en-US" smtClean="0"/>
              <a:pPr/>
              <a:t>92</a:t>
            </a:fld>
            <a:endParaRPr lang="en-US"/>
          </a:p>
        </p:txBody>
      </p:sp>
    </p:spTree>
    <p:extLst>
      <p:ext uri="{BB962C8B-B14F-4D97-AF65-F5344CB8AC3E}">
        <p14:creationId xmlns:p14="http://schemas.microsoft.com/office/powerpoint/2010/main" val="45180570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0F34E-6AB6-D0D0-48E1-EDB9E6CD94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3FE799-CDF5-447E-6BF5-81611F3DF8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765F8C9-CBCC-6A52-2F1D-F12A2088BAC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E6C88C6-CCFE-4D0F-52CC-4D30CEA8F466}"/>
              </a:ext>
            </a:extLst>
          </p:cNvPr>
          <p:cNvSpPr>
            <a:spLocks noGrp="1"/>
          </p:cNvSpPr>
          <p:nvPr>
            <p:ph type="sldNum" sz="quarter" idx="5"/>
          </p:nvPr>
        </p:nvSpPr>
        <p:spPr/>
        <p:txBody>
          <a:bodyPr/>
          <a:lstStyle/>
          <a:p>
            <a:fld id="{CF541D2A-E99A-2F4F-B8C9-28142709F87F}" type="slidenum">
              <a:rPr lang="en-US" smtClean="0"/>
              <a:pPr/>
              <a:t>93</a:t>
            </a:fld>
            <a:endParaRPr lang="en-US"/>
          </a:p>
        </p:txBody>
      </p:sp>
    </p:spTree>
    <p:extLst>
      <p:ext uri="{BB962C8B-B14F-4D97-AF65-F5344CB8AC3E}">
        <p14:creationId xmlns:p14="http://schemas.microsoft.com/office/powerpoint/2010/main" val="371291727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DEDE6-85B4-CBBE-7903-4B27F95CC59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53BCBF-C023-2366-14F7-A003BA1A660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A58FF48-0588-C10F-96EE-308A7C8D2CC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29486AB-8FD1-4826-3383-2274F9332738}"/>
              </a:ext>
            </a:extLst>
          </p:cNvPr>
          <p:cNvSpPr>
            <a:spLocks noGrp="1"/>
          </p:cNvSpPr>
          <p:nvPr>
            <p:ph type="sldNum" sz="quarter" idx="5"/>
          </p:nvPr>
        </p:nvSpPr>
        <p:spPr/>
        <p:txBody>
          <a:bodyPr/>
          <a:lstStyle/>
          <a:p>
            <a:fld id="{CF541D2A-E99A-2F4F-B8C9-28142709F87F}" type="slidenum">
              <a:rPr lang="en-US" smtClean="0"/>
              <a:pPr/>
              <a:t>94</a:t>
            </a:fld>
            <a:endParaRPr lang="en-US"/>
          </a:p>
        </p:txBody>
      </p:sp>
    </p:spTree>
    <p:extLst>
      <p:ext uri="{BB962C8B-B14F-4D97-AF65-F5344CB8AC3E}">
        <p14:creationId xmlns:p14="http://schemas.microsoft.com/office/powerpoint/2010/main" val="127429925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E8052-BD85-CB9D-6183-1518FA4D7C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1692E2-EE53-05B7-5133-B7695A05494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203D880-2C2F-25F7-D8C1-DC3696C80D5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2D6963F-022C-549A-09B0-E377ECDC8B88}"/>
              </a:ext>
            </a:extLst>
          </p:cNvPr>
          <p:cNvSpPr>
            <a:spLocks noGrp="1"/>
          </p:cNvSpPr>
          <p:nvPr>
            <p:ph type="sldNum" sz="quarter" idx="5"/>
          </p:nvPr>
        </p:nvSpPr>
        <p:spPr/>
        <p:txBody>
          <a:bodyPr/>
          <a:lstStyle/>
          <a:p>
            <a:fld id="{CF541D2A-E99A-2F4F-B8C9-28142709F87F}" type="slidenum">
              <a:rPr lang="en-US" smtClean="0"/>
              <a:pPr/>
              <a:t>96</a:t>
            </a:fld>
            <a:endParaRPr lang="en-US"/>
          </a:p>
        </p:txBody>
      </p:sp>
    </p:spTree>
    <p:extLst>
      <p:ext uri="{BB962C8B-B14F-4D97-AF65-F5344CB8AC3E}">
        <p14:creationId xmlns:p14="http://schemas.microsoft.com/office/powerpoint/2010/main" val="320680348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031A5-9DE1-5D42-5068-2BC7478218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63E216-E2CE-A23B-4912-A3C09F18AC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1C9D559-6883-C94D-3831-C19A282E2F9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D404D62A-E2FB-54F3-5880-8116A2AE015F}"/>
              </a:ext>
            </a:extLst>
          </p:cNvPr>
          <p:cNvSpPr>
            <a:spLocks noGrp="1"/>
          </p:cNvSpPr>
          <p:nvPr>
            <p:ph type="sldNum" sz="quarter" idx="5"/>
          </p:nvPr>
        </p:nvSpPr>
        <p:spPr/>
        <p:txBody>
          <a:bodyPr/>
          <a:lstStyle/>
          <a:p>
            <a:fld id="{CF541D2A-E99A-2F4F-B8C9-28142709F87F}" type="slidenum">
              <a:rPr lang="en-US" smtClean="0"/>
              <a:pPr/>
              <a:t>97</a:t>
            </a:fld>
            <a:endParaRPr lang="en-US"/>
          </a:p>
        </p:txBody>
      </p:sp>
    </p:spTree>
    <p:extLst>
      <p:ext uri="{BB962C8B-B14F-4D97-AF65-F5344CB8AC3E}">
        <p14:creationId xmlns:p14="http://schemas.microsoft.com/office/powerpoint/2010/main" val="190399030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80258-9A37-4D9A-07CC-BBAD300848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D4E9630-2C00-E5BF-C751-B01230B436C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8338A9B-5599-BA99-0285-252CC9FDA39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B9F1186-DB4A-18BC-46CE-4572BE3E8C3E}"/>
              </a:ext>
            </a:extLst>
          </p:cNvPr>
          <p:cNvSpPr>
            <a:spLocks noGrp="1"/>
          </p:cNvSpPr>
          <p:nvPr>
            <p:ph type="sldNum" sz="quarter" idx="5"/>
          </p:nvPr>
        </p:nvSpPr>
        <p:spPr/>
        <p:txBody>
          <a:bodyPr/>
          <a:lstStyle/>
          <a:p>
            <a:fld id="{CF541D2A-E99A-2F4F-B8C9-28142709F87F}" type="slidenum">
              <a:rPr lang="en-US" smtClean="0"/>
              <a:pPr/>
              <a:t>98</a:t>
            </a:fld>
            <a:endParaRPr lang="en-US"/>
          </a:p>
        </p:txBody>
      </p:sp>
    </p:spTree>
    <p:extLst>
      <p:ext uri="{BB962C8B-B14F-4D97-AF65-F5344CB8AC3E}">
        <p14:creationId xmlns:p14="http://schemas.microsoft.com/office/powerpoint/2010/main" val="297399666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AC43A-E7F6-A8AE-B90B-A7F10E7BBD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E48AA8-E1E4-AC97-EF4D-D1FA7735DBD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C51ED3-6892-0C85-B3B2-0C658353E3B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DFD7DA5B-85CE-3CDF-081E-4078E52D2A3B}"/>
              </a:ext>
            </a:extLst>
          </p:cNvPr>
          <p:cNvSpPr>
            <a:spLocks noGrp="1"/>
          </p:cNvSpPr>
          <p:nvPr>
            <p:ph type="sldNum" sz="quarter" idx="5"/>
          </p:nvPr>
        </p:nvSpPr>
        <p:spPr/>
        <p:txBody>
          <a:bodyPr/>
          <a:lstStyle/>
          <a:p>
            <a:fld id="{CF541D2A-E99A-2F4F-B8C9-28142709F87F}" type="slidenum">
              <a:rPr lang="en-US" smtClean="0"/>
              <a:pPr/>
              <a:t>99</a:t>
            </a:fld>
            <a:endParaRPr lang="en-US"/>
          </a:p>
        </p:txBody>
      </p:sp>
    </p:spTree>
    <p:extLst>
      <p:ext uri="{BB962C8B-B14F-4D97-AF65-F5344CB8AC3E}">
        <p14:creationId xmlns:p14="http://schemas.microsoft.com/office/powerpoint/2010/main" val="231593860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52EF2-EEBA-AFC4-DCC5-D3E0813A5AC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876A6B4-662A-1A2F-6F4D-B14D73AFCD0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287FB26-1C00-761F-CF1B-424AFB4850E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2D80D65-E49A-07EB-5D10-2EC11599A91F}"/>
              </a:ext>
            </a:extLst>
          </p:cNvPr>
          <p:cNvSpPr>
            <a:spLocks noGrp="1"/>
          </p:cNvSpPr>
          <p:nvPr>
            <p:ph type="sldNum" sz="quarter" idx="5"/>
          </p:nvPr>
        </p:nvSpPr>
        <p:spPr/>
        <p:txBody>
          <a:bodyPr/>
          <a:lstStyle/>
          <a:p>
            <a:fld id="{CF541D2A-E99A-2F4F-B8C9-28142709F87F}" type="slidenum">
              <a:rPr lang="en-US" smtClean="0"/>
              <a:pPr/>
              <a:t>100</a:t>
            </a:fld>
            <a:endParaRPr lang="en-US"/>
          </a:p>
        </p:txBody>
      </p:sp>
    </p:spTree>
    <p:extLst>
      <p:ext uri="{BB962C8B-B14F-4D97-AF65-F5344CB8AC3E}">
        <p14:creationId xmlns:p14="http://schemas.microsoft.com/office/powerpoint/2010/main" val="97592886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E0BE5-45F9-FD11-6143-51EEC907E1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E3ACDF-04C6-2180-8883-07D6B24118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E556FED-E33C-8D5D-BC47-DA03424FE2F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E7E1FB3-B6E4-FB7B-6F0A-1E10641FDC7C}"/>
              </a:ext>
            </a:extLst>
          </p:cNvPr>
          <p:cNvSpPr>
            <a:spLocks noGrp="1"/>
          </p:cNvSpPr>
          <p:nvPr>
            <p:ph type="sldNum" sz="quarter" idx="5"/>
          </p:nvPr>
        </p:nvSpPr>
        <p:spPr/>
        <p:txBody>
          <a:bodyPr/>
          <a:lstStyle/>
          <a:p>
            <a:fld id="{CF541D2A-E99A-2F4F-B8C9-28142709F87F}" type="slidenum">
              <a:rPr lang="en-US" smtClean="0"/>
              <a:pPr/>
              <a:t>101</a:t>
            </a:fld>
            <a:endParaRPr lang="en-US"/>
          </a:p>
        </p:txBody>
      </p:sp>
    </p:spTree>
    <p:extLst>
      <p:ext uri="{BB962C8B-B14F-4D97-AF65-F5344CB8AC3E}">
        <p14:creationId xmlns:p14="http://schemas.microsoft.com/office/powerpoint/2010/main" val="21047646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00A9E-F8E1-5173-3A41-A50E8D6C8F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BDE0074-D58B-906D-7AA4-E47AC800797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B517FD5-2050-27F3-E6CC-55424509C25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4FA898D-57A2-C72E-16DA-4BC216658243}"/>
              </a:ext>
            </a:extLst>
          </p:cNvPr>
          <p:cNvSpPr>
            <a:spLocks noGrp="1"/>
          </p:cNvSpPr>
          <p:nvPr>
            <p:ph type="sldNum" sz="quarter" idx="5"/>
          </p:nvPr>
        </p:nvSpPr>
        <p:spPr/>
        <p:txBody>
          <a:bodyPr/>
          <a:lstStyle/>
          <a:p>
            <a:fld id="{CF541D2A-E99A-2F4F-B8C9-28142709F87F}" type="slidenum">
              <a:rPr lang="en-US" smtClean="0"/>
              <a:pPr/>
              <a:t>103</a:t>
            </a:fld>
            <a:endParaRPr lang="en-US"/>
          </a:p>
        </p:txBody>
      </p:sp>
    </p:spTree>
    <p:extLst>
      <p:ext uri="{BB962C8B-B14F-4D97-AF65-F5344CB8AC3E}">
        <p14:creationId xmlns:p14="http://schemas.microsoft.com/office/powerpoint/2010/main" val="107302372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27F47-9F54-BE90-C04F-D4B5841987A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4EB8E74-B5EA-393E-14F0-0DE697BEB1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9AC4935-C958-8833-9272-9802AEE291B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A6D31CB-38C0-19EC-0AB7-D073D164D916}"/>
              </a:ext>
            </a:extLst>
          </p:cNvPr>
          <p:cNvSpPr>
            <a:spLocks noGrp="1"/>
          </p:cNvSpPr>
          <p:nvPr>
            <p:ph type="sldNum" sz="quarter" idx="5"/>
          </p:nvPr>
        </p:nvSpPr>
        <p:spPr/>
        <p:txBody>
          <a:bodyPr/>
          <a:lstStyle/>
          <a:p>
            <a:fld id="{CF541D2A-E99A-2F4F-B8C9-28142709F87F}" type="slidenum">
              <a:rPr lang="en-US" smtClean="0"/>
              <a:pPr/>
              <a:t>104</a:t>
            </a:fld>
            <a:endParaRPr lang="en-US"/>
          </a:p>
        </p:txBody>
      </p:sp>
    </p:spTree>
    <p:extLst>
      <p:ext uri="{BB962C8B-B14F-4D97-AF65-F5344CB8AC3E}">
        <p14:creationId xmlns:p14="http://schemas.microsoft.com/office/powerpoint/2010/main" val="64419930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8E749-D686-0A64-CA6C-7E30C918E6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6962D9-1002-1C71-1262-14E8E176A29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0450D2-0423-0708-C30A-9225D71F996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1A68529-D6D3-A9B7-7EA2-AE2ACD4071CD}"/>
              </a:ext>
            </a:extLst>
          </p:cNvPr>
          <p:cNvSpPr>
            <a:spLocks noGrp="1"/>
          </p:cNvSpPr>
          <p:nvPr>
            <p:ph type="sldNum" sz="quarter" idx="5"/>
          </p:nvPr>
        </p:nvSpPr>
        <p:spPr/>
        <p:txBody>
          <a:bodyPr/>
          <a:lstStyle/>
          <a:p>
            <a:fld id="{CF541D2A-E99A-2F4F-B8C9-28142709F87F}" type="slidenum">
              <a:rPr lang="en-US" smtClean="0"/>
              <a:pPr/>
              <a:t>105</a:t>
            </a:fld>
            <a:endParaRPr lang="en-US"/>
          </a:p>
        </p:txBody>
      </p:sp>
    </p:spTree>
    <p:extLst>
      <p:ext uri="{BB962C8B-B14F-4D97-AF65-F5344CB8AC3E}">
        <p14:creationId xmlns:p14="http://schemas.microsoft.com/office/powerpoint/2010/main" val="341886056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AF1FE-24A3-ABBA-9A83-B3CC5C37336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80D050-8D44-F451-A430-98CEB29B0E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11743B3-8EE6-F5F7-A44E-42FFC3E0D4B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E732083-7286-9308-C451-FD787DD547FB}"/>
              </a:ext>
            </a:extLst>
          </p:cNvPr>
          <p:cNvSpPr>
            <a:spLocks noGrp="1"/>
          </p:cNvSpPr>
          <p:nvPr>
            <p:ph type="sldNum" sz="quarter" idx="5"/>
          </p:nvPr>
        </p:nvSpPr>
        <p:spPr/>
        <p:txBody>
          <a:bodyPr/>
          <a:lstStyle/>
          <a:p>
            <a:fld id="{CF541D2A-E99A-2F4F-B8C9-28142709F87F}" type="slidenum">
              <a:rPr lang="en-US" smtClean="0"/>
              <a:pPr/>
              <a:t>106</a:t>
            </a:fld>
            <a:endParaRPr lang="en-US"/>
          </a:p>
        </p:txBody>
      </p:sp>
    </p:spTree>
    <p:extLst>
      <p:ext uri="{BB962C8B-B14F-4D97-AF65-F5344CB8AC3E}">
        <p14:creationId xmlns:p14="http://schemas.microsoft.com/office/powerpoint/2010/main" val="221413624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19097-A2A0-5283-CDD2-2A9B0D00CF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30CACA-69DE-3EDC-686F-B8D576B6FD1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3DC0337-7810-4A18-1584-B7FC19C94DD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E4C6CF9-6823-AA27-5381-59C17A6388C8}"/>
              </a:ext>
            </a:extLst>
          </p:cNvPr>
          <p:cNvSpPr>
            <a:spLocks noGrp="1"/>
          </p:cNvSpPr>
          <p:nvPr>
            <p:ph type="sldNum" sz="quarter" idx="5"/>
          </p:nvPr>
        </p:nvSpPr>
        <p:spPr/>
        <p:txBody>
          <a:bodyPr/>
          <a:lstStyle/>
          <a:p>
            <a:fld id="{CF541D2A-E99A-2F4F-B8C9-28142709F87F}" type="slidenum">
              <a:rPr lang="en-US" smtClean="0"/>
              <a:pPr/>
              <a:t>107</a:t>
            </a:fld>
            <a:endParaRPr lang="en-US"/>
          </a:p>
        </p:txBody>
      </p:sp>
    </p:spTree>
    <p:extLst>
      <p:ext uri="{BB962C8B-B14F-4D97-AF65-F5344CB8AC3E}">
        <p14:creationId xmlns:p14="http://schemas.microsoft.com/office/powerpoint/2010/main" val="320738921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385E0-D791-6243-7169-DADB6631E4F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16FA84-6219-09AE-759B-AF1E6FFF10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D840E3E-BCDD-D681-AB86-EACA0265300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0CC666E-5588-D426-039A-88DAC2C9059C}"/>
              </a:ext>
            </a:extLst>
          </p:cNvPr>
          <p:cNvSpPr>
            <a:spLocks noGrp="1"/>
          </p:cNvSpPr>
          <p:nvPr>
            <p:ph type="sldNum" sz="quarter" idx="5"/>
          </p:nvPr>
        </p:nvSpPr>
        <p:spPr/>
        <p:txBody>
          <a:bodyPr/>
          <a:lstStyle/>
          <a:p>
            <a:fld id="{CF541D2A-E99A-2F4F-B8C9-28142709F87F}" type="slidenum">
              <a:rPr lang="en-US" smtClean="0"/>
              <a:pPr/>
              <a:t>108</a:t>
            </a:fld>
            <a:endParaRPr lang="en-US"/>
          </a:p>
        </p:txBody>
      </p:sp>
    </p:spTree>
    <p:extLst>
      <p:ext uri="{BB962C8B-B14F-4D97-AF65-F5344CB8AC3E}">
        <p14:creationId xmlns:p14="http://schemas.microsoft.com/office/powerpoint/2010/main" val="287236469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5EA25-8C17-4F35-C40B-990E00CAFC3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B9BF9BD-1E55-75E0-B986-E0166D815D8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D57E13A-49F1-F36C-C573-0C9548D399F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6196A6A-5B64-D503-1982-D77853DD627A}"/>
              </a:ext>
            </a:extLst>
          </p:cNvPr>
          <p:cNvSpPr>
            <a:spLocks noGrp="1"/>
          </p:cNvSpPr>
          <p:nvPr>
            <p:ph type="sldNum" sz="quarter" idx="5"/>
          </p:nvPr>
        </p:nvSpPr>
        <p:spPr/>
        <p:txBody>
          <a:bodyPr/>
          <a:lstStyle/>
          <a:p>
            <a:fld id="{CF541D2A-E99A-2F4F-B8C9-28142709F87F}" type="slidenum">
              <a:rPr lang="en-US" smtClean="0"/>
              <a:pPr/>
              <a:t>110</a:t>
            </a:fld>
            <a:endParaRPr lang="en-US"/>
          </a:p>
        </p:txBody>
      </p:sp>
    </p:spTree>
    <p:extLst>
      <p:ext uri="{BB962C8B-B14F-4D97-AF65-F5344CB8AC3E}">
        <p14:creationId xmlns:p14="http://schemas.microsoft.com/office/powerpoint/2010/main" val="57576991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6549A-F789-BFD6-749F-219F25AA603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A83D38-4AB9-3299-A663-6DB53D8BB33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B5C5EFF-8FF0-D7B9-C350-8F3A4EACE6E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BC680A7-35DD-5780-C6B2-1985412B333E}"/>
              </a:ext>
            </a:extLst>
          </p:cNvPr>
          <p:cNvSpPr>
            <a:spLocks noGrp="1"/>
          </p:cNvSpPr>
          <p:nvPr>
            <p:ph type="sldNum" sz="quarter" idx="5"/>
          </p:nvPr>
        </p:nvSpPr>
        <p:spPr/>
        <p:txBody>
          <a:bodyPr/>
          <a:lstStyle/>
          <a:p>
            <a:fld id="{CF541D2A-E99A-2F4F-B8C9-28142709F87F}" type="slidenum">
              <a:rPr lang="en-US" smtClean="0"/>
              <a:pPr/>
              <a:t>111</a:t>
            </a:fld>
            <a:endParaRPr lang="en-US"/>
          </a:p>
        </p:txBody>
      </p:sp>
    </p:spTree>
    <p:extLst>
      <p:ext uri="{BB962C8B-B14F-4D97-AF65-F5344CB8AC3E}">
        <p14:creationId xmlns:p14="http://schemas.microsoft.com/office/powerpoint/2010/main" val="236019396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3E715-88EE-40E1-3A8F-B1278AC01C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62D7D51-B28E-A844-4DE6-1493DC33105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856A849-EF54-DF2A-FF26-8292921404D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46C81DD-6EC8-0AC3-3BD8-4D654A20EE7B}"/>
              </a:ext>
            </a:extLst>
          </p:cNvPr>
          <p:cNvSpPr>
            <a:spLocks noGrp="1"/>
          </p:cNvSpPr>
          <p:nvPr>
            <p:ph type="sldNum" sz="quarter" idx="5"/>
          </p:nvPr>
        </p:nvSpPr>
        <p:spPr/>
        <p:txBody>
          <a:bodyPr/>
          <a:lstStyle/>
          <a:p>
            <a:fld id="{CF541D2A-E99A-2F4F-B8C9-28142709F87F}" type="slidenum">
              <a:rPr lang="en-US" smtClean="0"/>
              <a:pPr/>
              <a:t>112</a:t>
            </a:fld>
            <a:endParaRPr lang="en-US"/>
          </a:p>
        </p:txBody>
      </p:sp>
    </p:spTree>
    <p:extLst>
      <p:ext uri="{BB962C8B-B14F-4D97-AF65-F5344CB8AC3E}">
        <p14:creationId xmlns:p14="http://schemas.microsoft.com/office/powerpoint/2010/main" val="280606627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DEF9F-4312-DADD-2459-3EF8CA24BF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78C8469-BE9E-C819-C065-2C491C256E7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03E205-19EB-3DBD-94A2-9EB0B9E60BB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5581FFE-1EE9-B564-7D50-7D70C8E14A7E}"/>
              </a:ext>
            </a:extLst>
          </p:cNvPr>
          <p:cNvSpPr>
            <a:spLocks noGrp="1"/>
          </p:cNvSpPr>
          <p:nvPr>
            <p:ph type="sldNum" sz="quarter" idx="5"/>
          </p:nvPr>
        </p:nvSpPr>
        <p:spPr/>
        <p:txBody>
          <a:bodyPr/>
          <a:lstStyle/>
          <a:p>
            <a:fld id="{CF541D2A-E99A-2F4F-B8C9-28142709F87F}" type="slidenum">
              <a:rPr lang="en-US" smtClean="0"/>
              <a:pPr/>
              <a:t>113</a:t>
            </a:fld>
            <a:endParaRPr lang="en-US"/>
          </a:p>
        </p:txBody>
      </p:sp>
    </p:spTree>
    <p:extLst>
      <p:ext uri="{BB962C8B-B14F-4D97-AF65-F5344CB8AC3E}">
        <p14:creationId xmlns:p14="http://schemas.microsoft.com/office/powerpoint/2010/main" val="26579492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58685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63065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020642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87407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57409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20617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53725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4182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53941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56888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338080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965762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7461727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42803013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222103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3643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60486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6285566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9188635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9269384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1121906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4645127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825866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9375708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1783958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5009139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722950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340800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208281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663088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133129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908312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503994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14-07-2026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252348838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1179939272"/>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1247830310"/>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297839413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157511632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945314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068884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244212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956201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282055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624836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6760768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417393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647219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6870160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5510645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176242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394481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2075358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748800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8441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2429672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7758856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8868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2.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37186660"/>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50"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7469772"/>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38.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38.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3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38.xml"/></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3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38.xml"/></Relationships>
</file>

<file path=ppt/slides/_rels/slide5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38.xml"/><Relationship Id="rId4" Type="http://schemas.openxmlformats.org/officeDocument/2006/relationships/image" Target="../media/image38.png"/></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38.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3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38.xml"/></Relationships>
</file>

<file path=ppt/slides/_rels/slide6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38.xml"/></Relationships>
</file>

<file path=ppt/slides/_rels/slide6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38.xml"/></Relationships>
</file>

<file path=ppt/slides/_rels/slide6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38.xml"/><Relationship Id="rId4" Type="http://schemas.openxmlformats.org/officeDocument/2006/relationships/image" Target="../media/image45.png"/></Relationships>
</file>

<file path=ppt/slides/_rels/slide6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38.xml"/></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38.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6.xml"/><Relationship Id="rId1" Type="http://schemas.openxmlformats.org/officeDocument/2006/relationships/slideLayout" Target="../slideLayouts/slideLayout38.xml"/></Relationships>
</file>

<file path=ppt/slides/_rels/slide7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7.xml"/><Relationship Id="rId1" Type="http://schemas.openxmlformats.org/officeDocument/2006/relationships/slideLayout" Target="../slideLayouts/slideLayout38.xml"/></Relationships>
</file>

<file path=ppt/slides/_rels/slide7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8.xml"/><Relationship Id="rId1" Type="http://schemas.openxmlformats.org/officeDocument/2006/relationships/slideLayout" Target="../slideLayouts/slideLayout38.xml"/><Relationship Id="rId4" Type="http://schemas.openxmlformats.org/officeDocument/2006/relationships/image" Target="../media/image51.png"/></Relationships>
</file>

<file path=ppt/slides/_rels/slide7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9.xml"/><Relationship Id="rId1" Type="http://schemas.openxmlformats.org/officeDocument/2006/relationships/slideLayout" Target="../slideLayouts/slideLayout38.xml"/><Relationship Id="rId4" Type="http://schemas.openxmlformats.org/officeDocument/2006/relationships/image" Target="../media/image51.png"/></Relationships>
</file>

<file path=ppt/slides/_rels/slide7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0.xml"/><Relationship Id="rId1" Type="http://schemas.openxmlformats.org/officeDocument/2006/relationships/slideLayout" Target="../slideLayouts/slideLayout38.xml"/></Relationships>
</file>

<file path=ppt/slides/_rels/slide7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1.xml"/><Relationship Id="rId1" Type="http://schemas.openxmlformats.org/officeDocument/2006/relationships/slideLayout" Target="../slideLayouts/slideLayout3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2.xml"/><Relationship Id="rId1" Type="http://schemas.openxmlformats.org/officeDocument/2006/relationships/slideLayout" Target="../slideLayouts/slideLayout38.xml"/></Relationships>
</file>

<file path=ppt/slides/_rels/slide7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3.xml"/><Relationship Id="rId1" Type="http://schemas.openxmlformats.org/officeDocument/2006/relationships/slideLayout" Target="../slideLayouts/slideLayout38.xml"/></Relationships>
</file>

<file path=ppt/slides/_rels/slide7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4.xml"/><Relationship Id="rId1" Type="http://schemas.openxmlformats.org/officeDocument/2006/relationships/slideLayout" Target="../slideLayouts/slideLayout3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8.xml"/></Relationships>
</file>

<file path=ppt/slides/_rels/slide8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7.xml"/><Relationship Id="rId1" Type="http://schemas.openxmlformats.org/officeDocument/2006/relationships/slideLayout" Target="../slideLayouts/slideLayout38.xml"/></Relationships>
</file>

<file path=ppt/slides/_rels/slide8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8.xml"/><Relationship Id="rId1" Type="http://schemas.openxmlformats.org/officeDocument/2006/relationships/slideLayout" Target="../slideLayouts/slideLayout38.xml"/></Relationships>
</file>

<file path=ppt/slides/_rels/slide8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9.xml"/><Relationship Id="rId1" Type="http://schemas.openxmlformats.org/officeDocument/2006/relationships/slideLayout" Target="../slideLayouts/slideLayout38.xml"/></Relationships>
</file>

<file path=ppt/slides/_rels/slide8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0.xml"/><Relationship Id="rId1" Type="http://schemas.openxmlformats.org/officeDocument/2006/relationships/slideLayout" Target="../slideLayouts/slideLayout38.xml"/></Relationships>
</file>

<file path=ppt/slides/_rels/slide8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1.xml"/><Relationship Id="rId1" Type="http://schemas.openxmlformats.org/officeDocument/2006/relationships/slideLayout" Target="../slideLayouts/slideLayout38.xml"/></Relationships>
</file>

<file path=ppt/slides/_rels/slide8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2.xml"/><Relationship Id="rId1" Type="http://schemas.openxmlformats.org/officeDocument/2006/relationships/slideLayout" Target="../slideLayouts/slideLayout38.xml"/></Relationships>
</file>

<file path=ppt/slides/_rels/slide8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3.xml"/><Relationship Id="rId1" Type="http://schemas.openxmlformats.org/officeDocument/2006/relationships/slideLayout" Target="../slideLayouts/slideLayout38.xml"/></Relationships>
</file>

<file path=ppt/slides/_rels/slide8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4.xml"/><Relationship Id="rId1" Type="http://schemas.openxmlformats.org/officeDocument/2006/relationships/slideLayout" Target="../slideLayouts/slideLayout3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5.xml"/><Relationship Id="rId1" Type="http://schemas.openxmlformats.org/officeDocument/2006/relationships/slideLayout" Target="../slideLayouts/slideLayout38.xml"/></Relationships>
</file>

<file path=ppt/slides/_rels/slide9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6.xml"/><Relationship Id="rId1" Type="http://schemas.openxmlformats.org/officeDocument/2006/relationships/slideLayout" Target="../slideLayouts/slideLayout38.xml"/></Relationships>
</file>

<file path=ppt/slides/_rels/slide9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7.xml"/><Relationship Id="rId1" Type="http://schemas.openxmlformats.org/officeDocument/2006/relationships/slideLayout" Target="../slideLayouts/slideLayout38.xml"/></Relationships>
</file>

<file path=ppt/slides/_rels/slide9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8.xml"/><Relationship Id="rId1" Type="http://schemas.openxmlformats.org/officeDocument/2006/relationships/slideLayout" Target="../slideLayouts/slideLayout38.xml"/></Relationships>
</file>

<file path=ppt/slides/_rels/slide9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9.xml"/><Relationship Id="rId1" Type="http://schemas.openxmlformats.org/officeDocument/2006/relationships/slideLayout" Target="../slideLayouts/slideLayout3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0.xml"/><Relationship Id="rId1" Type="http://schemas.openxmlformats.org/officeDocument/2006/relationships/slideLayout" Target="../slideLayouts/slideLayout38.xml"/></Relationships>
</file>

<file path=ppt/slides/_rels/slide9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1.xml"/><Relationship Id="rId1" Type="http://schemas.openxmlformats.org/officeDocument/2006/relationships/slideLayout" Target="../slideLayouts/slideLayout38.xml"/></Relationships>
</file>

<file path=ppt/slides/_rels/slide9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2.xml"/><Relationship Id="rId1" Type="http://schemas.openxmlformats.org/officeDocument/2006/relationships/slideLayout" Target="../slideLayouts/slideLayout38.xml"/></Relationships>
</file>

<file path=ppt/slides/_rels/slide9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3.xml"/><Relationship Id="rId1" Type="http://schemas.openxmlformats.org/officeDocument/2006/relationships/slideLayout" Target="../slideLayouts/slideLayout38.xml"/></Relationships>
</file>

<file path=ppt/slides/_rels/slide10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4.xml"/><Relationship Id="rId1" Type="http://schemas.openxmlformats.org/officeDocument/2006/relationships/slideLayout" Target="../slideLayouts/slideLayout38.xml"/></Relationships>
</file>

<file path=ppt/slides/_rels/slide10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5.xml"/><Relationship Id="rId1" Type="http://schemas.openxmlformats.org/officeDocument/2006/relationships/slideLayout" Target="../slideLayouts/slideLayout3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6.xml"/><Relationship Id="rId1" Type="http://schemas.openxmlformats.org/officeDocument/2006/relationships/slideLayout" Target="../slideLayouts/slideLayout38.xml"/></Relationships>
</file>

<file path=ppt/slides/_rels/slide10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7.xml"/><Relationship Id="rId1" Type="http://schemas.openxmlformats.org/officeDocument/2006/relationships/slideLayout" Target="../slideLayouts/slideLayout38.xml"/></Relationships>
</file>

<file path=ppt/slides/_rels/slide10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8.xml"/><Relationship Id="rId1" Type="http://schemas.openxmlformats.org/officeDocument/2006/relationships/slideLayout" Target="../slideLayouts/slideLayout38.xml"/></Relationships>
</file>

<file path=ppt/slides/_rels/slide10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9.xml"/><Relationship Id="rId1" Type="http://schemas.openxmlformats.org/officeDocument/2006/relationships/slideLayout" Target="../slideLayouts/slideLayout38.xml"/></Relationships>
</file>

<file path=ppt/slides/_rels/slide10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0.xml"/><Relationship Id="rId1" Type="http://schemas.openxmlformats.org/officeDocument/2006/relationships/slideLayout" Target="../slideLayouts/slideLayout38.xml"/></Relationships>
</file>

<file path=ppt/slides/_rels/slide10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1.xml"/><Relationship Id="rId1" Type="http://schemas.openxmlformats.org/officeDocument/2006/relationships/slideLayout" Target="../slideLayouts/slideLayout38.xml"/><Relationship Id="rId4" Type="http://schemas.openxmlformats.org/officeDocument/2006/relationships/image" Target="../media/image7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2.xml"/><Relationship Id="rId1" Type="http://schemas.openxmlformats.org/officeDocument/2006/relationships/slideLayout" Target="../slideLayouts/slideLayout38.xml"/></Relationships>
</file>

<file path=ppt/slides/_rels/slide11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3.xml"/><Relationship Id="rId1" Type="http://schemas.openxmlformats.org/officeDocument/2006/relationships/slideLayout" Target="../slideLayouts/slideLayout38.xml"/></Relationships>
</file>

<file path=ppt/slides/_rels/slide11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84.xml"/><Relationship Id="rId1" Type="http://schemas.openxmlformats.org/officeDocument/2006/relationships/slideLayout" Target="../slideLayouts/slideLayout38.xml"/></Relationships>
</file>

<file path=ppt/slides/_rels/slide11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85.xml"/><Relationship Id="rId1" Type="http://schemas.openxmlformats.org/officeDocument/2006/relationships/slideLayout" Target="../slideLayouts/slideLayout3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16.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image" Target="../media/image84.sv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1728731"/>
            <a:ext cx="5907398" cy="1832105"/>
          </a:xfrm>
        </p:spPr>
        <p:txBody>
          <a:bodyPr/>
          <a:lstStyle/>
          <a:p>
            <a:r>
              <a:rPr lang="es-419" sz="4400" dirty="0"/>
              <a:t>Ejecutar la inscripción de cursos por lista de Espera</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674095"/>
          </a:xfrm>
        </p:spPr>
        <p:txBody>
          <a:bodyPr/>
          <a:lstStyle/>
          <a:p>
            <a:endParaRPr lang="es-ES" sz="1800" dirty="0"/>
          </a:p>
          <a:p>
            <a:r>
              <a:rPr lang="es-ES" sz="1800" dirty="0"/>
              <a:t>Instructivo</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194925"/>
          </a:xfrm>
        </p:spPr>
        <p:txBody>
          <a:bodyPr/>
          <a:lstStyle/>
          <a:p>
            <a:r>
              <a:rPr lang="es-CL" dirty="0"/>
              <a:t>Universidad Señor de SIPAN</a:t>
            </a:r>
          </a:p>
        </p:txBody>
      </p:sp>
      <p:sp>
        <p:nvSpPr>
          <p:cNvPr id="6" name="Marcador de texto 5">
            <a:extLst>
              <a:ext uri="{FF2B5EF4-FFF2-40B4-BE49-F238E27FC236}">
                <a16:creationId xmlns:a16="http://schemas.microsoft.com/office/drawing/2014/main" id="{76D3A7E8-ABDE-28D9-1D84-F8118ED6B920}"/>
              </a:ext>
            </a:extLst>
          </p:cNvPr>
          <p:cNvSpPr>
            <a:spLocks noGrp="1"/>
          </p:cNvSpPr>
          <p:nvPr>
            <p:ph type="body" sz="quarter" idx="13"/>
          </p:nvPr>
        </p:nvSpPr>
        <p:spPr/>
        <p:txBody>
          <a:bodyPr/>
          <a:lstStyle/>
          <a:p>
            <a:r>
              <a:rPr lang="es-419" dirty="0"/>
              <a:t>Julio, 2026</a:t>
            </a:r>
          </a:p>
        </p:txBody>
      </p:sp>
      <p:pic>
        <p:nvPicPr>
          <p:cNvPr id="9" name="Marcador de posición de imagen 8" descr="Un grupo de folletos sobre una mesa de madera&#10;&#10;El contenido generado por IA puede ser incorrecto.">
            <a:extLst>
              <a:ext uri="{FF2B5EF4-FFF2-40B4-BE49-F238E27FC236}">
                <a16:creationId xmlns:a16="http://schemas.microsoft.com/office/drawing/2014/main" id="{D8DB8C7B-503A-A064-382D-974160182F5F}"/>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Ejecutar la inscripción de cursos por autoservicio por bloques</a:t>
            </a:r>
            <a:endParaRPr lang="es-419"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3016319529"/>
              </p:ext>
            </p:extLst>
          </p:nvPr>
        </p:nvGraphicFramePr>
        <p:xfrm>
          <a:off x="786088" y="1651015"/>
          <a:ext cx="9058128" cy="3387477"/>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Ejecutar la inscripción de cursos por autoservicio por bloques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Ejecutar la inscripción de cursos por autoservicio por bloques</a:t>
            </a:r>
            <a:endParaRPr lang="es-419"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16">
            <a:extLst>
              <a:ext uri="{FF2B5EF4-FFF2-40B4-BE49-F238E27FC236}">
                <a16:creationId xmlns:a16="http://schemas.microsoft.com/office/drawing/2014/main" id="{8AC1633D-9215-2128-452C-BEE52AEB6D5E}"/>
              </a:ext>
            </a:extLst>
          </p:cNvPr>
          <p:cNvSpPr>
            <a:spLocks noGrp="1"/>
          </p:cNvSpPr>
          <p:nvPr>
            <p:ph type="sldNum" sz="quarter" idx="4"/>
          </p:nvPr>
        </p:nvSpPr>
        <p:spPr/>
        <p:txBody>
          <a:bodyPr/>
          <a:lstStyle/>
          <a:p>
            <a:fld id="{4A16F8ED-7337-F64C-865A-41A1F48E54DF}" type="slidenum">
              <a:rPr lang="en-US" smtClean="0"/>
              <a:pPr/>
              <a:t>4</a:t>
            </a:fld>
            <a:endParaRPr lang="en-US"/>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ES_tradnl" sz="3200" dirty="0">
                <a:solidFill>
                  <a:schemeClr val="tx2"/>
                </a:solidFill>
              </a:rPr>
              <a:t>Overview: </a:t>
            </a:r>
            <a:r>
              <a:rPr lang="es-ES_tradnl" sz="3200" b="1" dirty="0">
                <a:solidFill>
                  <a:schemeClr val="tx2"/>
                </a:solidFill>
              </a:rPr>
              <a:t>Mapa de capacidades</a:t>
            </a:r>
            <a:endParaRPr lang="en-US" dirty="0"/>
          </a:p>
        </p:txBody>
      </p:sp>
      <p:pic>
        <p:nvPicPr>
          <p:cNvPr id="2" name="Imagen 2">
            <a:extLst>
              <a:ext uri="{FF2B5EF4-FFF2-40B4-BE49-F238E27FC236}">
                <a16:creationId xmlns:a16="http://schemas.microsoft.com/office/drawing/2014/main" id="{CD767F04-A4F8-7CF9-45B1-8070B88894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140417"/>
            <a:ext cx="10180101" cy="4796619"/>
          </a:xfrm>
          <a:prstGeom prst="rect">
            <a:avLst/>
          </a:prstGeom>
        </p:spPr>
      </p:pic>
      <p:sp>
        <p:nvSpPr>
          <p:cNvPr id="6" name="Rectangle 5">
            <a:extLst>
              <a:ext uri="{FF2B5EF4-FFF2-40B4-BE49-F238E27FC236}">
                <a16:creationId xmlns:a16="http://schemas.microsoft.com/office/drawing/2014/main" id="{226A4735-976B-631C-3E5A-3509C44EC4B5}"/>
              </a:ext>
            </a:extLst>
          </p:cNvPr>
          <p:cNvSpPr/>
          <p:nvPr/>
        </p:nvSpPr>
        <p:spPr>
          <a:xfrm>
            <a:off x="1463336" y="4713818"/>
            <a:ext cx="3986487" cy="6728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Marcador de texto vertical 1">
            <a:extLst>
              <a:ext uri="{FF2B5EF4-FFF2-40B4-BE49-F238E27FC236}">
                <a16:creationId xmlns:a16="http://schemas.microsoft.com/office/drawing/2014/main" id="{8E737953-3655-8300-63BF-9790D2DC5CA7}"/>
              </a:ext>
            </a:extLst>
          </p:cNvPr>
          <p:cNvSpPr>
            <a:spLocks noGrp="1"/>
          </p:cNvSpPr>
          <p:nvPr>
            <p:ph type="body" sz="quarter" idx="17"/>
          </p:nvPr>
        </p:nvSpPr>
        <p:spPr>
          <a:xfrm rot="10800000">
            <a:off x="0" y="685800"/>
            <a:ext cx="609600" cy="5486400"/>
          </a:xfrm>
        </p:spPr>
        <p:txBody>
          <a:bodyPr/>
          <a:lstStyle/>
          <a:p>
            <a:r>
              <a:rPr lang="es-419" sz="1200" dirty="0"/>
              <a:t>Ejecutar la inscripción de cursos por </a:t>
            </a:r>
            <a:r>
              <a:rPr lang="es-419" dirty="0"/>
              <a:t>lista de Espera</a:t>
            </a:r>
            <a:endParaRPr lang="es-419" sz="1200" dirty="0"/>
          </a:p>
        </p:txBody>
      </p:sp>
    </p:spTree>
    <p:extLst>
      <p:ext uri="{BB962C8B-B14F-4D97-AF65-F5344CB8AC3E}">
        <p14:creationId xmlns:p14="http://schemas.microsoft.com/office/powerpoint/2010/main" val="3214615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031009" y="1584355"/>
            <a:ext cx="9698935" cy="3737745"/>
          </a:xfrm>
        </p:spPr>
        <p:txBody>
          <a:bodyPr anchor="ctr"/>
          <a:lstStyle/>
          <a:p>
            <a:pPr marL="0" lvl="0" indent="0" algn="just">
              <a:buClr>
                <a:srgbClr val="0CB4B4"/>
              </a:buClr>
              <a:buNone/>
            </a:pPr>
            <a:r>
              <a:rPr lang="es-CO" sz="2000" dirty="0"/>
              <a:t>Tiene como propósito </a:t>
            </a:r>
            <a:r>
              <a:rPr lang="es-CO" sz="2000" b="1" dirty="0"/>
              <a:t>administrar el registro y retiro de asignaturas</a:t>
            </a:r>
            <a:r>
              <a:rPr lang="es-CO" sz="2000" dirty="0"/>
              <a:t> que los estudiantes cursarán en un periodo académico. Para ello utiliza los distintos </a:t>
            </a:r>
            <a:r>
              <a:rPr lang="es-CO" sz="2000" b="1" dirty="0"/>
              <a:t>modelos de inscripción</a:t>
            </a:r>
            <a:r>
              <a:rPr lang="es-CO" sz="2000" dirty="0"/>
              <a:t> definidos por la institución —como inscripción básica, estructurada o proyectada— y opera en conjunto con funcionalidades complementarias como la </a:t>
            </a:r>
            <a:r>
              <a:rPr lang="es-CO" sz="2000" b="1" dirty="0"/>
              <a:t>gestión de turnos</a:t>
            </a:r>
            <a:r>
              <a:rPr lang="es-CO" sz="2000" dirty="0"/>
              <a:t>, </a:t>
            </a:r>
            <a:r>
              <a:rPr lang="es-CO" sz="2000" b="1" dirty="0"/>
              <a:t>inscripción por bloques</a:t>
            </a:r>
            <a:r>
              <a:rPr lang="es-CO" sz="2000" dirty="0"/>
              <a:t>, </a:t>
            </a:r>
            <a:r>
              <a:rPr lang="es-CO" sz="2000" b="1" dirty="0"/>
              <a:t>listas de espera</a:t>
            </a:r>
            <a:r>
              <a:rPr lang="es-CO" sz="2000" dirty="0"/>
              <a:t>, </a:t>
            </a:r>
            <a:r>
              <a:rPr lang="es-CO" sz="2000" b="1" dirty="0"/>
              <a:t>sobrepasos</a:t>
            </a:r>
            <a:r>
              <a:rPr lang="es-CO" sz="2000" dirty="0"/>
              <a:t>, entre otras herramientas que permiten controlar y organizar el proceso de matrícula de manera eficiente.</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CL" dirty="0">
              <a:solidFill>
                <a:schemeClr val="tx2"/>
              </a:solidFill>
            </a:endParaRPr>
          </a:p>
        </p:txBody>
      </p:sp>
      <p:sp>
        <p:nvSpPr>
          <p:cNvPr id="7" name="Marcador de texto vertical 1">
            <a:extLst>
              <a:ext uri="{FF2B5EF4-FFF2-40B4-BE49-F238E27FC236}">
                <a16:creationId xmlns:a16="http://schemas.microsoft.com/office/drawing/2014/main" id="{D0C8450B-E3C4-25BD-97AC-0B1EFF423F91}"/>
              </a:ext>
            </a:extLst>
          </p:cNvPr>
          <p:cNvSpPr txBox="1">
            <a:spLocks/>
          </p:cNvSpPr>
          <p:nvPr/>
        </p:nvSpPr>
        <p:spPr>
          <a:xfrm rot="10800000">
            <a:off x="152400" y="83820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a:t>Ejecutar la inscripción de cursos por lista de Espera</a:t>
            </a:r>
            <a:endParaRPr lang="es-419" dirty="0"/>
          </a:p>
        </p:txBody>
      </p:sp>
    </p:spTree>
    <p:extLst>
      <p:ext uri="{BB962C8B-B14F-4D97-AF65-F5344CB8AC3E}">
        <p14:creationId xmlns:p14="http://schemas.microsoft.com/office/powerpoint/2010/main" val="1416524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924354" y="1500996"/>
            <a:ext cx="10136257" cy="4671203"/>
          </a:xfrm>
        </p:spPr>
        <p:txBody>
          <a:bodyPr vert="horz" lIns="91440" tIns="45720" rIns="91440" bIns="45720" rtlCol="0" anchor="t">
            <a:noAutofit/>
          </a:bodyPr>
          <a:lstStyle/>
          <a:p>
            <a:pPr>
              <a:buClr>
                <a:schemeClr val="bg2">
                  <a:lumMod val="10000"/>
                </a:schemeClr>
              </a:buClr>
              <a:buFont typeface="Wingdings" panose="05000000000000000000" pitchFamily="2" charset="2"/>
              <a:buChar char="v"/>
            </a:pPr>
            <a:r>
              <a:rPr lang="es-ES" sz="2400" dirty="0">
                <a:solidFill>
                  <a:srgbClr val="7030A0"/>
                </a:solidFill>
              </a:rPr>
              <a:t> Ejecutar Proyección Académica</a:t>
            </a:r>
          </a:p>
          <a:p>
            <a:pPr>
              <a:buClr>
                <a:schemeClr val="bg2">
                  <a:lumMod val="10000"/>
                </a:schemeClr>
              </a:buClr>
              <a:buFont typeface="Wingdings" panose="05000000000000000000" pitchFamily="2" charset="2"/>
              <a:buChar char="v"/>
            </a:pPr>
            <a:r>
              <a:rPr lang="es-ES" sz="2400" b="1" dirty="0">
                <a:solidFill>
                  <a:srgbClr val="7030A0"/>
                </a:solidFill>
              </a:rPr>
              <a:t> </a:t>
            </a:r>
            <a:r>
              <a:rPr lang="es-ES" sz="2400" dirty="0">
                <a:solidFill>
                  <a:srgbClr val="7030A0"/>
                </a:solidFill>
              </a:rPr>
              <a:t>Ejecutar Planificación de cursos</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Básico</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por Bloques</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Estructurado</a:t>
            </a:r>
          </a:p>
          <a:p>
            <a:pPr>
              <a:buClr>
                <a:schemeClr val="bg2">
                  <a:lumMod val="10000"/>
                </a:schemeClr>
              </a:buClr>
              <a:buFont typeface="Wingdings" panose="05000000000000000000" pitchFamily="2" charset="2"/>
              <a:buChar char="v"/>
            </a:pPr>
            <a:r>
              <a:rPr lang="es-CO" sz="2400" dirty="0">
                <a:solidFill>
                  <a:srgbClr val="7030A0"/>
                </a:solidFill>
              </a:rPr>
              <a:t>Inscripción de Cursos por </a:t>
            </a:r>
            <a:r>
              <a:rPr lang="es-CO" sz="2400" dirty="0" err="1">
                <a:solidFill>
                  <a:srgbClr val="7030A0"/>
                </a:solidFill>
              </a:rPr>
              <a:t>Backoffice</a:t>
            </a:r>
            <a:endParaRPr lang="es-CO" sz="2400" dirty="0">
              <a:solidFill>
                <a:srgbClr val="7030A0"/>
              </a:solidFill>
            </a:endParaRPr>
          </a:p>
          <a:p>
            <a:pPr>
              <a:buClr>
                <a:schemeClr val="bg2">
                  <a:lumMod val="10000"/>
                </a:schemeClr>
              </a:buClr>
              <a:buFont typeface="Wingdings" panose="05000000000000000000" pitchFamily="2" charset="2"/>
              <a:buChar char="v"/>
            </a:pPr>
            <a:r>
              <a:rPr lang="es-ES" sz="2400" dirty="0">
                <a:solidFill>
                  <a:srgbClr val="7030A0"/>
                </a:solidFill>
              </a:rPr>
              <a:t>Inscripción de cursos por </a:t>
            </a:r>
            <a:r>
              <a:rPr lang="es-ES" sz="2400" dirty="0" err="1">
                <a:solidFill>
                  <a:srgbClr val="7030A0"/>
                </a:solidFill>
              </a:rPr>
              <a:t>Backoffice</a:t>
            </a:r>
            <a:r>
              <a:rPr lang="es-ES" sz="2400" dirty="0">
                <a:solidFill>
                  <a:srgbClr val="7030A0"/>
                </a:solidFill>
              </a:rPr>
              <a:t> por Bloques</a:t>
            </a:r>
          </a:p>
          <a:p>
            <a:pPr>
              <a:buClr>
                <a:schemeClr val="bg2">
                  <a:lumMod val="10000"/>
                </a:schemeClr>
              </a:buClr>
              <a:buFont typeface="Wingdings" panose="05000000000000000000" pitchFamily="2" charset="2"/>
              <a:buChar char="v"/>
            </a:pPr>
            <a:r>
              <a:rPr lang="es-ES" sz="2400" b="1" dirty="0">
                <a:solidFill>
                  <a:srgbClr val="7030A0"/>
                </a:solidFill>
              </a:rPr>
              <a:t>Inscripción de cursos por Lista de Espera</a:t>
            </a:r>
          </a:p>
          <a:p>
            <a:pPr>
              <a:buClr>
                <a:schemeClr val="bg2">
                  <a:lumMod val="10000"/>
                </a:schemeClr>
              </a:buClr>
              <a:buFont typeface="Wingdings" panose="05000000000000000000" pitchFamily="2" charset="2"/>
              <a:buChar char="v"/>
            </a:pPr>
            <a:r>
              <a:rPr lang="es-ES" sz="2400" dirty="0">
                <a:solidFill>
                  <a:srgbClr val="7030A0"/>
                </a:solidFill>
              </a:rPr>
              <a:t>Gestionar Sobrepasos de Inscripción</a:t>
            </a:r>
          </a:p>
          <a:p>
            <a:pPr>
              <a:buClr>
                <a:schemeClr val="bg2">
                  <a:lumMod val="10000"/>
                </a:schemeClr>
              </a:buClr>
              <a:buFont typeface="Wingdings" panose="05000000000000000000" pitchFamily="2" charset="2"/>
              <a:buChar char="v"/>
            </a:pPr>
            <a:r>
              <a:rPr lang="es-ES" sz="2400" dirty="0">
                <a:solidFill>
                  <a:srgbClr val="7030A0"/>
                </a:solidFill>
              </a:rPr>
              <a:t>Gestionar Retiro de Cursos por Autoservicio</a:t>
            </a: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a:xfrm>
            <a:off x="924354" y="236522"/>
            <a:ext cx="10477497" cy="898555"/>
          </a:xfrm>
        </p:spPr>
        <p:txBody>
          <a:bodyPr/>
          <a:lstStyle/>
          <a:p>
            <a:r>
              <a:rPr lang="es-ES_tradnl" sz="3200"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CL" dirty="0">
              <a:solidFill>
                <a:schemeClr val="tx2"/>
              </a:solidFill>
            </a:endParaRPr>
          </a:p>
        </p:txBody>
      </p:sp>
      <p:sp>
        <p:nvSpPr>
          <p:cNvPr id="7" name="Marcador de texto vertical 1">
            <a:extLst>
              <a:ext uri="{FF2B5EF4-FFF2-40B4-BE49-F238E27FC236}">
                <a16:creationId xmlns:a16="http://schemas.microsoft.com/office/drawing/2014/main" id="{85242DD1-BDC0-B2A0-DE7E-68BCA36386EB}"/>
              </a:ext>
            </a:extLst>
          </p:cNvPr>
          <p:cNvSpPr>
            <a:spLocks noGrp="1"/>
          </p:cNvSpPr>
          <p:nvPr>
            <p:ph type="body" orient="vert" sz="quarter" idx="17"/>
          </p:nvPr>
        </p:nvSpPr>
        <p:spPr>
          <a:xfrm rot="10800000">
            <a:off x="0" y="685800"/>
            <a:ext cx="609600" cy="5486399"/>
          </a:xfrm>
        </p:spPr>
        <p:txBody>
          <a:bodyPr/>
          <a:lstStyle/>
          <a:p>
            <a:r>
              <a:rPr lang="es-419" sz="1200" dirty="0"/>
              <a:t>Ejecutar la inscripción de cursos por </a:t>
            </a:r>
            <a:r>
              <a:rPr lang="es-419" dirty="0"/>
              <a:t>lista de Espera</a:t>
            </a:r>
            <a:endParaRPr lang="es-419" sz="1200" dirty="0"/>
          </a:p>
        </p:txBody>
      </p:sp>
    </p:spTree>
    <p:extLst>
      <p:ext uri="{BB962C8B-B14F-4D97-AF65-F5344CB8AC3E}">
        <p14:creationId xmlns:p14="http://schemas.microsoft.com/office/powerpoint/2010/main" val="2424863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419" sz="3200" dirty="0"/>
          </a:p>
        </p:txBody>
      </p:sp>
      <p:pic>
        <p:nvPicPr>
          <p:cNvPr id="2" name="Picture 49">
            <a:extLst>
              <a:ext uri="{FF2B5EF4-FFF2-40B4-BE49-F238E27FC236}">
                <a16:creationId xmlns:a16="http://schemas.microsoft.com/office/drawing/2014/main" id="{F747E82D-4004-F481-DBFE-93BF2BFB3E5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4" r="840" b="2225"/>
          <a:stretch>
            <a:fillRect/>
          </a:stretch>
        </p:blipFill>
        <p:spPr bwMode="auto">
          <a:xfrm>
            <a:off x="1457864" y="1803624"/>
            <a:ext cx="9622905" cy="3372226"/>
          </a:xfrm>
          <a:prstGeom prst="rect">
            <a:avLst/>
          </a:prstGeom>
          <a:noFill/>
          <a:ln>
            <a:noFill/>
          </a:ln>
          <a:extLst>
            <a:ext uri="{53640926-AAD7-44D8-BBD7-CCE9431645EC}">
              <a14:shadowObscured xmlns:a14="http://schemas.microsoft.com/office/drawing/2010/main"/>
            </a:ext>
          </a:extLst>
        </p:spPr>
      </p:pic>
      <p:sp>
        <p:nvSpPr>
          <p:cNvPr id="7" name="Marcador de texto vertical 1">
            <a:extLst>
              <a:ext uri="{FF2B5EF4-FFF2-40B4-BE49-F238E27FC236}">
                <a16:creationId xmlns:a16="http://schemas.microsoft.com/office/drawing/2014/main" id="{7D3EE218-34D7-A8F6-16FA-DD161E68D465}"/>
              </a:ext>
            </a:extLst>
          </p:cNvPr>
          <p:cNvSpPr>
            <a:spLocks noGrp="1"/>
          </p:cNvSpPr>
          <p:nvPr>
            <p:ph type="body" orient="vert" sz="quarter" idx="17"/>
          </p:nvPr>
        </p:nvSpPr>
        <p:spPr>
          <a:xfrm rot="10800000">
            <a:off x="0" y="685800"/>
            <a:ext cx="609600" cy="5486399"/>
          </a:xfrm>
        </p:spPr>
        <p:txBody>
          <a:bodyPr/>
          <a:lstStyle/>
          <a:p>
            <a:r>
              <a:rPr lang="es-419" sz="1200" dirty="0"/>
              <a:t>Ejecutar la inscripción de cursos por </a:t>
            </a:r>
            <a:r>
              <a:rPr lang="es-419" dirty="0"/>
              <a:t>lista de Espera</a:t>
            </a:r>
            <a:endParaRPr lang="es-419" sz="1200" dirty="0"/>
          </a:p>
        </p:txBody>
      </p:sp>
    </p:spTree>
    <p:extLst>
      <p:ext uri="{BB962C8B-B14F-4D97-AF65-F5344CB8AC3E}">
        <p14:creationId xmlns:p14="http://schemas.microsoft.com/office/powerpoint/2010/main" val="1743723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8</a:t>
            </a:fld>
            <a:endParaRPr lang="en-US"/>
          </a:p>
        </p:txBody>
      </p:sp>
      <p:pic>
        <p:nvPicPr>
          <p:cNvPr id="8" name="Imagen 7" descr="Imagen que contiene texto, mapa&#10;&#10;Descripción generada automáticamente">
            <a:extLst>
              <a:ext uri="{FF2B5EF4-FFF2-40B4-BE49-F238E27FC236}">
                <a16:creationId xmlns:a16="http://schemas.microsoft.com/office/drawing/2014/main" id="{171DEDFE-F050-E179-A066-C9F72BC68D9D}"/>
              </a:ext>
            </a:extLst>
          </p:cNvPr>
          <p:cNvPicPr>
            <a:picLocks noChangeAspect="1"/>
          </p:cNvPicPr>
          <p:nvPr/>
        </p:nvPicPr>
        <p:blipFill rotWithShape="1">
          <a:blip r:embed="rId2"/>
          <a:srcRect l="14657" t="34650" b="2103"/>
          <a:stretch/>
        </p:blipFill>
        <p:spPr>
          <a:xfrm>
            <a:off x="3393439" y="1323474"/>
            <a:ext cx="4750021" cy="5049719"/>
          </a:xfrm>
          <a:prstGeom prst="rect">
            <a:avLst/>
          </a:prstGeom>
        </p:spPr>
      </p:pic>
      <p:sp>
        <p:nvSpPr>
          <p:cNvPr id="9" name="CuadroTexto 8">
            <a:extLst>
              <a:ext uri="{FF2B5EF4-FFF2-40B4-BE49-F238E27FC236}">
                <a16:creationId xmlns:a16="http://schemas.microsoft.com/office/drawing/2014/main" id="{CDA0D89D-33DC-4151-D805-A43C6E21B822}"/>
              </a:ext>
            </a:extLst>
          </p:cNvPr>
          <p:cNvSpPr txBox="1"/>
          <p:nvPr/>
        </p:nvSpPr>
        <p:spPr>
          <a:xfrm>
            <a:off x="8921175" y="2785533"/>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104674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Macroproceso </a:t>
            </a:r>
            <a:r>
              <a:rPr lang="es-419" dirty="0">
                <a:solidFill>
                  <a:schemeClr val="tx2"/>
                </a:solidFill>
              </a:rPr>
              <a:t>Gestionar la inscripción de cursos – Inscripción de Cursos</a:t>
            </a:r>
          </a:p>
        </p:txBody>
      </p:sp>
      <p:sp>
        <p:nvSpPr>
          <p:cNvPr id="6" name="Marcador de texto vertical 1">
            <a:extLst>
              <a:ext uri="{FF2B5EF4-FFF2-40B4-BE49-F238E27FC236}">
                <a16:creationId xmlns:a16="http://schemas.microsoft.com/office/drawing/2014/main" id="{25FD751E-14CF-4251-DE8E-C9B2932A7B2F}"/>
              </a:ext>
            </a:extLst>
          </p:cNvPr>
          <p:cNvSpPr>
            <a:spLocks noGrp="1"/>
          </p:cNvSpPr>
          <p:nvPr>
            <p:ph type="body" orient="vert" sz="quarter" idx="17"/>
          </p:nvPr>
        </p:nvSpPr>
        <p:spPr>
          <a:xfrm rot="10800000">
            <a:off x="0" y="685800"/>
            <a:ext cx="609600" cy="5486399"/>
          </a:xfrm>
        </p:spPr>
        <p:txBody>
          <a:bodyPr/>
          <a:lstStyle/>
          <a:p>
            <a:r>
              <a:rPr lang="es-419" sz="1200" dirty="0"/>
              <a:t>Ejecutar la inscripción de cursos por </a:t>
            </a:r>
            <a:r>
              <a:rPr lang="es-419" dirty="0"/>
              <a:t>lista de Espera</a:t>
            </a:r>
            <a:endParaRPr lang="es-419" sz="1200" dirty="0"/>
          </a:p>
        </p:txBody>
      </p:sp>
    </p:spTree>
    <p:extLst>
      <p:ext uri="{BB962C8B-B14F-4D97-AF65-F5344CB8AC3E}">
        <p14:creationId xmlns:p14="http://schemas.microsoft.com/office/powerpoint/2010/main" val="1448098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5A6BF-A195-B50F-C3BB-73FFCB6357F8}"/>
            </a:ext>
          </a:extLst>
        </p:cNvPr>
        <p:cNvGrpSpPr/>
        <p:nvPr/>
      </p:nvGrpSpPr>
      <p:grpSpPr>
        <a:xfrm>
          <a:off x="0" y="0"/>
          <a:ext cx="0" cy="0"/>
          <a:chOff x="0" y="0"/>
          <a:chExt cx="0" cy="0"/>
        </a:xfrm>
      </p:grpSpPr>
      <p:sp>
        <p:nvSpPr>
          <p:cNvPr id="7" name="Título 3">
            <a:extLst>
              <a:ext uri="{FF2B5EF4-FFF2-40B4-BE49-F238E27FC236}">
                <a16:creationId xmlns:a16="http://schemas.microsoft.com/office/drawing/2014/main" id="{66B5A0C4-0379-D054-42EB-7E956BE2ED30}"/>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Procedimiento </a:t>
            </a:r>
            <a:r>
              <a:rPr lang="es-419" dirty="0">
                <a:solidFill>
                  <a:schemeClr val="tx2"/>
                </a:solidFill>
              </a:rPr>
              <a:t>Ejecutar la inscripción de cursos por lista de espera</a:t>
            </a:r>
          </a:p>
        </p:txBody>
      </p:sp>
      <p:sp>
        <p:nvSpPr>
          <p:cNvPr id="4" name="Marcador de texto 1">
            <a:extLst>
              <a:ext uri="{FF2B5EF4-FFF2-40B4-BE49-F238E27FC236}">
                <a16:creationId xmlns:a16="http://schemas.microsoft.com/office/drawing/2014/main" id="{07B16285-E536-FD06-1C3C-4C5E637169C0}"/>
              </a:ext>
            </a:extLst>
          </p:cNvPr>
          <p:cNvSpPr txBox="1">
            <a:spLocks/>
          </p:cNvSpPr>
          <p:nvPr/>
        </p:nvSpPr>
        <p:spPr>
          <a:xfrm>
            <a:off x="920645" y="1484621"/>
            <a:ext cx="10350709" cy="5486398"/>
          </a:xfrm>
          <a:prstGeom prst="rect">
            <a:avLst/>
          </a:prstGeom>
        </p:spPr>
        <p:txBody>
          <a:bodyPr vert="horz" lIns="91440" tIns="45720" rIns="91440" bIns="45720" rtlCol="0" anchor="ctr">
            <a:noAutofit/>
          </a:bodyPr>
          <a:lstStyle>
            <a:lvl1pPr marL="174625" indent="-174625" algn="l" defTabSz="914400" rtl="0" eaLnBrk="1" latinLnBrk="0" hangingPunct="1">
              <a:lnSpc>
                <a:spcPct val="100000"/>
              </a:lnSpc>
              <a:spcBef>
                <a:spcPts val="1000"/>
              </a:spcBef>
              <a:buClr>
                <a:schemeClr val="accent2"/>
              </a:buClr>
              <a:buFont typeface="Arial" panose="020B0604020202020204" pitchFamily="34" charset="0"/>
              <a:buChar char="•"/>
              <a:tabLst/>
              <a:defRPr sz="1600" kern="1200">
                <a:solidFill>
                  <a:schemeClr val="tx1"/>
                </a:solidFill>
                <a:latin typeface="+mn-lt"/>
                <a:ea typeface="+mn-ea"/>
                <a:cs typeface="+mn-cs"/>
              </a:defRPr>
            </a:lvl1pPr>
            <a:lvl2pPr marL="342900" indent="-168275"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2pPr>
            <a:lvl3pPr marL="519113" indent="-176213"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3pPr>
            <a:lvl4pPr marL="685800" indent="-166688"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4pPr>
            <a:lvl5pPr marL="862013" indent="-176213"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buFont typeface="Wingdings" panose="05000000000000000000" pitchFamily="2" charset="2"/>
              <a:buChar char="v"/>
            </a:pPr>
            <a:r>
              <a:rPr lang="es-CO" sz="2400" dirty="0"/>
              <a:t>La inscripción de cursos se puede realizar en </a:t>
            </a:r>
            <a:r>
              <a:rPr lang="es-CO" sz="2400" dirty="0" err="1"/>
              <a:t>backoffice</a:t>
            </a:r>
            <a:r>
              <a:rPr lang="es-CO" sz="2400" dirty="0"/>
              <a:t> o en autoservicio.</a:t>
            </a:r>
          </a:p>
          <a:p>
            <a:pPr>
              <a:buClr>
                <a:schemeClr val="tx1"/>
              </a:buClr>
              <a:buFont typeface="Wingdings" panose="05000000000000000000" pitchFamily="2" charset="2"/>
              <a:buChar char="v"/>
            </a:pPr>
            <a:r>
              <a:rPr lang="es-CO" sz="2400" dirty="0"/>
              <a:t>En este instructivo se mencionará la inscripción por Lista de Espera, asumiendo que será un proceso por Autoservicio (aunque aplica perfectamente para ser realizado en </a:t>
            </a:r>
            <a:r>
              <a:rPr lang="es-CO" sz="2400" dirty="0" err="1"/>
              <a:t>Backoffice</a:t>
            </a:r>
            <a:r>
              <a:rPr lang="es-CO" sz="2400" dirty="0"/>
              <a:t>).</a:t>
            </a:r>
          </a:p>
          <a:p>
            <a:pPr>
              <a:buClr>
                <a:schemeClr val="tx1"/>
              </a:buClr>
              <a:buFont typeface="Wingdings" panose="05000000000000000000" pitchFamily="2" charset="2"/>
              <a:buChar char="v"/>
            </a:pPr>
            <a:r>
              <a:rPr lang="es-CO" sz="2400" dirty="0"/>
              <a:t>Las secciones pueden ser definidas con un cupo de inscripción, y un cupo de lista de espera.</a:t>
            </a:r>
          </a:p>
          <a:p>
            <a:pPr>
              <a:buClr>
                <a:schemeClr val="tx1"/>
              </a:buClr>
              <a:buFont typeface="Wingdings" panose="05000000000000000000" pitchFamily="2" charset="2"/>
              <a:buChar char="v"/>
            </a:pPr>
            <a:r>
              <a:rPr lang="es-CO" sz="2400" dirty="0"/>
              <a:t>Los estudiantes que no logran inscribir una sección usando el cupo oficial, pueden optar al cupo de lista de espera. De esta manera, si se libera un cupo oficial, le llega una notificación al primer estudiante que está en la lista de espera, y tiene un tiempo específico para inscribirlo oficialmente si así lo desea.</a:t>
            </a:r>
          </a:p>
          <a:p>
            <a:pPr marL="0" indent="0">
              <a:buClr>
                <a:schemeClr val="tx1"/>
              </a:buClr>
              <a:buNone/>
            </a:pPr>
            <a:endParaRPr lang="es-CO" sz="2400" dirty="0"/>
          </a:p>
        </p:txBody>
      </p:sp>
      <p:sp>
        <p:nvSpPr>
          <p:cNvPr id="6" name="Marcador de texto vertical 1">
            <a:extLst>
              <a:ext uri="{FF2B5EF4-FFF2-40B4-BE49-F238E27FC236}">
                <a16:creationId xmlns:a16="http://schemas.microsoft.com/office/drawing/2014/main" id="{89EB3C99-8F95-CBAF-1600-ADA9BA3C1D7B}"/>
              </a:ext>
            </a:extLst>
          </p:cNvPr>
          <p:cNvSpPr>
            <a:spLocks noGrp="1"/>
          </p:cNvSpPr>
          <p:nvPr>
            <p:ph type="body" orient="vert" sz="quarter" idx="17"/>
          </p:nvPr>
        </p:nvSpPr>
        <p:spPr>
          <a:xfrm rot="10800000">
            <a:off x="0" y="685800"/>
            <a:ext cx="609600" cy="5486399"/>
          </a:xfrm>
        </p:spPr>
        <p:txBody>
          <a:bodyPr/>
          <a:lstStyle/>
          <a:p>
            <a:r>
              <a:rPr lang="es-419" sz="1200" dirty="0"/>
              <a:t>Ejecutar la inscripción de cursos por </a:t>
            </a:r>
            <a:r>
              <a:rPr lang="es-419" dirty="0"/>
              <a:t>lista de Espera</a:t>
            </a:r>
            <a:endParaRPr lang="es-419" sz="1200" dirty="0"/>
          </a:p>
        </p:txBody>
      </p:sp>
    </p:spTree>
    <p:extLst>
      <p:ext uri="{BB962C8B-B14F-4D97-AF65-F5344CB8AC3E}">
        <p14:creationId xmlns:p14="http://schemas.microsoft.com/office/powerpoint/2010/main" val="4032646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3">
            <a:extLst>
              <a:ext uri="{FF2B5EF4-FFF2-40B4-BE49-F238E27FC236}">
                <a16:creationId xmlns:a16="http://schemas.microsoft.com/office/drawing/2014/main" id="{127BAADE-60FB-B320-6798-5DAE09DF4D1A}"/>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Procedimiento </a:t>
            </a:r>
            <a:r>
              <a:rPr lang="es-419" dirty="0">
                <a:solidFill>
                  <a:schemeClr val="tx2"/>
                </a:solidFill>
              </a:rPr>
              <a:t>Ejecutar la inscripción de cursos por autoservicio por bloques</a:t>
            </a:r>
          </a:p>
        </p:txBody>
      </p:sp>
      <p:pic>
        <p:nvPicPr>
          <p:cNvPr id="4" name="Imagen 3" descr="Diagrama, Esquemático&#10;&#10;Descripción generada automáticamente">
            <a:extLst>
              <a:ext uri="{FF2B5EF4-FFF2-40B4-BE49-F238E27FC236}">
                <a16:creationId xmlns:a16="http://schemas.microsoft.com/office/drawing/2014/main" id="{570EB20B-8300-E9EE-DE2B-69BEDB9D1DF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340" t="4361" r="4043" b="4211"/>
          <a:stretch/>
        </p:blipFill>
        <p:spPr bwMode="auto">
          <a:xfrm>
            <a:off x="1921164" y="1523204"/>
            <a:ext cx="8143517" cy="4778340"/>
          </a:xfrm>
          <a:prstGeom prst="rect">
            <a:avLst/>
          </a:prstGeom>
          <a:noFill/>
          <a:ln>
            <a:noFill/>
          </a:ln>
          <a:extLst>
            <a:ext uri="{53640926-AAD7-44D8-BBD7-CCE9431645EC}">
              <a14:shadowObscured xmlns:a14="http://schemas.microsoft.com/office/drawing/2010/main"/>
            </a:ext>
          </a:extLst>
        </p:spPr>
      </p:pic>
      <p:sp>
        <p:nvSpPr>
          <p:cNvPr id="8" name="Marcador de texto vertical 1">
            <a:extLst>
              <a:ext uri="{FF2B5EF4-FFF2-40B4-BE49-F238E27FC236}">
                <a16:creationId xmlns:a16="http://schemas.microsoft.com/office/drawing/2014/main" id="{9CD65074-8DE4-7F31-C742-E21F89F1F1D0}"/>
              </a:ext>
            </a:extLst>
          </p:cNvPr>
          <p:cNvSpPr>
            <a:spLocks noGrp="1"/>
          </p:cNvSpPr>
          <p:nvPr>
            <p:ph type="body" orient="vert" sz="quarter" idx="17"/>
          </p:nvPr>
        </p:nvSpPr>
        <p:spPr>
          <a:xfrm rot="10800000">
            <a:off x="0" y="685800"/>
            <a:ext cx="609600" cy="5486399"/>
          </a:xfrm>
        </p:spPr>
        <p:txBody>
          <a:bodyPr/>
          <a:lstStyle/>
          <a:p>
            <a:r>
              <a:rPr lang="es-419" sz="1200" dirty="0"/>
              <a:t>Ejecutar la inscripción de cursos por </a:t>
            </a:r>
            <a:r>
              <a:rPr lang="es-419" dirty="0"/>
              <a:t>lista de Espera</a:t>
            </a:r>
            <a:endParaRPr lang="es-419" sz="1200" dirty="0"/>
          </a:p>
        </p:txBody>
      </p:sp>
    </p:spTree>
    <p:extLst>
      <p:ext uri="{BB962C8B-B14F-4D97-AF65-F5344CB8AC3E}">
        <p14:creationId xmlns:p14="http://schemas.microsoft.com/office/powerpoint/2010/main" val="675546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
        <p:nvSpPr>
          <p:cNvPr id="4" name="Marcador de texto vertical 1">
            <a:extLst>
              <a:ext uri="{FF2B5EF4-FFF2-40B4-BE49-F238E27FC236}">
                <a16:creationId xmlns:a16="http://schemas.microsoft.com/office/drawing/2014/main" id="{ADB6F59A-AEB2-2021-B4AA-D99470C6EB05}"/>
              </a:ext>
            </a:extLst>
          </p:cNvPr>
          <p:cNvSpPr>
            <a:spLocks noGrp="1"/>
          </p:cNvSpPr>
          <p:nvPr>
            <p:ph type="body" sz="quarter" idx="10"/>
          </p:nvPr>
        </p:nvSpPr>
        <p:spPr>
          <a:xfrm>
            <a:off x="0" y="685800"/>
            <a:ext cx="609600" cy="5486400"/>
          </a:xfrm>
        </p:spPr>
        <p:txBody>
          <a:bodyPr/>
          <a:lstStyle/>
          <a:p>
            <a:r>
              <a:rPr lang="es-419" sz="1200" dirty="0"/>
              <a:t>Ejecutar la inscripción de cursos por </a:t>
            </a:r>
            <a:r>
              <a:rPr lang="es-419" dirty="0"/>
              <a:t>lista de Espera</a:t>
            </a:r>
            <a:endParaRPr lang="es-419" sz="1200" dirty="0"/>
          </a:p>
        </p:txBody>
      </p:sp>
    </p:spTree>
    <p:extLst>
      <p:ext uri="{BB962C8B-B14F-4D97-AF65-F5344CB8AC3E}">
        <p14:creationId xmlns:p14="http://schemas.microsoft.com/office/powerpoint/2010/main" val="690636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143C752-CE26-5494-1CDC-DCEB0AE63DDC}"/>
              </a:ext>
            </a:extLst>
          </p:cNvPr>
          <p:cNvSpPr>
            <a:spLocks noGrp="1"/>
          </p:cNvSpPr>
          <p:nvPr>
            <p:ph type="body" sz="quarter" idx="10"/>
          </p:nvPr>
        </p:nvSpPr>
        <p:spPr>
          <a:xfrm>
            <a:off x="914399" y="2238843"/>
            <a:ext cx="10363202" cy="669094"/>
          </a:xfrm>
        </p:spPr>
        <p:txBody>
          <a:bodyPr/>
          <a:lstStyle/>
          <a:p>
            <a:r>
              <a:rPr lang="es-ES_tradnl" dirty="0"/>
              <a:t>Control de periodo</a:t>
            </a:r>
            <a:endParaRPr lang="es-419" dirty="0"/>
          </a:p>
        </p:txBody>
      </p:sp>
      <p:sp>
        <p:nvSpPr>
          <p:cNvPr id="2" name="Marcador de texto vertical 1">
            <a:extLst>
              <a:ext uri="{FF2B5EF4-FFF2-40B4-BE49-F238E27FC236}">
                <a16:creationId xmlns:a16="http://schemas.microsoft.com/office/drawing/2014/main" id="{0320B4EA-306B-0CB1-7AEB-BCE5B580A23E}"/>
              </a:ext>
            </a:extLst>
          </p:cNvPr>
          <p:cNvSpPr>
            <a:spLocks noGrp="1"/>
          </p:cNvSpPr>
          <p:nvPr>
            <p:ph type="body" sz="quarter" idx="11"/>
          </p:nvPr>
        </p:nvSpPr>
        <p:spPr/>
        <p:txBody>
          <a:bodyPr vert="horz" lIns="0" tIns="0" rIns="0" bIns="0" rtlCol="0">
            <a:spAutoFit/>
          </a:bodyPr>
          <a:lstStyle/>
          <a:p>
            <a:r>
              <a:rPr lang="es-419" dirty="0"/>
              <a:t>Ejecutar la inscripción de cursos por Autoservicio por Lista de Espera</a:t>
            </a:r>
          </a:p>
        </p:txBody>
      </p:sp>
    </p:spTree>
    <p:extLst>
      <p:ext uri="{BB962C8B-B14F-4D97-AF65-F5344CB8AC3E}">
        <p14:creationId xmlns:p14="http://schemas.microsoft.com/office/powerpoint/2010/main" val="2544056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88E27-D1EF-76A9-43F2-F81781626A5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B74A7EF6-9FC1-9B60-DE5F-89B35E16B832}"/>
              </a:ext>
            </a:extLst>
          </p:cNvPr>
          <p:cNvPicPr>
            <a:picLocks noChangeAspect="1"/>
          </p:cNvPicPr>
          <p:nvPr/>
        </p:nvPicPr>
        <p:blipFill>
          <a:blip r:embed="rId3"/>
          <a:stretch>
            <a:fillRect/>
          </a:stretch>
        </p:blipFill>
        <p:spPr>
          <a:xfrm>
            <a:off x="973116" y="1136950"/>
            <a:ext cx="11109368" cy="4932327"/>
          </a:xfrm>
          <a:prstGeom prst="rect">
            <a:avLst/>
          </a:prstGeom>
        </p:spPr>
      </p:pic>
      <p:sp>
        <p:nvSpPr>
          <p:cNvPr id="13" name="Title 12">
            <a:extLst>
              <a:ext uri="{FF2B5EF4-FFF2-40B4-BE49-F238E27FC236}">
                <a16:creationId xmlns:a16="http://schemas.microsoft.com/office/drawing/2014/main" id="{35B8105D-8D46-2D08-C9AE-F099A1C09B58}"/>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sp>
        <p:nvSpPr>
          <p:cNvPr id="8" name="Rectángulo: esquinas redondeadas 7">
            <a:extLst>
              <a:ext uri="{FF2B5EF4-FFF2-40B4-BE49-F238E27FC236}">
                <a16:creationId xmlns:a16="http://schemas.microsoft.com/office/drawing/2014/main" id="{31EBFF20-A2A8-5E02-FF02-B269CD933106}"/>
              </a:ext>
            </a:extLst>
          </p:cNvPr>
          <p:cNvSpPr/>
          <p:nvPr/>
        </p:nvSpPr>
        <p:spPr>
          <a:xfrm>
            <a:off x="3313465" y="4929405"/>
            <a:ext cx="7629408" cy="113987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Para activar la inscripción básica para un periodo académico, en SOATERM, siga los siguientes pasos:</a:t>
            </a:r>
          </a:p>
          <a:p>
            <a:endParaRPr lang="es-ES_tradnl" sz="1200" dirty="0"/>
          </a:p>
          <a:p>
            <a:pPr marL="228600" indent="-228600">
              <a:buFont typeface="+mj-lt"/>
              <a:buAutoNum type="arabicPeriod"/>
            </a:pPr>
            <a:r>
              <a:rPr lang="es-ES_tradnl" sz="1200" dirty="0"/>
              <a:t>En la pestaña ‘Inscripción’ , active la casilla “</a:t>
            </a:r>
            <a:r>
              <a:rPr lang="es-ES_tradnl" sz="1200" b="1" dirty="0"/>
              <a:t>Permitir</a:t>
            </a:r>
            <a:r>
              <a:rPr lang="es-ES_tradnl" sz="1200" dirty="0"/>
              <a:t>’</a:t>
            </a:r>
          </a:p>
          <a:p>
            <a:pPr marL="228600" indent="-228600">
              <a:buFont typeface="+mj-lt"/>
              <a:buAutoNum type="arabicPeriod"/>
            </a:pPr>
            <a:r>
              <a:rPr lang="es-ES_tradnl" sz="1200" dirty="0"/>
              <a:t>Active la opción  ‘</a:t>
            </a:r>
            <a:r>
              <a:rPr lang="es-ES_tradnl" sz="1200" b="1" dirty="0"/>
              <a:t>Plan de estudios requerido</a:t>
            </a:r>
            <a:r>
              <a:rPr lang="es-ES_tradnl" sz="1200" dirty="0"/>
              <a:t>’ </a:t>
            </a:r>
          </a:p>
          <a:p>
            <a:pPr marL="228600" indent="-228600">
              <a:buFont typeface="+mj-lt"/>
              <a:buAutoNum type="arabicPeriod"/>
            </a:pPr>
            <a:r>
              <a:rPr lang="es-ES_tradnl" sz="1200" dirty="0"/>
              <a:t>Active el Modelo de Inscripción ‘</a:t>
            </a:r>
            <a:r>
              <a:rPr lang="es-ES_tradnl" sz="1200" b="1" dirty="0"/>
              <a:t>Básico</a:t>
            </a:r>
            <a:r>
              <a:rPr lang="es-ES_tradnl" sz="1200" dirty="0"/>
              <a:t>’.</a:t>
            </a:r>
          </a:p>
        </p:txBody>
      </p:sp>
      <p:sp>
        <p:nvSpPr>
          <p:cNvPr id="9" name="Rectángulo 8">
            <a:extLst>
              <a:ext uri="{FF2B5EF4-FFF2-40B4-BE49-F238E27FC236}">
                <a16:creationId xmlns:a16="http://schemas.microsoft.com/office/drawing/2014/main" id="{B860CBB7-52F1-E328-D134-4A44108B6B8D}"/>
              </a:ext>
            </a:extLst>
          </p:cNvPr>
          <p:cNvSpPr/>
          <p:nvPr/>
        </p:nvSpPr>
        <p:spPr>
          <a:xfrm>
            <a:off x="1629829" y="3985397"/>
            <a:ext cx="581938" cy="2186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16">
            <a:extLst>
              <a:ext uri="{FF2B5EF4-FFF2-40B4-BE49-F238E27FC236}">
                <a16:creationId xmlns:a16="http://schemas.microsoft.com/office/drawing/2014/main" id="{4B9D6BBC-6F5A-A2E0-F8A2-87373DB3C85E}"/>
              </a:ext>
            </a:extLst>
          </p:cNvPr>
          <p:cNvSpPr/>
          <p:nvPr/>
        </p:nvSpPr>
        <p:spPr>
          <a:xfrm>
            <a:off x="1678662" y="2539609"/>
            <a:ext cx="581938" cy="2186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17">
            <a:extLst>
              <a:ext uri="{FF2B5EF4-FFF2-40B4-BE49-F238E27FC236}">
                <a16:creationId xmlns:a16="http://schemas.microsoft.com/office/drawing/2014/main" id="{F7189F7D-6BB1-7676-EB52-F820518DA08D}"/>
              </a:ext>
            </a:extLst>
          </p:cNvPr>
          <p:cNvSpPr/>
          <p:nvPr/>
        </p:nvSpPr>
        <p:spPr>
          <a:xfrm>
            <a:off x="5209262" y="2864504"/>
            <a:ext cx="1318538" cy="21869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9" name="Rectángulo redondeado 15">
            <a:extLst>
              <a:ext uri="{FF2B5EF4-FFF2-40B4-BE49-F238E27FC236}">
                <a16:creationId xmlns:a16="http://schemas.microsoft.com/office/drawing/2014/main" id="{1F0D4610-DC62-0DDD-C7F5-5D0D6F82BC86}"/>
              </a:ext>
            </a:extLst>
          </p:cNvPr>
          <p:cNvSpPr/>
          <p:nvPr/>
        </p:nvSpPr>
        <p:spPr>
          <a:xfrm>
            <a:off x="2297371" y="245920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20" name="Rectángulo redondeado 15">
            <a:extLst>
              <a:ext uri="{FF2B5EF4-FFF2-40B4-BE49-F238E27FC236}">
                <a16:creationId xmlns:a16="http://schemas.microsoft.com/office/drawing/2014/main" id="{EE3FAC36-53F4-5A7C-0B23-08EE10D19E12}"/>
              </a:ext>
            </a:extLst>
          </p:cNvPr>
          <p:cNvSpPr/>
          <p:nvPr/>
        </p:nvSpPr>
        <p:spPr>
          <a:xfrm>
            <a:off x="4914221" y="2771005"/>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21" name="Rectángulo redondeado 15">
            <a:extLst>
              <a:ext uri="{FF2B5EF4-FFF2-40B4-BE49-F238E27FC236}">
                <a16:creationId xmlns:a16="http://schemas.microsoft.com/office/drawing/2014/main" id="{15109762-B616-B0A8-DA61-C565FA5A0CBD}"/>
              </a:ext>
            </a:extLst>
          </p:cNvPr>
          <p:cNvSpPr/>
          <p:nvPr/>
        </p:nvSpPr>
        <p:spPr>
          <a:xfrm>
            <a:off x="1384091" y="401433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6" name="Marcador de texto vertical 1">
            <a:extLst>
              <a:ext uri="{FF2B5EF4-FFF2-40B4-BE49-F238E27FC236}">
                <a16:creationId xmlns:a16="http://schemas.microsoft.com/office/drawing/2014/main" id="{D23EB861-5CF5-B8E8-B831-850473CE31A3}"/>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1374958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25E2C-ED70-DE67-653D-AF2EC15F59BE}"/>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A23F2DB-FDB1-3BE8-8DB2-EEB3505C96FF}"/>
              </a:ext>
            </a:extLst>
          </p:cNvPr>
          <p:cNvPicPr>
            <a:picLocks noChangeAspect="1"/>
          </p:cNvPicPr>
          <p:nvPr/>
        </p:nvPicPr>
        <p:blipFill>
          <a:blip r:embed="rId3"/>
          <a:stretch>
            <a:fillRect/>
          </a:stretch>
        </p:blipFill>
        <p:spPr>
          <a:xfrm>
            <a:off x="775507" y="841030"/>
            <a:ext cx="11109368" cy="4932327"/>
          </a:xfrm>
          <a:prstGeom prst="rect">
            <a:avLst/>
          </a:prstGeom>
        </p:spPr>
      </p:pic>
      <p:sp>
        <p:nvSpPr>
          <p:cNvPr id="13" name="Title 12">
            <a:extLst>
              <a:ext uri="{FF2B5EF4-FFF2-40B4-BE49-F238E27FC236}">
                <a16:creationId xmlns:a16="http://schemas.microsoft.com/office/drawing/2014/main" id="{8E8201E4-600C-7DD9-196E-E42A188CAD50}"/>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sp>
        <p:nvSpPr>
          <p:cNvPr id="9" name="Rectángulo 8">
            <a:extLst>
              <a:ext uri="{FF2B5EF4-FFF2-40B4-BE49-F238E27FC236}">
                <a16:creationId xmlns:a16="http://schemas.microsoft.com/office/drawing/2014/main" id="{D64A178A-648E-9B83-9800-9DA0CDA16105}"/>
              </a:ext>
            </a:extLst>
          </p:cNvPr>
          <p:cNvSpPr/>
          <p:nvPr/>
        </p:nvSpPr>
        <p:spPr>
          <a:xfrm>
            <a:off x="2363040" y="4882712"/>
            <a:ext cx="1648738" cy="29593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8FACBB8E-654D-D600-B627-B221B8F26CF9}"/>
              </a:ext>
            </a:extLst>
          </p:cNvPr>
          <p:cNvSpPr/>
          <p:nvPr/>
        </p:nvSpPr>
        <p:spPr>
          <a:xfrm>
            <a:off x="4011778" y="4950274"/>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1" name="Marcador de texto vertical 1">
            <a:extLst>
              <a:ext uri="{FF2B5EF4-FFF2-40B4-BE49-F238E27FC236}">
                <a16:creationId xmlns:a16="http://schemas.microsoft.com/office/drawing/2014/main" id="{084E9B21-7C5E-544A-DFDB-139975EB344E}"/>
              </a:ext>
            </a:extLst>
          </p:cNvPr>
          <p:cNvSpPr>
            <a:spLocks noGrp="1"/>
          </p:cNvSpPr>
          <p:nvPr>
            <p:ph type="body" sz="quarter" idx="17"/>
          </p:nvPr>
        </p:nvSpPr>
        <p:spPr>
          <a:xfrm rot="10800000">
            <a:off x="0" y="685800"/>
            <a:ext cx="609600" cy="5486400"/>
          </a:xfrm>
        </p:spPr>
        <p:txBody>
          <a:bodyPr/>
          <a:lstStyle/>
          <a:p>
            <a:r>
              <a:rPr lang="es-419" sz="1200" dirty="0"/>
              <a:t>Configuración</a:t>
            </a:r>
          </a:p>
        </p:txBody>
      </p:sp>
      <p:sp>
        <p:nvSpPr>
          <p:cNvPr id="3" name="Rectángulo: esquinas redondeadas 2">
            <a:extLst>
              <a:ext uri="{FF2B5EF4-FFF2-40B4-BE49-F238E27FC236}">
                <a16:creationId xmlns:a16="http://schemas.microsoft.com/office/drawing/2014/main" id="{D6FF6E43-816A-15E1-D3AD-A8F3F43EFD70}"/>
              </a:ext>
            </a:extLst>
          </p:cNvPr>
          <p:cNvSpPr/>
          <p:nvPr/>
        </p:nvSpPr>
        <p:spPr>
          <a:xfrm>
            <a:off x="2363040" y="3600357"/>
            <a:ext cx="7629408" cy="113987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endParaRPr lang="es-ES_tradnl" sz="1200" dirty="0"/>
          </a:p>
          <a:p>
            <a:pPr marL="228600" indent="-228600">
              <a:buFont typeface="+mj-lt"/>
              <a:buAutoNum type="arabicPeriod" startAt="4"/>
            </a:pPr>
            <a:r>
              <a:rPr lang="es-ES_tradnl" sz="1200" dirty="0"/>
              <a:t>Desplácese hacia abajo en la página hasta la sección Atributos de Control y active el campo ‘Control de período en web maestro’. Permite visualizar el periodo en el autoservicio.</a:t>
            </a:r>
          </a:p>
          <a:p>
            <a:endParaRPr lang="es-ES_tradnl" sz="1200" dirty="0"/>
          </a:p>
          <a:p>
            <a:r>
              <a:rPr lang="es-ES_tradnl" sz="1200" dirty="0"/>
              <a:t>Al finalizar el periodo Inscripción se debe desactivar esté </a:t>
            </a:r>
            <a:r>
              <a:rPr lang="es-ES_tradnl" sz="1200" dirty="0" err="1"/>
              <a:t>flag</a:t>
            </a:r>
            <a:r>
              <a:rPr lang="es-ES_tradnl" sz="1200" dirty="0"/>
              <a:t>.</a:t>
            </a:r>
          </a:p>
        </p:txBody>
      </p:sp>
    </p:spTree>
    <p:extLst>
      <p:ext uri="{BB962C8B-B14F-4D97-AF65-F5344CB8AC3E}">
        <p14:creationId xmlns:p14="http://schemas.microsoft.com/office/powerpoint/2010/main" val="157108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28A75-B353-F3AC-0889-50B2C9DBFCA3}"/>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AB4AB30-CCB5-8669-904C-6C21EE63D687}"/>
              </a:ext>
            </a:extLst>
          </p:cNvPr>
          <p:cNvPicPr>
            <a:picLocks noChangeAspect="1"/>
          </p:cNvPicPr>
          <p:nvPr/>
        </p:nvPicPr>
        <p:blipFill>
          <a:blip r:embed="rId3"/>
          <a:stretch>
            <a:fillRect/>
          </a:stretch>
        </p:blipFill>
        <p:spPr>
          <a:xfrm>
            <a:off x="774298" y="1100496"/>
            <a:ext cx="11034130" cy="4998664"/>
          </a:xfrm>
          <a:prstGeom prst="rect">
            <a:avLst/>
          </a:prstGeom>
        </p:spPr>
      </p:pic>
      <p:sp>
        <p:nvSpPr>
          <p:cNvPr id="13" name="Title 12">
            <a:extLst>
              <a:ext uri="{FF2B5EF4-FFF2-40B4-BE49-F238E27FC236}">
                <a16:creationId xmlns:a16="http://schemas.microsoft.com/office/drawing/2014/main" id="{D3E2CF92-01EB-27F4-E2F0-1411752A91E9}"/>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sp>
        <p:nvSpPr>
          <p:cNvPr id="8" name="Rectángulo: esquinas redondeadas 7">
            <a:extLst>
              <a:ext uri="{FF2B5EF4-FFF2-40B4-BE49-F238E27FC236}">
                <a16:creationId xmlns:a16="http://schemas.microsoft.com/office/drawing/2014/main" id="{E2F5D371-D3D7-F543-31DB-742F83FFEC59}"/>
              </a:ext>
            </a:extLst>
          </p:cNvPr>
          <p:cNvSpPr/>
          <p:nvPr/>
        </p:nvSpPr>
        <p:spPr>
          <a:xfrm>
            <a:off x="2363040" y="5502431"/>
            <a:ext cx="7629408" cy="93880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5"/>
            </a:pPr>
            <a:r>
              <a:rPr lang="es-ES_tradnl" sz="1200" dirty="0"/>
              <a:t>En la pestaña ‘Verificación de errores de inscripción’ , se deben configurar las distintas acciones que ha de realizar Ellucian Student si en el proceso de inscripción encuentra algún error asociado. Se sugiere colocar en fatal aquellos elementos que, según el modelo de la Universidad, se controlen desde la programación académica o desde el catálogo.</a:t>
            </a:r>
          </a:p>
        </p:txBody>
      </p:sp>
      <p:sp>
        <p:nvSpPr>
          <p:cNvPr id="17" name="Rectángulo 16">
            <a:extLst>
              <a:ext uri="{FF2B5EF4-FFF2-40B4-BE49-F238E27FC236}">
                <a16:creationId xmlns:a16="http://schemas.microsoft.com/office/drawing/2014/main" id="{F0AE4108-D870-75D2-2AF8-85194FBE3CF2}"/>
              </a:ext>
            </a:extLst>
          </p:cNvPr>
          <p:cNvSpPr/>
          <p:nvPr/>
        </p:nvSpPr>
        <p:spPr>
          <a:xfrm>
            <a:off x="775507" y="1638300"/>
            <a:ext cx="10812836" cy="34290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92AB4288-6358-5898-E289-E6AAF23F2E6D}"/>
              </a:ext>
            </a:extLst>
          </p:cNvPr>
          <p:cNvSpPr/>
          <p:nvPr/>
        </p:nvSpPr>
        <p:spPr>
          <a:xfrm>
            <a:off x="645163" y="1439386"/>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11" name="Marcador de texto vertical 1">
            <a:extLst>
              <a:ext uri="{FF2B5EF4-FFF2-40B4-BE49-F238E27FC236}">
                <a16:creationId xmlns:a16="http://schemas.microsoft.com/office/drawing/2014/main" id="{A9E83541-F8CC-893D-19F1-86F0F2E7FEEE}"/>
              </a:ext>
            </a:extLst>
          </p:cNvPr>
          <p:cNvSpPr txBox="1">
            <a:spLocks/>
          </p:cNvSpPr>
          <p:nvPr/>
        </p:nvSpPr>
        <p:spPr>
          <a:xfrm rot="10800000">
            <a:off x="74958" y="785099"/>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Configuración</a:t>
            </a:r>
          </a:p>
        </p:txBody>
      </p:sp>
    </p:spTree>
    <p:extLst>
      <p:ext uri="{BB962C8B-B14F-4D97-AF65-F5344CB8AC3E}">
        <p14:creationId xmlns:p14="http://schemas.microsoft.com/office/powerpoint/2010/main" val="1992481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CE4E3-7480-9531-2C10-028AB2122397}"/>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686F9F1-D52E-BD5A-36BA-FB1B3CF6CE58}"/>
              </a:ext>
            </a:extLst>
          </p:cNvPr>
          <p:cNvSpPr>
            <a:spLocks noGrp="1"/>
          </p:cNvSpPr>
          <p:nvPr>
            <p:ph type="body" orient="vert" sz="quarter" idx="17"/>
          </p:nvPr>
        </p:nvSpPr>
        <p:spPr/>
        <p:txBody>
          <a:bodyPr/>
          <a:lstStyle/>
          <a:p>
            <a:r>
              <a:rPr lang="es-419" sz="1200" dirty="0"/>
              <a:t>Ejecutar la inscripción de cursos por Autoservicio por Lista de Espera</a:t>
            </a:r>
            <a:endParaRPr lang="es-419" dirty="0"/>
          </a:p>
        </p:txBody>
      </p:sp>
      <p:sp>
        <p:nvSpPr>
          <p:cNvPr id="13" name="Title 12">
            <a:extLst>
              <a:ext uri="{FF2B5EF4-FFF2-40B4-BE49-F238E27FC236}">
                <a16:creationId xmlns:a16="http://schemas.microsoft.com/office/drawing/2014/main" id="{17CB3015-E875-ED62-BE1F-538974F3AF75}"/>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graphicFrame>
        <p:nvGraphicFramePr>
          <p:cNvPr id="3" name="Tabla 2">
            <a:extLst>
              <a:ext uri="{FF2B5EF4-FFF2-40B4-BE49-F238E27FC236}">
                <a16:creationId xmlns:a16="http://schemas.microsoft.com/office/drawing/2014/main" id="{6E290DEE-E326-1D5C-1D8E-6CB652830B7A}"/>
              </a:ext>
            </a:extLst>
          </p:cNvPr>
          <p:cNvGraphicFramePr>
            <a:graphicFrameLocks noGrp="1"/>
          </p:cNvGraphicFramePr>
          <p:nvPr/>
        </p:nvGraphicFramePr>
        <p:xfrm>
          <a:off x="938996" y="753891"/>
          <a:ext cx="10477497" cy="5432072"/>
        </p:xfrm>
        <a:graphic>
          <a:graphicData uri="http://schemas.openxmlformats.org/drawingml/2006/table">
            <a:tbl>
              <a:tblPr firstRow="1" bandRow="1">
                <a:tableStyleId>{5C22544A-7EE6-4342-B048-85BDC9FD1C3A}</a:tableStyleId>
              </a:tblPr>
              <a:tblGrid>
                <a:gridCol w="3492499">
                  <a:extLst>
                    <a:ext uri="{9D8B030D-6E8A-4147-A177-3AD203B41FA5}">
                      <a16:colId xmlns:a16="http://schemas.microsoft.com/office/drawing/2014/main" val="324557172"/>
                    </a:ext>
                  </a:extLst>
                </a:gridCol>
                <a:gridCol w="3492499">
                  <a:extLst>
                    <a:ext uri="{9D8B030D-6E8A-4147-A177-3AD203B41FA5}">
                      <a16:colId xmlns:a16="http://schemas.microsoft.com/office/drawing/2014/main" val="2538440960"/>
                    </a:ext>
                  </a:extLst>
                </a:gridCol>
                <a:gridCol w="3492499">
                  <a:extLst>
                    <a:ext uri="{9D8B030D-6E8A-4147-A177-3AD203B41FA5}">
                      <a16:colId xmlns:a16="http://schemas.microsoft.com/office/drawing/2014/main" val="1321517792"/>
                    </a:ext>
                  </a:extLst>
                </a:gridCol>
              </a:tblGrid>
              <a:tr h="402872">
                <a:tc>
                  <a:txBody>
                    <a:bodyPr/>
                    <a:lstStyle/>
                    <a:p>
                      <a:r>
                        <a:rPr lang="es-419" sz="1400" dirty="0"/>
                        <a:t>Elemento</a:t>
                      </a:r>
                    </a:p>
                  </a:txBody>
                  <a:tcPr/>
                </a:tc>
                <a:tc>
                  <a:txBody>
                    <a:bodyPr/>
                    <a:lstStyle/>
                    <a:p>
                      <a:r>
                        <a:rPr lang="es-419" sz="1400" dirty="0"/>
                        <a:t>Descripción</a:t>
                      </a:r>
                    </a:p>
                  </a:txBody>
                  <a:tcPr/>
                </a:tc>
                <a:tc>
                  <a:txBody>
                    <a:bodyPr/>
                    <a:lstStyle/>
                    <a:p>
                      <a:r>
                        <a:rPr lang="es-419" sz="1400" dirty="0"/>
                        <a:t>Opciones</a:t>
                      </a:r>
                    </a:p>
                  </a:txBody>
                  <a:tcPr/>
                </a:tc>
                <a:extLst>
                  <a:ext uri="{0D108BD9-81ED-4DB2-BD59-A6C34878D82A}">
                    <a16:rowId xmlns:a16="http://schemas.microsoft.com/office/drawing/2014/main" val="3693566353"/>
                  </a:ext>
                </a:extLst>
              </a:tr>
              <a:tr h="402872">
                <a:tc>
                  <a:txBody>
                    <a:bodyPr/>
                    <a:lstStyle/>
                    <a:p>
                      <a:r>
                        <a:rPr lang="es-419" sz="1400" dirty="0"/>
                        <a:t>Duplicados</a:t>
                      </a:r>
                    </a:p>
                  </a:txBody>
                  <a:tcPr/>
                </a:tc>
                <a:tc>
                  <a:txBody>
                    <a:bodyPr/>
                    <a:lstStyle/>
                    <a:p>
                      <a:r>
                        <a:rPr lang="es-419" sz="1400" dirty="0"/>
                        <a:t>En la inscripción se valida si el estudiante inscribe dos o más veces el mismo curso</a:t>
                      </a:r>
                    </a:p>
                  </a:txBody>
                  <a:tcPr/>
                </a:tc>
                <a:tc>
                  <a:txBody>
                    <a:bodyPr/>
                    <a:lstStyle/>
                    <a:p>
                      <a:r>
                        <a:rPr lang="es-419" sz="1400" b="0" i="0" kern="1200" dirty="0">
                          <a:solidFill>
                            <a:schemeClr val="dk1"/>
                          </a:solidFill>
                          <a:effectLst/>
                          <a:latin typeface="+mn-lt"/>
                          <a:ea typeface="+mn-ea"/>
                          <a:cs typeface="+mn-cs"/>
                        </a:rPr>
                        <a:t> Fatal o No Verificar.</a:t>
                      </a:r>
                      <a:endParaRPr lang="es-419" sz="1400" b="0" dirty="0"/>
                    </a:p>
                  </a:txBody>
                  <a:tcPr/>
                </a:tc>
                <a:extLst>
                  <a:ext uri="{0D108BD9-81ED-4DB2-BD59-A6C34878D82A}">
                    <a16:rowId xmlns:a16="http://schemas.microsoft.com/office/drawing/2014/main" val="2372821979"/>
                  </a:ext>
                </a:extLst>
              </a:tr>
              <a:tr h="402872">
                <a:tc>
                  <a:txBody>
                    <a:bodyPr/>
                    <a:lstStyle/>
                    <a:p>
                      <a:r>
                        <a:rPr lang="es-419" sz="1400" dirty="0"/>
                        <a:t>Ligas</a:t>
                      </a:r>
                    </a:p>
                  </a:txBody>
                  <a:tcPr/>
                </a:tc>
                <a:tc>
                  <a:txBody>
                    <a:bodyPr/>
                    <a:lstStyle/>
                    <a:p>
                      <a:r>
                        <a:rPr lang="es-419" sz="1400" dirty="0"/>
                        <a:t>En la inscripción se valida  si los estudiantes tienen la obligatoriedad de inscribir los NRC ligados. </a:t>
                      </a:r>
                    </a:p>
                  </a:txBody>
                  <a:tcPr/>
                </a:tc>
                <a:tc>
                  <a:txBody>
                    <a:bodyPr/>
                    <a:lstStyle/>
                    <a:p>
                      <a:r>
                        <a:rPr lang="es-419" sz="1400" b="0" dirty="0"/>
                        <a:t>Fatal o No Verificar.</a:t>
                      </a:r>
                    </a:p>
                  </a:txBody>
                  <a:tcPr/>
                </a:tc>
                <a:extLst>
                  <a:ext uri="{0D108BD9-81ED-4DB2-BD59-A6C34878D82A}">
                    <a16:rowId xmlns:a16="http://schemas.microsoft.com/office/drawing/2014/main" val="109511402"/>
                  </a:ext>
                </a:extLst>
              </a:tr>
              <a:tr h="402872">
                <a:tc>
                  <a:txBody>
                    <a:bodyPr/>
                    <a:lstStyle/>
                    <a:p>
                      <a:r>
                        <a:rPr lang="es-419" sz="1400" dirty="0"/>
                        <a:t>Correquisitos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si los estudiantes tienen la obligatoriedad de inscribir los cursos o NRC que son correquisitos. </a:t>
                      </a:r>
                    </a:p>
                  </a:txBody>
                  <a:tcPr/>
                </a:tc>
                <a:tc>
                  <a:txBody>
                    <a:bodyPr/>
                    <a:lstStyle/>
                    <a:p>
                      <a:r>
                        <a:rPr lang="es-419" sz="1400" b="0" dirty="0"/>
                        <a:t>Fatal o No Verificar.</a:t>
                      </a:r>
                    </a:p>
                  </a:txBody>
                  <a:tcPr/>
                </a:tc>
                <a:extLst>
                  <a:ext uri="{0D108BD9-81ED-4DB2-BD59-A6C34878D82A}">
                    <a16:rowId xmlns:a16="http://schemas.microsoft.com/office/drawing/2014/main" val="106026169"/>
                  </a:ext>
                </a:extLst>
              </a:tr>
              <a:tr h="402872">
                <a:tc>
                  <a:txBody>
                    <a:bodyPr/>
                    <a:lstStyle/>
                    <a:p>
                      <a:r>
                        <a:rPr lang="es-419" sz="1400" dirty="0"/>
                        <a:t>Prerrequisitos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que el estudiante no inscriba cursos o NRC sin haber cumplido los prerrequisitos que le correspondan.</a:t>
                      </a:r>
                    </a:p>
                  </a:txBody>
                  <a:tcPr/>
                </a:tc>
                <a:tc>
                  <a:txBody>
                    <a:bodyPr/>
                    <a:lstStyle/>
                    <a:p>
                      <a:r>
                        <a:rPr lang="es-419" sz="1400" b="0" i="0" kern="1200" dirty="0">
                          <a:solidFill>
                            <a:schemeClr val="dk1"/>
                          </a:solidFill>
                          <a:effectLst/>
                          <a:latin typeface="+mn-lt"/>
                          <a:ea typeface="+mn-ea"/>
                          <a:cs typeface="+mn-cs"/>
                        </a:rPr>
                        <a:t>Fatal o No Verificar.</a:t>
                      </a:r>
                      <a:endParaRPr lang="es-419" sz="1400" b="0" dirty="0"/>
                    </a:p>
                  </a:txBody>
                  <a:tcPr/>
                </a:tc>
                <a:extLst>
                  <a:ext uri="{0D108BD9-81ED-4DB2-BD59-A6C34878D82A}">
                    <a16:rowId xmlns:a16="http://schemas.microsoft.com/office/drawing/2014/main" val="3754479394"/>
                  </a:ext>
                </a:extLst>
              </a:tr>
              <a:tr h="402872">
                <a:tc>
                  <a:txBody>
                    <a:bodyPr/>
                    <a:lstStyle/>
                    <a:p>
                      <a:r>
                        <a:rPr lang="es-419" sz="1400" dirty="0"/>
                        <a:t>Horas mínimas</a:t>
                      </a:r>
                    </a:p>
                  </a:txBody>
                  <a:tcPr/>
                </a:tc>
                <a:tc>
                  <a:txBody>
                    <a:bodyPr/>
                    <a:lstStyle/>
                    <a:p>
                      <a:r>
                        <a:rPr lang="es-419" sz="1400" dirty="0"/>
                        <a:t>En la inscripción se valida que el estudiante no pueda inscribir menos créditos que los configurados como mínimos en SFAMHRS.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b="0" i="0" kern="1200" dirty="0">
                          <a:solidFill>
                            <a:schemeClr val="dk1"/>
                          </a:solidFill>
                          <a:effectLst/>
                          <a:latin typeface="+mn-lt"/>
                          <a:ea typeface="+mn-ea"/>
                          <a:cs typeface="+mn-cs"/>
                        </a:rPr>
                        <a:t>Fatal o No Verificar.</a:t>
                      </a:r>
                      <a:endParaRPr lang="es-419" sz="1400" b="0" dirty="0"/>
                    </a:p>
                    <a:p>
                      <a:endParaRPr lang="es-419" sz="1400" b="0" dirty="0"/>
                    </a:p>
                  </a:txBody>
                  <a:tcPr/>
                </a:tc>
                <a:extLst>
                  <a:ext uri="{0D108BD9-81ED-4DB2-BD59-A6C34878D82A}">
                    <a16:rowId xmlns:a16="http://schemas.microsoft.com/office/drawing/2014/main" val="3164855438"/>
                  </a:ext>
                </a:extLst>
              </a:tr>
              <a:tr h="402872">
                <a:tc>
                  <a:txBody>
                    <a:bodyPr/>
                    <a:lstStyle/>
                    <a:p>
                      <a:r>
                        <a:rPr lang="es-419" sz="1400" dirty="0"/>
                        <a:t>Horas máximas</a:t>
                      </a:r>
                    </a:p>
                  </a:txBody>
                  <a:tcPr/>
                </a:tc>
                <a:tc>
                  <a:txBody>
                    <a:bodyPr/>
                    <a:lstStyle/>
                    <a:p>
                      <a:r>
                        <a:rPr lang="es-419" sz="1400" dirty="0"/>
                        <a:t>En la inscripción se valida que el estudiante no pueda inscribir más créditos que los configurados como máximos en SFAMHRS.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b="0" i="0" kern="1200" dirty="0">
                          <a:solidFill>
                            <a:schemeClr val="dk1"/>
                          </a:solidFill>
                          <a:effectLst/>
                          <a:latin typeface="+mn-lt"/>
                          <a:ea typeface="+mn-ea"/>
                          <a:cs typeface="+mn-cs"/>
                        </a:rPr>
                        <a:t>Fatal o No Verificar.</a:t>
                      </a:r>
                      <a:endParaRPr lang="es-419" sz="1400" b="0" dirty="0"/>
                    </a:p>
                  </a:txBody>
                  <a:tcPr/>
                </a:tc>
                <a:extLst>
                  <a:ext uri="{0D108BD9-81ED-4DB2-BD59-A6C34878D82A}">
                    <a16:rowId xmlns:a16="http://schemas.microsoft.com/office/drawing/2014/main" val="2910444943"/>
                  </a:ext>
                </a:extLst>
              </a:tr>
            </a:tbl>
          </a:graphicData>
        </a:graphic>
      </p:graphicFrame>
    </p:spTree>
    <p:extLst>
      <p:ext uri="{BB962C8B-B14F-4D97-AF65-F5344CB8AC3E}">
        <p14:creationId xmlns:p14="http://schemas.microsoft.com/office/powerpoint/2010/main" val="1840852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B6DD4-FD1F-B4F7-548A-896A5AD83189}"/>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72DD9CE1-FCE1-05F4-DBA2-8BE63FEB767D}"/>
              </a:ext>
            </a:extLst>
          </p:cNvPr>
          <p:cNvSpPr>
            <a:spLocks noGrp="1"/>
          </p:cNvSpPr>
          <p:nvPr>
            <p:ph type="body" orient="vert" sz="quarter" idx="17"/>
          </p:nvPr>
        </p:nvSpPr>
        <p:spPr/>
        <p:txBody>
          <a:bodyPr/>
          <a:lstStyle/>
          <a:p>
            <a:r>
              <a:rPr lang="es-419" sz="1200" dirty="0"/>
              <a:t>Ejecutar la inscripción de cursos por Autoservicio por Lista de Espera</a:t>
            </a:r>
            <a:endParaRPr lang="es-419" dirty="0"/>
          </a:p>
        </p:txBody>
      </p:sp>
      <p:sp>
        <p:nvSpPr>
          <p:cNvPr id="13" name="Title 12">
            <a:extLst>
              <a:ext uri="{FF2B5EF4-FFF2-40B4-BE49-F238E27FC236}">
                <a16:creationId xmlns:a16="http://schemas.microsoft.com/office/drawing/2014/main" id="{100A6F35-1D06-458A-7C5C-F78A42E0E6CF}"/>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graphicFrame>
        <p:nvGraphicFramePr>
          <p:cNvPr id="3" name="Tabla 2">
            <a:extLst>
              <a:ext uri="{FF2B5EF4-FFF2-40B4-BE49-F238E27FC236}">
                <a16:creationId xmlns:a16="http://schemas.microsoft.com/office/drawing/2014/main" id="{28ED5A99-226C-9D3A-BEC5-843738E740B3}"/>
              </a:ext>
            </a:extLst>
          </p:cNvPr>
          <p:cNvGraphicFramePr>
            <a:graphicFrameLocks noGrp="1"/>
          </p:cNvGraphicFramePr>
          <p:nvPr/>
        </p:nvGraphicFramePr>
        <p:xfrm>
          <a:off x="938996" y="753891"/>
          <a:ext cx="10477497" cy="5218712"/>
        </p:xfrm>
        <a:graphic>
          <a:graphicData uri="http://schemas.openxmlformats.org/drawingml/2006/table">
            <a:tbl>
              <a:tblPr firstRow="1" bandRow="1">
                <a:tableStyleId>{5C22544A-7EE6-4342-B048-85BDC9FD1C3A}</a:tableStyleId>
              </a:tblPr>
              <a:tblGrid>
                <a:gridCol w="3492499">
                  <a:extLst>
                    <a:ext uri="{9D8B030D-6E8A-4147-A177-3AD203B41FA5}">
                      <a16:colId xmlns:a16="http://schemas.microsoft.com/office/drawing/2014/main" val="324557172"/>
                    </a:ext>
                  </a:extLst>
                </a:gridCol>
                <a:gridCol w="3492499">
                  <a:extLst>
                    <a:ext uri="{9D8B030D-6E8A-4147-A177-3AD203B41FA5}">
                      <a16:colId xmlns:a16="http://schemas.microsoft.com/office/drawing/2014/main" val="2538440960"/>
                    </a:ext>
                  </a:extLst>
                </a:gridCol>
                <a:gridCol w="3492499">
                  <a:extLst>
                    <a:ext uri="{9D8B030D-6E8A-4147-A177-3AD203B41FA5}">
                      <a16:colId xmlns:a16="http://schemas.microsoft.com/office/drawing/2014/main" val="1321517792"/>
                    </a:ext>
                  </a:extLst>
                </a:gridCol>
              </a:tblGrid>
              <a:tr h="402872">
                <a:tc>
                  <a:txBody>
                    <a:bodyPr/>
                    <a:lstStyle/>
                    <a:p>
                      <a:r>
                        <a:rPr lang="es-419" sz="1400" dirty="0"/>
                        <a:t>Elemento</a:t>
                      </a:r>
                    </a:p>
                  </a:txBody>
                  <a:tcPr/>
                </a:tc>
                <a:tc>
                  <a:txBody>
                    <a:bodyPr/>
                    <a:lstStyle/>
                    <a:p>
                      <a:r>
                        <a:rPr lang="es-419" sz="1400" dirty="0"/>
                        <a:t>Descripción</a:t>
                      </a:r>
                    </a:p>
                  </a:txBody>
                  <a:tcPr/>
                </a:tc>
                <a:tc>
                  <a:txBody>
                    <a:bodyPr/>
                    <a:lstStyle/>
                    <a:p>
                      <a:r>
                        <a:rPr lang="es-419" sz="1400" dirty="0"/>
                        <a:t>Opciones</a:t>
                      </a:r>
                    </a:p>
                  </a:txBody>
                  <a:tcPr/>
                </a:tc>
                <a:extLst>
                  <a:ext uri="{0D108BD9-81ED-4DB2-BD59-A6C34878D82A}">
                    <a16:rowId xmlns:a16="http://schemas.microsoft.com/office/drawing/2014/main" val="3693566353"/>
                  </a:ext>
                </a:extLst>
              </a:tr>
              <a:tr h="402872">
                <a:tc>
                  <a:txBody>
                    <a:bodyPr/>
                    <a:lstStyle/>
                    <a:p>
                      <a:r>
                        <a:rPr lang="es-419" sz="1400" dirty="0"/>
                        <a:t>Hora</a:t>
                      </a:r>
                    </a:p>
                  </a:txBody>
                  <a:tcPr/>
                </a:tc>
                <a:tc>
                  <a:txBody>
                    <a:bodyPr/>
                    <a:lstStyle/>
                    <a:p>
                      <a:r>
                        <a:rPr lang="es-419" sz="1400" dirty="0"/>
                        <a:t>En la inscripción se valida que el estudiante no inscriba NRC que tengan tope de horario.</a:t>
                      </a:r>
                    </a:p>
                  </a:txBody>
                  <a:tcPr/>
                </a:tc>
                <a:tc>
                  <a:txBody>
                    <a:bodyPr/>
                    <a:lstStyle/>
                    <a:p>
                      <a:r>
                        <a:rPr lang="es-419" sz="1400" b="0" i="0" kern="1200" dirty="0">
                          <a:solidFill>
                            <a:schemeClr val="dk1"/>
                          </a:solidFill>
                          <a:effectLst/>
                          <a:latin typeface="+mn-lt"/>
                          <a:ea typeface="+mn-ea"/>
                          <a:cs typeface="+mn-cs"/>
                        </a:rPr>
                        <a:t> Fatal o No Verificar.</a:t>
                      </a:r>
                      <a:endParaRPr lang="es-419" sz="1400" b="0" dirty="0"/>
                    </a:p>
                  </a:txBody>
                  <a:tcPr/>
                </a:tc>
                <a:extLst>
                  <a:ext uri="{0D108BD9-81ED-4DB2-BD59-A6C34878D82A}">
                    <a16:rowId xmlns:a16="http://schemas.microsoft.com/office/drawing/2014/main" val="2372821979"/>
                  </a:ext>
                </a:extLst>
              </a:tr>
              <a:tr h="402872">
                <a:tc>
                  <a:txBody>
                    <a:bodyPr/>
                    <a:lstStyle/>
                    <a:p>
                      <a:r>
                        <a:rPr lang="es-419" sz="1400" dirty="0"/>
                        <a:t>Exclusión mutua</a:t>
                      </a:r>
                    </a:p>
                  </a:txBody>
                  <a:tcPr/>
                </a:tc>
                <a:tc>
                  <a:txBody>
                    <a:bodyPr/>
                    <a:lstStyle/>
                    <a:p>
                      <a:r>
                        <a:rPr lang="es-419" sz="1400" dirty="0"/>
                        <a:t>En la inscripción se valida  que los estudiantes no inscriban cursos que son mutuamente excluyentes, según lo definido en el catálogo.</a:t>
                      </a:r>
                    </a:p>
                  </a:txBody>
                  <a:tcPr/>
                </a:tc>
                <a:tc>
                  <a:txBody>
                    <a:bodyPr/>
                    <a:lstStyle/>
                    <a:p>
                      <a:r>
                        <a:rPr lang="es-419" sz="1400" b="0" dirty="0"/>
                        <a:t>Fatal o No Verificar.</a:t>
                      </a:r>
                    </a:p>
                  </a:txBody>
                  <a:tcPr/>
                </a:tc>
                <a:extLst>
                  <a:ext uri="{0D108BD9-81ED-4DB2-BD59-A6C34878D82A}">
                    <a16:rowId xmlns:a16="http://schemas.microsoft.com/office/drawing/2014/main" val="109511402"/>
                  </a:ext>
                </a:extLst>
              </a:tr>
              <a:tr h="402872">
                <a:tc>
                  <a:txBody>
                    <a:bodyPr/>
                    <a:lstStyle/>
                    <a:p>
                      <a:r>
                        <a:rPr lang="es-419" sz="1400" dirty="0"/>
                        <a:t>Aprobación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que el estudiante haya sido aprobado para que pueda inscribir un NRC. </a:t>
                      </a:r>
                    </a:p>
                  </a:txBody>
                  <a:tcPr/>
                </a:tc>
                <a:tc>
                  <a:txBody>
                    <a:bodyPr/>
                    <a:lstStyle/>
                    <a:p>
                      <a:r>
                        <a:rPr lang="pt-BR" sz="1400" b="0" dirty="0"/>
                        <a:t>Fatal, Alerta o No verificar.</a:t>
                      </a:r>
                      <a:endParaRPr lang="es-419" sz="1400" b="0" dirty="0"/>
                    </a:p>
                  </a:txBody>
                  <a:tcPr/>
                </a:tc>
                <a:extLst>
                  <a:ext uri="{0D108BD9-81ED-4DB2-BD59-A6C34878D82A}">
                    <a16:rowId xmlns:a16="http://schemas.microsoft.com/office/drawing/2014/main" val="106026169"/>
                  </a:ext>
                </a:extLst>
              </a:tr>
              <a:tr h="402872">
                <a:tc>
                  <a:txBody>
                    <a:bodyPr/>
                    <a:lstStyle/>
                    <a:p>
                      <a:r>
                        <a:rPr lang="es-419" sz="1400" dirty="0"/>
                        <a:t>Capacidad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el cupo máximo del NRC cuando un estudiante lo inscribe.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p>
                      <a:endParaRPr lang="es-419" sz="1400" b="0" dirty="0"/>
                    </a:p>
                  </a:txBody>
                  <a:tcPr/>
                </a:tc>
                <a:extLst>
                  <a:ext uri="{0D108BD9-81ED-4DB2-BD59-A6C34878D82A}">
                    <a16:rowId xmlns:a16="http://schemas.microsoft.com/office/drawing/2014/main" val="3754479394"/>
                  </a:ext>
                </a:extLst>
              </a:tr>
              <a:tr h="402872">
                <a:tc>
                  <a:txBody>
                    <a:bodyPr/>
                    <a:lstStyle/>
                    <a:p>
                      <a:r>
                        <a:rPr lang="es-419" sz="1400" dirty="0"/>
                        <a:t>Campo de estudio</a:t>
                      </a:r>
                    </a:p>
                  </a:txBody>
                  <a:tcPr/>
                </a:tc>
                <a:tc>
                  <a:txBody>
                    <a:bodyPr/>
                    <a:lstStyle/>
                    <a:p>
                      <a:r>
                        <a:rPr lang="es-419" sz="1400" dirty="0"/>
                        <a:t>En la inscripción se valida si el estudiante pertenece al campo de estudios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p>
                      <a:endParaRPr lang="es-419" sz="1400" b="0" dirty="0"/>
                    </a:p>
                  </a:txBody>
                  <a:tcPr/>
                </a:tc>
                <a:extLst>
                  <a:ext uri="{0D108BD9-81ED-4DB2-BD59-A6C34878D82A}">
                    <a16:rowId xmlns:a16="http://schemas.microsoft.com/office/drawing/2014/main" val="3164855438"/>
                  </a:ext>
                </a:extLst>
              </a:tr>
              <a:tr h="402872">
                <a:tc>
                  <a:txBody>
                    <a:bodyPr/>
                    <a:lstStyle/>
                    <a:p>
                      <a:r>
                        <a:rPr lang="es-419" sz="1400" dirty="0"/>
                        <a:t>Departamento</a:t>
                      </a:r>
                    </a:p>
                  </a:txBody>
                  <a:tcPr/>
                </a:tc>
                <a:tc>
                  <a:txBody>
                    <a:bodyPr/>
                    <a:lstStyle/>
                    <a:p>
                      <a:r>
                        <a:rPr lang="es-419" sz="1400" dirty="0"/>
                        <a:t>En la inscripción se valida si el estudiante pertenece al departamento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2910444943"/>
                  </a:ext>
                </a:extLst>
              </a:tr>
            </a:tbl>
          </a:graphicData>
        </a:graphic>
      </p:graphicFrame>
    </p:spTree>
    <p:extLst>
      <p:ext uri="{BB962C8B-B14F-4D97-AF65-F5344CB8AC3E}">
        <p14:creationId xmlns:p14="http://schemas.microsoft.com/office/powerpoint/2010/main" val="4151308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B84D6-8590-6245-0027-5ECD76DF8613}"/>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8D2E101D-E603-9E8F-6161-20717028C0E3}"/>
              </a:ext>
            </a:extLst>
          </p:cNvPr>
          <p:cNvSpPr>
            <a:spLocks noGrp="1"/>
          </p:cNvSpPr>
          <p:nvPr>
            <p:ph type="body" orient="vert" sz="quarter" idx="17"/>
          </p:nvPr>
        </p:nvSpPr>
        <p:spPr/>
        <p:txBody>
          <a:bodyPr/>
          <a:lstStyle/>
          <a:p>
            <a:r>
              <a:rPr lang="es-419" sz="1200" dirty="0"/>
              <a:t>Ejecutar la inscripción de cursos por Autoservicio por Lista de Espera</a:t>
            </a:r>
            <a:endParaRPr lang="es-419" dirty="0"/>
          </a:p>
        </p:txBody>
      </p:sp>
      <p:sp>
        <p:nvSpPr>
          <p:cNvPr id="13" name="Title 12">
            <a:extLst>
              <a:ext uri="{FF2B5EF4-FFF2-40B4-BE49-F238E27FC236}">
                <a16:creationId xmlns:a16="http://schemas.microsoft.com/office/drawing/2014/main" id="{ABEF5BE6-D779-9E31-BD77-BE6BB1C43CBB}"/>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graphicFrame>
        <p:nvGraphicFramePr>
          <p:cNvPr id="3" name="Tabla 2">
            <a:extLst>
              <a:ext uri="{FF2B5EF4-FFF2-40B4-BE49-F238E27FC236}">
                <a16:creationId xmlns:a16="http://schemas.microsoft.com/office/drawing/2014/main" id="{79D70AC9-3768-F5BD-EFC3-D799CC787AA4}"/>
              </a:ext>
            </a:extLst>
          </p:cNvPr>
          <p:cNvGraphicFramePr>
            <a:graphicFrameLocks noGrp="1"/>
          </p:cNvGraphicFramePr>
          <p:nvPr/>
        </p:nvGraphicFramePr>
        <p:xfrm>
          <a:off x="938996" y="753891"/>
          <a:ext cx="10477497" cy="5432072"/>
        </p:xfrm>
        <a:graphic>
          <a:graphicData uri="http://schemas.openxmlformats.org/drawingml/2006/table">
            <a:tbl>
              <a:tblPr firstRow="1" bandRow="1">
                <a:tableStyleId>{5C22544A-7EE6-4342-B048-85BDC9FD1C3A}</a:tableStyleId>
              </a:tblPr>
              <a:tblGrid>
                <a:gridCol w="3492499">
                  <a:extLst>
                    <a:ext uri="{9D8B030D-6E8A-4147-A177-3AD203B41FA5}">
                      <a16:colId xmlns:a16="http://schemas.microsoft.com/office/drawing/2014/main" val="324557172"/>
                    </a:ext>
                  </a:extLst>
                </a:gridCol>
                <a:gridCol w="3517448">
                  <a:extLst>
                    <a:ext uri="{9D8B030D-6E8A-4147-A177-3AD203B41FA5}">
                      <a16:colId xmlns:a16="http://schemas.microsoft.com/office/drawing/2014/main" val="2538440960"/>
                    </a:ext>
                  </a:extLst>
                </a:gridCol>
                <a:gridCol w="3467550">
                  <a:extLst>
                    <a:ext uri="{9D8B030D-6E8A-4147-A177-3AD203B41FA5}">
                      <a16:colId xmlns:a16="http://schemas.microsoft.com/office/drawing/2014/main" val="1321517792"/>
                    </a:ext>
                  </a:extLst>
                </a:gridCol>
              </a:tblGrid>
              <a:tr h="402872">
                <a:tc>
                  <a:txBody>
                    <a:bodyPr/>
                    <a:lstStyle/>
                    <a:p>
                      <a:r>
                        <a:rPr lang="es-419" sz="1400" dirty="0"/>
                        <a:t>Elemento</a:t>
                      </a:r>
                    </a:p>
                  </a:txBody>
                  <a:tcPr/>
                </a:tc>
                <a:tc>
                  <a:txBody>
                    <a:bodyPr/>
                    <a:lstStyle/>
                    <a:p>
                      <a:r>
                        <a:rPr lang="es-419" sz="1400" dirty="0"/>
                        <a:t>Descripción</a:t>
                      </a:r>
                    </a:p>
                  </a:txBody>
                  <a:tcPr/>
                </a:tc>
                <a:tc>
                  <a:txBody>
                    <a:bodyPr/>
                    <a:lstStyle/>
                    <a:p>
                      <a:r>
                        <a:rPr lang="es-419" sz="1400" dirty="0"/>
                        <a:t>Opciones</a:t>
                      </a:r>
                    </a:p>
                  </a:txBody>
                  <a:tcPr/>
                </a:tc>
                <a:extLst>
                  <a:ext uri="{0D108BD9-81ED-4DB2-BD59-A6C34878D82A}">
                    <a16:rowId xmlns:a16="http://schemas.microsoft.com/office/drawing/2014/main" val="3693566353"/>
                  </a:ext>
                </a:extLst>
              </a:tr>
              <a:tr h="402872">
                <a:tc>
                  <a:txBody>
                    <a:bodyPr/>
                    <a:lstStyle/>
                    <a:p>
                      <a:r>
                        <a:rPr lang="es-419" sz="1400" dirty="0"/>
                        <a:t>Escuela</a:t>
                      </a:r>
                    </a:p>
                  </a:txBody>
                  <a:tcPr/>
                </a:tc>
                <a:tc>
                  <a:txBody>
                    <a:bodyPr/>
                    <a:lstStyle/>
                    <a:p>
                      <a:r>
                        <a:rPr lang="es-419" sz="1400" dirty="0"/>
                        <a:t>En la inscripción se valida si el estudiante pertenece a la Escuela o Unidad Académica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2372821979"/>
                  </a:ext>
                </a:extLst>
              </a:tr>
              <a:tr h="402872">
                <a:tc>
                  <a:txBody>
                    <a:bodyPr/>
                    <a:lstStyle/>
                    <a:p>
                      <a:r>
                        <a:rPr lang="es-419" sz="1400" dirty="0"/>
                        <a:t>Nivel</a:t>
                      </a:r>
                    </a:p>
                  </a:txBody>
                  <a:tcPr/>
                </a:tc>
                <a:tc>
                  <a:txBody>
                    <a:bodyPr/>
                    <a:lstStyle/>
                    <a:p>
                      <a:r>
                        <a:rPr lang="es-419" sz="1400" dirty="0"/>
                        <a:t>En la inscripción se valida si el estudiante pertenece al Nivel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109511402"/>
                  </a:ext>
                </a:extLst>
              </a:tr>
              <a:tr h="402872">
                <a:tc>
                  <a:txBody>
                    <a:bodyPr/>
                    <a:lstStyle/>
                    <a:p>
                      <a:r>
                        <a:rPr lang="es-419" sz="1400" dirty="0"/>
                        <a:t>Clase</a:t>
                      </a:r>
                    </a:p>
                  </a:txBody>
                  <a:tcPr/>
                </a:tc>
                <a:tc>
                  <a:txBody>
                    <a:bodyPr/>
                    <a:lstStyle/>
                    <a:p>
                      <a:r>
                        <a:rPr lang="es-419" sz="1400" dirty="0"/>
                        <a:t>En la inscripción se valida si el estudiante pertenece a la Clase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txBody>
                  <a:tcPr/>
                </a:tc>
                <a:extLst>
                  <a:ext uri="{0D108BD9-81ED-4DB2-BD59-A6C34878D82A}">
                    <a16:rowId xmlns:a16="http://schemas.microsoft.com/office/drawing/2014/main" val="106026169"/>
                  </a:ext>
                </a:extLst>
              </a:tr>
              <a:tr h="402872">
                <a:tc>
                  <a:txBody>
                    <a:bodyPr/>
                    <a:lstStyle/>
                    <a:p>
                      <a:r>
                        <a:rPr lang="es-419" sz="1400" dirty="0"/>
                        <a:t>Horas repetidas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t>En la inscripción se valida si se repite el curso, según las reglas de repetición de H.A.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p>
                      <a:endParaRPr lang="es-419" sz="1400" b="0" dirty="0"/>
                    </a:p>
                  </a:txBody>
                  <a:tcPr/>
                </a:tc>
                <a:extLst>
                  <a:ext uri="{0D108BD9-81ED-4DB2-BD59-A6C34878D82A}">
                    <a16:rowId xmlns:a16="http://schemas.microsoft.com/office/drawing/2014/main" val="3754479394"/>
                  </a:ext>
                </a:extLst>
              </a:tr>
              <a:tr h="402872">
                <a:tc>
                  <a:txBody>
                    <a:bodyPr/>
                    <a:lstStyle/>
                    <a:p>
                      <a:r>
                        <a:rPr lang="es-419" sz="1400" dirty="0"/>
                        <a:t>Retenciones</a:t>
                      </a:r>
                    </a:p>
                  </a:txBody>
                  <a:tcPr/>
                </a:tc>
                <a:tc>
                  <a:txBody>
                    <a:bodyPr/>
                    <a:lstStyle/>
                    <a:p>
                      <a:r>
                        <a:rPr lang="es-419" sz="1400" dirty="0"/>
                        <a:t>En la inscripción se valida si el estudiante tiene retenciones que impidan inscribir cursos.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No verificar.</a:t>
                      </a:r>
                      <a:endParaRPr lang="es-419" sz="1400" b="0" dirty="0"/>
                    </a:p>
                    <a:p>
                      <a:endParaRPr lang="es-419" sz="1400" b="0" dirty="0"/>
                    </a:p>
                  </a:txBody>
                  <a:tcPr/>
                </a:tc>
                <a:extLst>
                  <a:ext uri="{0D108BD9-81ED-4DB2-BD59-A6C34878D82A}">
                    <a16:rowId xmlns:a16="http://schemas.microsoft.com/office/drawing/2014/main" val="3164855438"/>
                  </a:ext>
                </a:extLst>
              </a:tr>
              <a:tr h="402872">
                <a:tc>
                  <a:txBody>
                    <a:bodyPr/>
                    <a:lstStyle/>
                    <a:p>
                      <a:r>
                        <a:rPr lang="es-419" sz="1400" dirty="0"/>
                        <a:t>Límite de repetición</a:t>
                      </a:r>
                    </a:p>
                  </a:txBody>
                  <a:tcPr/>
                </a:tc>
                <a:tc>
                  <a:txBody>
                    <a:bodyPr/>
                    <a:lstStyle/>
                    <a:p>
                      <a:r>
                        <a:rPr lang="es-419" sz="1400" dirty="0"/>
                        <a:t>En la inscripción se valida si el estudiante ha cursado la asignatura el número máximo de repeticiones configurado en el catálogo.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 Alerta o </a:t>
                      </a:r>
                      <a:r>
                        <a:rPr lang="pt-BR" sz="1400" b="1" dirty="0"/>
                        <a:t>No verificar</a:t>
                      </a:r>
                      <a:r>
                        <a:rPr lang="pt-BR" sz="1400" b="0" dirty="0"/>
                        <a:t>. Se debe marcar No verificar.</a:t>
                      </a:r>
                      <a:endParaRPr lang="es-419" sz="1400" b="0" dirty="0"/>
                    </a:p>
                  </a:txBody>
                  <a:tcPr/>
                </a:tc>
                <a:extLst>
                  <a:ext uri="{0D108BD9-81ED-4DB2-BD59-A6C34878D82A}">
                    <a16:rowId xmlns:a16="http://schemas.microsoft.com/office/drawing/2014/main" val="2910444943"/>
                  </a:ext>
                </a:extLst>
              </a:tr>
            </a:tbl>
          </a:graphicData>
        </a:graphic>
      </p:graphicFrame>
    </p:spTree>
    <p:extLst>
      <p:ext uri="{BB962C8B-B14F-4D97-AF65-F5344CB8AC3E}">
        <p14:creationId xmlns:p14="http://schemas.microsoft.com/office/powerpoint/2010/main" val="2625866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57E99-5541-F6D8-4047-01F11150CE88}"/>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9FDBB0F-61AB-48C2-CEB0-20BFC52A6FE2}"/>
              </a:ext>
            </a:extLst>
          </p:cNvPr>
          <p:cNvSpPr>
            <a:spLocks noGrp="1"/>
          </p:cNvSpPr>
          <p:nvPr>
            <p:ph type="body" orient="vert" sz="quarter" idx="17"/>
          </p:nvPr>
        </p:nvSpPr>
        <p:spPr/>
        <p:txBody>
          <a:bodyPr/>
          <a:lstStyle/>
          <a:p>
            <a:r>
              <a:rPr lang="es-419" sz="1200" dirty="0"/>
              <a:t>Ejecutar la inscripción de cursos por Autoservicio por Lista de Espera</a:t>
            </a:r>
            <a:endParaRPr lang="es-419" dirty="0"/>
          </a:p>
        </p:txBody>
      </p:sp>
      <p:sp>
        <p:nvSpPr>
          <p:cNvPr id="13" name="Title 12">
            <a:extLst>
              <a:ext uri="{FF2B5EF4-FFF2-40B4-BE49-F238E27FC236}">
                <a16:creationId xmlns:a16="http://schemas.microsoft.com/office/drawing/2014/main" id="{5790845F-4646-7ADE-ACEB-DAA789F00B80}"/>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graphicFrame>
        <p:nvGraphicFramePr>
          <p:cNvPr id="3" name="Tabla 2">
            <a:extLst>
              <a:ext uri="{FF2B5EF4-FFF2-40B4-BE49-F238E27FC236}">
                <a16:creationId xmlns:a16="http://schemas.microsoft.com/office/drawing/2014/main" id="{07A2AE6F-544D-4F2B-C3F7-2D739DD2DA5D}"/>
              </a:ext>
            </a:extLst>
          </p:cNvPr>
          <p:cNvGraphicFramePr>
            <a:graphicFrameLocks noGrp="1"/>
          </p:cNvGraphicFramePr>
          <p:nvPr/>
        </p:nvGraphicFramePr>
        <p:xfrm>
          <a:off x="938996" y="753891"/>
          <a:ext cx="10477497" cy="4700552"/>
        </p:xfrm>
        <a:graphic>
          <a:graphicData uri="http://schemas.openxmlformats.org/drawingml/2006/table">
            <a:tbl>
              <a:tblPr firstRow="1" bandRow="1">
                <a:tableStyleId>{5C22544A-7EE6-4342-B048-85BDC9FD1C3A}</a:tableStyleId>
              </a:tblPr>
              <a:tblGrid>
                <a:gridCol w="3492499">
                  <a:extLst>
                    <a:ext uri="{9D8B030D-6E8A-4147-A177-3AD203B41FA5}">
                      <a16:colId xmlns:a16="http://schemas.microsoft.com/office/drawing/2014/main" val="324557172"/>
                    </a:ext>
                  </a:extLst>
                </a:gridCol>
                <a:gridCol w="3492499">
                  <a:extLst>
                    <a:ext uri="{9D8B030D-6E8A-4147-A177-3AD203B41FA5}">
                      <a16:colId xmlns:a16="http://schemas.microsoft.com/office/drawing/2014/main" val="2538440960"/>
                    </a:ext>
                  </a:extLst>
                </a:gridCol>
                <a:gridCol w="3492499">
                  <a:extLst>
                    <a:ext uri="{9D8B030D-6E8A-4147-A177-3AD203B41FA5}">
                      <a16:colId xmlns:a16="http://schemas.microsoft.com/office/drawing/2014/main" val="1321517792"/>
                    </a:ext>
                  </a:extLst>
                </a:gridCol>
              </a:tblGrid>
              <a:tr h="402872">
                <a:tc>
                  <a:txBody>
                    <a:bodyPr/>
                    <a:lstStyle/>
                    <a:p>
                      <a:r>
                        <a:rPr lang="es-419" sz="1400" dirty="0"/>
                        <a:t>Elemento</a:t>
                      </a:r>
                    </a:p>
                  </a:txBody>
                  <a:tcPr/>
                </a:tc>
                <a:tc>
                  <a:txBody>
                    <a:bodyPr/>
                    <a:lstStyle/>
                    <a:p>
                      <a:r>
                        <a:rPr lang="es-419" sz="1400" dirty="0"/>
                        <a:t>Descripción</a:t>
                      </a:r>
                    </a:p>
                  </a:txBody>
                  <a:tcPr/>
                </a:tc>
                <a:tc>
                  <a:txBody>
                    <a:bodyPr/>
                    <a:lstStyle/>
                    <a:p>
                      <a:r>
                        <a:rPr lang="es-419" sz="1400" dirty="0"/>
                        <a:t>Opciones</a:t>
                      </a:r>
                    </a:p>
                  </a:txBody>
                  <a:tcPr/>
                </a:tc>
                <a:extLst>
                  <a:ext uri="{0D108BD9-81ED-4DB2-BD59-A6C34878D82A}">
                    <a16:rowId xmlns:a16="http://schemas.microsoft.com/office/drawing/2014/main" val="3693566353"/>
                  </a:ext>
                </a:extLst>
              </a:tr>
              <a:tr h="402872">
                <a:tc>
                  <a:txBody>
                    <a:bodyPr/>
                    <a:lstStyle/>
                    <a:p>
                      <a:r>
                        <a:rPr lang="es-419" sz="1400" dirty="0"/>
                        <a:t>Campus</a:t>
                      </a:r>
                    </a:p>
                  </a:txBody>
                  <a:tcPr/>
                </a:tc>
                <a:tc>
                  <a:txBody>
                    <a:bodyPr/>
                    <a:lstStyle/>
                    <a:p>
                      <a:r>
                        <a:rPr lang="es-419" sz="1400" dirty="0"/>
                        <a:t>En la inscripción se valida si el estudiante pertenece al campus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Fatal, Alerta o </a:t>
                      </a:r>
                      <a:r>
                        <a:rPr lang="pt-BR" sz="1400" b="0" dirty="0"/>
                        <a:t>No verificar</a:t>
                      </a:r>
                      <a:r>
                        <a:rPr lang="pt-BR" sz="1400" dirty="0"/>
                        <a:t>.</a:t>
                      </a:r>
                      <a:endParaRPr lang="es-419" sz="1400" dirty="0"/>
                    </a:p>
                  </a:txBody>
                  <a:tcPr/>
                </a:tc>
                <a:extLst>
                  <a:ext uri="{0D108BD9-81ED-4DB2-BD59-A6C34878D82A}">
                    <a16:rowId xmlns:a16="http://schemas.microsoft.com/office/drawing/2014/main" val="2372821979"/>
                  </a:ext>
                </a:extLst>
              </a:tr>
              <a:tr h="402872">
                <a:tc>
                  <a:txBody>
                    <a:bodyPr/>
                    <a:lstStyle/>
                    <a:p>
                      <a:r>
                        <a:rPr lang="es-419" sz="1400" dirty="0"/>
                        <a:t>Grado</a:t>
                      </a:r>
                    </a:p>
                  </a:txBody>
                  <a:tcPr/>
                </a:tc>
                <a:tc>
                  <a:txBody>
                    <a:bodyPr/>
                    <a:lstStyle/>
                    <a:p>
                      <a:r>
                        <a:rPr lang="es-419" sz="1400" dirty="0"/>
                        <a:t>En la inscripción se valida si el estudiante pertenece al Grado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Fatal, Alerta o </a:t>
                      </a:r>
                      <a:r>
                        <a:rPr lang="pt-BR" sz="1400" b="0" dirty="0"/>
                        <a:t>No verificar</a:t>
                      </a:r>
                      <a:r>
                        <a:rPr lang="pt-BR" sz="1400" dirty="0"/>
                        <a:t>.</a:t>
                      </a:r>
                      <a:endParaRPr lang="es-419" sz="1400" dirty="0"/>
                    </a:p>
                  </a:txBody>
                  <a:tcPr/>
                </a:tc>
                <a:extLst>
                  <a:ext uri="{0D108BD9-81ED-4DB2-BD59-A6C34878D82A}">
                    <a16:rowId xmlns:a16="http://schemas.microsoft.com/office/drawing/2014/main" val="109511402"/>
                  </a:ext>
                </a:extLst>
              </a:tr>
              <a:tr h="402872">
                <a:tc>
                  <a:txBody>
                    <a:bodyPr/>
                    <a:lstStyle/>
                    <a:p>
                      <a:r>
                        <a:rPr lang="es-419" sz="1400" dirty="0"/>
                        <a:t>Programa</a:t>
                      </a:r>
                    </a:p>
                  </a:txBody>
                  <a:tcPr/>
                </a:tc>
                <a:tc>
                  <a:txBody>
                    <a:bodyPr/>
                    <a:lstStyle/>
                    <a:p>
                      <a:r>
                        <a:rPr lang="es-419" sz="1400" dirty="0"/>
                        <a:t>En la inscripción se valida si el estudiante pertenece al Programa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Fatal, Alerta o </a:t>
                      </a:r>
                      <a:r>
                        <a:rPr lang="pt-BR" sz="1400" b="0" dirty="0"/>
                        <a:t>No verificar</a:t>
                      </a:r>
                      <a:r>
                        <a:rPr lang="pt-BR" sz="1400" dirty="0"/>
                        <a:t>.</a:t>
                      </a:r>
                      <a:endParaRPr lang="es-419" sz="1400" dirty="0"/>
                    </a:p>
                  </a:txBody>
                  <a:tcPr/>
                </a:tc>
                <a:extLst>
                  <a:ext uri="{0D108BD9-81ED-4DB2-BD59-A6C34878D82A}">
                    <a16:rowId xmlns:a16="http://schemas.microsoft.com/office/drawing/2014/main" val="106026169"/>
                  </a:ext>
                </a:extLst>
              </a:tr>
              <a:tr h="402872">
                <a:tc>
                  <a:txBody>
                    <a:bodyPr/>
                    <a:lstStyle/>
                    <a:p>
                      <a:r>
                        <a:rPr lang="es-419" sz="1400" dirty="0"/>
                        <a:t>Atributo de alumno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400" b="0" i="0" u="none" strike="noStrike" kern="1200" cap="none" spc="0" normalizeH="0" baseline="0" noProof="0" dirty="0">
                          <a:ln>
                            <a:noFill/>
                          </a:ln>
                          <a:solidFill>
                            <a:srgbClr val="000000"/>
                          </a:solidFill>
                          <a:effectLst/>
                          <a:uLnTx/>
                          <a:uFillTx/>
                          <a:latin typeface="Aptos" panose="02110004020202020204"/>
                          <a:ea typeface="+mn-ea"/>
                          <a:cs typeface="+mn-cs"/>
                        </a:rPr>
                        <a:t>En la inscripción se valida si el estudiante tiene el atributo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a:t>
                      </a:r>
                      <a:r>
                        <a:rPr lang="pt-BR" sz="1400" dirty="0"/>
                        <a:t>, Alerta o </a:t>
                      </a:r>
                      <a:r>
                        <a:rPr lang="pt-BR" sz="1400" b="0" dirty="0"/>
                        <a:t>No verificar</a:t>
                      </a:r>
                      <a:r>
                        <a:rPr lang="pt-BR" sz="1400" dirty="0"/>
                        <a:t>.</a:t>
                      </a:r>
                      <a:endParaRPr lang="es-419" sz="1400" dirty="0"/>
                    </a:p>
                    <a:p>
                      <a:endParaRPr lang="es-419" sz="1400" dirty="0"/>
                    </a:p>
                  </a:txBody>
                  <a:tcPr/>
                </a:tc>
                <a:extLst>
                  <a:ext uri="{0D108BD9-81ED-4DB2-BD59-A6C34878D82A}">
                    <a16:rowId xmlns:a16="http://schemas.microsoft.com/office/drawing/2014/main" val="3754479394"/>
                  </a:ext>
                </a:extLst>
              </a:tr>
              <a:tr h="402872">
                <a:tc>
                  <a:txBody>
                    <a:bodyPr/>
                    <a:lstStyle/>
                    <a:p>
                      <a:r>
                        <a:rPr lang="es-419" sz="1400" dirty="0"/>
                        <a:t>Cohorte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400" b="0" i="0" u="none" strike="noStrike" kern="1200" cap="none" spc="0" normalizeH="0" baseline="0" noProof="0" dirty="0">
                          <a:ln>
                            <a:noFill/>
                          </a:ln>
                          <a:solidFill>
                            <a:srgbClr val="000000"/>
                          </a:solidFill>
                          <a:effectLst/>
                          <a:uLnTx/>
                          <a:uFillTx/>
                          <a:latin typeface="Aptos" panose="02110004020202020204"/>
                          <a:ea typeface="+mn-ea"/>
                          <a:cs typeface="+mn-cs"/>
                        </a:rPr>
                        <a:t>En la inscripción se valida si el estudiante pertenece a la cohorte según las restricciones que tiene el NRC en SSARRES.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0" dirty="0"/>
                        <a:t>Fatal</a:t>
                      </a:r>
                      <a:r>
                        <a:rPr lang="pt-BR" sz="1400" dirty="0"/>
                        <a:t>, Alerta o </a:t>
                      </a:r>
                      <a:r>
                        <a:rPr lang="pt-BR" sz="1400" b="0" dirty="0"/>
                        <a:t>No verificar</a:t>
                      </a:r>
                      <a:r>
                        <a:rPr lang="pt-BR" sz="1400" dirty="0"/>
                        <a:t>.</a:t>
                      </a:r>
                      <a:endParaRPr lang="es-419" sz="1400" dirty="0"/>
                    </a:p>
                    <a:p>
                      <a:endParaRPr lang="es-419" sz="1400" dirty="0"/>
                    </a:p>
                  </a:txBody>
                  <a:tcPr/>
                </a:tc>
                <a:extLst>
                  <a:ext uri="{0D108BD9-81ED-4DB2-BD59-A6C34878D82A}">
                    <a16:rowId xmlns:a16="http://schemas.microsoft.com/office/drawing/2014/main" val="3164855438"/>
                  </a:ext>
                </a:extLst>
              </a:tr>
            </a:tbl>
          </a:graphicData>
        </a:graphic>
      </p:graphicFrame>
    </p:spTree>
    <p:extLst>
      <p:ext uri="{BB962C8B-B14F-4D97-AF65-F5344CB8AC3E}">
        <p14:creationId xmlns:p14="http://schemas.microsoft.com/office/powerpoint/2010/main" val="566477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DBE00-ABD5-EAB4-C5E6-9C60ED54FAFE}"/>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2F10EF4C-C1CE-095B-CC0B-A177A0A001E3}"/>
              </a:ext>
            </a:extLst>
          </p:cNvPr>
          <p:cNvPicPr>
            <a:picLocks noChangeAspect="1"/>
          </p:cNvPicPr>
          <p:nvPr/>
        </p:nvPicPr>
        <p:blipFill>
          <a:blip r:embed="rId3"/>
          <a:stretch>
            <a:fillRect/>
          </a:stretch>
        </p:blipFill>
        <p:spPr>
          <a:xfrm>
            <a:off x="775507" y="895093"/>
            <a:ext cx="10812836" cy="5067812"/>
          </a:xfrm>
          <a:prstGeom prst="rect">
            <a:avLst/>
          </a:prstGeom>
        </p:spPr>
      </p:pic>
      <p:sp>
        <p:nvSpPr>
          <p:cNvPr id="13" name="Title 12">
            <a:extLst>
              <a:ext uri="{FF2B5EF4-FFF2-40B4-BE49-F238E27FC236}">
                <a16:creationId xmlns:a16="http://schemas.microsoft.com/office/drawing/2014/main" id="{8367D269-83CE-84FC-EE90-B2CC36AE0B9C}"/>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sp>
        <p:nvSpPr>
          <p:cNvPr id="8" name="Rectángulo: esquinas redondeadas 7">
            <a:extLst>
              <a:ext uri="{FF2B5EF4-FFF2-40B4-BE49-F238E27FC236}">
                <a16:creationId xmlns:a16="http://schemas.microsoft.com/office/drawing/2014/main" id="{98DF7646-19E2-CE37-95F5-0BAC300A82E2}"/>
              </a:ext>
            </a:extLst>
          </p:cNvPr>
          <p:cNvSpPr/>
          <p:nvPr/>
        </p:nvSpPr>
        <p:spPr>
          <a:xfrm>
            <a:off x="2046749" y="4547593"/>
            <a:ext cx="7629408" cy="93880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6"/>
            </a:pPr>
            <a:r>
              <a:rPr lang="es-ES_tradnl" sz="1200" dirty="0"/>
              <a:t>Guarde la información ingresada.</a:t>
            </a:r>
          </a:p>
        </p:txBody>
      </p:sp>
      <p:sp>
        <p:nvSpPr>
          <p:cNvPr id="17" name="Rectángulo 16">
            <a:extLst>
              <a:ext uri="{FF2B5EF4-FFF2-40B4-BE49-F238E27FC236}">
                <a16:creationId xmlns:a16="http://schemas.microsoft.com/office/drawing/2014/main" id="{E4435EAA-D828-9B29-2E5D-36061903C6C9}"/>
              </a:ext>
            </a:extLst>
          </p:cNvPr>
          <p:cNvSpPr/>
          <p:nvPr/>
        </p:nvSpPr>
        <p:spPr>
          <a:xfrm>
            <a:off x="10870394" y="5768315"/>
            <a:ext cx="717949" cy="2794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3" name="Rectángulo redondeado 15">
            <a:extLst>
              <a:ext uri="{FF2B5EF4-FFF2-40B4-BE49-F238E27FC236}">
                <a16:creationId xmlns:a16="http://schemas.microsoft.com/office/drawing/2014/main" id="{0152F55E-1163-B2DE-DD7A-76A3E13BAACC}"/>
              </a:ext>
            </a:extLst>
          </p:cNvPr>
          <p:cNvSpPr/>
          <p:nvPr/>
        </p:nvSpPr>
        <p:spPr>
          <a:xfrm>
            <a:off x="10612124" y="557831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
        <p:nvSpPr>
          <p:cNvPr id="7" name="Marcador de texto vertical 1">
            <a:extLst>
              <a:ext uri="{FF2B5EF4-FFF2-40B4-BE49-F238E27FC236}">
                <a16:creationId xmlns:a16="http://schemas.microsoft.com/office/drawing/2014/main" id="{AFF952ED-1A0F-82D7-CDE0-A57E1B82B71C}"/>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2413521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C8B9B-96FD-3DA4-E30E-0316315FC771}"/>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CC1136E3-0067-507A-E05D-F021C4732B6C}"/>
              </a:ext>
            </a:extLst>
          </p:cNvPr>
          <p:cNvPicPr>
            <a:picLocks noChangeAspect="1"/>
          </p:cNvPicPr>
          <p:nvPr/>
        </p:nvPicPr>
        <p:blipFill>
          <a:blip r:embed="rId3"/>
          <a:stretch>
            <a:fillRect/>
          </a:stretch>
        </p:blipFill>
        <p:spPr>
          <a:xfrm>
            <a:off x="609601" y="1032095"/>
            <a:ext cx="11462939" cy="5061402"/>
          </a:xfrm>
          <a:prstGeom prst="rect">
            <a:avLst/>
          </a:prstGeom>
        </p:spPr>
      </p:pic>
      <p:sp>
        <p:nvSpPr>
          <p:cNvPr id="13" name="Title 12">
            <a:extLst>
              <a:ext uri="{FF2B5EF4-FFF2-40B4-BE49-F238E27FC236}">
                <a16:creationId xmlns:a16="http://schemas.microsoft.com/office/drawing/2014/main" id="{533198D3-7561-61E6-A37A-0251C7406325}"/>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endParaRPr lang="es-ES_tradnl" b="1" dirty="0"/>
          </a:p>
        </p:txBody>
      </p:sp>
      <p:sp>
        <p:nvSpPr>
          <p:cNvPr id="7" name="Rectángulo: esquinas redondeadas 6">
            <a:extLst>
              <a:ext uri="{FF2B5EF4-FFF2-40B4-BE49-F238E27FC236}">
                <a16:creationId xmlns:a16="http://schemas.microsoft.com/office/drawing/2014/main" id="{D3D126F2-88D2-F7F2-FBFE-443C9C79C5AD}"/>
              </a:ext>
            </a:extLst>
          </p:cNvPr>
          <p:cNvSpPr/>
          <p:nvPr/>
        </p:nvSpPr>
        <p:spPr>
          <a:xfrm>
            <a:off x="1841788" y="4841102"/>
            <a:ext cx="8265651" cy="112465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7"/>
            </a:pPr>
            <a:r>
              <a:rPr lang="es-ES_tradnl" sz="1200" dirty="0"/>
              <a:t>En la pestaña ‘Controles de procesamiento web?, sección ‘Opciones de autoservicio’, No se activa la casilla ‘Permitir al alumno eliminar sus últimas clases’  si desea se puede cambiar está definición, para permitir que el estudiante no pueda eliminar el último NRC que haya inscrito previamente.  Esto podrá hacerlo si cumple con los créditos mínimos configurados en la página SFAMHRS.</a:t>
            </a:r>
          </a:p>
        </p:txBody>
      </p:sp>
      <p:sp>
        <p:nvSpPr>
          <p:cNvPr id="9" name="Rectángulo 8">
            <a:extLst>
              <a:ext uri="{FF2B5EF4-FFF2-40B4-BE49-F238E27FC236}">
                <a16:creationId xmlns:a16="http://schemas.microsoft.com/office/drawing/2014/main" id="{87C9D5DD-EB59-3F1D-AC0F-5665B67B1030}"/>
              </a:ext>
            </a:extLst>
          </p:cNvPr>
          <p:cNvSpPr/>
          <p:nvPr/>
        </p:nvSpPr>
        <p:spPr>
          <a:xfrm>
            <a:off x="1219203" y="3651808"/>
            <a:ext cx="2122226" cy="28297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BD6EECED-36AD-BF1B-CE9B-CF60AD03DE3D}"/>
              </a:ext>
            </a:extLst>
          </p:cNvPr>
          <p:cNvSpPr/>
          <p:nvPr/>
        </p:nvSpPr>
        <p:spPr>
          <a:xfrm>
            <a:off x="938996" y="371288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6" name="Marcador de texto vertical 1">
            <a:extLst>
              <a:ext uri="{FF2B5EF4-FFF2-40B4-BE49-F238E27FC236}">
                <a16:creationId xmlns:a16="http://schemas.microsoft.com/office/drawing/2014/main" id="{9CAB770E-2A6B-34AC-5C6B-AAE3B32FE0C3}"/>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2720552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4C188-EF7C-71A2-A057-E8B9547AB6C9}"/>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24E16F37-1D6A-07F6-B6AB-169ECA7EEA7D}"/>
              </a:ext>
            </a:extLst>
          </p:cNvPr>
          <p:cNvPicPr>
            <a:picLocks noChangeAspect="1"/>
          </p:cNvPicPr>
          <p:nvPr/>
        </p:nvPicPr>
        <p:blipFill>
          <a:blip r:embed="rId3"/>
          <a:stretch>
            <a:fillRect/>
          </a:stretch>
        </p:blipFill>
        <p:spPr>
          <a:xfrm>
            <a:off x="784373" y="821663"/>
            <a:ext cx="10844993" cy="4811192"/>
          </a:xfrm>
          <a:prstGeom prst="rect">
            <a:avLst/>
          </a:prstGeom>
        </p:spPr>
      </p:pic>
      <p:sp>
        <p:nvSpPr>
          <p:cNvPr id="13" name="Title 12">
            <a:extLst>
              <a:ext uri="{FF2B5EF4-FFF2-40B4-BE49-F238E27FC236}">
                <a16:creationId xmlns:a16="http://schemas.microsoft.com/office/drawing/2014/main" id="{C183BA7D-2C95-2A40-F408-62965D7097E9}"/>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endParaRPr lang="es-ES_tradnl" b="1" dirty="0"/>
          </a:p>
        </p:txBody>
      </p:sp>
      <p:sp>
        <p:nvSpPr>
          <p:cNvPr id="7" name="Rectángulo: esquinas redondeadas 6">
            <a:extLst>
              <a:ext uri="{FF2B5EF4-FFF2-40B4-BE49-F238E27FC236}">
                <a16:creationId xmlns:a16="http://schemas.microsoft.com/office/drawing/2014/main" id="{85662628-6BE5-44B2-5B36-9AD208718159}"/>
              </a:ext>
            </a:extLst>
          </p:cNvPr>
          <p:cNvSpPr/>
          <p:nvPr/>
        </p:nvSpPr>
        <p:spPr>
          <a:xfrm>
            <a:off x="1475686" y="4911685"/>
            <a:ext cx="8938314" cy="112465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8"/>
            </a:pPr>
            <a:r>
              <a:rPr lang="es-ES_tradnl" sz="1200" dirty="0"/>
              <a:t>Adicionalmente en la pestaña ‘Controles de inscripción de parte de periodo y web’, debemos definir el rango de las fechas de inicio y fin en las que el periodo académico estaría disponible para la visualización de inscripción de autoservicios.</a:t>
            </a:r>
          </a:p>
          <a:p>
            <a:pPr marL="228600" indent="-228600">
              <a:buFont typeface="+mj-lt"/>
              <a:buAutoNum type="arabicPeriod" startAt="8"/>
            </a:pPr>
            <a:r>
              <a:rPr lang="es-ES_tradnl" sz="1200" dirty="0"/>
              <a:t>Guarde la información ingresada.</a:t>
            </a:r>
          </a:p>
        </p:txBody>
      </p:sp>
      <p:sp>
        <p:nvSpPr>
          <p:cNvPr id="9" name="Rectángulo 8">
            <a:extLst>
              <a:ext uri="{FF2B5EF4-FFF2-40B4-BE49-F238E27FC236}">
                <a16:creationId xmlns:a16="http://schemas.microsoft.com/office/drawing/2014/main" id="{BEDB7FED-7FC7-AD0A-23C8-23CF9709991E}"/>
              </a:ext>
            </a:extLst>
          </p:cNvPr>
          <p:cNvSpPr/>
          <p:nvPr/>
        </p:nvSpPr>
        <p:spPr>
          <a:xfrm>
            <a:off x="775506" y="3785314"/>
            <a:ext cx="10844993" cy="67238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9695556F-C03D-6E43-960B-BEB8BFBD7105}"/>
              </a:ext>
            </a:extLst>
          </p:cNvPr>
          <p:cNvSpPr/>
          <p:nvPr/>
        </p:nvSpPr>
        <p:spPr>
          <a:xfrm>
            <a:off x="784373" y="350519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5" name="Rectángulo 4">
            <a:extLst>
              <a:ext uri="{FF2B5EF4-FFF2-40B4-BE49-F238E27FC236}">
                <a16:creationId xmlns:a16="http://schemas.microsoft.com/office/drawing/2014/main" id="{C8727AD7-48F0-8ACF-7675-3E1AFB66D250}"/>
              </a:ext>
            </a:extLst>
          </p:cNvPr>
          <p:cNvSpPr/>
          <p:nvPr/>
        </p:nvSpPr>
        <p:spPr>
          <a:xfrm>
            <a:off x="10991450" y="5348094"/>
            <a:ext cx="717949" cy="2794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E1FBF600-5985-F797-87E7-A263F7BC8CEE}"/>
              </a:ext>
            </a:extLst>
          </p:cNvPr>
          <p:cNvSpPr/>
          <p:nvPr/>
        </p:nvSpPr>
        <p:spPr>
          <a:xfrm>
            <a:off x="10733180" y="5158090"/>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Tree>
    <p:extLst>
      <p:ext uri="{BB962C8B-B14F-4D97-AF65-F5344CB8AC3E}">
        <p14:creationId xmlns:p14="http://schemas.microsoft.com/office/powerpoint/2010/main" val="1383819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67157-EF82-D3D0-86FD-B89AC3E27CC2}"/>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568F1F59-7104-281F-BBF9-88A0F2CB46A5}"/>
              </a:ext>
            </a:extLst>
          </p:cNvPr>
          <p:cNvSpPr>
            <a:spLocks noGrp="1"/>
          </p:cNvSpPr>
          <p:nvPr>
            <p:ph type="body" sz="quarter" idx="10"/>
          </p:nvPr>
        </p:nvSpPr>
        <p:spPr>
          <a:xfrm>
            <a:off x="914399" y="2238843"/>
            <a:ext cx="10363202" cy="669094"/>
          </a:xfrm>
        </p:spPr>
        <p:txBody>
          <a:bodyPr/>
          <a:lstStyle/>
          <a:p>
            <a:r>
              <a:rPr lang="es-ES_tradnl" dirty="0"/>
              <a:t>Validación de transposición</a:t>
            </a:r>
            <a:endParaRPr lang="es-419" dirty="0"/>
          </a:p>
        </p:txBody>
      </p:sp>
      <p:sp>
        <p:nvSpPr>
          <p:cNvPr id="2" name="Marcador de texto vertical 1">
            <a:extLst>
              <a:ext uri="{FF2B5EF4-FFF2-40B4-BE49-F238E27FC236}">
                <a16:creationId xmlns:a16="http://schemas.microsoft.com/office/drawing/2014/main" id="{A88C952F-4E57-6B37-2514-DDE90643631B}"/>
              </a:ext>
            </a:extLst>
          </p:cNvPr>
          <p:cNvSpPr>
            <a:spLocks noGrp="1"/>
          </p:cNvSpPr>
          <p:nvPr>
            <p:ph type="body" sz="quarter" idx="11"/>
          </p:nvPr>
        </p:nvSpPr>
        <p:spPr/>
        <p:txBody>
          <a:bodyPr vert="horz" lIns="0" tIns="0" rIns="0" bIns="0" rtlCol="0">
            <a:spAutoFit/>
          </a:bodyPr>
          <a:lstStyle/>
          <a:p>
            <a:r>
              <a:rPr lang="es-419" dirty="0"/>
              <a:t>Ejecutar la inscripción de cursos por Autoservicio por Lista de Espera</a:t>
            </a:r>
          </a:p>
        </p:txBody>
      </p:sp>
    </p:spTree>
    <p:extLst>
      <p:ext uri="{BB962C8B-B14F-4D97-AF65-F5344CB8AC3E}">
        <p14:creationId xmlns:p14="http://schemas.microsoft.com/office/powerpoint/2010/main" val="4293920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1CAF7-431F-D5F2-B386-A07FA2B372A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274DE03-7C25-7B79-D33F-5C41EBDF3A36}"/>
              </a:ext>
            </a:extLst>
          </p:cNvPr>
          <p:cNvPicPr>
            <a:picLocks noChangeAspect="1"/>
          </p:cNvPicPr>
          <p:nvPr/>
        </p:nvPicPr>
        <p:blipFill>
          <a:blip r:embed="rId3"/>
          <a:stretch>
            <a:fillRect/>
          </a:stretch>
        </p:blipFill>
        <p:spPr>
          <a:xfrm>
            <a:off x="775507" y="1067009"/>
            <a:ext cx="10908493" cy="4730654"/>
          </a:xfrm>
          <a:prstGeom prst="rect">
            <a:avLst/>
          </a:prstGeom>
        </p:spPr>
      </p:pic>
      <p:sp>
        <p:nvSpPr>
          <p:cNvPr id="13" name="Title 12">
            <a:extLst>
              <a:ext uri="{FF2B5EF4-FFF2-40B4-BE49-F238E27FC236}">
                <a16:creationId xmlns:a16="http://schemas.microsoft.com/office/drawing/2014/main" id="{29A9DD67-7A30-D9B4-BEB0-D2711BCA8D5E}"/>
              </a:ext>
            </a:extLst>
          </p:cNvPr>
          <p:cNvSpPr>
            <a:spLocks noGrp="1"/>
          </p:cNvSpPr>
          <p:nvPr>
            <p:ph type="title"/>
          </p:nvPr>
        </p:nvSpPr>
        <p:spPr>
          <a:xfrm>
            <a:off x="938996" y="304614"/>
            <a:ext cx="10477497" cy="898555"/>
          </a:xfrm>
        </p:spPr>
        <p:txBody>
          <a:bodyPr/>
          <a:lstStyle/>
          <a:p>
            <a:r>
              <a:rPr lang="es-ES_tradnl" dirty="0">
                <a:solidFill>
                  <a:schemeClr val="tx2"/>
                </a:solidFill>
              </a:rPr>
              <a:t>Validación de transposición (GTVSDAX)</a:t>
            </a:r>
          </a:p>
        </p:txBody>
      </p:sp>
      <p:sp>
        <p:nvSpPr>
          <p:cNvPr id="6" name="Rectángulo redondeado 5">
            <a:extLst>
              <a:ext uri="{FF2B5EF4-FFF2-40B4-BE49-F238E27FC236}">
                <a16:creationId xmlns:a16="http://schemas.microsoft.com/office/drawing/2014/main" id="{68E139B4-0721-0AC0-9A5E-3E903C9908F8}"/>
              </a:ext>
            </a:extLst>
          </p:cNvPr>
          <p:cNvSpPr/>
          <p:nvPr/>
        </p:nvSpPr>
        <p:spPr>
          <a:xfrm>
            <a:off x="2311513" y="3230380"/>
            <a:ext cx="7911779" cy="169722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requiere ingresar a GTVSDAX y configurar una serie de registros que están relacionados a la experiencia de inscripción, mismos que se encuentran clasificados en los grupos ‘REGISTRATION’, ‘REGPROJSTRUCT’ y ‘WEBREG’.</a:t>
            </a:r>
          </a:p>
          <a:p>
            <a:endParaRPr lang="es-ES_tradnl" sz="1200" dirty="0"/>
          </a:p>
          <a:p>
            <a:pPr marL="228600" indent="-228600">
              <a:buFont typeface="+mj-lt"/>
              <a:buAutoNum type="arabicPeriod"/>
            </a:pPr>
            <a:r>
              <a:rPr lang="pt-BR" sz="1200" dirty="0"/>
              <a:t>Para acceder rápidamente a los registros a configurar se </a:t>
            </a:r>
            <a:r>
              <a:rPr lang="es-419" sz="1200" noProof="0" dirty="0"/>
              <a:t>sugiere</a:t>
            </a:r>
            <a:r>
              <a:rPr lang="pt-BR" sz="1200" dirty="0"/>
              <a:t> </a:t>
            </a:r>
            <a:r>
              <a:rPr lang="es-419" sz="1200" noProof="0" dirty="0"/>
              <a:t>presionar</a:t>
            </a:r>
            <a:r>
              <a:rPr lang="pt-BR" sz="1200" dirty="0"/>
              <a:t> la </a:t>
            </a:r>
            <a:r>
              <a:rPr lang="es-419" sz="1200" noProof="0" dirty="0"/>
              <a:t>opción de filtro e ingresar el grupo de datos a configurar.</a:t>
            </a:r>
            <a:endParaRPr lang="pt-BR" sz="1200" dirty="0"/>
          </a:p>
        </p:txBody>
      </p:sp>
      <p:sp>
        <p:nvSpPr>
          <p:cNvPr id="9" name="Rectángulo 8">
            <a:extLst>
              <a:ext uri="{FF2B5EF4-FFF2-40B4-BE49-F238E27FC236}">
                <a16:creationId xmlns:a16="http://schemas.microsoft.com/office/drawing/2014/main" id="{7356C4E8-2AAD-C04D-010B-94E65843FCE4}"/>
              </a:ext>
            </a:extLst>
          </p:cNvPr>
          <p:cNvSpPr/>
          <p:nvPr/>
        </p:nvSpPr>
        <p:spPr>
          <a:xfrm>
            <a:off x="11429193" y="1380473"/>
            <a:ext cx="267507" cy="24512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6B79BF7C-B7FF-C8B9-EBD9-B6FD280B6D2D}"/>
              </a:ext>
            </a:extLst>
          </p:cNvPr>
          <p:cNvSpPr/>
          <p:nvPr/>
        </p:nvSpPr>
        <p:spPr>
          <a:xfrm>
            <a:off x="11087970" y="1625600"/>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7" name="Marcador de texto vertical 1">
            <a:extLst>
              <a:ext uri="{FF2B5EF4-FFF2-40B4-BE49-F238E27FC236}">
                <a16:creationId xmlns:a16="http://schemas.microsoft.com/office/drawing/2014/main" id="{2E69614D-97E3-4061-2AC6-021B70F8B36E}"/>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2066641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7190D-4A5A-94DC-C895-4E5D5F5FA4AE}"/>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813BFDC-7753-5E69-7FF2-B5BCE3F4657D}"/>
              </a:ext>
            </a:extLst>
          </p:cNvPr>
          <p:cNvPicPr>
            <a:picLocks noChangeAspect="1"/>
          </p:cNvPicPr>
          <p:nvPr/>
        </p:nvPicPr>
        <p:blipFill>
          <a:blip r:embed="rId3"/>
          <a:stretch>
            <a:fillRect/>
          </a:stretch>
        </p:blipFill>
        <p:spPr>
          <a:xfrm>
            <a:off x="775507" y="884931"/>
            <a:ext cx="10921193" cy="4736162"/>
          </a:xfrm>
          <a:prstGeom prst="rect">
            <a:avLst/>
          </a:prstGeom>
        </p:spPr>
      </p:pic>
      <p:sp>
        <p:nvSpPr>
          <p:cNvPr id="13" name="Title 12">
            <a:extLst>
              <a:ext uri="{FF2B5EF4-FFF2-40B4-BE49-F238E27FC236}">
                <a16:creationId xmlns:a16="http://schemas.microsoft.com/office/drawing/2014/main" id="{5B06EABE-D3E5-7AB2-7FD0-BFF903BFF805}"/>
              </a:ext>
            </a:extLst>
          </p:cNvPr>
          <p:cNvSpPr>
            <a:spLocks noGrp="1"/>
          </p:cNvSpPr>
          <p:nvPr>
            <p:ph type="title"/>
          </p:nvPr>
        </p:nvSpPr>
        <p:spPr>
          <a:xfrm>
            <a:off x="938996" y="304614"/>
            <a:ext cx="10477497" cy="898555"/>
          </a:xfrm>
        </p:spPr>
        <p:txBody>
          <a:bodyPr/>
          <a:lstStyle/>
          <a:p>
            <a:r>
              <a:rPr lang="es-ES_tradnl" dirty="0">
                <a:solidFill>
                  <a:schemeClr val="tx2"/>
                </a:solidFill>
              </a:rPr>
              <a:t>Validación de transposición (GTVSDAX)</a:t>
            </a:r>
            <a:endParaRPr lang="es-ES_tradnl" b="1" dirty="0"/>
          </a:p>
        </p:txBody>
      </p:sp>
      <p:sp>
        <p:nvSpPr>
          <p:cNvPr id="6" name="Rectángulo redondeado 5">
            <a:extLst>
              <a:ext uri="{FF2B5EF4-FFF2-40B4-BE49-F238E27FC236}">
                <a16:creationId xmlns:a16="http://schemas.microsoft.com/office/drawing/2014/main" id="{D70B3641-F999-43EF-DF8F-326A329A6433}"/>
              </a:ext>
            </a:extLst>
          </p:cNvPr>
          <p:cNvSpPr/>
          <p:nvPr/>
        </p:nvSpPr>
        <p:spPr>
          <a:xfrm>
            <a:off x="2311513" y="3230380"/>
            <a:ext cx="7911779" cy="169722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2"/>
            </a:pPr>
            <a:r>
              <a:rPr lang="es-CL" sz="1200" dirty="0"/>
              <a:t>En la ventana de búsqueda en el campo “Grupo” ingresar el registro del grupo a configurar (</a:t>
            </a:r>
            <a:r>
              <a:rPr lang="es-CL" sz="1200" dirty="0" err="1"/>
              <a:t>ej</a:t>
            </a:r>
            <a:r>
              <a:rPr lang="es-CL" sz="1200" dirty="0"/>
              <a:t>: ‘</a:t>
            </a:r>
            <a:r>
              <a:rPr lang="es-ES_tradnl" sz="1200" dirty="0"/>
              <a:t>REGISTRATION</a:t>
            </a:r>
            <a:r>
              <a:rPr lang="es-CL" sz="1200" dirty="0"/>
              <a:t>’)</a:t>
            </a:r>
          </a:p>
          <a:p>
            <a:pPr marL="228600" indent="-228600">
              <a:buFont typeface="+mj-lt"/>
              <a:buAutoNum type="arabicPeriod" startAt="2"/>
            </a:pPr>
            <a:r>
              <a:rPr lang="es-CL" sz="1200" dirty="0"/>
              <a:t>Presionar el botón ‘Ir’</a:t>
            </a:r>
            <a:endParaRPr lang="pt-BR" sz="1200" dirty="0"/>
          </a:p>
        </p:txBody>
      </p:sp>
      <p:sp>
        <p:nvSpPr>
          <p:cNvPr id="9" name="Rectángulo 8">
            <a:extLst>
              <a:ext uri="{FF2B5EF4-FFF2-40B4-BE49-F238E27FC236}">
                <a16:creationId xmlns:a16="http://schemas.microsoft.com/office/drawing/2014/main" id="{56BF351C-572E-C0A2-99A8-6AE786AFC102}"/>
              </a:ext>
            </a:extLst>
          </p:cNvPr>
          <p:cNvSpPr/>
          <p:nvPr/>
        </p:nvSpPr>
        <p:spPr>
          <a:xfrm>
            <a:off x="2311513" y="1768677"/>
            <a:ext cx="1955687" cy="40594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648C4214-94C8-F186-E861-E94293CD5ECF}"/>
              </a:ext>
            </a:extLst>
          </p:cNvPr>
          <p:cNvSpPr/>
          <p:nvPr/>
        </p:nvSpPr>
        <p:spPr>
          <a:xfrm>
            <a:off x="2053243" y="217461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7" name="Rectángulo 6">
            <a:extLst>
              <a:ext uri="{FF2B5EF4-FFF2-40B4-BE49-F238E27FC236}">
                <a16:creationId xmlns:a16="http://schemas.microsoft.com/office/drawing/2014/main" id="{2811D4EC-8918-91C0-AE92-46B734C16442}"/>
              </a:ext>
            </a:extLst>
          </p:cNvPr>
          <p:cNvSpPr/>
          <p:nvPr/>
        </p:nvSpPr>
        <p:spPr>
          <a:xfrm>
            <a:off x="11416493" y="2174619"/>
            <a:ext cx="318420" cy="28918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A7036B3C-AB4F-A4AA-71FC-2B1CACD7D76A}"/>
              </a:ext>
            </a:extLst>
          </p:cNvPr>
          <p:cNvSpPr/>
          <p:nvPr/>
        </p:nvSpPr>
        <p:spPr>
          <a:xfrm>
            <a:off x="11287358" y="2494374"/>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11" name="Marcador de texto vertical 1">
            <a:extLst>
              <a:ext uri="{FF2B5EF4-FFF2-40B4-BE49-F238E27FC236}">
                <a16:creationId xmlns:a16="http://schemas.microsoft.com/office/drawing/2014/main" id="{5A6560F7-CE7E-90B9-E7C4-F2438990F234}"/>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1820239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F334E-3A78-2621-948F-1F03F29E9FE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54E8952-4177-6B05-099A-7685F201C3EB}"/>
              </a:ext>
            </a:extLst>
          </p:cNvPr>
          <p:cNvPicPr>
            <a:picLocks noChangeAspect="1"/>
          </p:cNvPicPr>
          <p:nvPr/>
        </p:nvPicPr>
        <p:blipFill>
          <a:blip r:embed="rId3"/>
          <a:stretch>
            <a:fillRect/>
          </a:stretch>
        </p:blipFill>
        <p:spPr>
          <a:xfrm>
            <a:off x="789014" y="884931"/>
            <a:ext cx="10921193" cy="4720465"/>
          </a:xfrm>
          <a:prstGeom prst="rect">
            <a:avLst/>
          </a:prstGeom>
        </p:spPr>
      </p:pic>
      <p:sp>
        <p:nvSpPr>
          <p:cNvPr id="13" name="Title 12">
            <a:extLst>
              <a:ext uri="{FF2B5EF4-FFF2-40B4-BE49-F238E27FC236}">
                <a16:creationId xmlns:a16="http://schemas.microsoft.com/office/drawing/2014/main" id="{6B275A12-16B2-7630-D7D4-8E53E5063794}"/>
              </a:ext>
            </a:extLst>
          </p:cNvPr>
          <p:cNvSpPr>
            <a:spLocks noGrp="1"/>
          </p:cNvSpPr>
          <p:nvPr>
            <p:ph type="title"/>
          </p:nvPr>
        </p:nvSpPr>
        <p:spPr>
          <a:xfrm>
            <a:off x="938996" y="304614"/>
            <a:ext cx="10477497" cy="898555"/>
          </a:xfrm>
        </p:spPr>
        <p:txBody>
          <a:bodyPr/>
          <a:lstStyle/>
          <a:p>
            <a:r>
              <a:rPr lang="es-ES_tradnl" dirty="0">
                <a:solidFill>
                  <a:schemeClr val="tx2"/>
                </a:solidFill>
              </a:rPr>
              <a:t>Validación de transposición (GTVSDAX)</a:t>
            </a:r>
            <a:br>
              <a:rPr lang="es-419" b="0" dirty="0">
                <a:effectLst/>
              </a:rPr>
            </a:br>
            <a:endParaRPr lang="es-ES_tradnl" b="1" dirty="0"/>
          </a:p>
        </p:txBody>
      </p:sp>
      <p:sp>
        <p:nvSpPr>
          <p:cNvPr id="6" name="Rectángulo redondeado 5">
            <a:extLst>
              <a:ext uri="{FF2B5EF4-FFF2-40B4-BE49-F238E27FC236}">
                <a16:creationId xmlns:a16="http://schemas.microsoft.com/office/drawing/2014/main" id="{7EF68D0A-21B1-04D3-A914-C0486A2121B0}"/>
              </a:ext>
            </a:extLst>
          </p:cNvPr>
          <p:cNvSpPr/>
          <p:nvPr/>
        </p:nvSpPr>
        <p:spPr>
          <a:xfrm>
            <a:off x="2008326" y="4460000"/>
            <a:ext cx="7911779" cy="103682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La acción anterior, filtrará la cantidad de registros de GTVSDAX mostrando solo aquellos registros que pertenezcan a criterio de grupo utilizado. Para navegar por medio de estos registros se debe utilizar la consola inferior</a:t>
            </a:r>
            <a:endParaRPr lang="pt-BR" sz="1200" dirty="0"/>
          </a:p>
        </p:txBody>
      </p:sp>
      <p:sp>
        <p:nvSpPr>
          <p:cNvPr id="9" name="Rectángulo 8">
            <a:extLst>
              <a:ext uri="{FF2B5EF4-FFF2-40B4-BE49-F238E27FC236}">
                <a16:creationId xmlns:a16="http://schemas.microsoft.com/office/drawing/2014/main" id="{5A429519-05A8-B754-C46F-A05053F2A5D0}"/>
              </a:ext>
            </a:extLst>
          </p:cNvPr>
          <p:cNvSpPr/>
          <p:nvPr/>
        </p:nvSpPr>
        <p:spPr>
          <a:xfrm>
            <a:off x="1359069" y="2221133"/>
            <a:ext cx="2235031" cy="2171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10">
            <a:extLst>
              <a:ext uri="{FF2B5EF4-FFF2-40B4-BE49-F238E27FC236}">
                <a16:creationId xmlns:a16="http://schemas.microsoft.com/office/drawing/2014/main" id="{0CE58396-398B-9AF1-5E5F-C12E464984A3}"/>
              </a:ext>
            </a:extLst>
          </p:cNvPr>
          <p:cNvSpPr/>
          <p:nvPr/>
        </p:nvSpPr>
        <p:spPr>
          <a:xfrm>
            <a:off x="865214" y="4351424"/>
            <a:ext cx="963699" cy="2171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Marcador de texto vertical 1">
            <a:extLst>
              <a:ext uri="{FF2B5EF4-FFF2-40B4-BE49-F238E27FC236}">
                <a16:creationId xmlns:a16="http://schemas.microsoft.com/office/drawing/2014/main" id="{3AC6CB17-1F9D-8A1A-371F-C7920D0D9B74}"/>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4119698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B58C6-758F-F680-D414-6FA7617CF5B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EEEB31C-61E4-B184-5E1C-99133F81BC35}"/>
              </a:ext>
            </a:extLst>
          </p:cNvPr>
          <p:cNvPicPr>
            <a:picLocks noChangeAspect="1"/>
          </p:cNvPicPr>
          <p:nvPr/>
        </p:nvPicPr>
        <p:blipFill>
          <a:blip r:embed="rId3"/>
          <a:stretch>
            <a:fillRect/>
          </a:stretch>
        </p:blipFill>
        <p:spPr>
          <a:xfrm>
            <a:off x="789014" y="884931"/>
            <a:ext cx="10921193" cy="4720465"/>
          </a:xfrm>
          <a:prstGeom prst="rect">
            <a:avLst/>
          </a:prstGeom>
        </p:spPr>
      </p:pic>
      <p:sp>
        <p:nvSpPr>
          <p:cNvPr id="13" name="Title 12">
            <a:extLst>
              <a:ext uri="{FF2B5EF4-FFF2-40B4-BE49-F238E27FC236}">
                <a16:creationId xmlns:a16="http://schemas.microsoft.com/office/drawing/2014/main" id="{83D44C5C-4120-AC6D-4D42-838512D57EC4}"/>
              </a:ext>
            </a:extLst>
          </p:cNvPr>
          <p:cNvSpPr>
            <a:spLocks noGrp="1"/>
          </p:cNvSpPr>
          <p:nvPr>
            <p:ph type="title"/>
          </p:nvPr>
        </p:nvSpPr>
        <p:spPr>
          <a:xfrm>
            <a:off x="938996" y="304614"/>
            <a:ext cx="10477497" cy="898555"/>
          </a:xfrm>
        </p:spPr>
        <p:txBody>
          <a:bodyPr/>
          <a:lstStyle/>
          <a:p>
            <a:r>
              <a:rPr lang="es-ES_tradnl" dirty="0">
                <a:solidFill>
                  <a:schemeClr val="tx2"/>
                </a:solidFill>
              </a:rPr>
              <a:t>Validación de transposición (GTVSDAX)</a:t>
            </a:r>
            <a:endParaRPr lang="es-ES_tradnl" b="1" dirty="0"/>
          </a:p>
        </p:txBody>
      </p:sp>
      <p:sp>
        <p:nvSpPr>
          <p:cNvPr id="6" name="Rectángulo redondeado 5">
            <a:extLst>
              <a:ext uri="{FF2B5EF4-FFF2-40B4-BE49-F238E27FC236}">
                <a16:creationId xmlns:a16="http://schemas.microsoft.com/office/drawing/2014/main" id="{61A5A3E2-6DCE-4028-33F3-5F34047A8014}"/>
              </a:ext>
            </a:extLst>
          </p:cNvPr>
          <p:cNvSpPr/>
          <p:nvPr/>
        </p:nvSpPr>
        <p:spPr>
          <a:xfrm>
            <a:off x="2008326" y="4460000"/>
            <a:ext cx="7911779" cy="129310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En cada uno de los registros, se requiere validar que el valor definido en el campo ‘Código Externo’ esté acorde al registro que se debe configurar. (</a:t>
            </a:r>
            <a:r>
              <a:rPr lang="es-ES_tradnl" sz="1200" dirty="0" err="1"/>
              <a:t>ej</a:t>
            </a:r>
            <a:r>
              <a:rPr lang="es-ES_tradnl" sz="1200" dirty="0"/>
              <a:t>: valor ‘N’  en la imagen)</a:t>
            </a:r>
          </a:p>
          <a:p>
            <a:endParaRPr lang="es-ES_tradnl" sz="1200" dirty="0"/>
          </a:p>
          <a:p>
            <a:r>
              <a:rPr lang="es-ES_tradnl" sz="1200" dirty="0"/>
              <a:t>A continuación se desarrolla la totalidad de registros de GTVSDAX que estarían presentes en los grupos mencionados:</a:t>
            </a:r>
            <a:endParaRPr lang="pt-BR" sz="1200" dirty="0"/>
          </a:p>
        </p:txBody>
      </p:sp>
      <p:sp>
        <p:nvSpPr>
          <p:cNvPr id="9" name="Rectángulo 8">
            <a:extLst>
              <a:ext uri="{FF2B5EF4-FFF2-40B4-BE49-F238E27FC236}">
                <a16:creationId xmlns:a16="http://schemas.microsoft.com/office/drawing/2014/main" id="{A86456E1-86D2-1466-5C79-AE65A2494189}"/>
              </a:ext>
            </a:extLst>
          </p:cNvPr>
          <p:cNvSpPr/>
          <p:nvPr/>
        </p:nvSpPr>
        <p:spPr>
          <a:xfrm>
            <a:off x="1041569" y="2398000"/>
            <a:ext cx="1663531" cy="2563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Marcador de texto vertical 1">
            <a:extLst>
              <a:ext uri="{FF2B5EF4-FFF2-40B4-BE49-F238E27FC236}">
                <a16:creationId xmlns:a16="http://schemas.microsoft.com/office/drawing/2014/main" id="{0C93BC73-6725-9C21-B2FC-802DC4BBCE57}"/>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2617787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1569D-3D2E-115D-2785-8279602935DE}"/>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4DD363A4-0664-E708-2BE2-23E3C79B9434}"/>
              </a:ext>
            </a:extLst>
          </p:cNvPr>
          <p:cNvSpPr>
            <a:spLocks noGrp="1"/>
          </p:cNvSpPr>
          <p:nvPr>
            <p:ph type="title"/>
          </p:nvPr>
        </p:nvSpPr>
        <p:spPr>
          <a:xfrm>
            <a:off x="938996" y="304614"/>
            <a:ext cx="10477497" cy="898555"/>
          </a:xfrm>
        </p:spPr>
        <p:txBody>
          <a:bodyPr/>
          <a:lstStyle/>
          <a:p>
            <a:r>
              <a:rPr lang="es-ES_tradnl" dirty="0">
                <a:solidFill>
                  <a:schemeClr val="tx2"/>
                </a:solidFill>
              </a:rPr>
              <a:t>Validación de transposición (GTVSDAX)</a:t>
            </a:r>
            <a:endParaRPr lang="es-ES_tradnl" b="1" dirty="0"/>
          </a:p>
        </p:txBody>
      </p:sp>
      <p:graphicFrame>
        <p:nvGraphicFramePr>
          <p:cNvPr id="3" name="Tabla 2">
            <a:extLst>
              <a:ext uri="{FF2B5EF4-FFF2-40B4-BE49-F238E27FC236}">
                <a16:creationId xmlns:a16="http://schemas.microsoft.com/office/drawing/2014/main" id="{AE89A96C-93A4-8542-8749-52C2DCCAD127}"/>
              </a:ext>
            </a:extLst>
          </p:cNvPr>
          <p:cNvGraphicFramePr>
            <a:graphicFrameLocks noGrp="1"/>
          </p:cNvGraphicFramePr>
          <p:nvPr/>
        </p:nvGraphicFramePr>
        <p:xfrm>
          <a:off x="1111405" y="1544311"/>
          <a:ext cx="10439999" cy="4595874"/>
        </p:xfrm>
        <a:graphic>
          <a:graphicData uri="http://schemas.openxmlformats.org/drawingml/2006/table">
            <a:tbl>
              <a:tblPr firstRow="1" bandRow="1">
                <a:tableStyleId>{5C22544A-7EE6-4342-B048-85BDC9FD1C3A}</a:tableStyleId>
              </a:tblPr>
              <a:tblGrid>
                <a:gridCol w="580542">
                  <a:extLst>
                    <a:ext uri="{9D8B030D-6E8A-4147-A177-3AD203B41FA5}">
                      <a16:colId xmlns:a16="http://schemas.microsoft.com/office/drawing/2014/main" val="96973868"/>
                    </a:ext>
                  </a:extLst>
                </a:gridCol>
                <a:gridCol w="1166622">
                  <a:extLst>
                    <a:ext uri="{9D8B030D-6E8A-4147-A177-3AD203B41FA5}">
                      <a16:colId xmlns:a16="http://schemas.microsoft.com/office/drawing/2014/main" val="3671970364"/>
                    </a:ext>
                  </a:extLst>
                </a:gridCol>
                <a:gridCol w="1127125">
                  <a:extLst>
                    <a:ext uri="{9D8B030D-6E8A-4147-A177-3AD203B41FA5}">
                      <a16:colId xmlns:a16="http://schemas.microsoft.com/office/drawing/2014/main" val="1822289275"/>
                    </a:ext>
                  </a:extLst>
                </a:gridCol>
                <a:gridCol w="1171575">
                  <a:extLst>
                    <a:ext uri="{9D8B030D-6E8A-4147-A177-3AD203B41FA5}">
                      <a16:colId xmlns:a16="http://schemas.microsoft.com/office/drawing/2014/main" val="3567961620"/>
                    </a:ext>
                  </a:extLst>
                </a:gridCol>
                <a:gridCol w="6394135">
                  <a:extLst>
                    <a:ext uri="{9D8B030D-6E8A-4147-A177-3AD203B41FA5}">
                      <a16:colId xmlns:a16="http://schemas.microsoft.com/office/drawing/2014/main" val="1570736915"/>
                    </a:ext>
                  </a:extLst>
                </a:gridCol>
              </a:tblGrid>
              <a:tr h="429590">
                <a:tc>
                  <a:txBody>
                    <a:bodyPr/>
                    <a:lstStyle/>
                    <a:p>
                      <a:pPr marL="0" algn="ctr" defTabSz="914400" rtl="0" eaLnBrk="1" fontAlgn="ctr" latinLnBrk="0" hangingPunct="1"/>
                      <a:r>
                        <a:rPr lang="es-419" sz="1200" b="1" u="none" strike="noStrike" kern="1200" noProof="0" dirty="0" err="1">
                          <a:solidFill>
                            <a:schemeClr val="lt1"/>
                          </a:solidFill>
                          <a:effectLst/>
                          <a:latin typeface="+mn-lt"/>
                          <a:ea typeface="+mn-ea"/>
                          <a:cs typeface="+mn-cs"/>
                        </a:rPr>
                        <a:t>Nro</a:t>
                      </a:r>
                      <a:endParaRPr lang="es-419" sz="1200" b="1" u="none" strike="noStrike" kern="1200" noProof="0" dirty="0">
                        <a:solidFill>
                          <a:schemeClr val="lt1"/>
                        </a:solidFill>
                        <a:effectLst/>
                        <a:latin typeface="+mn-lt"/>
                        <a:ea typeface="+mn-ea"/>
                        <a:cs typeface="+mn-cs"/>
                      </a:endParaRPr>
                    </a:p>
                  </a:txBody>
                  <a:tcPr marL="0" marR="0" marT="0" marB="0" anchor="ctr"/>
                </a:tc>
                <a:tc>
                  <a:txBody>
                    <a:bodyPr/>
                    <a:lstStyle/>
                    <a:p>
                      <a:pPr marL="0" algn="ctr" defTabSz="914400" rtl="0" eaLnBrk="1" fontAlgn="ctr" latinLnBrk="0" hangingPunct="1"/>
                      <a:r>
                        <a:rPr lang="es-419" sz="1200" b="1" u="none" strike="noStrike" kern="1200" noProof="0" dirty="0">
                          <a:solidFill>
                            <a:schemeClr val="lt1"/>
                          </a:solidFill>
                          <a:effectLst/>
                          <a:latin typeface="+mn-lt"/>
                          <a:ea typeface="+mn-ea"/>
                          <a:cs typeface="+mn-cs"/>
                        </a:rPr>
                        <a:t>Grupo</a:t>
                      </a:r>
                    </a:p>
                  </a:txBody>
                  <a:tcPr marL="0" marR="0" marT="0" marB="0" anchor="ctr"/>
                </a:tc>
                <a:tc>
                  <a:txBody>
                    <a:bodyPr/>
                    <a:lstStyle/>
                    <a:p>
                      <a:pPr marL="0" algn="ctr" defTabSz="914400" rtl="0" eaLnBrk="1" fontAlgn="ctr" latinLnBrk="0" hangingPunct="1"/>
                      <a:r>
                        <a:rPr lang="es-419" sz="1200" b="1" u="none" strike="noStrike" kern="1200" noProof="0" dirty="0">
                          <a:solidFill>
                            <a:schemeClr val="lt1"/>
                          </a:solidFill>
                          <a:effectLst/>
                          <a:latin typeface="+mn-lt"/>
                          <a:ea typeface="+mn-ea"/>
                          <a:cs typeface="+mn-cs"/>
                        </a:rPr>
                        <a:t>Código</a:t>
                      </a:r>
                    </a:p>
                  </a:txBody>
                  <a:tcPr marL="0" marR="0" marT="0" marB="0" anchor="ctr"/>
                </a:tc>
                <a:tc>
                  <a:txBody>
                    <a:bodyPr/>
                    <a:lstStyle/>
                    <a:p>
                      <a:pPr algn="ctr" fontAlgn="ctr"/>
                      <a:r>
                        <a:rPr lang="es-419" sz="1200" u="none" strike="noStrike" noProof="0" dirty="0">
                          <a:effectLst/>
                          <a:latin typeface="+mn-lt"/>
                        </a:rPr>
                        <a:t>Código Externo</a:t>
                      </a:r>
                      <a:endParaRPr lang="es-419" sz="1200" b="0" i="0" u="none" strike="noStrike" noProof="0" dirty="0">
                        <a:solidFill>
                          <a:srgbClr val="FFFFFF"/>
                        </a:solidFill>
                        <a:effectLst/>
                        <a:latin typeface="+mn-lt"/>
                      </a:endParaRPr>
                    </a:p>
                  </a:txBody>
                  <a:tcPr marL="0" marR="0" marT="0" marB="0" anchor="ctr"/>
                </a:tc>
                <a:tc>
                  <a:txBody>
                    <a:bodyPr/>
                    <a:lstStyle/>
                    <a:p>
                      <a:pPr algn="ctr" fontAlgn="ctr"/>
                      <a:r>
                        <a:rPr lang="es-419" sz="1200" u="none" strike="noStrike" noProof="0" dirty="0">
                          <a:effectLst/>
                          <a:latin typeface="+mn-lt"/>
                        </a:rPr>
                        <a:t>Comentario</a:t>
                      </a:r>
                      <a:endParaRPr lang="es-419" sz="1200" b="0" i="0" u="none" strike="noStrike" noProof="0" dirty="0">
                        <a:solidFill>
                          <a:srgbClr val="FFFFFF"/>
                        </a:solidFill>
                        <a:effectLst/>
                        <a:latin typeface="+mn-lt"/>
                      </a:endParaRPr>
                    </a:p>
                  </a:txBody>
                  <a:tcPr marL="0" marR="0" marT="0" marB="0" anchor="ctr"/>
                </a:tc>
                <a:extLst>
                  <a:ext uri="{0D108BD9-81ED-4DB2-BD59-A6C34878D82A}">
                    <a16:rowId xmlns:a16="http://schemas.microsoft.com/office/drawing/2014/main" val="1600408903"/>
                  </a:ext>
                </a:extLst>
              </a:tr>
              <a:tr h="429590">
                <a:tc>
                  <a:txBody>
                    <a:bodyPr/>
                    <a:lstStyle/>
                    <a:p>
                      <a:pPr algn="ctr" fontAlgn="ctr"/>
                      <a:r>
                        <a:rPr lang="es-419" sz="1200" b="0" i="0" u="none" strike="noStrike" noProof="0" dirty="0">
                          <a:solidFill>
                            <a:srgbClr val="340040"/>
                          </a:solidFill>
                          <a:effectLst/>
                          <a:latin typeface="+mn-lt"/>
                        </a:rPr>
                        <a:t>1</a:t>
                      </a:r>
                    </a:p>
                  </a:txBody>
                  <a:tcPr marL="0" marR="0" marT="0" marB="0" anchor="ctr"/>
                </a:tc>
                <a:tc>
                  <a:txBody>
                    <a:bodyPr/>
                    <a:lstStyle/>
                    <a:p>
                      <a:pPr algn="ctr" fontAlgn="ctr"/>
                      <a:r>
                        <a:rPr lang="es-419" sz="1200" u="none" strike="noStrike" noProof="0" dirty="0">
                          <a:solidFill>
                            <a:sysClr val="windowText" lastClr="000000"/>
                          </a:solidFill>
                          <a:effectLst/>
                        </a:rPr>
                        <a:t>REGISTRATION</a:t>
                      </a:r>
                      <a:endParaRPr lang="es-419" sz="1200" b="0" i="0" u="none" strike="noStrike" noProof="0" dirty="0">
                        <a:solidFill>
                          <a:sysClr val="windowText" lastClr="000000"/>
                        </a:solidFill>
                        <a:effectLst/>
                        <a:latin typeface="Libre Franklin" pitchFamily="2" charset="0"/>
                      </a:endParaRPr>
                    </a:p>
                  </a:txBody>
                  <a:tcPr marL="0" marR="0" marT="0" marB="0" anchor="ctr"/>
                </a:tc>
                <a:tc>
                  <a:txBody>
                    <a:bodyPr/>
                    <a:lstStyle/>
                    <a:p>
                      <a:pPr algn="ctr" fontAlgn="ctr"/>
                      <a:r>
                        <a:rPr lang="es-419" sz="1200" u="none" strike="noStrike" noProof="0" dirty="0">
                          <a:solidFill>
                            <a:sysClr val="windowText" lastClr="000000"/>
                          </a:solidFill>
                          <a:effectLst/>
                        </a:rPr>
                        <a:t>ADMINDROP</a:t>
                      </a:r>
                      <a:endParaRPr lang="es-419" sz="1200" b="0" i="0" u="none" strike="noStrike" noProof="0" dirty="0">
                        <a:solidFill>
                          <a:sysClr val="windowText" lastClr="000000"/>
                        </a:solidFill>
                        <a:effectLst/>
                        <a:latin typeface="Libre Franklin" pitchFamily="2" charset="0"/>
                      </a:endParaRPr>
                    </a:p>
                  </a:txBody>
                  <a:tcPr marL="0" marR="0" marT="0" marB="0" anchor="ctr"/>
                </a:tc>
                <a:tc>
                  <a:txBody>
                    <a:bodyPr/>
                    <a:lstStyle/>
                    <a:p>
                      <a:pPr algn="ctr" fontAlgn="ctr"/>
                      <a:r>
                        <a:rPr lang="es-419" sz="1200" u="none" strike="noStrike" noProof="0" dirty="0">
                          <a:solidFill>
                            <a:sysClr val="windowText" lastClr="000000"/>
                          </a:solidFill>
                          <a:effectLst/>
                        </a:rPr>
                        <a:t>No Usar</a:t>
                      </a:r>
                      <a:endParaRPr lang="es-419" sz="1200" b="0" i="0" u="none" strike="noStrike" noProof="0" dirty="0">
                        <a:solidFill>
                          <a:sysClr val="windowText" lastClr="000000"/>
                        </a:solidFill>
                        <a:effectLst/>
                        <a:latin typeface="Libre Franklin" pitchFamily="2" charset="0"/>
                      </a:endParaRPr>
                    </a:p>
                  </a:txBody>
                  <a:tcPr marL="0" marR="0" marT="0" marB="0" anchor="ctr"/>
                </a:tc>
                <a:tc>
                  <a:txBody>
                    <a:bodyPr/>
                    <a:lstStyle/>
                    <a:p>
                      <a:pPr algn="l" fontAlgn="ctr"/>
                      <a:r>
                        <a:rPr lang="es-419" sz="1200" u="none" strike="noStrike" noProof="0" dirty="0">
                          <a:solidFill>
                            <a:sysClr val="windowText" lastClr="000000"/>
                          </a:solidFill>
                          <a:effectLst/>
                        </a:rPr>
                        <a:t>Esta configuración ha sido pasada a SOATERM. Ya no debe ser configurada acá.</a:t>
                      </a:r>
                      <a:endParaRPr lang="es-419" sz="1200" b="0" i="0" u="none" strike="noStrike" noProof="0" dirty="0">
                        <a:solidFill>
                          <a:sysClr val="windowText" lastClr="000000"/>
                        </a:solidFill>
                        <a:effectLst/>
                        <a:latin typeface="Libre Franklin" pitchFamily="2" charset="0"/>
                      </a:endParaRPr>
                    </a:p>
                  </a:txBody>
                  <a:tcPr marL="0" marR="0" marT="0" marB="0" anchor="ctr"/>
                </a:tc>
                <a:extLst>
                  <a:ext uri="{0D108BD9-81ED-4DB2-BD59-A6C34878D82A}">
                    <a16:rowId xmlns:a16="http://schemas.microsoft.com/office/drawing/2014/main" val="3807490090"/>
                  </a:ext>
                </a:extLst>
              </a:tr>
              <a:tr h="42959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419" sz="1200" b="0" i="0" u="none" strike="noStrike" noProof="0" dirty="0">
                          <a:solidFill>
                            <a:srgbClr val="340040"/>
                          </a:solidFill>
                          <a:effectLst/>
                          <a:latin typeface="+mn-lt"/>
                        </a:rPr>
                        <a:t>2</a:t>
                      </a:r>
                    </a:p>
                  </a:txBody>
                  <a:tcPr marL="0" marR="0" marT="0" marB="0" anchor="ctr"/>
                </a:tc>
                <a:tc>
                  <a:txBody>
                    <a:bodyPr/>
                    <a:lstStyle/>
                    <a:p>
                      <a:pPr algn="ctr" fontAlgn="ctr"/>
                      <a:r>
                        <a:rPr lang="es-419" sz="1200" u="none" strike="noStrike" noProof="0" dirty="0">
                          <a:solidFill>
                            <a:sysClr val="windowText" lastClr="000000"/>
                          </a:solidFill>
                          <a:effectLst/>
                        </a:rPr>
                        <a:t>REGISTRATION</a:t>
                      </a:r>
                      <a:endParaRPr lang="es-419" sz="1200" b="0" i="0" u="none" strike="noStrike" noProof="0" dirty="0">
                        <a:solidFill>
                          <a:sysClr val="windowText" lastClr="000000"/>
                        </a:solidFill>
                        <a:effectLst/>
                        <a:latin typeface="Libre Franklin" pitchFamily="2" charset="0"/>
                      </a:endParaRPr>
                    </a:p>
                  </a:txBody>
                  <a:tcPr marL="0" marR="0" marT="0" marB="0" anchor="ctr"/>
                </a:tc>
                <a:tc>
                  <a:txBody>
                    <a:bodyPr/>
                    <a:lstStyle/>
                    <a:p>
                      <a:pPr algn="ctr" fontAlgn="ctr"/>
                      <a:r>
                        <a:rPr lang="es-419" sz="1200" u="none" strike="noStrike" noProof="0" dirty="0">
                          <a:solidFill>
                            <a:sysClr val="windowText" lastClr="000000"/>
                          </a:solidFill>
                          <a:effectLst/>
                        </a:rPr>
                        <a:t>AUTODROP</a:t>
                      </a:r>
                      <a:endParaRPr lang="es-419" sz="1200" b="0" i="0" u="none" strike="noStrike" noProof="0" dirty="0">
                        <a:solidFill>
                          <a:sysClr val="windowText" lastClr="000000"/>
                        </a:solidFill>
                        <a:effectLst/>
                        <a:latin typeface="Libre Franklin" pitchFamily="2" charset="0"/>
                      </a:endParaRPr>
                    </a:p>
                  </a:txBody>
                  <a:tcPr marL="0" marR="0" marT="0" marB="0" anchor="ctr"/>
                </a:tc>
                <a:tc>
                  <a:txBody>
                    <a:bodyPr/>
                    <a:lstStyle/>
                    <a:p>
                      <a:pPr algn="ctr" fontAlgn="ctr"/>
                      <a:r>
                        <a:rPr lang="es-419" sz="1200" u="none" strike="noStrike" noProof="0" dirty="0">
                          <a:solidFill>
                            <a:sysClr val="windowText" lastClr="000000"/>
                          </a:solidFill>
                          <a:effectLst/>
                        </a:rPr>
                        <a:t>No Usar</a:t>
                      </a:r>
                      <a:endParaRPr lang="es-419" sz="1200" b="0" i="0" u="none" strike="noStrike" noProof="0" dirty="0">
                        <a:solidFill>
                          <a:sysClr val="windowText" lastClr="000000"/>
                        </a:solidFill>
                        <a:effectLst/>
                        <a:latin typeface="Libre Franklin" pitchFamily="2" charset="0"/>
                      </a:endParaRPr>
                    </a:p>
                  </a:txBody>
                  <a:tcPr marL="0" marR="0" marT="0" marB="0" anchor="ctr"/>
                </a:tc>
                <a:tc>
                  <a:txBody>
                    <a:bodyPr/>
                    <a:lstStyle/>
                    <a:p>
                      <a:pPr algn="l" fontAlgn="ctr"/>
                      <a:r>
                        <a:rPr lang="es-419" sz="1200" u="none" strike="noStrike" noProof="0" dirty="0">
                          <a:solidFill>
                            <a:sysClr val="windowText" lastClr="000000"/>
                          </a:solidFill>
                          <a:effectLst/>
                        </a:rPr>
                        <a:t>Esta configuración ha sido pasada a SOATERM. Ya no debe ser configurada acá.</a:t>
                      </a:r>
                      <a:endParaRPr lang="es-419" sz="1200" b="0" i="0" u="none" strike="noStrike" noProof="0" dirty="0">
                        <a:solidFill>
                          <a:sysClr val="windowText" lastClr="000000"/>
                        </a:solidFill>
                        <a:effectLst/>
                        <a:latin typeface="Libre Franklin" pitchFamily="2" charset="0"/>
                      </a:endParaRPr>
                    </a:p>
                  </a:txBody>
                  <a:tcPr marL="0" marR="0" marT="0" marB="0" anchor="ctr"/>
                </a:tc>
                <a:extLst>
                  <a:ext uri="{0D108BD9-81ED-4DB2-BD59-A6C34878D82A}">
                    <a16:rowId xmlns:a16="http://schemas.microsoft.com/office/drawing/2014/main" val="580853560"/>
                  </a:ext>
                </a:extLst>
              </a:tr>
              <a:tr h="42959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419" sz="1200" b="0" i="0" u="none" strike="noStrike" kern="1200" cap="none" spc="0" normalizeH="0" baseline="0" noProof="0" dirty="0">
                          <a:ln>
                            <a:noFill/>
                          </a:ln>
                          <a:solidFill>
                            <a:srgbClr val="340040"/>
                          </a:solidFill>
                          <a:effectLst/>
                          <a:uLnTx/>
                          <a:uFillTx/>
                          <a:latin typeface="+mn-lt"/>
                          <a:ea typeface="+mn-ea"/>
                          <a:cs typeface="+mn-cs"/>
                        </a:rPr>
                        <a:t>3</a:t>
                      </a:r>
                    </a:p>
                  </a:txBody>
                  <a:tcPr marL="0" marR="0" marT="0" marB="0" anchor="ctr"/>
                </a:tc>
                <a:tc>
                  <a:txBody>
                    <a:bodyPr/>
                    <a:lstStyle/>
                    <a:p>
                      <a:pPr algn="ctr" fontAlgn="ctr"/>
                      <a:r>
                        <a:rPr lang="es-419" sz="1200" u="none" strike="noStrike" noProof="0" dirty="0">
                          <a:solidFill>
                            <a:sysClr val="windowText" lastClr="000000"/>
                          </a:solidFill>
                          <a:effectLst/>
                        </a:rPr>
                        <a:t>REGISTRATION</a:t>
                      </a:r>
                      <a:endParaRPr lang="es-419" sz="1200" b="0" i="0" u="none" strike="noStrike" noProof="0" dirty="0">
                        <a:solidFill>
                          <a:sysClr val="windowText" lastClr="000000"/>
                        </a:solidFill>
                        <a:effectLst/>
                        <a:latin typeface="Libre Franklin" pitchFamily="2" charset="0"/>
                      </a:endParaRPr>
                    </a:p>
                  </a:txBody>
                  <a:tcPr marL="0" marR="0" marT="0" marB="0" anchor="ctr"/>
                </a:tc>
                <a:tc>
                  <a:txBody>
                    <a:bodyPr/>
                    <a:lstStyle/>
                    <a:p>
                      <a:pPr algn="ctr" fontAlgn="ctr"/>
                      <a:r>
                        <a:rPr lang="es-419" sz="1200" u="none" strike="noStrike" noProof="0" dirty="0">
                          <a:solidFill>
                            <a:sysClr val="windowText" lastClr="000000"/>
                          </a:solidFill>
                          <a:effectLst/>
                        </a:rPr>
                        <a:t>REGACCTIME</a:t>
                      </a:r>
                      <a:endParaRPr lang="es-419" sz="1200" b="0" i="0" u="none" strike="noStrike" noProof="0" dirty="0">
                        <a:solidFill>
                          <a:sysClr val="windowText" lastClr="000000"/>
                        </a:solidFill>
                        <a:effectLst/>
                        <a:latin typeface="Libre Franklin" pitchFamily="2" charset="0"/>
                      </a:endParaRPr>
                    </a:p>
                  </a:txBody>
                  <a:tcPr marL="0" marR="0" marT="0" marB="0" anchor="ctr"/>
                </a:tc>
                <a:tc>
                  <a:txBody>
                    <a:bodyPr/>
                    <a:lstStyle/>
                    <a:p>
                      <a:pPr algn="ctr" fontAlgn="ctr"/>
                      <a:r>
                        <a:rPr lang="es-419" sz="1200" u="none" strike="noStrike" noProof="0" dirty="0">
                          <a:solidFill>
                            <a:sysClr val="windowText" lastClr="000000"/>
                          </a:solidFill>
                          <a:effectLst/>
                        </a:rPr>
                        <a:t>1</a:t>
                      </a:r>
                      <a:endParaRPr lang="es-419" sz="1200" b="0" i="0" u="none" strike="noStrike" noProof="0" dirty="0">
                        <a:solidFill>
                          <a:sysClr val="windowText" lastClr="000000"/>
                        </a:solidFill>
                        <a:effectLst/>
                        <a:latin typeface="Libre Franklin" pitchFamily="2" charset="0"/>
                      </a:endParaRPr>
                    </a:p>
                  </a:txBody>
                  <a:tcPr marL="0" marR="0" marT="0" marB="0" anchor="ctr"/>
                </a:tc>
                <a:tc>
                  <a:txBody>
                    <a:bodyPr/>
                    <a:lstStyle/>
                    <a:p>
                      <a:pPr algn="l" fontAlgn="ctr"/>
                      <a:r>
                        <a:rPr lang="es-419" sz="1200" u="none" strike="noStrike" noProof="0" dirty="0">
                          <a:solidFill>
                            <a:sysClr val="windowText" lastClr="000000"/>
                          </a:solidFill>
                          <a:effectLst/>
                        </a:rPr>
                        <a:t> Valor por defecto 60 si no se ingresa uno diferente número de minutos antes del tiempo límite para que un usuario pueda acceder al Banner Self-Service para realizar inscripción cuando la página SFAREGS se esté utilizando.</a:t>
                      </a:r>
                      <a:endParaRPr lang="es-419" sz="1200" b="0" i="0" u="none" strike="noStrike" noProof="0" dirty="0">
                        <a:solidFill>
                          <a:sysClr val="windowText" lastClr="000000"/>
                        </a:solidFill>
                        <a:effectLst/>
                        <a:latin typeface="Libre Franklin" pitchFamily="2" charset="0"/>
                      </a:endParaRPr>
                    </a:p>
                  </a:txBody>
                  <a:tcPr marL="0" marR="0" marT="0" marB="0" anchor="ctr"/>
                </a:tc>
                <a:extLst>
                  <a:ext uri="{0D108BD9-81ED-4DB2-BD59-A6C34878D82A}">
                    <a16:rowId xmlns:a16="http://schemas.microsoft.com/office/drawing/2014/main" val="3452798"/>
                  </a:ext>
                </a:extLst>
              </a:tr>
              <a:tr h="42959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419" sz="1200" b="0" i="0" u="none" strike="noStrike" kern="1200" cap="none" spc="0" normalizeH="0" baseline="0" noProof="0" dirty="0">
                          <a:ln>
                            <a:noFill/>
                          </a:ln>
                          <a:solidFill>
                            <a:srgbClr val="340040"/>
                          </a:solidFill>
                          <a:effectLst/>
                          <a:uLnTx/>
                          <a:uFillTx/>
                          <a:latin typeface="+mn-lt"/>
                          <a:ea typeface="+mn-ea"/>
                          <a:cs typeface="+mn-cs"/>
                        </a:rPr>
                        <a:t>4</a:t>
                      </a:r>
                    </a:p>
                  </a:txBody>
                  <a:tcPr marL="0" marR="0" marT="0" marB="0" anchor="ctr"/>
                </a:tc>
                <a:tc>
                  <a:txBody>
                    <a:bodyPr/>
                    <a:lstStyle/>
                    <a:p>
                      <a:pPr algn="ctr" fontAlgn="ctr"/>
                      <a:r>
                        <a:rPr lang="es-419" sz="1200" u="none" strike="noStrike" noProof="0" dirty="0">
                          <a:solidFill>
                            <a:sysClr val="windowText" lastClr="000000"/>
                          </a:solidFill>
                          <a:effectLst/>
                        </a:rPr>
                        <a:t>REGISTRATION</a:t>
                      </a:r>
                      <a:endParaRPr lang="es-419" sz="1200" b="0" i="0" u="none" strike="noStrike" noProof="0" dirty="0">
                        <a:solidFill>
                          <a:schemeClr val="tx1"/>
                        </a:solidFill>
                        <a:effectLst/>
                        <a:latin typeface="Libre Franklin" pitchFamily="2" charset="0"/>
                      </a:endParaRPr>
                    </a:p>
                  </a:txBody>
                  <a:tcPr marL="0" marR="0" marT="0" marB="0" anchor="ctr"/>
                </a:tc>
                <a:tc>
                  <a:txBody>
                    <a:bodyPr/>
                    <a:lstStyle/>
                    <a:p>
                      <a:pPr algn="ctr" fontAlgn="ctr"/>
                      <a:r>
                        <a:rPr lang="es-419" sz="1200" u="none" strike="noStrike" kern="1200" noProof="0" dirty="0">
                          <a:solidFill>
                            <a:sysClr val="windowText" lastClr="000000"/>
                          </a:solidFill>
                          <a:effectLst/>
                          <a:latin typeface="+mn-lt"/>
                          <a:ea typeface="+mn-ea"/>
                          <a:cs typeface="+mn-cs"/>
                        </a:rPr>
                        <a:t>REGACCSESS</a:t>
                      </a:r>
                    </a:p>
                  </a:txBody>
                  <a:tcPr marL="0" marR="0" marT="0" marB="0" anchor="ctr"/>
                </a:tc>
                <a:tc>
                  <a:txBody>
                    <a:bodyPr/>
                    <a:lstStyle/>
                    <a:p>
                      <a:pPr algn="ctr" fontAlgn="ctr"/>
                      <a:r>
                        <a:rPr lang="es-419" sz="1200" u="none" strike="noStrike" kern="1200" noProof="0" dirty="0">
                          <a:solidFill>
                            <a:sysClr val="windowText" lastClr="000000"/>
                          </a:solidFill>
                          <a:effectLst/>
                          <a:latin typeface="+mn-lt"/>
                          <a:ea typeface="+mn-ea"/>
                          <a:cs typeface="+mn-cs"/>
                        </a:rPr>
                        <a:t>Y/N</a:t>
                      </a:r>
                    </a:p>
                  </a:txBody>
                  <a:tcPr marL="0" marR="0" marT="0" marB="0" anchor="ctr"/>
                </a:tc>
                <a:tc>
                  <a:txBody>
                    <a:bodyPr/>
                    <a:lstStyle/>
                    <a:p>
                      <a:pPr algn="l" fontAlgn="ctr"/>
                      <a:r>
                        <a:rPr lang="es-419" sz="1200" u="none" strike="noStrike" kern="1200" noProof="0" dirty="0">
                          <a:solidFill>
                            <a:sysClr val="windowText" lastClr="000000"/>
                          </a:solidFill>
                          <a:effectLst/>
                          <a:latin typeface="+mn-lt"/>
                          <a:ea typeface="+mn-ea"/>
                          <a:cs typeface="+mn-cs"/>
                        </a:rPr>
                        <a:t>Sí o No para indicar si se puede </a:t>
                      </a:r>
                      <a:r>
                        <a:rPr lang="es-CO" sz="1200" u="none" strike="noStrike" kern="1200" noProof="0" dirty="0">
                          <a:solidFill>
                            <a:sysClr val="windowText" lastClr="000000"/>
                          </a:solidFill>
                          <a:effectLst/>
                          <a:latin typeface="+mn-lt"/>
                          <a:ea typeface="+mn-ea"/>
                          <a:cs typeface="+mn-cs"/>
                        </a:rPr>
                        <a:t>Permitir múltiples sesiones de inscripción </a:t>
                      </a:r>
                      <a:r>
                        <a:rPr lang="es-419" sz="1200" u="none" strike="noStrike" kern="1200" noProof="0" dirty="0">
                          <a:solidFill>
                            <a:sysClr val="windowText" lastClr="000000"/>
                          </a:solidFill>
                          <a:effectLst/>
                          <a:latin typeface="+mn-lt"/>
                          <a:ea typeface="+mn-ea"/>
                          <a:cs typeface="+mn-cs"/>
                        </a:rPr>
                        <a:t>concurrente dentro de un solo navegador o entre diferentes navegadores. </a:t>
                      </a:r>
                      <a:r>
                        <a:rPr lang="es-CO" sz="1200" u="none" strike="noStrike" kern="1200" noProof="0" dirty="0">
                          <a:solidFill>
                            <a:sysClr val="windowText" lastClr="000000"/>
                          </a:solidFill>
                          <a:effectLst/>
                          <a:latin typeface="+mn-lt"/>
                          <a:ea typeface="+mn-ea"/>
                          <a:cs typeface="+mn-cs"/>
                        </a:rPr>
                        <a:t>(Y) Permitir múltiples sesiones de registro.  (N) Permitir solo una sesión de registro activa.</a:t>
                      </a:r>
                      <a:endParaRPr lang="es-419" sz="1200" u="none" strike="noStrike" kern="1200" noProof="0" dirty="0">
                        <a:solidFill>
                          <a:sysClr val="windowText" lastClr="000000"/>
                        </a:solidFill>
                        <a:effectLst/>
                        <a:latin typeface="+mn-lt"/>
                        <a:ea typeface="+mn-ea"/>
                        <a:cs typeface="+mn-cs"/>
                      </a:endParaRPr>
                    </a:p>
                  </a:txBody>
                  <a:tcPr marL="0" marR="0" marT="0" marB="0" anchor="ctr"/>
                </a:tc>
                <a:extLst>
                  <a:ext uri="{0D108BD9-81ED-4DB2-BD59-A6C34878D82A}">
                    <a16:rowId xmlns:a16="http://schemas.microsoft.com/office/drawing/2014/main" val="3682990418"/>
                  </a:ext>
                </a:extLst>
              </a:tr>
              <a:tr h="42959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419" sz="1200" b="0" i="0" u="none" strike="noStrike" kern="1200" cap="none" spc="0" normalizeH="0" baseline="0" noProof="0" dirty="0">
                          <a:ln>
                            <a:noFill/>
                          </a:ln>
                          <a:solidFill>
                            <a:srgbClr val="340040"/>
                          </a:solidFill>
                          <a:effectLst/>
                          <a:uLnTx/>
                          <a:uFillTx/>
                          <a:latin typeface="+mn-lt"/>
                          <a:ea typeface="+mn-ea"/>
                          <a:cs typeface="+mn-cs"/>
                        </a:rPr>
                        <a:t>1</a:t>
                      </a:r>
                    </a:p>
                  </a:txBody>
                  <a:tcPr marL="0" marR="0" marT="0" marB="0" anchor="ctr"/>
                </a:tc>
                <a:tc>
                  <a:txBody>
                    <a:bodyPr/>
                    <a:lstStyle/>
                    <a:p>
                      <a:pPr algn="ctr" fontAlgn="ctr"/>
                      <a:r>
                        <a:rPr lang="es-419" sz="1200" u="none" strike="noStrike" noProof="0" dirty="0">
                          <a:solidFill>
                            <a:schemeClr val="tx1"/>
                          </a:solidFill>
                          <a:effectLst/>
                        </a:rPr>
                        <a:t>REGPROJSTRUCT</a:t>
                      </a:r>
                      <a:endParaRPr lang="es-419" sz="1200" b="0" i="0" u="none" strike="noStrike" noProof="0" dirty="0">
                        <a:solidFill>
                          <a:schemeClr val="tx1"/>
                        </a:solidFill>
                        <a:effectLst/>
                        <a:latin typeface="Libre Franklin" pitchFamily="2" charset="0"/>
                      </a:endParaRPr>
                    </a:p>
                  </a:txBody>
                  <a:tcPr marL="0" marR="0" marT="0" marB="0" anchor="ctr"/>
                </a:tc>
                <a:tc>
                  <a:txBody>
                    <a:bodyPr/>
                    <a:lstStyle/>
                    <a:p>
                      <a:pPr algn="ctr" fontAlgn="ctr"/>
                      <a:r>
                        <a:rPr lang="es-419" sz="1200" b="0" u="none" strike="noStrike" noProof="0" dirty="0">
                          <a:solidFill>
                            <a:schemeClr val="tx1"/>
                          </a:solidFill>
                          <a:effectLst/>
                        </a:rPr>
                        <a:t>AREASELECT</a:t>
                      </a:r>
                      <a:endParaRPr lang="es-419" sz="1200" b="0" i="0" u="none" strike="noStrike" noProof="0" dirty="0">
                        <a:solidFill>
                          <a:schemeClr val="tx1"/>
                        </a:solidFill>
                        <a:effectLst/>
                        <a:latin typeface="Libre Franklin" pitchFamily="2" charset="0"/>
                      </a:endParaRPr>
                    </a:p>
                  </a:txBody>
                  <a:tcPr marL="0" marR="0" marT="0" marB="0" anchor="ctr"/>
                </a:tc>
                <a:tc>
                  <a:txBody>
                    <a:bodyPr/>
                    <a:lstStyle/>
                    <a:p>
                      <a:pPr algn="ctr" fontAlgn="ctr"/>
                      <a:r>
                        <a:rPr lang="es-419" sz="1200" b="0" u="none" strike="noStrike" noProof="0" dirty="0">
                          <a:solidFill>
                            <a:schemeClr val="tx1"/>
                          </a:solidFill>
                          <a:effectLst/>
                        </a:rPr>
                        <a:t>P</a:t>
                      </a:r>
                      <a:endParaRPr lang="es-419" sz="1200" b="0" i="0" u="none" strike="noStrike" noProof="0" dirty="0">
                        <a:solidFill>
                          <a:schemeClr val="tx1"/>
                        </a:solidFill>
                        <a:effectLst/>
                        <a:latin typeface="Libre Franklin" pitchFamily="2" charset="0"/>
                      </a:endParaRPr>
                    </a:p>
                  </a:txBody>
                  <a:tcPr marL="0" marR="0" marT="0" marB="0" anchor="ctr"/>
                </a:tc>
                <a:tc>
                  <a:txBody>
                    <a:bodyPr/>
                    <a:lstStyle/>
                    <a:p>
                      <a:pPr algn="l" fontAlgn="ctr"/>
                      <a:r>
                        <a:rPr lang="es-419" sz="1200" b="0" u="none" strike="noStrike" noProof="0" dirty="0">
                          <a:solidFill>
                            <a:schemeClr val="tx1"/>
                          </a:solidFill>
                          <a:effectLst/>
                        </a:rPr>
                        <a:t>P para que el orden de proyección sea dado por la prioridad del área en SMAAREA/SMAPROG</a:t>
                      </a:r>
                      <a:endParaRPr lang="es-419" sz="1200" b="0" i="0" u="none" strike="noStrike" noProof="0" dirty="0">
                        <a:solidFill>
                          <a:schemeClr val="tx1"/>
                        </a:solidFill>
                        <a:effectLst/>
                        <a:latin typeface="Libre Franklin" pitchFamily="2" charset="0"/>
                      </a:endParaRPr>
                    </a:p>
                  </a:txBody>
                  <a:tcPr marL="0" marR="0" marT="0" marB="0" anchor="ctr"/>
                </a:tc>
                <a:extLst>
                  <a:ext uri="{0D108BD9-81ED-4DB2-BD59-A6C34878D82A}">
                    <a16:rowId xmlns:a16="http://schemas.microsoft.com/office/drawing/2014/main" val="2785379510"/>
                  </a:ext>
                </a:extLst>
              </a:tr>
              <a:tr h="49146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419" sz="1200" b="0" i="0" u="none" strike="noStrike" kern="1200" cap="none" spc="0" normalizeH="0" baseline="0" noProof="0" dirty="0">
                          <a:ln>
                            <a:noFill/>
                          </a:ln>
                          <a:solidFill>
                            <a:srgbClr val="340040"/>
                          </a:solidFill>
                          <a:effectLst/>
                          <a:uLnTx/>
                          <a:uFillTx/>
                          <a:latin typeface="+mn-lt"/>
                          <a:ea typeface="+mn-ea"/>
                          <a:cs typeface="+mn-cs"/>
                        </a:rPr>
                        <a:t>2</a:t>
                      </a:r>
                    </a:p>
                  </a:txBody>
                  <a:tcPr marL="0" marR="0" marT="0" marB="0" anchor="ctr"/>
                </a:tc>
                <a:tc>
                  <a:txBody>
                    <a:bodyPr/>
                    <a:lstStyle/>
                    <a:p>
                      <a:pPr algn="ctr" fontAlgn="ctr"/>
                      <a:r>
                        <a:rPr kumimoji="0" lang="es-419" sz="1200" b="0" i="0" u="none" strike="noStrike" kern="1200" cap="none" spc="0" normalizeH="0" baseline="0" noProof="0">
                          <a:ln>
                            <a:noFill/>
                          </a:ln>
                          <a:solidFill>
                            <a:prstClr val="black"/>
                          </a:solidFill>
                          <a:effectLst/>
                          <a:uLnTx/>
                          <a:uFillTx/>
                          <a:latin typeface="Aptos" panose="02110004020202020204"/>
                          <a:ea typeface="+mn-ea"/>
                          <a:cs typeface="+mn-cs"/>
                        </a:rPr>
                        <a:t>REGPROJSTRUCT</a:t>
                      </a:r>
                      <a:endParaRPr lang="es-419" sz="1200" b="0" i="0" u="none" strike="noStrike" noProof="0" dirty="0">
                        <a:solidFill>
                          <a:srgbClr val="FF0000"/>
                        </a:solidFill>
                        <a:effectLst/>
                        <a:latin typeface="Libre Franklin" pitchFamily="2" charset="0"/>
                      </a:endParaRPr>
                    </a:p>
                  </a:txBody>
                  <a:tcPr marL="0" marR="0" marT="0" marB="0" anchor="ctr"/>
                </a:tc>
                <a:tc>
                  <a:txBody>
                    <a:bodyPr/>
                    <a:lstStyle/>
                    <a:p>
                      <a:pPr algn="ctr" fontAlgn="ctr"/>
                      <a:r>
                        <a:rPr lang="es-419" sz="1200" u="none" strike="noStrike" noProof="0" dirty="0">
                          <a:solidFill>
                            <a:schemeClr val="tx1"/>
                          </a:solidFill>
                          <a:effectLst/>
                        </a:rPr>
                        <a:t>CLASS</a:t>
                      </a:r>
                      <a:endParaRPr lang="es-419" sz="1200" b="0" i="0" u="none" strike="noStrike" noProof="0" dirty="0">
                        <a:solidFill>
                          <a:schemeClr val="tx1"/>
                        </a:solidFill>
                        <a:effectLst/>
                        <a:latin typeface="Libre Franklin" pitchFamily="2" charset="0"/>
                      </a:endParaRPr>
                    </a:p>
                  </a:txBody>
                  <a:tcPr marL="0" marR="0" marT="0" marB="0" anchor="ctr"/>
                </a:tc>
                <a:tc>
                  <a:txBody>
                    <a:bodyPr/>
                    <a:lstStyle/>
                    <a:p>
                      <a:pPr algn="ctr" fontAlgn="ctr"/>
                      <a:r>
                        <a:rPr lang="es-419" sz="1200" u="none" strike="noStrike" noProof="0" dirty="0">
                          <a:solidFill>
                            <a:schemeClr val="tx1"/>
                          </a:solidFill>
                          <a:effectLst/>
                        </a:rPr>
                        <a:t>No usar</a:t>
                      </a:r>
                      <a:endParaRPr lang="es-419" sz="1200" b="0" i="0" u="none" strike="noStrike" noProof="0" dirty="0">
                        <a:solidFill>
                          <a:schemeClr val="tx1"/>
                        </a:solidFill>
                        <a:effectLst/>
                        <a:latin typeface="Libre Franklin" pitchFamily="2" charset="0"/>
                      </a:endParaRPr>
                    </a:p>
                  </a:txBody>
                  <a:tcPr marL="0" marR="0" marT="0" marB="0" anchor="ctr"/>
                </a:tc>
                <a:tc>
                  <a:txBody>
                    <a:bodyPr/>
                    <a:lstStyle/>
                    <a:p>
                      <a:pPr algn="l" fontAlgn="ctr"/>
                      <a:r>
                        <a:rPr lang="es-419" sz="1200" u="none" strike="noStrike" noProof="0" dirty="0">
                          <a:solidFill>
                            <a:schemeClr val="tx1"/>
                          </a:solidFill>
                          <a:effectLst/>
                        </a:rPr>
                        <a:t>Solo se usa si REGPROJ es N</a:t>
                      </a:r>
                      <a:endParaRPr lang="es-419" sz="1200" b="0" i="0" u="none" strike="noStrike" noProof="0" dirty="0">
                        <a:solidFill>
                          <a:schemeClr val="tx1"/>
                        </a:solidFill>
                        <a:effectLst/>
                        <a:latin typeface="Libre Franklin" pitchFamily="2" charset="0"/>
                      </a:endParaRPr>
                    </a:p>
                  </a:txBody>
                  <a:tcPr marL="0" marR="0" marT="0" marB="0" anchor="ctr"/>
                </a:tc>
                <a:extLst>
                  <a:ext uri="{0D108BD9-81ED-4DB2-BD59-A6C34878D82A}">
                    <a16:rowId xmlns:a16="http://schemas.microsoft.com/office/drawing/2014/main" val="41993088"/>
                  </a:ext>
                </a:extLst>
              </a:tr>
              <a:tr h="42959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419" sz="1200" b="0" i="0" u="none" strike="noStrike" kern="1200" cap="none" spc="0" normalizeH="0" baseline="0" noProof="0" dirty="0">
                          <a:ln>
                            <a:noFill/>
                          </a:ln>
                          <a:solidFill>
                            <a:srgbClr val="340040"/>
                          </a:solidFill>
                          <a:effectLst/>
                          <a:uLnTx/>
                          <a:uFillTx/>
                          <a:latin typeface="+mn-lt"/>
                          <a:ea typeface="+mn-ea"/>
                          <a:cs typeface="+mn-cs"/>
                        </a:rPr>
                        <a:t>3</a:t>
                      </a:r>
                    </a:p>
                  </a:txBody>
                  <a:tcPr marL="0" marR="0" marT="0" marB="0" anchor="ctr"/>
                </a:tc>
                <a:tc>
                  <a:txBody>
                    <a:bodyPr/>
                    <a:lstStyle/>
                    <a:p>
                      <a:pPr algn="ctr" fontAlgn="ctr"/>
                      <a:r>
                        <a:rPr kumimoji="0" lang="es-419" sz="1200" b="0" i="0" u="none" strike="noStrike" kern="1200" cap="none" spc="0" normalizeH="0" baseline="0" noProof="0" dirty="0">
                          <a:ln>
                            <a:noFill/>
                          </a:ln>
                          <a:solidFill>
                            <a:prstClr val="black"/>
                          </a:solidFill>
                          <a:effectLst/>
                          <a:uLnTx/>
                          <a:uFillTx/>
                          <a:latin typeface="Aptos" panose="02110004020202020204"/>
                          <a:ea typeface="+mn-ea"/>
                          <a:cs typeface="+mn-cs"/>
                        </a:rPr>
                        <a:t>REGPROJSTRUCT</a:t>
                      </a:r>
                      <a:endParaRPr lang="es-419" sz="1200" b="0" i="0" u="none" strike="noStrike" noProof="0" dirty="0">
                        <a:solidFill>
                          <a:srgbClr val="FF0000"/>
                        </a:solidFill>
                        <a:effectLst/>
                        <a:latin typeface="Libre Franklin" pitchFamily="2" charset="0"/>
                      </a:endParaRPr>
                    </a:p>
                  </a:txBody>
                  <a:tcPr marL="0" marR="0" marT="0" marB="0" anchor="ctr"/>
                </a:tc>
                <a:tc>
                  <a:txBody>
                    <a:bodyPr/>
                    <a:lstStyle/>
                    <a:p>
                      <a:pPr algn="ctr" fontAlgn="ctr"/>
                      <a:r>
                        <a:rPr lang="es-419" sz="1200" u="none" strike="noStrike" noProof="0" dirty="0">
                          <a:solidFill>
                            <a:schemeClr val="tx1"/>
                          </a:solidFill>
                          <a:effectLst/>
                        </a:rPr>
                        <a:t>PRIADJFAC</a:t>
                      </a:r>
                      <a:endParaRPr lang="es-419" sz="1200" b="0" i="0" u="none" strike="noStrike" noProof="0" dirty="0">
                        <a:solidFill>
                          <a:schemeClr val="tx1"/>
                        </a:solidFill>
                        <a:effectLst/>
                        <a:latin typeface="Libre Franklin" pitchFamily="2" charset="0"/>
                      </a:endParaRPr>
                    </a:p>
                  </a:txBody>
                  <a:tcPr marL="0" marR="0" marT="0" marB="0" anchor="ctr"/>
                </a:tc>
                <a:tc>
                  <a:txBody>
                    <a:bodyPr/>
                    <a:lstStyle/>
                    <a:p>
                      <a:pPr algn="ctr" fontAlgn="ctr"/>
                      <a:r>
                        <a:rPr lang="es-419" sz="1200" u="none" strike="noStrike" noProof="0" dirty="0">
                          <a:solidFill>
                            <a:schemeClr val="tx1"/>
                          </a:solidFill>
                          <a:effectLst/>
                        </a:rPr>
                        <a:t>10</a:t>
                      </a:r>
                      <a:endParaRPr lang="es-419" sz="1200" b="0" i="0" u="none" strike="noStrike" noProof="0" dirty="0">
                        <a:solidFill>
                          <a:schemeClr val="tx1"/>
                        </a:solidFill>
                        <a:effectLst/>
                        <a:latin typeface="Libre Franklin" pitchFamily="2" charset="0"/>
                      </a:endParaRPr>
                    </a:p>
                  </a:txBody>
                  <a:tcPr marL="0" marR="0" marT="0" marB="0" anchor="ctr"/>
                </a:tc>
                <a:tc>
                  <a:txBody>
                    <a:bodyPr/>
                    <a:lstStyle/>
                    <a:p>
                      <a:pPr algn="l" fontAlgn="ctr"/>
                      <a:r>
                        <a:rPr lang="es-419" sz="1200" u="none" strike="noStrike" noProof="0" dirty="0">
                          <a:solidFill>
                            <a:schemeClr val="tx1"/>
                          </a:solidFill>
                          <a:effectLst/>
                        </a:rPr>
                        <a:t>Prioridad de ajuste para áreas.</a:t>
                      </a:r>
                      <a:endParaRPr lang="es-419" sz="1200" b="0" i="0" u="none" strike="noStrike" noProof="0" dirty="0">
                        <a:solidFill>
                          <a:schemeClr val="tx1"/>
                        </a:solidFill>
                        <a:effectLst/>
                        <a:latin typeface="Libre Franklin" pitchFamily="2" charset="0"/>
                      </a:endParaRPr>
                    </a:p>
                  </a:txBody>
                  <a:tcPr marL="0" marR="0" marT="0" marB="0" anchor="ctr"/>
                </a:tc>
                <a:extLst>
                  <a:ext uri="{0D108BD9-81ED-4DB2-BD59-A6C34878D82A}">
                    <a16:rowId xmlns:a16="http://schemas.microsoft.com/office/drawing/2014/main" val="2183416493"/>
                  </a:ext>
                </a:extLst>
              </a:tr>
              <a:tr h="42959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419" sz="1200" b="0" i="0" u="none" strike="noStrike" kern="1200" cap="none" spc="0" normalizeH="0" baseline="0" noProof="0" dirty="0">
                          <a:ln>
                            <a:noFill/>
                          </a:ln>
                          <a:solidFill>
                            <a:srgbClr val="340040"/>
                          </a:solidFill>
                          <a:effectLst/>
                          <a:uLnTx/>
                          <a:uFillTx/>
                          <a:latin typeface="+mn-lt"/>
                          <a:ea typeface="+mn-ea"/>
                          <a:cs typeface="+mn-cs"/>
                        </a:rPr>
                        <a:t>4</a:t>
                      </a:r>
                    </a:p>
                  </a:txBody>
                  <a:tcPr marL="0" marR="0" marT="0" marB="0" anchor="ctr"/>
                </a:tc>
                <a:tc>
                  <a:txBody>
                    <a:bodyPr/>
                    <a:lstStyle/>
                    <a:p>
                      <a:pPr algn="ctr" fontAlgn="ctr"/>
                      <a:r>
                        <a:rPr kumimoji="0" lang="es-419" sz="1200" b="0" i="0" u="none" strike="noStrike" kern="1200" cap="none" spc="0" normalizeH="0" baseline="0" noProof="0">
                          <a:ln>
                            <a:noFill/>
                          </a:ln>
                          <a:solidFill>
                            <a:prstClr val="black"/>
                          </a:solidFill>
                          <a:effectLst/>
                          <a:uLnTx/>
                          <a:uFillTx/>
                          <a:latin typeface="Aptos" panose="02110004020202020204"/>
                          <a:ea typeface="+mn-ea"/>
                          <a:cs typeface="+mn-cs"/>
                        </a:rPr>
                        <a:t>REGPROJSTRUCT</a:t>
                      </a:r>
                      <a:endParaRPr lang="es-419" sz="1200" b="0" i="0" u="none" strike="noStrike" noProof="0" dirty="0">
                        <a:solidFill>
                          <a:srgbClr val="FF0000"/>
                        </a:solidFill>
                        <a:effectLst/>
                        <a:latin typeface="Libre Franklin" pitchFamily="2" charset="0"/>
                      </a:endParaRPr>
                    </a:p>
                  </a:txBody>
                  <a:tcPr marL="0" marR="0" marT="0" marB="0" anchor="ctr"/>
                </a:tc>
                <a:tc>
                  <a:txBody>
                    <a:bodyPr/>
                    <a:lstStyle/>
                    <a:p>
                      <a:pPr algn="ctr" fontAlgn="ctr"/>
                      <a:r>
                        <a:rPr lang="es-419" sz="1200" u="none" strike="noStrike" noProof="0" dirty="0">
                          <a:solidFill>
                            <a:schemeClr val="tx1"/>
                          </a:solidFill>
                          <a:effectLst/>
                        </a:rPr>
                        <a:t>REGPROJ</a:t>
                      </a:r>
                      <a:endParaRPr lang="es-419" sz="1200" b="0" i="0" u="none" strike="noStrike" noProof="0" dirty="0">
                        <a:solidFill>
                          <a:schemeClr val="tx1"/>
                        </a:solidFill>
                        <a:effectLst/>
                        <a:latin typeface="Libre Franklin" pitchFamily="2" charset="0"/>
                      </a:endParaRPr>
                    </a:p>
                  </a:txBody>
                  <a:tcPr marL="0" marR="0" marT="0" marB="0" anchor="ctr"/>
                </a:tc>
                <a:tc>
                  <a:txBody>
                    <a:bodyPr/>
                    <a:lstStyle/>
                    <a:p>
                      <a:pPr algn="ctr" fontAlgn="ctr"/>
                      <a:r>
                        <a:rPr lang="es-419" sz="1200" u="none" strike="noStrike" noProof="0" dirty="0">
                          <a:solidFill>
                            <a:schemeClr val="tx1"/>
                          </a:solidFill>
                          <a:effectLst/>
                        </a:rPr>
                        <a:t>P</a:t>
                      </a:r>
                      <a:endParaRPr lang="es-419" sz="1200" b="0" i="0" u="none" strike="noStrike" noProof="0" dirty="0">
                        <a:solidFill>
                          <a:schemeClr val="tx1"/>
                        </a:solidFill>
                        <a:effectLst/>
                        <a:latin typeface="Libre Franklin" pitchFamily="2" charset="0"/>
                      </a:endParaRPr>
                    </a:p>
                  </a:txBody>
                  <a:tcPr marL="0" marR="0" marT="0" marB="0" anchor="ctr"/>
                </a:tc>
                <a:tc>
                  <a:txBody>
                    <a:bodyPr/>
                    <a:lstStyle/>
                    <a:p>
                      <a:pPr algn="l" fontAlgn="ctr"/>
                      <a:r>
                        <a:rPr lang="en-US" sz="1200" u="none" strike="noStrike" noProof="0" dirty="0">
                          <a:solidFill>
                            <a:schemeClr val="tx1"/>
                          </a:solidFill>
                          <a:effectLst/>
                        </a:rPr>
                        <a:t> </a:t>
                      </a:r>
                      <a:r>
                        <a:rPr lang="es-CO" sz="1200" u="none" strike="noStrike" noProof="0" dirty="0">
                          <a:solidFill>
                            <a:schemeClr val="tx1"/>
                          </a:solidFill>
                          <a:effectLst/>
                        </a:rPr>
                        <a:t>Ingrese P para utilizar la prioridad del área cuando la prioridad definida en SMAPROG coincida con la clasificación del estudiante.</a:t>
                      </a:r>
                      <a:endParaRPr lang="es-419" sz="1200" b="0" i="0" u="none" strike="noStrike" noProof="0" dirty="0">
                        <a:solidFill>
                          <a:schemeClr val="tx1"/>
                        </a:solidFill>
                        <a:effectLst/>
                        <a:latin typeface="Libre Franklin" pitchFamily="2" charset="0"/>
                      </a:endParaRPr>
                    </a:p>
                  </a:txBody>
                  <a:tcPr marL="0" marR="0" marT="0" marB="0" anchor="ctr"/>
                </a:tc>
                <a:extLst>
                  <a:ext uri="{0D108BD9-81ED-4DB2-BD59-A6C34878D82A}">
                    <a16:rowId xmlns:a16="http://schemas.microsoft.com/office/drawing/2014/main" val="397777445"/>
                  </a:ext>
                </a:extLst>
              </a:tr>
              <a:tr h="42959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419" sz="1200" b="0" i="0" u="none" strike="noStrike" kern="1200" cap="none" spc="0" normalizeH="0" baseline="0" noProof="0" dirty="0">
                          <a:ln>
                            <a:noFill/>
                          </a:ln>
                          <a:solidFill>
                            <a:srgbClr val="340040"/>
                          </a:solidFill>
                          <a:effectLst/>
                          <a:uLnTx/>
                          <a:uFillTx/>
                          <a:latin typeface="+mn-lt"/>
                          <a:ea typeface="+mn-ea"/>
                          <a:cs typeface="+mn-cs"/>
                        </a:rPr>
                        <a:t>5</a:t>
                      </a:r>
                    </a:p>
                  </a:txBody>
                  <a:tcPr marL="0" marR="0" marT="0" marB="0" anchor="ctr"/>
                </a:tc>
                <a:tc>
                  <a:txBody>
                    <a:bodyPr/>
                    <a:lstStyle/>
                    <a:p>
                      <a:pPr algn="ctr" fontAlgn="ctr"/>
                      <a:r>
                        <a:rPr kumimoji="0" lang="es-419" sz="1200" b="0" i="0" u="none" strike="noStrike" kern="1200" cap="none" spc="0" normalizeH="0" baseline="0" noProof="0" dirty="0">
                          <a:ln>
                            <a:noFill/>
                          </a:ln>
                          <a:solidFill>
                            <a:prstClr val="black"/>
                          </a:solidFill>
                          <a:effectLst/>
                          <a:uLnTx/>
                          <a:uFillTx/>
                          <a:latin typeface="Aptos" panose="02110004020202020204"/>
                          <a:ea typeface="+mn-ea"/>
                          <a:cs typeface="+mn-cs"/>
                        </a:rPr>
                        <a:t>REGPROJSTRUCT</a:t>
                      </a:r>
                      <a:endParaRPr lang="es-419" sz="1200" b="0" i="0" u="none" strike="noStrike" noProof="0" dirty="0">
                        <a:solidFill>
                          <a:srgbClr val="FF0000"/>
                        </a:solidFill>
                        <a:effectLst/>
                        <a:latin typeface="Libre Franklin" pitchFamily="2" charset="0"/>
                      </a:endParaRPr>
                    </a:p>
                  </a:txBody>
                  <a:tcPr marL="0" marR="0" marT="0" marB="0" anchor="ctr"/>
                </a:tc>
                <a:tc>
                  <a:txBody>
                    <a:bodyPr/>
                    <a:lstStyle/>
                    <a:p>
                      <a:pPr algn="ctr" fontAlgn="ctr"/>
                      <a:r>
                        <a:rPr lang="es-419" sz="1200" u="none" strike="noStrike" noProof="0" dirty="0">
                          <a:solidFill>
                            <a:schemeClr val="tx1"/>
                          </a:solidFill>
                          <a:effectLst/>
                        </a:rPr>
                        <a:t>REGSTRUCT</a:t>
                      </a:r>
                      <a:endParaRPr lang="es-419" sz="1200" b="0" i="0" u="none" strike="noStrike" noProof="0" dirty="0">
                        <a:solidFill>
                          <a:schemeClr val="tx1"/>
                        </a:solidFill>
                        <a:effectLst/>
                        <a:latin typeface="Libre Franklin" pitchFamily="2" charset="0"/>
                      </a:endParaRPr>
                    </a:p>
                  </a:txBody>
                  <a:tcPr marL="0" marR="0" marT="0" marB="0" anchor="ctr"/>
                </a:tc>
                <a:tc>
                  <a:txBody>
                    <a:bodyPr/>
                    <a:lstStyle/>
                    <a:p>
                      <a:pPr algn="ctr" fontAlgn="ctr"/>
                      <a:r>
                        <a:rPr lang="es-419" sz="1200" u="none" strike="noStrike" noProof="0" dirty="0">
                          <a:solidFill>
                            <a:schemeClr val="tx1"/>
                          </a:solidFill>
                          <a:effectLst/>
                        </a:rPr>
                        <a:t>P</a:t>
                      </a:r>
                      <a:endParaRPr lang="es-419" sz="1200" b="0" i="0" u="none" strike="noStrike" noProof="0" dirty="0">
                        <a:solidFill>
                          <a:schemeClr val="tx1"/>
                        </a:solidFill>
                        <a:effectLst/>
                        <a:latin typeface="Libre Franklin" pitchFamily="2" charset="0"/>
                      </a:endParaRPr>
                    </a:p>
                  </a:txBody>
                  <a:tcPr marL="0" marR="0" marT="0" marB="0" anchor="ctr"/>
                </a:tc>
                <a:tc>
                  <a:txBody>
                    <a:bodyPr/>
                    <a:lstStyle/>
                    <a:p>
                      <a:pPr algn="l" fontAlgn="ctr"/>
                      <a:r>
                        <a:rPr lang="es-CO" sz="1200" u="none" strike="noStrike" noProof="0" dirty="0">
                          <a:solidFill>
                            <a:schemeClr val="tx1"/>
                          </a:solidFill>
                          <a:effectLst/>
                        </a:rPr>
                        <a:t>Ingrese P para utilizar la prioridad del área cuando la prioridad definida en SMAPROG coincida con la clasificación del estudiante.</a:t>
                      </a:r>
                      <a:endParaRPr lang="es-419" sz="1200" b="0" i="0" u="none" strike="noStrike" noProof="0" dirty="0">
                        <a:solidFill>
                          <a:schemeClr val="tx1"/>
                        </a:solidFill>
                        <a:effectLst/>
                        <a:latin typeface="Libre Franklin" pitchFamily="2" charset="0"/>
                      </a:endParaRPr>
                    </a:p>
                  </a:txBody>
                  <a:tcPr marL="0" marR="0" marT="0" marB="0" anchor="ctr"/>
                </a:tc>
                <a:extLst>
                  <a:ext uri="{0D108BD9-81ED-4DB2-BD59-A6C34878D82A}">
                    <a16:rowId xmlns:a16="http://schemas.microsoft.com/office/drawing/2014/main" val="1301163987"/>
                  </a:ext>
                </a:extLst>
              </a:tr>
            </a:tbl>
          </a:graphicData>
        </a:graphic>
      </p:graphicFrame>
      <p:sp>
        <p:nvSpPr>
          <p:cNvPr id="6" name="Marcador de texto vertical 1">
            <a:extLst>
              <a:ext uri="{FF2B5EF4-FFF2-40B4-BE49-F238E27FC236}">
                <a16:creationId xmlns:a16="http://schemas.microsoft.com/office/drawing/2014/main" id="{C0720DCE-C75F-9F46-CD38-41A19EDD141B}"/>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25644789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579F7-E74E-A3BE-FC32-F0A565B7153F}"/>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8A7DB8A3-5BB8-8AB4-DD18-945936B7F114}"/>
              </a:ext>
            </a:extLst>
          </p:cNvPr>
          <p:cNvSpPr>
            <a:spLocks noGrp="1"/>
          </p:cNvSpPr>
          <p:nvPr>
            <p:ph type="title"/>
          </p:nvPr>
        </p:nvSpPr>
        <p:spPr>
          <a:xfrm>
            <a:off x="938996" y="304614"/>
            <a:ext cx="10477497" cy="898555"/>
          </a:xfrm>
        </p:spPr>
        <p:txBody>
          <a:bodyPr/>
          <a:lstStyle/>
          <a:p>
            <a:r>
              <a:rPr lang="es-ES_tradnl" dirty="0">
                <a:solidFill>
                  <a:schemeClr val="tx2"/>
                </a:solidFill>
              </a:rPr>
              <a:t>Validación de transposición (GTVSDAX)</a:t>
            </a:r>
            <a:endParaRPr lang="es-ES_tradnl" b="1" dirty="0"/>
          </a:p>
        </p:txBody>
      </p:sp>
      <p:graphicFrame>
        <p:nvGraphicFramePr>
          <p:cNvPr id="3" name="Tabla 2">
            <a:extLst>
              <a:ext uri="{FF2B5EF4-FFF2-40B4-BE49-F238E27FC236}">
                <a16:creationId xmlns:a16="http://schemas.microsoft.com/office/drawing/2014/main" id="{F1DFEC97-03CE-CD0A-7BBA-6A8F8A085617}"/>
              </a:ext>
            </a:extLst>
          </p:cNvPr>
          <p:cNvGraphicFramePr>
            <a:graphicFrameLocks noGrp="1"/>
          </p:cNvGraphicFramePr>
          <p:nvPr/>
        </p:nvGraphicFramePr>
        <p:xfrm>
          <a:off x="1063120" y="1528591"/>
          <a:ext cx="10477497" cy="4440411"/>
        </p:xfrm>
        <a:graphic>
          <a:graphicData uri="http://schemas.openxmlformats.org/drawingml/2006/table">
            <a:tbl>
              <a:tblPr firstRow="1" bandRow="1">
                <a:tableStyleId>{5C22544A-7EE6-4342-B048-85BDC9FD1C3A}</a:tableStyleId>
              </a:tblPr>
              <a:tblGrid>
                <a:gridCol w="604289">
                  <a:extLst>
                    <a:ext uri="{9D8B030D-6E8A-4147-A177-3AD203B41FA5}">
                      <a16:colId xmlns:a16="http://schemas.microsoft.com/office/drawing/2014/main" val="96973868"/>
                    </a:ext>
                  </a:extLst>
                </a:gridCol>
                <a:gridCol w="752087">
                  <a:extLst>
                    <a:ext uri="{9D8B030D-6E8A-4147-A177-3AD203B41FA5}">
                      <a16:colId xmlns:a16="http://schemas.microsoft.com/office/drawing/2014/main" val="3671970364"/>
                    </a:ext>
                  </a:extLst>
                </a:gridCol>
                <a:gridCol w="1245937">
                  <a:extLst>
                    <a:ext uri="{9D8B030D-6E8A-4147-A177-3AD203B41FA5}">
                      <a16:colId xmlns:a16="http://schemas.microsoft.com/office/drawing/2014/main" val="1822289275"/>
                    </a:ext>
                  </a:extLst>
                </a:gridCol>
                <a:gridCol w="1219498">
                  <a:extLst>
                    <a:ext uri="{9D8B030D-6E8A-4147-A177-3AD203B41FA5}">
                      <a16:colId xmlns:a16="http://schemas.microsoft.com/office/drawing/2014/main" val="3567961620"/>
                    </a:ext>
                  </a:extLst>
                </a:gridCol>
                <a:gridCol w="6655686">
                  <a:extLst>
                    <a:ext uri="{9D8B030D-6E8A-4147-A177-3AD203B41FA5}">
                      <a16:colId xmlns:a16="http://schemas.microsoft.com/office/drawing/2014/main" val="1570736915"/>
                    </a:ext>
                  </a:extLst>
                </a:gridCol>
              </a:tblGrid>
              <a:tr h="480817">
                <a:tc>
                  <a:txBody>
                    <a:bodyPr/>
                    <a:lstStyle/>
                    <a:p>
                      <a:pPr marL="0" algn="ctr" defTabSz="914400" rtl="0" eaLnBrk="1" fontAlgn="ctr" latinLnBrk="0" hangingPunct="1"/>
                      <a:r>
                        <a:rPr lang="es-CL" sz="1200" b="1" u="none" strike="noStrike" kern="1200" dirty="0" err="1">
                          <a:solidFill>
                            <a:schemeClr val="lt1"/>
                          </a:solidFill>
                          <a:effectLst/>
                          <a:latin typeface="+mn-lt"/>
                          <a:ea typeface="+mn-ea"/>
                          <a:cs typeface="+mn-cs"/>
                        </a:rPr>
                        <a:t>Nro</a:t>
                      </a:r>
                      <a:endParaRPr lang="es-CL" sz="1200" b="1" u="none" strike="noStrike" kern="1200" dirty="0">
                        <a:solidFill>
                          <a:schemeClr val="lt1"/>
                        </a:solidFill>
                        <a:effectLst/>
                        <a:latin typeface="+mn-lt"/>
                        <a:ea typeface="+mn-ea"/>
                        <a:cs typeface="+mn-cs"/>
                      </a:endParaRPr>
                    </a:p>
                  </a:txBody>
                  <a:tcPr marL="0" marR="0" marT="0" marB="0" anchor="ctr"/>
                </a:tc>
                <a:tc>
                  <a:txBody>
                    <a:bodyPr/>
                    <a:lstStyle/>
                    <a:p>
                      <a:pPr marL="0" algn="ctr" defTabSz="914400" rtl="0" eaLnBrk="1" fontAlgn="ctr" latinLnBrk="0" hangingPunct="1"/>
                      <a:r>
                        <a:rPr lang="es-CL" sz="1200" b="1" u="none" strike="noStrike" kern="1200" dirty="0">
                          <a:solidFill>
                            <a:schemeClr val="lt1"/>
                          </a:solidFill>
                          <a:effectLst/>
                          <a:latin typeface="+mn-lt"/>
                          <a:ea typeface="+mn-ea"/>
                          <a:cs typeface="+mn-cs"/>
                        </a:rPr>
                        <a:t>Grupo</a:t>
                      </a:r>
                    </a:p>
                  </a:txBody>
                  <a:tcPr marL="0" marR="0" marT="0" marB="0" anchor="ctr"/>
                </a:tc>
                <a:tc>
                  <a:txBody>
                    <a:bodyPr/>
                    <a:lstStyle/>
                    <a:p>
                      <a:pPr marL="0" algn="ctr" defTabSz="914400" rtl="0" eaLnBrk="1" fontAlgn="ctr" latinLnBrk="0" hangingPunct="1"/>
                      <a:r>
                        <a:rPr lang="es-CL" sz="1200" b="1" u="none" strike="noStrike" kern="1200" dirty="0">
                          <a:solidFill>
                            <a:schemeClr val="lt1"/>
                          </a:solidFill>
                          <a:effectLst/>
                          <a:latin typeface="+mn-lt"/>
                          <a:ea typeface="+mn-ea"/>
                          <a:cs typeface="+mn-cs"/>
                        </a:rPr>
                        <a:t>Código</a:t>
                      </a:r>
                    </a:p>
                  </a:txBody>
                  <a:tcPr marL="0" marR="0" marT="0" marB="0" anchor="ctr"/>
                </a:tc>
                <a:tc>
                  <a:txBody>
                    <a:bodyPr/>
                    <a:lstStyle/>
                    <a:p>
                      <a:pPr algn="ctr" fontAlgn="ctr"/>
                      <a:r>
                        <a:rPr lang="es-CL" sz="1200" u="none" strike="noStrike" dirty="0">
                          <a:effectLst/>
                          <a:latin typeface="+mn-lt"/>
                        </a:rPr>
                        <a:t>Código Externo</a:t>
                      </a:r>
                      <a:endParaRPr lang="es-CL" sz="1200" b="0" i="0" u="none" strike="noStrike" dirty="0">
                        <a:solidFill>
                          <a:srgbClr val="FFFFFF"/>
                        </a:solidFill>
                        <a:effectLst/>
                        <a:latin typeface="+mn-lt"/>
                      </a:endParaRPr>
                    </a:p>
                  </a:txBody>
                  <a:tcPr marL="0" marR="0" marT="0" marB="0" anchor="ctr"/>
                </a:tc>
                <a:tc>
                  <a:txBody>
                    <a:bodyPr/>
                    <a:lstStyle/>
                    <a:p>
                      <a:pPr algn="ctr" fontAlgn="ctr"/>
                      <a:r>
                        <a:rPr lang="es-CL" sz="1200" u="none" strike="noStrike" dirty="0">
                          <a:effectLst/>
                          <a:latin typeface="+mn-lt"/>
                        </a:rPr>
                        <a:t>Comentario</a:t>
                      </a:r>
                      <a:endParaRPr lang="es-CL" sz="1200" b="0" i="0" u="none" strike="noStrike" dirty="0">
                        <a:solidFill>
                          <a:srgbClr val="FFFFFF"/>
                        </a:solidFill>
                        <a:effectLst/>
                        <a:latin typeface="+mn-lt"/>
                      </a:endParaRPr>
                    </a:p>
                  </a:txBody>
                  <a:tcPr marL="0" marR="0" marT="0" marB="0" anchor="ctr"/>
                </a:tc>
                <a:extLst>
                  <a:ext uri="{0D108BD9-81ED-4DB2-BD59-A6C34878D82A}">
                    <a16:rowId xmlns:a16="http://schemas.microsoft.com/office/drawing/2014/main" val="1600408903"/>
                  </a:ext>
                </a:extLst>
              </a:tr>
              <a:tr h="524625">
                <a:tc>
                  <a:txBody>
                    <a:bodyPr/>
                    <a:lstStyle/>
                    <a:p>
                      <a:pPr algn="ctr" fontAlgn="ctr"/>
                      <a:r>
                        <a:rPr lang="es-CL" sz="1200" b="0" i="0" u="none" strike="noStrike" dirty="0">
                          <a:solidFill>
                            <a:srgbClr val="340040"/>
                          </a:solidFill>
                          <a:effectLst/>
                          <a:latin typeface="+mn-lt"/>
                        </a:rPr>
                        <a:t>1</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DISPENROLL</a:t>
                      </a:r>
                    </a:p>
                  </a:txBody>
                  <a:tcPr marL="0" marR="0" marT="0" marB="0" anchor="ctr"/>
                </a:tc>
                <a:tc>
                  <a:txBody>
                    <a:bodyPr/>
                    <a:lstStyle/>
                    <a:p>
                      <a:pPr algn="ctr" fontAlgn="ctr"/>
                      <a:r>
                        <a:rPr lang="es-CL" sz="1200" b="0" i="0" u="none" strike="noStrike" dirty="0">
                          <a:solidFill>
                            <a:schemeClr val="tx1"/>
                          </a:solidFill>
                          <a:effectLst/>
                          <a:latin typeface="+mn-lt"/>
                        </a:rPr>
                        <a:t>Y</a:t>
                      </a:r>
                    </a:p>
                  </a:txBody>
                  <a:tcPr marL="0" marR="0" marT="0" marB="0" anchor="ctr"/>
                </a:tc>
                <a:tc>
                  <a:txBody>
                    <a:bodyPr/>
                    <a:lstStyle/>
                    <a:p>
                      <a:pPr algn="l" fontAlgn="ctr"/>
                      <a:r>
                        <a:rPr lang="es-ES" sz="1200" b="0" i="0" u="none" strike="noStrike" dirty="0">
                          <a:solidFill>
                            <a:schemeClr val="tx1"/>
                          </a:solidFill>
                          <a:effectLst/>
                          <a:latin typeface="+mn-lt"/>
                        </a:rPr>
                        <a:t>Déjelo en “Y” para mostrar el conteo de inscritos en el </a:t>
                      </a:r>
                      <a:r>
                        <a:rPr lang="es-ES" sz="1200" b="0" i="0" u="none" strike="noStrike">
                          <a:solidFill>
                            <a:schemeClr val="tx1"/>
                          </a:solidFill>
                          <a:effectLst/>
                          <a:latin typeface="+mn-lt"/>
                        </a:rPr>
                        <a:t>NRC.</a:t>
                      </a:r>
                      <a:endParaRPr lang="es-ES" sz="1200" b="0" i="0" u="none" strike="noStrike" dirty="0">
                        <a:solidFill>
                          <a:schemeClr val="tx1"/>
                        </a:solidFill>
                        <a:effectLst/>
                        <a:latin typeface="+mn-lt"/>
                      </a:endParaRPr>
                    </a:p>
                  </a:txBody>
                  <a:tcPr marL="0" marR="0" marT="0" marB="0" anchor="ctr"/>
                </a:tc>
                <a:extLst>
                  <a:ext uri="{0D108BD9-81ED-4DB2-BD59-A6C34878D82A}">
                    <a16:rowId xmlns:a16="http://schemas.microsoft.com/office/drawing/2014/main" val="1252697042"/>
                  </a:ext>
                </a:extLst>
              </a:tr>
              <a:tr h="48081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CL" sz="1200" b="0" i="0" u="none" strike="noStrike" dirty="0">
                          <a:solidFill>
                            <a:srgbClr val="340040"/>
                          </a:solidFill>
                          <a:effectLst/>
                          <a:latin typeface="+mn-lt"/>
                        </a:rPr>
                        <a:t>2</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DISPWL</a:t>
                      </a:r>
                    </a:p>
                  </a:txBody>
                  <a:tcPr marL="0" marR="0" marT="0" marB="0" anchor="ctr"/>
                </a:tc>
                <a:tc>
                  <a:txBody>
                    <a:bodyPr/>
                    <a:lstStyle/>
                    <a:p>
                      <a:pPr algn="ctr" fontAlgn="ctr"/>
                      <a:r>
                        <a:rPr lang="es-CL" sz="1200" b="0" i="0" u="none" strike="noStrike" dirty="0">
                          <a:solidFill>
                            <a:schemeClr val="tx1"/>
                          </a:solidFill>
                          <a:effectLst/>
                          <a:latin typeface="+mn-lt"/>
                        </a:rPr>
                        <a:t>Y</a:t>
                      </a:r>
                    </a:p>
                  </a:txBody>
                  <a:tcPr marL="0" marR="0" marT="0" marB="0" anchor="ctr"/>
                </a:tc>
                <a:tc>
                  <a:txBody>
                    <a:bodyPr/>
                    <a:lstStyle/>
                    <a:p>
                      <a:pPr algn="l" fontAlgn="ctr"/>
                      <a:r>
                        <a:rPr lang="es-ES" sz="1200" b="0" i="0" u="none" strike="noStrike" dirty="0">
                          <a:solidFill>
                            <a:schemeClr val="tx1"/>
                          </a:solidFill>
                          <a:effectLst/>
                          <a:latin typeface="+mn-lt"/>
                        </a:rPr>
                        <a:t>Para mostrar el conteo de la Lista de espera. Puede ser ‘Y’  o  “N”  .</a:t>
                      </a:r>
                    </a:p>
                  </a:txBody>
                  <a:tcPr marL="0" marR="0" marT="0" marB="0" anchor="ctr"/>
                </a:tc>
                <a:extLst>
                  <a:ext uri="{0D108BD9-81ED-4DB2-BD59-A6C34878D82A}">
                    <a16:rowId xmlns:a16="http://schemas.microsoft.com/office/drawing/2014/main" val="2717954487"/>
                  </a:ext>
                </a:extLst>
              </a:tr>
              <a:tr h="48081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rgbClr val="340040"/>
                          </a:solidFill>
                          <a:effectLst/>
                          <a:uLnTx/>
                          <a:uFillTx/>
                          <a:latin typeface="+mn-lt"/>
                          <a:ea typeface="+mn-ea"/>
                          <a:cs typeface="+mn-cs"/>
                        </a:rPr>
                        <a:t>3</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DISPXL</a:t>
                      </a:r>
                    </a:p>
                  </a:txBody>
                  <a:tcPr marL="0" marR="0" marT="0" marB="0" anchor="ctr"/>
                </a:tc>
                <a:tc>
                  <a:txBody>
                    <a:bodyPr/>
                    <a:lstStyle/>
                    <a:p>
                      <a:pPr algn="ctr" fontAlgn="ctr"/>
                      <a:r>
                        <a:rPr lang="es-CL" sz="1200" b="0" i="0" u="none" strike="noStrike" dirty="0">
                          <a:solidFill>
                            <a:schemeClr val="tx1"/>
                          </a:solidFill>
                          <a:effectLst/>
                          <a:latin typeface="+mn-lt"/>
                        </a:rPr>
                        <a:t>Y</a:t>
                      </a:r>
                    </a:p>
                  </a:txBody>
                  <a:tcPr marL="0" marR="0" marT="0" marB="0" anchor="ctr"/>
                </a:tc>
                <a:tc>
                  <a:txBody>
                    <a:bodyPr/>
                    <a:lstStyle/>
                    <a:p>
                      <a:pPr algn="l" fontAlgn="ctr"/>
                      <a:r>
                        <a:rPr lang="es-ES" sz="1200" b="0" i="0" u="none" strike="noStrike" dirty="0">
                          <a:solidFill>
                            <a:schemeClr val="tx1"/>
                          </a:solidFill>
                          <a:effectLst/>
                          <a:latin typeface="+mn-lt"/>
                        </a:rPr>
                        <a:t>Déjelo en “Y” para mostrar el conteo de la lista cruzada.</a:t>
                      </a:r>
                    </a:p>
                  </a:txBody>
                  <a:tcPr marL="0" marR="0" marT="0" marB="0" anchor="ctr"/>
                </a:tc>
                <a:extLst>
                  <a:ext uri="{0D108BD9-81ED-4DB2-BD59-A6C34878D82A}">
                    <a16:rowId xmlns:a16="http://schemas.microsoft.com/office/drawing/2014/main" val="3807490090"/>
                  </a:ext>
                </a:extLst>
              </a:tr>
              <a:tr h="48081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rgbClr val="340040"/>
                          </a:solidFill>
                          <a:effectLst/>
                          <a:uLnTx/>
                          <a:uFillTx/>
                          <a:latin typeface="+mn-lt"/>
                          <a:ea typeface="+mn-ea"/>
                          <a:cs typeface="+mn-cs"/>
                        </a:rPr>
                        <a:t>4</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MAXREGNO</a:t>
                      </a:r>
                    </a:p>
                  </a:txBody>
                  <a:tcPr marL="0" marR="0" marT="0" marB="0" anchor="ctr"/>
                </a:tc>
                <a:tc>
                  <a:txBody>
                    <a:bodyPr/>
                    <a:lstStyle/>
                    <a:p>
                      <a:pPr algn="ctr" fontAlgn="ctr"/>
                      <a:r>
                        <a:rPr lang="es-CL" sz="1200" b="0" i="0" u="none" strike="noStrike">
                          <a:solidFill>
                            <a:schemeClr val="tx1"/>
                          </a:solidFill>
                          <a:effectLst/>
                          <a:latin typeface="+mn-lt"/>
                        </a:rPr>
                        <a:t>3000</a:t>
                      </a:r>
                    </a:p>
                  </a:txBody>
                  <a:tcPr marL="0" marR="0" marT="0" marB="0" anchor="ctr"/>
                </a:tc>
                <a:tc>
                  <a:txBody>
                    <a:bodyPr/>
                    <a:lstStyle/>
                    <a:p>
                      <a:pPr algn="l" fontAlgn="ctr"/>
                      <a:r>
                        <a:rPr lang="es-ES" sz="1200" b="0" i="0" u="none" strike="noStrike" dirty="0">
                          <a:solidFill>
                            <a:schemeClr val="tx1"/>
                          </a:solidFill>
                          <a:effectLst/>
                          <a:latin typeface="+mn-lt"/>
                        </a:rPr>
                        <a:t>Úselo para definir el número de intentos máximos de inscripción por web. </a:t>
                      </a:r>
                      <a:r>
                        <a:rPr lang="es-419" sz="1200" b="0" i="0" u="none" strike="noStrike" dirty="0">
                          <a:solidFill>
                            <a:schemeClr val="tx1"/>
                          </a:solidFill>
                          <a:effectLst/>
                          <a:latin typeface="+mn-lt"/>
                        </a:rPr>
                        <a:t>número máximo de intentos de inscripción permitidos para un alumno.</a:t>
                      </a:r>
                      <a:endParaRPr lang="es-ES" sz="1200" b="0" i="0" u="none" strike="noStrike" dirty="0">
                        <a:solidFill>
                          <a:schemeClr val="tx1"/>
                        </a:solidFill>
                        <a:effectLst/>
                        <a:latin typeface="+mn-lt"/>
                      </a:endParaRPr>
                    </a:p>
                  </a:txBody>
                  <a:tcPr marL="0" marR="0" marT="0" marB="0" anchor="ctr"/>
                </a:tc>
                <a:extLst>
                  <a:ext uri="{0D108BD9-81ED-4DB2-BD59-A6C34878D82A}">
                    <a16:rowId xmlns:a16="http://schemas.microsoft.com/office/drawing/2014/main" val="580853560"/>
                  </a:ext>
                </a:extLst>
              </a:tr>
              <a:tr h="48081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rgbClr val="340040"/>
                          </a:solidFill>
                          <a:effectLst/>
                          <a:uLnTx/>
                          <a:uFillTx/>
                          <a:latin typeface="+mn-lt"/>
                          <a:ea typeface="+mn-ea"/>
                          <a:cs typeface="+mn-cs"/>
                        </a:rPr>
                        <a:t>5</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PLANBYCRN</a:t>
                      </a:r>
                    </a:p>
                  </a:txBody>
                  <a:tcPr marL="0" marR="0" marT="0" marB="0" anchor="ctr"/>
                </a:tc>
                <a:tc>
                  <a:txBody>
                    <a:bodyPr/>
                    <a:lstStyle/>
                    <a:p>
                      <a:pPr algn="ctr" fontAlgn="ctr"/>
                      <a:r>
                        <a:rPr lang="es-ES" sz="1200" b="0" i="0" u="none" strike="noStrike" dirty="0">
                          <a:solidFill>
                            <a:schemeClr val="tx1"/>
                          </a:solidFill>
                          <a:effectLst/>
                          <a:latin typeface="+mn-lt"/>
                        </a:rPr>
                        <a:t>“UPDATE_ME”</a:t>
                      </a:r>
                    </a:p>
                  </a:txBody>
                  <a:tcPr marL="0" marR="0" marT="0" marB="0" anchor="ctr"/>
                </a:tc>
                <a:tc>
                  <a:txBody>
                    <a:bodyPr/>
                    <a:lstStyle/>
                    <a:p>
                      <a:pPr algn="l" fontAlgn="ctr"/>
                      <a:r>
                        <a:rPr lang="es-ES" sz="1200" b="0" i="0" u="none" strike="noStrike" dirty="0">
                          <a:solidFill>
                            <a:schemeClr val="tx1"/>
                          </a:solidFill>
                          <a:effectLst/>
                          <a:latin typeface="+mn-lt"/>
                        </a:rPr>
                        <a:t>En caso de que un curso no tenga NRCs creados en los periodos indicados, el curso queda inhabilitado para planificarse. Por el momento déjelo como UPDATE_ME ya que no se utilizará.</a:t>
                      </a:r>
                    </a:p>
                  </a:txBody>
                  <a:tcPr marL="0" marR="0" marT="0" marB="0" anchor="ctr"/>
                </a:tc>
                <a:extLst>
                  <a:ext uri="{0D108BD9-81ED-4DB2-BD59-A6C34878D82A}">
                    <a16:rowId xmlns:a16="http://schemas.microsoft.com/office/drawing/2014/main" val="3452798"/>
                  </a:ext>
                </a:extLst>
              </a:tr>
              <a:tr h="48081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rgbClr val="340040"/>
                          </a:solidFill>
                          <a:effectLst/>
                          <a:uLnTx/>
                          <a:uFillTx/>
                          <a:latin typeface="+mn-lt"/>
                          <a:ea typeface="+mn-ea"/>
                          <a:cs typeface="+mn-cs"/>
                        </a:rPr>
                        <a:t>6</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STOP_RSTS</a:t>
                      </a:r>
                    </a:p>
                  </a:txBody>
                  <a:tcPr marL="0" marR="0" marT="0" marB="0" anchor="ctr"/>
                </a:tc>
                <a:tc>
                  <a:txBody>
                    <a:bodyPr/>
                    <a:lstStyle/>
                    <a:p>
                      <a:pPr algn="ctr" fontAlgn="ctr"/>
                      <a:r>
                        <a:rPr lang="es-ES" sz="1200" b="0" i="0" u="none" strike="noStrike" dirty="0">
                          <a:solidFill>
                            <a:schemeClr val="tx1"/>
                          </a:solidFill>
                          <a:effectLst/>
                          <a:latin typeface="+mn-lt"/>
                        </a:rPr>
                        <a:t>“UPDATE_ME”</a:t>
                      </a:r>
                    </a:p>
                  </a:txBody>
                  <a:tcPr marL="0" marR="0" marT="0" marB="0" anchor="ctr"/>
                </a:tc>
                <a:tc>
                  <a:txBody>
                    <a:bodyPr/>
                    <a:lstStyle/>
                    <a:p>
                      <a:pPr algn="l" fontAlgn="ctr"/>
                      <a:r>
                        <a:rPr lang="es-ES" sz="1200" b="0" i="0" u="none" strike="noStrike" dirty="0">
                          <a:solidFill>
                            <a:schemeClr val="tx1"/>
                          </a:solidFill>
                          <a:effectLst/>
                          <a:latin typeface="+mn-lt"/>
                        </a:rPr>
                        <a:t>Si un estudiante adquiere el status (desde STVRSTS) entonces no podrá cambiar el status de inscripción al curso desde la web. </a:t>
                      </a:r>
                    </a:p>
                  </a:txBody>
                  <a:tcPr marL="0" marR="0" marT="0" marB="0" anchor="ctr"/>
                </a:tc>
                <a:extLst>
                  <a:ext uri="{0D108BD9-81ED-4DB2-BD59-A6C34878D82A}">
                    <a16:rowId xmlns:a16="http://schemas.microsoft.com/office/drawing/2014/main" val="2785379510"/>
                  </a:ext>
                </a:extLst>
              </a:tr>
              <a:tr h="55006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rgbClr val="340040"/>
                          </a:solidFill>
                          <a:effectLst/>
                          <a:uLnTx/>
                          <a:uFillTx/>
                          <a:latin typeface="+mn-lt"/>
                          <a:ea typeface="+mn-ea"/>
                          <a:cs typeface="+mn-cs"/>
                        </a:rPr>
                        <a:t>7</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WEBALTPINA</a:t>
                      </a:r>
                    </a:p>
                  </a:txBody>
                  <a:tcPr marL="0" marR="0" marT="0" marB="0" anchor="ctr"/>
                </a:tc>
                <a:tc>
                  <a:txBody>
                    <a:bodyPr/>
                    <a:lstStyle/>
                    <a:p>
                      <a:pPr algn="ctr" fontAlgn="ctr"/>
                      <a:r>
                        <a:rPr lang="es-CL" sz="1200" b="0" i="0" u="none" strike="noStrike" dirty="0">
                          <a:solidFill>
                            <a:schemeClr val="tx1"/>
                          </a:solidFill>
                          <a:effectLst/>
                          <a:latin typeface="+mn-lt"/>
                        </a:rPr>
                        <a:t>N</a:t>
                      </a:r>
                    </a:p>
                  </a:txBody>
                  <a:tcPr marL="0" marR="0" marT="0" marB="0" anchor="ctr"/>
                </a:tc>
                <a:tc>
                  <a:txBody>
                    <a:bodyPr/>
                    <a:lstStyle/>
                    <a:p>
                      <a:pPr algn="l" fontAlgn="ctr"/>
                      <a:r>
                        <a:rPr lang="es-ES" sz="1200" b="0" i="0" u="none" strike="noStrike" dirty="0">
                          <a:solidFill>
                            <a:schemeClr val="tx1"/>
                          </a:solidFill>
                          <a:effectLst/>
                          <a:latin typeface="+mn-lt"/>
                        </a:rPr>
                        <a:t>Déjelo en “N” para que los estudiantes no tengan que ingresar su PIN alterno.</a:t>
                      </a:r>
                    </a:p>
                  </a:txBody>
                  <a:tcPr marL="0" marR="0" marT="0" marB="0" anchor="ctr"/>
                </a:tc>
                <a:extLst>
                  <a:ext uri="{0D108BD9-81ED-4DB2-BD59-A6C34878D82A}">
                    <a16:rowId xmlns:a16="http://schemas.microsoft.com/office/drawing/2014/main" val="41993088"/>
                  </a:ext>
                </a:extLst>
              </a:tr>
              <a:tr h="48081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rgbClr val="340040"/>
                          </a:solidFill>
                          <a:effectLst/>
                          <a:uLnTx/>
                          <a:uFillTx/>
                          <a:latin typeface="+mn-lt"/>
                          <a:ea typeface="+mn-ea"/>
                          <a:cs typeface="+mn-cs"/>
                        </a:rPr>
                        <a:t>8</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WEBALTPINU</a:t>
                      </a:r>
                    </a:p>
                  </a:txBody>
                  <a:tcPr marL="0" marR="0" marT="0" marB="0" anchor="ctr"/>
                </a:tc>
                <a:tc>
                  <a:txBody>
                    <a:bodyPr/>
                    <a:lstStyle/>
                    <a:p>
                      <a:pPr algn="ctr" fontAlgn="ctr"/>
                      <a:r>
                        <a:rPr lang="es-CL" sz="1200" b="0" i="0" u="none" strike="noStrike" dirty="0">
                          <a:solidFill>
                            <a:schemeClr val="tx1"/>
                          </a:solidFill>
                          <a:effectLst/>
                          <a:latin typeface="+mn-lt"/>
                        </a:rPr>
                        <a:t>N</a:t>
                      </a:r>
                    </a:p>
                  </a:txBody>
                  <a:tcPr marL="0" marR="0" marT="0" marB="0" anchor="ctr"/>
                </a:tc>
                <a:tc>
                  <a:txBody>
                    <a:bodyPr/>
                    <a:lstStyle/>
                    <a:p>
                      <a:pPr algn="l" fontAlgn="ctr"/>
                      <a:r>
                        <a:rPr lang="es-ES" sz="1200" b="0" i="0" u="none" strike="noStrike" dirty="0">
                          <a:solidFill>
                            <a:schemeClr val="tx1"/>
                          </a:solidFill>
                          <a:effectLst/>
                          <a:latin typeface="+mn-lt"/>
                        </a:rPr>
                        <a:t>Déjelo en “N” para usar la clave del estudiante</a:t>
                      </a:r>
                    </a:p>
                  </a:txBody>
                  <a:tcPr marL="0" marR="0" marT="0" marB="0" anchor="ctr"/>
                </a:tc>
                <a:extLst>
                  <a:ext uri="{0D108BD9-81ED-4DB2-BD59-A6C34878D82A}">
                    <a16:rowId xmlns:a16="http://schemas.microsoft.com/office/drawing/2014/main" val="2183416493"/>
                  </a:ext>
                </a:extLst>
              </a:tr>
            </a:tbl>
          </a:graphicData>
        </a:graphic>
      </p:graphicFrame>
      <p:sp>
        <p:nvSpPr>
          <p:cNvPr id="6" name="Marcador de texto vertical 1">
            <a:extLst>
              <a:ext uri="{FF2B5EF4-FFF2-40B4-BE49-F238E27FC236}">
                <a16:creationId xmlns:a16="http://schemas.microsoft.com/office/drawing/2014/main" id="{662B3FA4-3891-B6B6-73B5-AE74C0C45898}"/>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3760587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50F80-8690-1F7C-7390-9579B13B211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0C89805-C40B-0AF2-2B9B-FAB0E8D05DBE}"/>
              </a:ext>
            </a:extLst>
          </p:cNvPr>
          <p:cNvSpPr>
            <a:spLocks noGrp="1"/>
          </p:cNvSpPr>
          <p:nvPr>
            <p:ph type="title"/>
          </p:nvPr>
        </p:nvSpPr>
        <p:spPr>
          <a:xfrm>
            <a:off x="938996" y="304614"/>
            <a:ext cx="10477497" cy="898555"/>
          </a:xfrm>
        </p:spPr>
        <p:txBody>
          <a:bodyPr/>
          <a:lstStyle/>
          <a:p>
            <a:r>
              <a:rPr lang="es-ES_tradnl" dirty="0">
                <a:solidFill>
                  <a:schemeClr val="tx2"/>
                </a:solidFill>
              </a:rPr>
              <a:t>Validación de transposición (GTVSDAX)</a:t>
            </a:r>
            <a:endParaRPr lang="es-ES_tradnl" b="1" dirty="0"/>
          </a:p>
        </p:txBody>
      </p:sp>
      <p:graphicFrame>
        <p:nvGraphicFramePr>
          <p:cNvPr id="3" name="Tabla 2">
            <a:extLst>
              <a:ext uri="{FF2B5EF4-FFF2-40B4-BE49-F238E27FC236}">
                <a16:creationId xmlns:a16="http://schemas.microsoft.com/office/drawing/2014/main" id="{EA7CBFB6-81BA-6B5C-D9DF-907D46634E83}"/>
              </a:ext>
            </a:extLst>
          </p:cNvPr>
          <p:cNvGraphicFramePr>
            <a:graphicFrameLocks noGrp="1"/>
          </p:cNvGraphicFramePr>
          <p:nvPr/>
        </p:nvGraphicFramePr>
        <p:xfrm>
          <a:off x="938996" y="1152368"/>
          <a:ext cx="10477497" cy="4663536"/>
        </p:xfrm>
        <a:graphic>
          <a:graphicData uri="http://schemas.openxmlformats.org/drawingml/2006/table">
            <a:tbl>
              <a:tblPr firstRow="1" bandRow="1">
                <a:tableStyleId>{5C22544A-7EE6-4342-B048-85BDC9FD1C3A}</a:tableStyleId>
              </a:tblPr>
              <a:tblGrid>
                <a:gridCol w="604289">
                  <a:extLst>
                    <a:ext uri="{9D8B030D-6E8A-4147-A177-3AD203B41FA5}">
                      <a16:colId xmlns:a16="http://schemas.microsoft.com/office/drawing/2014/main" val="96973868"/>
                    </a:ext>
                  </a:extLst>
                </a:gridCol>
                <a:gridCol w="752087">
                  <a:extLst>
                    <a:ext uri="{9D8B030D-6E8A-4147-A177-3AD203B41FA5}">
                      <a16:colId xmlns:a16="http://schemas.microsoft.com/office/drawing/2014/main" val="3671970364"/>
                    </a:ext>
                  </a:extLst>
                </a:gridCol>
                <a:gridCol w="1245937">
                  <a:extLst>
                    <a:ext uri="{9D8B030D-6E8A-4147-A177-3AD203B41FA5}">
                      <a16:colId xmlns:a16="http://schemas.microsoft.com/office/drawing/2014/main" val="1822289275"/>
                    </a:ext>
                  </a:extLst>
                </a:gridCol>
                <a:gridCol w="1219498">
                  <a:extLst>
                    <a:ext uri="{9D8B030D-6E8A-4147-A177-3AD203B41FA5}">
                      <a16:colId xmlns:a16="http://schemas.microsoft.com/office/drawing/2014/main" val="3567961620"/>
                    </a:ext>
                  </a:extLst>
                </a:gridCol>
                <a:gridCol w="6655686">
                  <a:extLst>
                    <a:ext uri="{9D8B030D-6E8A-4147-A177-3AD203B41FA5}">
                      <a16:colId xmlns:a16="http://schemas.microsoft.com/office/drawing/2014/main" val="1570736915"/>
                    </a:ext>
                  </a:extLst>
                </a:gridCol>
              </a:tblGrid>
              <a:tr h="447737">
                <a:tc>
                  <a:txBody>
                    <a:bodyPr/>
                    <a:lstStyle/>
                    <a:p>
                      <a:pPr marL="0" algn="ctr" defTabSz="914400" rtl="0" eaLnBrk="1" fontAlgn="ctr" latinLnBrk="0" hangingPunct="1"/>
                      <a:r>
                        <a:rPr lang="es-CL" sz="1200" b="1" u="none" strike="noStrike" kern="1200" dirty="0" err="1">
                          <a:solidFill>
                            <a:schemeClr val="lt1"/>
                          </a:solidFill>
                          <a:effectLst/>
                          <a:latin typeface="+mn-lt"/>
                          <a:ea typeface="+mn-ea"/>
                          <a:cs typeface="+mn-cs"/>
                        </a:rPr>
                        <a:t>Nro</a:t>
                      </a:r>
                      <a:endParaRPr lang="es-CL" sz="1200" b="1" u="none" strike="noStrike" kern="1200" dirty="0">
                        <a:solidFill>
                          <a:schemeClr val="lt1"/>
                        </a:solidFill>
                        <a:effectLst/>
                        <a:latin typeface="+mn-lt"/>
                        <a:ea typeface="+mn-ea"/>
                        <a:cs typeface="+mn-cs"/>
                      </a:endParaRPr>
                    </a:p>
                  </a:txBody>
                  <a:tcPr marL="0" marR="0" marT="0" marB="0" anchor="ctr"/>
                </a:tc>
                <a:tc>
                  <a:txBody>
                    <a:bodyPr/>
                    <a:lstStyle/>
                    <a:p>
                      <a:pPr marL="0" algn="ctr" defTabSz="914400" rtl="0" eaLnBrk="1" fontAlgn="ctr" latinLnBrk="0" hangingPunct="1"/>
                      <a:r>
                        <a:rPr lang="es-CL" sz="1200" b="1" u="none" strike="noStrike" kern="1200" dirty="0">
                          <a:solidFill>
                            <a:schemeClr val="lt1"/>
                          </a:solidFill>
                          <a:effectLst/>
                          <a:latin typeface="+mn-lt"/>
                          <a:ea typeface="+mn-ea"/>
                          <a:cs typeface="+mn-cs"/>
                        </a:rPr>
                        <a:t>Grupo</a:t>
                      </a:r>
                    </a:p>
                  </a:txBody>
                  <a:tcPr marL="0" marR="0" marT="0" marB="0" anchor="ctr"/>
                </a:tc>
                <a:tc>
                  <a:txBody>
                    <a:bodyPr/>
                    <a:lstStyle/>
                    <a:p>
                      <a:pPr marL="0" algn="ctr" defTabSz="914400" rtl="0" eaLnBrk="1" fontAlgn="ctr" latinLnBrk="0" hangingPunct="1"/>
                      <a:r>
                        <a:rPr lang="es-CL" sz="1200" b="1" u="none" strike="noStrike" kern="1200" dirty="0">
                          <a:solidFill>
                            <a:schemeClr val="lt1"/>
                          </a:solidFill>
                          <a:effectLst/>
                          <a:latin typeface="+mn-lt"/>
                          <a:ea typeface="+mn-ea"/>
                          <a:cs typeface="+mn-cs"/>
                        </a:rPr>
                        <a:t>Código</a:t>
                      </a:r>
                    </a:p>
                  </a:txBody>
                  <a:tcPr marL="0" marR="0" marT="0" marB="0" anchor="ctr"/>
                </a:tc>
                <a:tc>
                  <a:txBody>
                    <a:bodyPr/>
                    <a:lstStyle/>
                    <a:p>
                      <a:pPr algn="ctr" fontAlgn="ctr"/>
                      <a:r>
                        <a:rPr lang="es-CL" sz="1200" u="none" strike="noStrike" dirty="0">
                          <a:effectLst/>
                          <a:latin typeface="+mn-lt"/>
                        </a:rPr>
                        <a:t>Código Externo</a:t>
                      </a:r>
                      <a:endParaRPr lang="es-CL" sz="1200" b="0" i="0" u="none" strike="noStrike" dirty="0">
                        <a:solidFill>
                          <a:srgbClr val="FFFFFF"/>
                        </a:solidFill>
                        <a:effectLst/>
                        <a:latin typeface="+mn-lt"/>
                      </a:endParaRPr>
                    </a:p>
                  </a:txBody>
                  <a:tcPr marL="0" marR="0" marT="0" marB="0" anchor="ctr"/>
                </a:tc>
                <a:tc>
                  <a:txBody>
                    <a:bodyPr/>
                    <a:lstStyle/>
                    <a:p>
                      <a:pPr algn="ctr" fontAlgn="ctr"/>
                      <a:r>
                        <a:rPr lang="es-CL" sz="1200" u="none" strike="noStrike" dirty="0">
                          <a:effectLst/>
                          <a:latin typeface="+mn-lt"/>
                        </a:rPr>
                        <a:t>Comentario</a:t>
                      </a:r>
                      <a:endParaRPr lang="es-CL" sz="1200" b="0" i="0" u="none" strike="noStrike" dirty="0">
                        <a:solidFill>
                          <a:srgbClr val="FFFFFF"/>
                        </a:solidFill>
                        <a:effectLst/>
                        <a:latin typeface="+mn-lt"/>
                      </a:endParaRPr>
                    </a:p>
                  </a:txBody>
                  <a:tcPr marL="0" marR="0" marT="0" marB="0" anchor="ctr"/>
                </a:tc>
                <a:extLst>
                  <a:ext uri="{0D108BD9-81ED-4DB2-BD59-A6C34878D82A}">
                    <a16:rowId xmlns:a16="http://schemas.microsoft.com/office/drawing/2014/main" val="1600408903"/>
                  </a:ext>
                </a:extLst>
              </a:tr>
              <a:tr h="44773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chemeClr val="tx1"/>
                          </a:solidFill>
                          <a:effectLst/>
                          <a:uLnTx/>
                          <a:uFillTx/>
                          <a:latin typeface="+mn-lt"/>
                          <a:ea typeface="+mn-ea"/>
                          <a:cs typeface="+mn-cs"/>
                        </a:rPr>
                        <a:t>9</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WEBDROPLST</a:t>
                      </a:r>
                    </a:p>
                  </a:txBody>
                  <a:tcPr marL="0" marR="0" marT="0" marB="0" anchor="ctr"/>
                </a:tc>
                <a:tc>
                  <a:txBody>
                    <a:bodyPr/>
                    <a:lstStyle/>
                    <a:p>
                      <a:pPr algn="ctr" fontAlgn="ctr"/>
                      <a:r>
                        <a:rPr lang="es-CL" sz="1200" b="0" i="0" u="none" strike="noStrike" dirty="0">
                          <a:solidFill>
                            <a:schemeClr val="tx1"/>
                          </a:solidFill>
                          <a:effectLst/>
                          <a:latin typeface="+mn-lt"/>
                        </a:rPr>
                        <a:t>No Usar</a:t>
                      </a:r>
                    </a:p>
                  </a:txBody>
                  <a:tcPr marL="0" marR="0" marT="0" marB="0" anchor="ctr"/>
                </a:tc>
                <a:tc>
                  <a:txBody>
                    <a:bodyPr/>
                    <a:lstStyle/>
                    <a:p>
                      <a:pPr algn="l" fontAlgn="ctr"/>
                      <a:r>
                        <a:rPr lang="es-ES" sz="1200" b="0" i="0" u="none" strike="noStrike" dirty="0">
                          <a:solidFill>
                            <a:schemeClr val="tx1"/>
                          </a:solidFill>
                          <a:effectLst/>
                          <a:latin typeface="+mn-lt"/>
                        </a:rPr>
                        <a:t>Esta configuración ha sido pasada a SOATERM. Ya no debe ser configurada acá.</a:t>
                      </a:r>
                    </a:p>
                  </a:txBody>
                  <a:tcPr marL="0" marR="0" marT="0" marB="0" anchor="ctr"/>
                </a:tc>
                <a:extLst>
                  <a:ext uri="{0D108BD9-81ED-4DB2-BD59-A6C34878D82A}">
                    <a16:rowId xmlns:a16="http://schemas.microsoft.com/office/drawing/2014/main" val="397777445"/>
                  </a:ext>
                </a:extLst>
              </a:tr>
              <a:tr h="44773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chemeClr val="tx1"/>
                          </a:solidFill>
                          <a:effectLst/>
                          <a:uLnTx/>
                          <a:uFillTx/>
                          <a:latin typeface="+mn-lt"/>
                          <a:ea typeface="+mn-ea"/>
                          <a:cs typeface="+mn-cs"/>
                        </a:rPr>
                        <a:t>10</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WEBMANCONT</a:t>
                      </a:r>
                    </a:p>
                  </a:txBody>
                  <a:tcPr marL="0" marR="0" marT="0" marB="0" anchor="ctr"/>
                </a:tc>
                <a:tc>
                  <a:txBody>
                    <a:bodyPr/>
                    <a:lstStyle/>
                    <a:p>
                      <a:pPr algn="ctr" fontAlgn="ctr"/>
                      <a:r>
                        <a:rPr lang="es-CL" sz="1200" b="0" i="0" u="none" strike="noStrike" dirty="0">
                          <a:solidFill>
                            <a:schemeClr val="tx1"/>
                          </a:solidFill>
                          <a:effectLst/>
                          <a:latin typeface="+mn-lt"/>
                        </a:rPr>
                        <a:t>N</a:t>
                      </a:r>
                    </a:p>
                  </a:txBody>
                  <a:tcPr marL="0" marR="0" marT="0" marB="0" anchor="ctr"/>
                </a:tc>
                <a:tc>
                  <a:txBody>
                    <a:bodyPr/>
                    <a:lstStyle/>
                    <a:p>
                      <a:pPr algn="l" fontAlgn="ctr"/>
                      <a:r>
                        <a:rPr lang="es-ES" sz="1200" b="0" i="0" u="none" strike="noStrike" dirty="0">
                          <a:solidFill>
                            <a:schemeClr val="tx1"/>
                          </a:solidFill>
                          <a:effectLst/>
                          <a:latin typeface="+mn-lt"/>
                        </a:rPr>
                        <a:t>Déjelo en “Y” para que, en caso de que un estudiante no tenga turno de inscripción asignado, </a:t>
                      </a:r>
                      <a:r>
                        <a:rPr lang="es-ES" sz="1200" b="1" i="0" u="none" strike="noStrike" dirty="0">
                          <a:solidFill>
                            <a:schemeClr val="tx1"/>
                          </a:solidFill>
                          <a:effectLst/>
                          <a:latin typeface="+mn-lt"/>
                        </a:rPr>
                        <a:t>no pueda</a:t>
                      </a:r>
                      <a:r>
                        <a:rPr lang="es-ES" sz="1200" b="0" i="0" u="none" strike="noStrike" dirty="0">
                          <a:solidFill>
                            <a:schemeClr val="tx1"/>
                          </a:solidFill>
                          <a:effectLst/>
                          <a:latin typeface="+mn-lt"/>
                        </a:rPr>
                        <a:t> continuar con el proceso.  Y para turnos por SFARGTC, N para turnos por grupos</a:t>
                      </a:r>
                    </a:p>
                  </a:txBody>
                  <a:tcPr marL="0" marR="0" marT="0" marB="0" anchor="ctr"/>
                </a:tc>
                <a:extLst>
                  <a:ext uri="{0D108BD9-81ED-4DB2-BD59-A6C34878D82A}">
                    <a16:rowId xmlns:a16="http://schemas.microsoft.com/office/drawing/2014/main" val="1301163987"/>
                  </a:ext>
                </a:extLst>
              </a:tr>
              <a:tr h="44773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chemeClr val="tx1"/>
                          </a:solidFill>
                          <a:effectLst/>
                          <a:uLnTx/>
                          <a:uFillTx/>
                          <a:latin typeface="+mn-lt"/>
                          <a:ea typeface="+mn-ea"/>
                          <a:cs typeface="+mn-cs"/>
                        </a:rPr>
                        <a:t>11</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WEBRSTSDRP</a:t>
                      </a:r>
                    </a:p>
                  </a:txBody>
                  <a:tcPr marL="0" marR="0" marT="0" marB="0" anchor="ctr"/>
                </a:tc>
                <a:tc>
                  <a:txBody>
                    <a:bodyPr/>
                    <a:lstStyle/>
                    <a:p>
                      <a:pPr algn="ctr" fontAlgn="ctr"/>
                      <a:r>
                        <a:rPr lang="es-CL" sz="1200" b="0" i="0" u="none" strike="noStrike" dirty="0">
                          <a:solidFill>
                            <a:schemeClr val="tx1"/>
                          </a:solidFill>
                          <a:effectLst/>
                          <a:latin typeface="+mn-lt"/>
                        </a:rPr>
                        <a:t>DW</a:t>
                      </a:r>
                    </a:p>
                  </a:txBody>
                  <a:tcPr marL="0" marR="0" marT="0" marB="0" anchor="ctr"/>
                </a:tc>
                <a:tc>
                  <a:txBody>
                    <a:bodyPr/>
                    <a:lstStyle/>
                    <a:p>
                      <a:pPr algn="l" fontAlgn="ctr"/>
                      <a:r>
                        <a:rPr lang="es-CL" sz="1200" b="0" i="0" u="none" strike="noStrike" dirty="0">
                          <a:solidFill>
                            <a:schemeClr val="tx1"/>
                          </a:solidFill>
                          <a:effectLst/>
                          <a:latin typeface="+mn-lt"/>
                        </a:rPr>
                        <a:t>Código para dar de baja en web (STVRSTS)</a:t>
                      </a:r>
                    </a:p>
                  </a:txBody>
                  <a:tcPr marL="0" marR="0" marT="0" marB="0" anchor="ctr"/>
                </a:tc>
                <a:extLst>
                  <a:ext uri="{0D108BD9-81ED-4DB2-BD59-A6C34878D82A}">
                    <a16:rowId xmlns:a16="http://schemas.microsoft.com/office/drawing/2014/main" val="2420768169"/>
                  </a:ext>
                </a:extLst>
              </a:tr>
              <a:tr h="44773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chemeClr val="tx1"/>
                          </a:solidFill>
                          <a:effectLst/>
                          <a:uLnTx/>
                          <a:uFillTx/>
                          <a:latin typeface="+mn-lt"/>
                          <a:ea typeface="+mn-ea"/>
                          <a:cs typeface="+mn-cs"/>
                        </a:rPr>
                        <a:t>12</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WEBRSTSREG</a:t>
                      </a:r>
                    </a:p>
                  </a:txBody>
                  <a:tcPr marL="0" marR="0" marT="0" marB="0" anchor="ctr"/>
                </a:tc>
                <a:tc>
                  <a:txBody>
                    <a:bodyPr/>
                    <a:lstStyle/>
                    <a:p>
                      <a:pPr algn="ctr" fontAlgn="ctr"/>
                      <a:r>
                        <a:rPr lang="es-CL" sz="1200" b="0" i="0" u="none" strike="noStrike" dirty="0">
                          <a:solidFill>
                            <a:schemeClr val="tx1"/>
                          </a:solidFill>
                          <a:effectLst/>
                          <a:latin typeface="+mn-lt"/>
                        </a:rPr>
                        <a:t>RW</a:t>
                      </a:r>
                    </a:p>
                  </a:txBody>
                  <a:tcPr marL="0" marR="0" marT="0" marB="0" anchor="ctr"/>
                </a:tc>
                <a:tc>
                  <a:txBody>
                    <a:bodyPr/>
                    <a:lstStyle/>
                    <a:p>
                      <a:pPr algn="l" fontAlgn="ctr"/>
                      <a:r>
                        <a:rPr lang="es-ES" sz="1200" b="0" i="0" u="none" strike="noStrike" dirty="0">
                          <a:solidFill>
                            <a:schemeClr val="tx1"/>
                          </a:solidFill>
                          <a:effectLst/>
                          <a:latin typeface="+mn-lt"/>
                        </a:rPr>
                        <a:t>Código para inscribir en web (STVRSTS)</a:t>
                      </a:r>
                    </a:p>
                  </a:txBody>
                  <a:tcPr marL="0" marR="0" marT="0" marB="0" anchor="ctr"/>
                </a:tc>
                <a:extLst>
                  <a:ext uri="{0D108BD9-81ED-4DB2-BD59-A6C34878D82A}">
                    <a16:rowId xmlns:a16="http://schemas.microsoft.com/office/drawing/2014/main" val="3586440865"/>
                  </a:ext>
                </a:extLst>
              </a:tr>
              <a:tr h="44773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chemeClr val="tx1"/>
                          </a:solidFill>
                          <a:effectLst/>
                          <a:uLnTx/>
                          <a:uFillTx/>
                          <a:latin typeface="+mn-lt"/>
                          <a:ea typeface="+mn-ea"/>
                          <a:cs typeface="+mn-cs"/>
                        </a:rPr>
                        <a:t>13</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WEBRESTTKT </a:t>
                      </a:r>
                    </a:p>
                  </a:txBody>
                  <a:tcPr marL="0" marR="0" marT="0" marB="0" anchor="ctr"/>
                </a:tc>
                <a:tc>
                  <a:txBody>
                    <a:bodyPr/>
                    <a:lstStyle/>
                    <a:p>
                      <a:pPr algn="ctr" fontAlgn="ctr"/>
                      <a:r>
                        <a:rPr lang="es-419" sz="1200" b="0" i="0" u="none" strike="noStrike" kern="1200" dirty="0">
                          <a:solidFill>
                            <a:schemeClr val="tx1"/>
                          </a:solidFill>
                          <a:effectLst/>
                          <a:latin typeface="+mn-lt"/>
                          <a:ea typeface="+mn-ea"/>
                          <a:cs typeface="+mn-cs"/>
                        </a:rPr>
                        <a:t>Y/N</a:t>
                      </a:r>
                      <a:endParaRPr lang="es-CL" sz="1200" b="0" i="0" u="none" strike="noStrike" kern="1200" dirty="0">
                        <a:solidFill>
                          <a:schemeClr val="tx1"/>
                        </a:solidFill>
                        <a:effectLst/>
                        <a:latin typeface="+mn-lt"/>
                        <a:ea typeface="+mn-ea"/>
                        <a:cs typeface="+mn-cs"/>
                      </a:endParaRPr>
                    </a:p>
                  </a:txBody>
                  <a:tcPr marL="0" marR="0" marT="0" marB="0" anchor="ctr"/>
                </a:tc>
                <a:tc>
                  <a:txBody>
                    <a:bodyPr/>
                    <a:lstStyle/>
                    <a:p>
                      <a:pPr algn="l" fontAlgn="ctr"/>
                      <a:r>
                        <a:rPr lang="es-419" sz="1200" b="0" i="0" u="none" strike="noStrike" kern="1200" dirty="0">
                          <a:solidFill>
                            <a:schemeClr val="tx1"/>
                          </a:solidFill>
                          <a:effectLst/>
                          <a:latin typeface="+mn-lt"/>
                          <a:ea typeface="+mn-ea"/>
                          <a:cs typeface="+mn-cs"/>
                        </a:rPr>
                        <a:t>Y, la inscripción se restringe a los alumnos que tienen un turno para el periodo</a:t>
                      </a:r>
                      <a:endParaRPr lang="es-ES" sz="1200" b="0" i="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3588166051"/>
                  </a:ext>
                </a:extLst>
              </a:tr>
              <a:tr h="44773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chemeClr val="tx1"/>
                          </a:solidFill>
                          <a:effectLst/>
                          <a:uLnTx/>
                          <a:uFillTx/>
                          <a:latin typeface="+mn-lt"/>
                          <a:ea typeface="+mn-ea"/>
                          <a:cs typeface="+mn-cs"/>
                        </a:rPr>
                        <a:t>14</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CRNDIRECT</a:t>
                      </a:r>
                    </a:p>
                  </a:txBody>
                  <a:tcPr marL="0" marR="0" marT="0" marB="0" anchor="ctr"/>
                </a:tc>
                <a:tc>
                  <a:txBody>
                    <a:bodyPr/>
                    <a:lstStyle/>
                    <a:p>
                      <a:pPr algn="ctr" fontAlgn="ctr"/>
                      <a:r>
                        <a:rPr lang="es-CL" sz="1200" b="0" i="0" u="none" strike="noStrike" dirty="0">
                          <a:solidFill>
                            <a:schemeClr val="tx1"/>
                          </a:solidFill>
                          <a:effectLst/>
                          <a:latin typeface="+mn-lt"/>
                        </a:rPr>
                        <a:t>Y/N</a:t>
                      </a:r>
                    </a:p>
                  </a:txBody>
                  <a:tcPr marL="0" marR="0" marT="0" marB="0" anchor="ctr"/>
                </a:tc>
                <a:tc>
                  <a:txBody>
                    <a:bodyPr/>
                    <a:lstStyle/>
                    <a:p>
                      <a:pPr algn="l" fontAlgn="ctr"/>
                      <a:r>
                        <a:rPr lang="es-419" sz="1200" b="0" i="0" u="none" strike="noStrike" dirty="0">
                          <a:solidFill>
                            <a:schemeClr val="tx1"/>
                          </a:solidFill>
                          <a:effectLst/>
                          <a:latin typeface="+mn-lt"/>
                        </a:rPr>
                        <a:t> permitir al alumno agregar una clase directamente ingresando el NRC.</a:t>
                      </a:r>
                      <a:endParaRPr lang="es-ES" sz="1200" b="0" i="0" u="none" strike="noStrike" dirty="0">
                        <a:solidFill>
                          <a:schemeClr val="tx1"/>
                        </a:solidFill>
                        <a:effectLst/>
                        <a:latin typeface="+mn-lt"/>
                      </a:endParaRPr>
                    </a:p>
                  </a:txBody>
                  <a:tcPr marL="0" marR="0" marT="0" marB="0" anchor="ctr"/>
                </a:tc>
                <a:extLst>
                  <a:ext uri="{0D108BD9-81ED-4DB2-BD59-A6C34878D82A}">
                    <a16:rowId xmlns:a16="http://schemas.microsoft.com/office/drawing/2014/main" val="975334357"/>
                  </a:ext>
                </a:extLst>
              </a:tr>
              <a:tr h="98073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chemeClr val="tx1"/>
                          </a:solidFill>
                          <a:effectLst/>
                          <a:uLnTx/>
                          <a:uFillTx/>
                          <a:latin typeface="+mn-lt"/>
                          <a:ea typeface="+mn-ea"/>
                          <a:cs typeface="+mn-cs"/>
                        </a:rPr>
                        <a:t>15</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REQUIREALL</a:t>
                      </a:r>
                    </a:p>
                  </a:txBody>
                  <a:tcPr marL="0" marR="0" marT="0" marB="0" anchor="ctr"/>
                </a:tc>
                <a:tc>
                  <a:txBody>
                    <a:bodyPr/>
                    <a:lstStyle/>
                    <a:p>
                      <a:pPr algn="ctr" fontAlgn="ctr"/>
                      <a:r>
                        <a:rPr lang="es-CL" sz="1200" b="0" i="0" u="none" strike="noStrike" dirty="0">
                          <a:solidFill>
                            <a:schemeClr val="tx1"/>
                          </a:solidFill>
                          <a:effectLst/>
                          <a:latin typeface="+mn-lt"/>
                        </a:rPr>
                        <a:t>Y/N</a:t>
                      </a:r>
                    </a:p>
                  </a:txBody>
                  <a:tcPr marL="0" marR="0" marT="0" marB="0" anchor="ctr"/>
                </a:tc>
                <a:tc>
                  <a:txBody>
                    <a:bodyPr/>
                    <a:lstStyle/>
                    <a:p>
                      <a:pPr algn="l" fontAlgn="ctr"/>
                      <a:r>
                        <a:rPr lang="es-419" sz="1200" b="0" i="0" u="none" strike="noStrike" dirty="0">
                          <a:solidFill>
                            <a:schemeClr val="tx1"/>
                          </a:solidFill>
                          <a:effectLst/>
                          <a:latin typeface="+mn-lt"/>
                        </a:rPr>
                        <a:t>Cuando el control de REQUIREALL está activo, aún si los valores «Agregar» y «Eliminar» en SFABRDF o SFAPABC permiten agregar y eliminar cursos sin restricciones, los alumnos deben eliminar todas las clases del bloque si intentan eliminar o retirarse de una. para evitar que los alumnos se inscriban para un bloque si no se inscribieron con éxito en todas las clases dentro de un bloque. Esto elimina la posibilidad de que los alumnos se inscriban parcialmente en un bloque.</a:t>
                      </a:r>
                      <a:endParaRPr lang="es-ES" sz="1200" b="0" i="0" u="none" strike="noStrike" dirty="0">
                        <a:solidFill>
                          <a:schemeClr val="tx1"/>
                        </a:solidFill>
                        <a:effectLst/>
                        <a:latin typeface="+mn-lt"/>
                      </a:endParaRPr>
                    </a:p>
                  </a:txBody>
                  <a:tcPr marL="0" marR="0" marT="0" marB="0" anchor="ctr"/>
                </a:tc>
                <a:extLst>
                  <a:ext uri="{0D108BD9-81ED-4DB2-BD59-A6C34878D82A}">
                    <a16:rowId xmlns:a16="http://schemas.microsoft.com/office/drawing/2014/main" val="77393978"/>
                  </a:ext>
                </a:extLst>
              </a:tr>
              <a:tr h="44773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chemeClr val="tx1"/>
                          </a:solidFill>
                          <a:effectLst/>
                          <a:uLnTx/>
                          <a:uFillTx/>
                          <a:latin typeface="+mn-lt"/>
                          <a:ea typeface="+mn-ea"/>
                          <a:cs typeface="+mn-cs"/>
                        </a:rPr>
                        <a:t>16</a:t>
                      </a:r>
                    </a:p>
                  </a:txBody>
                  <a:tcPr marL="0" marR="0" marT="0" marB="0" anchor="ctr"/>
                </a:tc>
                <a:tc>
                  <a:txBody>
                    <a:bodyPr/>
                    <a:lstStyle/>
                    <a:p>
                      <a:pPr algn="ctr" fontAlgn="ctr"/>
                      <a:r>
                        <a:rPr lang="es-CL" sz="1200" b="0" i="0" u="none" strike="noStrike" dirty="0">
                          <a:solidFill>
                            <a:schemeClr val="tx1"/>
                          </a:solidFill>
                          <a:effectLst/>
                          <a:latin typeface="+mn-lt"/>
                        </a:rPr>
                        <a:t>WEBREG</a:t>
                      </a:r>
                    </a:p>
                  </a:txBody>
                  <a:tcPr marL="0" marR="0" marT="0" marB="0" anchor="ctr"/>
                </a:tc>
                <a:tc>
                  <a:txBody>
                    <a:bodyPr/>
                    <a:lstStyle/>
                    <a:p>
                      <a:pPr algn="ctr" fontAlgn="ctr"/>
                      <a:r>
                        <a:rPr lang="es-CL" sz="1200" b="0" i="0" u="none" strike="noStrike" dirty="0">
                          <a:solidFill>
                            <a:schemeClr val="tx1"/>
                          </a:solidFill>
                          <a:effectLst/>
                          <a:latin typeface="+mn-lt"/>
                        </a:rPr>
                        <a:t>WEBTIMETKT</a:t>
                      </a:r>
                    </a:p>
                  </a:txBody>
                  <a:tcPr marL="0" marR="0" marT="0" marB="0" anchor="ctr"/>
                </a:tc>
                <a:tc>
                  <a:txBody>
                    <a:bodyPr/>
                    <a:lstStyle/>
                    <a:p>
                      <a:pPr algn="ctr" fontAlgn="ctr"/>
                      <a:r>
                        <a:rPr lang="es-CL" sz="1200" b="0" i="0" u="none" strike="noStrike" dirty="0">
                          <a:solidFill>
                            <a:schemeClr val="tx1"/>
                          </a:solidFill>
                          <a:effectLst/>
                          <a:latin typeface="+mn-lt"/>
                        </a:rPr>
                        <a:t>Y/N</a:t>
                      </a:r>
                    </a:p>
                  </a:txBody>
                  <a:tcPr marL="0" marR="0" marT="0" marB="0" anchor="ctr"/>
                </a:tc>
                <a:tc>
                  <a:txBody>
                    <a:bodyPr/>
                    <a:lstStyle/>
                    <a:p>
                      <a:pPr algn="l" fontAlgn="ctr"/>
                      <a:r>
                        <a:rPr lang="es-419" sz="1200" b="0" i="0" u="none" strike="noStrike" dirty="0">
                          <a:solidFill>
                            <a:schemeClr val="tx1"/>
                          </a:solidFill>
                          <a:effectLst/>
                          <a:latin typeface="+mn-lt"/>
                        </a:rPr>
                        <a:t>Y, la inscripción volverá a validar los turnos cada vez que un alumno envíe una transacción de inscripción. Si se establece en N, el registro validará los turnos solo cuando el alumno seleccione un periodo</a:t>
                      </a:r>
                      <a:endParaRPr lang="es-ES" sz="1200" b="0" i="0" u="none" strike="noStrike" dirty="0">
                        <a:solidFill>
                          <a:schemeClr val="tx1"/>
                        </a:solidFill>
                        <a:effectLst/>
                        <a:latin typeface="+mn-lt"/>
                      </a:endParaRPr>
                    </a:p>
                  </a:txBody>
                  <a:tcPr marL="0" marR="0" marT="0" marB="0" anchor="ctr"/>
                </a:tc>
                <a:extLst>
                  <a:ext uri="{0D108BD9-81ED-4DB2-BD59-A6C34878D82A}">
                    <a16:rowId xmlns:a16="http://schemas.microsoft.com/office/drawing/2014/main" val="3759301005"/>
                  </a:ext>
                </a:extLst>
              </a:tr>
            </a:tbl>
          </a:graphicData>
        </a:graphic>
      </p:graphicFrame>
      <p:sp>
        <p:nvSpPr>
          <p:cNvPr id="6" name="Marcador de texto vertical 1">
            <a:extLst>
              <a:ext uri="{FF2B5EF4-FFF2-40B4-BE49-F238E27FC236}">
                <a16:creationId xmlns:a16="http://schemas.microsoft.com/office/drawing/2014/main" id="{2F3E2F7F-81EE-C21E-A162-5CD49EED611F}"/>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9649651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E4E72-32CA-8754-E7A7-27E54D76AA0C}"/>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0BB96ACA-EFA2-92BA-A584-F5AE28854BB8}"/>
              </a:ext>
            </a:extLst>
          </p:cNvPr>
          <p:cNvSpPr>
            <a:spLocks noGrp="1"/>
          </p:cNvSpPr>
          <p:nvPr>
            <p:ph type="body" sz="quarter" idx="10"/>
          </p:nvPr>
        </p:nvSpPr>
        <p:spPr>
          <a:xfrm>
            <a:off x="914399" y="2238843"/>
            <a:ext cx="10363202" cy="669094"/>
          </a:xfrm>
        </p:spPr>
        <p:txBody>
          <a:bodyPr/>
          <a:lstStyle/>
          <a:p>
            <a:r>
              <a:rPr lang="es-419" dirty="0"/>
              <a:t>Mensajes de error de inscripción</a:t>
            </a:r>
          </a:p>
        </p:txBody>
      </p:sp>
      <p:sp>
        <p:nvSpPr>
          <p:cNvPr id="2" name="Marcador de texto vertical 1">
            <a:extLst>
              <a:ext uri="{FF2B5EF4-FFF2-40B4-BE49-F238E27FC236}">
                <a16:creationId xmlns:a16="http://schemas.microsoft.com/office/drawing/2014/main" id="{5A8B6F7D-35D0-620E-718F-B8808D8A6C30}"/>
              </a:ext>
            </a:extLst>
          </p:cNvPr>
          <p:cNvSpPr>
            <a:spLocks noGrp="1"/>
          </p:cNvSpPr>
          <p:nvPr>
            <p:ph type="body" sz="quarter" idx="11"/>
          </p:nvPr>
        </p:nvSpPr>
        <p:spPr/>
        <p:txBody>
          <a:bodyPr vert="horz" lIns="0" tIns="0" rIns="0" bIns="0" rtlCol="0">
            <a:spAutoFit/>
          </a:bodyPr>
          <a:lstStyle/>
          <a:p>
            <a:r>
              <a:rPr lang="es-419" dirty="0"/>
              <a:t>Ejecutar la inscripción de cursos por Autoservicio por Lista de Espera</a:t>
            </a:r>
          </a:p>
        </p:txBody>
      </p:sp>
    </p:spTree>
    <p:extLst>
      <p:ext uri="{BB962C8B-B14F-4D97-AF65-F5344CB8AC3E}">
        <p14:creationId xmlns:p14="http://schemas.microsoft.com/office/powerpoint/2010/main" val="4257661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2F178-0C32-83B3-C2CB-99D061C86A7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2BC0555-8557-1B17-0976-6C4CA05A4AA7}"/>
              </a:ext>
            </a:extLst>
          </p:cNvPr>
          <p:cNvPicPr>
            <a:picLocks noChangeAspect="1"/>
          </p:cNvPicPr>
          <p:nvPr/>
        </p:nvPicPr>
        <p:blipFill>
          <a:blip r:embed="rId3"/>
          <a:stretch>
            <a:fillRect/>
          </a:stretch>
        </p:blipFill>
        <p:spPr>
          <a:xfrm>
            <a:off x="775507" y="1015070"/>
            <a:ext cx="10895793" cy="4701749"/>
          </a:xfrm>
          <a:prstGeom prst="rect">
            <a:avLst/>
          </a:prstGeom>
        </p:spPr>
      </p:pic>
      <p:sp>
        <p:nvSpPr>
          <p:cNvPr id="13" name="Title 12">
            <a:extLst>
              <a:ext uri="{FF2B5EF4-FFF2-40B4-BE49-F238E27FC236}">
                <a16:creationId xmlns:a16="http://schemas.microsoft.com/office/drawing/2014/main" id="{B7B2635D-092B-1CDB-AC8A-F18BC4A784AE}"/>
              </a:ext>
            </a:extLst>
          </p:cNvPr>
          <p:cNvSpPr>
            <a:spLocks noGrp="1"/>
          </p:cNvSpPr>
          <p:nvPr>
            <p:ph type="title"/>
          </p:nvPr>
        </p:nvSpPr>
        <p:spPr>
          <a:xfrm>
            <a:off x="938996" y="304614"/>
            <a:ext cx="10477497" cy="898555"/>
          </a:xfrm>
        </p:spPr>
        <p:txBody>
          <a:bodyPr/>
          <a:lstStyle/>
          <a:p>
            <a:r>
              <a:rPr lang="es-419" dirty="0">
                <a:solidFill>
                  <a:schemeClr val="tx2"/>
                </a:solidFill>
              </a:rPr>
              <a:t>Mensajes de error de inscripción (SFARMSG)</a:t>
            </a:r>
            <a:br>
              <a:rPr lang="es-419" b="0" dirty="0">
                <a:effectLst/>
              </a:rPr>
            </a:br>
            <a:endParaRPr lang="es-ES_tradnl" b="1" dirty="0"/>
          </a:p>
        </p:txBody>
      </p:sp>
      <p:sp>
        <p:nvSpPr>
          <p:cNvPr id="16" name="Rectángulo: esquinas redondeadas 15">
            <a:extLst>
              <a:ext uri="{FF2B5EF4-FFF2-40B4-BE49-F238E27FC236}">
                <a16:creationId xmlns:a16="http://schemas.microsoft.com/office/drawing/2014/main" id="{EA0CE1F4-4A03-4B74-A7A8-017B51AEB0C5}"/>
              </a:ext>
            </a:extLst>
          </p:cNvPr>
          <p:cNvSpPr/>
          <p:nvPr/>
        </p:nvSpPr>
        <p:spPr>
          <a:xfrm>
            <a:off x="1097718" y="4952069"/>
            <a:ext cx="6317468" cy="122013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En la página SFARMSG se visualiza la lista de mensajes de errores que presenta Registration de forma nativa, pero dichos mensajes pueden ser personalizados en el campo ‘Mensaje Personalizado’. </a:t>
            </a:r>
          </a:p>
        </p:txBody>
      </p:sp>
      <p:sp>
        <p:nvSpPr>
          <p:cNvPr id="6" name="Rectángulo 5">
            <a:extLst>
              <a:ext uri="{FF2B5EF4-FFF2-40B4-BE49-F238E27FC236}">
                <a16:creationId xmlns:a16="http://schemas.microsoft.com/office/drawing/2014/main" id="{67E5735A-A62C-14A1-3C3B-80E6AA4600A5}"/>
              </a:ext>
            </a:extLst>
          </p:cNvPr>
          <p:cNvSpPr/>
          <p:nvPr/>
        </p:nvSpPr>
        <p:spPr>
          <a:xfrm>
            <a:off x="7581092" y="1534189"/>
            <a:ext cx="2629707" cy="379139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Marcador de texto vertical 1">
            <a:extLst>
              <a:ext uri="{FF2B5EF4-FFF2-40B4-BE49-F238E27FC236}">
                <a16:creationId xmlns:a16="http://schemas.microsoft.com/office/drawing/2014/main" id="{660C9092-239F-403A-D618-7040BC3988F6}"/>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801764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93737-F202-AAC3-1413-399F530B8FE4}"/>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D17079D0-8865-BC0C-40C6-818812C8C3CF}"/>
              </a:ext>
            </a:extLst>
          </p:cNvPr>
          <p:cNvSpPr>
            <a:spLocks noGrp="1"/>
          </p:cNvSpPr>
          <p:nvPr>
            <p:ph type="body" sz="quarter" idx="10"/>
          </p:nvPr>
        </p:nvSpPr>
        <p:spPr>
          <a:xfrm>
            <a:off x="914399" y="2238843"/>
            <a:ext cx="10363202" cy="669094"/>
          </a:xfrm>
        </p:spPr>
        <p:txBody>
          <a:bodyPr/>
          <a:lstStyle/>
          <a:p>
            <a:r>
              <a:rPr lang="es-419" dirty="0"/>
              <a:t>Control del estatus de ingreso</a:t>
            </a:r>
          </a:p>
        </p:txBody>
      </p:sp>
      <p:sp>
        <p:nvSpPr>
          <p:cNvPr id="2" name="Marcador de texto vertical 1">
            <a:extLst>
              <a:ext uri="{FF2B5EF4-FFF2-40B4-BE49-F238E27FC236}">
                <a16:creationId xmlns:a16="http://schemas.microsoft.com/office/drawing/2014/main" id="{7CC78A46-5247-EC1A-4CAD-44403113290D}"/>
              </a:ext>
            </a:extLst>
          </p:cNvPr>
          <p:cNvSpPr>
            <a:spLocks noGrp="1"/>
          </p:cNvSpPr>
          <p:nvPr>
            <p:ph type="body" sz="quarter" idx="11"/>
          </p:nvPr>
        </p:nvSpPr>
        <p:spPr/>
        <p:txBody>
          <a:bodyPr vert="horz" lIns="0" tIns="0" rIns="0" bIns="0" rtlCol="0">
            <a:spAutoFit/>
          </a:bodyPr>
          <a:lstStyle/>
          <a:p>
            <a:r>
              <a:rPr lang="es-419" dirty="0"/>
              <a:t>Ejecutar la inscripción de cursos por Autoservicio por Lista de Espera</a:t>
            </a:r>
          </a:p>
        </p:txBody>
      </p:sp>
    </p:spTree>
    <p:extLst>
      <p:ext uri="{BB962C8B-B14F-4D97-AF65-F5344CB8AC3E}">
        <p14:creationId xmlns:p14="http://schemas.microsoft.com/office/powerpoint/2010/main" val="1935107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F6474-F06D-A6BA-ECB2-15F12E6D378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8EAB8B11-A0F4-8AAE-C19B-2E5872C6556D}"/>
              </a:ext>
            </a:extLst>
          </p:cNvPr>
          <p:cNvPicPr>
            <a:picLocks noChangeAspect="1"/>
          </p:cNvPicPr>
          <p:nvPr/>
        </p:nvPicPr>
        <p:blipFill>
          <a:blip r:embed="rId3"/>
          <a:stretch>
            <a:fillRect/>
          </a:stretch>
        </p:blipFill>
        <p:spPr>
          <a:xfrm>
            <a:off x="938996" y="1195551"/>
            <a:ext cx="10477498" cy="4466895"/>
          </a:xfrm>
          <a:prstGeom prst="rect">
            <a:avLst/>
          </a:prstGeom>
        </p:spPr>
      </p:pic>
      <p:sp>
        <p:nvSpPr>
          <p:cNvPr id="13" name="Title 12">
            <a:extLst>
              <a:ext uri="{FF2B5EF4-FFF2-40B4-BE49-F238E27FC236}">
                <a16:creationId xmlns:a16="http://schemas.microsoft.com/office/drawing/2014/main" id="{7EA8FE26-C45C-43B5-09E2-57115892AA8E}"/>
              </a:ext>
            </a:extLst>
          </p:cNvPr>
          <p:cNvSpPr>
            <a:spLocks noGrp="1"/>
          </p:cNvSpPr>
          <p:nvPr>
            <p:ph type="title"/>
          </p:nvPr>
        </p:nvSpPr>
        <p:spPr>
          <a:xfrm>
            <a:off x="938996" y="304614"/>
            <a:ext cx="10477497" cy="898555"/>
          </a:xfrm>
        </p:spPr>
        <p:txBody>
          <a:bodyPr/>
          <a:lstStyle/>
          <a:p>
            <a:r>
              <a:rPr lang="es-ES_tradnl" dirty="0">
                <a:solidFill>
                  <a:schemeClr val="tx2"/>
                </a:solidFill>
              </a:rPr>
              <a:t>Premisa: </a:t>
            </a:r>
            <a:r>
              <a:rPr lang="es-419" dirty="0">
                <a:solidFill>
                  <a:schemeClr val="tx2"/>
                </a:solidFill>
              </a:rPr>
              <a:t>Validación del código del estatus de ingreso (STVESTS)</a:t>
            </a:r>
            <a:br>
              <a:rPr lang="es-419" dirty="0">
                <a:solidFill>
                  <a:schemeClr val="tx2"/>
                </a:solidFill>
              </a:rPr>
            </a:br>
            <a:endParaRPr lang="es-ES_tradnl" dirty="0">
              <a:solidFill>
                <a:schemeClr val="tx2"/>
              </a:solidFill>
            </a:endParaRPr>
          </a:p>
        </p:txBody>
      </p:sp>
      <p:sp>
        <p:nvSpPr>
          <p:cNvPr id="11" name="Rectángulo 10">
            <a:extLst>
              <a:ext uri="{FF2B5EF4-FFF2-40B4-BE49-F238E27FC236}">
                <a16:creationId xmlns:a16="http://schemas.microsoft.com/office/drawing/2014/main" id="{1232D9D4-D173-D35C-9346-BF89EBFCA02C}"/>
              </a:ext>
            </a:extLst>
          </p:cNvPr>
          <p:cNvSpPr/>
          <p:nvPr/>
        </p:nvSpPr>
        <p:spPr>
          <a:xfrm>
            <a:off x="938996" y="2336800"/>
            <a:ext cx="10681504" cy="24130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5" name="Rectángulo: esquinas redondeadas 14">
            <a:extLst>
              <a:ext uri="{FF2B5EF4-FFF2-40B4-BE49-F238E27FC236}">
                <a16:creationId xmlns:a16="http://schemas.microsoft.com/office/drawing/2014/main" id="{0F4F0E81-623A-EFE2-8777-F1ECBEE2A705}"/>
              </a:ext>
            </a:extLst>
          </p:cNvPr>
          <p:cNvSpPr/>
          <p:nvPr/>
        </p:nvSpPr>
        <p:spPr>
          <a:xfrm>
            <a:off x="1883068" y="4083235"/>
            <a:ext cx="8425863" cy="92672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Se espera que exista al menos un registro de estatus de ingreso que permita la inscripción de asignaturas (no debe poseer la casilla ‘Impedir Inscripción’ activa). En este caso el estado esperado sería “Elegible para inscripción “ (EL)</a:t>
            </a:r>
          </a:p>
        </p:txBody>
      </p:sp>
      <p:sp>
        <p:nvSpPr>
          <p:cNvPr id="5" name="Marcador de texto vertical 1">
            <a:extLst>
              <a:ext uri="{FF2B5EF4-FFF2-40B4-BE49-F238E27FC236}">
                <a16:creationId xmlns:a16="http://schemas.microsoft.com/office/drawing/2014/main" id="{F89EC08F-059F-69FC-00A0-30FCCD7EDE4A}"/>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5489857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F42FE-A2EB-9E49-DD04-6346066F050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77DD125A-01B9-6412-3E1B-B0541563F72F}"/>
              </a:ext>
            </a:extLst>
          </p:cNvPr>
          <p:cNvPicPr>
            <a:picLocks noChangeAspect="1"/>
          </p:cNvPicPr>
          <p:nvPr/>
        </p:nvPicPr>
        <p:blipFill>
          <a:blip r:embed="rId3"/>
          <a:stretch>
            <a:fillRect/>
          </a:stretch>
        </p:blipFill>
        <p:spPr>
          <a:xfrm>
            <a:off x="762880" y="1420231"/>
            <a:ext cx="10806820" cy="1280348"/>
          </a:xfrm>
          <a:prstGeom prst="rect">
            <a:avLst/>
          </a:prstGeom>
        </p:spPr>
      </p:pic>
      <p:sp>
        <p:nvSpPr>
          <p:cNvPr id="13" name="Title 12">
            <a:extLst>
              <a:ext uri="{FF2B5EF4-FFF2-40B4-BE49-F238E27FC236}">
                <a16:creationId xmlns:a16="http://schemas.microsoft.com/office/drawing/2014/main" id="{5519F350-8461-2D36-BA16-4670FAFA6077}"/>
              </a:ext>
            </a:extLst>
          </p:cNvPr>
          <p:cNvSpPr>
            <a:spLocks noGrp="1"/>
          </p:cNvSpPr>
          <p:nvPr>
            <p:ph type="title"/>
          </p:nvPr>
        </p:nvSpPr>
        <p:spPr>
          <a:xfrm>
            <a:off x="938996" y="304614"/>
            <a:ext cx="10477497" cy="898555"/>
          </a:xfrm>
        </p:spPr>
        <p:txBody>
          <a:bodyPr/>
          <a:lstStyle/>
          <a:p>
            <a:r>
              <a:rPr lang="es-419" dirty="0">
                <a:solidFill>
                  <a:schemeClr val="tx2"/>
                </a:solidFill>
              </a:rPr>
              <a:t>Control del estatus de ingreso (SFAESTS)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3353B795-29E6-EAF9-6F1C-905494160D5D}"/>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requiere configurar SFAESTS, página administrativa donde se establecen los estatus de ingreso (STVESTS) que estarían habilitados para su asignación en un periodo académico determinado. Para ello se debe:</a:t>
            </a:r>
          </a:p>
          <a:p>
            <a:endParaRPr lang="es-ES_tradnl" sz="1200" dirty="0"/>
          </a:p>
          <a:p>
            <a:pPr marL="228600" indent="-228600">
              <a:buFont typeface="+mj-lt"/>
              <a:buAutoNum type="arabicPeriod"/>
            </a:pPr>
            <a:r>
              <a:rPr lang="es-ES_tradnl" sz="1200" dirty="0"/>
              <a:t>Ingresar el Periodo Académico para el cual se definirán las fechas de los estatus </a:t>
            </a:r>
          </a:p>
          <a:p>
            <a:pPr marL="228600" indent="-228600">
              <a:buFont typeface="+mj-lt"/>
              <a:buAutoNum type="arabicPeriod"/>
            </a:pPr>
            <a:r>
              <a:rPr lang="es-ES_tradnl" sz="1200" dirty="0"/>
              <a:t>Presionar el botón ‘Ir’.</a:t>
            </a:r>
          </a:p>
        </p:txBody>
      </p:sp>
      <p:sp>
        <p:nvSpPr>
          <p:cNvPr id="10" name="Rectángulo 9">
            <a:extLst>
              <a:ext uri="{FF2B5EF4-FFF2-40B4-BE49-F238E27FC236}">
                <a16:creationId xmlns:a16="http://schemas.microsoft.com/office/drawing/2014/main" id="{E8860C21-DA09-8F67-0718-41B6583D69F9}"/>
              </a:ext>
            </a:extLst>
          </p:cNvPr>
          <p:cNvSpPr/>
          <p:nvPr/>
        </p:nvSpPr>
        <p:spPr>
          <a:xfrm>
            <a:off x="1321471" y="1893828"/>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AC241E84-7049-03FD-4501-DDC6E39E4A61}"/>
              </a:ext>
            </a:extLst>
          </p:cNvPr>
          <p:cNvSpPr/>
          <p:nvPr/>
        </p:nvSpPr>
        <p:spPr>
          <a:xfrm>
            <a:off x="3225800" y="218352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redondeado 15">
            <a:extLst>
              <a:ext uri="{FF2B5EF4-FFF2-40B4-BE49-F238E27FC236}">
                <a16:creationId xmlns:a16="http://schemas.microsoft.com/office/drawing/2014/main" id="{5575EBED-1688-2F9E-9F70-7C51969869F7}"/>
              </a:ext>
            </a:extLst>
          </p:cNvPr>
          <p:cNvSpPr/>
          <p:nvPr/>
        </p:nvSpPr>
        <p:spPr>
          <a:xfrm>
            <a:off x="10994734" y="218352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7" name="Rectángulo 16">
            <a:extLst>
              <a:ext uri="{FF2B5EF4-FFF2-40B4-BE49-F238E27FC236}">
                <a16:creationId xmlns:a16="http://schemas.microsoft.com/office/drawing/2014/main" id="{C81540BE-C0DF-DBF4-3002-A24A7FF33BBF}"/>
              </a:ext>
            </a:extLst>
          </p:cNvPr>
          <p:cNvSpPr/>
          <p:nvPr/>
        </p:nvSpPr>
        <p:spPr>
          <a:xfrm>
            <a:off x="11123869" y="1895640"/>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Marcador de texto vertical 1">
            <a:extLst>
              <a:ext uri="{FF2B5EF4-FFF2-40B4-BE49-F238E27FC236}">
                <a16:creationId xmlns:a16="http://schemas.microsoft.com/office/drawing/2014/main" id="{B44637AA-2CFF-6D29-DA77-8A579898EFB6}"/>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28305601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3042E-91BB-15D3-CA94-B9455B543E61}"/>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DC99ED4-5827-F0A5-F66C-34FFAFDCEC9C}"/>
              </a:ext>
            </a:extLst>
          </p:cNvPr>
          <p:cNvPicPr>
            <a:picLocks noChangeAspect="1"/>
          </p:cNvPicPr>
          <p:nvPr/>
        </p:nvPicPr>
        <p:blipFill>
          <a:blip r:embed="rId3"/>
          <a:stretch>
            <a:fillRect/>
          </a:stretch>
        </p:blipFill>
        <p:spPr>
          <a:xfrm>
            <a:off x="938996" y="1033472"/>
            <a:ext cx="11088365" cy="4791054"/>
          </a:xfrm>
          <a:prstGeom prst="rect">
            <a:avLst/>
          </a:prstGeom>
        </p:spPr>
      </p:pic>
      <p:sp>
        <p:nvSpPr>
          <p:cNvPr id="13" name="Title 12">
            <a:extLst>
              <a:ext uri="{FF2B5EF4-FFF2-40B4-BE49-F238E27FC236}">
                <a16:creationId xmlns:a16="http://schemas.microsoft.com/office/drawing/2014/main" id="{26F84759-01DB-B943-64C0-523B3B3EB69B}"/>
              </a:ext>
            </a:extLst>
          </p:cNvPr>
          <p:cNvSpPr>
            <a:spLocks noGrp="1"/>
          </p:cNvSpPr>
          <p:nvPr>
            <p:ph type="title"/>
          </p:nvPr>
        </p:nvSpPr>
        <p:spPr>
          <a:xfrm>
            <a:off x="938996" y="304614"/>
            <a:ext cx="10477497" cy="898555"/>
          </a:xfrm>
        </p:spPr>
        <p:txBody>
          <a:bodyPr/>
          <a:lstStyle/>
          <a:p>
            <a:r>
              <a:rPr lang="es-419" dirty="0">
                <a:solidFill>
                  <a:schemeClr val="tx2"/>
                </a:solidFill>
              </a:rPr>
              <a:t>Control del estatus de ingreso (SFAESTS)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3FCAAF3F-959E-3569-5F0C-0579FF0416C8}"/>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Para efectos de la inscripción de asignaturas se requiere que el Estatus de Ingreso (</a:t>
            </a:r>
            <a:r>
              <a:rPr lang="es-ES_tradnl" sz="1200" b="1" dirty="0"/>
              <a:t>EL</a:t>
            </a:r>
            <a:r>
              <a:rPr lang="es-ES_tradnl" sz="1200" dirty="0"/>
              <a:t>) se encuentre configurado con una ‘Fecha de inicio’ y ‘Fecha de fin’ definida. Este rango de tiempo corresponderá al periodo de tiempo en el cual se permitiría la inscripción o modificación de la carga académica del estudiante (Inscripción).</a:t>
            </a:r>
          </a:p>
        </p:txBody>
      </p:sp>
      <p:sp>
        <p:nvSpPr>
          <p:cNvPr id="10" name="Rectángulo 9">
            <a:extLst>
              <a:ext uri="{FF2B5EF4-FFF2-40B4-BE49-F238E27FC236}">
                <a16:creationId xmlns:a16="http://schemas.microsoft.com/office/drawing/2014/main" id="{AEC76531-F1CD-54D2-25C8-D28A19437320}"/>
              </a:ext>
            </a:extLst>
          </p:cNvPr>
          <p:cNvSpPr/>
          <p:nvPr/>
        </p:nvSpPr>
        <p:spPr>
          <a:xfrm>
            <a:off x="938996" y="2266301"/>
            <a:ext cx="10681504"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07B7EB72-B717-014A-34E2-77CC23FCB2C4}"/>
              </a:ext>
            </a:extLst>
          </p:cNvPr>
          <p:cNvSpPr/>
          <p:nvPr/>
        </p:nvSpPr>
        <p:spPr>
          <a:xfrm>
            <a:off x="631291" y="226630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6" name="Marcador de texto vertical 1">
            <a:extLst>
              <a:ext uri="{FF2B5EF4-FFF2-40B4-BE49-F238E27FC236}">
                <a16:creationId xmlns:a16="http://schemas.microsoft.com/office/drawing/2014/main" id="{1FF93686-ECB3-8E7D-31C7-43049C2112A7}"/>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19221306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D6C31-9664-4143-B711-AFDD84DCD5C5}"/>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4DE26F26-4BA6-2264-F039-1B6A87C3B192}"/>
              </a:ext>
            </a:extLst>
          </p:cNvPr>
          <p:cNvPicPr>
            <a:picLocks noChangeAspect="1"/>
          </p:cNvPicPr>
          <p:nvPr/>
        </p:nvPicPr>
        <p:blipFill>
          <a:blip r:embed="rId3"/>
          <a:stretch>
            <a:fillRect/>
          </a:stretch>
        </p:blipFill>
        <p:spPr>
          <a:xfrm>
            <a:off x="1010121" y="1033472"/>
            <a:ext cx="11088365" cy="4791054"/>
          </a:xfrm>
          <a:prstGeom prst="rect">
            <a:avLst/>
          </a:prstGeom>
        </p:spPr>
      </p:pic>
      <p:sp>
        <p:nvSpPr>
          <p:cNvPr id="13" name="Title 12">
            <a:extLst>
              <a:ext uri="{FF2B5EF4-FFF2-40B4-BE49-F238E27FC236}">
                <a16:creationId xmlns:a16="http://schemas.microsoft.com/office/drawing/2014/main" id="{5F675E0A-B6AC-A94E-41DB-8A54EEAA0446}"/>
              </a:ext>
            </a:extLst>
          </p:cNvPr>
          <p:cNvSpPr>
            <a:spLocks noGrp="1"/>
          </p:cNvSpPr>
          <p:nvPr>
            <p:ph type="title"/>
          </p:nvPr>
        </p:nvSpPr>
        <p:spPr>
          <a:xfrm>
            <a:off x="938996" y="304614"/>
            <a:ext cx="10477497" cy="898555"/>
          </a:xfrm>
        </p:spPr>
        <p:txBody>
          <a:bodyPr/>
          <a:lstStyle/>
          <a:p>
            <a:r>
              <a:rPr lang="es-419" dirty="0">
                <a:solidFill>
                  <a:schemeClr val="tx2"/>
                </a:solidFill>
              </a:rPr>
              <a:t>Control del estatus de ingreso (SFAESTS)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7A023096-0923-DD21-78F2-B1769992FCD4}"/>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Para efectos de la inscripción de asignaturas se requiere que el Estatus de Ingreso (</a:t>
            </a:r>
            <a:r>
              <a:rPr lang="es-ES_tradnl" sz="1200" b="1" dirty="0"/>
              <a:t>EL</a:t>
            </a:r>
            <a:r>
              <a:rPr lang="es-ES_tradnl" sz="1200" dirty="0"/>
              <a:t>) se encuentre configurado con una ‘Fecha de inicio’ y ‘Fecha de fin’ definida. Este rango de tiempo corresponderá al periodo de tiempo en el cual se permitiría la inscripción o modificación de la carga académica del estudiante (Inscripción).</a:t>
            </a:r>
          </a:p>
          <a:p>
            <a:endParaRPr lang="es-ES_tradnl" sz="1200" dirty="0"/>
          </a:p>
          <a:p>
            <a:r>
              <a:rPr lang="es-ES_tradnl" sz="1100" dirty="0"/>
              <a:t>En caso de no estar presente el estado (EL), para ingresar el registro ser debe seleccionar la opción ‘</a:t>
            </a:r>
            <a:r>
              <a:rPr lang="es-ES_tradnl" sz="1100" b="1" dirty="0"/>
              <a:t>+</a:t>
            </a:r>
            <a:r>
              <a:rPr lang="es-ES_tradnl" sz="1100" dirty="0"/>
              <a:t>’, ingresar el código EL en el campo ‘Estatus’ y definir las fechas de inicio y fin respectivamente</a:t>
            </a:r>
          </a:p>
        </p:txBody>
      </p:sp>
      <p:sp>
        <p:nvSpPr>
          <p:cNvPr id="10" name="Rectángulo 9">
            <a:extLst>
              <a:ext uri="{FF2B5EF4-FFF2-40B4-BE49-F238E27FC236}">
                <a16:creationId xmlns:a16="http://schemas.microsoft.com/office/drawing/2014/main" id="{D1B05D9C-45EA-32F3-DD87-213B61612A03}"/>
              </a:ext>
            </a:extLst>
          </p:cNvPr>
          <p:cNvSpPr/>
          <p:nvPr/>
        </p:nvSpPr>
        <p:spPr>
          <a:xfrm>
            <a:off x="938996" y="2266301"/>
            <a:ext cx="10681504"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4AF42AF5-E880-99D5-630C-69090423E18C}"/>
              </a:ext>
            </a:extLst>
          </p:cNvPr>
          <p:cNvSpPr/>
          <p:nvPr/>
        </p:nvSpPr>
        <p:spPr>
          <a:xfrm>
            <a:off x="680726" y="258992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3" name="Rectángulo 2">
            <a:extLst>
              <a:ext uri="{FF2B5EF4-FFF2-40B4-BE49-F238E27FC236}">
                <a16:creationId xmlns:a16="http://schemas.microsoft.com/office/drawing/2014/main" id="{CEDAD311-5199-2B31-DB69-DFE07E1B7D7D}"/>
              </a:ext>
            </a:extLst>
          </p:cNvPr>
          <p:cNvSpPr/>
          <p:nvPr/>
        </p:nvSpPr>
        <p:spPr>
          <a:xfrm>
            <a:off x="10731500" y="1771159"/>
            <a:ext cx="242104"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Marcador de texto vertical 1">
            <a:extLst>
              <a:ext uri="{FF2B5EF4-FFF2-40B4-BE49-F238E27FC236}">
                <a16:creationId xmlns:a16="http://schemas.microsoft.com/office/drawing/2014/main" id="{DE102F08-DA98-1C86-3B35-CC28B817F455}"/>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21065434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CF675-60D0-40AA-D413-52B55404E716}"/>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05C77BD5-9213-43A1-EF72-D6C35B5015A3}"/>
              </a:ext>
            </a:extLst>
          </p:cNvPr>
          <p:cNvPicPr>
            <a:picLocks noChangeAspect="1"/>
          </p:cNvPicPr>
          <p:nvPr/>
        </p:nvPicPr>
        <p:blipFill>
          <a:blip r:embed="rId3"/>
          <a:stretch>
            <a:fillRect/>
          </a:stretch>
        </p:blipFill>
        <p:spPr>
          <a:xfrm>
            <a:off x="809861" y="1614384"/>
            <a:ext cx="10810639" cy="1156110"/>
          </a:xfrm>
          <a:prstGeom prst="rect">
            <a:avLst/>
          </a:prstGeom>
        </p:spPr>
      </p:pic>
      <p:sp>
        <p:nvSpPr>
          <p:cNvPr id="13" name="Title 12">
            <a:extLst>
              <a:ext uri="{FF2B5EF4-FFF2-40B4-BE49-F238E27FC236}">
                <a16:creationId xmlns:a16="http://schemas.microsoft.com/office/drawing/2014/main" id="{A8BCBAAE-1160-9117-40EF-0B670BBBD86F}"/>
              </a:ext>
            </a:extLst>
          </p:cNvPr>
          <p:cNvSpPr>
            <a:spLocks noGrp="1"/>
          </p:cNvSpPr>
          <p:nvPr>
            <p:ph type="title"/>
          </p:nvPr>
        </p:nvSpPr>
        <p:spPr>
          <a:xfrm>
            <a:off x="938996" y="304614"/>
            <a:ext cx="10477497" cy="898555"/>
          </a:xfrm>
        </p:spPr>
        <p:txBody>
          <a:bodyPr/>
          <a:lstStyle/>
          <a:p>
            <a:r>
              <a:rPr lang="es-419" dirty="0">
                <a:solidFill>
                  <a:schemeClr val="tx2"/>
                </a:solidFill>
              </a:rPr>
              <a:t>Control del estatus de ingreso (SFAESTS)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19C877B3-6D9E-68D3-DAC1-A4D1F3AFA2A3}"/>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Por medio del campo ‘Copiar del periodo’, se puede copiar la configuración del período que se ingrese en dicho campo a otro período, con lo cual solo deberá modificar las fechas que correspondan al nuevo período en cada uno de los estatus.</a:t>
            </a:r>
          </a:p>
        </p:txBody>
      </p:sp>
      <p:sp>
        <p:nvSpPr>
          <p:cNvPr id="10" name="Rectángulo 9">
            <a:extLst>
              <a:ext uri="{FF2B5EF4-FFF2-40B4-BE49-F238E27FC236}">
                <a16:creationId xmlns:a16="http://schemas.microsoft.com/office/drawing/2014/main" id="{71545AD6-7686-748B-5979-7D273A2AF9BB}"/>
              </a:ext>
            </a:extLst>
          </p:cNvPr>
          <p:cNvSpPr/>
          <p:nvPr/>
        </p:nvSpPr>
        <p:spPr>
          <a:xfrm>
            <a:off x="5632852" y="1962504"/>
            <a:ext cx="2368148"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Marcador de texto vertical 1">
            <a:extLst>
              <a:ext uri="{FF2B5EF4-FFF2-40B4-BE49-F238E27FC236}">
                <a16:creationId xmlns:a16="http://schemas.microsoft.com/office/drawing/2014/main" id="{D9DF28B7-AD0D-A14C-AD42-B127869CA333}"/>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25789967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5D092-969A-8BA6-0044-C19B96C2624D}"/>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AC26B074-EA88-DDAF-A507-269D8836AC5E}"/>
              </a:ext>
            </a:extLst>
          </p:cNvPr>
          <p:cNvSpPr>
            <a:spLocks noGrp="1"/>
          </p:cNvSpPr>
          <p:nvPr>
            <p:ph type="body" sz="quarter" idx="10"/>
          </p:nvPr>
        </p:nvSpPr>
        <p:spPr>
          <a:xfrm>
            <a:off x="914399" y="2238843"/>
            <a:ext cx="10363202" cy="669094"/>
          </a:xfrm>
        </p:spPr>
        <p:txBody>
          <a:bodyPr/>
          <a:lstStyle/>
          <a:p>
            <a:r>
              <a:rPr lang="es-419" dirty="0"/>
              <a:t>Estatus de inscripción al curso</a:t>
            </a:r>
          </a:p>
        </p:txBody>
      </p:sp>
      <p:sp>
        <p:nvSpPr>
          <p:cNvPr id="2" name="Marcador de texto vertical 1">
            <a:extLst>
              <a:ext uri="{FF2B5EF4-FFF2-40B4-BE49-F238E27FC236}">
                <a16:creationId xmlns:a16="http://schemas.microsoft.com/office/drawing/2014/main" id="{3CCDE5A6-A1F9-470F-6796-AA91B5C07EF9}"/>
              </a:ext>
            </a:extLst>
          </p:cNvPr>
          <p:cNvSpPr>
            <a:spLocks noGrp="1"/>
          </p:cNvSpPr>
          <p:nvPr>
            <p:ph type="body" sz="quarter" idx="11"/>
          </p:nvPr>
        </p:nvSpPr>
        <p:spPr/>
        <p:txBody>
          <a:bodyPr vert="horz" lIns="0" tIns="0" rIns="0" bIns="0" rtlCol="0">
            <a:spAutoFit/>
          </a:bodyPr>
          <a:lstStyle/>
          <a:p>
            <a:r>
              <a:rPr lang="es-419" dirty="0"/>
              <a:t>Ejecutar la inscripción de cursos por Autoservicio por Lista de Espera</a:t>
            </a:r>
          </a:p>
        </p:txBody>
      </p:sp>
    </p:spTree>
    <p:extLst>
      <p:ext uri="{BB962C8B-B14F-4D97-AF65-F5344CB8AC3E}">
        <p14:creationId xmlns:p14="http://schemas.microsoft.com/office/powerpoint/2010/main" val="37189507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5C473-AE99-E9F0-6184-842FC09F1DCC}"/>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25DC67AA-9D01-0890-1D77-216877FA3D49}"/>
              </a:ext>
            </a:extLst>
          </p:cNvPr>
          <p:cNvPicPr>
            <a:picLocks noChangeAspect="1"/>
          </p:cNvPicPr>
          <p:nvPr/>
        </p:nvPicPr>
        <p:blipFill>
          <a:blip r:embed="rId3"/>
          <a:stretch>
            <a:fillRect/>
          </a:stretch>
        </p:blipFill>
        <p:spPr>
          <a:xfrm>
            <a:off x="714110" y="1158555"/>
            <a:ext cx="10763779" cy="4670651"/>
          </a:xfrm>
          <a:prstGeom prst="rect">
            <a:avLst/>
          </a:prstGeom>
        </p:spPr>
      </p:pic>
      <p:sp>
        <p:nvSpPr>
          <p:cNvPr id="13" name="Title 12">
            <a:extLst>
              <a:ext uri="{FF2B5EF4-FFF2-40B4-BE49-F238E27FC236}">
                <a16:creationId xmlns:a16="http://schemas.microsoft.com/office/drawing/2014/main" id="{939B77A4-83FC-AEFF-4A48-BF44D22BAF93}"/>
              </a:ext>
            </a:extLst>
          </p:cNvPr>
          <p:cNvSpPr>
            <a:spLocks noGrp="1"/>
          </p:cNvSpPr>
          <p:nvPr>
            <p:ph type="title"/>
          </p:nvPr>
        </p:nvSpPr>
        <p:spPr>
          <a:xfrm>
            <a:off x="938996" y="304614"/>
            <a:ext cx="10477497" cy="898555"/>
          </a:xfrm>
        </p:spPr>
        <p:txBody>
          <a:bodyPr/>
          <a:lstStyle/>
          <a:p>
            <a:r>
              <a:rPr lang="es-ES_tradnl" dirty="0">
                <a:solidFill>
                  <a:schemeClr val="tx2"/>
                </a:solidFill>
              </a:rPr>
              <a:t> </a:t>
            </a:r>
            <a:r>
              <a:rPr lang="es-419" dirty="0">
                <a:solidFill>
                  <a:schemeClr val="tx2"/>
                </a:solidFill>
              </a:rPr>
              <a:t>Validación del código de estatus de la inscripción al curso (STVRSTS)</a:t>
            </a:r>
            <a:br>
              <a:rPr lang="es-419" dirty="0">
                <a:solidFill>
                  <a:schemeClr val="tx2"/>
                </a:solidFill>
              </a:rPr>
            </a:br>
            <a:endParaRPr lang="es-ES_tradnl" dirty="0">
              <a:solidFill>
                <a:schemeClr val="tx2"/>
              </a:solidFill>
            </a:endParaRPr>
          </a:p>
        </p:txBody>
      </p:sp>
      <p:sp>
        <p:nvSpPr>
          <p:cNvPr id="9" name="Rectángulo: esquinas redondeadas 8">
            <a:extLst>
              <a:ext uri="{FF2B5EF4-FFF2-40B4-BE49-F238E27FC236}">
                <a16:creationId xmlns:a16="http://schemas.microsoft.com/office/drawing/2014/main" id="{DF388ABA-0A04-0FFA-7F87-5F51604122F7}"/>
              </a:ext>
            </a:extLst>
          </p:cNvPr>
          <p:cNvSpPr/>
          <p:nvPr/>
        </p:nvSpPr>
        <p:spPr>
          <a:xfrm>
            <a:off x="4014216" y="4516334"/>
            <a:ext cx="5037415" cy="73563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Debe estar configurado el estatus WL – Lista de espera.</a:t>
            </a:r>
          </a:p>
        </p:txBody>
      </p:sp>
      <p:sp>
        <p:nvSpPr>
          <p:cNvPr id="10" name="Rectángulo 9">
            <a:extLst>
              <a:ext uri="{FF2B5EF4-FFF2-40B4-BE49-F238E27FC236}">
                <a16:creationId xmlns:a16="http://schemas.microsoft.com/office/drawing/2014/main" id="{CCFAFCC4-6388-F0D9-4013-834650C4A9F3}"/>
              </a:ext>
            </a:extLst>
          </p:cNvPr>
          <p:cNvSpPr/>
          <p:nvPr/>
        </p:nvSpPr>
        <p:spPr>
          <a:xfrm>
            <a:off x="483755" y="3915431"/>
            <a:ext cx="10681504" cy="24130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6" name="Marcador de texto vertical 1">
            <a:extLst>
              <a:ext uri="{FF2B5EF4-FFF2-40B4-BE49-F238E27FC236}">
                <a16:creationId xmlns:a16="http://schemas.microsoft.com/office/drawing/2014/main" id="{08003AF5-C9EB-263E-D831-EC0534BE916E}"/>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33886642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22FF9-E9D6-B666-BCAC-9DA81C3F98AD}"/>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179E7985-C70C-758B-641A-AC1EAF5F280C}"/>
              </a:ext>
            </a:extLst>
          </p:cNvPr>
          <p:cNvPicPr>
            <a:picLocks noChangeAspect="1"/>
          </p:cNvPicPr>
          <p:nvPr/>
        </p:nvPicPr>
        <p:blipFill>
          <a:blip r:embed="rId3"/>
          <a:stretch>
            <a:fillRect/>
          </a:stretch>
        </p:blipFill>
        <p:spPr>
          <a:xfrm>
            <a:off x="864455" y="1456394"/>
            <a:ext cx="10626578" cy="1263611"/>
          </a:xfrm>
          <a:prstGeom prst="rect">
            <a:avLst/>
          </a:prstGeom>
        </p:spPr>
      </p:pic>
      <p:sp>
        <p:nvSpPr>
          <p:cNvPr id="13" name="Title 12">
            <a:extLst>
              <a:ext uri="{FF2B5EF4-FFF2-40B4-BE49-F238E27FC236}">
                <a16:creationId xmlns:a16="http://schemas.microsoft.com/office/drawing/2014/main" id="{CB016422-444F-0843-1530-900C479CACD7}"/>
              </a:ext>
            </a:extLst>
          </p:cNvPr>
          <p:cNvSpPr>
            <a:spLocks noGrp="1"/>
          </p:cNvSpPr>
          <p:nvPr>
            <p:ph type="title"/>
          </p:nvPr>
        </p:nvSpPr>
        <p:spPr>
          <a:xfrm>
            <a:off x="938996" y="304614"/>
            <a:ext cx="10477497" cy="898555"/>
          </a:xfrm>
        </p:spPr>
        <p:txBody>
          <a:bodyPr/>
          <a:lstStyle/>
          <a:p>
            <a:r>
              <a:rPr lang="es-419" dirty="0">
                <a:solidFill>
                  <a:schemeClr val="tx2"/>
                </a:solidFill>
              </a:rPr>
              <a:t>Estatus de inscripción a curso (SFARSTS)</a:t>
            </a:r>
            <a:endParaRPr lang="es-ES_tradnl" dirty="0">
              <a:solidFill>
                <a:schemeClr val="tx2"/>
              </a:solidFill>
            </a:endParaRPr>
          </a:p>
        </p:txBody>
      </p:sp>
      <p:sp>
        <p:nvSpPr>
          <p:cNvPr id="3" name="Rectángulo: esquinas redondeadas 2">
            <a:extLst>
              <a:ext uri="{FF2B5EF4-FFF2-40B4-BE49-F238E27FC236}">
                <a16:creationId xmlns:a16="http://schemas.microsoft.com/office/drawing/2014/main" id="{07CE779A-7EDF-B134-BFD6-631585A27A35}"/>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requiere configurar SFARSTS, página administrativa donde se establecen los estatus de inscripción de los cursos  que estarían habilitados para su asignación en un periodo académico determinado. Para ello se debe:</a:t>
            </a:r>
          </a:p>
          <a:p>
            <a:endParaRPr lang="es-ES_tradnl" sz="1200" dirty="0"/>
          </a:p>
          <a:p>
            <a:pPr marL="228600" indent="-228600">
              <a:buFont typeface="+mj-lt"/>
              <a:buAutoNum type="arabicPeriod"/>
            </a:pPr>
            <a:r>
              <a:rPr lang="es-ES_tradnl" sz="1200" dirty="0"/>
              <a:t>Ingresar el Periodo Académico para el cual se definirán las fechas de los estatus de inscripción de cursos</a:t>
            </a:r>
          </a:p>
          <a:p>
            <a:pPr marL="228600" indent="-228600">
              <a:buFont typeface="+mj-lt"/>
              <a:buAutoNum type="arabicPeriod"/>
            </a:pPr>
            <a:r>
              <a:rPr lang="es-ES_tradnl" sz="1200" dirty="0"/>
              <a:t>Ingresar la parte de período en el cual están programadas las asignaturas para su inscripción. Se deben configurar los estatus para cada parte de período que esté habilitada en la página SOATERM para el período.</a:t>
            </a:r>
          </a:p>
          <a:p>
            <a:pPr marL="228600" indent="-228600">
              <a:buFont typeface="+mj-lt"/>
              <a:buAutoNum type="arabicPeriod"/>
            </a:pPr>
            <a:r>
              <a:rPr lang="es-ES_tradnl" sz="1200" dirty="0"/>
              <a:t>Presionar el botón ‘Ir’.</a:t>
            </a:r>
          </a:p>
        </p:txBody>
      </p:sp>
      <p:sp>
        <p:nvSpPr>
          <p:cNvPr id="5" name="Rectángulo 4">
            <a:extLst>
              <a:ext uri="{FF2B5EF4-FFF2-40B4-BE49-F238E27FC236}">
                <a16:creationId xmlns:a16="http://schemas.microsoft.com/office/drawing/2014/main" id="{04452D7E-542F-AFCE-7271-7E8BF66C840A}"/>
              </a:ext>
            </a:extLst>
          </p:cNvPr>
          <p:cNvSpPr/>
          <p:nvPr/>
        </p:nvSpPr>
        <p:spPr>
          <a:xfrm>
            <a:off x="1475129" y="1858754"/>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629A36AA-883A-F5F6-76DC-EC6F3B8C16CB}"/>
              </a:ext>
            </a:extLst>
          </p:cNvPr>
          <p:cNvSpPr/>
          <p:nvPr/>
        </p:nvSpPr>
        <p:spPr>
          <a:xfrm>
            <a:off x="3468358" y="20976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7" name="Rectángulo redondeado 15">
            <a:extLst>
              <a:ext uri="{FF2B5EF4-FFF2-40B4-BE49-F238E27FC236}">
                <a16:creationId xmlns:a16="http://schemas.microsoft.com/office/drawing/2014/main" id="{6AAA3B3F-6C04-D5A2-5DF3-83315470ABD7}"/>
              </a:ext>
            </a:extLst>
          </p:cNvPr>
          <p:cNvSpPr/>
          <p:nvPr/>
        </p:nvSpPr>
        <p:spPr>
          <a:xfrm>
            <a:off x="10924694" y="20976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8" name="Rectángulo 7">
            <a:extLst>
              <a:ext uri="{FF2B5EF4-FFF2-40B4-BE49-F238E27FC236}">
                <a16:creationId xmlns:a16="http://schemas.microsoft.com/office/drawing/2014/main" id="{148FD5E9-F7E8-B8BD-F692-C6B0B40D5DA1}"/>
              </a:ext>
            </a:extLst>
          </p:cNvPr>
          <p:cNvSpPr/>
          <p:nvPr/>
        </p:nvSpPr>
        <p:spPr>
          <a:xfrm>
            <a:off x="11104629" y="1868202"/>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8">
            <a:extLst>
              <a:ext uri="{FF2B5EF4-FFF2-40B4-BE49-F238E27FC236}">
                <a16:creationId xmlns:a16="http://schemas.microsoft.com/office/drawing/2014/main" id="{B8465676-89C9-1724-4FCB-CE636ECE03CD}"/>
              </a:ext>
            </a:extLst>
          </p:cNvPr>
          <p:cNvSpPr/>
          <p:nvPr/>
        </p:nvSpPr>
        <p:spPr>
          <a:xfrm>
            <a:off x="6596080" y="1840876"/>
            <a:ext cx="163697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15AE44DC-215E-2C74-1EC0-404861207EB6}"/>
              </a:ext>
            </a:extLst>
          </p:cNvPr>
          <p:cNvSpPr/>
          <p:nvPr/>
        </p:nvSpPr>
        <p:spPr>
          <a:xfrm>
            <a:off x="8233059" y="20976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4" name="Marcador de texto vertical 1">
            <a:extLst>
              <a:ext uri="{FF2B5EF4-FFF2-40B4-BE49-F238E27FC236}">
                <a16:creationId xmlns:a16="http://schemas.microsoft.com/office/drawing/2014/main" id="{3BB33A64-39CA-E4C7-BD44-F4F8FF2C4A82}"/>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37972578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40E92-0F5C-DAFF-428B-EC4FDF16894B}"/>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D8F29EF-CF08-9FB3-5AEE-3E6809F67A84}"/>
              </a:ext>
            </a:extLst>
          </p:cNvPr>
          <p:cNvPicPr>
            <a:picLocks noChangeAspect="1"/>
          </p:cNvPicPr>
          <p:nvPr/>
        </p:nvPicPr>
        <p:blipFill>
          <a:blip r:embed="rId3"/>
          <a:stretch>
            <a:fillRect/>
          </a:stretch>
        </p:blipFill>
        <p:spPr>
          <a:xfrm>
            <a:off x="609601" y="987411"/>
            <a:ext cx="11756277" cy="5184788"/>
          </a:xfrm>
          <a:prstGeom prst="rect">
            <a:avLst/>
          </a:prstGeom>
        </p:spPr>
      </p:pic>
      <p:sp>
        <p:nvSpPr>
          <p:cNvPr id="13" name="Title 12">
            <a:extLst>
              <a:ext uri="{FF2B5EF4-FFF2-40B4-BE49-F238E27FC236}">
                <a16:creationId xmlns:a16="http://schemas.microsoft.com/office/drawing/2014/main" id="{A60D5FA5-9C19-0BF1-9518-D48C246524EB}"/>
              </a:ext>
            </a:extLst>
          </p:cNvPr>
          <p:cNvSpPr>
            <a:spLocks noGrp="1"/>
          </p:cNvSpPr>
          <p:nvPr>
            <p:ph type="title"/>
          </p:nvPr>
        </p:nvSpPr>
        <p:spPr>
          <a:xfrm>
            <a:off x="938996" y="304614"/>
            <a:ext cx="10477497" cy="898555"/>
          </a:xfrm>
        </p:spPr>
        <p:txBody>
          <a:bodyPr/>
          <a:lstStyle/>
          <a:p>
            <a:r>
              <a:rPr lang="es-ES_tradnl" dirty="0">
                <a:solidFill>
                  <a:schemeClr val="tx2"/>
                </a:solidFill>
              </a:rPr>
              <a:t> </a:t>
            </a:r>
            <a:r>
              <a:rPr lang="es-419" dirty="0">
                <a:solidFill>
                  <a:schemeClr val="tx2"/>
                </a:solidFill>
              </a:rPr>
              <a:t>Estatus de inscripción a curso (SFARSTS)</a:t>
            </a:r>
            <a:br>
              <a:rPr lang="es-419" dirty="0">
                <a:solidFill>
                  <a:schemeClr val="tx2"/>
                </a:solidFill>
              </a:rPr>
            </a:br>
            <a:endParaRPr lang="es-ES_tradnl" dirty="0">
              <a:solidFill>
                <a:schemeClr val="tx2"/>
              </a:solidFill>
            </a:endParaRPr>
          </a:p>
        </p:txBody>
      </p:sp>
      <p:sp>
        <p:nvSpPr>
          <p:cNvPr id="8" name="Rectángulo 7">
            <a:extLst>
              <a:ext uri="{FF2B5EF4-FFF2-40B4-BE49-F238E27FC236}">
                <a16:creationId xmlns:a16="http://schemas.microsoft.com/office/drawing/2014/main" id="{96F17989-A9DD-3AAB-43B6-532BC4CB186E}"/>
              </a:ext>
            </a:extLst>
          </p:cNvPr>
          <p:cNvSpPr/>
          <p:nvPr/>
        </p:nvSpPr>
        <p:spPr>
          <a:xfrm>
            <a:off x="609601" y="2221535"/>
            <a:ext cx="10681504" cy="24130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esquinas redondeadas 8">
            <a:extLst>
              <a:ext uri="{FF2B5EF4-FFF2-40B4-BE49-F238E27FC236}">
                <a16:creationId xmlns:a16="http://schemas.microsoft.com/office/drawing/2014/main" id="{5165F702-4849-5C22-AB13-240741F45DB2}"/>
              </a:ext>
            </a:extLst>
          </p:cNvPr>
          <p:cNvSpPr/>
          <p:nvPr/>
        </p:nvSpPr>
        <p:spPr>
          <a:xfrm>
            <a:off x="1641768" y="4402947"/>
            <a:ext cx="8425863" cy="164790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Para efectos de la inscripción de asignaturas se requiere que los estatus de inscripción de cursos RW,  DW  y WL se encuentre habilitados dentro de los registros y con los campos ‘Fecha de inicio’ y ‘Fecha de fin’ definidos, dado que solo se permitirá una inscripción o retiro de asignaturas dentro del rango de tiempo que ambos campos indican.</a:t>
            </a:r>
          </a:p>
          <a:p>
            <a:pPr algn="ctr"/>
            <a:endParaRPr lang="es-ES_tradnl" sz="1200" dirty="0"/>
          </a:p>
          <a:p>
            <a:pPr marL="171450" indent="-171450">
              <a:buFont typeface="Arial" panose="020B0604020202020204" pitchFamily="34" charset="0"/>
              <a:buChar char="•"/>
            </a:pPr>
            <a:r>
              <a:rPr lang="es-ES_tradnl" sz="1100" dirty="0"/>
              <a:t>En caso de no estar presente el estado de inscripción de cursos, para ingresar el registro ser debe seleccionar la opción ‘</a:t>
            </a:r>
            <a:r>
              <a:rPr lang="es-ES_tradnl" sz="1100" b="1" dirty="0"/>
              <a:t>+</a:t>
            </a:r>
            <a:r>
              <a:rPr lang="es-ES_tradnl" sz="1100" dirty="0"/>
              <a:t>’, ingresar el código correspondiente en el campo ‘Estatus’ y definir las fechas de inicio y fin respectivamente</a:t>
            </a:r>
          </a:p>
          <a:p>
            <a:pPr algn="ctr"/>
            <a:endParaRPr lang="es-ES_tradnl" sz="1200" dirty="0"/>
          </a:p>
        </p:txBody>
      </p:sp>
      <p:sp>
        <p:nvSpPr>
          <p:cNvPr id="6" name="Marcador de texto vertical 1">
            <a:extLst>
              <a:ext uri="{FF2B5EF4-FFF2-40B4-BE49-F238E27FC236}">
                <a16:creationId xmlns:a16="http://schemas.microsoft.com/office/drawing/2014/main" id="{FFFB9143-1489-D889-D0D4-1B03CD0D73EC}"/>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8090887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61F74-51A4-74F1-CA23-C0FAE307BF98}"/>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7FA50AD6-D699-A2A6-9B08-BA4FACBD0ACE}"/>
              </a:ext>
            </a:extLst>
          </p:cNvPr>
          <p:cNvPicPr>
            <a:picLocks noChangeAspect="1"/>
          </p:cNvPicPr>
          <p:nvPr/>
        </p:nvPicPr>
        <p:blipFill>
          <a:blip r:embed="rId3"/>
          <a:stretch>
            <a:fillRect/>
          </a:stretch>
        </p:blipFill>
        <p:spPr>
          <a:xfrm>
            <a:off x="720926" y="1600261"/>
            <a:ext cx="10899574" cy="1022474"/>
          </a:xfrm>
          <a:prstGeom prst="rect">
            <a:avLst/>
          </a:prstGeom>
        </p:spPr>
      </p:pic>
      <p:sp>
        <p:nvSpPr>
          <p:cNvPr id="13" name="Title 12">
            <a:extLst>
              <a:ext uri="{FF2B5EF4-FFF2-40B4-BE49-F238E27FC236}">
                <a16:creationId xmlns:a16="http://schemas.microsoft.com/office/drawing/2014/main" id="{480A0A7B-A6C9-8CFD-3640-268391865F7D}"/>
              </a:ext>
            </a:extLst>
          </p:cNvPr>
          <p:cNvSpPr>
            <a:spLocks noGrp="1"/>
          </p:cNvSpPr>
          <p:nvPr>
            <p:ph type="title"/>
          </p:nvPr>
        </p:nvSpPr>
        <p:spPr>
          <a:xfrm>
            <a:off x="938996" y="304614"/>
            <a:ext cx="10477497" cy="898555"/>
          </a:xfrm>
        </p:spPr>
        <p:txBody>
          <a:bodyPr/>
          <a:lstStyle/>
          <a:p>
            <a:r>
              <a:rPr lang="es-419" dirty="0">
                <a:solidFill>
                  <a:schemeClr val="tx2"/>
                </a:solidFill>
              </a:rPr>
              <a:t>Estatus de inscripción a curso (SFARSTS)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2A62D24F-46D6-7471-CE87-1F8A640FFCB5}"/>
              </a:ext>
            </a:extLst>
          </p:cNvPr>
          <p:cNvSpPr/>
          <p:nvPr/>
        </p:nvSpPr>
        <p:spPr>
          <a:xfrm>
            <a:off x="2305637" y="3861171"/>
            <a:ext cx="8268101" cy="160903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Por medio del campo ‘Copiar del periodo’, se puede copiar la configuración del período que se ingrese en dicho campo a la combinación período-parte de período que se está configurando. De esta manera solo deberá modificar las fechas que correspondan al nuevo período en cada uno de los estatus.</a:t>
            </a:r>
          </a:p>
          <a:p>
            <a:endParaRPr lang="es-ES_tradnl" sz="1200" dirty="0"/>
          </a:p>
          <a:p>
            <a:pPr marL="171450" indent="-171450">
              <a:buFont typeface="Arial" panose="020B0604020202020204" pitchFamily="34" charset="0"/>
              <a:buChar char="•"/>
            </a:pPr>
            <a:r>
              <a:rPr lang="es-ES_tradnl" sz="1100" dirty="0"/>
              <a:t>Solo podrá efectuarse la copia si la parte de período es la misma en ambos (origen y destino).</a:t>
            </a:r>
            <a:endParaRPr lang="es-ES_tradnl" sz="1050" dirty="0"/>
          </a:p>
        </p:txBody>
      </p:sp>
      <p:sp>
        <p:nvSpPr>
          <p:cNvPr id="10" name="Rectángulo 9">
            <a:extLst>
              <a:ext uri="{FF2B5EF4-FFF2-40B4-BE49-F238E27FC236}">
                <a16:creationId xmlns:a16="http://schemas.microsoft.com/office/drawing/2014/main" id="{F25E0C75-0634-37CE-BC05-B51FE4B0E9B4}"/>
              </a:ext>
            </a:extLst>
          </p:cNvPr>
          <p:cNvSpPr/>
          <p:nvPr/>
        </p:nvSpPr>
        <p:spPr>
          <a:xfrm>
            <a:off x="720926" y="2111498"/>
            <a:ext cx="2377874" cy="21260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Marcador de texto vertical 1">
            <a:extLst>
              <a:ext uri="{FF2B5EF4-FFF2-40B4-BE49-F238E27FC236}">
                <a16:creationId xmlns:a16="http://schemas.microsoft.com/office/drawing/2014/main" id="{04374652-F101-1141-6315-5EBE0C52DE61}"/>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38910682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E8601-AF3D-D5A2-1964-E9CEF4BDFCFD}"/>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0BD21D30-45AB-A537-0F3F-1F6DCC5C7CDF}"/>
              </a:ext>
            </a:extLst>
          </p:cNvPr>
          <p:cNvSpPr>
            <a:spLocks noGrp="1"/>
          </p:cNvSpPr>
          <p:nvPr>
            <p:ph type="body" sz="quarter" idx="10"/>
          </p:nvPr>
        </p:nvSpPr>
        <p:spPr/>
        <p:txBody>
          <a:bodyPr/>
          <a:lstStyle/>
          <a:p>
            <a:r>
              <a:rPr lang="es-419" dirty="0"/>
              <a:t>Horas mínimas/máximas de inscripción</a:t>
            </a:r>
          </a:p>
        </p:txBody>
      </p:sp>
      <p:sp>
        <p:nvSpPr>
          <p:cNvPr id="2" name="Marcador de texto vertical 1">
            <a:extLst>
              <a:ext uri="{FF2B5EF4-FFF2-40B4-BE49-F238E27FC236}">
                <a16:creationId xmlns:a16="http://schemas.microsoft.com/office/drawing/2014/main" id="{9E731781-FD5D-ADBD-3E94-01AE1374A5ED}"/>
              </a:ext>
            </a:extLst>
          </p:cNvPr>
          <p:cNvSpPr>
            <a:spLocks noGrp="1"/>
          </p:cNvSpPr>
          <p:nvPr>
            <p:ph type="body" sz="quarter" idx="11"/>
          </p:nvPr>
        </p:nvSpPr>
        <p:spPr/>
        <p:txBody>
          <a:bodyPr vert="horz" lIns="0" tIns="0" rIns="0" bIns="0" rtlCol="0">
            <a:spAutoFit/>
          </a:bodyPr>
          <a:lstStyle/>
          <a:p>
            <a:r>
              <a:rPr lang="es-419" dirty="0"/>
              <a:t>Ejecutar la inscripción de cursos por Autoservicio por Lista de Espera</a:t>
            </a:r>
          </a:p>
        </p:txBody>
      </p:sp>
    </p:spTree>
    <p:extLst>
      <p:ext uri="{BB962C8B-B14F-4D97-AF65-F5344CB8AC3E}">
        <p14:creationId xmlns:p14="http://schemas.microsoft.com/office/powerpoint/2010/main" val="24643651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90720-4394-2C51-FD60-1ED17D124A52}"/>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9F9D8F36-C30D-00A9-F6B6-E1F2E766543C}"/>
              </a:ext>
            </a:extLst>
          </p:cNvPr>
          <p:cNvPicPr>
            <a:picLocks noChangeAspect="1"/>
          </p:cNvPicPr>
          <p:nvPr/>
        </p:nvPicPr>
        <p:blipFill>
          <a:blip r:embed="rId3"/>
          <a:stretch>
            <a:fillRect/>
          </a:stretch>
        </p:blipFill>
        <p:spPr>
          <a:xfrm>
            <a:off x="749144" y="1380155"/>
            <a:ext cx="10857199" cy="1225997"/>
          </a:xfrm>
          <a:prstGeom prst="rect">
            <a:avLst/>
          </a:prstGeom>
        </p:spPr>
      </p:pic>
      <p:sp>
        <p:nvSpPr>
          <p:cNvPr id="13" name="Title 12">
            <a:extLst>
              <a:ext uri="{FF2B5EF4-FFF2-40B4-BE49-F238E27FC236}">
                <a16:creationId xmlns:a16="http://schemas.microsoft.com/office/drawing/2014/main" id="{6E334514-A047-1510-329B-47A4563512F2}"/>
              </a:ext>
            </a:extLst>
          </p:cNvPr>
          <p:cNvSpPr>
            <a:spLocks noGrp="1"/>
          </p:cNvSpPr>
          <p:nvPr>
            <p:ph type="title"/>
          </p:nvPr>
        </p:nvSpPr>
        <p:spPr>
          <a:xfrm>
            <a:off x="938996" y="304614"/>
            <a:ext cx="10477497" cy="898555"/>
          </a:xfrm>
        </p:spPr>
        <p:txBody>
          <a:bodyPr/>
          <a:lstStyle/>
          <a:p>
            <a:r>
              <a:rPr lang="es-419" dirty="0">
                <a:solidFill>
                  <a:schemeClr val="tx2"/>
                </a:solidFill>
              </a:rPr>
              <a:t>Horas mínimas/máximas de inscripción (SFAMHRS)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DCEBA0B5-3637-1E21-83C7-3C0A8AF2E3C1}"/>
              </a:ext>
            </a:extLst>
          </p:cNvPr>
          <p:cNvSpPr/>
          <p:nvPr/>
        </p:nvSpPr>
        <p:spPr>
          <a:xfrm>
            <a:off x="1477247" y="4251848"/>
            <a:ext cx="9237506" cy="13716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SFAMHRS es una página administrativa que permite restringir la cantidad mínima y/o máxima de créditos que un estudiante pudiera inscribir para un periodo académico en particular, en función a las variables académicas que lo definan. Para su configuración se requiere:</a:t>
            </a:r>
          </a:p>
          <a:p>
            <a:endParaRPr lang="es-ES_tradnl" sz="1200" dirty="0"/>
          </a:p>
          <a:p>
            <a:pPr marL="228600" indent="-228600">
              <a:buFont typeface="+mj-lt"/>
              <a:buAutoNum type="arabicPeriod"/>
            </a:pPr>
            <a:r>
              <a:rPr lang="es-ES_tradnl" sz="1200" dirty="0"/>
              <a:t>Ingresar el Periodo Académico a configurar</a:t>
            </a:r>
          </a:p>
          <a:p>
            <a:pPr marL="228600" indent="-228600">
              <a:buFont typeface="+mj-lt"/>
              <a:buAutoNum type="arabicPeriod"/>
            </a:pPr>
            <a:r>
              <a:rPr lang="es-ES_tradnl" sz="1200" dirty="0"/>
              <a:t>Presionar el botón ‘Ir’.</a:t>
            </a:r>
          </a:p>
        </p:txBody>
      </p:sp>
      <p:sp>
        <p:nvSpPr>
          <p:cNvPr id="5" name="Rectángulo 4">
            <a:extLst>
              <a:ext uri="{FF2B5EF4-FFF2-40B4-BE49-F238E27FC236}">
                <a16:creationId xmlns:a16="http://schemas.microsoft.com/office/drawing/2014/main" id="{E62779C2-025E-8DEB-8892-7737D7FB4EDB}"/>
              </a:ext>
            </a:extLst>
          </p:cNvPr>
          <p:cNvSpPr/>
          <p:nvPr/>
        </p:nvSpPr>
        <p:spPr>
          <a:xfrm>
            <a:off x="1334800" y="1821914"/>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AFDFE3C2-62AD-6134-DC0D-D6891C1E6DAF}"/>
              </a:ext>
            </a:extLst>
          </p:cNvPr>
          <p:cNvSpPr/>
          <p:nvPr/>
        </p:nvSpPr>
        <p:spPr>
          <a:xfrm>
            <a:off x="3328029" y="206080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7" name="Rectángulo redondeado 15">
            <a:extLst>
              <a:ext uri="{FF2B5EF4-FFF2-40B4-BE49-F238E27FC236}">
                <a16:creationId xmlns:a16="http://schemas.microsoft.com/office/drawing/2014/main" id="{E8F44079-EBE7-8DBC-EFF6-49C4AFC746E7}"/>
              </a:ext>
            </a:extLst>
          </p:cNvPr>
          <p:cNvSpPr/>
          <p:nvPr/>
        </p:nvSpPr>
        <p:spPr>
          <a:xfrm>
            <a:off x="10930427" y="207174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83584C26-D60E-DE21-970A-B5E979E0D65C}"/>
              </a:ext>
            </a:extLst>
          </p:cNvPr>
          <p:cNvSpPr/>
          <p:nvPr/>
        </p:nvSpPr>
        <p:spPr>
          <a:xfrm>
            <a:off x="11110362" y="1842303"/>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Marcador de texto vertical 1">
            <a:extLst>
              <a:ext uri="{FF2B5EF4-FFF2-40B4-BE49-F238E27FC236}">
                <a16:creationId xmlns:a16="http://schemas.microsoft.com/office/drawing/2014/main" id="{BA6BAE97-C368-4F3A-19C6-3AC1317FE29D}"/>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16295265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567C4-34B2-05EF-93C7-0ED588C9EE65}"/>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90DF889-FBE2-B684-CF11-38602901A2ED}"/>
              </a:ext>
            </a:extLst>
          </p:cNvPr>
          <p:cNvPicPr>
            <a:picLocks noChangeAspect="1"/>
          </p:cNvPicPr>
          <p:nvPr/>
        </p:nvPicPr>
        <p:blipFill>
          <a:blip r:embed="rId3"/>
          <a:stretch>
            <a:fillRect/>
          </a:stretch>
        </p:blipFill>
        <p:spPr>
          <a:xfrm>
            <a:off x="775507" y="823865"/>
            <a:ext cx="11138443" cy="4714654"/>
          </a:xfrm>
          <a:prstGeom prst="rect">
            <a:avLst/>
          </a:prstGeom>
        </p:spPr>
      </p:pic>
      <p:sp>
        <p:nvSpPr>
          <p:cNvPr id="13" name="Title 12">
            <a:extLst>
              <a:ext uri="{FF2B5EF4-FFF2-40B4-BE49-F238E27FC236}">
                <a16:creationId xmlns:a16="http://schemas.microsoft.com/office/drawing/2014/main" id="{B56389BC-6BE5-2858-7937-CCD5841CECFD}"/>
              </a:ext>
            </a:extLst>
          </p:cNvPr>
          <p:cNvSpPr>
            <a:spLocks noGrp="1"/>
          </p:cNvSpPr>
          <p:nvPr>
            <p:ph type="title"/>
          </p:nvPr>
        </p:nvSpPr>
        <p:spPr>
          <a:xfrm>
            <a:off x="938996" y="304614"/>
            <a:ext cx="10477497" cy="898555"/>
          </a:xfrm>
        </p:spPr>
        <p:txBody>
          <a:bodyPr/>
          <a:lstStyle/>
          <a:p>
            <a:r>
              <a:rPr lang="es-419" dirty="0">
                <a:solidFill>
                  <a:schemeClr val="tx2"/>
                </a:solidFill>
              </a:rPr>
              <a:t>Horas mínimas/máximas de inscripción (SFAMHRS)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9C540339-62A6-E69D-B52A-ADE174D3922E}"/>
              </a:ext>
            </a:extLst>
          </p:cNvPr>
          <p:cNvSpPr/>
          <p:nvPr/>
        </p:nvSpPr>
        <p:spPr>
          <a:xfrm>
            <a:off x="1477247" y="3724433"/>
            <a:ext cx="9237506" cy="166036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Para definir una regla de inscripción debe insertar un nuevo registro presionando el botón ‘+’</a:t>
            </a:r>
          </a:p>
          <a:p>
            <a:pPr marL="228600" indent="-228600">
              <a:buFont typeface="+mj-lt"/>
              <a:buAutoNum type="arabicPeriod" startAt="3"/>
            </a:pPr>
            <a:r>
              <a:rPr lang="es-ES_tradnl" sz="1200" dirty="0"/>
              <a:t>Definir la cantidad de créditos máximos y mínimos a inscribir en los campos ‘Horas mínimas’ y ‘Horas máximas’</a:t>
            </a:r>
          </a:p>
          <a:p>
            <a:pPr marL="228600" indent="-228600">
              <a:buFont typeface="+mj-lt"/>
              <a:buAutoNum type="arabicPeriod" startAt="3"/>
            </a:pPr>
            <a:r>
              <a:rPr lang="es-ES_tradnl" sz="1200" dirty="0"/>
              <a:t>Definir los parámetros académicos con los cuales se determinaría la aplicación de la regla (</a:t>
            </a:r>
            <a:r>
              <a:rPr lang="es-ES_tradnl" sz="1200" dirty="0" err="1"/>
              <a:t>ej</a:t>
            </a:r>
            <a:r>
              <a:rPr lang="es-ES_tradnl" sz="1200" dirty="0"/>
              <a:t>: Campus y Programa). </a:t>
            </a:r>
          </a:p>
          <a:p>
            <a:pPr marL="228600" indent="-228600">
              <a:buFont typeface="+mj-lt"/>
              <a:buAutoNum type="arabicPeriod" startAt="3"/>
            </a:pPr>
            <a:endParaRPr lang="es-ES_tradnl" sz="1200" dirty="0"/>
          </a:p>
          <a:p>
            <a:r>
              <a:rPr lang="es-ES_tradnl" sz="1100" dirty="0"/>
              <a:t>Las reglas de Horas Mínimas/Máximas, además del campo Nivel, pueden utilizar una serie de variables académicas para precisar de mejor forma los estudiantes a los cuáles aplicar dicha regla, entre los campos más destacados y utilizados son: Nivel, Programa, Código de Campo de Estudio, Cohorte y Atributo.</a:t>
            </a:r>
          </a:p>
        </p:txBody>
      </p:sp>
      <p:sp>
        <p:nvSpPr>
          <p:cNvPr id="5" name="Rectángulo 4">
            <a:extLst>
              <a:ext uri="{FF2B5EF4-FFF2-40B4-BE49-F238E27FC236}">
                <a16:creationId xmlns:a16="http://schemas.microsoft.com/office/drawing/2014/main" id="{C66B3D31-11C7-CB08-0D74-30D076667122}"/>
              </a:ext>
            </a:extLst>
          </p:cNvPr>
          <p:cNvSpPr/>
          <p:nvPr/>
        </p:nvSpPr>
        <p:spPr>
          <a:xfrm>
            <a:off x="7876163" y="2184934"/>
            <a:ext cx="1573500" cy="22282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9A79E96D-A468-8188-33EC-B157B8969ED7}"/>
              </a:ext>
            </a:extLst>
          </p:cNvPr>
          <p:cNvSpPr/>
          <p:nvPr/>
        </p:nvSpPr>
        <p:spPr>
          <a:xfrm>
            <a:off x="7546768" y="23273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7" name="Rectángulo redondeado 15">
            <a:extLst>
              <a:ext uri="{FF2B5EF4-FFF2-40B4-BE49-F238E27FC236}">
                <a16:creationId xmlns:a16="http://schemas.microsoft.com/office/drawing/2014/main" id="{C0868721-9F41-1B5A-46FF-98E16B6E8902}"/>
              </a:ext>
            </a:extLst>
          </p:cNvPr>
          <p:cNvSpPr/>
          <p:nvPr/>
        </p:nvSpPr>
        <p:spPr>
          <a:xfrm>
            <a:off x="10461390" y="147319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8" name="Rectángulo 7">
            <a:extLst>
              <a:ext uri="{FF2B5EF4-FFF2-40B4-BE49-F238E27FC236}">
                <a16:creationId xmlns:a16="http://schemas.microsoft.com/office/drawing/2014/main" id="{9493D546-8B0E-92D7-1FDD-498092B002D9}"/>
              </a:ext>
            </a:extLst>
          </p:cNvPr>
          <p:cNvSpPr/>
          <p:nvPr/>
        </p:nvSpPr>
        <p:spPr>
          <a:xfrm>
            <a:off x="10773174" y="1634013"/>
            <a:ext cx="258270"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9">
            <a:extLst>
              <a:ext uri="{FF2B5EF4-FFF2-40B4-BE49-F238E27FC236}">
                <a16:creationId xmlns:a16="http://schemas.microsoft.com/office/drawing/2014/main" id="{97CA3990-F9FF-40C1-CC0C-95596FE1D561}"/>
              </a:ext>
            </a:extLst>
          </p:cNvPr>
          <p:cNvSpPr/>
          <p:nvPr/>
        </p:nvSpPr>
        <p:spPr>
          <a:xfrm>
            <a:off x="680726" y="2184933"/>
            <a:ext cx="3964507" cy="2545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E42060ED-D188-7EF6-374B-A22ADE367FAE}"/>
              </a:ext>
            </a:extLst>
          </p:cNvPr>
          <p:cNvSpPr/>
          <p:nvPr/>
        </p:nvSpPr>
        <p:spPr>
          <a:xfrm>
            <a:off x="1549434" y="2403424"/>
            <a:ext cx="393153"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12" name="Marcador de texto vertical 1">
            <a:extLst>
              <a:ext uri="{FF2B5EF4-FFF2-40B4-BE49-F238E27FC236}">
                <a16:creationId xmlns:a16="http://schemas.microsoft.com/office/drawing/2014/main" id="{CCA1BB26-ABC2-491D-2C12-BA099FC1653A}"/>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21960058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CB89B-DB09-16DF-0740-CBB314782EEA}"/>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226868C6-AE1A-9474-EC03-5A0DC057ACF6}"/>
              </a:ext>
            </a:extLst>
          </p:cNvPr>
          <p:cNvPicPr>
            <a:picLocks noChangeAspect="1"/>
          </p:cNvPicPr>
          <p:nvPr/>
        </p:nvPicPr>
        <p:blipFill>
          <a:blip r:embed="rId3"/>
          <a:stretch>
            <a:fillRect/>
          </a:stretch>
        </p:blipFill>
        <p:spPr>
          <a:xfrm>
            <a:off x="938996" y="1470839"/>
            <a:ext cx="10605304" cy="1114950"/>
          </a:xfrm>
          <a:prstGeom prst="rect">
            <a:avLst/>
          </a:prstGeom>
        </p:spPr>
      </p:pic>
      <p:sp>
        <p:nvSpPr>
          <p:cNvPr id="13" name="Title 12">
            <a:extLst>
              <a:ext uri="{FF2B5EF4-FFF2-40B4-BE49-F238E27FC236}">
                <a16:creationId xmlns:a16="http://schemas.microsoft.com/office/drawing/2014/main" id="{4662E7CD-0FCF-2847-6ED5-DCBDA9EDDA6A}"/>
              </a:ext>
            </a:extLst>
          </p:cNvPr>
          <p:cNvSpPr>
            <a:spLocks noGrp="1"/>
          </p:cNvSpPr>
          <p:nvPr>
            <p:ph type="title"/>
          </p:nvPr>
        </p:nvSpPr>
        <p:spPr>
          <a:xfrm>
            <a:off x="938996" y="304614"/>
            <a:ext cx="10477497" cy="898555"/>
          </a:xfrm>
        </p:spPr>
        <p:txBody>
          <a:bodyPr/>
          <a:lstStyle/>
          <a:p>
            <a:r>
              <a:rPr lang="es-419" dirty="0">
                <a:solidFill>
                  <a:schemeClr val="tx2"/>
                </a:solidFill>
              </a:rPr>
              <a:t>Horas mínimas/máximas de inscripción (SFAMHRS)</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D17A248A-DA5E-5758-ED2F-89FF2B8AE922}"/>
              </a:ext>
            </a:extLst>
          </p:cNvPr>
          <p:cNvSpPr/>
          <p:nvPr/>
        </p:nvSpPr>
        <p:spPr>
          <a:xfrm>
            <a:off x="2143273" y="2853459"/>
            <a:ext cx="7247653" cy="101865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Por medio del campo ‘Copiar del periodo’, se puede copiar la configuración del período que se ingrese en dicho campo al período que se está configurando. </a:t>
            </a:r>
            <a:endParaRPr lang="es-ES_tradnl" sz="1050" dirty="0"/>
          </a:p>
        </p:txBody>
      </p:sp>
      <p:sp>
        <p:nvSpPr>
          <p:cNvPr id="5" name="Rectángulo 4">
            <a:extLst>
              <a:ext uri="{FF2B5EF4-FFF2-40B4-BE49-F238E27FC236}">
                <a16:creationId xmlns:a16="http://schemas.microsoft.com/office/drawing/2014/main" id="{3652FF69-AD42-ED67-73B6-27461626239B}"/>
              </a:ext>
            </a:extLst>
          </p:cNvPr>
          <p:cNvSpPr/>
          <p:nvPr/>
        </p:nvSpPr>
        <p:spPr>
          <a:xfrm>
            <a:off x="5767100" y="1845710"/>
            <a:ext cx="2170400" cy="2150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Marcador de texto vertical 1">
            <a:extLst>
              <a:ext uri="{FF2B5EF4-FFF2-40B4-BE49-F238E27FC236}">
                <a16:creationId xmlns:a16="http://schemas.microsoft.com/office/drawing/2014/main" id="{F2D07A2E-7B49-BAA0-287C-69663F3A127D}"/>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16808125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13729-B00F-5C13-5A2A-E7AB654F7EE5}"/>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7A490254-333B-7426-42C6-82BAED3CF292}"/>
              </a:ext>
            </a:extLst>
          </p:cNvPr>
          <p:cNvSpPr>
            <a:spLocks noGrp="1"/>
          </p:cNvSpPr>
          <p:nvPr>
            <p:ph type="body" sz="quarter" idx="10"/>
          </p:nvPr>
        </p:nvSpPr>
        <p:spPr>
          <a:xfrm>
            <a:off x="914399" y="2238843"/>
            <a:ext cx="10363202" cy="1333891"/>
          </a:xfrm>
        </p:spPr>
        <p:txBody>
          <a:bodyPr/>
          <a:lstStyle/>
          <a:p>
            <a:r>
              <a:rPr lang="es-419" dirty="0"/>
              <a:t>Asignaciones de turnos de inscripción</a:t>
            </a:r>
          </a:p>
        </p:txBody>
      </p:sp>
      <p:sp>
        <p:nvSpPr>
          <p:cNvPr id="2" name="Marcador de texto vertical 1">
            <a:extLst>
              <a:ext uri="{FF2B5EF4-FFF2-40B4-BE49-F238E27FC236}">
                <a16:creationId xmlns:a16="http://schemas.microsoft.com/office/drawing/2014/main" id="{E74392D0-3D50-D833-B3E8-3E6EFE2ADD1D}"/>
              </a:ext>
            </a:extLst>
          </p:cNvPr>
          <p:cNvSpPr>
            <a:spLocks noGrp="1"/>
          </p:cNvSpPr>
          <p:nvPr>
            <p:ph type="body" sz="quarter" idx="11"/>
          </p:nvPr>
        </p:nvSpPr>
        <p:spPr/>
        <p:txBody>
          <a:bodyPr vert="horz" lIns="0" tIns="0" rIns="0" bIns="0" rtlCol="0">
            <a:spAutoFit/>
          </a:bodyPr>
          <a:lstStyle/>
          <a:p>
            <a:r>
              <a:rPr lang="es-419" dirty="0"/>
              <a:t>Ejecutar la inscripción de cursos por autoservicio por Lista de Espera</a:t>
            </a:r>
          </a:p>
        </p:txBody>
      </p:sp>
    </p:spTree>
    <p:extLst>
      <p:ext uri="{BB962C8B-B14F-4D97-AF65-F5344CB8AC3E}">
        <p14:creationId xmlns:p14="http://schemas.microsoft.com/office/powerpoint/2010/main" val="1670698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dirty="0"/>
              <a:t>Control de prioridad de inscripción</a:t>
            </a:r>
          </a:p>
        </p:txBody>
      </p:sp>
    </p:spTree>
    <p:extLst>
      <p:ext uri="{BB962C8B-B14F-4D97-AF65-F5344CB8AC3E}">
        <p14:creationId xmlns:p14="http://schemas.microsoft.com/office/powerpoint/2010/main" val="18825497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DAF0F-7899-1E0D-D7C7-0DA807358E9B}"/>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122FC4CD-C0B3-967B-2BC0-3CA6A0D15712}"/>
              </a:ext>
            </a:extLst>
          </p:cNvPr>
          <p:cNvPicPr>
            <a:picLocks noChangeAspect="1"/>
          </p:cNvPicPr>
          <p:nvPr/>
        </p:nvPicPr>
        <p:blipFill>
          <a:blip r:embed="rId3"/>
          <a:stretch>
            <a:fillRect/>
          </a:stretch>
        </p:blipFill>
        <p:spPr>
          <a:xfrm>
            <a:off x="675875" y="1203169"/>
            <a:ext cx="11271079" cy="1534283"/>
          </a:xfrm>
          <a:prstGeom prst="rect">
            <a:avLst/>
          </a:prstGeom>
        </p:spPr>
      </p:pic>
      <p:sp>
        <p:nvSpPr>
          <p:cNvPr id="13" name="Title 12">
            <a:extLst>
              <a:ext uri="{FF2B5EF4-FFF2-40B4-BE49-F238E27FC236}">
                <a16:creationId xmlns:a16="http://schemas.microsoft.com/office/drawing/2014/main" id="{D130A470-C520-4D63-FBB9-D7006C611B02}"/>
              </a:ext>
            </a:extLst>
          </p:cNvPr>
          <p:cNvSpPr>
            <a:spLocks noGrp="1"/>
          </p:cNvSpPr>
          <p:nvPr>
            <p:ph type="title"/>
          </p:nvPr>
        </p:nvSpPr>
        <p:spPr>
          <a:xfrm>
            <a:off x="938996" y="304614"/>
            <a:ext cx="10477497" cy="898555"/>
          </a:xfrm>
        </p:spPr>
        <p:txBody>
          <a:bodyPr/>
          <a:lstStyle/>
          <a:p>
            <a:r>
              <a:rPr lang="es-419" dirty="0">
                <a:solidFill>
                  <a:schemeClr val="tx2"/>
                </a:solidFill>
              </a:rPr>
              <a:t>Control de prioridad de inscripción (SFARCTT)</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62BD3E11-D79C-C281-7C42-3708E6524E6F}"/>
              </a:ext>
            </a:extLst>
          </p:cNvPr>
          <p:cNvSpPr/>
          <p:nvPr/>
        </p:nvSpPr>
        <p:spPr>
          <a:xfrm>
            <a:off x="2771003" y="3594543"/>
            <a:ext cx="7473881" cy="188102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En el caso que se requiere el uso de la asignación de grupos de inscripción (turnos), se requiere configurar la página administrativa SFARCTT donde se definirían los rangos de tiempos que un turno de inscripción tendría para un periodo académico en cuestión. Para ello, siga los siguientes pasos:</a:t>
            </a:r>
          </a:p>
          <a:p>
            <a:endParaRPr lang="es-ES_tradnl" sz="1200" dirty="0"/>
          </a:p>
          <a:p>
            <a:pPr marL="228600" indent="-228600">
              <a:buFont typeface="+mj-lt"/>
              <a:buAutoNum type="arabicPeriod"/>
            </a:pPr>
            <a:r>
              <a:rPr lang="es-ES_tradnl" sz="1200" dirty="0"/>
              <a:t>Ingresar el periodo académico para el cual se definirán los turnos</a:t>
            </a:r>
          </a:p>
          <a:p>
            <a:pPr marL="228600" indent="-228600">
              <a:buFont typeface="+mj-lt"/>
              <a:buAutoNum type="arabicPeriod"/>
            </a:pPr>
            <a:r>
              <a:rPr lang="es-ES_tradnl" sz="1200" dirty="0"/>
              <a:t>Presionar el botón ‘Ir’</a:t>
            </a:r>
          </a:p>
        </p:txBody>
      </p:sp>
      <p:sp>
        <p:nvSpPr>
          <p:cNvPr id="12" name="Rectángulo 11">
            <a:extLst>
              <a:ext uri="{FF2B5EF4-FFF2-40B4-BE49-F238E27FC236}">
                <a16:creationId xmlns:a16="http://schemas.microsoft.com/office/drawing/2014/main" id="{99615AF3-C5FC-3726-CEC5-26DBFD2DDDE5}"/>
              </a:ext>
            </a:extLst>
          </p:cNvPr>
          <p:cNvSpPr/>
          <p:nvPr/>
        </p:nvSpPr>
        <p:spPr>
          <a:xfrm>
            <a:off x="1894388" y="1720538"/>
            <a:ext cx="1753229" cy="22278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B575CC2A-6029-3C07-2E29-6E1503251B08}"/>
              </a:ext>
            </a:extLst>
          </p:cNvPr>
          <p:cNvSpPr/>
          <p:nvPr/>
        </p:nvSpPr>
        <p:spPr>
          <a:xfrm>
            <a:off x="3757009" y="1959430"/>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redondeado 15">
            <a:extLst>
              <a:ext uri="{FF2B5EF4-FFF2-40B4-BE49-F238E27FC236}">
                <a16:creationId xmlns:a16="http://schemas.microsoft.com/office/drawing/2014/main" id="{10A22B7C-93E2-4E1E-8965-6A8E3B08E2B6}"/>
              </a:ext>
            </a:extLst>
          </p:cNvPr>
          <p:cNvSpPr/>
          <p:nvPr/>
        </p:nvSpPr>
        <p:spPr>
          <a:xfrm>
            <a:off x="11278348" y="2011042"/>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17" name="Rectángulo 16">
            <a:extLst>
              <a:ext uri="{FF2B5EF4-FFF2-40B4-BE49-F238E27FC236}">
                <a16:creationId xmlns:a16="http://schemas.microsoft.com/office/drawing/2014/main" id="{8FB0772F-D9B1-5E5A-7987-5E5A2D73CC94}"/>
              </a:ext>
            </a:extLst>
          </p:cNvPr>
          <p:cNvSpPr/>
          <p:nvPr/>
        </p:nvSpPr>
        <p:spPr>
          <a:xfrm>
            <a:off x="11516125" y="1753627"/>
            <a:ext cx="334256" cy="22944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Marcador de texto vertical 1">
            <a:extLst>
              <a:ext uri="{FF2B5EF4-FFF2-40B4-BE49-F238E27FC236}">
                <a16:creationId xmlns:a16="http://schemas.microsoft.com/office/drawing/2014/main" id="{B7DBC7F0-B6CE-B7FF-DCC9-280744B979A1}"/>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39763549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F34B4-284F-67FB-7401-B7E74DEA6580}"/>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79CC4BF0-F8E0-DC40-06F3-3FB92EDE4D22}"/>
              </a:ext>
            </a:extLst>
          </p:cNvPr>
          <p:cNvPicPr>
            <a:picLocks noChangeAspect="1"/>
          </p:cNvPicPr>
          <p:nvPr/>
        </p:nvPicPr>
        <p:blipFill>
          <a:blip r:embed="rId3"/>
          <a:stretch>
            <a:fillRect/>
          </a:stretch>
        </p:blipFill>
        <p:spPr>
          <a:xfrm>
            <a:off x="782483" y="914401"/>
            <a:ext cx="11123690" cy="4737438"/>
          </a:xfrm>
          <a:prstGeom prst="rect">
            <a:avLst/>
          </a:prstGeom>
        </p:spPr>
      </p:pic>
      <p:sp>
        <p:nvSpPr>
          <p:cNvPr id="13" name="Title 12">
            <a:extLst>
              <a:ext uri="{FF2B5EF4-FFF2-40B4-BE49-F238E27FC236}">
                <a16:creationId xmlns:a16="http://schemas.microsoft.com/office/drawing/2014/main" id="{FA42E10F-8BE2-74EB-5368-99FCE5B48E33}"/>
              </a:ext>
            </a:extLst>
          </p:cNvPr>
          <p:cNvSpPr>
            <a:spLocks noGrp="1"/>
          </p:cNvSpPr>
          <p:nvPr>
            <p:ph type="title"/>
          </p:nvPr>
        </p:nvSpPr>
        <p:spPr>
          <a:xfrm>
            <a:off x="938996" y="304614"/>
            <a:ext cx="10477497" cy="898555"/>
          </a:xfrm>
        </p:spPr>
        <p:txBody>
          <a:bodyPr/>
          <a:lstStyle/>
          <a:p>
            <a:r>
              <a:rPr lang="es-419" dirty="0">
                <a:solidFill>
                  <a:schemeClr val="tx2"/>
                </a:solidFill>
              </a:rPr>
              <a:t>Control de prioridad de inscripción (SFARCTT)</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3074BDE7-2648-FF5B-A234-942B03F3F76B}"/>
              </a:ext>
            </a:extLst>
          </p:cNvPr>
          <p:cNvSpPr/>
          <p:nvPr/>
        </p:nvSpPr>
        <p:spPr>
          <a:xfrm>
            <a:off x="1239203" y="3428999"/>
            <a:ext cx="10210251" cy="206028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Para ingresar un nuevo registro, presione el botón ‘+’</a:t>
            </a:r>
          </a:p>
          <a:p>
            <a:pPr marL="228600" indent="-228600">
              <a:buFont typeface="+mj-lt"/>
              <a:buAutoNum type="arabicPeriod" startAt="3"/>
            </a:pPr>
            <a:r>
              <a:rPr lang="es-ES_tradnl" sz="1200" dirty="0"/>
              <a:t>Ingrese la fecha desde la cual inicia este rango de tiempo de inscripción.</a:t>
            </a:r>
          </a:p>
          <a:p>
            <a:pPr marL="228600" indent="-228600">
              <a:buFont typeface="+mj-lt"/>
              <a:buAutoNum type="arabicPeriod" startAt="3"/>
            </a:pPr>
            <a:r>
              <a:rPr lang="es-ES_tradnl" sz="1200" dirty="0"/>
              <a:t>definir la hora en la cual iniciaría dicho rango de tiempo habilitado para la inscripción de asignaturas (El formato a utilizar es el HHMM y en formato de 24 horas).</a:t>
            </a:r>
          </a:p>
          <a:p>
            <a:pPr marL="228600" indent="-228600">
              <a:buFont typeface="+mj-lt"/>
              <a:buAutoNum type="arabicPeriod" startAt="3"/>
            </a:pPr>
            <a:r>
              <a:rPr lang="es-ES_tradnl" sz="1200" dirty="0"/>
              <a:t>Ingrese la fecha hasta la cual podrán inscribirse los estudiantes a los que se les asigne el turno correspondiente.</a:t>
            </a:r>
          </a:p>
          <a:p>
            <a:pPr marL="228600" indent="-228600">
              <a:buFont typeface="+mj-lt"/>
              <a:buAutoNum type="arabicPeriod" startAt="3"/>
            </a:pPr>
            <a:r>
              <a:rPr lang="es-ES_tradnl" sz="1200" dirty="0"/>
              <a:t>Ingrese la hora hasta la cual estará habilitada la inscripción para el turno.</a:t>
            </a:r>
          </a:p>
          <a:p>
            <a:pPr marL="228600" indent="-228600">
              <a:buFont typeface="+mj-lt"/>
              <a:buAutoNum type="arabicPeriod" startAt="3"/>
            </a:pPr>
            <a:endParaRPr lang="es-ES_tradnl" sz="1200" dirty="0"/>
          </a:p>
          <a:p>
            <a:r>
              <a:rPr lang="es-ES_tradnl" sz="1100" dirty="0"/>
              <a:t>En el registro resaltado, se indica que desde el 07-07-2026, a las 00 am, hasta el 19-07-2026 a las 11:59 PM, lo que indica que los estudiantes podrán inscribirse durante esos 3 días.</a:t>
            </a:r>
          </a:p>
        </p:txBody>
      </p:sp>
      <p:sp>
        <p:nvSpPr>
          <p:cNvPr id="12" name="Rectángulo 11">
            <a:extLst>
              <a:ext uri="{FF2B5EF4-FFF2-40B4-BE49-F238E27FC236}">
                <a16:creationId xmlns:a16="http://schemas.microsoft.com/office/drawing/2014/main" id="{178B1AC6-7C46-BD9A-ECD4-F043930A676C}"/>
              </a:ext>
            </a:extLst>
          </p:cNvPr>
          <p:cNvSpPr/>
          <p:nvPr/>
        </p:nvSpPr>
        <p:spPr>
          <a:xfrm>
            <a:off x="775507" y="2176252"/>
            <a:ext cx="2132793" cy="17324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ED8FA9B1-B702-8171-7118-568698C9C333}"/>
              </a:ext>
            </a:extLst>
          </p:cNvPr>
          <p:cNvSpPr/>
          <p:nvPr/>
        </p:nvSpPr>
        <p:spPr>
          <a:xfrm>
            <a:off x="1710314" y="2397412"/>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6" name="Rectángulo redondeado 15">
            <a:extLst>
              <a:ext uri="{FF2B5EF4-FFF2-40B4-BE49-F238E27FC236}">
                <a16:creationId xmlns:a16="http://schemas.microsoft.com/office/drawing/2014/main" id="{83F2A098-D1B2-C8EB-E1DE-8EF85994411F}"/>
              </a:ext>
            </a:extLst>
          </p:cNvPr>
          <p:cNvSpPr/>
          <p:nvPr/>
        </p:nvSpPr>
        <p:spPr>
          <a:xfrm>
            <a:off x="10477270" y="1650628"/>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7" name="Rectángulo 16">
            <a:extLst>
              <a:ext uri="{FF2B5EF4-FFF2-40B4-BE49-F238E27FC236}">
                <a16:creationId xmlns:a16="http://schemas.microsoft.com/office/drawing/2014/main" id="{60039126-A7F6-3742-7BCA-3F7AA7371735}"/>
              </a:ext>
            </a:extLst>
          </p:cNvPr>
          <p:cNvSpPr/>
          <p:nvPr/>
        </p:nvSpPr>
        <p:spPr>
          <a:xfrm>
            <a:off x="10769040" y="1686950"/>
            <a:ext cx="237777" cy="17783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3">
            <a:extLst>
              <a:ext uri="{FF2B5EF4-FFF2-40B4-BE49-F238E27FC236}">
                <a16:creationId xmlns:a16="http://schemas.microsoft.com/office/drawing/2014/main" id="{01F55231-AE73-2E34-1C93-085EFFF308A6}"/>
              </a:ext>
            </a:extLst>
          </p:cNvPr>
          <p:cNvSpPr/>
          <p:nvPr/>
        </p:nvSpPr>
        <p:spPr>
          <a:xfrm>
            <a:off x="2908300" y="2180653"/>
            <a:ext cx="2132793" cy="17324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5A6A3D8D-EB24-5E78-BF4C-BC6DDBBAE4E3}"/>
              </a:ext>
            </a:extLst>
          </p:cNvPr>
          <p:cNvSpPr/>
          <p:nvPr/>
        </p:nvSpPr>
        <p:spPr>
          <a:xfrm>
            <a:off x="3855807" y="2397412"/>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6" name="Rectángulo 5">
            <a:extLst>
              <a:ext uri="{FF2B5EF4-FFF2-40B4-BE49-F238E27FC236}">
                <a16:creationId xmlns:a16="http://schemas.microsoft.com/office/drawing/2014/main" id="{1CCC7A1C-E60C-6B03-7E1A-2539995F3141}"/>
              </a:ext>
            </a:extLst>
          </p:cNvPr>
          <p:cNvSpPr/>
          <p:nvPr/>
        </p:nvSpPr>
        <p:spPr>
          <a:xfrm>
            <a:off x="5057977" y="2188952"/>
            <a:ext cx="2132793" cy="17324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A8A4ADEB-B03A-F654-EAE7-0B07544DCA1F}"/>
              </a:ext>
            </a:extLst>
          </p:cNvPr>
          <p:cNvSpPr/>
          <p:nvPr/>
        </p:nvSpPr>
        <p:spPr>
          <a:xfrm>
            <a:off x="5992784" y="2410112"/>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8" name="Rectángulo 7">
            <a:extLst>
              <a:ext uri="{FF2B5EF4-FFF2-40B4-BE49-F238E27FC236}">
                <a16:creationId xmlns:a16="http://schemas.microsoft.com/office/drawing/2014/main" id="{A1DCC774-F27A-F768-C9B2-3BE88C4B643B}"/>
              </a:ext>
            </a:extLst>
          </p:cNvPr>
          <p:cNvSpPr/>
          <p:nvPr/>
        </p:nvSpPr>
        <p:spPr>
          <a:xfrm>
            <a:off x="7190770" y="2193353"/>
            <a:ext cx="2132793" cy="17324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5EE045A3-4A03-6CDF-8FB1-BC45A97CB119}"/>
              </a:ext>
            </a:extLst>
          </p:cNvPr>
          <p:cNvSpPr/>
          <p:nvPr/>
        </p:nvSpPr>
        <p:spPr>
          <a:xfrm>
            <a:off x="8138277" y="2410112"/>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18" name="Marcador de texto vertical 1">
            <a:extLst>
              <a:ext uri="{FF2B5EF4-FFF2-40B4-BE49-F238E27FC236}">
                <a16:creationId xmlns:a16="http://schemas.microsoft.com/office/drawing/2014/main" id="{F89DA33A-49E0-F237-FA7E-590946284BCD}"/>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42687637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81792-A58A-4EB4-5CA3-A9F6BD50E40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37F29FD-C99E-0A38-E24E-5B7B4BDCD77B}"/>
              </a:ext>
            </a:extLst>
          </p:cNvPr>
          <p:cNvPicPr>
            <a:picLocks noChangeAspect="1"/>
          </p:cNvPicPr>
          <p:nvPr/>
        </p:nvPicPr>
        <p:blipFill>
          <a:blip r:embed="rId3"/>
          <a:stretch>
            <a:fillRect/>
          </a:stretch>
        </p:blipFill>
        <p:spPr>
          <a:xfrm>
            <a:off x="1162599" y="879365"/>
            <a:ext cx="10210251" cy="4348416"/>
          </a:xfrm>
          <a:prstGeom prst="rect">
            <a:avLst/>
          </a:prstGeom>
        </p:spPr>
      </p:pic>
      <p:sp>
        <p:nvSpPr>
          <p:cNvPr id="13" name="Title 12">
            <a:extLst>
              <a:ext uri="{FF2B5EF4-FFF2-40B4-BE49-F238E27FC236}">
                <a16:creationId xmlns:a16="http://schemas.microsoft.com/office/drawing/2014/main" id="{BCCD6832-41A9-7FE5-B433-64D645F14AD6}"/>
              </a:ext>
            </a:extLst>
          </p:cNvPr>
          <p:cNvSpPr>
            <a:spLocks noGrp="1"/>
          </p:cNvSpPr>
          <p:nvPr>
            <p:ph type="title"/>
          </p:nvPr>
        </p:nvSpPr>
        <p:spPr>
          <a:xfrm>
            <a:off x="938996" y="304614"/>
            <a:ext cx="10477497" cy="898555"/>
          </a:xfrm>
        </p:spPr>
        <p:txBody>
          <a:bodyPr/>
          <a:lstStyle/>
          <a:p>
            <a:r>
              <a:rPr lang="es-419" dirty="0">
                <a:solidFill>
                  <a:schemeClr val="tx2"/>
                </a:solidFill>
              </a:rPr>
              <a:t>Control de prioridad de inscripción (SFARCTT)</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9345157A-6A24-A1E8-E2F0-81CFC2F8B879}"/>
              </a:ext>
            </a:extLst>
          </p:cNvPr>
          <p:cNvSpPr/>
          <p:nvPr/>
        </p:nvSpPr>
        <p:spPr>
          <a:xfrm>
            <a:off x="1239203" y="3428999"/>
            <a:ext cx="10210251" cy="206028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8"/>
            </a:pPr>
            <a:r>
              <a:rPr lang="es-ES_tradnl" sz="1200" dirty="0"/>
              <a:t>Finalmente, a dicho rango de tiempo definido entre los campos de fecha y hora de inicio y fin, se ha de asociar un número de prioridad el cual actuará como variable de identificación y/o agrupación para con otros rangos de tiempos registrados, por lo anterior este valor puede ser un valor nuevo y debe ser único.</a:t>
            </a:r>
          </a:p>
          <a:p>
            <a:pPr marL="228600" indent="-228600">
              <a:buFont typeface="+mj-lt"/>
              <a:buAutoNum type="arabicPeriod" startAt="8"/>
            </a:pPr>
            <a:r>
              <a:rPr lang="es-ES_tradnl" sz="1200" dirty="0"/>
              <a:t>Guarde la información</a:t>
            </a:r>
          </a:p>
          <a:p>
            <a:pPr marL="228600" indent="-228600">
              <a:buFont typeface="+mj-lt"/>
              <a:buAutoNum type="arabicPeriod" startAt="8"/>
            </a:pPr>
            <a:endParaRPr lang="es-ES_tradnl" sz="1200" dirty="0"/>
          </a:p>
          <a:p>
            <a:r>
              <a:rPr lang="es-ES_tradnl" sz="1100" dirty="0"/>
              <a:t>Para el caso de la prioridad 1, los estudiantes a los que se les asigne tendrían dos turnos de inscripción.</a:t>
            </a:r>
          </a:p>
        </p:txBody>
      </p:sp>
      <p:sp>
        <p:nvSpPr>
          <p:cNvPr id="6" name="Rectángulo 5">
            <a:extLst>
              <a:ext uri="{FF2B5EF4-FFF2-40B4-BE49-F238E27FC236}">
                <a16:creationId xmlns:a16="http://schemas.microsoft.com/office/drawing/2014/main" id="{625C3E3D-197A-E2E3-3F6B-ADE1A3BA2FA0}"/>
              </a:ext>
            </a:extLst>
          </p:cNvPr>
          <p:cNvSpPr/>
          <p:nvPr/>
        </p:nvSpPr>
        <p:spPr>
          <a:xfrm>
            <a:off x="11087100" y="5524781"/>
            <a:ext cx="571500" cy="3104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00C0A43C-C7BA-EBA2-EF40-A89D71F8175B}"/>
              </a:ext>
            </a:extLst>
          </p:cNvPr>
          <p:cNvSpPr/>
          <p:nvPr/>
        </p:nvSpPr>
        <p:spPr>
          <a:xfrm>
            <a:off x="10773123" y="5772989"/>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8" name="Rectángulo 7">
            <a:extLst>
              <a:ext uri="{FF2B5EF4-FFF2-40B4-BE49-F238E27FC236}">
                <a16:creationId xmlns:a16="http://schemas.microsoft.com/office/drawing/2014/main" id="{417D5F0F-3B3F-966D-B7A6-DE22AC5ED19A}"/>
              </a:ext>
            </a:extLst>
          </p:cNvPr>
          <p:cNvSpPr/>
          <p:nvPr/>
        </p:nvSpPr>
        <p:spPr>
          <a:xfrm>
            <a:off x="9267214" y="1983725"/>
            <a:ext cx="2329239" cy="17783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46D62E9A-BFEB-43BB-9277-C77861812821}"/>
              </a:ext>
            </a:extLst>
          </p:cNvPr>
          <p:cNvSpPr/>
          <p:nvPr/>
        </p:nvSpPr>
        <p:spPr>
          <a:xfrm>
            <a:off x="10264168" y="2405711"/>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0" name="Marcador de texto vertical 1">
            <a:extLst>
              <a:ext uri="{FF2B5EF4-FFF2-40B4-BE49-F238E27FC236}">
                <a16:creationId xmlns:a16="http://schemas.microsoft.com/office/drawing/2014/main" id="{DB54940B-7C93-1194-7548-5AEDFA5F6EA7}"/>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28592819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4E378-023B-91DE-958C-BBA2A2AC5406}"/>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4C89AC9B-ABE3-F8E0-8445-BEE3CA740BF5}"/>
              </a:ext>
            </a:extLst>
          </p:cNvPr>
          <p:cNvSpPr>
            <a:spLocks noGrp="1"/>
          </p:cNvSpPr>
          <p:nvPr>
            <p:ph type="title"/>
          </p:nvPr>
        </p:nvSpPr>
        <p:spPr/>
        <p:txBody>
          <a:bodyPr/>
          <a:lstStyle/>
          <a:p>
            <a:r>
              <a:rPr lang="es-419" dirty="0"/>
              <a:t>Control de grupo de inscripción</a:t>
            </a:r>
          </a:p>
        </p:txBody>
      </p:sp>
    </p:spTree>
    <p:extLst>
      <p:ext uri="{BB962C8B-B14F-4D97-AF65-F5344CB8AC3E}">
        <p14:creationId xmlns:p14="http://schemas.microsoft.com/office/powerpoint/2010/main" val="31734342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68A12-4C62-2044-F3DD-27F6194BE722}"/>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CE3FF15C-9919-7B37-C39A-ABD066F8D703}"/>
              </a:ext>
            </a:extLst>
          </p:cNvPr>
          <p:cNvPicPr>
            <a:picLocks noChangeAspect="1"/>
          </p:cNvPicPr>
          <p:nvPr/>
        </p:nvPicPr>
        <p:blipFill>
          <a:blip r:embed="rId3"/>
          <a:stretch>
            <a:fillRect/>
          </a:stretch>
        </p:blipFill>
        <p:spPr>
          <a:xfrm>
            <a:off x="304800" y="1196291"/>
            <a:ext cx="10960099" cy="1120136"/>
          </a:xfrm>
          <a:prstGeom prst="rect">
            <a:avLst/>
          </a:prstGeom>
        </p:spPr>
      </p:pic>
      <p:sp>
        <p:nvSpPr>
          <p:cNvPr id="13" name="Title 12">
            <a:extLst>
              <a:ext uri="{FF2B5EF4-FFF2-40B4-BE49-F238E27FC236}">
                <a16:creationId xmlns:a16="http://schemas.microsoft.com/office/drawing/2014/main" id="{B7F6BFF8-34B8-9245-7D0F-13A05BB75343}"/>
              </a:ext>
            </a:extLst>
          </p:cNvPr>
          <p:cNvSpPr>
            <a:spLocks noGrp="1"/>
          </p:cNvSpPr>
          <p:nvPr>
            <p:ph type="title"/>
          </p:nvPr>
        </p:nvSpPr>
        <p:spPr>
          <a:xfrm>
            <a:off x="938996" y="304614"/>
            <a:ext cx="10477497" cy="898555"/>
          </a:xfrm>
        </p:spPr>
        <p:txBody>
          <a:bodyPr/>
          <a:lstStyle/>
          <a:p>
            <a:r>
              <a:rPr lang="es-419" dirty="0">
                <a:solidFill>
                  <a:schemeClr val="tx2"/>
                </a:solidFill>
              </a:rPr>
              <a:t>Control de grupo de inscripción (SFARCTL)</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DBD769A1-7AEC-82FA-B630-F1813D39C0FF}"/>
              </a:ext>
            </a:extLst>
          </p:cNvPr>
          <p:cNvSpPr/>
          <p:nvPr/>
        </p:nvSpPr>
        <p:spPr>
          <a:xfrm>
            <a:off x="1231901" y="4292600"/>
            <a:ext cx="9089184" cy="128845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Considerando que se utilizaría la asignación por grupo de inscripción, se requiere configurar la página administrativa SFARCTL donde a las prioridades definidas en SFARCTT, de forma individualizada se les asocia un único grupo de inscripción. Para ello debe:</a:t>
            </a:r>
          </a:p>
          <a:p>
            <a:endParaRPr lang="es-ES_tradnl" sz="1200" dirty="0"/>
          </a:p>
          <a:p>
            <a:pPr marL="228600" indent="-228600">
              <a:buFont typeface="+mj-lt"/>
              <a:buAutoNum type="arabicPeriod"/>
            </a:pPr>
            <a:r>
              <a:rPr lang="es-ES_tradnl" sz="1200" dirty="0"/>
              <a:t>Ingresar el periodo académico </a:t>
            </a:r>
          </a:p>
          <a:p>
            <a:pPr marL="228600" indent="-228600">
              <a:buFont typeface="+mj-lt"/>
              <a:buAutoNum type="arabicPeriod"/>
            </a:pPr>
            <a:r>
              <a:rPr lang="es-ES_tradnl" sz="1200" dirty="0"/>
              <a:t>Presionar el botón ‘Ir’.</a:t>
            </a:r>
          </a:p>
        </p:txBody>
      </p:sp>
      <p:sp>
        <p:nvSpPr>
          <p:cNvPr id="11" name="Rectángulo 10">
            <a:extLst>
              <a:ext uri="{FF2B5EF4-FFF2-40B4-BE49-F238E27FC236}">
                <a16:creationId xmlns:a16="http://schemas.microsoft.com/office/drawing/2014/main" id="{2A42C55A-8A6F-CECA-B2CF-92765CC4751E}"/>
              </a:ext>
            </a:extLst>
          </p:cNvPr>
          <p:cNvSpPr/>
          <p:nvPr/>
        </p:nvSpPr>
        <p:spPr>
          <a:xfrm>
            <a:off x="1447800" y="1656815"/>
            <a:ext cx="1753229" cy="22278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45894946-C4AD-BABC-E2A2-21A99130F851}"/>
              </a:ext>
            </a:extLst>
          </p:cNvPr>
          <p:cNvSpPr/>
          <p:nvPr/>
        </p:nvSpPr>
        <p:spPr>
          <a:xfrm>
            <a:off x="3231444" y="1879601"/>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redondeado 15">
            <a:extLst>
              <a:ext uri="{FF2B5EF4-FFF2-40B4-BE49-F238E27FC236}">
                <a16:creationId xmlns:a16="http://schemas.microsoft.com/office/drawing/2014/main" id="{EC2B14C5-A45E-F729-75CD-9C4C4DEB8166}"/>
              </a:ext>
            </a:extLst>
          </p:cNvPr>
          <p:cNvSpPr/>
          <p:nvPr/>
        </p:nvSpPr>
        <p:spPr>
          <a:xfrm>
            <a:off x="10840345" y="1935408"/>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17" name="Rectángulo 16">
            <a:extLst>
              <a:ext uri="{FF2B5EF4-FFF2-40B4-BE49-F238E27FC236}">
                <a16:creationId xmlns:a16="http://schemas.microsoft.com/office/drawing/2014/main" id="{A54C2609-1BD8-533B-74D2-304795631B59}"/>
              </a:ext>
            </a:extLst>
          </p:cNvPr>
          <p:cNvSpPr/>
          <p:nvPr/>
        </p:nvSpPr>
        <p:spPr>
          <a:xfrm>
            <a:off x="10792105" y="1659597"/>
            <a:ext cx="334256" cy="22944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Marcador de texto vertical 1">
            <a:extLst>
              <a:ext uri="{FF2B5EF4-FFF2-40B4-BE49-F238E27FC236}">
                <a16:creationId xmlns:a16="http://schemas.microsoft.com/office/drawing/2014/main" id="{930FBEE4-A97A-3088-0A17-BFB02F2501A5}"/>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28342090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7377F-36BF-2F89-FD6F-4FE5AC57445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78257C6D-FB24-D5CD-544C-4C21A6629F7E}"/>
              </a:ext>
            </a:extLst>
          </p:cNvPr>
          <p:cNvPicPr>
            <a:picLocks noChangeAspect="1"/>
          </p:cNvPicPr>
          <p:nvPr/>
        </p:nvPicPr>
        <p:blipFill>
          <a:blip r:embed="rId3"/>
          <a:stretch>
            <a:fillRect/>
          </a:stretch>
        </p:blipFill>
        <p:spPr>
          <a:xfrm>
            <a:off x="775507" y="947363"/>
            <a:ext cx="11178668" cy="4787526"/>
          </a:xfrm>
          <a:prstGeom prst="rect">
            <a:avLst/>
          </a:prstGeom>
        </p:spPr>
      </p:pic>
      <p:sp>
        <p:nvSpPr>
          <p:cNvPr id="13" name="Title 12">
            <a:extLst>
              <a:ext uri="{FF2B5EF4-FFF2-40B4-BE49-F238E27FC236}">
                <a16:creationId xmlns:a16="http://schemas.microsoft.com/office/drawing/2014/main" id="{A2B7E7DE-1153-5539-7711-D2FA56F32DE0}"/>
              </a:ext>
            </a:extLst>
          </p:cNvPr>
          <p:cNvSpPr>
            <a:spLocks noGrp="1"/>
          </p:cNvSpPr>
          <p:nvPr>
            <p:ph type="title"/>
          </p:nvPr>
        </p:nvSpPr>
        <p:spPr>
          <a:xfrm>
            <a:off x="938996" y="304614"/>
            <a:ext cx="10477497" cy="898555"/>
          </a:xfrm>
        </p:spPr>
        <p:txBody>
          <a:bodyPr/>
          <a:lstStyle/>
          <a:p>
            <a:r>
              <a:rPr lang="es-419" dirty="0">
                <a:solidFill>
                  <a:schemeClr val="tx2"/>
                </a:solidFill>
              </a:rPr>
              <a:t>Control de grupo de inscripción (SFARCTL)</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3DFE4561-505C-6929-65C1-A6D7E19A5098}"/>
              </a:ext>
            </a:extLst>
          </p:cNvPr>
          <p:cNvSpPr/>
          <p:nvPr/>
        </p:nvSpPr>
        <p:spPr>
          <a:xfrm>
            <a:off x="1231901" y="4025900"/>
            <a:ext cx="9089184" cy="155515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Presionar la opción ‘+’ para definir un nuevo registro </a:t>
            </a:r>
          </a:p>
          <a:p>
            <a:pPr marL="228600" indent="-228600">
              <a:buFont typeface="+mj-lt"/>
              <a:buAutoNum type="arabicPeriod" startAt="3"/>
            </a:pPr>
            <a:r>
              <a:rPr lang="es-ES_tradnl" sz="1200" dirty="0"/>
              <a:t>Ingresar la prioridad que se ha definido en la página SFARCTT </a:t>
            </a:r>
          </a:p>
          <a:p>
            <a:pPr marL="228600" indent="-228600">
              <a:buFont typeface="+mj-lt"/>
              <a:buAutoNum type="arabicPeriod" startAt="3"/>
            </a:pPr>
            <a:r>
              <a:rPr lang="es-ES_tradnl" sz="1200" dirty="0"/>
              <a:t>Ingresar un código de grupo para la prioridad (máximo 10 caracteres).</a:t>
            </a:r>
          </a:p>
          <a:p>
            <a:pPr marL="228600" indent="-228600">
              <a:buFont typeface="+mj-lt"/>
              <a:buAutoNum type="arabicPeriod" startAt="3"/>
            </a:pPr>
            <a:r>
              <a:rPr lang="es-ES_tradnl" sz="1200" dirty="0"/>
              <a:t>Guarde la información</a:t>
            </a:r>
          </a:p>
          <a:p>
            <a:endParaRPr lang="es-ES_tradnl" sz="1200" dirty="0"/>
          </a:p>
          <a:p>
            <a:pPr marL="171450" indent="-171450">
              <a:buFont typeface="Arial" panose="020B0604020202020204" pitchFamily="34" charset="0"/>
              <a:buChar char="•"/>
            </a:pPr>
            <a:r>
              <a:rPr lang="es-ES_tradnl" sz="1100" dirty="0"/>
              <a:t>El campo ‘Conteo de grupo’ se actualizará con la cantidad de estudiantes a los que se les asigne el grupo de inscripción.</a:t>
            </a:r>
          </a:p>
          <a:p>
            <a:pPr marL="171450" indent="-171450">
              <a:buFont typeface="Arial" panose="020B0604020202020204" pitchFamily="34" charset="0"/>
              <a:buChar char="•"/>
            </a:pPr>
            <a:r>
              <a:rPr lang="es-ES_tradnl" sz="1100" dirty="0"/>
              <a:t>No puede haber más de un registro por prioridad, ni se puede asignar el mismo código de grupo a dos prioridades diferentes.</a:t>
            </a:r>
          </a:p>
        </p:txBody>
      </p:sp>
      <p:sp>
        <p:nvSpPr>
          <p:cNvPr id="11" name="Rectángulo 10">
            <a:extLst>
              <a:ext uri="{FF2B5EF4-FFF2-40B4-BE49-F238E27FC236}">
                <a16:creationId xmlns:a16="http://schemas.microsoft.com/office/drawing/2014/main" id="{A986E8F5-CE93-2688-5D6C-D7F3B0A4FB70}"/>
              </a:ext>
            </a:extLst>
          </p:cNvPr>
          <p:cNvSpPr/>
          <p:nvPr/>
        </p:nvSpPr>
        <p:spPr>
          <a:xfrm>
            <a:off x="938996" y="2161476"/>
            <a:ext cx="3848904" cy="15614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A6925EC5-3A5E-17B6-E50D-AD9A70DD4845}"/>
              </a:ext>
            </a:extLst>
          </p:cNvPr>
          <p:cNvSpPr/>
          <p:nvPr/>
        </p:nvSpPr>
        <p:spPr>
          <a:xfrm>
            <a:off x="4412544" y="2381163"/>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6" name="Rectángulo redondeado 15">
            <a:extLst>
              <a:ext uri="{FF2B5EF4-FFF2-40B4-BE49-F238E27FC236}">
                <a16:creationId xmlns:a16="http://schemas.microsoft.com/office/drawing/2014/main" id="{67729DFC-5875-3DFA-BBEE-66794D56B336}"/>
              </a:ext>
            </a:extLst>
          </p:cNvPr>
          <p:cNvSpPr/>
          <p:nvPr/>
        </p:nvSpPr>
        <p:spPr>
          <a:xfrm>
            <a:off x="10625311" y="1578741"/>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17" name="Rectángulo 16">
            <a:extLst>
              <a:ext uri="{FF2B5EF4-FFF2-40B4-BE49-F238E27FC236}">
                <a16:creationId xmlns:a16="http://schemas.microsoft.com/office/drawing/2014/main" id="{85FBE565-9810-4808-7ECD-A8DA85BE7E83}"/>
              </a:ext>
            </a:extLst>
          </p:cNvPr>
          <p:cNvSpPr/>
          <p:nvPr/>
        </p:nvSpPr>
        <p:spPr>
          <a:xfrm>
            <a:off x="10812575" y="1768806"/>
            <a:ext cx="237777" cy="24154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7">
            <a:extLst>
              <a:ext uri="{FF2B5EF4-FFF2-40B4-BE49-F238E27FC236}">
                <a16:creationId xmlns:a16="http://schemas.microsoft.com/office/drawing/2014/main" id="{34C8AE69-8BF9-B159-57A1-3C3252CBB72B}"/>
              </a:ext>
            </a:extLst>
          </p:cNvPr>
          <p:cNvSpPr/>
          <p:nvPr/>
        </p:nvSpPr>
        <p:spPr>
          <a:xfrm>
            <a:off x="8283174" y="2188572"/>
            <a:ext cx="3509331" cy="15614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52830271-EE35-767E-4626-8B10E5BE487C}"/>
              </a:ext>
            </a:extLst>
          </p:cNvPr>
          <p:cNvSpPr/>
          <p:nvPr/>
        </p:nvSpPr>
        <p:spPr>
          <a:xfrm>
            <a:off x="11673617" y="2381163"/>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14" name="Rectángulo 13">
            <a:extLst>
              <a:ext uri="{FF2B5EF4-FFF2-40B4-BE49-F238E27FC236}">
                <a16:creationId xmlns:a16="http://schemas.microsoft.com/office/drawing/2014/main" id="{D8F0839D-78BA-56A7-4D30-D13EB02A10FD}"/>
              </a:ext>
            </a:extLst>
          </p:cNvPr>
          <p:cNvSpPr/>
          <p:nvPr/>
        </p:nvSpPr>
        <p:spPr>
          <a:xfrm>
            <a:off x="11150600" y="5486681"/>
            <a:ext cx="571500" cy="3104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15">
            <a:extLst>
              <a:ext uri="{FF2B5EF4-FFF2-40B4-BE49-F238E27FC236}">
                <a16:creationId xmlns:a16="http://schemas.microsoft.com/office/drawing/2014/main" id="{E28C196E-3574-E718-DBF8-A5CAC8BEB7EF}"/>
              </a:ext>
            </a:extLst>
          </p:cNvPr>
          <p:cNvSpPr/>
          <p:nvPr/>
        </p:nvSpPr>
        <p:spPr>
          <a:xfrm>
            <a:off x="10836623" y="5734889"/>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6" name="Marcador de texto vertical 1">
            <a:extLst>
              <a:ext uri="{FF2B5EF4-FFF2-40B4-BE49-F238E27FC236}">
                <a16:creationId xmlns:a16="http://schemas.microsoft.com/office/drawing/2014/main" id="{C4D3FCBF-26EF-F4EA-DA72-C7A9008C04B7}"/>
              </a:ext>
            </a:extLst>
          </p:cNvPr>
          <p:cNvSpPr>
            <a:spLocks noGrp="1"/>
          </p:cNvSpPr>
          <p:nvPr>
            <p:ph type="body" sz="quarter" idx="17"/>
          </p:nvPr>
        </p:nvSpPr>
        <p:spPr>
          <a:xfrm rot="10800000">
            <a:off x="0" y="685800"/>
            <a:ext cx="609600" cy="5486400"/>
          </a:xfrm>
        </p:spPr>
        <p:txBody>
          <a:bodyPr/>
          <a:lstStyle/>
          <a:p>
            <a:r>
              <a:rPr lang="es-419" sz="1200" dirty="0"/>
              <a:t>Configuración</a:t>
            </a:r>
          </a:p>
        </p:txBody>
      </p:sp>
    </p:spTree>
    <p:extLst>
      <p:ext uri="{BB962C8B-B14F-4D97-AF65-F5344CB8AC3E}">
        <p14:creationId xmlns:p14="http://schemas.microsoft.com/office/powerpoint/2010/main" val="325372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5BF9C-2A95-C10E-8F95-DB029611C472}"/>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7D0231E1-23A4-B105-AEB1-CC9DEB880F48}"/>
              </a:ext>
            </a:extLst>
          </p:cNvPr>
          <p:cNvSpPr>
            <a:spLocks noGrp="1"/>
          </p:cNvSpPr>
          <p:nvPr>
            <p:ph type="title"/>
          </p:nvPr>
        </p:nvSpPr>
        <p:spPr/>
        <p:txBody>
          <a:bodyPr/>
          <a:lstStyle/>
          <a:p>
            <a:r>
              <a:rPr lang="es-419" dirty="0"/>
              <a:t>Asignación individual de Grupo de inscripción de alumnos </a:t>
            </a:r>
          </a:p>
        </p:txBody>
      </p:sp>
    </p:spTree>
    <p:extLst>
      <p:ext uri="{BB962C8B-B14F-4D97-AF65-F5344CB8AC3E}">
        <p14:creationId xmlns:p14="http://schemas.microsoft.com/office/powerpoint/2010/main" val="31122520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B02AA-421A-3C75-47AC-2EC39655851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0363C5A-7BBC-519E-641E-5E49313048D3}"/>
              </a:ext>
            </a:extLst>
          </p:cNvPr>
          <p:cNvPicPr>
            <a:picLocks noChangeAspect="1"/>
          </p:cNvPicPr>
          <p:nvPr/>
        </p:nvPicPr>
        <p:blipFill>
          <a:blip r:embed="rId3"/>
          <a:stretch>
            <a:fillRect/>
          </a:stretch>
        </p:blipFill>
        <p:spPr>
          <a:xfrm>
            <a:off x="528120" y="1226429"/>
            <a:ext cx="11458668" cy="1306344"/>
          </a:xfrm>
          <a:prstGeom prst="rect">
            <a:avLst/>
          </a:prstGeom>
        </p:spPr>
      </p:pic>
      <p:sp>
        <p:nvSpPr>
          <p:cNvPr id="13" name="Title 12">
            <a:extLst>
              <a:ext uri="{FF2B5EF4-FFF2-40B4-BE49-F238E27FC236}">
                <a16:creationId xmlns:a16="http://schemas.microsoft.com/office/drawing/2014/main" id="{D03BC389-2B8E-7C59-97CE-6291C85592D4}"/>
              </a:ext>
            </a:extLst>
          </p:cNvPr>
          <p:cNvSpPr>
            <a:spLocks noGrp="1"/>
          </p:cNvSpPr>
          <p:nvPr>
            <p:ph type="title"/>
          </p:nvPr>
        </p:nvSpPr>
        <p:spPr>
          <a:xfrm>
            <a:off x="938996" y="304614"/>
            <a:ext cx="10477497" cy="898555"/>
          </a:xfrm>
        </p:spPr>
        <p:txBody>
          <a:bodyPr/>
          <a:lstStyle/>
          <a:p>
            <a:r>
              <a:rPr lang="es-419" dirty="0">
                <a:solidFill>
                  <a:schemeClr val="tx2"/>
                </a:solidFill>
              </a:rPr>
              <a:t>Grupo de inscripción de alumnos (SFARGRP)</a:t>
            </a: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C53FF96E-FE60-45D6-BF1C-ED636825C355}"/>
              </a:ext>
            </a:extLst>
          </p:cNvPr>
          <p:cNvSpPr/>
          <p:nvPr/>
        </p:nvSpPr>
        <p:spPr>
          <a:xfrm>
            <a:off x="1608428" y="3428999"/>
            <a:ext cx="8898684" cy="153236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Considerando que se utilizaría la asignación por grupo de inscripción, la página administrativa SFARGRP nos permite asignar un turno de inscripción a los estudiantes basados en los registros de grupos configurados en SFARCTL. Para ello se debe:</a:t>
            </a:r>
          </a:p>
          <a:p>
            <a:endParaRPr lang="es-ES_tradnl" sz="1200" dirty="0"/>
          </a:p>
          <a:p>
            <a:pPr marL="228600" indent="-228600">
              <a:buFont typeface="+mj-lt"/>
              <a:buAutoNum type="arabicPeriod"/>
            </a:pPr>
            <a:r>
              <a:rPr lang="es-ES_tradnl" sz="1200" dirty="0"/>
              <a:t>Ingresar el ID del estudiante</a:t>
            </a:r>
          </a:p>
          <a:p>
            <a:pPr marL="228600" indent="-228600">
              <a:buFont typeface="+mj-lt"/>
              <a:buAutoNum type="arabicPeriod"/>
            </a:pPr>
            <a:r>
              <a:rPr lang="es-ES_tradnl" sz="1200" dirty="0"/>
              <a:t>Ingresar o seleccionar el periodo académico </a:t>
            </a:r>
          </a:p>
          <a:p>
            <a:pPr marL="228600" indent="-228600">
              <a:buFont typeface="+mj-lt"/>
              <a:buAutoNum type="arabicPeriod"/>
            </a:pPr>
            <a:r>
              <a:rPr lang="es-ES_tradnl" sz="1200" dirty="0"/>
              <a:t>Presionar el botón ‘Ir’.</a:t>
            </a:r>
          </a:p>
        </p:txBody>
      </p:sp>
      <p:sp>
        <p:nvSpPr>
          <p:cNvPr id="4" name="Rectángulo redondeado 15">
            <a:extLst>
              <a:ext uri="{FF2B5EF4-FFF2-40B4-BE49-F238E27FC236}">
                <a16:creationId xmlns:a16="http://schemas.microsoft.com/office/drawing/2014/main" id="{9120D529-1E5F-5115-1F26-FC85DE48FD3C}"/>
              </a:ext>
            </a:extLst>
          </p:cNvPr>
          <p:cNvSpPr/>
          <p:nvPr/>
        </p:nvSpPr>
        <p:spPr>
          <a:xfrm>
            <a:off x="3339939" y="1948007"/>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4" name="Rectángulo redondeado 15">
            <a:extLst>
              <a:ext uri="{FF2B5EF4-FFF2-40B4-BE49-F238E27FC236}">
                <a16:creationId xmlns:a16="http://schemas.microsoft.com/office/drawing/2014/main" id="{7B41AF4D-7C84-5881-D4EB-A66825D2BEFE}"/>
              </a:ext>
            </a:extLst>
          </p:cNvPr>
          <p:cNvSpPr/>
          <p:nvPr/>
        </p:nvSpPr>
        <p:spPr>
          <a:xfrm>
            <a:off x="11297604" y="2007304"/>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7" name="Rectángulo 16">
            <a:extLst>
              <a:ext uri="{FF2B5EF4-FFF2-40B4-BE49-F238E27FC236}">
                <a16:creationId xmlns:a16="http://schemas.microsoft.com/office/drawing/2014/main" id="{6D1743DC-04B0-BC62-5018-E2A9584E8BC0}"/>
              </a:ext>
            </a:extLst>
          </p:cNvPr>
          <p:cNvSpPr/>
          <p:nvPr/>
        </p:nvSpPr>
        <p:spPr>
          <a:xfrm>
            <a:off x="11416493" y="1720272"/>
            <a:ext cx="430104" cy="24270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19">
            <a:extLst>
              <a:ext uri="{FF2B5EF4-FFF2-40B4-BE49-F238E27FC236}">
                <a16:creationId xmlns:a16="http://schemas.microsoft.com/office/drawing/2014/main" id="{0205810D-02B2-9CAE-338F-489DC6A68311}"/>
              </a:ext>
            </a:extLst>
          </p:cNvPr>
          <p:cNvSpPr/>
          <p:nvPr/>
        </p:nvSpPr>
        <p:spPr>
          <a:xfrm>
            <a:off x="1738264" y="1704182"/>
            <a:ext cx="1839451" cy="24270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20">
            <a:extLst>
              <a:ext uri="{FF2B5EF4-FFF2-40B4-BE49-F238E27FC236}">
                <a16:creationId xmlns:a16="http://schemas.microsoft.com/office/drawing/2014/main" id="{E41F7D27-3731-5369-A42E-C7A00D16A7DD}"/>
              </a:ext>
            </a:extLst>
          </p:cNvPr>
          <p:cNvSpPr/>
          <p:nvPr/>
        </p:nvSpPr>
        <p:spPr>
          <a:xfrm>
            <a:off x="6773486" y="1735354"/>
            <a:ext cx="1746957" cy="18036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2" name="Rectángulo redondeado 15">
            <a:extLst>
              <a:ext uri="{FF2B5EF4-FFF2-40B4-BE49-F238E27FC236}">
                <a16:creationId xmlns:a16="http://schemas.microsoft.com/office/drawing/2014/main" id="{83B49D59-A946-375F-DEF7-542EA89C54E1}"/>
              </a:ext>
            </a:extLst>
          </p:cNvPr>
          <p:cNvSpPr/>
          <p:nvPr/>
        </p:nvSpPr>
        <p:spPr>
          <a:xfrm>
            <a:off x="7939792" y="1957674"/>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7" name="Marcador de texto vertical 1">
            <a:extLst>
              <a:ext uri="{FF2B5EF4-FFF2-40B4-BE49-F238E27FC236}">
                <a16:creationId xmlns:a16="http://schemas.microsoft.com/office/drawing/2014/main" id="{F86CC6D4-9CF6-C103-9662-BF4EDA9372B6}"/>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5415108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1F96B-DAF9-4014-E5C1-8FCEB419FB29}"/>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4FF5270A-362C-3866-79C9-F5A16ABF7F02}"/>
              </a:ext>
            </a:extLst>
          </p:cNvPr>
          <p:cNvPicPr>
            <a:picLocks noChangeAspect="1"/>
          </p:cNvPicPr>
          <p:nvPr/>
        </p:nvPicPr>
        <p:blipFill>
          <a:blip r:embed="rId3"/>
          <a:stretch>
            <a:fillRect/>
          </a:stretch>
        </p:blipFill>
        <p:spPr>
          <a:xfrm>
            <a:off x="775507" y="918143"/>
            <a:ext cx="11042210" cy="4692795"/>
          </a:xfrm>
          <a:prstGeom prst="rect">
            <a:avLst/>
          </a:prstGeom>
        </p:spPr>
      </p:pic>
      <p:sp>
        <p:nvSpPr>
          <p:cNvPr id="13" name="Title 12">
            <a:extLst>
              <a:ext uri="{FF2B5EF4-FFF2-40B4-BE49-F238E27FC236}">
                <a16:creationId xmlns:a16="http://schemas.microsoft.com/office/drawing/2014/main" id="{56158767-1F59-5019-8221-4EE70B2E1FC4}"/>
              </a:ext>
            </a:extLst>
          </p:cNvPr>
          <p:cNvSpPr>
            <a:spLocks noGrp="1"/>
          </p:cNvSpPr>
          <p:nvPr>
            <p:ph type="title"/>
          </p:nvPr>
        </p:nvSpPr>
        <p:spPr>
          <a:xfrm>
            <a:off x="938996" y="304614"/>
            <a:ext cx="10477497" cy="898555"/>
          </a:xfrm>
        </p:spPr>
        <p:txBody>
          <a:bodyPr/>
          <a:lstStyle/>
          <a:p>
            <a:r>
              <a:rPr lang="es-419" dirty="0">
                <a:solidFill>
                  <a:schemeClr val="tx2"/>
                </a:solidFill>
              </a:rPr>
              <a:t>Grupo de inscripción de alumnos (SFARGRP)</a:t>
            </a:r>
            <a:endParaRPr lang="es-ES_tradnl" b="0" dirty="0"/>
          </a:p>
        </p:txBody>
      </p:sp>
      <p:grpSp>
        <p:nvGrpSpPr>
          <p:cNvPr id="9" name="Grupo 8">
            <a:extLst>
              <a:ext uri="{FF2B5EF4-FFF2-40B4-BE49-F238E27FC236}">
                <a16:creationId xmlns:a16="http://schemas.microsoft.com/office/drawing/2014/main" id="{0BC9B900-49F1-B950-D8D9-453FEA3C963E}"/>
              </a:ext>
            </a:extLst>
          </p:cNvPr>
          <p:cNvGrpSpPr/>
          <p:nvPr/>
        </p:nvGrpSpPr>
        <p:grpSpPr>
          <a:xfrm>
            <a:off x="2529703" y="3700032"/>
            <a:ext cx="7473881" cy="1019935"/>
            <a:chOff x="2847203" y="3700032"/>
            <a:chExt cx="7473881" cy="1019935"/>
          </a:xfrm>
        </p:grpSpPr>
        <p:sp>
          <p:nvSpPr>
            <p:cNvPr id="15" name="Rectángulo: esquinas redondeadas 14">
              <a:extLst>
                <a:ext uri="{FF2B5EF4-FFF2-40B4-BE49-F238E27FC236}">
                  <a16:creationId xmlns:a16="http://schemas.microsoft.com/office/drawing/2014/main" id="{4DCC3EBB-1755-78EE-68AB-A569C184AD4B}"/>
                </a:ext>
              </a:extLst>
            </p:cNvPr>
            <p:cNvSpPr/>
            <p:nvPr/>
          </p:nvSpPr>
          <p:spPr>
            <a:xfrm>
              <a:off x="2847203" y="3700032"/>
              <a:ext cx="7473881" cy="101993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4"/>
              </a:pPr>
              <a:r>
                <a:rPr lang="es-ES_tradnl" sz="1200" dirty="0"/>
                <a:t>Ya dentro de la página SFARGRP, se debe seleccionar el botón           del campo ‘Grupo’ para visualizar los grupos de inscripción disponibles.</a:t>
              </a:r>
            </a:p>
          </p:txBody>
        </p:sp>
        <p:pic>
          <p:nvPicPr>
            <p:cNvPr id="17" name="Imagen 16">
              <a:extLst>
                <a:ext uri="{FF2B5EF4-FFF2-40B4-BE49-F238E27FC236}">
                  <a16:creationId xmlns:a16="http://schemas.microsoft.com/office/drawing/2014/main" id="{5F5B0AE3-4C1C-54CC-11F9-B4F950C166BE}"/>
                </a:ext>
              </a:extLst>
            </p:cNvPr>
            <p:cNvPicPr>
              <a:picLocks noChangeAspect="1"/>
            </p:cNvPicPr>
            <p:nvPr/>
          </p:nvPicPr>
          <p:blipFill>
            <a:blip r:embed="rId4"/>
            <a:srcRect l="26289" t="18208" r="71521" b="77929"/>
            <a:stretch/>
          </p:blipFill>
          <p:spPr>
            <a:xfrm>
              <a:off x="7311593" y="4017494"/>
              <a:ext cx="234354" cy="192505"/>
            </a:xfrm>
            <a:prstGeom prst="rect">
              <a:avLst/>
            </a:prstGeom>
            <a:solidFill>
              <a:schemeClr val="accent1">
                <a:alpha val="80000"/>
              </a:schemeClr>
            </a:solidFill>
            <a:ln>
              <a:noFill/>
            </a:ln>
          </p:spPr>
        </p:pic>
      </p:grpSp>
      <p:sp>
        <p:nvSpPr>
          <p:cNvPr id="7" name="Rectángulo redondeado 15">
            <a:extLst>
              <a:ext uri="{FF2B5EF4-FFF2-40B4-BE49-F238E27FC236}">
                <a16:creationId xmlns:a16="http://schemas.microsoft.com/office/drawing/2014/main" id="{FA5FA418-1AF9-E04D-1C6E-D8CBD520F16E}"/>
              </a:ext>
            </a:extLst>
          </p:cNvPr>
          <p:cNvSpPr/>
          <p:nvPr/>
        </p:nvSpPr>
        <p:spPr>
          <a:xfrm>
            <a:off x="3066746" y="2217380"/>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8" name="Rectángulo 7">
            <a:extLst>
              <a:ext uri="{FF2B5EF4-FFF2-40B4-BE49-F238E27FC236}">
                <a16:creationId xmlns:a16="http://schemas.microsoft.com/office/drawing/2014/main" id="{C6C0CB89-0E1E-C509-A905-B150A2011E58}"/>
              </a:ext>
            </a:extLst>
          </p:cNvPr>
          <p:cNvSpPr/>
          <p:nvPr/>
        </p:nvSpPr>
        <p:spPr>
          <a:xfrm>
            <a:off x="1443731" y="1957674"/>
            <a:ext cx="1623015" cy="18036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Marcador de texto vertical 1">
            <a:extLst>
              <a:ext uri="{FF2B5EF4-FFF2-40B4-BE49-F238E27FC236}">
                <a16:creationId xmlns:a16="http://schemas.microsoft.com/office/drawing/2014/main" id="{BC1D9137-E19E-1537-D82C-020EED090410}"/>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39242796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4C225-04E9-60CA-96DB-E237F43C6086}"/>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19B3BD38-0833-7B44-3266-071C7037D7DF}"/>
              </a:ext>
            </a:extLst>
          </p:cNvPr>
          <p:cNvPicPr>
            <a:picLocks noChangeAspect="1"/>
          </p:cNvPicPr>
          <p:nvPr/>
        </p:nvPicPr>
        <p:blipFill>
          <a:blip r:embed="rId3"/>
          <a:stretch>
            <a:fillRect/>
          </a:stretch>
        </p:blipFill>
        <p:spPr>
          <a:xfrm>
            <a:off x="1083851" y="1038507"/>
            <a:ext cx="11316135" cy="4825124"/>
          </a:xfrm>
          <a:prstGeom prst="rect">
            <a:avLst/>
          </a:prstGeom>
        </p:spPr>
      </p:pic>
      <p:sp>
        <p:nvSpPr>
          <p:cNvPr id="13" name="Title 12">
            <a:extLst>
              <a:ext uri="{FF2B5EF4-FFF2-40B4-BE49-F238E27FC236}">
                <a16:creationId xmlns:a16="http://schemas.microsoft.com/office/drawing/2014/main" id="{58F6DCC4-843A-D184-A05F-9C7DDDEF6C02}"/>
              </a:ext>
            </a:extLst>
          </p:cNvPr>
          <p:cNvSpPr>
            <a:spLocks noGrp="1"/>
          </p:cNvSpPr>
          <p:nvPr>
            <p:ph type="title"/>
          </p:nvPr>
        </p:nvSpPr>
        <p:spPr>
          <a:xfrm>
            <a:off x="938996" y="304614"/>
            <a:ext cx="10477497" cy="898555"/>
          </a:xfrm>
        </p:spPr>
        <p:txBody>
          <a:bodyPr/>
          <a:lstStyle/>
          <a:p>
            <a:r>
              <a:rPr lang="es-419" dirty="0">
                <a:solidFill>
                  <a:schemeClr val="tx2"/>
                </a:solidFill>
              </a:rPr>
              <a:t>Grupo de inscripción de alumnos (SFARGRP)</a:t>
            </a:r>
            <a:endParaRPr lang="es-ES_tradnl" b="0" dirty="0"/>
          </a:p>
        </p:txBody>
      </p:sp>
      <p:sp>
        <p:nvSpPr>
          <p:cNvPr id="15" name="Rectángulo: esquinas redondeadas 14">
            <a:extLst>
              <a:ext uri="{FF2B5EF4-FFF2-40B4-BE49-F238E27FC236}">
                <a16:creationId xmlns:a16="http://schemas.microsoft.com/office/drawing/2014/main" id="{5B565CA9-C686-163B-8CD8-56AE6BDC03B6}"/>
              </a:ext>
            </a:extLst>
          </p:cNvPr>
          <p:cNvSpPr/>
          <p:nvPr/>
        </p:nvSpPr>
        <p:spPr>
          <a:xfrm>
            <a:off x="2032001" y="5295900"/>
            <a:ext cx="8085884" cy="77026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5"/>
            </a:pPr>
            <a:r>
              <a:rPr lang="es-ES_tradnl" sz="1200" dirty="0"/>
              <a:t>En la ventana emergente se debe seleccionar el grupo de inscripción que fuera a ser asignado al estudiante.</a:t>
            </a:r>
          </a:p>
          <a:p>
            <a:pPr marL="228600" indent="-228600">
              <a:buFont typeface="+mj-lt"/>
              <a:buAutoNum type="arabicPeriod" startAt="5"/>
            </a:pPr>
            <a:r>
              <a:rPr lang="es-ES_tradnl" sz="1200" dirty="0"/>
              <a:t>Presionar el botón OK.</a:t>
            </a:r>
          </a:p>
        </p:txBody>
      </p:sp>
      <p:sp>
        <p:nvSpPr>
          <p:cNvPr id="7" name="Rectángulo redondeado 15">
            <a:extLst>
              <a:ext uri="{FF2B5EF4-FFF2-40B4-BE49-F238E27FC236}">
                <a16:creationId xmlns:a16="http://schemas.microsoft.com/office/drawing/2014/main" id="{475C4C07-CE4B-5722-DDA6-12B692628E50}"/>
              </a:ext>
            </a:extLst>
          </p:cNvPr>
          <p:cNvSpPr/>
          <p:nvPr/>
        </p:nvSpPr>
        <p:spPr>
          <a:xfrm>
            <a:off x="4050754" y="3046627"/>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
        <p:nvSpPr>
          <p:cNvPr id="8" name="Rectángulo 7">
            <a:extLst>
              <a:ext uri="{FF2B5EF4-FFF2-40B4-BE49-F238E27FC236}">
                <a16:creationId xmlns:a16="http://schemas.microsoft.com/office/drawing/2014/main" id="{B696B1B7-2C42-003D-6E59-340E45124D74}"/>
              </a:ext>
            </a:extLst>
          </p:cNvPr>
          <p:cNvSpPr/>
          <p:nvPr/>
        </p:nvSpPr>
        <p:spPr>
          <a:xfrm>
            <a:off x="4169642" y="2844091"/>
            <a:ext cx="3788669" cy="1522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A40066F1-D199-F64C-5399-AD7D881C4589}"/>
              </a:ext>
            </a:extLst>
          </p:cNvPr>
          <p:cNvSpPr/>
          <p:nvPr/>
        </p:nvSpPr>
        <p:spPr>
          <a:xfrm>
            <a:off x="8168818" y="4470892"/>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
        <p:nvSpPr>
          <p:cNvPr id="10" name="Rectángulo 9">
            <a:extLst>
              <a:ext uri="{FF2B5EF4-FFF2-40B4-BE49-F238E27FC236}">
                <a16:creationId xmlns:a16="http://schemas.microsoft.com/office/drawing/2014/main" id="{7742B43D-F674-2791-864E-956DBB16F122}"/>
              </a:ext>
            </a:extLst>
          </p:cNvPr>
          <p:cNvSpPr/>
          <p:nvPr/>
        </p:nvSpPr>
        <p:spPr>
          <a:xfrm>
            <a:off x="7464335" y="4558796"/>
            <a:ext cx="612865" cy="3069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Marcador de texto vertical 1">
            <a:extLst>
              <a:ext uri="{FF2B5EF4-FFF2-40B4-BE49-F238E27FC236}">
                <a16:creationId xmlns:a16="http://schemas.microsoft.com/office/drawing/2014/main" id="{B2DBEBC9-E333-A363-69E0-D9B151DC3C0E}"/>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38396444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5919C-CB80-D7BF-E526-1AA2F5FBFAC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CAB29E8B-E536-58E2-BD52-341C5C2B3C20}"/>
              </a:ext>
            </a:extLst>
          </p:cNvPr>
          <p:cNvPicPr>
            <a:picLocks noChangeAspect="1"/>
          </p:cNvPicPr>
          <p:nvPr/>
        </p:nvPicPr>
        <p:blipFill>
          <a:blip r:embed="rId3"/>
          <a:stretch>
            <a:fillRect/>
          </a:stretch>
        </p:blipFill>
        <p:spPr>
          <a:xfrm>
            <a:off x="609601" y="753891"/>
            <a:ext cx="11397897" cy="4859291"/>
          </a:xfrm>
          <a:prstGeom prst="rect">
            <a:avLst/>
          </a:prstGeom>
        </p:spPr>
      </p:pic>
      <p:sp>
        <p:nvSpPr>
          <p:cNvPr id="13" name="Title 12">
            <a:extLst>
              <a:ext uri="{FF2B5EF4-FFF2-40B4-BE49-F238E27FC236}">
                <a16:creationId xmlns:a16="http://schemas.microsoft.com/office/drawing/2014/main" id="{0DC8BB4D-280D-B1AB-652F-E4181E91FEA5}"/>
              </a:ext>
            </a:extLst>
          </p:cNvPr>
          <p:cNvSpPr>
            <a:spLocks noGrp="1"/>
          </p:cNvSpPr>
          <p:nvPr>
            <p:ph type="title"/>
          </p:nvPr>
        </p:nvSpPr>
        <p:spPr>
          <a:xfrm>
            <a:off x="938996" y="304614"/>
            <a:ext cx="10477497" cy="898555"/>
          </a:xfrm>
        </p:spPr>
        <p:txBody>
          <a:bodyPr/>
          <a:lstStyle/>
          <a:p>
            <a:r>
              <a:rPr lang="es-419" dirty="0">
                <a:solidFill>
                  <a:schemeClr val="tx2"/>
                </a:solidFill>
              </a:rPr>
              <a:t>Grupo de inscripción de alumnos (SFARGRP)</a:t>
            </a:r>
            <a:endParaRPr lang="es-ES_tradnl" b="0" dirty="0"/>
          </a:p>
        </p:txBody>
      </p:sp>
      <p:sp>
        <p:nvSpPr>
          <p:cNvPr id="15" name="Rectángulo: esquinas redondeadas 14">
            <a:extLst>
              <a:ext uri="{FF2B5EF4-FFF2-40B4-BE49-F238E27FC236}">
                <a16:creationId xmlns:a16="http://schemas.microsoft.com/office/drawing/2014/main" id="{7A6D1886-8441-3AF3-1326-EFEA37C1C266}"/>
              </a:ext>
            </a:extLst>
          </p:cNvPr>
          <p:cNvSpPr/>
          <p:nvPr/>
        </p:nvSpPr>
        <p:spPr>
          <a:xfrm>
            <a:off x="1930401" y="3503892"/>
            <a:ext cx="8085884" cy="77026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7"/>
            </a:pPr>
            <a:r>
              <a:rPr lang="es-ES_tradnl" sz="1200" dirty="0"/>
              <a:t>Cargado el grupo se visualizaría en la sección de información inferior los bloques de horarios que tiene asociadas las prioridades.</a:t>
            </a:r>
          </a:p>
          <a:p>
            <a:pPr marL="228600" indent="-228600">
              <a:buFont typeface="+mj-lt"/>
              <a:buAutoNum type="arabicPeriod" startAt="7"/>
            </a:pPr>
            <a:r>
              <a:rPr lang="es-ES_tradnl" sz="1200" dirty="0"/>
              <a:t>Guarde la información</a:t>
            </a:r>
          </a:p>
        </p:txBody>
      </p:sp>
      <p:sp>
        <p:nvSpPr>
          <p:cNvPr id="7" name="Rectángulo redondeado 15">
            <a:extLst>
              <a:ext uri="{FF2B5EF4-FFF2-40B4-BE49-F238E27FC236}">
                <a16:creationId xmlns:a16="http://schemas.microsoft.com/office/drawing/2014/main" id="{1E04C49A-A7F6-1141-8B48-346411ED8C3E}"/>
              </a:ext>
            </a:extLst>
          </p:cNvPr>
          <p:cNvSpPr/>
          <p:nvPr/>
        </p:nvSpPr>
        <p:spPr>
          <a:xfrm>
            <a:off x="1083023" y="2890943"/>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7</a:t>
            </a:r>
            <a:endParaRPr lang="es-419" sz="1100" noProof="0" dirty="0"/>
          </a:p>
        </p:txBody>
      </p:sp>
      <p:sp>
        <p:nvSpPr>
          <p:cNvPr id="8" name="Rectángulo 7">
            <a:extLst>
              <a:ext uri="{FF2B5EF4-FFF2-40B4-BE49-F238E27FC236}">
                <a16:creationId xmlns:a16="http://schemas.microsoft.com/office/drawing/2014/main" id="{A4A6D31B-B294-90E6-E84B-6CE466E271B5}"/>
              </a:ext>
            </a:extLst>
          </p:cNvPr>
          <p:cNvSpPr/>
          <p:nvPr/>
        </p:nvSpPr>
        <p:spPr>
          <a:xfrm>
            <a:off x="938996" y="1732730"/>
            <a:ext cx="10403905" cy="109937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AF0A8273-118F-82FB-AAF2-38518509D6B2}"/>
              </a:ext>
            </a:extLst>
          </p:cNvPr>
          <p:cNvSpPr/>
          <p:nvPr/>
        </p:nvSpPr>
        <p:spPr>
          <a:xfrm>
            <a:off x="10529319" y="5096865"/>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8</a:t>
            </a:r>
            <a:endParaRPr lang="es-419" sz="1100" noProof="0" dirty="0"/>
          </a:p>
        </p:txBody>
      </p:sp>
      <p:sp>
        <p:nvSpPr>
          <p:cNvPr id="10" name="Rectángulo 9">
            <a:extLst>
              <a:ext uri="{FF2B5EF4-FFF2-40B4-BE49-F238E27FC236}">
                <a16:creationId xmlns:a16="http://schemas.microsoft.com/office/drawing/2014/main" id="{BBF67117-DF0A-BF45-ECA8-D1C3B882A14D}"/>
              </a:ext>
            </a:extLst>
          </p:cNvPr>
          <p:cNvSpPr/>
          <p:nvPr/>
        </p:nvSpPr>
        <p:spPr>
          <a:xfrm>
            <a:off x="10767096" y="5291112"/>
            <a:ext cx="612865" cy="3069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Marcador de texto vertical 1">
            <a:extLst>
              <a:ext uri="{FF2B5EF4-FFF2-40B4-BE49-F238E27FC236}">
                <a16:creationId xmlns:a16="http://schemas.microsoft.com/office/drawing/2014/main" id="{F62EBA42-432E-753F-56EB-032D27F151AD}"/>
              </a:ext>
            </a:extLst>
          </p:cNvPr>
          <p:cNvSpPr>
            <a:spLocks noGrp="1"/>
          </p:cNvSpPr>
          <p:nvPr>
            <p:ph type="body" orient="vert" sz="quarter" idx="17"/>
          </p:nvPr>
        </p:nvSpPr>
        <p:spPr>
          <a:xfrm rot="10800000">
            <a:off x="0" y="685800"/>
            <a:ext cx="609600" cy="5486399"/>
          </a:xfrm>
        </p:spPr>
        <p:txBody>
          <a:bodyPr/>
          <a:lstStyle/>
          <a:p>
            <a:r>
              <a:rPr lang="es-419" sz="1200" dirty="0"/>
              <a:t>Configuración</a:t>
            </a:r>
          </a:p>
        </p:txBody>
      </p:sp>
    </p:spTree>
    <p:extLst>
      <p:ext uri="{BB962C8B-B14F-4D97-AF65-F5344CB8AC3E}">
        <p14:creationId xmlns:p14="http://schemas.microsoft.com/office/powerpoint/2010/main" val="38463820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C2070-C024-214E-A1B2-42A5E281EA4B}"/>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EEFA105B-8274-2978-E027-8D124A9C5499}"/>
              </a:ext>
            </a:extLst>
          </p:cNvPr>
          <p:cNvSpPr>
            <a:spLocks noGrp="1"/>
          </p:cNvSpPr>
          <p:nvPr>
            <p:ph type="body" sz="quarter" idx="10"/>
          </p:nvPr>
        </p:nvSpPr>
        <p:spPr>
          <a:xfrm>
            <a:off x="914399" y="2238843"/>
            <a:ext cx="10363202" cy="1333891"/>
          </a:xfrm>
        </p:spPr>
        <p:txBody>
          <a:bodyPr/>
          <a:lstStyle/>
          <a:p>
            <a:r>
              <a:rPr lang="es-419" dirty="0"/>
              <a:t>Asignación masiva de Grupos de inscripción de alumnos </a:t>
            </a:r>
          </a:p>
        </p:txBody>
      </p:sp>
      <p:sp>
        <p:nvSpPr>
          <p:cNvPr id="2" name="Marcador de texto vertical 1">
            <a:extLst>
              <a:ext uri="{FF2B5EF4-FFF2-40B4-BE49-F238E27FC236}">
                <a16:creationId xmlns:a16="http://schemas.microsoft.com/office/drawing/2014/main" id="{D8A71268-6180-C889-DFEC-2EB1082C5C53}"/>
              </a:ext>
            </a:extLst>
          </p:cNvPr>
          <p:cNvSpPr>
            <a:spLocks noGrp="1"/>
          </p:cNvSpPr>
          <p:nvPr>
            <p:ph type="body" sz="quarter" idx="11"/>
          </p:nvPr>
        </p:nvSpPr>
        <p:spPr/>
        <p:txBody>
          <a:bodyPr vert="horz" lIns="0" tIns="0" rIns="0" bIns="0" rtlCol="0">
            <a:spAutoFit/>
          </a:bodyPr>
          <a:lstStyle/>
          <a:p>
            <a:r>
              <a:rPr lang="es-419" dirty="0"/>
              <a:t>Ejecutar la inscripción de cursos por Autoservicio por Lista de Espera</a:t>
            </a:r>
          </a:p>
        </p:txBody>
      </p:sp>
    </p:spTree>
    <p:extLst>
      <p:ext uri="{BB962C8B-B14F-4D97-AF65-F5344CB8AC3E}">
        <p14:creationId xmlns:p14="http://schemas.microsoft.com/office/powerpoint/2010/main" val="22950332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CO" dirty="0"/>
              <a:t>Selección de población</a:t>
            </a:r>
          </a:p>
        </p:txBody>
      </p:sp>
    </p:spTree>
    <p:extLst>
      <p:ext uri="{BB962C8B-B14F-4D97-AF65-F5344CB8AC3E}">
        <p14:creationId xmlns:p14="http://schemas.microsoft.com/office/powerpoint/2010/main" val="19314863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FB04D-691F-8BCD-73EC-467BADB9E0C0}"/>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76DBA8A9-5DBE-CA8D-D337-7EBCAFB24A9E}"/>
              </a:ext>
            </a:extLst>
          </p:cNvPr>
          <p:cNvPicPr>
            <a:picLocks noChangeAspect="1"/>
          </p:cNvPicPr>
          <p:nvPr/>
        </p:nvPicPr>
        <p:blipFill>
          <a:blip r:embed="rId3"/>
          <a:stretch>
            <a:fillRect/>
          </a:stretch>
        </p:blipFill>
        <p:spPr>
          <a:xfrm>
            <a:off x="810548" y="1321310"/>
            <a:ext cx="10734392" cy="4618025"/>
          </a:xfrm>
          <a:prstGeom prst="rect">
            <a:avLst/>
          </a:prstGeom>
        </p:spPr>
      </p:pic>
      <p:sp>
        <p:nvSpPr>
          <p:cNvPr id="2" name="Marcador de texto vertical 1">
            <a:extLst>
              <a:ext uri="{FF2B5EF4-FFF2-40B4-BE49-F238E27FC236}">
                <a16:creationId xmlns:a16="http://schemas.microsoft.com/office/drawing/2014/main" id="{25AF6CBD-BDA8-8A9B-60D4-3733ECB5A0A3}"/>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F1D99C88-E7BE-8384-D638-BD1CE1978E74}"/>
              </a:ext>
            </a:extLst>
          </p:cNvPr>
          <p:cNvSpPr>
            <a:spLocks noGrp="1"/>
          </p:cNvSpPr>
          <p:nvPr>
            <p:ph type="title"/>
          </p:nvPr>
        </p:nvSpPr>
        <p:spPr>
          <a:xfrm>
            <a:off x="938996" y="304614"/>
            <a:ext cx="10477497" cy="898555"/>
          </a:xfrm>
        </p:spPr>
        <p:txBody>
          <a:bodyPr/>
          <a:lstStyle/>
          <a:p>
            <a:r>
              <a:rPr lang="es-ES_tradnl" dirty="0">
                <a:solidFill>
                  <a:schemeClr val="tx2"/>
                </a:solidFill>
              </a:rPr>
              <a:t>Crear Selección de población</a:t>
            </a:r>
            <a:br>
              <a:rPr lang="es-ES_tradnl" dirty="0">
                <a:solidFill>
                  <a:schemeClr val="tx2"/>
                </a:solidFill>
              </a:rPr>
            </a:br>
            <a:r>
              <a:rPr lang="es-ES_tradnl" dirty="0">
                <a:solidFill>
                  <a:schemeClr val="tx2"/>
                </a:solidFill>
              </a:rPr>
              <a:t>1. </a:t>
            </a:r>
            <a:r>
              <a:rPr lang="es-CO" dirty="0">
                <a:solidFill>
                  <a:schemeClr val="tx2"/>
                </a:solidFill>
              </a:rPr>
              <a:t>Reglas de definición de aplicación GLRAPPL</a:t>
            </a:r>
            <a:endParaRPr lang="es-ES_tradnl" dirty="0">
              <a:solidFill>
                <a:schemeClr val="tx2"/>
              </a:solidFill>
            </a:endParaRPr>
          </a:p>
        </p:txBody>
      </p:sp>
      <p:sp>
        <p:nvSpPr>
          <p:cNvPr id="7" name="Rectángulo: esquinas redondeadas 6">
            <a:extLst>
              <a:ext uri="{FF2B5EF4-FFF2-40B4-BE49-F238E27FC236}">
                <a16:creationId xmlns:a16="http://schemas.microsoft.com/office/drawing/2014/main" id="{A7FA6131-3DEC-E226-19BA-8E249CE9E9FD}"/>
              </a:ext>
            </a:extLst>
          </p:cNvPr>
          <p:cNvSpPr/>
          <p:nvPr/>
        </p:nvSpPr>
        <p:spPr>
          <a:xfrm>
            <a:off x="1985752" y="3630322"/>
            <a:ext cx="5297516" cy="63385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puede utilizar la de STUDENT o crear un nuevo código.  Corresponde a una agrupación o clasificación de las selecciones de población.</a:t>
            </a:r>
          </a:p>
        </p:txBody>
      </p:sp>
      <p:sp>
        <p:nvSpPr>
          <p:cNvPr id="15" name="Rectángulo redondeado 15">
            <a:extLst>
              <a:ext uri="{FF2B5EF4-FFF2-40B4-BE49-F238E27FC236}">
                <a16:creationId xmlns:a16="http://schemas.microsoft.com/office/drawing/2014/main" id="{DB0BB1A2-F8B3-A76E-9514-29FD05D5EDC3}"/>
              </a:ext>
            </a:extLst>
          </p:cNvPr>
          <p:cNvSpPr/>
          <p:nvPr/>
        </p:nvSpPr>
        <p:spPr>
          <a:xfrm>
            <a:off x="591186" y="1842188"/>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15">
            <a:extLst>
              <a:ext uri="{FF2B5EF4-FFF2-40B4-BE49-F238E27FC236}">
                <a16:creationId xmlns:a16="http://schemas.microsoft.com/office/drawing/2014/main" id="{09533C91-79F0-29BE-66F2-1C6A1361A262}"/>
              </a:ext>
            </a:extLst>
          </p:cNvPr>
          <p:cNvSpPr/>
          <p:nvPr/>
        </p:nvSpPr>
        <p:spPr>
          <a:xfrm>
            <a:off x="810548" y="1731067"/>
            <a:ext cx="1669907" cy="37839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0681463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353E1-96EF-47E9-C10C-B5C2D3EB0255}"/>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E4BF7999-14A0-BCAD-B6F6-DBF508A8A926}"/>
              </a:ext>
            </a:extLst>
          </p:cNvPr>
          <p:cNvPicPr>
            <a:picLocks noChangeAspect="1"/>
          </p:cNvPicPr>
          <p:nvPr/>
        </p:nvPicPr>
        <p:blipFill>
          <a:blip r:embed="rId3"/>
          <a:stretch>
            <a:fillRect/>
          </a:stretch>
        </p:blipFill>
        <p:spPr>
          <a:xfrm>
            <a:off x="849099" y="1465027"/>
            <a:ext cx="11288212" cy="1297700"/>
          </a:xfrm>
          <a:prstGeom prst="rect">
            <a:avLst/>
          </a:prstGeom>
        </p:spPr>
      </p:pic>
      <p:sp>
        <p:nvSpPr>
          <p:cNvPr id="2" name="Marcador de texto vertical 1">
            <a:extLst>
              <a:ext uri="{FF2B5EF4-FFF2-40B4-BE49-F238E27FC236}">
                <a16:creationId xmlns:a16="http://schemas.microsoft.com/office/drawing/2014/main" id="{EB521F8B-D449-6194-3BB6-74C75F09B091}"/>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3AD7D819-37F2-EC55-D24F-190548575D5A}"/>
              </a:ext>
            </a:extLst>
          </p:cNvPr>
          <p:cNvSpPr>
            <a:spLocks noGrp="1"/>
          </p:cNvSpPr>
          <p:nvPr>
            <p:ph type="title"/>
          </p:nvPr>
        </p:nvSpPr>
        <p:spPr>
          <a:xfrm>
            <a:off x="938996" y="304614"/>
            <a:ext cx="10477497" cy="898555"/>
          </a:xfrm>
        </p:spPr>
        <p:txBody>
          <a:bodyPr/>
          <a:lstStyle/>
          <a:p>
            <a:r>
              <a:rPr lang="es-CO" dirty="0">
                <a:solidFill>
                  <a:schemeClr val="tx2"/>
                </a:solidFill>
              </a:rPr>
              <a:t>Reglas de definición de selección de población GLRSLCT</a:t>
            </a:r>
            <a:endParaRPr lang="es-ES_tradnl" b="0" dirty="0"/>
          </a:p>
        </p:txBody>
      </p:sp>
      <p:sp>
        <p:nvSpPr>
          <p:cNvPr id="15" name="Rectángulo: esquinas redondeadas 14">
            <a:extLst>
              <a:ext uri="{FF2B5EF4-FFF2-40B4-BE49-F238E27FC236}">
                <a16:creationId xmlns:a16="http://schemas.microsoft.com/office/drawing/2014/main" id="{28EF7487-FD80-D403-2AF2-6E01AB9A2FE4}"/>
              </a:ext>
            </a:extLst>
          </p:cNvPr>
          <p:cNvSpPr/>
          <p:nvPr/>
        </p:nvSpPr>
        <p:spPr>
          <a:xfrm>
            <a:off x="1930401" y="3503892"/>
            <a:ext cx="8085884" cy="77026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a:pPr>
            <a:r>
              <a:rPr lang="es-ES_tradnl" sz="1200" dirty="0"/>
              <a:t>Seleccione el código de la aplicación creado</a:t>
            </a:r>
          </a:p>
          <a:p>
            <a:pPr marL="228600" indent="-228600">
              <a:buFont typeface="+mj-lt"/>
              <a:buAutoNum type="arabicPeriod"/>
            </a:pPr>
            <a:r>
              <a:rPr lang="es-ES_tradnl" sz="1200" dirty="0"/>
              <a:t>Cree o utilice un ID de selección que haga referencia para que se utilizará la selección de población</a:t>
            </a:r>
          </a:p>
          <a:p>
            <a:pPr marL="228600" indent="-228600">
              <a:buFont typeface="+mj-lt"/>
              <a:buAutoNum type="arabicPeriod"/>
            </a:pPr>
            <a:r>
              <a:rPr lang="es-ES_tradnl" sz="1200" dirty="0"/>
              <a:t>Presione IR</a:t>
            </a:r>
          </a:p>
        </p:txBody>
      </p:sp>
      <p:sp>
        <p:nvSpPr>
          <p:cNvPr id="7" name="Rectángulo redondeado 15">
            <a:extLst>
              <a:ext uri="{FF2B5EF4-FFF2-40B4-BE49-F238E27FC236}">
                <a16:creationId xmlns:a16="http://schemas.microsoft.com/office/drawing/2014/main" id="{D01D3DC8-E329-3AF0-E094-8026BFCC0796}"/>
              </a:ext>
            </a:extLst>
          </p:cNvPr>
          <p:cNvSpPr/>
          <p:nvPr/>
        </p:nvSpPr>
        <p:spPr>
          <a:xfrm>
            <a:off x="3994299" y="1958513"/>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8" name="Rectángulo 7">
            <a:extLst>
              <a:ext uri="{FF2B5EF4-FFF2-40B4-BE49-F238E27FC236}">
                <a16:creationId xmlns:a16="http://schemas.microsoft.com/office/drawing/2014/main" id="{260C3E13-7B63-9083-FFD2-B1FA5C4BC594}"/>
              </a:ext>
            </a:extLst>
          </p:cNvPr>
          <p:cNvSpPr/>
          <p:nvPr/>
        </p:nvSpPr>
        <p:spPr>
          <a:xfrm>
            <a:off x="2018923" y="1944334"/>
            <a:ext cx="1973655" cy="21039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0DB3E392-3DA1-18FE-4C39-A7EB2E6765F2}"/>
              </a:ext>
            </a:extLst>
          </p:cNvPr>
          <p:cNvSpPr/>
          <p:nvPr/>
        </p:nvSpPr>
        <p:spPr>
          <a:xfrm>
            <a:off x="11334832" y="1893382"/>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10" name="Rectángulo 9">
            <a:extLst>
              <a:ext uri="{FF2B5EF4-FFF2-40B4-BE49-F238E27FC236}">
                <a16:creationId xmlns:a16="http://schemas.microsoft.com/office/drawing/2014/main" id="{34266607-DC62-5846-A4CE-E66885A05052}"/>
              </a:ext>
            </a:extLst>
          </p:cNvPr>
          <p:cNvSpPr/>
          <p:nvPr/>
        </p:nvSpPr>
        <p:spPr>
          <a:xfrm>
            <a:off x="11548528" y="1939169"/>
            <a:ext cx="612865" cy="3069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7518A3E4-236C-B9A8-2563-9CE38FA57DF2}"/>
              </a:ext>
            </a:extLst>
          </p:cNvPr>
          <p:cNvSpPr/>
          <p:nvPr/>
        </p:nvSpPr>
        <p:spPr>
          <a:xfrm>
            <a:off x="8841155" y="1958513"/>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4" name="Rectángulo 13">
            <a:extLst>
              <a:ext uri="{FF2B5EF4-FFF2-40B4-BE49-F238E27FC236}">
                <a16:creationId xmlns:a16="http://schemas.microsoft.com/office/drawing/2014/main" id="{B84358E6-C0ED-A90A-12AF-81F60E614D9C}"/>
              </a:ext>
            </a:extLst>
          </p:cNvPr>
          <p:cNvSpPr/>
          <p:nvPr/>
        </p:nvSpPr>
        <p:spPr>
          <a:xfrm>
            <a:off x="6865779" y="1944334"/>
            <a:ext cx="1973655" cy="21039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0602208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D607F-50C4-00D4-CED3-A04EC9EE7525}"/>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5AEF5D8E-E776-BD61-D1C6-9328690E2B0D}"/>
              </a:ext>
            </a:extLst>
          </p:cNvPr>
          <p:cNvPicPr>
            <a:picLocks noChangeAspect="1"/>
          </p:cNvPicPr>
          <p:nvPr/>
        </p:nvPicPr>
        <p:blipFill>
          <a:blip r:embed="rId3"/>
          <a:stretch>
            <a:fillRect/>
          </a:stretch>
        </p:blipFill>
        <p:spPr>
          <a:xfrm>
            <a:off x="775507" y="874181"/>
            <a:ext cx="11253851" cy="4885814"/>
          </a:xfrm>
          <a:prstGeom prst="rect">
            <a:avLst/>
          </a:prstGeom>
        </p:spPr>
      </p:pic>
      <p:sp>
        <p:nvSpPr>
          <p:cNvPr id="2" name="Marcador de texto vertical 1">
            <a:extLst>
              <a:ext uri="{FF2B5EF4-FFF2-40B4-BE49-F238E27FC236}">
                <a16:creationId xmlns:a16="http://schemas.microsoft.com/office/drawing/2014/main" id="{FFE5E829-5FC2-BC1D-7EB7-CD83BEB9CBFB}"/>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CD2C8B11-3183-4FCB-DBF8-BFDDDD419909}"/>
              </a:ext>
            </a:extLst>
          </p:cNvPr>
          <p:cNvSpPr>
            <a:spLocks noGrp="1"/>
          </p:cNvSpPr>
          <p:nvPr>
            <p:ph type="title"/>
          </p:nvPr>
        </p:nvSpPr>
        <p:spPr>
          <a:xfrm>
            <a:off x="938996" y="304614"/>
            <a:ext cx="10477497" cy="898555"/>
          </a:xfrm>
        </p:spPr>
        <p:txBody>
          <a:bodyPr/>
          <a:lstStyle/>
          <a:p>
            <a:r>
              <a:rPr lang="es-419" dirty="0">
                <a:solidFill>
                  <a:schemeClr val="tx2"/>
                </a:solidFill>
              </a:rPr>
              <a:t>Grupo de inscripción de alumnos (SFARGRP)</a:t>
            </a:r>
            <a:endParaRPr lang="es-ES_tradnl" b="0" dirty="0"/>
          </a:p>
        </p:txBody>
      </p:sp>
      <p:sp>
        <p:nvSpPr>
          <p:cNvPr id="15" name="Rectángulo: esquinas redondeadas 14">
            <a:extLst>
              <a:ext uri="{FF2B5EF4-FFF2-40B4-BE49-F238E27FC236}">
                <a16:creationId xmlns:a16="http://schemas.microsoft.com/office/drawing/2014/main" id="{166A10B3-57AC-3963-14F6-4FBD9EFE3633}"/>
              </a:ext>
            </a:extLst>
          </p:cNvPr>
          <p:cNvSpPr/>
          <p:nvPr/>
        </p:nvSpPr>
        <p:spPr>
          <a:xfrm>
            <a:off x="1930401" y="3503892"/>
            <a:ext cx="8085884" cy="77026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4"/>
            </a:pPr>
            <a:r>
              <a:rPr lang="es-ES_tradnl" sz="1200" dirty="0"/>
              <a:t>Ingrese una descripción de la selección de población. Máximo 30 caracteres </a:t>
            </a:r>
          </a:p>
          <a:p>
            <a:pPr marL="228600" indent="-228600">
              <a:buFont typeface="+mj-lt"/>
              <a:buAutoNum type="arabicPeriod" startAt="4"/>
            </a:pPr>
            <a:r>
              <a:rPr lang="es-ES_tradnl" sz="1200" dirty="0"/>
              <a:t>Guarde la información</a:t>
            </a:r>
          </a:p>
        </p:txBody>
      </p:sp>
      <p:sp>
        <p:nvSpPr>
          <p:cNvPr id="7" name="Rectángulo redondeado 15">
            <a:extLst>
              <a:ext uri="{FF2B5EF4-FFF2-40B4-BE49-F238E27FC236}">
                <a16:creationId xmlns:a16="http://schemas.microsoft.com/office/drawing/2014/main" id="{8D04F847-A06A-603F-E03C-1DBEC0527508}"/>
              </a:ext>
            </a:extLst>
          </p:cNvPr>
          <p:cNvSpPr/>
          <p:nvPr/>
        </p:nvSpPr>
        <p:spPr>
          <a:xfrm>
            <a:off x="3994299" y="1958513"/>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8" name="Rectángulo 7">
            <a:extLst>
              <a:ext uri="{FF2B5EF4-FFF2-40B4-BE49-F238E27FC236}">
                <a16:creationId xmlns:a16="http://schemas.microsoft.com/office/drawing/2014/main" id="{7319A01E-9134-A6A3-DF1D-1C89F265F835}"/>
              </a:ext>
            </a:extLst>
          </p:cNvPr>
          <p:cNvSpPr/>
          <p:nvPr/>
        </p:nvSpPr>
        <p:spPr>
          <a:xfrm>
            <a:off x="2018923" y="1944334"/>
            <a:ext cx="1973655" cy="21039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9">
            <a:extLst>
              <a:ext uri="{FF2B5EF4-FFF2-40B4-BE49-F238E27FC236}">
                <a16:creationId xmlns:a16="http://schemas.microsoft.com/office/drawing/2014/main" id="{D35D68B3-1055-BB3B-BF63-B2AAB8EA3F96}"/>
              </a:ext>
            </a:extLst>
          </p:cNvPr>
          <p:cNvSpPr/>
          <p:nvPr/>
        </p:nvSpPr>
        <p:spPr>
          <a:xfrm>
            <a:off x="11416493" y="5419040"/>
            <a:ext cx="612865" cy="3069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10EB4C9D-5C9E-B524-F1E9-CD000A298982}"/>
              </a:ext>
            </a:extLst>
          </p:cNvPr>
          <p:cNvSpPr/>
          <p:nvPr/>
        </p:nvSpPr>
        <p:spPr>
          <a:xfrm>
            <a:off x="11131698" y="5624167"/>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Tree>
    <p:extLst>
      <p:ext uri="{BB962C8B-B14F-4D97-AF65-F5344CB8AC3E}">
        <p14:creationId xmlns:p14="http://schemas.microsoft.com/office/powerpoint/2010/main" val="15285653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13B9A-C606-D4DC-14FF-7E6B4C21530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D301393-B74B-CCAC-5735-F7A380F4E2EF}"/>
              </a:ext>
            </a:extLst>
          </p:cNvPr>
          <p:cNvPicPr>
            <a:picLocks noChangeAspect="1"/>
          </p:cNvPicPr>
          <p:nvPr/>
        </p:nvPicPr>
        <p:blipFill>
          <a:blip r:embed="rId3"/>
          <a:stretch>
            <a:fillRect/>
          </a:stretch>
        </p:blipFill>
        <p:spPr>
          <a:xfrm>
            <a:off x="973705" y="950612"/>
            <a:ext cx="10244590" cy="4787963"/>
          </a:xfrm>
          <a:prstGeom prst="rect">
            <a:avLst/>
          </a:prstGeom>
        </p:spPr>
      </p:pic>
      <p:sp>
        <p:nvSpPr>
          <p:cNvPr id="2" name="Marcador de texto vertical 1">
            <a:extLst>
              <a:ext uri="{FF2B5EF4-FFF2-40B4-BE49-F238E27FC236}">
                <a16:creationId xmlns:a16="http://schemas.microsoft.com/office/drawing/2014/main" id="{CC591019-7801-FF23-B4D3-1A01C04BDF93}"/>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48D3B5E5-B08A-03D0-B06B-85EBA8301C4C}"/>
              </a:ext>
            </a:extLst>
          </p:cNvPr>
          <p:cNvSpPr>
            <a:spLocks noGrp="1"/>
          </p:cNvSpPr>
          <p:nvPr>
            <p:ph type="title"/>
          </p:nvPr>
        </p:nvSpPr>
        <p:spPr>
          <a:xfrm>
            <a:off x="938996" y="304614"/>
            <a:ext cx="10477497" cy="898555"/>
          </a:xfrm>
        </p:spPr>
        <p:txBody>
          <a:bodyPr/>
          <a:lstStyle/>
          <a:p>
            <a:r>
              <a:rPr lang="es-ES_tradnl" dirty="0">
                <a:solidFill>
                  <a:schemeClr val="tx2"/>
                </a:solidFill>
              </a:rPr>
              <a:t>Crear archivo plano </a:t>
            </a:r>
          </a:p>
        </p:txBody>
      </p:sp>
      <p:sp>
        <p:nvSpPr>
          <p:cNvPr id="7" name="Rectángulo: esquinas redondeadas 6">
            <a:extLst>
              <a:ext uri="{FF2B5EF4-FFF2-40B4-BE49-F238E27FC236}">
                <a16:creationId xmlns:a16="http://schemas.microsoft.com/office/drawing/2014/main" id="{D4492B5F-52A3-CD0E-919A-AE26578B70ED}"/>
              </a:ext>
            </a:extLst>
          </p:cNvPr>
          <p:cNvSpPr/>
          <p:nvPr/>
        </p:nvSpPr>
        <p:spPr>
          <a:xfrm>
            <a:off x="4095209" y="3630323"/>
            <a:ext cx="5297516" cy="89392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debe crear un archivo CSV con los ID de los estudiantes. Ingrese un título de la columna en A1</a:t>
            </a:r>
          </a:p>
        </p:txBody>
      </p:sp>
      <p:sp>
        <p:nvSpPr>
          <p:cNvPr id="15" name="Rectángulo redondeado 15">
            <a:extLst>
              <a:ext uri="{FF2B5EF4-FFF2-40B4-BE49-F238E27FC236}">
                <a16:creationId xmlns:a16="http://schemas.microsoft.com/office/drawing/2014/main" id="{37F2E453-C705-D29A-2287-BF340D9969A5}"/>
              </a:ext>
            </a:extLst>
          </p:cNvPr>
          <p:cNvSpPr/>
          <p:nvPr/>
        </p:nvSpPr>
        <p:spPr>
          <a:xfrm>
            <a:off x="2888827" y="4368105"/>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15">
            <a:extLst>
              <a:ext uri="{FF2B5EF4-FFF2-40B4-BE49-F238E27FC236}">
                <a16:creationId xmlns:a16="http://schemas.microsoft.com/office/drawing/2014/main" id="{6D6B969D-07CD-CA50-A325-ACBCB9B8E6F0}"/>
              </a:ext>
            </a:extLst>
          </p:cNvPr>
          <p:cNvSpPr/>
          <p:nvPr/>
        </p:nvSpPr>
        <p:spPr>
          <a:xfrm>
            <a:off x="973705" y="3831471"/>
            <a:ext cx="1669907" cy="12294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pic>
        <p:nvPicPr>
          <p:cNvPr id="5" name="Imagen 4">
            <a:extLst>
              <a:ext uri="{FF2B5EF4-FFF2-40B4-BE49-F238E27FC236}">
                <a16:creationId xmlns:a16="http://schemas.microsoft.com/office/drawing/2014/main" id="{A29279A1-A674-2E16-3653-5A634289928C}"/>
              </a:ext>
            </a:extLst>
          </p:cNvPr>
          <p:cNvPicPr>
            <a:picLocks noChangeAspect="1"/>
          </p:cNvPicPr>
          <p:nvPr/>
        </p:nvPicPr>
        <p:blipFill>
          <a:blip r:embed="rId4"/>
          <a:stretch>
            <a:fillRect/>
          </a:stretch>
        </p:blipFill>
        <p:spPr>
          <a:xfrm>
            <a:off x="1381125" y="5555161"/>
            <a:ext cx="4381500" cy="790575"/>
          </a:xfrm>
          <a:prstGeom prst="rect">
            <a:avLst/>
          </a:prstGeom>
        </p:spPr>
      </p:pic>
      <p:sp>
        <p:nvSpPr>
          <p:cNvPr id="8" name="Rectángulo 7">
            <a:extLst>
              <a:ext uri="{FF2B5EF4-FFF2-40B4-BE49-F238E27FC236}">
                <a16:creationId xmlns:a16="http://schemas.microsoft.com/office/drawing/2014/main" id="{E3893BA9-64F3-97E2-2411-916CE5DE0409}"/>
              </a:ext>
            </a:extLst>
          </p:cNvPr>
          <p:cNvSpPr/>
          <p:nvPr/>
        </p:nvSpPr>
        <p:spPr>
          <a:xfrm>
            <a:off x="1808658" y="5996700"/>
            <a:ext cx="3452664" cy="21039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42777961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96687-4A7A-318F-3A29-626A6D567D8A}"/>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B3741E05-2990-A585-C52C-86786345D3A3}"/>
              </a:ext>
            </a:extLst>
          </p:cNvPr>
          <p:cNvPicPr>
            <a:picLocks noChangeAspect="1"/>
          </p:cNvPicPr>
          <p:nvPr/>
        </p:nvPicPr>
        <p:blipFill>
          <a:blip r:embed="rId3"/>
          <a:stretch>
            <a:fillRect/>
          </a:stretch>
        </p:blipFill>
        <p:spPr>
          <a:xfrm>
            <a:off x="492610" y="1126707"/>
            <a:ext cx="11699390" cy="4966722"/>
          </a:xfrm>
          <a:prstGeom prst="rect">
            <a:avLst/>
          </a:prstGeom>
        </p:spPr>
      </p:pic>
      <p:sp>
        <p:nvSpPr>
          <p:cNvPr id="2" name="Marcador de texto vertical 1">
            <a:extLst>
              <a:ext uri="{FF2B5EF4-FFF2-40B4-BE49-F238E27FC236}">
                <a16:creationId xmlns:a16="http://schemas.microsoft.com/office/drawing/2014/main" id="{C941ECCE-2B23-46B7-0E75-86E789E2E136}"/>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0AAC0D77-FC0E-2A29-34F2-DB77191D774E}"/>
              </a:ext>
            </a:extLst>
          </p:cNvPr>
          <p:cNvSpPr>
            <a:spLocks noGrp="1"/>
          </p:cNvSpPr>
          <p:nvPr>
            <p:ph type="title"/>
          </p:nvPr>
        </p:nvSpPr>
        <p:spPr>
          <a:xfrm>
            <a:off x="938996" y="304614"/>
            <a:ext cx="10477497" cy="898555"/>
          </a:xfrm>
        </p:spPr>
        <p:txBody>
          <a:bodyPr/>
          <a:lstStyle/>
          <a:p>
            <a:r>
              <a:rPr lang="es-419" dirty="0">
                <a:solidFill>
                  <a:schemeClr val="tx2"/>
                </a:solidFill>
              </a:rPr>
              <a:t>Cargar archivo (GJAJFLU)</a:t>
            </a:r>
            <a:endParaRPr lang="es-ES_tradnl" dirty="0">
              <a:solidFill>
                <a:schemeClr val="tx2"/>
              </a:solidFill>
            </a:endParaRPr>
          </a:p>
        </p:txBody>
      </p:sp>
      <p:sp>
        <p:nvSpPr>
          <p:cNvPr id="7" name="Rectángulo: esquinas redondeadas 6">
            <a:extLst>
              <a:ext uri="{FF2B5EF4-FFF2-40B4-BE49-F238E27FC236}">
                <a16:creationId xmlns:a16="http://schemas.microsoft.com/office/drawing/2014/main" id="{C7DBCBF8-C5CF-6553-0430-49CE71161A96}"/>
              </a:ext>
            </a:extLst>
          </p:cNvPr>
          <p:cNvSpPr/>
          <p:nvPr/>
        </p:nvSpPr>
        <p:spPr>
          <a:xfrm>
            <a:off x="1678175" y="4959424"/>
            <a:ext cx="8431967" cy="154373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a:pPr>
            <a:r>
              <a:rPr lang="es-ES_tradnl" sz="1200" dirty="0"/>
              <a:t>Seleccione el archivo plano que desea cargar, al seleccionarlo aparecerá el nombre del archivo</a:t>
            </a:r>
          </a:p>
          <a:p>
            <a:pPr marL="228600" indent="-228600">
              <a:buFont typeface="+mj-lt"/>
              <a:buAutoNum type="arabicPeriod"/>
            </a:pPr>
            <a:r>
              <a:rPr lang="es-ES_tradnl" sz="1200" dirty="0"/>
              <a:t>Guarde la información</a:t>
            </a:r>
          </a:p>
        </p:txBody>
      </p:sp>
      <p:sp>
        <p:nvSpPr>
          <p:cNvPr id="15" name="Rectángulo redondeado 15">
            <a:extLst>
              <a:ext uri="{FF2B5EF4-FFF2-40B4-BE49-F238E27FC236}">
                <a16:creationId xmlns:a16="http://schemas.microsoft.com/office/drawing/2014/main" id="{3A4F2478-CEEB-C94F-8E53-3D921A92CA20}"/>
              </a:ext>
            </a:extLst>
          </p:cNvPr>
          <p:cNvSpPr/>
          <p:nvPr/>
        </p:nvSpPr>
        <p:spPr>
          <a:xfrm>
            <a:off x="7256464" y="2816033"/>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15">
            <a:extLst>
              <a:ext uri="{FF2B5EF4-FFF2-40B4-BE49-F238E27FC236}">
                <a16:creationId xmlns:a16="http://schemas.microsoft.com/office/drawing/2014/main" id="{A55270A1-7587-DBF2-D278-63C31479870E}"/>
              </a:ext>
            </a:extLst>
          </p:cNvPr>
          <p:cNvSpPr/>
          <p:nvPr/>
        </p:nvSpPr>
        <p:spPr>
          <a:xfrm>
            <a:off x="6944007" y="2572893"/>
            <a:ext cx="1471299" cy="2818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16">
            <a:extLst>
              <a:ext uri="{FF2B5EF4-FFF2-40B4-BE49-F238E27FC236}">
                <a16:creationId xmlns:a16="http://schemas.microsoft.com/office/drawing/2014/main" id="{B2773BC0-1E5A-B878-54F2-BD75EA9E54F0}"/>
              </a:ext>
            </a:extLst>
          </p:cNvPr>
          <p:cNvSpPr/>
          <p:nvPr/>
        </p:nvSpPr>
        <p:spPr>
          <a:xfrm>
            <a:off x="11483490" y="5739817"/>
            <a:ext cx="708510" cy="27168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15">
            <a:extLst>
              <a:ext uri="{FF2B5EF4-FFF2-40B4-BE49-F238E27FC236}">
                <a16:creationId xmlns:a16="http://schemas.microsoft.com/office/drawing/2014/main" id="{0193DE00-7D3B-BA04-44B4-6350491FEA53}"/>
              </a:ext>
            </a:extLst>
          </p:cNvPr>
          <p:cNvSpPr/>
          <p:nvPr/>
        </p:nvSpPr>
        <p:spPr>
          <a:xfrm>
            <a:off x="11178716" y="5898594"/>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Tree>
    <p:extLst>
      <p:ext uri="{BB962C8B-B14F-4D97-AF65-F5344CB8AC3E}">
        <p14:creationId xmlns:p14="http://schemas.microsoft.com/office/powerpoint/2010/main" val="33009095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5CCE8-CD83-E0FD-974B-09461C2A7F51}"/>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AF00E18F-744F-C90D-342A-69C5A1110262}"/>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706EBE57-E7DF-D715-FDEF-B07505091BED}"/>
              </a:ext>
            </a:extLst>
          </p:cNvPr>
          <p:cNvSpPr>
            <a:spLocks noGrp="1"/>
          </p:cNvSpPr>
          <p:nvPr>
            <p:ph type="title"/>
          </p:nvPr>
        </p:nvSpPr>
        <p:spPr>
          <a:xfrm>
            <a:off x="938996" y="304614"/>
            <a:ext cx="10477497" cy="898555"/>
          </a:xfrm>
        </p:spPr>
        <p:txBody>
          <a:bodyPr/>
          <a:lstStyle/>
          <a:p>
            <a:r>
              <a:rPr lang="es-419" dirty="0">
                <a:solidFill>
                  <a:schemeClr val="tx2"/>
                </a:solidFill>
              </a:rPr>
              <a:t>Cargar archivo (GJRJFLU)</a:t>
            </a:r>
            <a:endParaRPr lang="es-ES_tradnl" dirty="0">
              <a:solidFill>
                <a:schemeClr val="tx2"/>
              </a:solidFill>
            </a:endParaRPr>
          </a:p>
        </p:txBody>
      </p:sp>
      <p:sp>
        <p:nvSpPr>
          <p:cNvPr id="7" name="Rectángulo: esquinas redondeadas 6">
            <a:extLst>
              <a:ext uri="{FF2B5EF4-FFF2-40B4-BE49-F238E27FC236}">
                <a16:creationId xmlns:a16="http://schemas.microsoft.com/office/drawing/2014/main" id="{FF1EC03E-178E-F448-C3D2-AD5F15554B11}"/>
              </a:ext>
            </a:extLst>
          </p:cNvPr>
          <p:cNvSpPr/>
          <p:nvPr/>
        </p:nvSpPr>
        <p:spPr>
          <a:xfrm>
            <a:off x="2031017" y="3541591"/>
            <a:ext cx="8431967" cy="154373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El proceso SFRGRUP permite la asignación masiva de grupos de inscripción (SFARGRP) en función a  criterios especificados, facilitando así la asignación de lo que fueran los turnos de inscripción de los estudiantes. </a:t>
            </a:r>
          </a:p>
          <a:p>
            <a:endParaRPr lang="es-ES_tradnl" sz="1200" dirty="0"/>
          </a:p>
          <a:p>
            <a:pPr marL="228600" indent="-228600">
              <a:buFont typeface="+mj-lt"/>
              <a:buAutoNum type="arabicPeriod"/>
            </a:pPr>
            <a:r>
              <a:rPr lang="es-ES_tradnl" sz="1200" dirty="0"/>
              <a:t>Para acceder a SFRGRUP se puede ingresar directamente utilizando el buscador principal o bien ingresando a GJAPCTL y luego seleccionando el proceso SFRGRUP.</a:t>
            </a:r>
          </a:p>
          <a:p>
            <a:pPr marL="228600" indent="-228600">
              <a:buFont typeface="+mj-lt"/>
              <a:buAutoNum type="arabicPeriod"/>
            </a:pPr>
            <a:r>
              <a:rPr lang="es-ES_tradnl" sz="1200" dirty="0"/>
              <a:t>Presione el botón ‘Ir’</a:t>
            </a:r>
          </a:p>
        </p:txBody>
      </p:sp>
      <p:sp>
        <p:nvSpPr>
          <p:cNvPr id="15" name="Rectángulo redondeado 15">
            <a:extLst>
              <a:ext uri="{FF2B5EF4-FFF2-40B4-BE49-F238E27FC236}">
                <a16:creationId xmlns:a16="http://schemas.microsoft.com/office/drawing/2014/main" id="{D77DD932-877D-68FB-9B6A-41F3B7E1B483}"/>
              </a:ext>
            </a:extLst>
          </p:cNvPr>
          <p:cNvSpPr/>
          <p:nvPr/>
        </p:nvSpPr>
        <p:spPr>
          <a:xfrm>
            <a:off x="3155244" y="2416747"/>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15">
            <a:extLst>
              <a:ext uri="{FF2B5EF4-FFF2-40B4-BE49-F238E27FC236}">
                <a16:creationId xmlns:a16="http://schemas.microsoft.com/office/drawing/2014/main" id="{A8D7663E-291A-BD3A-B2D4-4732CAF10A99}"/>
              </a:ext>
            </a:extLst>
          </p:cNvPr>
          <p:cNvSpPr/>
          <p:nvPr/>
        </p:nvSpPr>
        <p:spPr>
          <a:xfrm>
            <a:off x="1265528" y="2147526"/>
            <a:ext cx="1889716" cy="19114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16">
            <a:extLst>
              <a:ext uri="{FF2B5EF4-FFF2-40B4-BE49-F238E27FC236}">
                <a16:creationId xmlns:a16="http://schemas.microsoft.com/office/drawing/2014/main" id="{50611F54-207B-8DAB-1F79-604FFBFE30DA}"/>
              </a:ext>
            </a:extLst>
          </p:cNvPr>
          <p:cNvSpPr/>
          <p:nvPr/>
        </p:nvSpPr>
        <p:spPr>
          <a:xfrm>
            <a:off x="11099800" y="2147525"/>
            <a:ext cx="431800" cy="26922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15">
            <a:extLst>
              <a:ext uri="{FF2B5EF4-FFF2-40B4-BE49-F238E27FC236}">
                <a16:creationId xmlns:a16="http://schemas.microsoft.com/office/drawing/2014/main" id="{9E586934-6C59-3E7D-4610-08D52F0C1E2F}"/>
              </a:ext>
            </a:extLst>
          </p:cNvPr>
          <p:cNvSpPr/>
          <p:nvPr/>
        </p:nvSpPr>
        <p:spPr>
          <a:xfrm>
            <a:off x="10750220" y="2416746"/>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pic>
        <p:nvPicPr>
          <p:cNvPr id="5" name="Imagen 4">
            <a:extLst>
              <a:ext uri="{FF2B5EF4-FFF2-40B4-BE49-F238E27FC236}">
                <a16:creationId xmlns:a16="http://schemas.microsoft.com/office/drawing/2014/main" id="{0F68A695-1A35-B43C-4C31-B1B33069619E}"/>
              </a:ext>
            </a:extLst>
          </p:cNvPr>
          <p:cNvPicPr>
            <a:picLocks noChangeAspect="1"/>
          </p:cNvPicPr>
          <p:nvPr/>
        </p:nvPicPr>
        <p:blipFill>
          <a:blip r:embed="rId3"/>
          <a:stretch>
            <a:fillRect/>
          </a:stretch>
        </p:blipFill>
        <p:spPr>
          <a:xfrm>
            <a:off x="726232" y="1131683"/>
            <a:ext cx="11465767" cy="4905333"/>
          </a:xfrm>
          <a:prstGeom prst="rect">
            <a:avLst/>
          </a:prstGeom>
        </p:spPr>
      </p:pic>
    </p:spTree>
    <p:extLst>
      <p:ext uri="{BB962C8B-B14F-4D97-AF65-F5344CB8AC3E}">
        <p14:creationId xmlns:p14="http://schemas.microsoft.com/office/powerpoint/2010/main" val="15427733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D7130-F9AD-95D4-2F9F-A2CCDF7ECEED}"/>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7E4837EB-13FC-8A08-2A35-B2C216B32DA5}"/>
              </a:ext>
            </a:extLst>
          </p:cNvPr>
          <p:cNvPicPr>
            <a:picLocks noChangeAspect="1"/>
          </p:cNvPicPr>
          <p:nvPr/>
        </p:nvPicPr>
        <p:blipFill>
          <a:blip r:embed="rId3"/>
          <a:stretch>
            <a:fillRect/>
          </a:stretch>
        </p:blipFill>
        <p:spPr>
          <a:xfrm>
            <a:off x="938996" y="981286"/>
            <a:ext cx="11178668" cy="4895425"/>
          </a:xfrm>
          <a:prstGeom prst="rect">
            <a:avLst/>
          </a:prstGeom>
        </p:spPr>
      </p:pic>
      <p:sp>
        <p:nvSpPr>
          <p:cNvPr id="2" name="Marcador de texto vertical 1">
            <a:extLst>
              <a:ext uri="{FF2B5EF4-FFF2-40B4-BE49-F238E27FC236}">
                <a16:creationId xmlns:a16="http://schemas.microsoft.com/office/drawing/2014/main" id="{D38B927C-330F-6B9B-3D82-8C3CF3C7CA14}"/>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AA2E8D69-7F41-3E75-6605-96F564B19596}"/>
              </a:ext>
            </a:extLst>
          </p:cNvPr>
          <p:cNvSpPr>
            <a:spLocks noGrp="1"/>
          </p:cNvSpPr>
          <p:nvPr>
            <p:ph type="title"/>
          </p:nvPr>
        </p:nvSpPr>
        <p:spPr>
          <a:xfrm>
            <a:off x="938996" y="304614"/>
            <a:ext cx="10477497" cy="898555"/>
          </a:xfrm>
        </p:spPr>
        <p:txBody>
          <a:bodyPr/>
          <a:lstStyle/>
          <a:p>
            <a:r>
              <a:rPr lang="es-419" dirty="0">
                <a:solidFill>
                  <a:schemeClr val="tx2"/>
                </a:solidFill>
              </a:rPr>
              <a:t>Importar los ID - GJRPSIM</a:t>
            </a:r>
            <a:endParaRPr lang="es-ES_tradnl" dirty="0">
              <a:solidFill>
                <a:schemeClr val="tx2"/>
              </a:solidFill>
            </a:endParaRPr>
          </a:p>
        </p:txBody>
      </p:sp>
      <p:sp>
        <p:nvSpPr>
          <p:cNvPr id="7" name="Rectángulo: esquinas redondeadas 6">
            <a:extLst>
              <a:ext uri="{FF2B5EF4-FFF2-40B4-BE49-F238E27FC236}">
                <a16:creationId xmlns:a16="http://schemas.microsoft.com/office/drawing/2014/main" id="{21FCF9BF-EA57-2154-40DB-D4BACE25D34D}"/>
              </a:ext>
            </a:extLst>
          </p:cNvPr>
          <p:cNvSpPr/>
          <p:nvPr/>
        </p:nvSpPr>
        <p:spPr>
          <a:xfrm>
            <a:off x="2318253" y="4822333"/>
            <a:ext cx="8431967" cy="163547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Este proceso carga los ID en la página GLAEXTR e ingrese DATABASE en el campo de Impresora</a:t>
            </a:r>
          </a:p>
          <a:p>
            <a:r>
              <a:rPr lang="es-ES_tradnl" sz="1200" dirty="0"/>
              <a:t>01. Ingrese el ID de la aplicación  </a:t>
            </a:r>
          </a:p>
          <a:p>
            <a:r>
              <a:rPr lang="es-ES_tradnl" sz="1200" dirty="0"/>
              <a:t>02. Ingrese el ID de la selección</a:t>
            </a:r>
          </a:p>
          <a:p>
            <a:r>
              <a:rPr lang="es-ES_tradnl" sz="1200" dirty="0"/>
              <a:t>03. Ingrese el usuario que creo la selección de población</a:t>
            </a:r>
          </a:p>
          <a:p>
            <a:r>
              <a:rPr lang="es-ES_tradnl" sz="1200" dirty="0"/>
              <a:t>04. Si no marco la selección de población como Manual, ingrese ‘S’</a:t>
            </a:r>
          </a:p>
          <a:p>
            <a:r>
              <a:rPr lang="es-ES_tradnl" sz="1200" dirty="0"/>
              <a:t>05. Ingrese ‘I’ si el archivo plano contine ID o P si contiene </a:t>
            </a:r>
            <a:r>
              <a:rPr lang="es-ES_tradnl" sz="1200" dirty="0" err="1"/>
              <a:t>PIDMs</a:t>
            </a:r>
            <a:endParaRPr lang="es-ES_tradnl" sz="1200" dirty="0"/>
          </a:p>
          <a:p>
            <a:r>
              <a:rPr lang="es-ES_tradnl" sz="1200" dirty="0"/>
              <a:t>06. Nombre del archivo plano</a:t>
            </a:r>
          </a:p>
          <a:p>
            <a:r>
              <a:rPr lang="es-ES_tradnl" sz="1200" dirty="0"/>
              <a:t>07. Depurar: Y para borrar los datos cargados previamente.</a:t>
            </a:r>
          </a:p>
          <a:p>
            <a:r>
              <a:rPr lang="es-ES_tradnl" sz="1200" dirty="0"/>
              <a:t>08 y 09 ingrese ‘N’</a:t>
            </a:r>
          </a:p>
        </p:txBody>
      </p:sp>
    </p:spTree>
    <p:extLst>
      <p:ext uri="{BB962C8B-B14F-4D97-AF65-F5344CB8AC3E}">
        <p14:creationId xmlns:p14="http://schemas.microsoft.com/office/powerpoint/2010/main" val="38626309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1CABD-07B7-BA02-72F5-0C4035D52FB0}"/>
            </a:ext>
          </a:extLst>
        </p:cNvPr>
        <p:cNvGrpSpPr/>
        <p:nvPr/>
      </p:nvGrpSpPr>
      <p:grpSpPr>
        <a:xfrm>
          <a:off x="0" y="0"/>
          <a:ext cx="0" cy="0"/>
          <a:chOff x="0" y="0"/>
          <a:chExt cx="0" cy="0"/>
        </a:xfrm>
      </p:grpSpPr>
      <p:pic>
        <p:nvPicPr>
          <p:cNvPr id="19" name="Imagen 18">
            <a:extLst>
              <a:ext uri="{FF2B5EF4-FFF2-40B4-BE49-F238E27FC236}">
                <a16:creationId xmlns:a16="http://schemas.microsoft.com/office/drawing/2014/main" id="{373D86EA-21E6-460C-A5D1-09285E51484B}"/>
              </a:ext>
            </a:extLst>
          </p:cNvPr>
          <p:cNvPicPr>
            <a:picLocks noChangeAspect="1"/>
          </p:cNvPicPr>
          <p:nvPr/>
        </p:nvPicPr>
        <p:blipFill>
          <a:blip r:embed="rId3"/>
          <a:stretch>
            <a:fillRect/>
          </a:stretch>
        </p:blipFill>
        <p:spPr>
          <a:xfrm>
            <a:off x="775507" y="900118"/>
            <a:ext cx="11075560" cy="4811940"/>
          </a:xfrm>
          <a:prstGeom prst="rect">
            <a:avLst/>
          </a:prstGeom>
        </p:spPr>
      </p:pic>
      <p:sp>
        <p:nvSpPr>
          <p:cNvPr id="2" name="Marcador de texto vertical 1">
            <a:extLst>
              <a:ext uri="{FF2B5EF4-FFF2-40B4-BE49-F238E27FC236}">
                <a16:creationId xmlns:a16="http://schemas.microsoft.com/office/drawing/2014/main" id="{9270489C-E610-21FE-C584-CDDF7C40D164}"/>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82A620F0-BF07-CF1C-84EF-60785D82C529}"/>
              </a:ext>
            </a:extLst>
          </p:cNvPr>
          <p:cNvSpPr>
            <a:spLocks noGrp="1"/>
          </p:cNvSpPr>
          <p:nvPr>
            <p:ph type="title"/>
          </p:nvPr>
        </p:nvSpPr>
        <p:spPr>
          <a:xfrm>
            <a:off x="938996" y="304614"/>
            <a:ext cx="10477497" cy="898555"/>
          </a:xfrm>
        </p:spPr>
        <p:txBody>
          <a:bodyPr/>
          <a:lstStyle/>
          <a:p>
            <a:r>
              <a:rPr lang="es-419" dirty="0">
                <a:solidFill>
                  <a:schemeClr val="tx2"/>
                </a:solidFill>
              </a:rPr>
              <a:t>Importar los ID</a:t>
            </a:r>
            <a:endParaRPr lang="es-ES_tradnl" dirty="0">
              <a:solidFill>
                <a:schemeClr val="tx2"/>
              </a:solidFill>
            </a:endParaRPr>
          </a:p>
        </p:txBody>
      </p:sp>
      <p:sp>
        <p:nvSpPr>
          <p:cNvPr id="7" name="Rectángulo: esquinas redondeadas 6">
            <a:extLst>
              <a:ext uri="{FF2B5EF4-FFF2-40B4-BE49-F238E27FC236}">
                <a16:creationId xmlns:a16="http://schemas.microsoft.com/office/drawing/2014/main" id="{05C4660D-F022-050C-0648-59830C1E37D5}"/>
              </a:ext>
            </a:extLst>
          </p:cNvPr>
          <p:cNvSpPr/>
          <p:nvPr/>
        </p:nvSpPr>
        <p:spPr>
          <a:xfrm>
            <a:off x="4353381" y="5578874"/>
            <a:ext cx="4049495" cy="103568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1. Seleccionar bloque siguiente</a:t>
            </a:r>
          </a:p>
          <a:p>
            <a:r>
              <a:rPr lang="es-ES_tradnl" sz="1200" dirty="0"/>
              <a:t>2. Verifique que el botón de Enviar esté marcado</a:t>
            </a:r>
          </a:p>
          <a:p>
            <a:r>
              <a:rPr lang="es-ES_tradnl" sz="1200" dirty="0"/>
              <a:t>3. Guarde la información</a:t>
            </a:r>
          </a:p>
        </p:txBody>
      </p:sp>
      <p:sp>
        <p:nvSpPr>
          <p:cNvPr id="15" name="Rectángulo redondeado 15">
            <a:extLst>
              <a:ext uri="{FF2B5EF4-FFF2-40B4-BE49-F238E27FC236}">
                <a16:creationId xmlns:a16="http://schemas.microsoft.com/office/drawing/2014/main" id="{7FEA8ED2-9199-F3CB-B8A7-211FDCE7B3D6}"/>
              </a:ext>
            </a:extLst>
          </p:cNvPr>
          <p:cNvSpPr/>
          <p:nvPr/>
        </p:nvSpPr>
        <p:spPr>
          <a:xfrm>
            <a:off x="1549225" y="5520807"/>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15">
            <a:extLst>
              <a:ext uri="{FF2B5EF4-FFF2-40B4-BE49-F238E27FC236}">
                <a16:creationId xmlns:a16="http://schemas.microsoft.com/office/drawing/2014/main" id="{1A24976D-083A-D5E8-5505-76839D39CE4A}"/>
              </a:ext>
            </a:extLst>
          </p:cNvPr>
          <p:cNvSpPr/>
          <p:nvPr/>
        </p:nvSpPr>
        <p:spPr>
          <a:xfrm>
            <a:off x="1103856" y="5465717"/>
            <a:ext cx="398352" cy="26632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16">
            <a:extLst>
              <a:ext uri="{FF2B5EF4-FFF2-40B4-BE49-F238E27FC236}">
                <a16:creationId xmlns:a16="http://schemas.microsoft.com/office/drawing/2014/main" id="{921EFB62-8F66-EE0C-112E-F86E576D0DB5}"/>
              </a:ext>
            </a:extLst>
          </p:cNvPr>
          <p:cNvSpPr/>
          <p:nvPr/>
        </p:nvSpPr>
        <p:spPr>
          <a:xfrm>
            <a:off x="7728750" y="4967705"/>
            <a:ext cx="431800" cy="26922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15">
            <a:extLst>
              <a:ext uri="{FF2B5EF4-FFF2-40B4-BE49-F238E27FC236}">
                <a16:creationId xmlns:a16="http://schemas.microsoft.com/office/drawing/2014/main" id="{7F9B2B11-0B02-38CE-3CBA-C3EA40E6CD56}"/>
              </a:ext>
            </a:extLst>
          </p:cNvPr>
          <p:cNvSpPr/>
          <p:nvPr/>
        </p:nvSpPr>
        <p:spPr>
          <a:xfrm>
            <a:off x="8207567" y="4983236"/>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B5F51E28-EC18-F444-E4F5-4048A97BFF3B}"/>
              </a:ext>
            </a:extLst>
          </p:cNvPr>
          <p:cNvSpPr/>
          <p:nvPr/>
        </p:nvSpPr>
        <p:spPr>
          <a:xfrm>
            <a:off x="11157038" y="5409006"/>
            <a:ext cx="538918" cy="26632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E60C1F62-D9BF-6506-A50B-C0816CC4A4B1}"/>
              </a:ext>
            </a:extLst>
          </p:cNvPr>
          <p:cNvSpPr/>
          <p:nvPr/>
        </p:nvSpPr>
        <p:spPr>
          <a:xfrm>
            <a:off x="10969255" y="5651733"/>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Tree>
    <p:extLst>
      <p:ext uri="{BB962C8B-B14F-4D97-AF65-F5344CB8AC3E}">
        <p14:creationId xmlns:p14="http://schemas.microsoft.com/office/powerpoint/2010/main" val="26058633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FF013-14C2-18D2-2779-2C96F66AF77A}"/>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E3928893-F290-64CB-3CCD-81DBBD5436C6}"/>
              </a:ext>
            </a:extLst>
          </p:cNvPr>
          <p:cNvPicPr>
            <a:picLocks noChangeAspect="1"/>
          </p:cNvPicPr>
          <p:nvPr/>
        </p:nvPicPr>
        <p:blipFill>
          <a:blip r:embed="rId3"/>
          <a:stretch>
            <a:fillRect/>
          </a:stretch>
        </p:blipFill>
        <p:spPr>
          <a:xfrm>
            <a:off x="819283" y="3930822"/>
            <a:ext cx="10727425" cy="1919230"/>
          </a:xfrm>
          <a:prstGeom prst="rect">
            <a:avLst/>
          </a:prstGeom>
        </p:spPr>
      </p:pic>
      <p:pic>
        <p:nvPicPr>
          <p:cNvPr id="4" name="Imagen 3">
            <a:extLst>
              <a:ext uri="{FF2B5EF4-FFF2-40B4-BE49-F238E27FC236}">
                <a16:creationId xmlns:a16="http://schemas.microsoft.com/office/drawing/2014/main" id="{7E8CF745-E871-71F4-1BD3-155403008027}"/>
              </a:ext>
            </a:extLst>
          </p:cNvPr>
          <p:cNvPicPr>
            <a:picLocks noChangeAspect="1"/>
          </p:cNvPicPr>
          <p:nvPr/>
        </p:nvPicPr>
        <p:blipFill>
          <a:blip r:embed="rId4"/>
          <a:stretch>
            <a:fillRect/>
          </a:stretch>
        </p:blipFill>
        <p:spPr>
          <a:xfrm>
            <a:off x="729535" y="916237"/>
            <a:ext cx="11385796" cy="1261766"/>
          </a:xfrm>
          <a:prstGeom prst="rect">
            <a:avLst/>
          </a:prstGeom>
        </p:spPr>
      </p:pic>
      <p:sp>
        <p:nvSpPr>
          <p:cNvPr id="2" name="Marcador de texto vertical 1">
            <a:extLst>
              <a:ext uri="{FF2B5EF4-FFF2-40B4-BE49-F238E27FC236}">
                <a16:creationId xmlns:a16="http://schemas.microsoft.com/office/drawing/2014/main" id="{62139ED8-EB7D-E283-9ACF-D0DA0914FC55}"/>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7A5D0BC0-A920-9E66-C6AF-D86B8BC34C05}"/>
              </a:ext>
            </a:extLst>
          </p:cNvPr>
          <p:cNvSpPr>
            <a:spLocks noGrp="1"/>
          </p:cNvSpPr>
          <p:nvPr>
            <p:ph type="title"/>
          </p:nvPr>
        </p:nvSpPr>
        <p:spPr>
          <a:xfrm>
            <a:off x="938996" y="304614"/>
            <a:ext cx="10477497" cy="898555"/>
          </a:xfrm>
        </p:spPr>
        <p:txBody>
          <a:bodyPr/>
          <a:lstStyle/>
          <a:p>
            <a:r>
              <a:rPr lang="es-419" dirty="0">
                <a:solidFill>
                  <a:schemeClr val="tx2"/>
                </a:solidFill>
              </a:rPr>
              <a:t>Importar los ID</a:t>
            </a:r>
            <a:endParaRPr lang="es-ES_tradnl" dirty="0">
              <a:solidFill>
                <a:schemeClr val="tx2"/>
              </a:solidFill>
            </a:endParaRPr>
          </a:p>
        </p:txBody>
      </p:sp>
      <p:sp>
        <p:nvSpPr>
          <p:cNvPr id="7" name="Rectángulo: esquinas redondeadas 6">
            <a:extLst>
              <a:ext uri="{FF2B5EF4-FFF2-40B4-BE49-F238E27FC236}">
                <a16:creationId xmlns:a16="http://schemas.microsoft.com/office/drawing/2014/main" id="{BB92EADC-4667-C259-77BD-3369DDE3D31F}"/>
              </a:ext>
            </a:extLst>
          </p:cNvPr>
          <p:cNvSpPr/>
          <p:nvPr/>
        </p:nvSpPr>
        <p:spPr>
          <a:xfrm>
            <a:off x="4563729" y="685800"/>
            <a:ext cx="3596821" cy="50182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Al guardar el sistema genera los log del proceso</a:t>
            </a:r>
          </a:p>
        </p:txBody>
      </p:sp>
      <p:sp>
        <p:nvSpPr>
          <p:cNvPr id="17" name="Rectángulo 16">
            <a:extLst>
              <a:ext uri="{FF2B5EF4-FFF2-40B4-BE49-F238E27FC236}">
                <a16:creationId xmlns:a16="http://schemas.microsoft.com/office/drawing/2014/main" id="{17D03EC7-EBCD-DE13-9EEB-DA89FDB90840}"/>
              </a:ext>
            </a:extLst>
          </p:cNvPr>
          <p:cNvSpPr/>
          <p:nvPr/>
        </p:nvSpPr>
        <p:spPr>
          <a:xfrm>
            <a:off x="9782091" y="3975771"/>
            <a:ext cx="431800" cy="26922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7">
            <a:extLst>
              <a:ext uri="{FF2B5EF4-FFF2-40B4-BE49-F238E27FC236}">
                <a16:creationId xmlns:a16="http://schemas.microsoft.com/office/drawing/2014/main" id="{C858E30E-5170-9A10-B84C-2266B69EF6F9}"/>
              </a:ext>
            </a:extLst>
          </p:cNvPr>
          <p:cNvSpPr/>
          <p:nvPr/>
        </p:nvSpPr>
        <p:spPr>
          <a:xfrm>
            <a:off x="9581733" y="4624108"/>
            <a:ext cx="1264317" cy="26632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esquinas redondeadas 11">
            <a:extLst>
              <a:ext uri="{FF2B5EF4-FFF2-40B4-BE49-F238E27FC236}">
                <a16:creationId xmlns:a16="http://schemas.microsoft.com/office/drawing/2014/main" id="{3695EA08-3A0C-B33F-B7B0-1C1309E4040C}"/>
              </a:ext>
            </a:extLst>
          </p:cNvPr>
          <p:cNvSpPr/>
          <p:nvPr/>
        </p:nvSpPr>
        <p:spPr>
          <a:xfrm>
            <a:off x="5386085" y="3428999"/>
            <a:ext cx="3042691" cy="50182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Seleccione Revisar salida (GJIREVO)</a:t>
            </a:r>
          </a:p>
        </p:txBody>
      </p:sp>
    </p:spTree>
    <p:extLst>
      <p:ext uri="{BB962C8B-B14F-4D97-AF65-F5344CB8AC3E}">
        <p14:creationId xmlns:p14="http://schemas.microsoft.com/office/powerpoint/2010/main" val="41947303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A33BE-49E2-41E5-0E66-F10CF871DAFE}"/>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764833FF-40AE-FDAD-320B-84DE186B88FF}"/>
              </a:ext>
            </a:extLst>
          </p:cNvPr>
          <p:cNvPicPr>
            <a:picLocks noChangeAspect="1"/>
          </p:cNvPicPr>
          <p:nvPr/>
        </p:nvPicPr>
        <p:blipFill>
          <a:blip r:embed="rId3"/>
          <a:stretch>
            <a:fillRect/>
          </a:stretch>
        </p:blipFill>
        <p:spPr>
          <a:xfrm>
            <a:off x="819283" y="3930822"/>
            <a:ext cx="10727425" cy="1919230"/>
          </a:xfrm>
          <a:prstGeom prst="rect">
            <a:avLst/>
          </a:prstGeom>
        </p:spPr>
      </p:pic>
      <p:pic>
        <p:nvPicPr>
          <p:cNvPr id="4" name="Imagen 3">
            <a:extLst>
              <a:ext uri="{FF2B5EF4-FFF2-40B4-BE49-F238E27FC236}">
                <a16:creationId xmlns:a16="http://schemas.microsoft.com/office/drawing/2014/main" id="{65E73682-BA20-6E28-496B-CCB562984FDD}"/>
              </a:ext>
            </a:extLst>
          </p:cNvPr>
          <p:cNvPicPr>
            <a:picLocks noChangeAspect="1"/>
          </p:cNvPicPr>
          <p:nvPr/>
        </p:nvPicPr>
        <p:blipFill>
          <a:blip r:embed="rId4"/>
          <a:stretch>
            <a:fillRect/>
          </a:stretch>
        </p:blipFill>
        <p:spPr>
          <a:xfrm>
            <a:off x="729535" y="916237"/>
            <a:ext cx="11385796" cy="1261766"/>
          </a:xfrm>
          <a:prstGeom prst="rect">
            <a:avLst/>
          </a:prstGeom>
        </p:spPr>
      </p:pic>
      <p:sp>
        <p:nvSpPr>
          <p:cNvPr id="2" name="Marcador de texto vertical 1">
            <a:extLst>
              <a:ext uri="{FF2B5EF4-FFF2-40B4-BE49-F238E27FC236}">
                <a16:creationId xmlns:a16="http://schemas.microsoft.com/office/drawing/2014/main" id="{DAF89ACE-584B-2954-0EB0-578FC704C02C}"/>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6D4B55B4-F511-8C03-7970-318BBA1D24AC}"/>
              </a:ext>
            </a:extLst>
          </p:cNvPr>
          <p:cNvSpPr>
            <a:spLocks noGrp="1"/>
          </p:cNvSpPr>
          <p:nvPr>
            <p:ph type="title"/>
          </p:nvPr>
        </p:nvSpPr>
        <p:spPr>
          <a:xfrm>
            <a:off x="938996" y="304614"/>
            <a:ext cx="10477497" cy="898555"/>
          </a:xfrm>
        </p:spPr>
        <p:txBody>
          <a:bodyPr/>
          <a:lstStyle/>
          <a:p>
            <a:r>
              <a:rPr lang="es-419" dirty="0">
                <a:solidFill>
                  <a:schemeClr val="tx2"/>
                </a:solidFill>
              </a:rPr>
              <a:t>Importar los ID</a:t>
            </a:r>
            <a:endParaRPr lang="es-ES_tradnl" dirty="0">
              <a:solidFill>
                <a:schemeClr val="tx2"/>
              </a:solidFill>
            </a:endParaRPr>
          </a:p>
        </p:txBody>
      </p:sp>
      <p:sp>
        <p:nvSpPr>
          <p:cNvPr id="7" name="Rectángulo: esquinas redondeadas 6">
            <a:extLst>
              <a:ext uri="{FF2B5EF4-FFF2-40B4-BE49-F238E27FC236}">
                <a16:creationId xmlns:a16="http://schemas.microsoft.com/office/drawing/2014/main" id="{6490608A-547B-33FB-A4BC-C06B5F02B584}"/>
              </a:ext>
            </a:extLst>
          </p:cNvPr>
          <p:cNvSpPr/>
          <p:nvPr/>
        </p:nvSpPr>
        <p:spPr>
          <a:xfrm>
            <a:off x="4563729" y="685800"/>
            <a:ext cx="3596821" cy="50182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Al guardar el sistema genera los log del proceso</a:t>
            </a:r>
          </a:p>
        </p:txBody>
      </p:sp>
      <p:sp>
        <p:nvSpPr>
          <p:cNvPr id="17" name="Rectángulo 16">
            <a:extLst>
              <a:ext uri="{FF2B5EF4-FFF2-40B4-BE49-F238E27FC236}">
                <a16:creationId xmlns:a16="http://schemas.microsoft.com/office/drawing/2014/main" id="{FCADB828-DDAB-0D3D-6E89-08FF1EDAF11F}"/>
              </a:ext>
            </a:extLst>
          </p:cNvPr>
          <p:cNvSpPr/>
          <p:nvPr/>
        </p:nvSpPr>
        <p:spPr>
          <a:xfrm>
            <a:off x="9782091" y="3975771"/>
            <a:ext cx="431800" cy="26922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7">
            <a:extLst>
              <a:ext uri="{FF2B5EF4-FFF2-40B4-BE49-F238E27FC236}">
                <a16:creationId xmlns:a16="http://schemas.microsoft.com/office/drawing/2014/main" id="{7E74706A-218A-E2FA-85ED-1BE2CB4D7B44}"/>
              </a:ext>
            </a:extLst>
          </p:cNvPr>
          <p:cNvSpPr/>
          <p:nvPr/>
        </p:nvSpPr>
        <p:spPr>
          <a:xfrm>
            <a:off x="9581733" y="4624108"/>
            <a:ext cx="1264317" cy="26632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esquinas redondeadas 11">
            <a:extLst>
              <a:ext uri="{FF2B5EF4-FFF2-40B4-BE49-F238E27FC236}">
                <a16:creationId xmlns:a16="http://schemas.microsoft.com/office/drawing/2014/main" id="{78DDA683-AAB9-68EC-B0D4-5E5730B6A65E}"/>
              </a:ext>
            </a:extLst>
          </p:cNvPr>
          <p:cNvSpPr/>
          <p:nvPr/>
        </p:nvSpPr>
        <p:spPr>
          <a:xfrm>
            <a:off x="5386085" y="3428999"/>
            <a:ext cx="3042691" cy="50182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Seleccione Revisar salida (GJIREVO)</a:t>
            </a:r>
          </a:p>
        </p:txBody>
      </p:sp>
    </p:spTree>
    <p:extLst>
      <p:ext uri="{BB962C8B-B14F-4D97-AF65-F5344CB8AC3E}">
        <p14:creationId xmlns:p14="http://schemas.microsoft.com/office/powerpoint/2010/main" val="33118525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B92BD-4EC4-4ED4-2CA4-73B78F32A7CE}"/>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A42159C1-D732-BC54-2DF0-602B486068E2}"/>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0E859666-62CD-8498-F6D6-0FF2845C1433}"/>
              </a:ext>
            </a:extLst>
          </p:cNvPr>
          <p:cNvSpPr>
            <a:spLocks noGrp="1"/>
          </p:cNvSpPr>
          <p:nvPr>
            <p:ph type="title"/>
          </p:nvPr>
        </p:nvSpPr>
        <p:spPr>
          <a:xfrm>
            <a:off x="938996" y="304614"/>
            <a:ext cx="10477497" cy="898555"/>
          </a:xfrm>
        </p:spPr>
        <p:txBody>
          <a:bodyPr/>
          <a:lstStyle/>
          <a:p>
            <a:r>
              <a:rPr lang="es-419" dirty="0">
                <a:solidFill>
                  <a:schemeClr val="tx2"/>
                </a:solidFill>
              </a:rPr>
              <a:t>Importar los ID</a:t>
            </a:r>
            <a:endParaRPr lang="es-ES_tradnl" dirty="0">
              <a:solidFill>
                <a:schemeClr val="tx2"/>
              </a:solidFill>
            </a:endParaRPr>
          </a:p>
        </p:txBody>
      </p:sp>
      <p:pic>
        <p:nvPicPr>
          <p:cNvPr id="10" name="Imagen 9">
            <a:extLst>
              <a:ext uri="{FF2B5EF4-FFF2-40B4-BE49-F238E27FC236}">
                <a16:creationId xmlns:a16="http://schemas.microsoft.com/office/drawing/2014/main" id="{764224CE-E9A8-AF13-44D8-7FF989654D60}"/>
              </a:ext>
            </a:extLst>
          </p:cNvPr>
          <p:cNvPicPr>
            <a:picLocks noChangeAspect="1"/>
          </p:cNvPicPr>
          <p:nvPr/>
        </p:nvPicPr>
        <p:blipFill>
          <a:blip r:embed="rId3"/>
          <a:stretch>
            <a:fillRect/>
          </a:stretch>
        </p:blipFill>
        <p:spPr>
          <a:xfrm>
            <a:off x="834451" y="1321805"/>
            <a:ext cx="11040678" cy="4381589"/>
          </a:xfrm>
          <a:prstGeom prst="rect">
            <a:avLst/>
          </a:prstGeom>
        </p:spPr>
      </p:pic>
      <p:sp>
        <p:nvSpPr>
          <p:cNvPr id="14" name="Rectángulo 13">
            <a:extLst>
              <a:ext uri="{FF2B5EF4-FFF2-40B4-BE49-F238E27FC236}">
                <a16:creationId xmlns:a16="http://schemas.microsoft.com/office/drawing/2014/main" id="{3406F85B-5E98-ED51-C734-F5CB3F0310C7}"/>
              </a:ext>
            </a:extLst>
          </p:cNvPr>
          <p:cNvSpPr/>
          <p:nvPr/>
        </p:nvSpPr>
        <p:spPr>
          <a:xfrm>
            <a:off x="763658" y="2813415"/>
            <a:ext cx="3093118" cy="2376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dirty="0">
              <a:ln>
                <a:solidFill>
                  <a:schemeClr val="accent1"/>
                </a:solidFill>
              </a:ln>
              <a:noFill/>
            </a:endParaRPr>
          </a:p>
        </p:txBody>
      </p:sp>
      <p:sp>
        <p:nvSpPr>
          <p:cNvPr id="16" name="Rectángulo: esquinas redondeadas 15">
            <a:extLst>
              <a:ext uri="{FF2B5EF4-FFF2-40B4-BE49-F238E27FC236}">
                <a16:creationId xmlns:a16="http://schemas.microsoft.com/office/drawing/2014/main" id="{B2CCDBC4-0F88-DC82-665A-F5B90344B875}"/>
              </a:ext>
            </a:extLst>
          </p:cNvPr>
          <p:cNvSpPr/>
          <p:nvPr/>
        </p:nvSpPr>
        <p:spPr>
          <a:xfrm>
            <a:off x="4221569" y="3178087"/>
            <a:ext cx="3042691" cy="50182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Total de registros cargados</a:t>
            </a:r>
          </a:p>
        </p:txBody>
      </p:sp>
    </p:spTree>
    <p:extLst>
      <p:ext uri="{BB962C8B-B14F-4D97-AF65-F5344CB8AC3E}">
        <p14:creationId xmlns:p14="http://schemas.microsoft.com/office/powerpoint/2010/main" val="33051132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36D3B-C3EF-BC1D-EEB0-BC16EDADD2BD}"/>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4727491A-BD1B-648A-5D4C-AEE1812599A3}"/>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BF101D77-5692-0558-E6BA-BC9F0E8E6ED8}"/>
              </a:ext>
            </a:extLst>
          </p:cNvPr>
          <p:cNvSpPr>
            <a:spLocks noGrp="1"/>
          </p:cNvSpPr>
          <p:nvPr>
            <p:ph type="title"/>
          </p:nvPr>
        </p:nvSpPr>
        <p:spPr>
          <a:xfrm>
            <a:off x="938996" y="304614"/>
            <a:ext cx="10477497" cy="898555"/>
          </a:xfrm>
        </p:spPr>
        <p:txBody>
          <a:bodyPr/>
          <a:lstStyle/>
          <a:p>
            <a:r>
              <a:rPr lang="es-CO" dirty="0">
                <a:solidFill>
                  <a:schemeClr val="tx2"/>
                </a:solidFill>
              </a:rPr>
              <a:t>Datos de extracción de selección de población GLAEXTR</a:t>
            </a:r>
            <a:endParaRPr lang="es-ES_tradnl" dirty="0">
              <a:solidFill>
                <a:schemeClr val="tx2"/>
              </a:solidFill>
            </a:endParaRPr>
          </a:p>
        </p:txBody>
      </p:sp>
      <p:pic>
        <p:nvPicPr>
          <p:cNvPr id="4" name="Imagen 3">
            <a:extLst>
              <a:ext uri="{FF2B5EF4-FFF2-40B4-BE49-F238E27FC236}">
                <a16:creationId xmlns:a16="http://schemas.microsoft.com/office/drawing/2014/main" id="{A59ED85A-8D72-EDC7-6DB4-BBD3EDCFB3FC}"/>
              </a:ext>
            </a:extLst>
          </p:cNvPr>
          <p:cNvPicPr>
            <a:picLocks noChangeAspect="1"/>
          </p:cNvPicPr>
          <p:nvPr/>
        </p:nvPicPr>
        <p:blipFill>
          <a:blip r:embed="rId3"/>
          <a:stretch>
            <a:fillRect/>
          </a:stretch>
        </p:blipFill>
        <p:spPr>
          <a:xfrm>
            <a:off x="1041149" y="1097587"/>
            <a:ext cx="10634804" cy="4662824"/>
          </a:xfrm>
          <a:prstGeom prst="rect">
            <a:avLst/>
          </a:prstGeom>
        </p:spPr>
      </p:pic>
      <p:sp>
        <p:nvSpPr>
          <p:cNvPr id="7" name="Rectángulo: esquinas redondeadas 6">
            <a:extLst>
              <a:ext uri="{FF2B5EF4-FFF2-40B4-BE49-F238E27FC236}">
                <a16:creationId xmlns:a16="http://schemas.microsoft.com/office/drawing/2014/main" id="{3FCF4188-3CD2-EE9D-95D7-96DF688893B9}"/>
              </a:ext>
            </a:extLst>
          </p:cNvPr>
          <p:cNvSpPr/>
          <p:nvPr/>
        </p:nvSpPr>
        <p:spPr>
          <a:xfrm>
            <a:off x="4221569" y="3178087"/>
            <a:ext cx="3042691" cy="50182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pueden visualizar los ID cargados</a:t>
            </a:r>
          </a:p>
        </p:txBody>
      </p:sp>
    </p:spTree>
    <p:extLst>
      <p:ext uri="{BB962C8B-B14F-4D97-AF65-F5344CB8AC3E}">
        <p14:creationId xmlns:p14="http://schemas.microsoft.com/office/powerpoint/2010/main" val="708040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sz="3200" dirty="0"/>
              <a:t>Asignación masiva de grupos  de inscripción - Turnos</a:t>
            </a:r>
            <a:endParaRPr lang="es-419" dirty="0"/>
          </a:p>
        </p:txBody>
      </p:sp>
    </p:spTree>
    <p:extLst>
      <p:ext uri="{BB962C8B-B14F-4D97-AF65-F5344CB8AC3E}">
        <p14:creationId xmlns:p14="http://schemas.microsoft.com/office/powerpoint/2010/main" val="35842529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8088A-76E4-B9DC-DAA1-3118F4355BC8}"/>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703A0EA3-9043-29B7-F446-E3BECB048E1E}"/>
              </a:ext>
            </a:extLst>
          </p:cNvPr>
          <p:cNvPicPr>
            <a:picLocks noChangeAspect="1"/>
          </p:cNvPicPr>
          <p:nvPr/>
        </p:nvPicPr>
        <p:blipFill>
          <a:blip r:embed="rId3"/>
          <a:stretch>
            <a:fillRect/>
          </a:stretch>
        </p:blipFill>
        <p:spPr>
          <a:xfrm>
            <a:off x="833206" y="1800165"/>
            <a:ext cx="10698394" cy="1004230"/>
          </a:xfrm>
          <a:prstGeom prst="rect">
            <a:avLst/>
          </a:prstGeom>
        </p:spPr>
      </p:pic>
      <p:sp>
        <p:nvSpPr>
          <p:cNvPr id="2" name="Marcador de texto vertical 1">
            <a:extLst>
              <a:ext uri="{FF2B5EF4-FFF2-40B4-BE49-F238E27FC236}">
                <a16:creationId xmlns:a16="http://schemas.microsoft.com/office/drawing/2014/main" id="{6AD75F1F-2BFE-C55A-70C8-1FC63DBC6699}"/>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8357D92B-935F-3424-1AD7-09FAC6470B41}"/>
              </a:ext>
            </a:extLst>
          </p:cNvPr>
          <p:cNvSpPr>
            <a:spLocks noGrp="1"/>
          </p:cNvSpPr>
          <p:nvPr>
            <p:ph type="title"/>
          </p:nvPr>
        </p:nvSpPr>
        <p:spPr>
          <a:xfrm>
            <a:off x="938996" y="304614"/>
            <a:ext cx="10477497" cy="898555"/>
          </a:xfrm>
        </p:spPr>
        <p:txBody>
          <a:bodyPr/>
          <a:lstStyle/>
          <a:p>
            <a:r>
              <a:rPr lang="es-419" dirty="0">
                <a:solidFill>
                  <a:schemeClr val="tx2"/>
                </a:solidFill>
              </a:rPr>
              <a:t>Asignación de  grupo de turnos inscripción (SFRGRUP)</a:t>
            </a:r>
            <a:endParaRPr lang="es-ES_tradnl" dirty="0">
              <a:solidFill>
                <a:schemeClr val="tx2"/>
              </a:solidFill>
            </a:endParaRPr>
          </a:p>
        </p:txBody>
      </p:sp>
      <p:sp>
        <p:nvSpPr>
          <p:cNvPr id="7" name="Rectángulo: esquinas redondeadas 6">
            <a:extLst>
              <a:ext uri="{FF2B5EF4-FFF2-40B4-BE49-F238E27FC236}">
                <a16:creationId xmlns:a16="http://schemas.microsoft.com/office/drawing/2014/main" id="{84AFC17B-47A5-1625-5A63-01C7C196AB1D}"/>
              </a:ext>
            </a:extLst>
          </p:cNvPr>
          <p:cNvSpPr/>
          <p:nvPr/>
        </p:nvSpPr>
        <p:spPr>
          <a:xfrm>
            <a:off x="2031017" y="3541591"/>
            <a:ext cx="8431967" cy="1543738"/>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El proceso SFRGRUP permite la asignación masiva de grupos de inscripción (SFARGRP) en función a  criterios especificados, facilitando así la asignación de lo que fueran los turnos de inscripción de los estudiantes. </a:t>
            </a:r>
          </a:p>
          <a:p>
            <a:endParaRPr lang="es-ES_tradnl" sz="1200" dirty="0"/>
          </a:p>
          <a:p>
            <a:pPr marL="228600" indent="-228600">
              <a:buFont typeface="+mj-lt"/>
              <a:buAutoNum type="arabicPeriod"/>
            </a:pPr>
            <a:r>
              <a:rPr lang="es-ES_tradnl" sz="1200" dirty="0"/>
              <a:t>Para acceder a SFRGRUP se puede ingresar directamente utilizando el buscador principal o bien ingresando a GJAPCTL y luego seleccionando el proceso SFRGRUP.</a:t>
            </a:r>
          </a:p>
          <a:p>
            <a:pPr marL="228600" indent="-228600">
              <a:buFont typeface="+mj-lt"/>
              <a:buAutoNum type="arabicPeriod"/>
            </a:pPr>
            <a:r>
              <a:rPr lang="es-ES_tradnl" sz="1200" dirty="0"/>
              <a:t>Presione el botón ‘Ir’</a:t>
            </a:r>
          </a:p>
        </p:txBody>
      </p:sp>
      <p:sp>
        <p:nvSpPr>
          <p:cNvPr id="15" name="Rectángulo redondeado 15">
            <a:extLst>
              <a:ext uri="{FF2B5EF4-FFF2-40B4-BE49-F238E27FC236}">
                <a16:creationId xmlns:a16="http://schemas.microsoft.com/office/drawing/2014/main" id="{E576C4EB-225B-BDBF-057D-C72785D41E73}"/>
              </a:ext>
            </a:extLst>
          </p:cNvPr>
          <p:cNvSpPr/>
          <p:nvPr/>
        </p:nvSpPr>
        <p:spPr>
          <a:xfrm>
            <a:off x="3155244" y="2416747"/>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15">
            <a:extLst>
              <a:ext uri="{FF2B5EF4-FFF2-40B4-BE49-F238E27FC236}">
                <a16:creationId xmlns:a16="http://schemas.microsoft.com/office/drawing/2014/main" id="{E81DC13D-BF82-1FEF-C68A-E46AE03E2E8C}"/>
              </a:ext>
            </a:extLst>
          </p:cNvPr>
          <p:cNvSpPr/>
          <p:nvPr/>
        </p:nvSpPr>
        <p:spPr>
          <a:xfrm>
            <a:off x="1265528" y="2147526"/>
            <a:ext cx="1889716" cy="19114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16">
            <a:extLst>
              <a:ext uri="{FF2B5EF4-FFF2-40B4-BE49-F238E27FC236}">
                <a16:creationId xmlns:a16="http://schemas.microsoft.com/office/drawing/2014/main" id="{67913A8D-F8A8-0FD9-1A17-8D8AAF9E30EE}"/>
              </a:ext>
            </a:extLst>
          </p:cNvPr>
          <p:cNvSpPr/>
          <p:nvPr/>
        </p:nvSpPr>
        <p:spPr>
          <a:xfrm>
            <a:off x="11099800" y="2147525"/>
            <a:ext cx="431800" cy="26922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15">
            <a:extLst>
              <a:ext uri="{FF2B5EF4-FFF2-40B4-BE49-F238E27FC236}">
                <a16:creationId xmlns:a16="http://schemas.microsoft.com/office/drawing/2014/main" id="{887A2491-82AD-EC5A-A3BC-9350A8CAB96C}"/>
              </a:ext>
            </a:extLst>
          </p:cNvPr>
          <p:cNvSpPr/>
          <p:nvPr/>
        </p:nvSpPr>
        <p:spPr>
          <a:xfrm>
            <a:off x="10750220" y="2416746"/>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Tree>
    <p:extLst>
      <p:ext uri="{BB962C8B-B14F-4D97-AF65-F5344CB8AC3E}">
        <p14:creationId xmlns:p14="http://schemas.microsoft.com/office/powerpoint/2010/main" val="34196721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EAD6E-F900-79C7-6091-775C3CE49051}"/>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E9C54C77-D27A-0C93-81B3-13D2043CF5FD}"/>
              </a:ext>
            </a:extLst>
          </p:cNvPr>
          <p:cNvPicPr>
            <a:picLocks noChangeAspect="1"/>
          </p:cNvPicPr>
          <p:nvPr/>
        </p:nvPicPr>
        <p:blipFill>
          <a:blip r:embed="rId3"/>
          <a:stretch>
            <a:fillRect/>
          </a:stretch>
        </p:blipFill>
        <p:spPr>
          <a:xfrm>
            <a:off x="738048" y="1163887"/>
            <a:ext cx="10869752" cy="4713854"/>
          </a:xfrm>
          <a:prstGeom prst="rect">
            <a:avLst/>
          </a:prstGeom>
        </p:spPr>
      </p:pic>
      <p:sp>
        <p:nvSpPr>
          <p:cNvPr id="2" name="Marcador de texto vertical 1">
            <a:extLst>
              <a:ext uri="{FF2B5EF4-FFF2-40B4-BE49-F238E27FC236}">
                <a16:creationId xmlns:a16="http://schemas.microsoft.com/office/drawing/2014/main" id="{72639214-4F70-347F-954C-D5C0E2C54762}"/>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9C5AB5E8-24A6-E486-033D-752D156D2FFA}"/>
              </a:ext>
            </a:extLst>
          </p:cNvPr>
          <p:cNvSpPr>
            <a:spLocks noGrp="1"/>
          </p:cNvSpPr>
          <p:nvPr>
            <p:ph type="title"/>
          </p:nvPr>
        </p:nvSpPr>
        <p:spPr>
          <a:xfrm>
            <a:off x="938996" y="304614"/>
            <a:ext cx="10477497" cy="898555"/>
          </a:xfrm>
        </p:spPr>
        <p:txBody>
          <a:bodyPr/>
          <a:lstStyle/>
          <a:p>
            <a:r>
              <a:rPr lang="es-419" dirty="0">
                <a:solidFill>
                  <a:schemeClr val="tx2"/>
                </a:solidFill>
              </a:rPr>
              <a:t>Asignación de  grupo de turnos inscripción (SFRGRUP)</a:t>
            </a:r>
            <a:endParaRPr lang="es-ES_tradnl" b="0" dirty="0"/>
          </a:p>
        </p:txBody>
      </p:sp>
      <p:sp>
        <p:nvSpPr>
          <p:cNvPr id="7" name="Rectángulo: esquinas redondeadas 6">
            <a:extLst>
              <a:ext uri="{FF2B5EF4-FFF2-40B4-BE49-F238E27FC236}">
                <a16:creationId xmlns:a16="http://schemas.microsoft.com/office/drawing/2014/main" id="{CC84A30A-9083-7F07-8037-5F288AA1501F}"/>
              </a:ext>
            </a:extLst>
          </p:cNvPr>
          <p:cNvSpPr/>
          <p:nvPr/>
        </p:nvSpPr>
        <p:spPr>
          <a:xfrm>
            <a:off x="2031017" y="4105845"/>
            <a:ext cx="8431967" cy="97948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En la sección “Control de Impresora” campo ‘Impresora’ se debe asignar la sentencia ‘DATABASE’. </a:t>
            </a:r>
          </a:p>
          <a:p>
            <a:pPr marL="228600" indent="-228600">
              <a:buFont typeface="+mj-lt"/>
              <a:buAutoNum type="arabicPeriod" startAt="3"/>
            </a:pPr>
            <a:r>
              <a:rPr lang="es-ES_tradnl" sz="1200" dirty="0"/>
              <a:t>Luego de ello se avanza al siguiente bloque</a:t>
            </a:r>
          </a:p>
        </p:txBody>
      </p:sp>
      <p:sp>
        <p:nvSpPr>
          <p:cNvPr id="3" name="Rectángulo redondeado 15">
            <a:extLst>
              <a:ext uri="{FF2B5EF4-FFF2-40B4-BE49-F238E27FC236}">
                <a16:creationId xmlns:a16="http://schemas.microsoft.com/office/drawing/2014/main" id="{C9A04168-76A9-67B2-1E0B-6F9F5908E82F}"/>
              </a:ext>
            </a:extLst>
          </p:cNvPr>
          <p:cNvSpPr/>
          <p:nvPr/>
        </p:nvSpPr>
        <p:spPr>
          <a:xfrm>
            <a:off x="3315372" y="2216232"/>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5" name="Rectángulo 4">
            <a:extLst>
              <a:ext uri="{FF2B5EF4-FFF2-40B4-BE49-F238E27FC236}">
                <a16:creationId xmlns:a16="http://schemas.microsoft.com/office/drawing/2014/main" id="{045F8004-A53E-765B-AD19-21249259DF0C}"/>
              </a:ext>
            </a:extLst>
          </p:cNvPr>
          <p:cNvSpPr/>
          <p:nvPr/>
        </p:nvSpPr>
        <p:spPr>
          <a:xfrm>
            <a:off x="1187879" y="1916068"/>
            <a:ext cx="2127493" cy="26922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7">
            <a:extLst>
              <a:ext uri="{FF2B5EF4-FFF2-40B4-BE49-F238E27FC236}">
                <a16:creationId xmlns:a16="http://schemas.microsoft.com/office/drawing/2014/main" id="{D55F6455-3C81-27E3-FFB5-A75413EE0738}"/>
              </a:ext>
            </a:extLst>
          </p:cNvPr>
          <p:cNvSpPr/>
          <p:nvPr/>
        </p:nvSpPr>
        <p:spPr>
          <a:xfrm>
            <a:off x="1062228" y="5482418"/>
            <a:ext cx="389756" cy="30732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00560E93-5DA6-B2BB-4C0C-2E2D7B1D6165}"/>
              </a:ext>
            </a:extLst>
          </p:cNvPr>
          <p:cNvSpPr/>
          <p:nvPr/>
        </p:nvSpPr>
        <p:spPr>
          <a:xfrm>
            <a:off x="1461542" y="5711666"/>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p>
        </p:txBody>
      </p:sp>
    </p:spTree>
    <p:extLst>
      <p:ext uri="{BB962C8B-B14F-4D97-AF65-F5344CB8AC3E}">
        <p14:creationId xmlns:p14="http://schemas.microsoft.com/office/powerpoint/2010/main" val="2257575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44E80-B8EC-ACB8-DFC1-4367B1C7E247}"/>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E22BEA64-E6F6-4B35-7950-DD0B0945738B}"/>
              </a:ext>
            </a:extLst>
          </p:cNvPr>
          <p:cNvPicPr>
            <a:picLocks noChangeAspect="1"/>
          </p:cNvPicPr>
          <p:nvPr/>
        </p:nvPicPr>
        <p:blipFill>
          <a:blip r:embed="rId3"/>
          <a:stretch>
            <a:fillRect/>
          </a:stretch>
        </p:blipFill>
        <p:spPr>
          <a:xfrm>
            <a:off x="738048" y="1163887"/>
            <a:ext cx="10869752" cy="4713854"/>
          </a:xfrm>
          <a:prstGeom prst="rect">
            <a:avLst/>
          </a:prstGeom>
        </p:spPr>
      </p:pic>
      <p:sp>
        <p:nvSpPr>
          <p:cNvPr id="2" name="Marcador de texto vertical 1">
            <a:extLst>
              <a:ext uri="{FF2B5EF4-FFF2-40B4-BE49-F238E27FC236}">
                <a16:creationId xmlns:a16="http://schemas.microsoft.com/office/drawing/2014/main" id="{9FBB103D-F385-9B6C-3DBF-6956483BAAB4}"/>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30E49DF3-338C-2CF5-9FEC-47F0C04DAD7A}"/>
              </a:ext>
            </a:extLst>
          </p:cNvPr>
          <p:cNvSpPr>
            <a:spLocks noGrp="1"/>
          </p:cNvSpPr>
          <p:nvPr>
            <p:ph type="title"/>
          </p:nvPr>
        </p:nvSpPr>
        <p:spPr>
          <a:xfrm>
            <a:off x="938996" y="304614"/>
            <a:ext cx="10477497" cy="898555"/>
          </a:xfrm>
        </p:spPr>
        <p:txBody>
          <a:bodyPr/>
          <a:lstStyle/>
          <a:p>
            <a:r>
              <a:rPr lang="es-419" dirty="0">
                <a:solidFill>
                  <a:schemeClr val="tx2"/>
                </a:solidFill>
              </a:rPr>
              <a:t>Asignación de  grupo de turnos inscripción (SFRGRUP)</a:t>
            </a:r>
            <a:endParaRPr lang="es-ES_tradnl" b="0" dirty="0"/>
          </a:p>
        </p:txBody>
      </p:sp>
      <p:sp>
        <p:nvSpPr>
          <p:cNvPr id="3" name="Rectángulo redondeado 15">
            <a:extLst>
              <a:ext uri="{FF2B5EF4-FFF2-40B4-BE49-F238E27FC236}">
                <a16:creationId xmlns:a16="http://schemas.microsoft.com/office/drawing/2014/main" id="{488BDE31-2943-95AE-11B5-F73DBAAD7DED}"/>
              </a:ext>
            </a:extLst>
          </p:cNvPr>
          <p:cNvSpPr/>
          <p:nvPr/>
        </p:nvSpPr>
        <p:spPr>
          <a:xfrm>
            <a:off x="738048" y="2724232"/>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5" name="Rectángulo 4">
            <a:extLst>
              <a:ext uri="{FF2B5EF4-FFF2-40B4-BE49-F238E27FC236}">
                <a16:creationId xmlns:a16="http://schemas.microsoft.com/office/drawing/2014/main" id="{B12B66CC-B19C-4869-F104-151E1611ED01}"/>
              </a:ext>
            </a:extLst>
          </p:cNvPr>
          <p:cNvSpPr/>
          <p:nvPr/>
        </p:nvSpPr>
        <p:spPr>
          <a:xfrm>
            <a:off x="738048" y="2995568"/>
            <a:ext cx="10869752" cy="223683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esquinas redondeadas 5">
            <a:extLst>
              <a:ext uri="{FF2B5EF4-FFF2-40B4-BE49-F238E27FC236}">
                <a16:creationId xmlns:a16="http://schemas.microsoft.com/office/drawing/2014/main" id="{15F3AEC9-70AC-2D91-43CC-CE19C0C0237C}"/>
              </a:ext>
            </a:extLst>
          </p:cNvPr>
          <p:cNvSpPr/>
          <p:nvPr/>
        </p:nvSpPr>
        <p:spPr>
          <a:xfrm>
            <a:off x="1993900" y="5347589"/>
            <a:ext cx="8591029" cy="86714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5"/>
            </a:pPr>
            <a:r>
              <a:rPr lang="es-PE" sz="1200" dirty="0"/>
              <a:t>Para ejecutar el proceso se deben definir los parámetros 01 al 15 de la sección ‘Valores de parámetros’, mismos que son definidos en la siguiente tabla de información.</a:t>
            </a:r>
            <a:endParaRPr lang="es-ES_tradnl" sz="1200" dirty="0"/>
          </a:p>
        </p:txBody>
      </p:sp>
    </p:spTree>
    <p:extLst>
      <p:ext uri="{BB962C8B-B14F-4D97-AF65-F5344CB8AC3E}">
        <p14:creationId xmlns:p14="http://schemas.microsoft.com/office/powerpoint/2010/main" val="6075823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1622A-2937-70AB-1D53-6AB557854EFF}"/>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EC06F009-1D45-4184-9FB2-34F52664B550}"/>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DA727487-4F30-18F5-01A5-262ECF333C3B}"/>
              </a:ext>
            </a:extLst>
          </p:cNvPr>
          <p:cNvSpPr>
            <a:spLocks noGrp="1"/>
          </p:cNvSpPr>
          <p:nvPr>
            <p:ph type="title"/>
          </p:nvPr>
        </p:nvSpPr>
        <p:spPr>
          <a:xfrm>
            <a:off x="938996" y="304614"/>
            <a:ext cx="10477497" cy="898555"/>
          </a:xfrm>
        </p:spPr>
        <p:txBody>
          <a:bodyPr/>
          <a:lstStyle/>
          <a:p>
            <a:r>
              <a:rPr lang="es-419" dirty="0">
                <a:solidFill>
                  <a:schemeClr val="tx2"/>
                </a:solidFill>
              </a:rPr>
              <a:t>Asignación de  grupo de turnos inscripción (SFRGRUP)</a:t>
            </a:r>
            <a:endParaRPr lang="es-ES_tradnl" b="0" dirty="0"/>
          </a:p>
        </p:txBody>
      </p:sp>
      <p:graphicFrame>
        <p:nvGraphicFramePr>
          <p:cNvPr id="7" name="Tabla 6">
            <a:extLst>
              <a:ext uri="{FF2B5EF4-FFF2-40B4-BE49-F238E27FC236}">
                <a16:creationId xmlns:a16="http://schemas.microsoft.com/office/drawing/2014/main" id="{CBD47F86-E9DC-719A-1698-5016B927AA13}"/>
              </a:ext>
            </a:extLst>
          </p:cNvPr>
          <p:cNvGraphicFramePr>
            <a:graphicFrameLocks noGrp="1"/>
          </p:cNvGraphicFramePr>
          <p:nvPr/>
        </p:nvGraphicFramePr>
        <p:xfrm>
          <a:off x="938996" y="1203170"/>
          <a:ext cx="10477497" cy="4465167"/>
        </p:xfrm>
        <a:graphic>
          <a:graphicData uri="http://schemas.openxmlformats.org/drawingml/2006/table">
            <a:tbl>
              <a:tblPr firstRow="1" bandRow="1">
                <a:tableStyleId>{5C22544A-7EE6-4342-B048-85BDC9FD1C3A}</a:tableStyleId>
              </a:tblPr>
              <a:tblGrid>
                <a:gridCol w="788490">
                  <a:extLst>
                    <a:ext uri="{9D8B030D-6E8A-4147-A177-3AD203B41FA5}">
                      <a16:colId xmlns:a16="http://schemas.microsoft.com/office/drawing/2014/main" val="3671970364"/>
                    </a:ext>
                  </a:extLst>
                </a:gridCol>
                <a:gridCol w="3167716">
                  <a:extLst>
                    <a:ext uri="{9D8B030D-6E8A-4147-A177-3AD203B41FA5}">
                      <a16:colId xmlns:a16="http://schemas.microsoft.com/office/drawing/2014/main" val="1822289275"/>
                    </a:ext>
                  </a:extLst>
                </a:gridCol>
                <a:gridCol w="4766914">
                  <a:extLst>
                    <a:ext uri="{9D8B030D-6E8A-4147-A177-3AD203B41FA5}">
                      <a16:colId xmlns:a16="http://schemas.microsoft.com/office/drawing/2014/main" val="3567961620"/>
                    </a:ext>
                  </a:extLst>
                </a:gridCol>
                <a:gridCol w="1754377">
                  <a:extLst>
                    <a:ext uri="{9D8B030D-6E8A-4147-A177-3AD203B41FA5}">
                      <a16:colId xmlns:a16="http://schemas.microsoft.com/office/drawing/2014/main" val="1570736915"/>
                    </a:ext>
                  </a:extLst>
                </a:gridCol>
              </a:tblGrid>
              <a:tr h="429072">
                <a:tc>
                  <a:txBody>
                    <a:bodyPr/>
                    <a:lstStyle/>
                    <a:p>
                      <a:pPr algn="ctr" fontAlgn="b"/>
                      <a:r>
                        <a:rPr lang="es-419" sz="1100" b="1" i="0" u="none" strike="noStrike" dirty="0">
                          <a:solidFill>
                            <a:srgbClr val="FFFFFF"/>
                          </a:solidFill>
                          <a:effectLst/>
                          <a:latin typeface="Calibri" panose="020F0502020204030204" pitchFamily="34" charset="0"/>
                        </a:rPr>
                        <a:t>Parámetros</a:t>
                      </a:r>
                    </a:p>
                  </a:txBody>
                  <a:tcPr marL="0" marR="0" marT="0" marB="0" anchor="ctr"/>
                </a:tc>
                <a:tc>
                  <a:txBody>
                    <a:bodyPr/>
                    <a:lstStyle/>
                    <a:p>
                      <a:pPr algn="l" fontAlgn="b"/>
                      <a:r>
                        <a:rPr lang="es-419" sz="1100" b="1" i="0" u="none" strike="noStrike" dirty="0">
                          <a:solidFill>
                            <a:srgbClr val="FFFFFF"/>
                          </a:solidFill>
                          <a:effectLst/>
                          <a:latin typeface="Calibri" panose="020F0502020204030204" pitchFamily="34" charset="0"/>
                        </a:rPr>
                        <a:t>Descripción</a:t>
                      </a:r>
                    </a:p>
                  </a:txBody>
                  <a:tcPr marL="0" marR="0" marT="0" marB="0" anchor="ctr"/>
                </a:tc>
                <a:tc>
                  <a:txBody>
                    <a:bodyPr/>
                    <a:lstStyle/>
                    <a:p>
                      <a:pPr algn="l" fontAlgn="b"/>
                      <a:r>
                        <a:rPr lang="es-419" sz="1100" b="1" i="0" u="none" strike="noStrike" dirty="0">
                          <a:solidFill>
                            <a:srgbClr val="FFFFFF"/>
                          </a:solidFill>
                          <a:effectLst/>
                          <a:latin typeface="Calibri" panose="020F0502020204030204" pitchFamily="34" charset="0"/>
                        </a:rPr>
                        <a:t>Comentarios</a:t>
                      </a:r>
                    </a:p>
                  </a:txBody>
                  <a:tcPr marL="0" marR="0" marT="0" marB="0" anchor="ctr"/>
                </a:tc>
                <a:tc>
                  <a:txBody>
                    <a:bodyPr/>
                    <a:lstStyle/>
                    <a:p>
                      <a:pPr algn="ctr" fontAlgn="b"/>
                      <a:r>
                        <a:rPr lang="es-419" sz="1100" b="1" i="0" u="none" strike="noStrike" dirty="0">
                          <a:solidFill>
                            <a:srgbClr val="FFFFFF"/>
                          </a:solidFill>
                          <a:effectLst/>
                          <a:latin typeface="Calibri" panose="020F0502020204030204" pitchFamily="34" charset="0"/>
                        </a:rPr>
                        <a:t>Requerido /Opcional</a:t>
                      </a:r>
                    </a:p>
                  </a:txBody>
                  <a:tcPr marL="0" marR="0" marT="0" marB="0" anchor="ctr"/>
                </a:tc>
                <a:extLst>
                  <a:ext uri="{0D108BD9-81ED-4DB2-BD59-A6C34878D82A}">
                    <a16:rowId xmlns:a16="http://schemas.microsoft.com/office/drawing/2014/main" val="1600408903"/>
                  </a:ext>
                </a:extLst>
              </a:tr>
              <a:tr h="468167">
                <a:tc>
                  <a:txBody>
                    <a:bodyPr/>
                    <a:lstStyle/>
                    <a:p>
                      <a:pPr algn="ctr" fontAlgn="b"/>
                      <a:r>
                        <a:rPr lang="es-419" sz="1200" b="0" i="0" u="none" strike="noStrike" dirty="0">
                          <a:solidFill>
                            <a:srgbClr val="000000"/>
                          </a:solidFill>
                          <a:effectLst/>
                          <a:latin typeface="+mn-lt"/>
                        </a:rPr>
                        <a:t>01</a:t>
                      </a:r>
                    </a:p>
                  </a:txBody>
                  <a:tcPr marL="0" marR="0" marT="0" marB="0" anchor="ctr"/>
                </a:tc>
                <a:tc>
                  <a:txBody>
                    <a:bodyPr/>
                    <a:lstStyle/>
                    <a:p>
                      <a:pPr algn="l" fontAlgn="b"/>
                      <a:r>
                        <a:rPr lang="es-419" sz="1200" b="0" i="0" u="none" strike="noStrike">
                          <a:solidFill>
                            <a:srgbClr val="000000"/>
                          </a:solidFill>
                          <a:effectLst/>
                          <a:latin typeface="+mn-lt"/>
                        </a:rPr>
                        <a:t>Periodo de inscripción</a:t>
                      </a:r>
                    </a:p>
                  </a:txBody>
                  <a:tcPr marL="0" marR="0" marT="0" marB="0" anchor="ctr"/>
                </a:tc>
                <a:tc>
                  <a:txBody>
                    <a:bodyPr/>
                    <a:lstStyle/>
                    <a:p>
                      <a:pPr algn="l" fontAlgn="b"/>
                      <a:r>
                        <a:rPr lang="es-419" sz="1200" b="0" i="0" u="none" strike="noStrike">
                          <a:solidFill>
                            <a:srgbClr val="000000"/>
                          </a:solidFill>
                          <a:effectLst/>
                          <a:latin typeface="+mn-lt"/>
                        </a:rPr>
                        <a:t>Ingrese el periodo de inscripción</a:t>
                      </a:r>
                    </a:p>
                  </a:txBody>
                  <a:tcPr marL="0" marR="0" marT="0" marB="0" anchor="ctr"/>
                </a:tc>
                <a:tc>
                  <a:txBody>
                    <a:bodyPr/>
                    <a:lstStyle/>
                    <a:p>
                      <a:pPr algn="ctr" fontAlgn="b"/>
                      <a:r>
                        <a:rPr lang="es-419" sz="1200" b="0" i="0" u="none" strike="noStrike" dirty="0">
                          <a:solidFill>
                            <a:srgbClr val="000000"/>
                          </a:solidFill>
                          <a:effectLst/>
                          <a:latin typeface="+mn-lt"/>
                        </a:rPr>
                        <a:t>Requerido</a:t>
                      </a:r>
                    </a:p>
                  </a:txBody>
                  <a:tcPr marL="0" marR="0" marT="0" marB="0" anchor="ctr"/>
                </a:tc>
                <a:extLst>
                  <a:ext uri="{0D108BD9-81ED-4DB2-BD59-A6C34878D82A}">
                    <a16:rowId xmlns:a16="http://schemas.microsoft.com/office/drawing/2014/main" val="1252697042"/>
                  </a:ext>
                </a:extLst>
              </a:tr>
              <a:tr h="429072">
                <a:tc>
                  <a:txBody>
                    <a:bodyPr/>
                    <a:lstStyle/>
                    <a:p>
                      <a:pPr algn="ctr" fontAlgn="b"/>
                      <a:r>
                        <a:rPr lang="es-419" sz="1200" b="0" i="0" u="none" strike="noStrike" dirty="0">
                          <a:solidFill>
                            <a:srgbClr val="000000"/>
                          </a:solidFill>
                          <a:effectLst/>
                          <a:latin typeface="+mn-lt"/>
                        </a:rPr>
                        <a:t>02</a:t>
                      </a:r>
                    </a:p>
                  </a:txBody>
                  <a:tcPr marL="0" marR="0" marT="0" marB="0" anchor="ctr"/>
                </a:tc>
                <a:tc>
                  <a:txBody>
                    <a:bodyPr/>
                    <a:lstStyle/>
                    <a:p>
                      <a:pPr algn="l" fontAlgn="b"/>
                      <a:r>
                        <a:rPr lang="es-419" sz="1200" b="0" i="0" u="none" strike="noStrike">
                          <a:solidFill>
                            <a:srgbClr val="000000"/>
                          </a:solidFill>
                          <a:effectLst/>
                          <a:latin typeface="+mn-lt"/>
                        </a:rPr>
                        <a:t>Código del grupo</a:t>
                      </a:r>
                    </a:p>
                  </a:txBody>
                  <a:tcPr marL="0" marR="0" marT="0" marB="0" anchor="ctr"/>
                </a:tc>
                <a:tc>
                  <a:txBody>
                    <a:bodyPr/>
                    <a:lstStyle/>
                    <a:p>
                      <a:pPr algn="l" fontAlgn="b"/>
                      <a:r>
                        <a:rPr lang="es-419" sz="1200" b="0" i="0" u="none" strike="noStrike">
                          <a:solidFill>
                            <a:srgbClr val="000000"/>
                          </a:solidFill>
                          <a:effectLst/>
                          <a:latin typeface="+mn-lt"/>
                        </a:rPr>
                        <a:t>Ingrese el código del grupo</a:t>
                      </a:r>
                    </a:p>
                  </a:txBody>
                  <a:tcPr marL="0" marR="0" marT="0" marB="0" anchor="ctr"/>
                </a:tc>
                <a:tc>
                  <a:txBody>
                    <a:bodyPr/>
                    <a:lstStyle/>
                    <a:p>
                      <a:pPr algn="ctr" fontAlgn="b"/>
                      <a:r>
                        <a:rPr lang="es-419" sz="1200" b="0" i="0" u="none" strike="noStrike" dirty="0">
                          <a:solidFill>
                            <a:srgbClr val="000000"/>
                          </a:solidFill>
                          <a:effectLst/>
                          <a:latin typeface="+mn-lt"/>
                        </a:rPr>
                        <a:t>Requerido</a:t>
                      </a:r>
                    </a:p>
                  </a:txBody>
                  <a:tcPr marL="0" marR="0" marT="0" marB="0" anchor="ctr"/>
                </a:tc>
                <a:extLst>
                  <a:ext uri="{0D108BD9-81ED-4DB2-BD59-A6C34878D82A}">
                    <a16:rowId xmlns:a16="http://schemas.microsoft.com/office/drawing/2014/main" val="2717954487"/>
                  </a:ext>
                </a:extLst>
              </a:tr>
              <a:tr h="429072">
                <a:tc>
                  <a:txBody>
                    <a:bodyPr/>
                    <a:lstStyle/>
                    <a:p>
                      <a:pPr algn="ctr" fontAlgn="b"/>
                      <a:r>
                        <a:rPr lang="es-419" sz="1200" b="0" i="0" u="none" strike="noStrike" dirty="0">
                          <a:solidFill>
                            <a:srgbClr val="000000"/>
                          </a:solidFill>
                          <a:effectLst/>
                          <a:latin typeface="+mn-lt"/>
                        </a:rPr>
                        <a:t>03</a:t>
                      </a:r>
                    </a:p>
                  </a:txBody>
                  <a:tcPr marL="0" marR="0" marT="0" marB="0" anchor="ctr"/>
                </a:tc>
                <a:tc>
                  <a:txBody>
                    <a:bodyPr/>
                    <a:lstStyle/>
                    <a:p>
                      <a:pPr algn="l" fontAlgn="b"/>
                      <a:r>
                        <a:rPr lang="es-419" sz="1200" b="0" i="0" u="none" strike="noStrike">
                          <a:solidFill>
                            <a:srgbClr val="000000"/>
                          </a:solidFill>
                          <a:effectLst/>
                          <a:latin typeface="+mn-lt"/>
                        </a:rPr>
                        <a:t>Máximo de alumnos por grupo</a:t>
                      </a:r>
                    </a:p>
                  </a:txBody>
                  <a:tcPr marL="0" marR="0" marT="0" marB="0" anchor="ctr"/>
                </a:tc>
                <a:tc>
                  <a:txBody>
                    <a:bodyPr/>
                    <a:lstStyle/>
                    <a:p>
                      <a:pPr algn="l" fontAlgn="b"/>
                      <a:r>
                        <a:rPr lang="es-419" sz="1200" b="0" i="0" u="none" strike="noStrike">
                          <a:solidFill>
                            <a:srgbClr val="000000"/>
                          </a:solidFill>
                          <a:effectLst/>
                          <a:latin typeface="+mn-lt"/>
                        </a:rPr>
                        <a:t>Ingrese el máximo de alumnos por grupo</a:t>
                      </a:r>
                    </a:p>
                  </a:txBody>
                  <a:tcPr marL="0" marR="0" marT="0" marB="0" anchor="ctr"/>
                </a:tc>
                <a:tc>
                  <a:txBody>
                    <a:bodyPr/>
                    <a:lstStyle/>
                    <a:p>
                      <a:pPr algn="ctr" fontAlgn="b"/>
                      <a:r>
                        <a:rPr lang="es-419" sz="1200" b="0" i="0" u="none" strike="noStrike" dirty="0">
                          <a:solidFill>
                            <a:srgbClr val="000000"/>
                          </a:solidFill>
                          <a:effectLst/>
                          <a:latin typeface="+mn-lt"/>
                        </a:rPr>
                        <a:t>Opcional</a:t>
                      </a:r>
                    </a:p>
                  </a:txBody>
                  <a:tcPr marL="0" marR="0" marT="0" marB="0" anchor="ctr"/>
                </a:tc>
                <a:extLst>
                  <a:ext uri="{0D108BD9-81ED-4DB2-BD59-A6C34878D82A}">
                    <a16:rowId xmlns:a16="http://schemas.microsoft.com/office/drawing/2014/main" val="3807490090"/>
                  </a:ext>
                </a:extLst>
              </a:tr>
              <a:tr h="634792">
                <a:tc>
                  <a:txBody>
                    <a:bodyPr/>
                    <a:lstStyle/>
                    <a:p>
                      <a:pPr algn="ctr" fontAlgn="b"/>
                      <a:r>
                        <a:rPr lang="es-419" sz="1200" b="0" i="0" u="none" strike="noStrike">
                          <a:solidFill>
                            <a:srgbClr val="000000"/>
                          </a:solidFill>
                          <a:effectLst/>
                          <a:latin typeface="+mn-lt"/>
                        </a:rPr>
                        <a:t>04</a:t>
                      </a:r>
                    </a:p>
                  </a:txBody>
                  <a:tcPr marL="0" marR="0" marT="0" marB="0" anchor="ctr"/>
                </a:tc>
                <a:tc>
                  <a:txBody>
                    <a:bodyPr/>
                    <a:lstStyle/>
                    <a:p>
                      <a:pPr algn="l" fontAlgn="b"/>
                      <a:r>
                        <a:rPr lang="es-419" sz="1200" b="0" i="0" u="none" strike="noStrike">
                          <a:solidFill>
                            <a:srgbClr val="000000"/>
                          </a:solidFill>
                          <a:effectLst/>
                          <a:latin typeface="+mn-lt"/>
                        </a:rPr>
                        <a:t>Código del nivel del alumno</a:t>
                      </a:r>
                    </a:p>
                  </a:txBody>
                  <a:tcPr marL="0" marR="0" marT="0" marB="0" anchor="ctr"/>
                </a:tc>
                <a:tc>
                  <a:txBody>
                    <a:bodyPr/>
                    <a:lstStyle/>
                    <a:p>
                      <a:pPr algn="l" fontAlgn="b"/>
                      <a:r>
                        <a:rPr lang="es-419" sz="1200" b="0" i="0" u="none" strike="noStrike" dirty="0">
                          <a:solidFill>
                            <a:srgbClr val="000000"/>
                          </a:solidFill>
                          <a:effectLst/>
                          <a:latin typeface="+mn-lt"/>
                        </a:rPr>
                        <a:t>Ingrese el código del nivel del alumno. </a:t>
                      </a:r>
                    </a:p>
                    <a:p>
                      <a:pPr algn="l" fontAlgn="b"/>
                      <a:r>
                        <a:rPr lang="es-419" sz="1200" b="0" i="0" u="none" strike="noStrike" dirty="0">
                          <a:solidFill>
                            <a:srgbClr val="000000"/>
                          </a:solidFill>
                          <a:effectLst/>
                          <a:latin typeface="+mn-lt"/>
                        </a:rPr>
                        <a:t>Si se ingresa el proceso asignará el grupo de inscripción a todos los estudiantes del nivel ingresado.</a:t>
                      </a:r>
                    </a:p>
                  </a:txBody>
                  <a:tcPr marL="0" marR="0" marT="0" marB="0" anchor="ctr"/>
                </a:tc>
                <a:tc>
                  <a:txBody>
                    <a:bodyPr/>
                    <a:lstStyle/>
                    <a:p>
                      <a:pPr algn="ctr" fontAlgn="b"/>
                      <a:r>
                        <a:rPr lang="es-419" sz="1200" b="0" i="0" u="none" strike="noStrike" dirty="0">
                          <a:solidFill>
                            <a:srgbClr val="000000"/>
                          </a:solidFill>
                          <a:effectLst/>
                          <a:latin typeface="+mn-lt"/>
                        </a:rPr>
                        <a:t>Opcional</a:t>
                      </a:r>
                    </a:p>
                  </a:txBody>
                  <a:tcPr marL="0" marR="0" marT="0" marB="0" anchor="ctr"/>
                </a:tc>
                <a:extLst>
                  <a:ext uri="{0D108BD9-81ED-4DB2-BD59-A6C34878D82A}">
                    <a16:rowId xmlns:a16="http://schemas.microsoft.com/office/drawing/2014/main" val="580853560"/>
                  </a:ext>
                </a:extLst>
              </a:tr>
              <a:tr h="429072">
                <a:tc>
                  <a:txBody>
                    <a:bodyPr/>
                    <a:lstStyle/>
                    <a:p>
                      <a:pPr algn="ctr" fontAlgn="b"/>
                      <a:r>
                        <a:rPr lang="es-419" sz="1200" b="0" i="0" u="none" strike="noStrike" dirty="0">
                          <a:solidFill>
                            <a:srgbClr val="000000"/>
                          </a:solidFill>
                          <a:effectLst/>
                          <a:latin typeface="+mn-lt"/>
                        </a:rPr>
                        <a:t>05</a:t>
                      </a:r>
                    </a:p>
                  </a:txBody>
                  <a:tcPr marL="0" marR="0" marT="0" marB="0" anchor="ctr"/>
                </a:tc>
                <a:tc>
                  <a:txBody>
                    <a:bodyPr/>
                    <a:lstStyle/>
                    <a:p>
                      <a:pPr algn="l" fontAlgn="b"/>
                      <a:r>
                        <a:rPr lang="es-419" sz="1200" b="0" i="0" u="none" strike="noStrike">
                          <a:solidFill>
                            <a:srgbClr val="000000"/>
                          </a:solidFill>
                          <a:effectLst/>
                          <a:latin typeface="+mn-lt"/>
                        </a:rPr>
                        <a:t>Código de grado</a:t>
                      </a:r>
                    </a:p>
                  </a:txBody>
                  <a:tcPr marL="0" marR="0" marT="0" marB="0" anchor="ctr"/>
                </a:tc>
                <a:tc>
                  <a:txBody>
                    <a:bodyPr/>
                    <a:lstStyle/>
                    <a:p>
                      <a:pPr algn="l" fontAlgn="b"/>
                      <a:r>
                        <a:rPr lang="es-419" sz="1200" b="0" i="0" u="none" strike="noStrike" dirty="0">
                          <a:solidFill>
                            <a:srgbClr val="000000"/>
                          </a:solidFill>
                          <a:effectLst/>
                          <a:latin typeface="+mn-lt"/>
                        </a:rPr>
                        <a:t>Ingrese el código del grado.</a:t>
                      </a:r>
                    </a:p>
                    <a:p>
                      <a:pPr marL="0" marR="0" lvl="0" indent="0" algn="l" defTabSz="914400" rtl="0" eaLnBrk="1" fontAlgn="b" latinLnBrk="0" hangingPunct="1">
                        <a:lnSpc>
                          <a:spcPct val="100000"/>
                        </a:lnSpc>
                        <a:spcBef>
                          <a:spcPts val="0"/>
                        </a:spcBef>
                        <a:spcAft>
                          <a:spcPts val="0"/>
                        </a:spcAft>
                        <a:buClrTx/>
                        <a:buSzTx/>
                        <a:buFontTx/>
                        <a:buNone/>
                        <a:tabLst/>
                        <a:defRPr/>
                      </a:pPr>
                      <a:r>
                        <a:rPr lang="es-419" sz="1200" b="0" i="0" u="none" strike="noStrike" dirty="0">
                          <a:solidFill>
                            <a:srgbClr val="000000"/>
                          </a:solidFill>
                          <a:effectLst/>
                          <a:latin typeface="+mn-lt"/>
                        </a:rPr>
                        <a:t>Si se ingresa el proceso asignará el grupo de inscripción a todos los estudiantes del grado ingresado.</a:t>
                      </a:r>
                    </a:p>
                  </a:txBody>
                  <a:tcPr marL="0" marR="0" marT="0" marB="0" anchor="ctr"/>
                </a:tc>
                <a:tc>
                  <a:txBody>
                    <a:bodyPr/>
                    <a:lstStyle/>
                    <a:p>
                      <a:pPr algn="ctr" fontAlgn="b"/>
                      <a:r>
                        <a:rPr lang="es-419" sz="1200" b="0" i="0" u="none" strike="noStrike">
                          <a:solidFill>
                            <a:srgbClr val="000000"/>
                          </a:solidFill>
                          <a:effectLst/>
                          <a:latin typeface="+mn-lt"/>
                        </a:rPr>
                        <a:t>Opcional</a:t>
                      </a:r>
                    </a:p>
                  </a:txBody>
                  <a:tcPr marL="0" marR="0" marT="0" marB="0" anchor="ctr"/>
                </a:tc>
                <a:extLst>
                  <a:ext uri="{0D108BD9-81ED-4DB2-BD59-A6C34878D82A}">
                    <a16:rowId xmlns:a16="http://schemas.microsoft.com/office/drawing/2014/main" val="3452798"/>
                  </a:ext>
                </a:extLst>
              </a:tr>
              <a:tr h="429072">
                <a:tc>
                  <a:txBody>
                    <a:bodyPr/>
                    <a:lstStyle/>
                    <a:p>
                      <a:pPr algn="ctr" fontAlgn="b"/>
                      <a:r>
                        <a:rPr lang="es-419" sz="1200" b="0" i="0" u="none" strike="noStrike" dirty="0">
                          <a:solidFill>
                            <a:srgbClr val="000000"/>
                          </a:solidFill>
                          <a:effectLst/>
                          <a:latin typeface="+mn-lt"/>
                        </a:rPr>
                        <a:t>06</a:t>
                      </a:r>
                    </a:p>
                  </a:txBody>
                  <a:tcPr marL="0" marR="0" marT="0" marB="0" anchor="ctr"/>
                </a:tc>
                <a:tc>
                  <a:txBody>
                    <a:bodyPr/>
                    <a:lstStyle/>
                    <a:p>
                      <a:pPr algn="l" fontAlgn="b"/>
                      <a:r>
                        <a:rPr lang="es-419" sz="1200" b="0" i="0" u="none" strike="noStrike">
                          <a:solidFill>
                            <a:srgbClr val="000000"/>
                          </a:solidFill>
                          <a:effectLst/>
                          <a:latin typeface="+mn-lt"/>
                        </a:rPr>
                        <a:t>Código del tipo de alumno</a:t>
                      </a:r>
                    </a:p>
                  </a:txBody>
                  <a:tcPr marL="0" marR="0" marT="0" marB="0" anchor="ctr"/>
                </a:tc>
                <a:tc>
                  <a:txBody>
                    <a:bodyPr/>
                    <a:lstStyle/>
                    <a:p>
                      <a:pPr algn="l" fontAlgn="b"/>
                      <a:r>
                        <a:rPr lang="es-419" sz="1200" b="0" i="0" u="none" strike="noStrike" dirty="0">
                          <a:solidFill>
                            <a:srgbClr val="000000"/>
                          </a:solidFill>
                          <a:effectLst/>
                          <a:latin typeface="+mn-lt"/>
                        </a:rPr>
                        <a:t>Ingrese el código del tipo de alumno. </a:t>
                      </a:r>
                    </a:p>
                    <a:p>
                      <a:pPr marL="0" marR="0" lvl="0" indent="0" algn="l" defTabSz="914400" rtl="0" eaLnBrk="1" fontAlgn="b" latinLnBrk="0" hangingPunct="1">
                        <a:lnSpc>
                          <a:spcPct val="100000"/>
                        </a:lnSpc>
                        <a:spcBef>
                          <a:spcPts val="0"/>
                        </a:spcBef>
                        <a:spcAft>
                          <a:spcPts val="0"/>
                        </a:spcAft>
                        <a:buClrTx/>
                        <a:buSzTx/>
                        <a:buFontTx/>
                        <a:buNone/>
                        <a:tabLst/>
                        <a:defRPr/>
                      </a:pPr>
                      <a:r>
                        <a:rPr lang="es-419" sz="1200" b="0" i="0" u="none" strike="noStrike" dirty="0">
                          <a:solidFill>
                            <a:srgbClr val="000000"/>
                          </a:solidFill>
                          <a:effectLst/>
                          <a:latin typeface="+mn-lt"/>
                        </a:rPr>
                        <a:t>Si se ingresa el proceso asignará el grupo de inscripción a todos los estudiantes del tipo de alumno ingresado.</a:t>
                      </a:r>
                    </a:p>
                  </a:txBody>
                  <a:tcPr marL="0" marR="0" marT="0" marB="0" anchor="ctr"/>
                </a:tc>
                <a:tc>
                  <a:txBody>
                    <a:bodyPr/>
                    <a:lstStyle/>
                    <a:p>
                      <a:pPr algn="ctr" fontAlgn="b"/>
                      <a:r>
                        <a:rPr lang="es-419" sz="1200" b="0" i="0" u="none" strike="noStrike" dirty="0">
                          <a:solidFill>
                            <a:srgbClr val="000000"/>
                          </a:solidFill>
                          <a:effectLst/>
                          <a:latin typeface="+mn-lt"/>
                        </a:rPr>
                        <a:t>Opcional</a:t>
                      </a:r>
                    </a:p>
                  </a:txBody>
                  <a:tcPr marL="0" marR="0" marT="0" marB="0" anchor="ctr"/>
                </a:tc>
                <a:extLst>
                  <a:ext uri="{0D108BD9-81ED-4DB2-BD59-A6C34878D82A}">
                    <a16:rowId xmlns:a16="http://schemas.microsoft.com/office/drawing/2014/main" val="2785379510"/>
                  </a:ext>
                </a:extLst>
              </a:tr>
              <a:tr h="490872">
                <a:tc>
                  <a:txBody>
                    <a:bodyPr/>
                    <a:lstStyle/>
                    <a:p>
                      <a:pPr algn="ctr" fontAlgn="b"/>
                      <a:r>
                        <a:rPr lang="es-419" sz="1200" b="0" i="0" u="none" strike="noStrike" dirty="0">
                          <a:solidFill>
                            <a:srgbClr val="000000"/>
                          </a:solidFill>
                          <a:effectLst/>
                          <a:latin typeface="+mn-lt"/>
                        </a:rPr>
                        <a:t>07</a:t>
                      </a:r>
                    </a:p>
                  </a:txBody>
                  <a:tcPr marL="0" marR="0" marT="0" marB="0" anchor="ctr"/>
                </a:tc>
                <a:tc>
                  <a:txBody>
                    <a:bodyPr/>
                    <a:lstStyle/>
                    <a:p>
                      <a:pPr algn="l" fontAlgn="b"/>
                      <a:r>
                        <a:rPr lang="es-419" sz="1200" b="0" i="0" u="none" strike="noStrike">
                          <a:solidFill>
                            <a:srgbClr val="000000"/>
                          </a:solidFill>
                          <a:effectLst/>
                          <a:latin typeface="+mn-lt"/>
                        </a:rPr>
                        <a:t>Código del atributo</a:t>
                      </a:r>
                    </a:p>
                  </a:txBody>
                  <a:tcPr marL="0" marR="0" marT="0" marB="0" anchor="ctr"/>
                </a:tc>
                <a:tc>
                  <a:txBody>
                    <a:bodyPr/>
                    <a:lstStyle/>
                    <a:p>
                      <a:pPr algn="l" fontAlgn="b"/>
                      <a:r>
                        <a:rPr lang="es-419" sz="1200" b="0" i="0" u="none" strike="noStrike" dirty="0">
                          <a:solidFill>
                            <a:srgbClr val="000000"/>
                          </a:solidFill>
                          <a:effectLst/>
                          <a:latin typeface="+mn-lt"/>
                        </a:rPr>
                        <a:t>Ingrese el código del atributo.</a:t>
                      </a:r>
                    </a:p>
                    <a:p>
                      <a:pPr marL="0" marR="0" lvl="0" indent="0" algn="l" defTabSz="914400" rtl="0" eaLnBrk="1" fontAlgn="b" latinLnBrk="0" hangingPunct="1">
                        <a:lnSpc>
                          <a:spcPct val="100000"/>
                        </a:lnSpc>
                        <a:spcBef>
                          <a:spcPts val="0"/>
                        </a:spcBef>
                        <a:spcAft>
                          <a:spcPts val="0"/>
                        </a:spcAft>
                        <a:buClrTx/>
                        <a:buSzTx/>
                        <a:buFontTx/>
                        <a:buNone/>
                        <a:tabLst/>
                        <a:defRPr/>
                      </a:pPr>
                      <a:r>
                        <a:rPr lang="es-419" sz="1200" b="0" i="0" u="none" strike="noStrike" dirty="0">
                          <a:solidFill>
                            <a:srgbClr val="000000"/>
                          </a:solidFill>
                          <a:effectLst/>
                          <a:latin typeface="+mn-lt"/>
                        </a:rPr>
                        <a:t>Si se ingresa el proceso asignará el grupo de inscripción a todos los estudiantes que tengan el atributo ingresado.</a:t>
                      </a:r>
                    </a:p>
                  </a:txBody>
                  <a:tcPr marL="0" marR="0" marT="0" marB="0" anchor="ctr"/>
                </a:tc>
                <a:tc>
                  <a:txBody>
                    <a:bodyPr/>
                    <a:lstStyle/>
                    <a:p>
                      <a:pPr algn="ctr" fontAlgn="b"/>
                      <a:r>
                        <a:rPr lang="es-419" sz="1200" b="0" i="0" u="none" strike="noStrike" dirty="0">
                          <a:solidFill>
                            <a:srgbClr val="000000"/>
                          </a:solidFill>
                          <a:effectLst/>
                          <a:latin typeface="+mn-lt"/>
                        </a:rPr>
                        <a:t>Opcional</a:t>
                      </a:r>
                    </a:p>
                  </a:txBody>
                  <a:tcPr marL="0" marR="0" marT="0" marB="0" anchor="ctr"/>
                </a:tc>
                <a:extLst>
                  <a:ext uri="{0D108BD9-81ED-4DB2-BD59-A6C34878D82A}">
                    <a16:rowId xmlns:a16="http://schemas.microsoft.com/office/drawing/2014/main" val="41993088"/>
                  </a:ext>
                </a:extLst>
              </a:tr>
              <a:tr h="429072">
                <a:tc>
                  <a:txBody>
                    <a:bodyPr/>
                    <a:lstStyle/>
                    <a:p>
                      <a:pPr algn="ctr" fontAlgn="b"/>
                      <a:r>
                        <a:rPr lang="es-419" sz="1200" b="0" i="0" u="none" strike="noStrike" dirty="0">
                          <a:solidFill>
                            <a:srgbClr val="000000"/>
                          </a:solidFill>
                          <a:effectLst/>
                          <a:latin typeface="+mn-lt"/>
                        </a:rPr>
                        <a:t>08</a:t>
                      </a:r>
                    </a:p>
                  </a:txBody>
                  <a:tcPr marL="0" marR="0" marT="0" marB="0" anchor="ctr"/>
                </a:tc>
                <a:tc>
                  <a:txBody>
                    <a:bodyPr/>
                    <a:lstStyle/>
                    <a:p>
                      <a:pPr algn="l" fontAlgn="b"/>
                      <a:r>
                        <a:rPr lang="es-419" sz="1200" b="0" i="0" u="none" strike="noStrike">
                          <a:solidFill>
                            <a:srgbClr val="000000"/>
                          </a:solidFill>
                          <a:effectLst/>
                          <a:latin typeface="+mn-lt"/>
                        </a:rPr>
                        <a:t>Código de la clasificación</a:t>
                      </a:r>
                    </a:p>
                  </a:txBody>
                  <a:tcPr marL="0" marR="0" marT="0" marB="0" anchor="ctr"/>
                </a:tc>
                <a:tc>
                  <a:txBody>
                    <a:bodyPr/>
                    <a:lstStyle/>
                    <a:p>
                      <a:pPr algn="l" fontAlgn="b"/>
                      <a:r>
                        <a:rPr lang="es-419" sz="1200" b="0" i="0" u="none" strike="noStrike" dirty="0">
                          <a:solidFill>
                            <a:srgbClr val="000000"/>
                          </a:solidFill>
                          <a:effectLst/>
                          <a:latin typeface="+mn-lt"/>
                        </a:rPr>
                        <a:t>Ingrese el código de la clasificación. </a:t>
                      </a:r>
                    </a:p>
                    <a:p>
                      <a:pPr algn="l" fontAlgn="b"/>
                      <a:r>
                        <a:rPr lang="es-419" sz="1200" b="0" i="0" u="none" strike="noStrike" dirty="0">
                          <a:solidFill>
                            <a:srgbClr val="000000"/>
                          </a:solidFill>
                          <a:effectLst/>
                          <a:latin typeface="+mn-lt"/>
                        </a:rPr>
                        <a:t>No aplica para UAI</a:t>
                      </a:r>
                    </a:p>
                  </a:txBody>
                  <a:tcPr marL="0" marR="0" marT="0" marB="0" anchor="ctr"/>
                </a:tc>
                <a:tc>
                  <a:txBody>
                    <a:bodyPr/>
                    <a:lstStyle/>
                    <a:p>
                      <a:pPr algn="ctr" fontAlgn="b"/>
                      <a:r>
                        <a:rPr lang="es-419" sz="1200" b="0" i="0" u="none" strike="noStrike" dirty="0">
                          <a:solidFill>
                            <a:srgbClr val="000000"/>
                          </a:solidFill>
                          <a:effectLst/>
                          <a:latin typeface="+mn-lt"/>
                        </a:rPr>
                        <a:t>Opcional</a:t>
                      </a:r>
                    </a:p>
                  </a:txBody>
                  <a:tcPr marL="0" marR="0" marT="0" marB="0" anchor="ctr"/>
                </a:tc>
                <a:extLst>
                  <a:ext uri="{0D108BD9-81ED-4DB2-BD59-A6C34878D82A}">
                    <a16:rowId xmlns:a16="http://schemas.microsoft.com/office/drawing/2014/main" val="2183416493"/>
                  </a:ext>
                </a:extLst>
              </a:tr>
            </a:tbl>
          </a:graphicData>
        </a:graphic>
      </p:graphicFrame>
    </p:spTree>
    <p:extLst>
      <p:ext uri="{BB962C8B-B14F-4D97-AF65-F5344CB8AC3E}">
        <p14:creationId xmlns:p14="http://schemas.microsoft.com/office/powerpoint/2010/main" val="27758276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ECFA0-377A-374A-0B40-C3544F5BCA8E}"/>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47B3D3C-42B7-7EF5-B4A4-4F97F9E41656}"/>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D450B604-DC3C-1883-AD03-32F762C71462}"/>
              </a:ext>
            </a:extLst>
          </p:cNvPr>
          <p:cNvSpPr>
            <a:spLocks noGrp="1"/>
          </p:cNvSpPr>
          <p:nvPr>
            <p:ph type="title"/>
          </p:nvPr>
        </p:nvSpPr>
        <p:spPr>
          <a:xfrm>
            <a:off x="938996" y="304614"/>
            <a:ext cx="10477497" cy="898555"/>
          </a:xfrm>
        </p:spPr>
        <p:txBody>
          <a:bodyPr/>
          <a:lstStyle/>
          <a:p>
            <a:r>
              <a:rPr lang="es-ES_tradnl" dirty="0"/>
              <a:t>Proceso: </a:t>
            </a:r>
            <a:r>
              <a:rPr lang="es-419" b="1" dirty="0">
                <a:effectLst/>
              </a:rPr>
              <a:t>SFRGRUP </a:t>
            </a:r>
            <a:r>
              <a:rPr lang="es-419" b="0" dirty="0" err="1">
                <a:effectLst/>
              </a:rPr>
              <a:t>Asig</a:t>
            </a:r>
            <a:r>
              <a:rPr lang="es-419" b="0" dirty="0">
                <a:effectLst/>
              </a:rPr>
              <a:t>. grupo de turnos </a:t>
            </a:r>
            <a:r>
              <a:rPr lang="es-419" b="0" dirty="0" err="1">
                <a:effectLst/>
              </a:rPr>
              <a:t>inscrip</a:t>
            </a:r>
            <a:r>
              <a:rPr lang="es-419" b="0" dirty="0">
                <a:effectLst/>
              </a:rPr>
              <a:t>.</a:t>
            </a:r>
            <a:endParaRPr lang="es-ES_tradnl" b="0" dirty="0"/>
          </a:p>
        </p:txBody>
      </p:sp>
      <p:graphicFrame>
        <p:nvGraphicFramePr>
          <p:cNvPr id="7" name="Tabla 6">
            <a:extLst>
              <a:ext uri="{FF2B5EF4-FFF2-40B4-BE49-F238E27FC236}">
                <a16:creationId xmlns:a16="http://schemas.microsoft.com/office/drawing/2014/main" id="{8D6054F8-9C4B-684B-36BE-9DEFB8E8673B}"/>
              </a:ext>
            </a:extLst>
          </p:cNvPr>
          <p:cNvGraphicFramePr>
            <a:graphicFrameLocks noGrp="1"/>
          </p:cNvGraphicFramePr>
          <p:nvPr/>
        </p:nvGraphicFramePr>
        <p:xfrm>
          <a:off x="938996" y="1203170"/>
          <a:ext cx="10364004" cy="3765621"/>
        </p:xfrm>
        <a:graphic>
          <a:graphicData uri="http://schemas.openxmlformats.org/drawingml/2006/table">
            <a:tbl>
              <a:tblPr firstRow="1" bandRow="1">
                <a:tableStyleId>{5C22544A-7EE6-4342-B048-85BDC9FD1C3A}</a:tableStyleId>
              </a:tblPr>
              <a:tblGrid>
                <a:gridCol w="779949">
                  <a:extLst>
                    <a:ext uri="{9D8B030D-6E8A-4147-A177-3AD203B41FA5}">
                      <a16:colId xmlns:a16="http://schemas.microsoft.com/office/drawing/2014/main" val="3671970364"/>
                    </a:ext>
                  </a:extLst>
                </a:gridCol>
                <a:gridCol w="3300492">
                  <a:extLst>
                    <a:ext uri="{9D8B030D-6E8A-4147-A177-3AD203B41FA5}">
                      <a16:colId xmlns:a16="http://schemas.microsoft.com/office/drawing/2014/main" val="1822289275"/>
                    </a:ext>
                  </a:extLst>
                </a:gridCol>
                <a:gridCol w="4548190">
                  <a:extLst>
                    <a:ext uri="{9D8B030D-6E8A-4147-A177-3AD203B41FA5}">
                      <a16:colId xmlns:a16="http://schemas.microsoft.com/office/drawing/2014/main" val="3567961620"/>
                    </a:ext>
                  </a:extLst>
                </a:gridCol>
                <a:gridCol w="1735373">
                  <a:extLst>
                    <a:ext uri="{9D8B030D-6E8A-4147-A177-3AD203B41FA5}">
                      <a16:colId xmlns:a16="http://schemas.microsoft.com/office/drawing/2014/main" val="1570736915"/>
                    </a:ext>
                  </a:extLst>
                </a:gridCol>
              </a:tblGrid>
              <a:tr h="455151">
                <a:tc>
                  <a:txBody>
                    <a:bodyPr/>
                    <a:lstStyle/>
                    <a:p>
                      <a:pPr algn="ctr" fontAlgn="b"/>
                      <a:r>
                        <a:rPr lang="es-419" sz="1100" b="1" i="0" u="none" strike="noStrike" dirty="0">
                          <a:solidFill>
                            <a:srgbClr val="FFFFFF"/>
                          </a:solidFill>
                          <a:effectLst/>
                          <a:latin typeface="Calibri" panose="020F0502020204030204" pitchFamily="34" charset="0"/>
                        </a:rPr>
                        <a:t>Parámetros</a:t>
                      </a:r>
                    </a:p>
                  </a:txBody>
                  <a:tcPr marL="0" marR="0" marT="0" marB="0" anchor="ctr"/>
                </a:tc>
                <a:tc>
                  <a:txBody>
                    <a:bodyPr/>
                    <a:lstStyle/>
                    <a:p>
                      <a:pPr algn="l" fontAlgn="b"/>
                      <a:r>
                        <a:rPr lang="es-419" sz="1100" b="1" i="0" u="none" strike="noStrike" dirty="0">
                          <a:solidFill>
                            <a:srgbClr val="FFFFFF"/>
                          </a:solidFill>
                          <a:effectLst/>
                          <a:latin typeface="Calibri" panose="020F0502020204030204" pitchFamily="34" charset="0"/>
                        </a:rPr>
                        <a:t>Descripción</a:t>
                      </a:r>
                    </a:p>
                  </a:txBody>
                  <a:tcPr marL="0" marR="0" marT="0" marB="0" anchor="ctr"/>
                </a:tc>
                <a:tc>
                  <a:txBody>
                    <a:bodyPr/>
                    <a:lstStyle/>
                    <a:p>
                      <a:pPr algn="l" fontAlgn="b"/>
                      <a:r>
                        <a:rPr lang="es-419" sz="1100" b="1" i="0" u="none" strike="noStrike" dirty="0">
                          <a:solidFill>
                            <a:srgbClr val="FFFFFF"/>
                          </a:solidFill>
                          <a:effectLst/>
                          <a:latin typeface="Calibri" panose="020F0502020204030204" pitchFamily="34" charset="0"/>
                        </a:rPr>
                        <a:t>Comentarios</a:t>
                      </a:r>
                    </a:p>
                  </a:txBody>
                  <a:tcPr marL="0" marR="0" marT="0" marB="0" anchor="ctr"/>
                </a:tc>
                <a:tc>
                  <a:txBody>
                    <a:bodyPr/>
                    <a:lstStyle/>
                    <a:p>
                      <a:pPr algn="ctr" fontAlgn="b"/>
                      <a:r>
                        <a:rPr lang="es-419" sz="1100" b="1" i="0" u="none" strike="noStrike" dirty="0">
                          <a:solidFill>
                            <a:srgbClr val="FFFFFF"/>
                          </a:solidFill>
                          <a:effectLst/>
                          <a:latin typeface="Calibri" panose="020F0502020204030204" pitchFamily="34" charset="0"/>
                        </a:rPr>
                        <a:t>Requerido /Opcional</a:t>
                      </a:r>
                    </a:p>
                  </a:txBody>
                  <a:tcPr marL="0" marR="0" marT="0" marB="0" anchor="ctr"/>
                </a:tc>
                <a:extLst>
                  <a:ext uri="{0D108BD9-81ED-4DB2-BD59-A6C34878D82A}">
                    <a16:rowId xmlns:a16="http://schemas.microsoft.com/office/drawing/2014/main" val="1600408903"/>
                  </a:ext>
                </a:extLst>
              </a:tr>
              <a:tr h="496622">
                <a:tc>
                  <a:txBody>
                    <a:bodyPr/>
                    <a:lstStyle/>
                    <a:p>
                      <a:pPr algn="ctr" fontAlgn="b"/>
                      <a:r>
                        <a:rPr lang="es-419" sz="1200" b="0" i="0" u="none" strike="noStrike" dirty="0">
                          <a:solidFill>
                            <a:srgbClr val="000000"/>
                          </a:solidFill>
                          <a:effectLst/>
                          <a:latin typeface="+mn-lt"/>
                        </a:rPr>
                        <a:t>09</a:t>
                      </a:r>
                    </a:p>
                  </a:txBody>
                  <a:tcPr marL="0" marR="0" marT="0" marB="0" anchor="ctr"/>
                </a:tc>
                <a:tc>
                  <a:txBody>
                    <a:bodyPr/>
                    <a:lstStyle/>
                    <a:p>
                      <a:pPr algn="l" fontAlgn="b"/>
                      <a:r>
                        <a:rPr lang="es-419" sz="1200" b="0" i="0" u="none" strike="noStrike" dirty="0">
                          <a:solidFill>
                            <a:srgbClr val="000000"/>
                          </a:solidFill>
                          <a:effectLst/>
                          <a:latin typeface="+mn-lt"/>
                        </a:rPr>
                        <a:t>Mínimo de horas ganadas</a:t>
                      </a:r>
                    </a:p>
                  </a:txBody>
                  <a:tcPr marL="0" marR="0" marT="0" marB="0" anchor="ctr"/>
                </a:tc>
                <a:tc>
                  <a:txBody>
                    <a:bodyPr/>
                    <a:lstStyle/>
                    <a:p>
                      <a:pPr algn="l" fontAlgn="b"/>
                      <a:r>
                        <a:rPr lang="es-419" sz="1200" b="0" i="0" u="none" strike="noStrike" dirty="0">
                          <a:solidFill>
                            <a:srgbClr val="000000"/>
                          </a:solidFill>
                          <a:effectLst/>
                          <a:latin typeface="+mn-lt"/>
                        </a:rPr>
                        <a:t>Ingrese el mínimo de horas ganadas.</a:t>
                      </a:r>
                    </a:p>
                    <a:p>
                      <a:pPr algn="l" fontAlgn="b"/>
                      <a:r>
                        <a:rPr lang="es-419" sz="1200" b="0" i="0" u="none" strike="noStrike" dirty="0">
                          <a:solidFill>
                            <a:srgbClr val="000000"/>
                          </a:solidFill>
                          <a:effectLst/>
                          <a:latin typeface="+mn-lt"/>
                        </a:rPr>
                        <a:t>No aplica para UAI</a:t>
                      </a:r>
                    </a:p>
                  </a:txBody>
                  <a:tcPr marL="0" marR="0" marT="0" marB="0" anchor="ctr"/>
                </a:tc>
                <a:tc>
                  <a:txBody>
                    <a:bodyPr/>
                    <a:lstStyle/>
                    <a:p>
                      <a:pPr algn="ctr" fontAlgn="b"/>
                      <a:r>
                        <a:rPr lang="es-419" sz="1200" b="0" i="0" u="none" strike="noStrike" dirty="0">
                          <a:solidFill>
                            <a:srgbClr val="000000"/>
                          </a:solidFill>
                          <a:effectLst/>
                          <a:latin typeface="+mn-lt"/>
                        </a:rPr>
                        <a:t>Opcional</a:t>
                      </a:r>
                    </a:p>
                  </a:txBody>
                  <a:tcPr marL="0" marR="0" marT="0" marB="0" anchor="ctr"/>
                </a:tc>
                <a:extLst>
                  <a:ext uri="{0D108BD9-81ED-4DB2-BD59-A6C34878D82A}">
                    <a16:rowId xmlns:a16="http://schemas.microsoft.com/office/drawing/2014/main" val="1135537597"/>
                  </a:ext>
                </a:extLst>
              </a:tr>
              <a:tr h="496622">
                <a:tc>
                  <a:txBody>
                    <a:bodyPr/>
                    <a:lstStyle/>
                    <a:p>
                      <a:pPr algn="ctr" fontAlgn="b"/>
                      <a:r>
                        <a:rPr lang="es-419" sz="1200" b="0" i="0" u="none" strike="noStrike" dirty="0">
                          <a:solidFill>
                            <a:srgbClr val="000000"/>
                          </a:solidFill>
                          <a:effectLst/>
                          <a:latin typeface="+mn-lt"/>
                        </a:rPr>
                        <a:t>10</a:t>
                      </a:r>
                    </a:p>
                  </a:txBody>
                  <a:tcPr marL="0" marR="0" marT="0" marB="0" anchor="ctr"/>
                </a:tc>
                <a:tc>
                  <a:txBody>
                    <a:bodyPr/>
                    <a:lstStyle/>
                    <a:p>
                      <a:pPr algn="l" fontAlgn="b"/>
                      <a:r>
                        <a:rPr lang="es-419" sz="1200" b="0" i="0" u="none" strike="noStrike" dirty="0">
                          <a:solidFill>
                            <a:srgbClr val="000000"/>
                          </a:solidFill>
                          <a:effectLst/>
                          <a:latin typeface="+mn-lt"/>
                        </a:rPr>
                        <a:t>Máximo de horas ganadas</a:t>
                      </a:r>
                    </a:p>
                  </a:txBody>
                  <a:tcPr marL="0" marR="0" marT="0" marB="0" anchor="ctr"/>
                </a:tc>
                <a:tc>
                  <a:txBody>
                    <a:bodyPr/>
                    <a:lstStyle/>
                    <a:p>
                      <a:pPr algn="l" fontAlgn="b"/>
                      <a:r>
                        <a:rPr lang="es-419" sz="1200" b="0" i="0" u="none" strike="noStrike" dirty="0">
                          <a:solidFill>
                            <a:srgbClr val="000000"/>
                          </a:solidFill>
                          <a:effectLst/>
                          <a:latin typeface="+mn-lt"/>
                        </a:rPr>
                        <a:t>Ingrese el máximo de horas ganadas.</a:t>
                      </a:r>
                    </a:p>
                    <a:p>
                      <a:pPr algn="l" fontAlgn="b"/>
                      <a:r>
                        <a:rPr lang="es-419" sz="1200" b="0" i="0" u="none" strike="noStrike" dirty="0">
                          <a:solidFill>
                            <a:srgbClr val="000000"/>
                          </a:solidFill>
                          <a:effectLst/>
                          <a:latin typeface="+mn-lt"/>
                        </a:rPr>
                        <a:t>No aplica para UAI</a:t>
                      </a:r>
                    </a:p>
                  </a:txBody>
                  <a:tcPr marL="0" marR="0" marT="0" marB="0" anchor="ctr"/>
                </a:tc>
                <a:tc>
                  <a:txBody>
                    <a:bodyPr/>
                    <a:lstStyle/>
                    <a:p>
                      <a:pPr algn="ctr" fontAlgn="b"/>
                      <a:r>
                        <a:rPr lang="es-419" sz="1200" b="0" i="0" u="none" strike="noStrike" dirty="0">
                          <a:solidFill>
                            <a:srgbClr val="000000"/>
                          </a:solidFill>
                          <a:effectLst/>
                          <a:latin typeface="+mn-lt"/>
                        </a:rPr>
                        <a:t>Opcional</a:t>
                      </a:r>
                    </a:p>
                  </a:txBody>
                  <a:tcPr marL="0" marR="0" marT="0" marB="0" anchor="ctr"/>
                </a:tc>
                <a:extLst>
                  <a:ext uri="{0D108BD9-81ED-4DB2-BD59-A6C34878D82A}">
                    <a16:rowId xmlns:a16="http://schemas.microsoft.com/office/drawing/2014/main" val="1159564416"/>
                  </a:ext>
                </a:extLst>
              </a:tr>
              <a:tr h="496622">
                <a:tc>
                  <a:txBody>
                    <a:bodyPr/>
                    <a:lstStyle/>
                    <a:p>
                      <a:pPr algn="ctr" fontAlgn="b"/>
                      <a:r>
                        <a:rPr lang="es-419" sz="1200" b="0" i="0" u="none" strike="noStrike" dirty="0">
                          <a:solidFill>
                            <a:srgbClr val="000000"/>
                          </a:solidFill>
                          <a:effectLst/>
                          <a:latin typeface="+mn-lt"/>
                        </a:rPr>
                        <a:t>11</a:t>
                      </a:r>
                    </a:p>
                  </a:txBody>
                  <a:tcPr marL="0" marR="0" marT="0" marB="0" anchor="ctr"/>
                </a:tc>
                <a:tc>
                  <a:txBody>
                    <a:bodyPr/>
                    <a:lstStyle/>
                    <a:p>
                      <a:pPr algn="l" fontAlgn="b"/>
                      <a:r>
                        <a:rPr lang="es-419" sz="1200" b="0" i="0" u="none" strike="noStrike" dirty="0">
                          <a:solidFill>
                            <a:srgbClr val="000000"/>
                          </a:solidFill>
                          <a:effectLst/>
                          <a:latin typeface="+mn-lt"/>
                        </a:rPr>
                        <a:t>Aplicación</a:t>
                      </a:r>
                    </a:p>
                  </a:txBody>
                  <a:tcPr marL="0" marR="0" marT="0" marB="0" anchor="ctr"/>
                </a:tc>
                <a:tc>
                  <a:txBody>
                    <a:bodyPr/>
                    <a:lstStyle/>
                    <a:p>
                      <a:pPr algn="l" fontAlgn="b"/>
                      <a:r>
                        <a:rPr lang="es-419" sz="1200" b="0" i="0" u="none" strike="noStrike" dirty="0">
                          <a:solidFill>
                            <a:srgbClr val="000000"/>
                          </a:solidFill>
                          <a:effectLst/>
                          <a:latin typeface="+mn-lt"/>
                        </a:rPr>
                        <a:t>Se requiere la aplicación a la que pertenece la selección de población.</a:t>
                      </a:r>
                    </a:p>
                  </a:txBody>
                  <a:tcPr marL="0" marR="0" marT="0" marB="0" anchor="ctr"/>
                </a:tc>
                <a:tc>
                  <a:txBody>
                    <a:bodyPr/>
                    <a:lstStyle/>
                    <a:p>
                      <a:pPr algn="ctr" fontAlgn="b"/>
                      <a:r>
                        <a:rPr lang="es-419" sz="1200" b="0" i="0" u="none" strike="noStrike" dirty="0">
                          <a:solidFill>
                            <a:srgbClr val="000000"/>
                          </a:solidFill>
                          <a:effectLst/>
                          <a:latin typeface="+mn-lt"/>
                        </a:rPr>
                        <a:t>Opcional</a:t>
                      </a:r>
                    </a:p>
                  </a:txBody>
                  <a:tcPr marL="0" marR="0" marT="0" marB="0" anchor="ctr"/>
                </a:tc>
                <a:extLst>
                  <a:ext uri="{0D108BD9-81ED-4DB2-BD59-A6C34878D82A}">
                    <a16:rowId xmlns:a16="http://schemas.microsoft.com/office/drawing/2014/main" val="1252697042"/>
                  </a:ext>
                </a:extLst>
              </a:tr>
              <a:tr h="455151">
                <a:tc>
                  <a:txBody>
                    <a:bodyPr/>
                    <a:lstStyle/>
                    <a:p>
                      <a:pPr algn="ctr" fontAlgn="b"/>
                      <a:r>
                        <a:rPr lang="es-419" sz="1200" b="0" i="0" u="none" strike="noStrike" dirty="0">
                          <a:solidFill>
                            <a:srgbClr val="000000"/>
                          </a:solidFill>
                          <a:effectLst/>
                          <a:latin typeface="+mn-lt"/>
                        </a:rPr>
                        <a:t>12</a:t>
                      </a:r>
                    </a:p>
                  </a:txBody>
                  <a:tcPr marL="0" marR="0" marT="0" marB="0" anchor="ctr"/>
                </a:tc>
                <a:tc>
                  <a:txBody>
                    <a:bodyPr/>
                    <a:lstStyle/>
                    <a:p>
                      <a:pPr algn="l" fontAlgn="b"/>
                      <a:r>
                        <a:rPr lang="es-419" sz="1200" b="0" i="0" u="none" strike="noStrike" dirty="0">
                          <a:solidFill>
                            <a:srgbClr val="000000"/>
                          </a:solidFill>
                          <a:effectLst/>
                          <a:latin typeface="+mn-lt"/>
                        </a:rPr>
                        <a:t>ID de selección</a:t>
                      </a:r>
                    </a:p>
                  </a:txBody>
                  <a:tcPr marL="0" marR="0" marT="0" marB="0" anchor="ctr"/>
                </a:tc>
                <a:tc>
                  <a:txBody>
                    <a:bodyPr/>
                    <a:lstStyle/>
                    <a:p>
                      <a:pPr algn="l" fontAlgn="b"/>
                      <a:r>
                        <a:rPr lang="es-419" sz="1200" b="0" i="0" u="none" strike="noStrike" dirty="0">
                          <a:solidFill>
                            <a:srgbClr val="000000"/>
                          </a:solidFill>
                          <a:effectLst/>
                          <a:latin typeface="+mn-lt"/>
                        </a:rPr>
                        <a:t>Selección requerida para ejecutar con selección de población</a:t>
                      </a:r>
                    </a:p>
                  </a:txBody>
                  <a:tcPr marL="0" marR="0" marT="0" marB="0" anchor="ctr"/>
                </a:tc>
                <a:tc>
                  <a:txBody>
                    <a:bodyPr/>
                    <a:lstStyle/>
                    <a:p>
                      <a:pPr algn="ctr" fontAlgn="b"/>
                      <a:r>
                        <a:rPr lang="es-419" sz="1200" b="0" i="0" u="none" strike="noStrike" dirty="0">
                          <a:solidFill>
                            <a:srgbClr val="000000"/>
                          </a:solidFill>
                          <a:effectLst/>
                          <a:latin typeface="+mn-lt"/>
                        </a:rPr>
                        <a:t>Opcional</a:t>
                      </a:r>
                    </a:p>
                  </a:txBody>
                  <a:tcPr marL="0" marR="0" marT="0" marB="0" anchor="ctr"/>
                </a:tc>
                <a:extLst>
                  <a:ext uri="{0D108BD9-81ED-4DB2-BD59-A6C34878D82A}">
                    <a16:rowId xmlns:a16="http://schemas.microsoft.com/office/drawing/2014/main" val="2717954487"/>
                  </a:ext>
                </a:extLst>
              </a:tr>
              <a:tr h="455151">
                <a:tc>
                  <a:txBody>
                    <a:bodyPr/>
                    <a:lstStyle/>
                    <a:p>
                      <a:pPr algn="ctr" fontAlgn="b"/>
                      <a:r>
                        <a:rPr lang="es-419" sz="1200" b="0" i="0" u="none" strike="noStrike" dirty="0">
                          <a:solidFill>
                            <a:srgbClr val="000000"/>
                          </a:solidFill>
                          <a:effectLst/>
                          <a:latin typeface="+mn-lt"/>
                        </a:rPr>
                        <a:t>13</a:t>
                      </a:r>
                    </a:p>
                  </a:txBody>
                  <a:tcPr marL="0" marR="0" marT="0" marB="0" anchor="ctr"/>
                </a:tc>
                <a:tc>
                  <a:txBody>
                    <a:bodyPr/>
                    <a:lstStyle/>
                    <a:p>
                      <a:pPr algn="l" fontAlgn="b"/>
                      <a:r>
                        <a:rPr lang="es-419" sz="1200" b="0" i="0" u="none" strike="noStrike">
                          <a:solidFill>
                            <a:srgbClr val="000000"/>
                          </a:solidFill>
                          <a:effectLst/>
                          <a:latin typeface="+mn-lt"/>
                        </a:rPr>
                        <a:t>ID de creador</a:t>
                      </a:r>
                    </a:p>
                  </a:txBody>
                  <a:tcPr marL="0" marR="0" marT="0" marB="0" anchor="ctr"/>
                </a:tc>
                <a:tc>
                  <a:txBody>
                    <a:bodyPr/>
                    <a:lstStyle/>
                    <a:p>
                      <a:pPr algn="l" fontAlgn="b"/>
                      <a:r>
                        <a:rPr lang="es-419" sz="1200" b="0" i="0" u="none" strike="noStrike" dirty="0">
                          <a:solidFill>
                            <a:srgbClr val="000000"/>
                          </a:solidFill>
                          <a:effectLst/>
                          <a:latin typeface="+mn-lt"/>
                        </a:rPr>
                        <a:t>ID de creador de la selección de población</a:t>
                      </a:r>
                    </a:p>
                  </a:txBody>
                  <a:tcPr marL="0" marR="0" marT="0" marB="0" anchor="ctr"/>
                </a:tc>
                <a:tc>
                  <a:txBody>
                    <a:bodyPr/>
                    <a:lstStyle/>
                    <a:p>
                      <a:pPr algn="ctr" fontAlgn="b"/>
                      <a:r>
                        <a:rPr lang="es-419" sz="1200" b="0" i="0" u="none" strike="noStrike">
                          <a:solidFill>
                            <a:srgbClr val="000000"/>
                          </a:solidFill>
                          <a:effectLst/>
                          <a:latin typeface="+mn-lt"/>
                        </a:rPr>
                        <a:t>Opcional</a:t>
                      </a:r>
                    </a:p>
                  </a:txBody>
                  <a:tcPr marL="0" marR="0" marT="0" marB="0" anchor="ctr"/>
                </a:tc>
                <a:extLst>
                  <a:ext uri="{0D108BD9-81ED-4DB2-BD59-A6C34878D82A}">
                    <a16:rowId xmlns:a16="http://schemas.microsoft.com/office/drawing/2014/main" val="3807490090"/>
                  </a:ext>
                </a:extLst>
              </a:tr>
              <a:tr h="455151">
                <a:tc>
                  <a:txBody>
                    <a:bodyPr/>
                    <a:lstStyle/>
                    <a:p>
                      <a:pPr algn="ctr" fontAlgn="b"/>
                      <a:r>
                        <a:rPr lang="es-419" sz="1200" b="0" i="0" u="none" strike="noStrike" dirty="0">
                          <a:solidFill>
                            <a:srgbClr val="000000"/>
                          </a:solidFill>
                          <a:effectLst/>
                          <a:latin typeface="+mn-lt"/>
                        </a:rPr>
                        <a:t>14</a:t>
                      </a:r>
                    </a:p>
                  </a:txBody>
                  <a:tcPr marL="0" marR="0" marT="0" marB="0" anchor="ctr"/>
                </a:tc>
                <a:tc>
                  <a:txBody>
                    <a:bodyPr/>
                    <a:lstStyle/>
                    <a:p>
                      <a:pPr algn="l" fontAlgn="b"/>
                      <a:r>
                        <a:rPr lang="es-419" sz="1200" b="0" i="0" u="none" strike="noStrike">
                          <a:solidFill>
                            <a:srgbClr val="000000"/>
                          </a:solidFill>
                          <a:effectLst/>
                          <a:latin typeface="+mn-lt"/>
                        </a:rPr>
                        <a:t>ID de usuario</a:t>
                      </a:r>
                    </a:p>
                  </a:txBody>
                  <a:tcPr marL="0" marR="0" marT="0" marB="0" anchor="ctr"/>
                </a:tc>
                <a:tc>
                  <a:txBody>
                    <a:bodyPr/>
                    <a:lstStyle/>
                    <a:p>
                      <a:pPr algn="l" fontAlgn="b"/>
                      <a:r>
                        <a:rPr lang="es-419" sz="1200" b="0" i="0" u="none" strike="noStrike" dirty="0">
                          <a:solidFill>
                            <a:srgbClr val="000000"/>
                          </a:solidFill>
                          <a:effectLst/>
                          <a:latin typeface="+mn-lt"/>
                        </a:rPr>
                        <a:t>ID de usuario (poblador) de la selección de población</a:t>
                      </a:r>
                    </a:p>
                  </a:txBody>
                  <a:tcPr marL="0" marR="0" marT="0" marB="0" anchor="ctr"/>
                </a:tc>
                <a:tc>
                  <a:txBody>
                    <a:bodyPr/>
                    <a:lstStyle/>
                    <a:p>
                      <a:pPr algn="ctr" fontAlgn="b"/>
                      <a:r>
                        <a:rPr lang="es-419" sz="1200" b="0" i="0" u="none" strike="noStrike" dirty="0">
                          <a:solidFill>
                            <a:srgbClr val="000000"/>
                          </a:solidFill>
                          <a:effectLst/>
                          <a:latin typeface="+mn-lt"/>
                        </a:rPr>
                        <a:t>Opcional</a:t>
                      </a:r>
                    </a:p>
                  </a:txBody>
                  <a:tcPr marL="0" marR="0" marT="0" marB="0" anchor="ctr"/>
                </a:tc>
                <a:extLst>
                  <a:ext uri="{0D108BD9-81ED-4DB2-BD59-A6C34878D82A}">
                    <a16:rowId xmlns:a16="http://schemas.microsoft.com/office/drawing/2014/main" val="580853560"/>
                  </a:ext>
                </a:extLst>
              </a:tr>
              <a:tr h="455151">
                <a:tc>
                  <a:txBody>
                    <a:bodyPr/>
                    <a:lstStyle/>
                    <a:p>
                      <a:pPr algn="ctr" fontAlgn="b"/>
                      <a:r>
                        <a:rPr lang="es-419" sz="1200" b="0" i="0" u="none" strike="noStrike" dirty="0">
                          <a:solidFill>
                            <a:srgbClr val="000000"/>
                          </a:solidFill>
                          <a:effectLst/>
                          <a:latin typeface="+mn-lt"/>
                        </a:rPr>
                        <a:t>15</a:t>
                      </a:r>
                    </a:p>
                  </a:txBody>
                  <a:tcPr marL="0" marR="0" marT="0" marB="0" anchor="ctr"/>
                </a:tc>
                <a:tc>
                  <a:txBody>
                    <a:bodyPr/>
                    <a:lstStyle/>
                    <a:p>
                      <a:pPr algn="l" fontAlgn="b"/>
                      <a:r>
                        <a:rPr lang="es-419" sz="1200" b="0" i="0" u="none" strike="noStrike">
                          <a:solidFill>
                            <a:srgbClr val="000000"/>
                          </a:solidFill>
                          <a:effectLst/>
                          <a:latin typeface="+mn-lt"/>
                        </a:rPr>
                        <a:t>Modo ejec: A=auditar, U=actlzr</a:t>
                      </a:r>
                    </a:p>
                  </a:txBody>
                  <a:tcPr marL="0" marR="0" marT="0" marB="0" anchor="ctr"/>
                </a:tc>
                <a:tc>
                  <a:txBody>
                    <a:bodyPr/>
                    <a:lstStyle/>
                    <a:p>
                      <a:pPr algn="l" fontAlgn="b"/>
                      <a:r>
                        <a:rPr lang="es-419" sz="1200" b="0" i="0" u="none" strike="noStrike" dirty="0">
                          <a:solidFill>
                            <a:srgbClr val="000000"/>
                          </a:solidFill>
                          <a:effectLst/>
                          <a:latin typeface="+mn-lt"/>
                        </a:rPr>
                        <a:t>Ingrese A para modo «Auditar», U para modo «Actualizar»</a:t>
                      </a:r>
                    </a:p>
                  </a:txBody>
                  <a:tcPr marL="0" marR="0" marT="0" marB="0" anchor="ctr"/>
                </a:tc>
                <a:tc>
                  <a:txBody>
                    <a:bodyPr/>
                    <a:lstStyle/>
                    <a:p>
                      <a:pPr algn="ctr" fontAlgn="b"/>
                      <a:r>
                        <a:rPr lang="es-419" sz="1200" b="0" i="0" u="none" strike="noStrike" dirty="0">
                          <a:solidFill>
                            <a:srgbClr val="000000"/>
                          </a:solidFill>
                          <a:effectLst/>
                          <a:latin typeface="+mn-lt"/>
                        </a:rPr>
                        <a:t>Requerido</a:t>
                      </a:r>
                    </a:p>
                  </a:txBody>
                  <a:tcPr marL="0" marR="0" marT="0" marB="0" anchor="ctr"/>
                </a:tc>
                <a:extLst>
                  <a:ext uri="{0D108BD9-81ED-4DB2-BD59-A6C34878D82A}">
                    <a16:rowId xmlns:a16="http://schemas.microsoft.com/office/drawing/2014/main" val="3452798"/>
                  </a:ext>
                </a:extLst>
              </a:tr>
            </a:tbl>
          </a:graphicData>
        </a:graphic>
      </p:graphicFrame>
      <p:sp>
        <p:nvSpPr>
          <p:cNvPr id="4" name="Rectángulo: esquinas redondeadas 3">
            <a:extLst>
              <a:ext uri="{FF2B5EF4-FFF2-40B4-BE49-F238E27FC236}">
                <a16:creationId xmlns:a16="http://schemas.microsoft.com/office/drawing/2014/main" id="{6C7A4B75-4CD4-48C1-5096-D606BC44F0DE}"/>
              </a:ext>
            </a:extLst>
          </p:cNvPr>
          <p:cNvSpPr/>
          <p:nvPr/>
        </p:nvSpPr>
        <p:spPr>
          <a:xfrm>
            <a:off x="1549400" y="5093589"/>
            <a:ext cx="8591029" cy="86714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PE" sz="1200" dirty="0"/>
              <a:t>Los parámetros del 4 al 7 pueden combinarse para definir los criterios que deberían cumplir los alumnos para la asignación de los grupos.</a:t>
            </a:r>
            <a:endParaRPr lang="es-ES_tradnl" sz="1200" dirty="0"/>
          </a:p>
        </p:txBody>
      </p:sp>
    </p:spTree>
    <p:extLst>
      <p:ext uri="{BB962C8B-B14F-4D97-AF65-F5344CB8AC3E}">
        <p14:creationId xmlns:p14="http://schemas.microsoft.com/office/powerpoint/2010/main" val="27657456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1CE9E-57AA-CDD3-615E-1856D3F5A490}"/>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BE2F29E-B31E-E1A4-1330-ABAB0B4B55CF}"/>
              </a:ext>
            </a:extLst>
          </p:cNvPr>
          <p:cNvPicPr>
            <a:picLocks noChangeAspect="1"/>
          </p:cNvPicPr>
          <p:nvPr/>
        </p:nvPicPr>
        <p:blipFill>
          <a:blip r:embed="rId3"/>
          <a:stretch>
            <a:fillRect/>
          </a:stretch>
        </p:blipFill>
        <p:spPr>
          <a:xfrm>
            <a:off x="738048" y="1163887"/>
            <a:ext cx="10869752" cy="4713854"/>
          </a:xfrm>
          <a:prstGeom prst="rect">
            <a:avLst/>
          </a:prstGeom>
        </p:spPr>
      </p:pic>
      <p:sp>
        <p:nvSpPr>
          <p:cNvPr id="2" name="Marcador de texto vertical 1">
            <a:extLst>
              <a:ext uri="{FF2B5EF4-FFF2-40B4-BE49-F238E27FC236}">
                <a16:creationId xmlns:a16="http://schemas.microsoft.com/office/drawing/2014/main" id="{7A3CE308-5039-A11E-27CD-CC99041FE278}"/>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B0812338-0BDF-C7BC-BAF3-9E6D52E99C3E}"/>
              </a:ext>
            </a:extLst>
          </p:cNvPr>
          <p:cNvSpPr>
            <a:spLocks noGrp="1"/>
          </p:cNvSpPr>
          <p:nvPr>
            <p:ph type="title"/>
          </p:nvPr>
        </p:nvSpPr>
        <p:spPr>
          <a:xfrm>
            <a:off x="938996" y="304614"/>
            <a:ext cx="10477497" cy="898555"/>
          </a:xfrm>
        </p:spPr>
        <p:txBody>
          <a:bodyPr/>
          <a:lstStyle/>
          <a:p>
            <a:r>
              <a:rPr lang="es-419" dirty="0">
                <a:solidFill>
                  <a:schemeClr val="tx2"/>
                </a:solidFill>
              </a:rPr>
              <a:t>Asignación de  grupo de turnos inscripción (SFRGRUP)</a:t>
            </a:r>
            <a:endParaRPr lang="es-ES_tradnl" b="0" dirty="0"/>
          </a:p>
        </p:txBody>
      </p:sp>
      <p:sp>
        <p:nvSpPr>
          <p:cNvPr id="3" name="Rectángulo redondeado 15">
            <a:extLst>
              <a:ext uri="{FF2B5EF4-FFF2-40B4-BE49-F238E27FC236}">
                <a16:creationId xmlns:a16="http://schemas.microsoft.com/office/drawing/2014/main" id="{749A7B4F-F5A4-5A57-394B-4124F7A6DC41}"/>
              </a:ext>
            </a:extLst>
          </p:cNvPr>
          <p:cNvSpPr/>
          <p:nvPr/>
        </p:nvSpPr>
        <p:spPr>
          <a:xfrm>
            <a:off x="1483072" y="5342953"/>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5" name="Rectángulo 4">
            <a:extLst>
              <a:ext uri="{FF2B5EF4-FFF2-40B4-BE49-F238E27FC236}">
                <a16:creationId xmlns:a16="http://schemas.microsoft.com/office/drawing/2014/main" id="{580DFE9F-EA3E-88B5-9CBD-581151543CDE}"/>
              </a:ext>
            </a:extLst>
          </p:cNvPr>
          <p:cNvSpPr/>
          <p:nvPr/>
        </p:nvSpPr>
        <p:spPr>
          <a:xfrm>
            <a:off x="1064725" y="5499100"/>
            <a:ext cx="383075" cy="28471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esquinas redondeadas 5">
            <a:extLst>
              <a:ext uri="{FF2B5EF4-FFF2-40B4-BE49-F238E27FC236}">
                <a16:creationId xmlns:a16="http://schemas.microsoft.com/office/drawing/2014/main" id="{E8EE0673-97DE-06F4-2861-4AB42175084F}"/>
              </a:ext>
            </a:extLst>
          </p:cNvPr>
          <p:cNvSpPr/>
          <p:nvPr/>
        </p:nvSpPr>
        <p:spPr>
          <a:xfrm>
            <a:off x="2006600" y="4450413"/>
            <a:ext cx="8591029" cy="86714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6"/>
            </a:pPr>
            <a:r>
              <a:rPr lang="es-PE" sz="1200" dirty="0"/>
              <a:t>Ingresados los parámetros se requiere desplazarse hacia la sección ‘Envío’ presionando el botón.</a:t>
            </a:r>
          </a:p>
          <a:p>
            <a:pPr marL="228600" indent="-228600">
              <a:buFont typeface="+mj-lt"/>
              <a:buAutoNum type="arabicPeriod" startAt="6"/>
            </a:pPr>
            <a:r>
              <a:rPr lang="es-PE" sz="1200" dirty="0"/>
              <a:t>Si se usan selección de población solo se deben llenar los parámetros 01, 02, 11, 12, 13, 14 y 15</a:t>
            </a:r>
            <a:endParaRPr lang="es-ES_tradnl" sz="1200" dirty="0"/>
          </a:p>
        </p:txBody>
      </p:sp>
    </p:spTree>
    <p:extLst>
      <p:ext uri="{BB962C8B-B14F-4D97-AF65-F5344CB8AC3E}">
        <p14:creationId xmlns:p14="http://schemas.microsoft.com/office/powerpoint/2010/main" val="9265856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4FB78-AE03-5EBD-AE43-F1077680C806}"/>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D64BFA65-4058-499D-81FD-E3B490861D42}"/>
              </a:ext>
            </a:extLst>
          </p:cNvPr>
          <p:cNvPicPr>
            <a:picLocks noChangeAspect="1"/>
          </p:cNvPicPr>
          <p:nvPr/>
        </p:nvPicPr>
        <p:blipFill>
          <a:blip r:embed="rId3"/>
          <a:stretch>
            <a:fillRect/>
          </a:stretch>
        </p:blipFill>
        <p:spPr>
          <a:xfrm>
            <a:off x="609601" y="870768"/>
            <a:ext cx="11256865" cy="4906538"/>
          </a:xfrm>
          <a:prstGeom prst="rect">
            <a:avLst/>
          </a:prstGeom>
        </p:spPr>
      </p:pic>
      <p:sp>
        <p:nvSpPr>
          <p:cNvPr id="2" name="Marcador de texto vertical 1">
            <a:extLst>
              <a:ext uri="{FF2B5EF4-FFF2-40B4-BE49-F238E27FC236}">
                <a16:creationId xmlns:a16="http://schemas.microsoft.com/office/drawing/2014/main" id="{4F405E0A-AB2B-4A0D-E6E2-1AB86974CC70}"/>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2CDBE760-4B29-FA5C-91C9-5E7A3D2E5E66}"/>
              </a:ext>
            </a:extLst>
          </p:cNvPr>
          <p:cNvSpPr>
            <a:spLocks noGrp="1"/>
          </p:cNvSpPr>
          <p:nvPr>
            <p:ph type="title"/>
          </p:nvPr>
        </p:nvSpPr>
        <p:spPr>
          <a:xfrm>
            <a:off x="938996" y="304614"/>
            <a:ext cx="10477497" cy="898555"/>
          </a:xfrm>
        </p:spPr>
        <p:txBody>
          <a:bodyPr/>
          <a:lstStyle/>
          <a:p>
            <a:r>
              <a:rPr lang="es-419" dirty="0">
                <a:solidFill>
                  <a:schemeClr val="tx2"/>
                </a:solidFill>
              </a:rPr>
              <a:t>Asignación de  grupo de turnos inscripción (SFRGRUP)</a:t>
            </a:r>
            <a:endParaRPr lang="es-ES_tradnl" b="0" dirty="0"/>
          </a:p>
        </p:txBody>
      </p:sp>
      <p:sp>
        <p:nvSpPr>
          <p:cNvPr id="3" name="Rectángulo redondeado 15">
            <a:extLst>
              <a:ext uri="{FF2B5EF4-FFF2-40B4-BE49-F238E27FC236}">
                <a16:creationId xmlns:a16="http://schemas.microsoft.com/office/drawing/2014/main" id="{D6113364-9234-E7DC-1BEC-E8BCA4BD4BB6}"/>
              </a:ext>
            </a:extLst>
          </p:cNvPr>
          <p:cNvSpPr/>
          <p:nvPr/>
        </p:nvSpPr>
        <p:spPr>
          <a:xfrm>
            <a:off x="8391177" y="4883829"/>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5" name="Rectángulo 4">
            <a:extLst>
              <a:ext uri="{FF2B5EF4-FFF2-40B4-BE49-F238E27FC236}">
                <a16:creationId xmlns:a16="http://schemas.microsoft.com/office/drawing/2014/main" id="{DEA772BD-51D8-9CCA-7CC3-658128A45F61}"/>
              </a:ext>
            </a:extLst>
          </p:cNvPr>
          <p:cNvSpPr/>
          <p:nvPr/>
        </p:nvSpPr>
        <p:spPr>
          <a:xfrm>
            <a:off x="7855702" y="4868471"/>
            <a:ext cx="535475" cy="18686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esquinas redondeadas 5">
            <a:extLst>
              <a:ext uri="{FF2B5EF4-FFF2-40B4-BE49-F238E27FC236}">
                <a16:creationId xmlns:a16="http://schemas.microsoft.com/office/drawing/2014/main" id="{8BC4DA56-0843-4FBD-5996-76EF909205E4}"/>
              </a:ext>
            </a:extLst>
          </p:cNvPr>
          <p:cNvSpPr/>
          <p:nvPr/>
        </p:nvSpPr>
        <p:spPr>
          <a:xfrm>
            <a:off x="2458253" y="2176360"/>
            <a:ext cx="8591029" cy="86714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7"/>
            </a:pPr>
            <a:r>
              <a:rPr lang="es-PE" sz="1200" dirty="0"/>
              <a:t>En esta sección se requiere asegurar que se encuentre activa la casilla “Enviar”, haciendo clic sobre ella</a:t>
            </a:r>
          </a:p>
          <a:p>
            <a:pPr marL="228600" indent="-228600">
              <a:buFont typeface="+mj-lt"/>
              <a:buAutoNum type="arabicPeriod" startAt="7"/>
            </a:pPr>
            <a:r>
              <a:rPr lang="es-PE" sz="1200" dirty="0"/>
              <a:t>Presione el botón ‘Guardar’.</a:t>
            </a:r>
            <a:endParaRPr lang="es-ES_tradnl" sz="1200" dirty="0"/>
          </a:p>
        </p:txBody>
      </p:sp>
      <p:sp>
        <p:nvSpPr>
          <p:cNvPr id="9" name="Rectángulo redondeado 15">
            <a:extLst>
              <a:ext uri="{FF2B5EF4-FFF2-40B4-BE49-F238E27FC236}">
                <a16:creationId xmlns:a16="http://schemas.microsoft.com/office/drawing/2014/main" id="{18A3EF70-AEFB-BD24-BF27-FF20A33C8F36}"/>
              </a:ext>
            </a:extLst>
          </p:cNvPr>
          <p:cNvSpPr/>
          <p:nvPr/>
        </p:nvSpPr>
        <p:spPr>
          <a:xfrm>
            <a:off x="10992420" y="5522323"/>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0" name="Rectángulo 9">
            <a:extLst>
              <a:ext uri="{FF2B5EF4-FFF2-40B4-BE49-F238E27FC236}">
                <a16:creationId xmlns:a16="http://schemas.microsoft.com/office/drawing/2014/main" id="{A2C139EE-E83E-1EDB-7016-77A9FC2B4D2B}"/>
              </a:ext>
            </a:extLst>
          </p:cNvPr>
          <p:cNvSpPr/>
          <p:nvPr/>
        </p:nvSpPr>
        <p:spPr>
          <a:xfrm>
            <a:off x="11253621" y="5444904"/>
            <a:ext cx="636269" cy="23356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9198723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FAF14-1009-DFFC-B3CD-FA5B8D2CE45E}"/>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C6BB090C-8487-65C3-EE76-A998E7714F7E}"/>
              </a:ext>
            </a:extLst>
          </p:cNvPr>
          <p:cNvPicPr>
            <a:picLocks noChangeAspect="1"/>
          </p:cNvPicPr>
          <p:nvPr/>
        </p:nvPicPr>
        <p:blipFill>
          <a:blip r:embed="rId3"/>
          <a:stretch>
            <a:fillRect/>
          </a:stretch>
        </p:blipFill>
        <p:spPr>
          <a:xfrm>
            <a:off x="609601" y="1410207"/>
            <a:ext cx="11125199" cy="1023407"/>
          </a:xfrm>
          <a:prstGeom prst="rect">
            <a:avLst/>
          </a:prstGeom>
        </p:spPr>
      </p:pic>
      <p:sp>
        <p:nvSpPr>
          <p:cNvPr id="2" name="Marcador de texto vertical 1">
            <a:extLst>
              <a:ext uri="{FF2B5EF4-FFF2-40B4-BE49-F238E27FC236}">
                <a16:creationId xmlns:a16="http://schemas.microsoft.com/office/drawing/2014/main" id="{6DF7B18D-0CC8-04F1-5FC1-ABF09506D331}"/>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F52B786A-8704-1B17-7AA1-6AAEDAAE800A}"/>
              </a:ext>
            </a:extLst>
          </p:cNvPr>
          <p:cNvSpPr>
            <a:spLocks noGrp="1"/>
          </p:cNvSpPr>
          <p:nvPr>
            <p:ph type="title"/>
          </p:nvPr>
        </p:nvSpPr>
        <p:spPr>
          <a:xfrm>
            <a:off x="938996" y="304614"/>
            <a:ext cx="10477497" cy="898555"/>
          </a:xfrm>
        </p:spPr>
        <p:txBody>
          <a:bodyPr/>
          <a:lstStyle/>
          <a:p>
            <a:r>
              <a:rPr lang="es-419" dirty="0">
                <a:solidFill>
                  <a:schemeClr val="tx2"/>
                </a:solidFill>
              </a:rPr>
              <a:t>Asignación de  grupo de turnos inscripción (SFRGRUP)</a:t>
            </a:r>
            <a:endParaRPr lang="es-ES_tradnl" b="0" dirty="0"/>
          </a:p>
        </p:txBody>
      </p:sp>
      <p:sp>
        <p:nvSpPr>
          <p:cNvPr id="6" name="Rectángulo: esquinas redondeadas 5">
            <a:extLst>
              <a:ext uri="{FF2B5EF4-FFF2-40B4-BE49-F238E27FC236}">
                <a16:creationId xmlns:a16="http://schemas.microsoft.com/office/drawing/2014/main" id="{4199ACF1-675A-8B4D-1EAD-07815B318F87}"/>
              </a:ext>
            </a:extLst>
          </p:cNvPr>
          <p:cNvSpPr/>
          <p:nvPr/>
        </p:nvSpPr>
        <p:spPr>
          <a:xfrm>
            <a:off x="3055626" y="2779936"/>
            <a:ext cx="6901174" cy="75617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PE" sz="1200" dirty="0"/>
              <a:t>El sistema asignará un número de proceso ejecutado para el seguimiento de los resultados de este.</a:t>
            </a:r>
            <a:endParaRPr lang="es-ES_tradnl" sz="1200" dirty="0"/>
          </a:p>
        </p:txBody>
      </p:sp>
    </p:spTree>
    <p:extLst>
      <p:ext uri="{BB962C8B-B14F-4D97-AF65-F5344CB8AC3E}">
        <p14:creationId xmlns:p14="http://schemas.microsoft.com/office/powerpoint/2010/main" val="12254090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75D21-781E-CC8B-50A5-08EE21879544}"/>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A5032A44-CFDB-9CF8-3D7B-CB00DC9566C3}"/>
              </a:ext>
            </a:extLst>
          </p:cNvPr>
          <p:cNvPicPr>
            <a:picLocks noChangeAspect="1"/>
          </p:cNvPicPr>
          <p:nvPr/>
        </p:nvPicPr>
        <p:blipFill>
          <a:blip r:embed="rId3"/>
          <a:stretch>
            <a:fillRect/>
          </a:stretch>
        </p:blipFill>
        <p:spPr>
          <a:xfrm>
            <a:off x="938996" y="1104295"/>
            <a:ext cx="10565489" cy="4598005"/>
          </a:xfrm>
          <a:prstGeom prst="rect">
            <a:avLst/>
          </a:prstGeom>
        </p:spPr>
      </p:pic>
      <p:sp>
        <p:nvSpPr>
          <p:cNvPr id="2" name="Marcador de texto vertical 1">
            <a:extLst>
              <a:ext uri="{FF2B5EF4-FFF2-40B4-BE49-F238E27FC236}">
                <a16:creationId xmlns:a16="http://schemas.microsoft.com/office/drawing/2014/main" id="{5833F19B-E72B-0D2B-CA3F-2EEE5EB4F454}"/>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BEE8395F-FC45-9050-EEE0-D600551F256A}"/>
              </a:ext>
            </a:extLst>
          </p:cNvPr>
          <p:cNvSpPr>
            <a:spLocks noGrp="1"/>
          </p:cNvSpPr>
          <p:nvPr>
            <p:ph type="title"/>
          </p:nvPr>
        </p:nvSpPr>
        <p:spPr>
          <a:xfrm>
            <a:off x="938996" y="304614"/>
            <a:ext cx="10477497" cy="898555"/>
          </a:xfrm>
        </p:spPr>
        <p:txBody>
          <a:bodyPr/>
          <a:lstStyle/>
          <a:p>
            <a:r>
              <a:rPr lang="es-419" dirty="0">
                <a:solidFill>
                  <a:schemeClr val="tx2"/>
                </a:solidFill>
              </a:rPr>
              <a:t>Asignación de  grupo de turnos inscripción (SFRGRUP)</a:t>
            </a:r>
            <a:endParaRPr lang="es-ES_tradnl" b="0" dirty="0"/>
          </a:p>
        </p:txBody>
      </p:sp>
      <p:sp>
        <p:nvSpPr>
          <p:cNvPr id="4" name="Rectángulo redondeado 5">
            <a:extLst>
              <a:ext uri="{FF2B5EF4-FFF2-40B4-BE49-F238E27FC236}">
                <a16:creationId xmlns:a16="http://schemas.microsoft.com/office/drawing/2014/main" id="{72C6E341-0458-19C6-CC5F-61B35A73044D}"/>
              </a:ext>
            </a:extLst>
          </p:cNvPr>
          <p:cNvSpPr/>
          <p:nvPr/>
        </p:nvSpPr>
        <p:spPr>
          <a:xfrm>
            <a:off x="1498600" y="3125243"/>
            <a:ext cx="7101458" cy="127436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9"/>
            </a:pPr>
            <a:r>
              <a:rPr lang="es-PE" sz="1200" dirty="0"/>
              <a:t>Para revisar los resultados de la ejecución del proceso, se presiona la opción correspondiente al Menú relacionado </a:t>
            </a:r>
          </a:p>
          <a:p>
            <a:pPr marL="228600" indent="-228600">
              <a:buFont typeface="+mj-lt"/>
              <a:buAutoNum type="arabicPeriod" startAt="9"/>
            </a:pPr>
            <a:r>
              <a:rPr lang="es-PE" sz="1200" dirty="0"/>
              <a:t>Seleccione la opción ‘Revisar salida (GJIREVO)’</a:t>
            </a:r>
            <a:endParaRPr lang="es-ES_tradnl" sz="1200" dirty="0"/>
          </a:p>
        </p:txBody>
      </p:sp>
      <p:sp>
        <p:nvSpPr>
          <p:cNvPr id="8" name="Rectángulo redondeado 15">
            <a:extLst>
              <a:ext uri="{FF2B5EF4-FFF2-40B4-BE49-F238E27FC236}">
                <a16:creationId xmlns:a16="http://schemas.microsoft.com/office/drawing/2014/main" id="{B0780BCD-A53B-5E46-B9C2-53D60C52765A}"/>
              </a:ext>
            </a:extLst>
          </p:cNvPr>
          <p:cNvSpPr/>
          <p:nvPr/>
        </p:nvSpPr>
        <p:spPr>
          <a:xfrm>
            <a:off x="10308951" y="1351978"/>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11" name="Rectángulo 10">
            <a:extLst>
              <a:ext uri="{FF2B5EF4-FFF2-40B4-BE49-F238E27FC236}">
                <a16:creationId xmlns:a16="http://schemas.microsoft.com/office/drawing/2014/main" id="{B01A24D8-CEB8-E743-0A3D-4600E1C9C720}"/>
              </a:ext>
            </a:extLst>
          </p:cNvPr>
          <p:cNvSpPr/>
          <p:nvPr/>
        </p:nvSpPr>
        <p:spPr>
          <a:xfrm>
            <a:off x="9856911" y="1157825"/>
            <a:ext cx="360422" cy="2186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613FF344-F5BE-8763-F8CA-70153B5832AF}"/>
              </a:ext>
            </a:extLst>
          </p:cNvPr>
          <p:cNvSpPr/>
          <p:nvPr/>
        </p:nvSpPr>
        <p:spPr>
          <a:xfrm>
            <a:off x="10928532" y="1904999"/>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10</a:t>
            </a:r>
          </a:p>
        </p:txBody>
      </p:sp>
      <p:sp>
        <p:nvSpPr>
          <p:cNvPr id="14" name="Rectángulo 13">
            <a:extLst>
              <a:ext uri="{FF2B5EF4-FFF2-40B4-BE49-F238E27FC236}">
                <a16:creationId xmlns:a16="http://schemas.microsoft.com/office/drawing/2014/main" id="{2CBF3C51-DA37-85DF-0809-260F16879BCC}"/>
              </a:ext>
            </a:extLst>
          </p:cNvPr>
          <p:cNvSpPr/>
          <p:nvPr/>
        </p:nvSpPr>
        <p:spPr>
          <a:xfrm>
            <a:off x="9546748" y="1770359"/>
            <a:ext cx="1324451" cy="23249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338474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0BAA8-E224-D6BD-A04F-607935A51B0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40FDE58E-82ED-8B58-B5E6-88E51B277827}"/>
              </a:ext>
            </a:extLst>
          </p:cNvPr>
          <p:cNvPicPr>
            <a:picLocks noChangeAspect="1"/>
          </p:cNvPicPr>
          <p:nvPr/>
        </p:nvPicPr>
        <p:blipFill>
          <a:blip r:embed="rId3"/>
          <a:stretch>
            <a:fillRect/>
          </a:stretch>
        </p:blipFill>
        <p:spPr>
          <a:xfrm>
            <a:off x="775507" y="1059640"/>
            <a:ext cx="11167246" cy="4560446"/>
          </a:xfrm>
          <a:prstGeom prst="rect">
            <a:avLst/>
          </a:prstGeom>
        </p:spPr>
      </p:pic>
      <p:sp>
        <p:nvSpPr>
          <p:cNvPr id="2" name="Marcador de texto vertical 1">
            <a:extLst>
              <a:ext uri="{FF2B5EF4-FFF2-40B4-BE49-F238E27FC236}">
                <a16:creationId xmlns:a16="http://schemas.microsoft.com/office/drawing/2014/main" id="{8E33A7A8-67DA-1775-7656-6912D7F0264A}"/>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0328C2C4-763D-C705-FCF8-B93D1CFAD6A9}"/>
              </a:ext>
            </a:extLst>
          </p:cNvPr>
          <p:cNvSpPr>
            <a:spLocks noGrp="1"/>
          </p:cNvSpPr>
          <p:nvPr>
            <p:ph type="title"/>
          </p:nvPr>
        </p:nvSpPr>
        <p:spPr>
          <a:xfrm>
            <a:off x="938996" y="304614"/>
            <a:ext cx="10477497" cy="898555"/>
          </a:xfrm>
        </p:spPr>
        <p:txBody>
          <a:bodyPr/>
          <a:lstStyle/>
          <a:p>
            <a:r>
              <a:rPr lang="es-419" dirty="0">
                <a:solidFill>
                  <a:schemeClr val="tx2"/>
                </a:solidFill>
              </a:rPr>
              <a:t>Asignación de  grupo de turnos inscripción (SFRGRUP)</a:t>
            </a:r>
            <a:endParaRPr lang="es-ES_tradnl" b="0" dirty="0"/>
          </a:p>
        </p:txBody>
      </p:sp>
      <p:sp>
        <p:nvSpPr>
          <p:cNvPr id="22" name="Rectángulo: esquinas redondeadas 21">
            <a:extLst>
              <a:ext uri="{FF2B5EF4-FFF2-40B4-BE49-F238E27FC236}">
                <a16:creationId xmlns:a16="http://schemas.microsoft.com/office/drawing/2014/main" id="{E363E2C2-0AF8-C388-27DC-E413C43E31FE}"/>
              </a:ext>
            </a:extLst>
          </p:cNvPr>
          <p:cNvSpPr/>
          <p:nvPr/>
        </p:nvSpPr>
        <p:spPr>
          <a:xfrm>
            <a:off x="1413045" y="5282482"/>
            <a:ext cx="8640326" cy="119364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Automáticamente, la página muestra el código y número del proceso. </a:t>
            </a:r>
          </a:p>
          <a:p>
            <a:endParaRPr lang="es-ES_tradnl" sz="1200" dirty="0"/>
          </a:p>
          <a:p>
            <a:pPr marL="228600" indent="-228600">
              <a:buFont typeface="+mj-lt"/>
              <a:buAutoNum type="arabicPeriod" startAt="11"/>
            </a:pPr>
            <a:r>
              <a:rPr lang="es-ES_tradnl" sz="1200" dirty="0"/>
              <a:t>Presionar los tres puntos del campo ‘Nombre de archivo’ se desplegará una ventana emergente con los archivos de salida</a:t>
            </a:r>
          </a:p>
          <a:p>
            <a:pPr marL="228600" indent="-228600">
              <a:buFont typeface="+mj-lt"/>
              <a:buAutoNum type="arabicPeriod" startAt="11"/>
            </a:pPr>
            <a:r>
              <a:rPr lang="es-ES_tradnl" sz="1200" dirty="0"/>
              <a:t>Seleccione el archivo .Lis de la lista</a:t>
            </a:r>
          </a:p>
          <a:p>
            <a:pPr marL="228600" indent="-228600">
              <a:buFont typeface="+mj-lt"/>
              <a:buAutoNum type="arabicPeriod" startAt="11"/>
            </a:pPr>
            <a:r>
              <a:rPr lang="es-ES_tradnl" sz="1200" dirty="0"/>
              <a:t>Presionar el botón ‘OK’.</a:t>
            </a:r>
          </a:p>
        </p:txBody>
      </p:sp>
      <p:sp>
        <p:nvSpPr>
          <p:cNvPr id="6" name="Rectángulo redondeado 15">
            <a:extLst>
              <a:ext uri="{FF2B5EF4-FFF2-40B4-BE49-F238E27FC236}">
                <a16:creationId xmlns:a16="http://schemas.microsoft.com/office/drawing/2014/main" id="{26704680-36FF-B8A4-3C5C-EDD8DB0E42DD}"/>
              </a:ext>
            </a:extLst>
          </p:cNvPr>
          <p:cNvSpPr/>
          <p:nvPr/>
        </p:nvSpPr>
        <p:spPr>
          <a:xfrm>
            <a:off x="3238350" y="1866743"/>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11</a:t>
            </a:r>
          </a:p>
        </p:txBody>
      </p:sp>
      <p:sp>
        <p:nvSpPr>
          <p:cNvPr id="7" name="Rectángulo 6">
            <a:extLst>
              <a:ext uri="{FF2B5EF4-FFF2-40B4-BE49-F238E27FC236}">
                <a16:creationId xmlns:a16="http://schemas.microsoft.com/office/drawing/2014/main" id="{74EC8224-EE8F-956B-669A-D77B5659D08B}"/>
              </a:ext>
            </a:extLst>
          </p:cNvPr>
          <p:cNvSpPr/>
          <p:nvPr/>
        </p:nvSpPr>
        <p:spPr>
          <a:xfrm>
            <a:off x="938996" y="1659222"/>
            <a:ext cx="2299354" cy="22022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C674B349-8C7B-7004-D5E5-C1B0AC2D61CA}"/>
              </a:ext>
            </a:extLst>
          </p:cNvPr>
          <p:cNvSpPr/>
          <p:nvPr/>
        </p:nvSpPr>
        <p:spPr>
          <a:xfrm>
            <a:off x="6647311" y="3196902"/>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12</a:t>
            </a:r>
          </a:p>
        </p:txBody>
      </p:sp>
      <p:sp>
        <p:nvSpPr>
          <p:cNvPr id="11" name="Rectángulo 10">
            <a:extLst>
              <a:ext uri="{FF2B5EF4-FFF2-40B4-BE49-F238E27FC236}">
                <a16:creationId xmlns:a16="http://schemas.microsoft.com/office/drawing/2014/main" id="{EA61D941-B656-E32E-E91B-60C3EA0CBF8A}"/>
              </a:ext>
            </a:extLst>
          </p:cNvPr>
          <p:cNvSpPr/>
          <p:nvPr/>
        </p:nvSpPr>
        <p:spPr>
          <a:xfrm>
            <a:off x="3726311" y="3099864"/>
            <a:ext cx="2932515" cy="1429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56071DCE-BC3A-1CAB-46D9-FA698A18C249}"/>
              </a:ext>
            </a:extLst>
          </p:cNvPr>
          <p:cNvSpPr/>
          <p:nvPr/>
        </p:nvSpPr>
        <p:spPr>
          <a:xfrm>
            <a:off x="8009093" y="4755028"/>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13</a:t>
            </a:r>
          </a:p>
        </p:txBody>
      </p:sp>
      <p:sp>
        <p:nvSpPr>
          <p:cNvPr id="14" name="Rectángulo 13">
            <a:extLst>
              <a:ext uri="{FF2B5EF4-FFF2-40B4-BE49-F238E27FC236}">
                <a16:creationId xmlns:a16="http://schemas.microsoft.com/office/drawing/2014/main" id="{5A44E6BA-9AAC-6207-058A-19FF5C0ECA8B}"/>
              </a:ext>
            </a:extLst>
          </p:cNvPr>
          <p:cNvSpPr/>
          <p:nvPr/>
        </p:nvSpPr>
        <p:spPr>
          <a:xfrm>
            <a:off x="7981326" y="4907438"/>
            <a:ext cx="515728" cy="22263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2599155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108AB-69CE-3664-93BD-90E204261D0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99098C9-A32A-356F-2978-E779FF6785F7}"/>
              </a:ext>
            </a:extLst>
          </p:cNvPr>
          <p:cNvPicPr>
            <a:picLocks noChangeAspect="1"/>
          </p:cNvPicPr>
          <p:nvPr/>
        </p:nvPicPr>
        <p:blipFill>
          <a:blip r:embed="rId3"/>
          <a:stretch>
            <a:fillRect/>
          </a:stretch>
        </p:blipFill>
        <p:spPr>
          <a:xfrm>
            <a:off x="788860" y="1122630"/>
            <a:ext cx="10793538" cy="4467263"/>
          </a:xfrm>
          <a:prstGeom prst="rect">
            <a:avLst/>
          </a:prstGeom>
        </p:spPr>
      </p:pic>
      <p:sp>
        <p:nvSpPr>
          <p:cNvPr id="2" name="Marcador de texto vertical 1">
            <a:extLst>
              <a:ext uri="{FF2B5EF4-FFF2-40B4-BE49-F238E27FC236}">
                <a16:creationId xmlns:a16="http://schemas.microsoft.com/office/drawing/2014/main" id="{C99DF786-82E4-8770-1939-C85979DF4829}"/>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E2EB9006-9467-0C1E-2909-D5836EA468F6}"/>
              </a:ext>
            </a:extLst>
          </p:cNvPr>
          <p:cNvSpPr>
            <a:spLocks noGrp="1"/>
          </p:cNvSpPr>
          <p:nvPr>
            <p:ph type="title"/>
          </p:nvPr>
        </p:nvSpPr>
        <p:spPr>
          <a:xfrm>
            <a:off x="938996" y="304614"/>
            <a:ext cx="10477497" cy="898555"/>
          </a:xfrm>
        </p:spPr>
        <p:txBody>
          <a:bodyPr/>
          <a:lstStyle/>
          <a:p>
            <a:r>
              <a:rPr lang="es-419" dirty="0">
                <a:solidFill>
                  <a:schemeClr val="tx2"/>
                </a:solidFill>
              </a:rPr>
              <a:t>Asignación de  grupo de turnos inscripción (SFRGRUP)</a:t>
            </a:r>
            <a:endParaRPr lang="es-ES_tradnl" b="0" dirty="0"/>
          </a:p>
        </p:txBody>
      </p:sp>
      <p:sp>
        <p:nvSpPr>
          <p:cNvPr id="8" name="Rectángulo: esquinas redondeadas 7">
            <a:extLst>
              <a:ext uri="{FF2B5EF4-FFF2-40B4-BE49-F238E27FC236}">
                <a16:creationId xmlns:a16="http://schemas.microsoft.com/office/drawing/2014/main" id="{D4717C07-750C-C2E6-882D-A79B272C41CE}"/>
              </a:ext>
            </a:extLst>
          </p:cNvPr>
          <p:cNvSpPr/>
          <p:nvPr/>
        </p:nvSpPr>
        <p:spPr>
          <a:xfrm>
            <a:off x="3073400" y="4711699"/>
            <a:ext cx="7562835" cy="74501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El archivo .lis entrega el resultado del proceso ejecutado, indicando particularmente la cantidad de registros creados en la última sección de la página.</a:t>
            </a:r>
          </a:p>
        </p:txBody>
      </p:sp>
    </p:spTree>
    <p:extLst>
      <p:ext uri="{BB962C8B-B14F-4D97-AF65-F5344CB8AC3E}">
        <p14:creationId xmlns:p14="http://schemas.microsoft.com/office/powerpoint/2010/main" val="22435189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3FE0B-BC4F-AA10-8816-00CF3D31A028}"/>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26EB04DD-B1C0-CD93-29E8-7CE1FDCB34C6}"/>
              </a:ext>
            </a:extLst>
          </p:cNvPr>
          <p:cNvPicPr>
            <a:picLocks noChangeAspect="1"/>
          </p:cNvPicPr>
          <p:nvPr/>
        </p:nvPicPr>
        <p:blipFill>
          <a:blip r:embed="rId3"/>
          <a:stretch>
            <a:fillRect/>
          </a:stretch>
        </p:blipFill>
        <p:spPr>
          <a:xfrm>
            <a:off x="1099712" y="1198665"/>
            <a:ext cx="10520788" cy="4711386"/>
          </a:xfrm>
          <a:prstGeom prst="rect">
            <a:avLst/>
          </a:prstGeom>
        </p:spPr>
      </p:pic>
      <p:sp>
        <p:nvSpPr>
          <p:cNvPr id="2" name="Marcador de texto vertical 1">
            <a:extLst>
              <a:ext uri="{FF2B5EF4-FFF2-40B4-BE49-F238E27FC236}">
                <a16:creationId xmlns:a16="http://schemas.microsoft.com/office/drawing/2014/main" id="{6E1F1986-5D2B-3AFE-2216-4EE6E501400A}"/>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68235824-9576-7025-3A17-8EDEA7D2BB4F}"/>
              </a:ext>
            </a:extLst>
          </p:cNvPr>
          <p:cNvSpPr>
            <a:spLocks noGrp="1"/>
          </p:cNvSpPr>
          <p:nvPr>
            <p:ph type="title"/>
          </p:nvPr>
        </p:nvSpPr>
        <p:spPr>
          <a:xfrm>
            <a:off x="938996" y="304614"/>
            <a:ext cx="10477497" cy="898555"/>
          </a:xfrm>
        </p:spPr>
        <p:txBody>
          <a:bodyPr/>
          <a:lstStyle/>
          <a:p>
            <a:r>
              <a:rPr lang="es-419" dirty="0">
                <a:solidFill>
                  <a:schemeClr val="tx2"/>
                </a:solidFill>
              </a:rPr>
              <a:t>Asignación de  grupo de turnos inscripción (SFRGRUP)</a:t>
            </a:r>
            <a:endParaRPr lang="es-ES_tradnl" b="0" dirty="0"/>
          </a:p>
        </p:txBody>
      </p:sp>
      <p:sp>
        <p:nvSpPr>
          <p:cNvPr id="8" name="Rectángulo: esquinas redondeadas 7">
            <a:extLst>
              <a:ext uri="{FF2B5EF4-FFF2-40B4-BE49-F238E27FC236}">
                <a16:creationId xmlns:a16="http://schemas.microsoft.com/office/drawing/2014/main" id="{B8C71712-25CB-19D5-40C1-CDB83144FF12}"/>
              </a:ext>
            </a:extLst>
          </p:cNvPr>
          <p:cNvSpPr/>
          <p:nvPr/>
        </p:nvSpPr>
        <p:spPr>
          <a:xfrm>
            <a:off x="1447800" y="4165599"/>
            <a:ext cx="7562835" cy="74501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4"/>
            </a:pPr>
            <a:r>
              <a:rPr lang="es-ES_tradnl" sz="1200" dirty="0"/>
              <a:t>Presione la opción de herramientas</a:t>
            </a:r>
          </a:p>
          <a:p>
            <a:pPr marL="228600" indent="-228600">
              <a:buFont typeface="+mj-lt"/>
              <a:buAutoNum type="arabicPeriod" startAt="14"/>
            </a:pPr>
            <a:r>
              <a:rPr lang="es-ES_tradnl" sz="1200" dirty="0"/>
              <a:t>Seleccione la opción Mostrar documento para que pueda exportar el archivo .lis y guardarlo en su dispositivo.</a:t>
            </a:r>
          </a:p>
        </p:txBody>
      </p:sp>
      <p:sp>
        <p:nvSpPr>
          <p:cNvPr id="11" name="Rectángulo redondeado 15">
            <a:extLst>
              <a:ext uri="{FF2B5EF4-FFF2-40B4-BE49-F238E27FC236}">
                <a16:creationId xmlns:a16="http://schemas.microsoft.com/office/drawing/2014/main" id="{DCBF260F-AECD-D94A-5AFE-AD28726CF5EC}"/>
              </a:ext>
            </a:extLst>
          </p:cNvPr>
          <p:cNvSpPr/>
          <p:nvPr/>
        </p:nvSpPr>
        <p:spPr>
          <a:xfrm>
            <a:off x="10576292" y="1388841"/>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14</a:t>
            </a:r>
          </a:p>
        </p:txBody>
      </p:sp>
      <p:sp>
        <p:nvSpPr>
          <p:cNvPr id="12" name="Rectángulo 11">
            <a:extLst>
              <a:ext uri="{FF2B5EF4-FFF2-40B4-BE49-F238E27FC236}">
                <a16:creationId xmlns:a16="http://schemas.microsoft.com/office/drawing/2014/main" id="{7E0D23F4-BECF-081D-32B5-1AC664B1CFAD}"/>
              </a:ext>
            </a:extLst>
          </p:cNvPr>
          <p:cNvSpPr/>
          <p:nvPr/>
        </p:nvSpPr>
        <p:spPr>
          <a:xfrm>
            <a:off x="11253004" y="1277048"/>
            <a:ext cx="367496" cy="2723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F53AC1DE-36A9-6098-C9A7-8CE557D17AE2}"/>
              </a:ext>
            </a:extLst>
          </p:cNvPr>
          <p:cNvSpPr/>
          <p:nvPr/>
        </p:nvSpPr>
        <p:spPr>
          <a:xfrm>
            <a:off x="9106874" y="5830605"/>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15</a:t>
            </a:r>
          </a:p>
        </p:txBody>
      </p:sp>
      <p:sp>
        <p:nvSpPr>
          <p:cNvPr id="15" name="Rectángulo 14">
            <a:extLst>
              <a:ext uri="{FF2B5EF4-FFF2-40B4-BE49-F238E27FC236}">
                <a16:creationId xmlns:a16="http://schemas.microsoft.com/office/drawing/2014/main" id="{0A2D3E0C-66BB-F924-273A-B08F753B8D94}"/>
              </a:ext>
            </a:extLst>
          </p:cNvPr>
          <p:cNvSpPr/>
          <p:nvPr/>
        </p:nvSpPr>
        <p:spPr>
          <a:xfrm>
            <a:off x="9560694" y="5580952"/>
            <a:ext cx="2031196" cy="2723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6161960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2AE2D-5D42-ADF8-FB2C-9516ED9EBA3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5A31A70-0A57-9B9D-CBC3-ECA09B3C8DC9}"/>
              </a:ext>
            </a:extLst>
          </p:cNvPr>
          <p:cNvPicPr>
            <a:picLocks noChangeAspect="1"/>
          </p:cNvPicPr>
          <p:nvPr/>
        </p:nvPicPr>
        <p:blipFill>
          <a:blip r:embed="rId3"/>
          <a:stretch>
            <a:fillRect/>
          </a:stretch>
        </p:blipFill>
        <p:spPr>
          <a:xfrm>
            <a:off x="600110" y="976037"/>
            <a:ext cx="10933242" cy="4729741"/>
          </a:xfrm>
          <a:prstGeom prst="rect">
            <a:avLst/>
          </a:prstGeom>
        </p:spPr>
      </p:pic>
      <p:sp>
        <p:nvSpPr>
          <p:cNvPr id="2" name="Marcador de texto vertical 1">
            <a:extLst>
              <a:ext uri="{FF2B5EF4-FFF2-40B4-BE49-F238E27FC236}">
                <a16:creationId xmlns:a16="http://schemas.microsoft.com/office/drawing/2014/main" id="{B9B673E8-3058-C601-A97C-7B74C5D3B061}"/>
              </a:ext>
            </a:extLst>
          </p:cNvPr>
          <p:cNvSpPr>
            <a:spLocks noGrp="1"/>
          </p:cNvSpPr>
          <p:nvPr>
            <p:ph type="body" orient="vert" sz="quarter" idx="17"/>
          </p:nvPr>
        </p:nvSpPr>
        <p:spPr/>
        <p:txBody>
          <a:bodyPr/>
          <a:lstStyle/>
          <a:p>
            <a:r>
              <a:rPr lang="es-419" sz="1200" dirty="0"/>
              <a:t>Ejecutar la inscripción de cursos por Autoservicio por Lista de Espera</a:t>
            </a:r>
          </a:p>
        </p:txBody>
      </p:sp>
      <p:sp>
        <p:nvSpPr>
          <p:cNvPr id="13" name="Title 12">
            <a:extLst>
              <a:ext uri="{FF2B5EF4-FFF2-40B4-BE49-F238E27FC236}">
                <a16:creationId xmlns:a16="http://schemas.microsoft.com/office/drawing/2014/main" id="{AD62B984-D6BB-9071-AA65-E22E019935B3}"/>
              </a:ext>
            </a:extLst>
          </p:cNvPr>
          <p:cNvSpPr>
            <a:spLocks noGrp="1"/>
          </p:cNvSpPr>
          <p:nvPr>
            <p:ph type="title"/>
          </p:nvPr>
        </p:nvSpPr>
        <p:spPr>
          <a:xfrm>
            <a:off x="938996" y="304614"/>
            <a:ext cx="10477497" cy="898555"/>
          </a:xfrm>
        </p:spPr>
        <p:txBody>
          <a:bodyPr/>
          <a:lstStyle/>
          <a:p>
            <a:r>
              <a:rPr lang="es-CO" dirty="0">
                <a:solidFill>
                  <a:schemeClr val="tx2"/>
                </a:solidFill>
              </a:rPr>
              <a:t>Grupo de inscripción de alumnos SFARGRP</a:t>
            </a:r>
            <a:endParaRPr lang="es-ES_tradnl" b="0" dirty="0"/>
          </a:p>
        </p:txBody>
      </p:sp>
      <p:sp>
        <p:nvSpPr>
          <p:cNvPr id="8" name="Rectángulo: esquinas redondeadas 7">
            <a:extLst>
              <a:ext uri="{FF2B5EF4-FFF2-40B4-BE49-F238E27FC236}">
                <a16:creationId xmlns:a16="http://schemas.microsoft.com/office/drawing/2014/main" id="{CD43178A-EC00-8A50-905A-3C6AB366FCAC}"/>
              </a:ext>
            </a:extLst>
          </p:cNvPr>
          <p:cNvSpPr/>
          <p:nvPr/>
        </p:nvSpPr>
        <p:spPr>
          <a:xfrm>
            <a:off x="1447800" y="4165599"/>
            <a:ext cx="7562835" cy="74501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1. Se puede consultar el grupo asignado a los ID del archivo plano</a:t>
            </a:r>
          </a:p>
        </p:txBody>
      </p:sp>
      <p:sp>
        <p:nvSpPr>
          <p:cNvPr id="11" name="Rectángulo redondeado 15">
            <a:extLst>
              <a:ext uri="{FF2B5EF4-FFF2-40B4-BE49-F238E27FC236}">
                <a16:creationId xmlns:a16="http://schemas.microsoft.com/office/drawing/2014/main" id="{FFAFF0B9-B9A7-B781-D24C-74ABDE7351B7}"/>
              </a:ext>
            </a:extLst>
          </p:cNvPr>
          <p:cNvSpPr/>
          <p:nvPr/>
        </p:nvSpPr>
        <p:spPr>
          <a:xfrm>
            <a:off x="268981" y="1203169"/>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2" name="Rectángulo 11">
            <a:extLst>
              <a:ext uri="{FF2B5EF4-FFF2-40B4-BE49-F238E27FC236}">
                <a16:creationId xmlns:a16="http://schemas.microsoft.com/office/drawing/2014/main" id="{272CD333-D0E4-9D7C-4779-F4FB92AE90DD}"/>
              </a:ext>
            </a:extLst>
          </p:cNvPr>
          <p:cNvSpPr/>
          <p:nvPr/>
        </p:nvSpPr>
        <p:spPr>
          <a:xfrm>
            <a:off x="534975" y="1357230"/>
            <a:ext cx="741564" cy="21603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9079145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9670C-2BA2-424A-CDC5-BF24536B7A66}"/>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2F7B0C64-3C7B-7170-ABD3-7889607F2C6B}"/>
              </a:ext>
            </a:extLst>
          </p:cNvPr>
          <p:cNvSpPr>
            <a:spLocks noGrp="1"/>
          </p:cNvSpPr>
          <p:nvPr>
            <p:ph type="body" sz="quarter" idx="10"/>
          </p:nvPr>
        </p:nvSpPr>
        <p:spPr>
          <a:xfrm>
            <a:off x="914399" y="2238843"/>
            <a:ext cx="10363202" cy="669094"/>
          </a:xfrm>
        </p:spPr>
        <p:txBody>
          <a:bodyPr/>
          <a:lstStyle/>
          <a:p>
            <a:r>
              <a:rPr lang="es-419" dirty="0"/>
              <a:t>Configuración de cartas</a:t>
            </a:r>
          </a:p>
        </p:txBody>
      </p:sp>
    </p:spTree>
    <p:extLst>
      <p:ext uri="{BB962C8B-B14F-4D97-AF65-F5344CB8AC3E}">
        <p14:creationId xmlns:p14="http://schemas.microsoft.com/office/powerpoint/2010/main" val="21167646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F7E4A-4E8B-EC5A-92A4-5DA58CA5DACF}"/>
            </a:ext>
          </a:extLst>
        </p:cNvPr>
        <p:cNvGrpSpPr/>
        <p:nvPr/>
      </p:nvGrpSpPr>
      <p:grpSpPr>
        <a:xfrm>
          <a:off x="0" y="0"/>
          <a:ext cx="0" cy="0"/>
          <a:chOff x="0" y="0"/>
          <a:chExt cx="0" cy="0"/>
        </a:xfrm>
      </p:grpSpPr>
      <p:pic>
        <p:nvPicPr>
          <p:cNvPr id="18" name="Imagen 17">
            <a:extLst>
              <a:ext uri="{FF2B5EF4-FFF2-40B4-BE49-F238E27FC236}">
                <a16:creationId xmlns:a16="http://schemas.microsoft.com/office/drawing/2014/main" id="{A0180AE4-F43C-810E-0DF7-5447578E9C39}"/>
              </a:ext>
            </a:extLst>
          </p:cNvPr>
          <p:cNvPicPr>
            <a:picLocks noChangeAspect="1"/>
          </p:cNvPicPr>
          <p:nvPr/>
        </p:nvPicPr>
        <p:blipFill>
          <a:blip r:embed="rId3"/>
          <a:stretch>
            <a:fillRect/>
          </a:stretch>
        </p:blipFill>
        <p:spPr>
          <a:xfrm>
            <a:off x="775508" y="956346"/>
            <a:ext cx="11382523" cy="4945305"/>
          </a:xfrm>
          <a:prstGeom prst="rect">
            <a:avLst/>
          </a:prstGeom>
        </p:spPr>
      </p:pic>
      <p:sp>
        <p:nvSpPr>
          <p:cNvPr id="2" name="Marcador de texto vertical 1">
            <a:extLst>
              <a:ext uri="{FF2B5EF4-FFF2-40B4-BE49-F238E27FC236}">
                <a16:creationId xmlns:a16="http://schemas.microsoft.com/office/drawing/2014/main" id="{5650E437-8B6F-B7D1-8613-71F150DDF66C}"/>
              </a:ext>
            </a:extLst>
          </p:cNvPr>
          <p:cNvSpPr>
            <a:spLocks noGrp="1"/>
          </p:cNvSpPr>
          <p:nvPr>
            <p:ph type="body" orient="vert" sz="quarter" idx="17"/>
          </p:nvPr>
        </p:nvSpPr>
        <p:spPr/>
        <p:txBody>
          <a:bodyPr/>
          <a:lstStyle/>
          <a:p>
            <a:r>
              <a:rPr lang="es-419" sz="1200" dirty="0"/>
              <a:t>Ejecutar la inscripción de cursos por Lista de Espera</a:t>
            </a:r>
            <a:endParaRPr lang="es-419" dirty="0"/>
          </a:p>
        </p:txBody>
      </p:sp>
      <p:sp>
        <p:nvSpPr>
          <p:cNvPr id="13" name="Title 12">
            <a:extLst>
              <a:ext uri="{FF2B5EF4-FFF2-40B4-BE49-F238E27FC236}">
                <a16:creationId xmlns:a16="http://schemas.microsoft.com/office/drawing/2014/main" id="{70BA1715-0DA9-4A30-5025-3C8584335D37}"/>
              </a:ext>
            </a:extLst>
          </p:cNvPr>
          <p:cNvSpPr>
            <a:spLocks noGrp="1"/>
          </p:cNvSpPr>
          <p:nvPr>
            <p:ph type="title"/>
          </p:nvPr>
        </p:nvSpPr>
        <p:spPr>
          <a:xfrm>
            <a:off x="549334" y="139063"/>
            <a:ext cx="10477497" cy="898555"/>
          </a:xfrm>
        </p:spPr>
        <p:txBody>
          <a:bodyPr/>
          <a:lstStyle/>
          <a:p>
            <a:r>
              <a:rPr lang="es-CO" dirty="0">
                <a:solidFill>
                  <a:schemeClr val="tx2"/>
                </a:solidFill>
              </a:rPr>
              <a:t>Validación del código de carta</a:t>
            </a:r>
            <a:r>
              <a:rPr lang="es-419" dirty="0">
                <a:solidFill>
                  <a:schemeClr val="tx2"/>
                </a:solidFill>
              </a:rPr>
              <a:t>(GTVLETR)</a:t>
            </a:r>
            <a:endParaRPr lang="es-ES_tradnl" b="0" dirty="0"/>
          </a:p>
        </p:txBody>
      </p:sp>
      <p:sp>
        <p:nvSpPr>
          <p:cNvPr id="3" name="Rectángulo redondeado 15">
            <a:extLst>
              <a:ext uri="{FF2B5EF4-FFF2-40B4-BE49-F238E27FC236}">
                <a16:creationId xmlns:a16="http://schemas.microsoft.com/office/drawing/2014/main" id="{BB47C9C2-44CF-7BFF-F19D-D7B1F54F56CA}"/>
              </a:ext>
            </a:extLst>
          </p:cNvPr>
          <p:cNvSpPr/>
          <p:nvPr/>
        </p:nvSpPr>
        <p:spPr>
          <a:xfrm>
            <a:off x="10468376" y="1286258"/>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5" name="Rectángulo 4">
            <a:extLst>
              <a:ext uri="{FF2B5EF4-FFF2-40B4-BE49-F238E27FC236}">
                <a16:creationId xmlns:a16="http://schemas.microsoft.com/office/drawing/2014/main" id="{8802E1B3-51B5-3B7D-CC37-4CA22D53C4F4}"/>
              </a:ext>
            </a:extLst>
          </p:cNvPr>
          <p:cNvSpPr/>
          <p:nvPr/>
        </p:nvSpPr>
        <p:spPr>
          <a:xfrm>
            <a:off x="11238376" y="1326547"/>
            <a:ext cx="237816" cy="1429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29ED9C54-84F1-D1B2-780B-0CADEC80623E}"/>
              </a:ext>
            </a:extLst>
          </p:cNvPr>
          <p:cNvSpPr/>
          <p:nvPr/>
        </p:nvSpPr>
        <p:spPr>
          <a:xfrm>
            <a:off x="516657" y="2302810"/>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3DC81A2B-9447-AD45-6145-6C78FE44818E}"/>
              </a:ext>
            </a:extLst>
          </p:cNvPr>
          <p:cNvSpPr/>
          <p:nvPr/>
        </p:nvSpPr>
        <p:spPr>
          <a:xfrm>
            <a:off x="846638" y="2035365"/>
            <a:ext cx="1116794" cy="211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CDC2ECA5-3D4B-A7D6-DDFD-D259B12EEAEF}"/>
              </a:ext>
            </a:extLst>
          </p:cNvPr>
          <p:cNvSpPr/>
          <p:nvPr/>
        </p:nvSpPr>
        <p:spPr>
          <a:xfrm>
            <a:off x="5003966" y="2216946"/>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0" name="Rectángulo 9">
            <a:extLst>
              <a:ext uri="{FF2B5EF4-FFF2-40B4-BE49-F238E27FC236}">
                <a16:creationId xmlns:a16="http://schemas.microsoft.com/office/drawing/2014/main" id="{BCA6936C-DC8C-83BF-8558-A0EFF8DCA7B6}"/>
              </a:ext>
            </a:extLst>
          </p:cNvPr>
          <p:cNvSpPr/>
          <p:nvPr/>
        </p:nvSpPr>
        <p:spPr>
          <a:xfrm>
            <a:off x="11565110" y="5605271"/>
            <a:ext cx="673225" cy="3138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esquinas redondeadas 11">
            <a:extLst>
              <a:ext uri="{FF2B5EF4-FFF2-40B4-BE49-F238E27FC236}">
                <a16:creationId xmlns:a16="http://schemas.microsoft.com/office/drawing/2014/main" id="{DCE2D7AB-2309-54AA-2B99-973D183D708D}"/>
              </a:ext>
            </a:extLst>
          </p:cNvPr>
          <p:cNvSpPr/>
          <p:nvPr/>
        </p:nvSpPr>
        <p:spPr>
          <a:xfrm>
            <a:off x="1892301" y="3136900"/>
            <a:ext cx="7199252" cy="131845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a:pPr>
            <a:r>
              <a:rPr lang="es-ES_tradnl" sz="1200" dirty="0"/>
              <a:t>Para insertar un registro selecciones (+)</a:t>
            </a:r>
          </a:p>
          <a:p>
            <a:pPr marL="228600" indent="-228600">
              <a:buAutoNum type="arabicPeriod"/>
            </a:pPr>
            <a:r>
              <a:rPr lang="es-ES_tradnl" sz="1200" dirty="0"/>
              <a:t>Ingrese el código: Campo de 15 caracteres</a:t>
            </a:r>
          </a:p>
          <a:p>
            <a:pPr marL="228600" indent="-228600">
              <a:buAutoNum type="arabicPeriod"/>
            </a:pPr>
            <a:r>
              <a:rPr lang="es-ES_tradnl" sz="1200" dirty="0"/>
              <a:t>Ingrese la descripción: campo de 30 caracteres</a:t>
            </a:r>
          </a:p>
          <a:p>
            <a:pPr marL="228600" indent="-228600">
              <a:buAutoNum type="arabicPeriod"/>
            </a:pPr>
            <a:r>
              <a:rPr lang="es-ES_tradnl" sz="1200" dirty="0"/>
              <a:t>Guarde la información</a:t>
            </a:r>
          </a:p>
        </p:txBody>
      </p:sp>
      <p:sp>
        <p:nvSpPr>
          <p:cNvPr id="17" name="Rectángulo 16">
            <a:extLst>
              <a:ext uri="{FF2B5EF4-FFF2-40B4-BE49-F238E27FC236}">
                <a16:creationId xmlns:a16="http://schemas.microsoft.com/office/drawing/2014/main" id="{139FD398-1B95-7FA0-33E0-AD15B1093A8A}"/>
              </a:ext>
            </a:extLst>
          </p:cNvPr>
          <p:cNvSpPr/>
          <p:nvPr/>
        </p:nvSpPr>
        <p:spPr>
          <a:xfrm>
            <a:off x="1991454" y="2035364"/>
            <a:ext cx="3090588" cy="211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68D81227-CDF4-81EE-35F4-F75C76644084}"/>
              </a:ext>
            </a:extLst>
          </p:cNvPr>
          <p:cNvSpPr/>
          <p:nvPr/>
        </p:nvSpPr>
        <p:spPr>
          <a:xfrm>
            <a:off x="11113303" y="5776113"/>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Tree>
    <p:extLst>
      <p:ext uri="{BB962C8B-B14F-4D97-AF65-F5344CB8AC3E}">
        <p14:creationId xmlns:p14="http://schemas.microsoft.com/office/powerpoint/2010/main" val="18867308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16DE1-2110-087C-D326-4A4753F0F4D5}"/>
            </a:ext>
          </a:extLst>
        </p:cNvPr>
        <p:cNvGrpSpPr/>
        <p:nvPr/>
      </p:nvGrpSpPr>
      <p:grpSpPr>
        <a:xfrm>
          <a:off x="0" y="0"/>
          <a:ext cx="0" cy="0"/>
          <a:chOff x="0" y="0"/>
          <a:chExt cx="0" cy="0"/>
        </a:xfrm>
      </p:grpSpPr>
      <p:pic>
        <p:nvPicPr>
          <p:cNvPr id="14" name="Imagen 13">
            <a:extLst>
              <a:ext uri="{FF2B5EF4-FFF2-40B4-BE49-F238E27FC236}">
                <a16:creationId xmlns:a16="http://schemas.microsoft.com/office/drawing/2014/main" id="{2AB9F69E-D416-4AB2-A815-732940F88F5A}"/>
              </a:ext>
            </a:extLst>
          </p:cNvPr>
          <p:cNvPicPr>
            <a:picLocks noChangeAspect="1"/>
          </p:cNvPicPr>
          <p:nvPr/>
        </p:nvPicPr>
        <p:blipFill>
          <a:blip r:embed="rId3"/>
          <a:stretch>
            <a:fillRect/>
          </a:stretch>
        </p:blipFill>
        <p:spPr>
          <a:xfrm>
            <a:off x="743675" y="867443"/>
            <a:ext cx="11474170" cy="4980150"/>
          </a:xfrm>
          <a:prstGeom prst="rect">
            <a:avLst/>
          </a:prstGeom>
        </p:spPr>
      </p:pic>
      <p:sp>
        <p:nvSpPr>
          <p:cNvPr id="13" name="Title 12">
            <a:extLst>
              <a:ext uri="{FF2B5EF4-FFF2-40B4-BE49-F238E27FC236}">
                <a16:creationId xmlns:a16="http://schemas.microsoft.com/office/drawing/2014/main" id="{7FEC92D6-B267-F23D-B0CD-315A03984790}"/>
              </a:ext>
            </a:extLst>
          </p:cNvPr>
          <p:cNvSpPr>
            <a:spLocks noGrp="1"/>
          </p:cNvSpPr>
          <p:nvPr>
            <p:ph type="title"/>
          </p:nvPr>
        </p:nvSpPr>
        <p:spPr>
          <a:xfrm>
            <a:off x="549334" y="139063"/>
            <a:ext cx="10477497" cy="898555"/>
          </a:xfrm>
        </p:spPr>
        <p:txBody>
          <a:bodyPr/>
          <a:lstStyle/>
          <a:p>
            <a:r>
              <a:rPr lang="es-CO" dirty="0">
                <a:solidFill>
                  <a:schemeClr val="tx2"/>
                </a:solidFill>
              </a:rPr>
              <a:t>Validación del código de párrafo</a:t>
            </a:r>
            <a:r>
              <a:rPr lang="es-419" dirty="0">
                <a:solidFill>
                  <a:schemeClr val="tx2"/>
                </a:solidFill>
              </a:rPr>
              <a:t>(GTVLETR)</a:t>
            </a:r>
            <a:endParaRPr lang="es-ES_tradnl" b="0" dirty="0"/>
          </a:p>
        </p:txBody>
      </p:sp>
      <p:sp>
        <p:nvSpPr>
          <p:cNvPr id="3" name="Rectángulo redondeado 15">
            <a:extLst>
              <a:ext uri="{FF2B5EF4-FFF2-40B4-BE49-F238E27FC236}">
                <a16:creationId xmlns:a16="http://schemas.microsoft.com/office/drawing/2014/main" id="{25BDA88D-4021-CCB3-161E-523DD497F7B1}"/>
              </a:ext>
            </a:extLst>
          </p:cNvPr>
          <p:cNvSpPr/>
          <p:nvPr/>
        </p:nvSpPr>
        <p:spPr>
          <a:xfrm>
            <a:off x="10468376" y="1286258"/>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5" name="Rectángulo 4">
            <a:extLst>
              <a:ext uri="{FF2B5EF4-FFF2-40B4-BE49-F238E27FC236}">
                <a16:creationId xmlns:a16="http://schemas.microsoft.com/office/drawing/2014/main" id="{BA76E7D8-4DB1-5734-A3FE-4AA22F1FCBD9}"/>
              </a:ext>
            </a:extLst>
          </p:cNvPr>
          <p:cNvSpPr/>
          <p:nvPr/>
        </p:nvSpPr>
        <p:spPr>
          <a:xfrm>
            <a:off x="11210509" y="1270725"/>
            <a:ext cx="237816" cy="1429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4C853F59-9EEC-82DE-BD78-5C5238597CB7}"/>
              </a:ext>
            </a:extLst>
          </p:cNvPr>
          <p:cNvSpPr/>
          <p:nvPr/>
        </p:nvSpPr>
        <p:spPr>
          <a:xfrm>
            <a:off x="445527" y="2101642"/>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5107CD2F-E246-D82F-B7F8-E783C300B3FD}"/>
              </a:ext>
            </a:extLst>
          </p:cNvPr>
          <p:cNvSpPr/>
          <p:nvPr/>
        </p:nvSpPr>
        <p:spPr>
          <a:xfrm>
            <a:off x="775508" y="1834197"/>
            <a:ext cx="1116794" cy="211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57A7479B-B154-4244-B463-D5A256F11DF3}"/>
              </a:ext>
            </a:extLst>
          </p:cNvPr>
          <p:cNvSpPr/>
          <p:nvPr/>
        </p:nvSpPr>
        <p:spPr>
          <a:xfrm>
            <a:off x="4932836" y="2015778"/>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0" name="Rectángulo 9">
            <a:extLst>
              <a:ext uri="{FF2B5EF4-FFF2-40B4-BE49-F238E27FC236}">
                <a16:creationId xmlns:a16="http://schemas.microsoft.com/office/drawing/2014/main" id="{181995D2-D9AF-4B05-400E-F8BC9EC9970D}"/>
              </a:ext>
            </a:extLst>
          </p:cNvPr>
          <p:cNvSpPr/>
          <p:nvPr/>
        </p:nvSpPr>
        <p:spPr>
          <a:xfrm>
            <a:off x="11565110" y="5605271"/>
            <a:ext cx="673225" cy="3138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esquinas redondeadas 11">
            <a:extLst>
              <a:ext uri="{FF2B5EF4-FFF2-40B4-BE49-F238E27FC236}">
                <a16:creationId xmlns:a16="http://schemas.microsoft.com/office/drawing/2014/main" id="{81A0AC20-5961-50A6-CE44-90F767E1A0DF}"/>
              </a:ext>
            </a:extLst>
          </p:cNvPr>
          <p:cNvSpPr/>
          <p:nvPr/>
        </p:nvSpPr>
        <p:spPr>
          <a:xfrm>
            <a:off x="1892301" y="3136900"/>
            <a:ext cx="7199252" cy="131845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a:pPr>
            <a:r>
              <a:rPr lang="es-ES_tradnl" sz="1200" dirty="0"/>
              <a:t>Para insertar un registro selecciones (+)</a:t>
            </a:r>
          </a:p>
          <a:p>
            <a:pPr marL="228600" indent="-228600">
              <a:buAutoNum type="arabicPeriod"/>
            </a:pPr>
            <a:r>
              <a:rPr lang="es-ES_tradnl" sz="1200" dirty="0"/>
              <a:t>Ingrese el código: Campo de 7 caracteres</a:t>
            </a:r>
          </a:p>
          <a:p>
            <a:pPr marL="228600" indent="-228600">
              <a:buAutoNum type="arabicPeriod"/>
            </a:pPr>
            <a:r>
              <a:rPr lang="es-ES_tradnl" sz="1200" dirty="0"/>
              <a:t>Ingrese la descripción: campo de 30 caracteres, se pueden adicionar comentarios</a:t>
            </a:r>
          </a:p>
          <a:p>
            <a:pPr marL="228600" indent="-228600">
              <a:buAutoNum type="arabicPeriod"/>
            </a:pPr>
            <a:r>
              <a:rPr lang="es-ES_tradnl" sz="1200" dirty="0"/>
              <a:t>Guarde la información</a:t>
            </a:r>
          </a:p>
        </p:txBody>
      </p:sp>
      <p:sp>
        <p:nvSpPr>
          <p:cNvPr id="17" name="Rectángulo 16">
            <a:extLst>
              <a:ext uri="{FF2B5EF4-FFF2-40B4-BE49-F238E27FC236}">
                <a16:creationId xmlns:a16="http://schemas.microsoft.com/office/drawing/2014/main" id="{6AFDD325-2E26-B2D9-CFD5-BD1CAA7F86CA}"/>
              </a:ext>
            </a:extLst>
          </p:cNvPr>
          <p:cNvSpPr/>
          <p:nvPr/>
        </p:nvSpPr>
        <p:spPr>
          <a:xfrm>
            <a:off x="1920324" y="1834196"/>
            <a:ext cx="3090588" cy="211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496659AC-C0FB-3FE7-8CCF-542C16374D23}"/>
              </a:ext>
            </a:extLst>
          </p:cNvPr>
          <p:cNvSpPr/>
          <p:nvPr/>
        </p:nvSpPr>
        <p:spPr>
          <a:xfrm>
            <a:off x="11113303" y="5776113"/>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1" name="Marcador de texto vertical 1">
            <a:extLst>
              <a:ext uri="{FF2B5EF4-FFF2-40B4-BE49-F238E27FC236}">
                <a16:creationId xmlns:a16="http://schemas.microsoft.com/office/drawing/2014/main" id="{CD44664F-B101-D0E6-00B9-0EF204CD2642}"/>
              </a:ext>
            </a:extLst>
          </p:cNvPr>
          <p:cNvSpPr>
            <a:spLocks noGrp="1"/>
          </p:cNvSpPr>
          <p:nvPr>
            <p:ph type="body" orient="vert" sz="quarter" idx="17"/>
          </p:nvPr>
        </p:nvSpPr>
        <p:spPr>
          <a:xfrm rot="10800000">
            <a:off x="0" y="685800"/>
            <a:ext cx="609600" cy="5486399"/>
          </a:xfrm>
        </p:spPr>
        <p:txBody>
          <a:bodyPr/>
          <a:lstStyle/>
          <a:p>
            <a:r>
              <a:rPr lang="es-419" sz="1200" dirty="0"/>
              <a:t>Ejecutar la inscripción de cursos por Lista de Espera</a:t>
            </a:r>
            <a:endParaRPr lang="es-419" dirty="0"/>
          </a:p>
        </p:txBody>
      </p:sp>
    </p:spTree>
    <p:extLst>
      <p:ext uri="{BB962C8B-B14F-4D97-AF65-F5344CB8AC3E}">
        <p14:creationId xmlns:p14="http://schemas.microsoft.com/office/powerpoint/2010/main" val="8093660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0D572-0CE3-2FEF-FC6D-ED9CFE180B16}"/>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479EB6C6-52F2-E32C-87C8-61DAE622552C}"/>
              </a:ext>
            </a:extLst>
          </p:cNvPr>
          <p:cNvPicPr>
            <a:picLocks noChangeAspect="1"/>
          </p:cNvPicPr>
          <p:nvPr/>
        </p:nvPicPr>
        <p:blipFill>
          <a:blip r:embed="rId3"/>
          <a:stretch>
            <a:fillRect/>
          </a:stretch>
        </p:blipFill>
        <p:spPr>
          <a:xfrm>
            <a:off x="549334" y="902155"/>
            <a:ext cx="11274816" cy="4880056"/>
          </a:xfrm>
          <a:prstGeom prst="rect">
            <a:avLst/>
          </a:prstGeom>
        </p:spPr>
      </p:pic>
      <p:sp>
        <p:nvSpPr>
          <p:cNvPr id="13" name="Title 12">
            <a:extLst>
              <a:ext uri="{FF2B5EF4-FFF2-40B4-BE49-F238E27FC236}">
                <a16:creationId xmlns:a16="http://schemas.microsoft.com/office/drawing/2014/main" id="{B6B918E4-2C50-3A83-5792-D5C9F6ED01B2}"/>
              </a:ext>
            </a:extLst>
          </p:cNvPr>
          <p:cNvSpPr>
            <a:spLocks noGrp="1"/>
          </p:cNvSpPr>
          <p:nvPr>
            <p:ph type="title"/>
          </p:nvPr>
        </p:nvSpPr>
        <p:spPr>
          <a:xfrm>
            <a:off x="549334" y="139063"/>
            <a:ext cx="10477497" cy="898555"/>
          </a:xfrm>
        </p:spPr>
        <p:txBody>
          <a:bodyPr/>
          <a:lstStyle/>
          <a:p>
            <a:r>
              <a:rPr lang="es-CO" dirty="0">
                <a:solidFill>
                  <a:schemeClr val="tx2"/>
                </a:solidFill>
              </a:rPr>
              <a:t>Validación del código de párrafo</a:t>
            </a:r>
            <a:r>
              <a:rPr lang="es-419" dirty="0">
                <a:solidFill>
                  <a:schemeClr val="tx2"/>
                </a:solidFill>
              </a:rPr>
              <a:t>(GTVLETR)</a:t>
            </a:r>
            <a:endParaRPr lang="es-ES_tradnl" b="0" dirty="0"/>
          </a:p>
        </p:txBody>
      </p:sp>
      <p:sp>
        <p:nvSpPr>
          <p:cNvPr id="3" name="Rectángulo redondeado 15">
            <a:extLst>
              <a:ext uri="{FF2B5EF4-FFF2-40B4-BE49-F238E27FC236}">
                <a16:creationId xmlns:a16="http://schemas.microsoft.com/office/drawing/2014/main" id="{CA392189-D6DA-FC54-54C9-C51D1D98B7F6}"/>
              </a:ext>
            </a:extLst>
          </p:cNvPr>
          <p:cNvSpPr/>
          <p:nvPr/>
        </p:nvSpPr>
        <p:spPr>
          <a:xfrm>
            <a:off x="2810129" y="1337135"/>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5" name="Rectángulo 4">
            <a:extLst>
              <a:ext uri="{FF2B5EF4-FFF2-40B4-BE49-F238E27FC236}">
                <a16:creationId xmlns:a16="http://schemas.microsoft.com/office/drawing/2014/main" id="{06A7DEDE-DEBA-8BF6-738D-983DE0B70161}"/>
              </a:ext>
            </a:extLst>
          </p:cNvPr>
          <p:cNvSpPr/>
          <p:nvPr/>
        </p:nvSpPr>
        <p:spPr>
          <a:xfrm>
            <a:off x="10907923" y="1553096"/>
            <a:ext cx="237816" cy="1429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278E3691-0006-895C-22A6-2BD05907A87C}"/>
              </a:ext>
            </a:extLst>
          </p:cNvPr>
          <p:cNvSpPr/>
          <p:nvPr/>
        </p:nvSpPr>
        <p:spPr>
          <a:xfrm>
            <a:off x="10538870" y="1769451"/>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5D010712-38CA-86F1-B283-921D21CB43AE}"/>
              </a:ext>
            </a:extLst>
          </p:cNvPr>
          <p:cNvSpPr/>
          <p:nvPr/>
        </p:nvSpPr>
        <p:spPr>
          <a:xfrm>
            <a:off x="549334" y="1286258"/>
            <a:ext cx="2129858" cy="211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9002DC2A-13F5-ACF3-475F-6ACC3E15C29B}"/>
              </a:ext>
            </a:extLst>
          </p:cNvPr>
          <p:cNvSpPr/>
          <p:nvPr/>
        </p:nvSpPr>
        <p:spPr>
          <a:xfrm>
            <a:off x="3701296" y="2202154"/>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0" name="Rectángulo 9">
            <a:extLst>
              <a:ext uri="{FF2B5EF4-FFF2-40B4-BE49-F238E27FC236}">
                <a16:creationId xmlns:a16="http://schemas.microsoft.com/office/drawing/2014/main" id="{6624A09E-8BFA-8DAE-E5CF-3220C04BC0A6}"/>
              </a:ext>
            </a:extLst>
          </p:cNvPr>
          <p:cNvSpPr/>
          <p:nvPr/>
        </p:nvSpPr>
        <p:spPr>
          <a:xfrm>
            <a:off x="11203156" y="5480458"/>
            <a:ext cx="673225" cy="3138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esquinas redondeadas 11">
            <a:extLst>
              <a:ext uri="{FF2B5EF4-FFF2-40B4-BE49-F238E27FC236}">
                <a16:creationId xmlns:a16="http://schemas.microsoft.com/office/drawing/2014/main" id="{6789B5F0-FBD4-F1CE-0BC1-6AD61DB80539}"/>
              </a:ext>
            </a:extLst>
          </p:cNvPr>
          <p:cNvSpPr/>
          <p:nvPr/>
        </p:nvSpPr>
        <p:spPr>
          <a:xfrm>
            <a:off x="1892301" y="3136900"/>
            <a:ext cx="7199252" cy="116992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a:pPr>
            <a:r>
              <a:rPr lang="es-ES_tradnl" sz="1200" dirty="0"/>
              <a:t>Seleccione el párrafo a configurar</a:t>
            </a:r>
          </a:p>
          <a:p>
            <a:pPr marL="228600" indent="-228600">
              <a:buAutoNum type="arabicPeriod"/>
            </a:pPr>
            <a:r>
              <a:rPr lang="es-ES_tradnl" sz="1200" dirty="0"/>
              <a:t>Para insertar el contenido del párrafo, seleccione (+)</a:t>
            </a:r>
          </a:p>
          <a:p>
            <a:pPr marL="228600" indent="-228600">
              <a:buAutoNum type="arabicPeriod"/>
            </a:pPr>
            <a:r>
              <a:rPr lang="es-ES_tradnl" sz="1200" dirty="0"/>
              <a:t>Ingrese el texto: Campo de 60 caracteres</a:t>
            </a:r>
          </a:p>
          <a:p>
            <a:pPr marL="228600" indent="-228600">
              <a:buAutoNum type="arabicPeriod"/>
            </a:pPr>
            <a:r>
              <a:rPr lang="es-ES_tradnl" sz="1200" dirty="0"/>
              <a:t>Guarde la información</a:t>
            </a:r>
          </a:p>
        </p:txBody>
      </p:sp>
      <p:sp>
        <p:nvSpPr>
          <p:cNvPr id="17" name="Rectángulo 16">
            <a:extLst>
              <a:ext uri="{FF2B5EF4-FFF2-40B4-BE49-F238E27FC236}">
                <a16:creationId xmlns:a16="http://schemas.microsoft.com/office/drawing/2014/main" id="{0436FB9A-92E0-BB10-3027-C93BBD2802F6}"/>
              </a:ext>
            </a:extLst>
          </p:cNvPr>
          <p:cNvSpPr/>
          <p:nvPr/>
        </p:nvSpPr>
        <p:spPr>
          <a:xfrm>
            <a:off x="549334" y="1870084"/>
            <a:ext cx="3090588" cy="8071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4219684F-AE5F-6A62-AA23-F37DC879FF93}"/>
              </a:ext>
            </a:extLst>
          </p:cNvPr>
          <p:cNvSpPr/>
          <p:nvPr/>
        </p:nvSpPr>
        <p:spPr>
          <a:xfrm>
            <a:off x="10558501" y="5533790"/>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6" name="Marcador de texto vertical 1">
            <a:extLst>
              <a:ext uri="{FF2B5EF4-FFF2-40B4-BE49-F238E27FC236}">
                <a16:creationId xmlns:a16="http://schemas.microsoft.com/office/drawing/2014/main" id="{433E1F32-997A-C704-D82D-B3AC9403D1DB}"/>
              </a:ext>
            </a:extLst>
          </p:cNvPr>
          <p:cNvSpPr>
            <a:spLocks noGrp="1"/>
          </p:cNvSpPr>
          <p:nvPr>
            <p:ph type="body" orient="vert" sz="quarter" idx="17"/>
          </p:nvPr>
        </p:nvSpPr>
        <p:spPr>
          <a:xfrm rot="10800000">
            <a:off x="0" y="685800"/>
            <a:ext cx="609600" cy="5486399"/>
          </a:xfrm>
        </p:spPr>
        <p:txBody>
          <a:bodyPr/>
          <a:lstStyle/>
          <a:p>
            <a:r>
              <a:rPr lang="es-419" sz="1200" dirty="0"/>
              <a:t>Ejecutar la inscripción de cursos por Lista de Espera</a:t>
            </a:r>
            <a:endParaRPr lang="es-419" dirty="0"/>
          </a:p>
        </p:txBody>
      </p:sp>
    </p:spTree>
    <p:extLst>
      <p:ext uri="{BB962C8B-B14F-4D97-AF65-F5344CB8AC3E}">
        <p14:creationId xmlns:p14="http://schemas.microsoft.com/office/powerpoint/2010/main" val="18637482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56045-6C3F-2371-99C2-203191536D31}"/>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735D7370-BEBE-ABBB-FAB1-06D05B88758B}"/>
              </a:ext>
            </a:extLst>
          </p:cNvPr>
          <p:cNvPicPr>
            <a:picLocks noChangeAspect="1"/>
          </p:cNvPicPr>
          <p:nvPr/>
        </p:nvPicPr>
        <p:blipFill>
          <a:blip r:embed="rId3"/>
          <a:stretch>
            <a:fillRect/>
          </a:stretch>
        </p:blipFill>
        <p:spPr>
          <a:xfrm>
            <a:off x="644652" y="932804"/>
            <a:ext cx="10902696" cy="4693742"/>
          </a:xfrm>
          <a:prstGeom prst="rect">
            <a:avLst/>
          </a:prstGeom>
        </p:spPr>
      </p:pic>
      <p:sp>
        <p:nvSpPr>
          <p:cNvPr id="13" name="Title 12">
            <a:extLst>
              <a:ext uri="{FF2B5EF4-FFF2-40B4-BE49-F238E27FC236}">
                <a16:creationId xmlns:a16="http://schemas.microsoft.com/office/drawing/2014/main" id="{3B053F1A-8EDF-98B6-00F5-38FE957D644F}"/>
              </a:ext>
            </a:extLst>
          </p:cNvPr>
          <p:cNvSpPr>
            <a:spLocks noGrp="1"/>
          </p:cNvSpPr>
          <p:nvPr>
            <p:ph type="title"/>
          </p:nvPr>
        </p:nvSpPr>
        <p:spPr>
          <a:xfrm>
            <a:off x="549334" y="139063"/>
            <a:ext cx="10477497" cy="898555"/>
          </a:xfrm>
        </p:spPr>
        <p:txBody>
          <a:bodyPr/>
          <a:lstStyle/>
          <a:p>
            <a:r>
              <a:rPr lang="es-CO" dirty="0">
                <a:solidFill>
                  <a:schemeClr val="tx2"/>
                </a:solidFill>
              </a:rPr>
              <a:t>Proceso de carta</a:t>
            </a:r>
            <a:r>
              <a:rPr lang="es-419" dirty="0">
                <a:solidFill>
                  <a:schemeClr val="tx2"/>
                </a:solidFill>
              </a:rPr>
              <a:t>(GUALETR)</a:t>
            </a:r>
            <a:endParaRPr lang="es-ES_tradnl" b="0" dirty="0"/>
          </a:p>
        </p:txBody>
      </p:sp>
      <p:sp>
        <p:nvSpPr>
          <p:cNvPr id="3" name="Rectángulo redondeado 15">
            <a:extLst>
              <a:ext uri="{FF2B5EF4-FFF2-40B4-BE49-F238E27FC236}">
                <a16:creationId xmlns:a16="http://schemas.microsoft.com/office/drawing/2014/main" id="{88CE85C3-5A47-FC84-7BCB-E0F449354E5E}"/>
              </a:ext>
            </a:extLst>
          </p:cNvPr>
          <p:cNvSpPr/>
          <p:nvPr/>
        </p:nvSpPr>
        <p:spPr>
          <a:xfrm>
            <a:off x="2810129" y="1337135"/>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5" name="Rectángulo 4">
            <a:extLst>
              <a:ext uri="{FF2B5EF4-FFF2-40B4-BE49-F238E27FC236}">
                <a16:creationId xmlns:a16="http://schemas.microsoft.com/office/drawing/2014/main" id="{23DD4499-F1DF-B6B0-4696-23C41DC4A1BA}"/>
              </a:ext>
            </a:extLst>
          </p:cNvPr>
          <p:cNvSpPr/>
          <p:nvPr/>
        </p:nvSpPr>
        <p:spPr>
          <a:xfrm>
            <a:off x="10653678" y="1557513"/>
            <a:ext cx="237816" cy="1429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2A41A405-44B3-5A44-4DC3-3421D890E6EA}"/>
              </a:ext>
            </a:extLst>
          </p:cNvPr>
          <p:cNvSpPr/>
          <p:nvPr/>
        </p:nvSpPr>
        <p:spPr>
          <a:xfrm>
            <a:off x="10538870" y="1769451"/>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B759E7FC-316A-BCCE-3FB0-02091D513AAA}"/>
              </a:ext>
            </a:extLst>
          </p:cNvPr>
          <p:cNvSpPr/>
          <p:nvPr/>
        </p:nvSpPr>
        <p:spPr>
          <a:xfrm>
            <a:off x="549334" y="1286258"/>
            <a:ext cx="2129858" cy="2110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8D37F8D6-8950-0409-F6CF-C37E36AA5D0F}"/>
              </a:ext>
            </a:extLst>
          </p:cNvPr>
          <p:cNvSpPr/>
          <p:nvPr/>
        </p:nvSpPr>
        <p:spPr>
          <a:xfrm>
            <a:off x="3701296" y="2202154"/>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0" name="Rectángulo 9">
            <a:extLst>
              <a:ext uri="{FF2B5EF4-FFF2-40B4-BE49-F238E27FC236}">
                <a16:creationId xmlns:a16="http://schemas.microsoft.com/office/drawing/2014/main" id="{FC85A841-D3B5-7EAE-0B38-74EF7996DA49}"/>
              </a:ext>
            </a:extLst>
          </p:cNvPr>
          <p:cNvSpPr/>
          <p:nvPr/>
        </p:nvSpPr>
        <p:spPr>
          <a:xfrm>
            <a:off x="10919759" y="5386137"/>
            <a:ext cx="673225" cy="3138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esquinas redondeadas 11">
            <a:extLst>
              <a:ext uri="{FF2B5EF4-FFF2-40B4-BE49-F238E27FC236}">
                <a16:creationId xmlns:a16="http://schemas.microsoft.com/office/drawing/2014/main" id="{8AB25F00-B1F2-36B4-0F4C-1E792A2BA542}"/>
              </a:ext>
            </a:extLst>
          </p:cNvPr>
          <p:cNvSpPr/>
          <p:nvPr/>
        </p:nvSpPr>
        <p:spPr>
          <a:xfrm>
            <a:off x="1892301" y="3136900"/>
            <a:ext cx="7199252" cy="116992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a:pPr>
            <a:r>
              <a:rPr lang="es-ES_tradnl" sz="1200" dirty="0"/>
              <a:t>Seleccione la carta a configurar</a:t>
            </a:r>
          </a:p>
          <a:p>
            <a:pPr marL="228600" indent="-228600">
              <a:buAutoNum type="arabicPeriod"/>
            </a:pPr>
            <a:r>
              <a:rPr lang="es-ES_tradnl" sz="1200" dirty="0"/>
              <a:t>Para insertar el párrafo, seleccione (+)</a:t>
            </a:r>
          </a:p>
          <a:p>
            <a:pPr marL="228600" indent="-228600">
              <a:buAutoNum type="arabicPeriod"/>
            </a:pPr>
            <a:r>
              <a:rPr lang="es-ES_tradnl" sz="1200" dirty="0"/>
              <a:t>Se pueden crear más de un tipo de </a:t>
            </a:r>
            <a:r>
              <a:rPr lang="es-ES_tradnl" sz="1200" dirty="0" err="1"/>
              <a:t>parrafo</a:t>
            </a:r>
            <a:endParaRPr lang="es-ES_tradnl" sz="1200" dirty="0"/>
          </a:p>
          <a:p>
            <a:pPr marL="228600" indent="-228600">
              <a:buAutoNum type="arabicPeriod"/>
            </a:pPr>
            <a:r>
              <a:rPr lang="es-ES_tradnl" sz="1200" dirty="0"/>
              <a:t>Guarde la información</a:t>
            </a:r>
          </a:p>
        </p:txBody>
      </p:sp>
      <p:sp>
        <p:nvSpPr>
          <p:cNvPr id="17" name="Rectángulo 16">
            <a:extLst>
              <a:ext uri="{FF2B5EF4-FFF2-40B4-BE49-F238E27FC236}">
                <a16:creationId xmlns:a16="http://schemas.microsoft.com/office/drawing/2014/main" id="{B66BEF19-AAF7-9D13-BAFE-323C680F1C63}"/>
              </a:ext>
            </a:extLst>
          </p:cNvPr>
          <p:cNvSpPr/>
          <p:nvPr/>
        </p:nvSpPr>
        <p:spPr>
          <a:xfrm>
            <a:off x="549334" y="1870084"/>
            <a:ext cx="3090588" cy="8071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C3BC6918-BECF-1566-9874-F00720A5034F}"/>
              </a:ext>
            </a:extLst>
          </p:cNvPr>
          <p:cNvSpPr/>
          <p:nvPr/>
        </p:nvSpPr>
        <p:spPr>
          <a:xfrm>
            <a:off x="10294889" y="5460497"/>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6" name="Marcador de texto vertical 1">
            <a:extLst>
              <a:ext uri="{FF2B5EF4-FFF2-40B4-BE49-F238E27FC236}">
                <a16:creationId xmlns:a16="http://schemas.microsoft.com/office/drawing/2014/main" id="{E0F245C6-486E-5598-E4CE-0AA23ED114D4}"/>
              </a:ext>
            </a:extLst>
          </p:cNvPr>
          <p:cNvSpPr>
            <a:spLocks noGrp="1"/>
          </p:cNvSpPr>
          <p:nvPr>
            <p:ph type="body" orient="vert" sz="quarter" idx="17"/>
          </p:nvPr>
        </p:nvSpPr>
        <p:spPr>
          <a:xfrm rot="10800000">
            <a:off x="0" y="685800"/>
            <a:ext cx="609600" cy="5486399"/>
          </a:xfrm>
        </p:spPr>
        <p:txBody>
          <a:bodyPr/>
          <a:lstStyle/>
          <a:p>
            <a:r>
              <a:rPr lang="es-419" sz="1200" dirty="0"/>
              <a:t>Ejecutar la inscripción de cursos por Lista de Espera</a:t>
            </a:r>
            <a:endParaRPr lang="es-419" dirty="0"/>
          </a:p>
        </p:txBody>
      </p:sp>
    </p:spTree>
    <p:extLst>
      <p:ext uri="{BB962C8B-B14F-4D97-AF65-F5344CB8AC3E}">
        <p14:creationId xmlns:p14="http://schemas.microsoft.com/office/powerpoint/2010/main" val="11335591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03F69-DE36-DF29-3D80-3DD04820594F}"/>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B2CD8F1-CB49-995D-8041-A738BDBD6425}"/>
              </a:ext>
            </a:extLst>
          </p:cNvPr>
          <p:cNvPicPr>
            <a:picLocks noChangeAspect="1"/>
          </p:cNvPicPr>
          <p:nvPr/>
        </p:nvPicPr>
        <p:blipFill>
          <a:blip r:embed="rId3"/>
          <a:stretch>
            <a:fillRect/>
          </a:stretch>
        </p:blipFill>
        <p:spPr>
          <a:xfrm>
            <a:off x="1158936" y="897228"/>
            <a:ext cx="10870476" cy="5063542"/>
          </a:xfrm>
          <a:prstGeom prst="rect">
            <a:avLst/>
          </a:prstGeom>
        </p:spPr>
      </p:pic>
      <p:sp>
        <p:nvSpPr>
          <p:cNvPr id="13" name="Title 12">
            <a:extLst>
              <a:ext uri="{FF2B5EF4-FFF2-40B4-BE49-F238E27FC236}">
                <a16:creationId xmlns:a16="http://schemas.microsoft.com/office/drawing/2014/main" id="{E73B1C87-198A-9D9F-CEAB-8ADD13AAAD06}"/>
              </a:ext>
            </a:extLst>
          </p:cNvPr>
          <p:cNvSpPr>
            <a:spLocks noGrp="1"/>
          </p:cNvSpPr>
          <p:nvPr>
            <p:ph type="title"/>
          </p:nvPr>
        </p:nvSpPr>
        <p:spPr>
          <a:xfrm>
            <a:off x="549334" y="139063"/>
            <a:ext cx="10477497" cy="898555"/>
          </a:xfrm>
        </p:spPr>
        <p:txBody>
          <a:bodyPr/>
          <a:lstStyle/>
          <a:p>
            <a:r>
              <a:rPr lang="es-CO" dirty="0">
                <a:solidFill>
                  <a:schemeClr val="tx2"/>
                </a:solidFill>
              </a:rPr>
              <a:t>Asignación de carta HTML </a:t>
            </a:r>
            <a:r>
              <a:rPr lang="es-419" dirty="0">
                <a:solidFill>
                  <a:schemeClr val="tx2"/>
                </a:solidFill>
              </a:rPr>
              <a:t>(</a:t>
            </a:r>
            <a:r>
              <a:rPr lang="es-CO" dirty="0">
                <a:solidFill>
                  <a:schemeClr val="tx2"/>
                </a:solidFill>
              </a:rPr>
              <a:t>SOAELTL</a:t>
            </a:r>
            <a:r>
              <a:rPr lang="es-419" dirty="0">
                <a:solidFill>
                  <a:schemeClr val="tx2"/>
                </a:solidFill>
              </a:rPr>
              <a:t>)</a:t>
            </a:r>
            <a:endParaRPr lang="es-ES_tradnl" b="0" dirty="0"/>
          </a:p>
        </p:txBody>
      </p:sp>
      <p:sp>
        <p:nvSpPr>
          <p:cNvPr id="3" name="Rectángulo redondeado 15">
            <a:extLst>
              <a:ext uri="{FF2B5EF4-FFF2-40B4-BE49-F238E27FC236}">
                <a16:creationId xmlns:a16="http://schemas.microsoft.com/office/drawing/2014/main" id="{4946081F-9DCF-C5F2-2E91-7E6A5B16F447}"/>
              </a:ext>
            </a:extLst>
          </p:cNvPr>
          <p:cNvSpPr/>
          <p:nvPr/>
        </p:nvSpPr>
        <p:spPr>
          <a:xfrm>
            <a:off x="10891494" y="1154604"/>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5" name="Rectángulo 4">
            <a:extLst>
              <a:ext uri="{FF2B5EF4-FFF2-40B4-BE49-F238E27FC236}">
                <a16:creationId xmlns:a16="http://schemas.microsoft.com/office/drawing/2014/main" id="{4FAA9DDF-888C-D22A-29B3-15D18647B12A}"/>
              </a:ext>
            </a:extLst>
          </p:cNvPr>
          <p:cNvSpPr/>
          <p:nvPr/>
        </p:nvSpPr>
        <p:spPr>
          <a:xfrm>
            <a:off x="11076447" y="1288806"/>
            <a:ext cx="237816" cy="1429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B4E499A9-A0A3-8F27-0E28-C8B9C01F0E9B}"/>
              </a:ext>
            </a:extLst>
          </p:cNvPr>
          <p:cNvSpPr/>
          <p:nvPr/>
        </p:nvSpPr>
        <p:spPr>
          <a:xfrm>
            <a:off x="2702543" y="1870083"/>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8" name="Rectángulo 7">
            <a:extLst>
              <a:ext uri="{FF2B5EF4-FFF2-40B4-BE49-F238E27FC236}">
                <a16:creationId xmlns:a16="http://schemas.microsoft.com/office/drawing/2014/main" id="{2FC09F39-3DB6-9DAF-1835-8F2D7E26E955}"/>
              </a:ext>
            </a:extLst>
          </p:cNvPr>
          <p:cNvSpPr/>
          <p:nvPr/>
        </p:nvSpPr>
        <p:spPr>
          <a:xfrm>
            <a:off x="10065934" y="1870083"/>
            <a:ext cx="609602" cy="21717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BDE61D9F-76E5-AB66-0A50-E7F9DD78C080}"/>
              </a:ext>
            </a:extLst>
          </p:cNvPr>
          <p:cNvSpPr/>
          <p:nvPr/>
        </p:nvSpPr>
        <p:spPr>
          <a:xfrm>
            <a:off x="10854577" y="1870083"/>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0" name="Rectángulo 9">
            <a:extLst>
              <a:ext uri="{FF2B5EF4-FFF2-40B4-BE49-F238E27FC236}">
                <a16:creationId xmlns:a16="http://schemas.microsoft.com/office/drawing/2014/main" id="{1A872ABF-7F30-37C1-4272-F68A956F8EDB}"/>
              </a:ext>
            </a:extLst>
          </p:cNvPr>
          <p:cNvSpPr/>
          <p:nvPr/>
        </p:nvSpPr>
        <p:spPr>
          <a:xfrm>
            <a:off x="11383092" y="5646967"/>
            <a:ext cx="673225" cy="3138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esquinas redondeadas 11">
            <a:extLst>
              <a:ext uri="{FF2B5EF4-FFF2-40B4-BE49-F238E27FC236}">
                <a16:creationId xmlns:a16="http://schemas.microsoft.com/office/drawing/2014/main" id="{91D3425D-BFE5-C4B0-C52A-CA869834080A}"/>
              </a:ext>
            </a:extLst>
          </p:cNvPr>
          <p:cNvSpPr/>
          <p:nvPr/>
        </p:nvSpPr>
        <p:spPr>
          <a:xfrm>
            <a:off x="1892301" y="3136900"/>
            <a:ext cx="7199252" cy="116992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a:pPr>
            <a:r>
              <a:rPr lang="es-ES_tradnl" sz="1200" dirty="0"/>
              <a:t>Para insertar un registro, seleccione (+)</a:t>
            </a:r>
          </a:p>
          <a:p>
            <a:pPr marL="228600" indent="-228600">
              <a:buFontTx/>
              <a:buAutoNum type="arabicPeriod"/>
            </a:pPr>
            <a:r>
              <a:rPr lang="es-ES_tradnl" sz="1200" dirty="0"/>
              <a:t>Seleccione la carta</a:t>
            </a:r>
          </a:p>
          <a:p>
            <a:pPr marL="228600" indent="-228600">
              <a:buAutoNum type="arabicPeriod"/>
            </a:pPr>
            <a:r>
              <a:rPr lang="es-ES_tradnl" sz="1200" dirty="0"/>
              <a:t>Vincule al módulo de </a:t>
            </a:r>
            <a:r>
              <a:rPr lang="es-ES_tradnl" sz="1200" dirty="0" err="1"/>
              <a:t>Registration</a:t>
            </a:r>
            <a:r>
              <a:rPr lang="es-ES_tradnl" sz="1200" dirty="0"/>
              <a:t> (F)</a:t>
            </a:r>
          </a:p>
          <a:p>
            <a:pPr marL="228600" indent="-228600">
              <a:buAutoNum type="arabicPeriod"/>
            </a:pPr>
            <a:r>
              <a:rPr lang="es-ES_tradnl" sz="1200" dirty="0"/>
              <a:t>Guarde la información</a:t>
            </a:r>
          </a:p>
        </p:txBody>
      </p:sp>
      <p:sp>
        <p:nvSpPr>
          <p:cNvPr id="17" name="Rectángulo 16">
            <a:extLst>
              <a:ext uri="{FF2B5EF4-FFF2-40B4-BE49-F238E27FC236}">
                <a16:creationId xmlns:a16="http://schemas.microsoft.com/office/drawing/2014/main" id="{46D2C9E6-1B3B-63D0-5102-B3062BD61A0F}"/>
              </a:ext>
            </a:extLst>
          </p:cNvPr>
          <p:cNvSpPr/>
          <p:nvPr/>
        </p:nvSpPr>
        <p:spPr>
          <a:xfrm>
            <a:off x="549334" y="1870084"/>
            <a:ext cx="2806514" cy="1429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5BF988A1-C17E-DB38-2407-27A94DBD1C4D}"/>
              </a:ext>
            </a:extLst>
          </p:cNvPr>
          <p:cNvSpPr/>
          <p:nvPr/>
        </p:nvSpPr>
        <p:spPr>
          <a:xfrm>
            <a:off x="10951375" y="5759782"/>
            <a:ext cx="487961" cy="14296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6" name="Marcador de texto vertical 1">
            <a:extLst>
              <a:ext uri="{FF2B5EF4-FFF2-40B4-BE49-F238E27FC236}">
                <a16:creationId xmlns:a16="http://schemas.microsoft.com/office/drawing/2014/main" id="{5CCE0C7B-4C61-E756-1625-7DCB2E12CA85}"/>
              </a:ext>
            </a:extLst>
          </p:cNvPr>
          <p:cNvSpPr>
            <a:spLocks noGrp="1"/>
          </p:cNvSpPr>
          <p:nvPr>
            <p:ph type="body" orient="vert" sz="quarter" idx="17"/>
          </p:nvPr>
        </p:nvSpPr>
        <p:spPr>
          <a:xfrm rot="10800000">
            <a:off x="0" y="685800"/>
            <a:ext cx="609600" cy="5486399"/>
          </a:xfrm>
        </p:spPr>
        <p:txBody>
          <a:bodyPr/>
          <a:lstStyle/>
          <a:p>
            <a:r>
              <a:rPr lang="es-419" sz="1200" dirty="0"/>
              <a:t>Ejecutar la inscripción de cursos por Lista de Espera</a:t>
            </a:r>
            <a:endParaRPr lang="es-419" dirty="0"/>
          </a:p>
        </p:txBody>
      </p:sp>
    </p:spTree>
    <p:extLst>
      <p:ext uri="{BB962C8B-B14F-4D97-AF65-F5344CB8AC3E}">
        <p14:creationId xmlns:p14="http://schemas.microsoft.com/office/powerpoint/2010/main" val="199853443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8AAAE-680E-FC29-C290-87383E9B8E3F}"/>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080658FF-1E10-135D-A324-FC1A56A10927}"/>
              </a:ext>
            </a:extLst>
          </p:cNvPr>
          <p:cNvSpPr>
            <a:spLocks noGrp="1"/>
          </p:cNvSpPr>
          <p:nvPr>
            <p:ph type="body" sz="quarter" idx="10"/>
          </p:nvPr>
        </p:nvSpPr>
        <p:spPr>
          <a:xfrm>
            <a:off x="914399" y="2238843"/>
            <a:ext cx="10363202" cy="669094"/>
          </a:xfrm>
        </p:spPr>
        <p:txBody>
          <a:bodyPr/>
          <a:lstStyle/>
          <a:p>
            <a:r>
              <a:rPr lang="es-419" dirty="0"/>
              <a:t>Listas de Espera</a:t>
            </a:r>
          </a:p>
        </p:txBody>
      </p:sp>
    </p:spTree>
    <p:extLst>
      <p:ext uri="{BB962C8B-B14F-4D97-AF65-F5344CB8AC3E}">
        <p14:creationId xmlns:p14="http://schemas.microsoft.com/office/powerpoint/2010/main" val="114970427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B60B4-7704-D529-3D93-315E3363F480}"/>
            </a:ext>
          </a:extLst>
        </p:cNvPr>
        <p:cNvGrpSpPr/>
        <p:nvPr/>
      </p:nvGrpSpPr>
      <p:grpSpPr>
        <a:xfrm>
          <a:off x="0" y="0"/>
          <a:ext cx="0" cy="0"/>
          <a:chOff x="0" y="0"/>
          <a:chExt cx="0" cy="0"/>
        </a:xfrm>
      </p:grpSpPr>
      <p:pic>
        <p:nvPicPr>
          <p:cNvPr id="14" name="Imagen 13">
            <a:extLst>
              <a:ext uri="{FF2B5EF4-FFF2-40B4-BE49-F238E27FC236}">
                <a16:creationId xmlns:a16="http://schemas.microsoft.com/office/drawing/2014/main" id="{BEC99C24-D18B-03CC-E220-802276EFB57D}"/>
              </a:ext>
            </a:extLst>
          </p:cNvPr>
          <p:cNvPicPr>
            <a:picLocks noChangeAspect="1"/>
          </p:cNvPicPr>
          <p:nvPr/>
        </p:nvPicPr>
        <p:blipFill>
          <a:blip r:embed="rId3"/>
          <a:stretch>
            <a:fillRect/>
          </a:stretch>
        </p:blipFill>
        <p:spPr>
          <a:xfrm>
            <a:off x="378571" y="1079510"/>
            <a:ext cx="11582398" cy="1577714"/>
          </a:xfrm>
          <a:prstGeom prst="rect">
            <a:avLst/>
          </a:prstGeom>
        </p:spPr>
      </p:pic>
      <p:sp>
        <p:nvSpPr>
          <p:cNvPr id="13" name="Title 12">
            <a:extLst>
              <a:ext uri="{FF2B5EF4-FFF2-40B4-BE49-F238E27FC236}">
                <a16:creationId xmlns:a16="http://schemas.microsoft.com/office/drawing/2014/main" id="{FED4DF8A-563D-5132-9D78-6ECC1E3BBA28}"/>
              </a:ext>
            </a:extLst>
          </p:cNvPr>
          <p:cNvSpPr>
            <a:spLocks noGrp="1"/>
          </p:cNvSpPr>
          <p:nvPr>
            <p:ph type="title"/>
          </p:nvPr>
        </p:nvSpPr>
        <p:spPr>
          <a:xfrm>
            <a:off x="938996" y="304614"/>
            <a:ext cx="10477497" cy="898555"/>
          </a:xfrm>
        </p:spPr>
        <p:txBody>
          <a:bodyPr/>
          <a:lstStyle/>
          <a:p>
            <a:r>
              <a:rPr lang="es-419" dirty="0">
                <a:solidFill>
                  <a:schemeClr val="tx2"/>
                </a:solidFill>
              </a:rPr>
              <a:t>Control de periodo de lista de espera </a:t>
            </a:r>
            <a:r>
              <a:rPr lang="es-419" dirty="0" err="1">
                <a:solidFill>
                  <a:schemeClr val="tx2"/>
                </a:solidFill>
              </a:rPr>
              <a:t>automátic</a:t>
            </a:r>
            <a:r>
              <a:rPr lang="es-419" dirty="0">
                <a:solidFill>
                  <a:schemeClr val="tx2"/>
                </a:solidFill>
              </a:rPr>
              <a:t> (SOAWLTC)</a:t>
            </a:r>
            <a:endParaRPr lang="es-ES_tradnl" dirty="0">
              <a:solidFill>
                <a:schemeClr val="tx2"/>
              </a:solidFill>
            </a:endParaRPr>
          </a:p>
        </p:txBody>
      </p:sp>
      <p:sp>
        <p:nvSpPr>
          <p:cNvPr id="8" name="Rectángulo: esquinas redondeadas 7">
            <a:extLst>
              <a:ext uri="{FF2B5EF4-FFF2-40B4-BE49-F238E27FC236}">
                <a16:creationId xmlns:a16="http://schemas.microsoft.com/office/drawing/2014/main" id="{C8D2E1EE-9430-B80E-511B-B904E6CEA0C5}"/>
              </a:ext>
            </a:extLst>
          </p:cNvPr>
          <p:cNvSpPr/>
          <p:nvPr/>
        </p:nvSpPr>
        <p:spPr>
          <a:xfrm>
            <a:off x="2277873" y="3374136"/>
            <a:ext cx="4772152" cy="86912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endParaRPr lang="es-ES_tradnl" sz="1200" dirty="0"/>
          </a:p>
          <a:p>
            <a:pPr marL="228600" indent="-228600">
              <a:buFont typeface="+mj-lt"/>
              <a:buAutoNum type="arabicPeriod"/>
            </a:pPr>
            <a:r>
              <a:rPr lang="es-ES_tradnl" sz="1200" dirty="0"/>
              <a:t>Ingresar el Periodo Académico</a:t>
            </a:r>
          </a:p>
          <a:p>
            <a:pPr marL="228600" indent="-228600">
              <a:buFont typeface="+mj-lt"/>
              <a:buAutoNum type="arabicPeriod"/>
            </a:pPr>
            <a:r>
              <a:rPr lang="es-ES_tradnl" sz="1200" dirty="0"/>
              <a:t>Presionar el botón ‘Ir’.</a:t>
            </a:r>
          </a:p>
        </p:txBody>
      </p:sp>
      <p:sp>
        <p:nvSpPr>
          <p:cNvPr id="9" name="Rectángulo redondeado 15">
            <a:extLst>
              <a:ext uri="{FF2B5EF4-FFF2-40B4-BE49-F238E27FC236}">
                <a16:creationId xmlns:a16="http://schemas.microsoft.com/office/drawing/2014/main" id="{A318AAF1-170B-5C2D-5164-730E7798B0BE}"/>
              </a:ext>
            </a:extLst>
          </p:cNvPr>
          <p:cNvSpPr/>
          <p:nvPr/>
        </p:nvSpPr>
        <p:spPr>
          <a:xfrm>
            <a:off x="3556168" y="2059141"/>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0" name="Rectángulo 9">
            <a:extLst>
              <a:ext uri="{FF2B5EF4-FFF2-40B4-BE49-F238E27FC236}">
                <a16:creationId xmlns:a16="http://schemas.microsoft.com/office/drawing/2014/main" id="{47DEEF5C-36C7-F539-38DF-EAFCD0AB5B36}"/>
              </a:ext>
            </a:extLst>
          </p:cNvPr>
          <p:cNvSpPr/>
          <p:nvPr/>
        </p:nvSpPr>
        <p:spPr>
          <a:xfrm>
            <a:off x="1870455" y="1764519"/>
            <a:ext cx="1923489" cy="26922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14">
            <a:extLst>
              <a:ext uri="{FF2B5EF4-FFF2-40B4-BE49-F238E27FC236}">
                <a16:creationId xmlns:a16="http://schemas.microsoft.com/office/drawing/2014/main" id="{9D8EEFFB-2D00-74AE-C3E3-4D3F2941762D}"/>
              </a:ext>
            </a:extLst>
          </p:cNvPr>
          <p:cNvSpPr/>
          <p:nvPr/>
        </p:nvSpPr>
        <p:spPr>
          <a:xfrm>
            <a:off x="11382965" y="1796231"/>
            <a:ext cx="431800" cy="26922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B2CB34A0-37A4-B0E9-2594-1376C7D68A1F}"/>
              </a:ext>
            </a:extLst>
          </p:cNvPr>
          <p:cNvSpPr/>
          <p:nvPr/>
        </p:nvSpPr>
        <p:spPr>
          <a:xfrm>
            <a:off x="10693942" y="1949062"/>
            <a:ext cx="237777" cy="1561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6" name="Marcador de texto vertical 1">
            <a:extLst>
              <a:ext uri="{FF2B5EF4-FFF2-40B4-BE49-F238E27FC236}">
                <a16:creationId xmlns:a16="http://schemas.microsoft.com/office/drawing/2014/main" id="{6695C4DD-2F7A-A098-812D-10476E538806}"/>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Tree>
    <p:extLst>
      <p:ext uri="{BB962C8B-B14F-4D97-AF65-F5344CB8AC3E}">
        <p14:creationId xmlns:p14="http://schemas.microsoft.com/office/powerpoint/2010/main" val="37737698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852E8-FCC2-72B7-C65B-59F339D55160}"/>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EE04C0EF-FEA7-A9C7-C8B3-05FA8547BFC1}"/>
              </a:ext>
            </a:extLst>
          </p:cNvPr>
          <p:cNvPicPr>
            <a:picLocks noChangeAspect="1"/>
          </p:cNvPicPr>
          <p:nvPr/>
        </p:nvPicPr>
        <p:blipFill>
          <a:blip r:embed="rId3"/>
          <a:stretch>
            <a:fillRect/>
          </a:stretch>
        </p:blipFill>
        <p:spPr>
          <a:xfrm>
            <a:off x="938996" y="956377"/>
            <a:ext cx="11134064" cy="4945245"/>
          </a:xfrm>
          <a:prstGeom prst="rect">
            <a:avLst/>
          </a:prstGeom>
        </p:spPr>
      </p:pic>
      <p:sp>
        <p:nvSpPr>
          <p:cNvPr id="13" name="Title 12">
            <a:extLst>
              <a:ext uri="{FF2B5EF4-FFF2-40B4-BE49-F238E27FC236}">
                <a16:creationId xmlns:a16="http://schemas.microsoft.com/office/drawing/2014/main" id="{C0819F41-118C-A5D8-691E-396B7D2363AC}"/>
              </a:ext>
            </a:extLst>
          </p:cNvPr>
          <p:cNvSpPr>
            <a:spLocks noGrp="1"/>
          </p:cNvSpPr>
          <p:nvPr>
            <p:ph type="title"/>
          </p:nvPr>
        </p:nvSpPr>
        <p:spPr>
          <a:xfrm>
            <a:off x="938996" y="304614"/>
            <a:ext cx="10673884" cy="898555"/>
          </a:xfrm>
        </p:spPr>
        <p:txBody>
          <a:bodyPr/>
          <a:lstStyle/>
          <a:p>
            <a:r>
              <a:rPr lang="es-419" dirty="0">
                <a:solidFill>
                  <a:schemeClr val="tx2"/>
                </a:solidFill>
              </a:rPr>
              <a:t>Control de periodo de lista de espera automático (SOAWLTC)</a:t>
            </a:r>
            <a:endParaRPr lang="es-ES_tradnl" dirty="0">
              <a:solidFill>
                <a:schemeClr val="tx2"/>
              </a:solidFill>
            </a:endParaRPr>
          </a:p>
        </p:txBody>
      </p:sp>
      <p:sp>
        <p:nvSpPr>
          <p:cNvPr id="6" name="Marcador de texto vertical 1">
            <a:extLst>
              <a:ext uri="{FF2B5EF4-FFF2-40B4-BE49-F238E27FC236}">
                <a16:creationId xmlns:a16="http://schemas.microsoft.com/office/drawing/2014/main" id="{94291070-9310-6EF6-FB32-CD725DC83972}"/>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
        <p:nvSpPr>
          <p:cNvPr id="5" name="Rectángulo 4">
            <a:extLst>
              <a:ext uri="{FF2B5EF4-FFF2-40B4-BE49-F238E27FC236}">
                <a16:creationId xmlns:a16="http://schemas.microsoft.com/office/drawing/2014/main" id="{F693D61A-B471-F78D-A9A1-5C9D5CF43229}"/>
              </a:ext>
            </a:extLst>
          </p:cNvPr>
          <p:cNvSpPr/>
          <p:nvPr/>
        </p:nvSpPr>
        <p:spPr>
          <a:xfrm>
            <a:off x="1555843" y="1956816"/>
            <a:ext cx="2522381" cy="768096"/>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6">
            <a:extLst>
              <a:ext uri="{FF2B5EF4-FFF2-40B4-BE49-F238E27FC236}">
                <a16:creationId xmlns:a16="http://schemas.microsoft.com/office/drawing/2014/main" id="{F363B954-B09A-A0E4-A80B-5702B310BCB6}"/>
              </a:ext>
            </a:extLst>
          </p:cNvPr>
          <p:cNvSpPr/>
          <p:nvPr/>
        </p:nvSpPr>
        <p:spPr>
          <a:xfrm>
            <a:off x="2363801" y="2738159"/>
            <a:ext cx="1614415" cy="6442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indican propiedades de lista de espera</a:t>
            </a:r>
          </a:p>
        </p:txBody>
      </p:sp>
      <p:sp>
        <p:nvSpPr>
          <p:cNvPr id="16" name="Rectángulo redondeado 8">
            <a:extLst>
              <a:ext uri="{FF2B5EF4-FFF2-40B4-BE49-F238E27FC236}">
                <a16:creationId xmlns:a16="http://schemas.microsoft.com/office/drawing/2014/main" id="{AC923FAC-B349-884F-63DC-4240C4BA697E}"/>
              </a:ext>
            </a:extLst>
          </p:cNvPr>
          <p:cNvSpPr/>
          <p:nvPr/>
        </p:nvSpPr>
        <p:spPr>
          <a:xfrm>
            <a:off x="1150810" y="2264181"/>
            <a:ext cx="405033" cy="2535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8" name="Rectángulo 17">
            <a:extLst>
              <a:ext uri="{FF2B5EF4-FFF2-40B4-BE49-F238E27FC236}">
                <a16:creationId xmlns:a16="http://schemas.microsoft.com/office/drawing/2014/main" id="{449B4B03-8FFD-C594-38CA-85374664972C}"/>
              </a:ext>
            </a:extLst>
          </p:cNvPr>
          <p:cNvSpPr/>
          <p:nvPr/>
        </p:nvSpPr>
        <p:spPr>
          <a:xfrm>
            <a:off x="6096000" y="1854932"/>
            <a:ext cx="2522381" cy="768096"/>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1" name="Rectángulo redondeado 13">
            <a:extLst>
              <a:ext uri="{FF2B5EF4-FFF2-40B4-BE49-F238E27FC236}">
                <a16:creationId xmlns:a16="http://schemas.microsoft.com/office/drawing/2014/main" id="{B7507689-D2BC-C8F3-5F9E-E949C88E52BC}"/>
              </a:ext>
            </a:extLst>
          </p:cNvPr>
          <p:cNvSpPr/>
          <p:nvPr/>
        </p:nvSpPr>
        <p:spPr>
          <a:xfrm>
            <a:off x="6238421" y="2716822"/>
            <a:ext cx="1614415" cy="6442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definen tiempos límites para operar</a:t>
            </a:r>
          </a:p>
        </p:txBody>
      </p:sp>
      <p:sp>
        <p:nvSpPr>
          <p:cNvPr id="23" name="Rectángulo redondeado 14">
            <a:extLst>
              <a:ext uri="{FF2B5EF4-FFF2-40B4-BE49-F238E27FC236}">
                <a16:creationId xmlns:a16="http://schemas.microsoft.com/office/drawing/2014/main" id="{BD0D8D93-E6BB-45AA-6E77-3C88BFAFDF40}"/>
              </a:ext>
            </a:extLst>
          </p:cNvPr>
          <p:cNvSpPr/>
          <p:nvPr/>
        </p:nvSpPr>
        <p:spPr>
          <a:xfrm>
            <a:off x="5653907" y="2238980"/>
            <a:ext cx="405033" cy="2535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165887774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3024-17BD-8F40-1038-6E8F90A2BC99}"/>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C55589B-6042-DC11-7438-A1A924FE2C1E}"/>
              </a:ext>
            </a:extLst>
          </p:cNvPr>
          <p:cNvPicPr>
            <a:picLocks noChangeAspect="1"/>
          </p:cNvPicPr>
          <p:nvPr/>
        </p:nvPicPr>
        <p:blipFill>
          <a:blip r:embed="rId3"/>
          <a:stretch>
            <a:fillRect/>
          </a:stretch>
        </p:blipFill>
        <p:spPr>
          <a:xfrm>
            <a:off x="970184" y="1024223"/>
            <a:ext cx="11013119" cy="4833344"/>
          </a:xfrm>
          <a:prstGeom prst="rect">
            <a:avLst/>
          </a:prstGeom>
        </p:spPr>
      </p:pic>
      <p:sp>
        <p:nvSpPr>
          <p:cNvPr id="6" name="Marcador de texto vertical 1">
            <a:extLst>
              <a:ext uri="{FF2B5EF4-FFF2-40B4-BE49-F238E27FC236}">
                <a16:creationId xmlns:a16="http://schemas.microsoft.com/office/drawing/2014/main" id="{8523F149-BA7A-121C-FD75-DCE8B4442326}"/>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
        <p:nvSpPr>
          <p:cNvPr id="4" name="Rectángulo 3">
            <a:extLst>
              <a:ext uri="{FF2B5EF4-FFF2-40B4-BE49-F238E27FC236}">
                <a16:creationId xmlns:a16="http://schemas.microsoft.com/office/drawing/2014/main" id="{2739BB65-2044-D852-E2A6-63451D9A0DF6}"/>
              </a:ext>
            </a:extLst>
          </p:cNvPr>
          <p:cNvSpPr/>
          <p:nvPr/>
        </p:nvSpPr>
        <p:spPr>
          <a:xfrm>
            <a:off x="2535655" y="2963310"/>
            <a:ext cx="1436597" cy="171841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8" name="Rectángulo redondeado 6">
            <a:extLst>
              <a:ext uri="{FF2B5EF4-FFF2-40B4-BE49-F238E27FC236}">
                <a16:creationId xmlns:a16="http://schemas.microsoft.com/office/drawing/2014/main" id="{09FB6A88-1AAB-D548-714E-F75CB6BEF0B6}"/>
              </a:ext>
            </a:extLst>
          </p:cNvPr>
          <p:cNvSpPr/>
          <p:nvPr/>
        </p:nvSpPr>
        <p:spPr>
          <a:xfrm>
            <a:off x="2431470" y="4844103"/>
            <a:ext cx="1644966" cy="43421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indica quién(es) recibe(n) notificación</a:t>
            </a:r>
          </a:p>
        </p:txBody>
      </p:sp>
      <p:sp>
        <p:nvSpPr>
          <p:cNvPr id="10" name="Rectángulo redondeado 8">
            <a:extLst>
              <a:ext uri="{FF2B5EF4-FFF2-40B4-BE49-F238E27FC236}">
                <a16:creationId xmlns:a16="http://schemas.microsoft.com/office/drawing/2014/main" id="{B6ED6C47-D29E-76A5-EB21-48BB4AC2534C}"/>
              </a:ext>
            </a:extLst>
          </p:cNvPr>
          <p:cNvSpPr/>
          <p:nvPr/>
        </p:nvSpPr>
        <p:spPr>
          <a:xfrm>
            <a:off x="2159797" y="3440896"/>
            <a:ext cx="360421" cy="2186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4" name="Rectángulo 13">
            <a:extLst>
              <a:ext uri="{FF2B5EF4-FFF2-40B4-BE49-F238E27FC236}">
                <a16:creationId xmlns:a16="http://schemas.microsoft.com/office/drawing/2014/main" id="{ABEB4551-3A77-9776-26B9-944E25DE0AB2}"/>
              </a:ext>
            </a:extLst>
          </p:cNvPr>
          <p:cNvSpPr/>
          <p:nvPr/>
        </p:nvSpPr>
        <p:spPr>
          <a:xfrm>
            <a:off x="7914204" y="2807927"/>
            <a:ext cx="3003732" cy="93138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13">
            <a:extLst>
              <a:ext uri="{FF2B5EF4-FFF2-40B4-BE49-F238E27FC236}">
                <a16:creationId xmlns:a16="http://schemas.microsoft.com/office/drawing/2014/main" id="{C1BCC9E5-66DD-1455-C2B5-8929757DED62}"/>
              </a:ext>
            </a:extLst>
          </p:cNvPr>
          <p:cNvSpPr/>
          <p:nvPr/>
        </p:nvSpPr>
        <p:spPr>
          <a:xfrm>
            <a:off x="8054588" y="4054262"/>
            <a:ext cx="1436596" cy="5557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especifica la carta configurada.</a:t>
            </a:r>
          </a:p>
        </p:txBody>
      </p:sp>
      <p:sp>
        <p:nvSpPr>
          <p:cNvPr id="20" name="Rectángulo redondeado 14">
            <a:extLst>
              <a:ext uri="{FF2B5EF4-FFF2-40B4-BE49-F238E27FC236}">
                <a16:creationId xmlns:a16="http://schemas.microsoft.com/office/drawing/2014/main" id="{55E42ED0-B859-7E0D-908C-010EDD0C8D29}"/>
              </a:ext>
            </a:extLst>
          </p:cNvPr>
          <p:cNvSpPr/>
          <p:nvPr/>
        </p:nvSpPr>
        <p:spPr>
          <a:xfrm>
            <a:off x="7482024" y="3331547"/>
            <a:ext cx="360421" cy="2186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1" name="Title 12">
            <a:extLst>
              <a:ext uri="{FF2B5EF4-FFF2-40B4-BE49-F238E27FC236}">
                <a16:creationId xmlns:a16="http://schemas.microsoft.com/office/drawing/2014/main" id="{D5F746D4-AA89-BD7D-633D-9313713A02C2}"/>
              </a:ext>
            </a:extLst>
          </p:cNvPr>
          <p:cNvSpPr>
            <a:spLocks noGrp="1"/>
          </p:cNvSpPr>
          <p:nvPr>
            <p:ph type="title"/>
          </p:nvPr>
        </p:nvSpPr>
        <p:spPr>
          <a:xfrm>
            <a:off x="938996" y="304614"/>
            <a:ext cx="10673884" cy="898555"/>
          </a:xfrm>
        </p:spPr>
        <p:txBody>
          <a:bodyPr/>
          <a:lstStyle/>
          <a:p>
            <a:r>
              <a:rPr lang="es-419" dirty="0">
                <a:solidFill>
                  <a:schemeClr val="tx2"/>
                </a:solidFill>
              </a:rPr>
              <a:t>Control de periodo de lista de espera automático (SOAWLTC)</a:t>
            </a:r>
            <a:endParaRPr lang="es-ES_tradnl" dirty="0">
              <a:solidFill>
                <a:schemeClr val="tx2"/>
              </a:solidFill>
            </a:endParaRPr>
          </a:p>
        </p:txBody>
      </p:sp>
    </p:spTree>
    <p:extLst>
      <p:ext uri="{BB962C8B-B14F-4D97-AF65-F5344CB8AC3E}">
        <p14:creationId xmlns:p14="http://schemas.microsoft.com/office/powerpoint/2010/main" val="106770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C620A-759F-1EB3-B149-2883AAE38DF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E3506E4-E3FB-1BAF-101B-6CF7F1BD2004}"/>
              </a:ext>
            </a:extLst>
          </p:cNvPr>
          <p:cNvPicPr>
            <a:picLocks noChangeAspect="1"/>
          </p:cNvPicPr>
          <p:nvPr/>
        </p:nvPicPr>
        <p:blipFill>
          <a:blip r:embed="rId3"/>
          <a:stretch>
            <a:fillRect/>
          </a:stretch>
        </p:blipFill>
        <p:spPr>
          <a:xfrm>
            <a:off x="970184" y="1024223"/>
            <a:ext cx="11013119" cy="4833344"/>
          </a:xfrm>
          <a:prstGeom prst="rect">
            <a:avLst/>
          </a:prstGeom>
        </p:spPr>
      </p:pic>
      <p:sp>
        <p:nvSpPr>
          <p:cNvPr id="13" name="Title 12">
            <a:extLst>
              <a:ext uri="{FF2B5EF4-FFF2-40B4-BE49-F238E27FC236}">
                <a16:creationId xmlns:a16="http://schemas.microsoft.com/office/drawing/2014/main" id="{E7E2398D-CA75-ACEF-488E-AD62D80239DB}"/>
              </a:ext>
            </a:extLst>
          </p:cNvPr>
          <p:cNvSpPr>
            <a:spLocks noGrp="1"/>
          </p:cNvSpPr>
          <p:nvPr>
            <p:ph type="title"/>
          </p:nvPr>
        </p:nvSpPr>
        <p:spPr>
          <a:xfrm>
            <a:off x="938996" y="304614"/>
            <a:ext cx="10792756" cy="898555"/>
          </a:xfrm>
        </p:spPr>
        <p:txBody>
          <a:bodyPr/>
          <a:lstStyle/>
          <a:p>
            <a:r>
              <a:rPr lang="es-419" dirty="0">
                <a:solidFill>
                  <a:schemeClr val="tx2"/>
                </a:solidFill>
              </a:rPr>
              <a:t>Control de periodo de lista de espera automático (SOAWLTC)</a:t>
            </a:r>
            <a:endParaRPr lang="es-ES_tradnl" dirty="0">
              <a:solidFill>
                <a:schemeClr val="tx2"/>
              </a:solidFill>
            </a:endParaRPr>
          </a:p>
        </p:txBody>
      </p:sp>
      <p:sp>
        <p:nvSpPr>
          <p:cNvPr id="6" name="Marcador de texto vertical 1">
            <a:extLst>
              <a:ext uri="{FF2B5EF4-FFF2-40B4-BE49-F238E27FC236}">
                <a16:creationId xmlns:a16="http://schemas.microsoft.com/office/drawing/2014/main" id="{891D6665-BCF5-B587-4BCC-CF42CE4CF193}"/>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
        <p:nvSpPr>
          <p:cNvPr id="3" name="Rectángulo 2">
            <a:extLst>
              <a:ext uri="{FF2B5EF4-FFF2-40B4-BE49-F238E27FC236}">
                <a16:creationId xmlns:a16="http://schemas.microsoft.com/office/drawing/2014/main" id="{FA826891-86B4-B273-D411-146A62F33E29}"/>
              </a:ext>
            </a:extLst>
          </p:cNvPr>
          <p:cNvSpPr/>
          <p:nvPr/>
        </p:nvSpPr>
        <p:spPr>
          <a:xfrm>
            <a:off x="1818861" y="4861602"/>
            <a:ext cx="2891047"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9" name="Rectángulo redondeado 6">
            <a:extLst>
              <a:ext uri="{FF2B5EF4-FFF2-40B4-BE49-F238E27FC236}">
                <a16:creationId xmlns:a16="http://schemas.microsoft.com/office/drawing/2014/main" id="{C76B0337-F344-F85B-D0A0-9F5E648D4176}"/>
              </a:ext>
            </a:extLst>
          </p:cNvPr>
          <p:cNvSpPr/>
          <p:nvPr/>
        </p:nvSpPr>
        <p:spPr>
          <a:xfrm>
            <a:off x="1811389" y="4139229"/>
            <a:ext cx="2156934" cy="61403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Si está activada la notificación automática, se debe indicar el ID del funcionario </a:t>
            </a:r>
            <a:r>
              <a:rPr lang="es-ES_tradnl" sz="1100" dirty="0" err="1"/>
              <a:t>backoffice</a:t>
            </a:r>
            <a:r>
              <a:rPr lang="es-ES_tradnl" sz="1100" dirty="0"/>
              <a:t>.</a:t>
            </a:r>
          </a:p>
        </p:txBody>
      </p:sp>
      <p:sp>
        <p:nvSpPr>
          <p:cNvPr id="12" name="Rectángulo redondeado 8">
            <a:extLst>
              <a:ext uri="{FF2B5EF4-FFF2-40B4-BE49-F238E27FC236}">
                <a16:creationId xmlns:a16="http://schemas.microsoft.com/office/drawing/2014/main" id="{5E5EACBF-EA71-C140-DCDD-AD642A2F7091}"/>
              </a:ext>
            </a:extLst>
          </p:cNvPr>
          <p:cNvSpPr/>
          <p:nvPr/>
        </p:nvSpPr>
        <p:spPr>
          <a:xfrm>
            <a:off x="1379667" y="4970950"/>
            <a:ext cx="360421" cy="2186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6" name="Rectángulo 15">
            <a:extLst>
              <a:ext uri="{FF2B5EF4-FFF2-40B4-BE49-F238E27FC236}">
                <a16:creationId xmlns:a16="http://schemas.microsoft.com/office/drawing/2014/main" id="{BCE88B39-6BB6-C4F5-0ADD-342A5BF8B2BE}"/>
              </a:ext>
            </a:extLst>
          </p:cNvPr>
          <p:cNvSpPr/>
          <p:nvPr/>
        </p:nvSpPr>
        <p:spPr>
          <a:xfrm>
            <a:off x="6635862" y="4865064"/>
            <a:ext cx="2891048" cy="2186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9" name="Rectángulo redondeado 13">
            <a:extLst>
              <a:ext uri="{FF2B5EF4-FFF2-40B4-BE49-F238E27FC236}">
                <a16:creationId xmlns:a16="http://schemas.microsoft.com/office/drawing/2014/main" id="{9DDA5F8F-2D5A-F032-9EA6-5AC5A090C6E2}"/>
              </a:ext>
            </a:extLst>
          </p:cNvPr>
          <p:cNvSpPr/>
          <p:nvPr/>
        </p:nvSpPr>
        <p:spPr>
          <a:xfrm>
            <a:off x="7232835" y="4268131"/>
            <a:ext cx="2481943" cy="5557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Si está activada la notificación automática, se indica el nombre del host de correo electrónico</a:t>
            </a:r>
          </a:p>
        </p:txBody>
      </p:sp>
      <p:sp>
        <p:nvSpPr>
          <p:cNvPr id="22" name="Rectángulo redondeado 14">
            <a:extLst>
              <a:ext uri="{FF2B5EF4-FFF2-40B4-BE49-F238E27FC236}">
                <a16:creationId xmlns:a16="http://schemas.microsoft.com/office/drawing/2014/main" id="{4114BD7E-4FA9-014D-1945-313DB91C0568}"/>
              </a:ext>
            </a:extLst>
          </p:cNvPr>
          <p:cNvSpPr/>
          <p:nvPr/>
        </p:nvSpPr>
        <p:spPr>
          <a:xfrm>
            <a:off x="6275441" y="4911825"/>
            <a:ext cx="360421" cy="2186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Tree>
    <p:extLst>
      <p:ext uri="{BB962C8B-B14F-4D97-AF65-F5344CB8AC3E}">
        <p14:creationId xmlns:p14="http://schemas.microsoft.com/office/powerpoint/2010/main" val="13069996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EE3C5-69A8-774C-0BE8-82DFAE4F8A39}"/>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FC62979E-BDB6-CD8D-81D5-C2D8F58B9A85}"/>
              </a:ext>
            </a:extLst>
          </p:cNvPr>
          <p:cNvPicPr>
            <a:picLocks noChangeAspect="1"/>
          </p:cNvPicPr>
          <p:nvPr/>
        </p:nvPicPr>
        <p:blipFill>
          <a:blip r:embed="rId3"/>
          <a:stretch>
            <a:fillRect/>
          </a:stretch>
        </p:blipFill>
        <p:spPr>
          <a:xfrm>
            <a:off x="1144188" y="1004179"/>
            <a:ext cx="10614400" cy="4849641"/>
          </a:xfrm>
          <a:prstGeom prst="rect">
            <a:avLst/>
          </a:prstGeom>
        </p:spPr>
      </p:pic>
      <p:sp>
        <p:nvSpPr>
          <p:cNvPr id="13" name="Title 12">
            <a:extLst>
              <a:ext uri="{FF2B5EF4-FFF2-40B4-BE49-F238E27FC236}">
                <a16:creationId xmlns:a16="http://schemas.microsoft.com/office/drawing/2014/main" id="{13149FFE-7F2C-1B34-BCDE-927A0AB92522}"/>
              </a:ext>
            </a:extLst>
          </p:cNvPr>
          <p:cNvSpPr>
            <a:spLocks noGrp="1"/>
          </p:cNvSpPr>
          <p:nvPr>
            <p:ph type="title"/>
          </p:nvPr>
        </p:nvSpPr>
        <p:spPr>
          <a:xfrm>
            <a:off x="938996" y="304614"/>
            <a:ext cx="10819592" cy="898555"/>
          </a:xfrm>
        </p:spPr>
        <p:txBody>
          <a:bodyPr/>
          <a:lstStyle/>
          <a:p>
            <a:r>
              <a:rPr lang="es-419" dirty="0">
                <a:solidFill>
                  <a:schemeClr val="tx2"/>
                </a:solidFill>
              </a:rPr>
              <a:t>Control de periodo de lista de espera automático (SOAWLTC)</a:t>
            </a:r>
            <a:endParaRPr lang="es-ES_tradnl" dirty="0">
              <a:solidFill>
                <a:schemeClr val="tx2"/>
              </a:solidFill>
            </a:endParaRPr>
          </a:p>
        </p:txBody>
      </p:sp>
      <p:sp>
        <p:nvSpPr>
          <p:cNvPr id="6" name="Marcador de texto vertical 1">
            <a:extLst>
              <a:ext uri="{FF2B5EF4-FFF2-40B4-BE49-F238E27FC236}">
                <a16:creationId xmlns:a16="http://schemas.microsoft.com/office/drawing/2014/main" id="{66A3835F-D703-978A-12C4-7213358728D3}"/>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
        <p:nvSpPr>
          <p:cNvPr id="8" name="Rectángulo 7">
            <a:extLst>
              <a:ext uri="{FF2B5EF4-FFF2-40B4-BE49-F238E27FC236}">
                <a16:creationId xmlns:a16="http://schemas.microsoft.com/office/drawing/2014/main" id="{0263B2D8-39D4-6AE5-1F7A-A85ADDE39A99}"/>
              </a:ext>
            </a:extLst>
          </p:cNvPr>
          <p:cNvSpPr/>
          <p:nvPr/>
        </p:nvSpPr>
        <p:spPr>
          <a:xfrm>
            <a:off x="2554888" y="1608038"/>
            <a:ext cx="1550768" cy="21161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6">
            <a:extLst>
              <a:ext uri="{FF2B5EF4-FFF2-40B4-BE49-F238E27FC236}">
                <a16:creationId xmlns:a16="http://schemas.microsoft.com/office/drawing/2014/main" id="{BF2FAC69-5630-6FF4-D0F3-4283EDDD31A1}"/>
              </a:ext>
            </a:extLst>
          </p:cNvPr>
          <p:cNvSpPr/>
          <p:nvPr/>
        </p:nvSpPr>
        <p:spPr>
          <a:xfrm>
            <a:off x="4068657" y="1364768"/>
            <a:ext cx="2322436" cy="78553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define la severidad de errores de inscripción para cursos en lista de espera</a:t>
            </a:r>
          </a:p>
        </p:txBody>
      </p:sp>
      <p:sp>
        <p:nvSpPr>
          <p:cNvPr id="15" name="Rectángulo redondeado 8">
            <a:extLst>
              <a:ext uri="{FF2B5EF4-FFF2-40B4-BE49-F238E27FC236}">
                <a16:creationId xmlns:a16="http://schemas.microsoft.com/office/drawing/2014/main" id="{04668614-3C0D-FDC3-BB76-148646C82C90}"/>
              </a:ext>
            </a:extLst>
          </p:cNvPr>
          <p:cNvSpPr/>
          <p:nvPr/>
        </p:nvSpPr>
        <p:spPr>
          <a:xfrm>
            <a:off x="3634725" y="1364767"/>
            <a:ext cx="388076" cy="27977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
        <p:nvSpPr>
          <p:cNvPr id="18" name="Rectángulo 17">
            <a:extLst>
              <a:ext uri="{FF2B5EF4-FFF2-40B4-BE49-F238E27FC236}">
                <a16:creationId xmlns:a16="http://schemas.microsoft.com/office/drawing/2014/main" id="{C86480ED-EBB4-2D03-FFC0-D61952EF12DD}"/>
              </a:ext>
            </a:extLst>
          </p:cNvPr>
          <p:cNvSpPr/>
          <p:nvPr/>
        </p:nvSpPr>
        <p:spPr>
          <a:xfrm>
            <a:off x="11302979" y="5562683"/>
            <a:ext cx="455609" cy="27977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1" name="Rectángulo redondeado 13">
            <a:extLst>
              <a:ext uri="{FF2B5EF4-FFF2-40B4-BE49-F238E27FC236}">
                <a16:creationId xmlns:a16="http://schemas.microsoft.com/office/drawing/2014/main" id="{1222C23A-C5CF-B4E1-DA08-E68116339DC2}"/>
              </a:ext>
            </a:extLst>
          </p:cNvPr>
          <p:cNvSpPr/>
          <p:nvPr/>
        </p:nvSpPr>
        <p:spPr>
          <a:xfrm>
            <a:off x="9904122" y="5293564"/>
            <a:ext cx="1125214" cy="71099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guardan los cambios</a:t>
            </a:r>
          </a:p>
        </p:txBody>
      </p:sp>
      <p:sp>
        <p:nvSpPr>
          <p:cNvPr id="24" name="Rectángulo redondeado 14">
            <a:extLst>
              <a:ext uri="{FF2B5EF4-FFF2-40B4-BE49-F238E27FC236}">
                <a16:creationId xmlns:a16="http://schemas.microsoft.com/office/drawing/2014/main" id="{8B3C9E4D-1D7F-C55C-9F6D-6D2535696A3C}"/>
              </a:ext>
            </a:extLst>
          </p:cNvPr>
          <p:cNvSpPr/>
          <p:nvPr/>
        </p:nvSpPr>
        <p:spPr>
          <a:xfrm>
            <a:off x="11188547" y="5271546"/>
            <a:ext cx="388076" cy="27977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10</a:t>
            </a:r>
          </a:p>
        </p:txBody>
      </p:sp>
    </p:spTree>
    <p:extLst>
      <p:ext uri="{BB962C8B-B14F-4D97-AF65-F5344CB8AC3E}">
        <p14:creationId xmlns:p14="http://schemas.microsoft.com/office/powerpoint/2010/main" val="10349843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53D1-A89B-6050-2D03-7D303761F40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E046225-C242-0050-717B-C82AD0EE1B32}"/>
              </a:ext>
            </a:extLst>
          </p:cNvPr>
          <p:cNvPicPr>
            <a:picLocks noChangeAspect="1"/>
          </p:cNvPicPr>
          <p:nvPr/>
        </p:nvPicPr>
        <p:blipFill>
          <a:blip r:embed="rId3"/>
          <a:stretch>
            <a:fillRect/>
          </a:stretch>
        </p:blipFill>
        <p:spPr>
          <a:xfrm>
            <a:off x="1225262" y="1148677"/>
            <a:ext cx="10877671" cy="4815546"/>
          </a:xfrm>
          <a:prstGeom prst="rect">
            <a:avLst/>
          </a:prstGeom>
        </p:spPr>
      </p:pic>
      <p:sp>
        <p:nvSpPr>
          <p:cNvPr id="13" name="Title 12">
            <a:extLst>
              <a:ext uri="{FF2B5EF4-FFF2-40B4-BE49-F238E27FC236}">
                <a16:creationId xmlns:a16="http://schemas.microsoft.com/office/drawing/2014/main" id="{1E931DA1-69CB-6AA2-58F8-27DE6AF142CB}"/>
              </a:ext>
            </a:extLst>
          </p:cNvPr>
          <p:cNvSpPr>
            <a:spLocks noGrp="1"/>
          </p:cNvSpPr>
          <p:nvPr>
            <p:ph type="title"/>
          </p:nvPr>
        </p:nvSpPr>
        <p:spPr>
          <a:xfrm>
            <a:off x="938996" y="304614"/>
            <a:ext cx="10747036" cy="898555"/>
          </a:xfrm>
        </p:spPr>
        <p:txBody>
          <a:bodyPr/>
          <a:lstStyle/>
          <a:p>
            <a:r>
              <a:rPr lang="es-419" dirty="0">
                <a:solidFill>
                  <a:schemeClr val="tx2"/>
                </a:solidFill>
              </a:rPr>
              <a:t>Cupo Lista de Espera (SSASECT)</a:t>
            </a:r>
            <a:endParaRPr lang="es-ES_tradnl" dirty="0">
              <a:solidFill>
                <a:schemeClr val="tx2"/>
              </a:solidFill>
            </a:endParaRPr>
          </a:p>
        </p:txBody>
      </p:sp>
      <p:sp>
        <p:nvSpPr>
          <p:cNvPr id="6" name="Marcador de texto vertical 1">
            <a:extLst>
              <a:ext uri="{FF2B5EF4-FFF2-40B4-BE49-F238E27FC236}">
                <a16:creationId xmlns:a16="http://schemas.microsoft.com/office/drawing/2014/main" id="{FF3BFCCD-8490-EA19-8283-2D121453BA0F}"/>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
        <p:nvSpPr>
          <p:cNvPr id="7" name="Rectángulo 6">
            <a:extLst>
              <a:ext uri="{FF2B5EF4-FFF2-40B4-BE49-F238E27FC236}">
                <a16:creationId xmlns:a16="http://schemas.microsoft.com/office/drawing/2014/main" id="{6BD9690A-DDB8-B9C3-7842-A2F088F489A1}"/>
              </a:ext>
            </a:extLst>
          </p:cNvPr>
          <p:cNvSpPr/>
          <p:nvPr/>
        </p:nvSpPr>
        <p:spPr>
          <a:xfrm>
            <a:off x="1588512" y="2153007"/>
            <a:ext cx="1440257" cy="16541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redondeado 6">
            <a:extLst>
              <a:ext uri="{FF2B5EF4-FFF2-40B4-BE49-F238E27FC236}">
                <a16:creationId xmlns:a16="http://schemas.microsoft.com/office/drawing/2014/main" id="{E9C2264E-1AC2-8B4F-3BEE-D78A02383E45}"/>
              </a:ext>
            </a:extLst>
          </p:cNvPr>
          <p:cNvSpPr/>
          <p:nvPr/>
        </p:nvSpPr>
        <p:spPr>
          <a:xfrm>
            <a:off x="1225262" y="2420769"/>
            <a:ext cx="2370117" cy="113568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establece el cupo de la sección, tal como se ha mostrado en los instructivos de “Gestionar la Programación Académica</a:t>
            </a:r>
          </a:p>
        </p:txBody>
      </p:sp>
      <p:sp>
        <p:nvSpPr>
          <p:cNvPr id="14" name="Rectángulo redondeado 8">
            <a:extLst>
              <a:ext uri="{FF2B5EF4-FFF2-40B4-BE49-F238E27FC236}">
                <a16:creationId xmlns:a16="http://schemas.microsoft.com/office/drawing/2014/main" id="{AC0CEDE8-5E80-6606-E9A7-7A7A63A33699}"/>
              </a:ext>
            </a:extLst>
          </p:cNvPr>
          <p:cNvSpPr/>
          <p:nvPr/>
        </p:nvSpPr>
        <p:spPr>
          <a:xfrm>
            <a:off x="1225263" y="2140484"/>
            <a:ext cx="245684" cy="2186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7" name="Rectángulo 16">
            <a:extLst>
              <a:ext uri="{FF2B5EF4-FFF2-40B4-BE49-F238E27FC236}">
                <a16:creationId xmlns:a16="http://schemas.microsoft.com/office/drawing/2014/main" id="{98CD5801-0F5A-B35B-5485-7894B8555E5B}"/>
              </a:ext>
            </a:extLst>
          </p:cNvPr>
          <p:cNvSpPr/>
          <p:nvPr/>
        </p:nvSpPr>
        <p:spPr>
          <a:xfrm>
            <a:off x="5311021" y="2140484"/>
            <a:ext cx="1440257" cy="16541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0" name="Rectángulo redondeado 15">
            <a:extLst>
              <a:ext uri="{FF2B5EF4-FFF2-40B4-BE49-F238E27FC236}">
                <a16:creationId xmlns:a16="http://schemas.microsoft.com/office/drawing/2014/main" id="{7EBDA58B-A8B8-54B6-F109-F1F8573D9802}"/>
              </a:ext>
            </a:extLst>
          </p:cNvPr>
          <p:cNvSpPr/>
          <p:nvPr/>
        </p:nvSpPr>
        <p:spPr>
          <a:xfrm>
            <a:off x="5380312" y="2408248"/>
            <a:ext cx="2680709" cy="66129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establece el cupo de lista de espera. En este caso, un máximo de 3 estudiantes podrán hacer uso de ella.</a:t>
            </a:r>
          </a:p>
        </p:txBody>
      </p:sp>
      <p:sp>
        <p:nvSpPr>
          <p:cNvPr id="23" name="Rectángulo redondeado 16">
            <a:extLst>
              <a:ext uri="{FF2B5EF4-FFF2-40B4-BE49-F238E27FC236}">
                <a16:creationId xmlns:a16="http://schemas.microsoft.com/office/drawing/2014/main" id="{4D5CC168-9176-5B65-6D32-E915F37BD4AA}"/>
              </a:ext>
            </a:extLst>
          </p:cNvPr>
          <p:cNvSpPr/>
          <p:nvPr/>
        </p:nvSpPr>
        <p:spPr>
          <a:xfrm>
            <a:off x="6896278" y="2140484"/>
            <a:ext cx="245685" cy="2186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115147986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A6F1F48-76C7-92EC-513B-6FABD60CCC9C}"/>
              </a:ext>
            </a:extLst>
          </p:cNvPr>
          <p:cNvSpPr>
            <a:spLocks noGrp="1"/>
          </p:cNvSpPr>
          <p:nvPr>
            <p:ph type="body" orient="vert" sz="quarter" idx="10"/>
          </p:nvPr>
        </p:nvSpPr>
        <p:spPr/>
        <p:txBody>
          <a:bodyPr/>
          <a:lstStyle/>
          <a:p>
            <a:r>
              <a:rPr lang="es-419" sz="1200" dirty="0"/>
              <a:t>Ejecutar la inscripción de cursos por autoservicio por bloques</a:t>
            </a:r>
            <a:endParaRPr lang="es-419" dirty="0"/>
          </a:p>
        </p:txBody>
      </p:sp>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sz="3200" dirty="0"/>
              <a:t>Ejecutar la inscripción de cursos por autoservicio por </a:t>
            </a:r>
            <a:r>
              <a:rPr lang="es-419" dirty="0"/>
              <a:t>lista de espera</a:t>
            </a:r>
          </a:p>
        </p:txBody>
      </p:sp>
    </p:spTree>
    <p:extLst>
      <p:ext uri="{BB962C8B-B14F-4D97-AF65-F5344CB8AC3E}">
        <p14:creationId xmlns:p14="http://schemas.microsoft.com/office/powerpoint/2010/main" val="72665773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14217-6491-A94D-F55A-06C5E2A54BA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EA081C75-B601-734E-6BCC-8ABD0B15F560}"/>
              </a:ext>
            </a:extLst>
          </p:cNvPr>
          <p:cNvPicPr>
            <a:picLocks noChangeAspect="1"/>
          </p:cNvPicPr>
          <p:nvPr/>
        </p:nvPicPr>
        <p:blipFill>
          <a:blip r:embed="rId3"/>
          <a:srcRect t="14801"/>
          <a:stretch>
            <a:fillRect/>
          </a:stretch>
        </p:blipFill>
        <p:spPr>
          <a:xfrm>
            <a:off x="1074507" y="1220748"/>
            <a:ext cx="11021780" cy="4552164"/>
          </a:xfrm>
          <a:prstGeom prst="rect">
            <a:avLst/>
          </a:prstGeom>
        </p:spPr>
      </p:pic>
      <p:sp>
        <p:nvSpPr>
          <p:cNvPr id="13" name="Title 12">
            <a:extLst>
              <a:ext uri="{FF2B5EF4-FFF2-40B4-BE49-F238E27FC236}">
                <a16:creationId xmlns:a16="http://schemas.microsoft.com/office/drawing/2014/main" id="{EFE7CDC9-3D04-232D-8A0E-63C23B573027}"/>
              </a:ext>
            </a:extLst>
          </p:cNvPr>
          <p:cNvSpPr>
            <a:spLocks noGrp="1"/>
          </p:cNvSpPr>
          <p:nvPr>
            <p:ph type="title"/>
          </p:nvPr>
        </p:nvSpPr>
        <p:spPr>
          <a:xfrm>
            <a:off x="946491" y="322193"/>
            <a:ext cx="10477497" cy="898555"/>
          </a:xfrm>
        </p:spPr>
        <p:txBody>
          <a:bodyPr vert="horz" lIns="0" tIns="0" rIns="0" bIns="0" rtlCol="0" anchor="t" anchorCtr="0">
            <a:noAutofit/>
          </a:bodyPr>
          <a:lstStyle/>
          <a:p>
            <a:r>
              <a:rPr lang="es-419" dirty="0">
                <a:solidFill>
                  <a:schemeClr val="tx2"/>
                </a:solidFill>
              </a:rPr>
              <a:t>Inscripción de cursos por autoservicio por bloques</a:t>
            </a:r>
            <a:endParaRPr lang="es-ES_tradnl" dirty="0">
              <a:solidFill>
                <a:schemeClr val="tx2"/>
              </a:solidFill>
            </a:endParaRPr>
          </a:p>
        </p:txBody>
      </p:sp>
      <p:sp>
        <p:nvSpPr>
          <p:cNvPr id="8" name="Rectángulo: esquinas redondeadas 7">
            <a:extLst>
              <a:ext uri="{FF2B5EF4-FFF2-40B4-BE49-F238E27FC236}">
                <a16:creationId xmlns:a16="http://schemas.microsoft.com/office/drawing/2014/main" id="{793DD255-B5E9-0702-D2A0-2AC246DF24B4}"/>
              </a:ext>
            </a:extLst>
          </p:cNvPr>
          <p:cNvSpPr/>
          <p:nvPr/>
        </p:nvSpPr>
        <p:spPr>
          <a:xfrm>
            <a:off x="2041729" y="4489793"/>
            <a:ext cx="7443648" cy="128311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CL" sz="1200" dirty="0"/>
              <a:t>Para realizar la inscripción de asignaturas o NRC, el estudiante debe ingresar por su portal de autoservicio a la tarjeta de “Abrir tablero de Inscripciones”</a:t>
            </a:r>
          </a:p>
          <a:p>
            <a:pPr algn="ctr"/>
            <a:endParaRPr lang="es-CL" sz="1200" dirty="0"/>
          </a:p>
          <a:p>
            <a:pPr algn="ctr"/>
            <a:r>
              <a:rPr lang="es-CL" sz="1100" dirty="0"/>
              <a:t>La imagen que se presenta es referencial, pues el diseño definitivo del portal depende de las decisiones del equipo de TI de la institución.</a:t>
            </a:r>
            <a:endParaRPr lang="es-ES_tradnl" sz="1100" dirty="0"/>
          </a:p>
        </p:txBody>
      </p:sp>
      <p:sp>
        <p:nvSpPr>
          <p:cNvPr id="7" name="Marcador de texto vertical 1">
            <a:extLst>
              <a:ext uri="{FF2B5EF4-FFF2-40B4-BE49-F238E27FC236}">
                <a16:creationId xmlns:a16="http://schemas.microsoft.com/office/drawing/2014/main" id="{B5B48827-EE85-6DE3-910A-1C438B134CD8}"/>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Tree>
    <p:extLst>
      <p:ext uri="{BB962C8B-B14F-4D97-AF65-F5344CB8AC3E}">
        <p14:creationId xmlns:p14="http://schemas.microsoft.com/office/powerpoint/2010/main" val="39080853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DFB6C-4383-2D97-11F3-B18CFB5069D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470E6F43-C981-6DA9-9C42-1945928FE0EA}"/>
              </a:ext>
            </a:extLst>
          </p:cNvPr>
          <p:cNvSpPr>
            <a:spLocks noGrp="1"/>
          </p:cNvSpPr>
          <p:nvPr>
            <p:ph type="title"/>
          </p:nvPr>
        </p:nvSpPr>
        <p:spPr>
          <a:xfrm>
            <a:off x="946491" y="322193"/>
            <a:ext cx="10477497" cy="898555"/>
          </a:xfrm>
        </p:spPr>
        <p:txBody>
          <a:bodyPr vert="horz" lIns="0" tIns="0" rIns="0" bIns="0" rtlCol="0" anchor="t" anchorCtr="0">
            <a:noAutofit/>
          </a:bodyPr>
          <a:lstStyle/>
          <a:p>
            <a:r>
              <a:rPr lang="es-419" dirty="0">
                <a:solidFill>
                  <a:schemeClr val="tx2"/>
                </a:solidFill>
              </a:rPr>
              <a:t>Inscripción de cursos por autoservicio con lista de espera</a:t>
            </a:r>
            <a:endParaRPr lang="es-ES_tradnl" dirty="0">
              <a:solidFill>
                <a:schemeClr val="tx2"/>
              </a:solidFill>
            </a:endParaRPr>
          </a:p>
        </p:txBody>
      </p:sp>
      <p:pic>
        <p:nvPicPr>
          <p:cNvPr id="5" name="Imagen 4">
            <a:extLst>
              <a:ext uri="{FF2B5EF4-FFF2-40B4-BE49-F238E27FC236}">
                <a16:creationId xmlns:a16="http://schemas.microsoft.com/office/drawing/2014/main" id="{FDBD2E5E-9563-4378-EF19-5A4FB340966F}"/>
              </a:ext>
            </a:extLst>
          </p:cNvPr>
          <p:cNvPicPr>
            <a:picLocks noChangeAspect="1"/>
          </p:cNvPicPr>
          <p:nvPr/>
        </p:nvPicPr>
        <p:blipFill>
          <a:blip r:embed="rId3"/>
          <a:stretch>
            <a:fillRect/>
          </a:stretch>
        </p:blipFill>
        <p:spPr>
          <a:xfrm>
            <a:off x="946491" y="1187075"/>
            <a:ext cx="10684677" cy="4661190"/>
          </a:xfrm>
          <a:prstGeom prst="rect">
            <a:avLst/>
          </a:prstGeom>
        </p:spPr>
      </p:pic>
      <p:sp>
        <p:nvSpPr>
          <p:cNvPr id="6" name="Rectángulo: esquinas redondeadas 5">
            <a:extLst>
              <a:ext uri="{FF2B5EF4-FFF2-40B4-BE49-F238E27FC236}">
                <a16:creationId xmlns:a16="http://schemas.microsoft.com/office/drawing/2014/main" id="{9DB5B297-5033-AF8A-2FFD-CB2269E95D63}"/>
              </a:ext>
            </a:extLst>
          </p:cNvPr>
          <p:cNvSpPr/>
          <p:nvPr/>
        </p:nvSpPr>
        <p:spPr>
          <a:xfrm>
            <a:off x="2435734" y="3535847"/>
            <a:ext cx="7499010" cy="101160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a:pPr>
            <a:r>
              <a:rPr lang="es-CL" sz="1200" dirty="0"/>
              <a:t>Redireccionado al módulo de </a:t>
            </a:r>
            <a:r>
              <a:rPr lang="es-CL" sz="1200" dirty="0" err="1"/>
              <a:t>Registration</a:t>
            </a:r>
            <a:r>
              <a:rPr lang="es-CL" sz="1200" dirty="0"/>
              <a:t>, se debe ingresar a la opción ‘inscribirse a clases’</a:t>
            </a:r>
            <a:endParaRPr lang="es-ES_tradnl" sz="1200" dirty="0"/>
          </a:p>
        </p:txBody>
      </p:sp>
      <p:sp>
        <p:nvSpPr>
          <p:cNvPr id="7" name="Rectángulo 6">
            <a:extLst>
              <a:ext uri="{FF2B5EF4-FFF2-40B4-BE49-F238E27FC236}">
                <a16:creationId xmlns:a16="http://schemas.microsoft.com/office/drawing/2014/main" id="{B3FB8ABE-821A-EA31-9DEF-5D466589BCE7}"/>
              </a:ext>
            </a:extLst>
          </p:cNvPr>
          <p:cNvSpPr/>
          <p:nvPr/>
        </p:nvSpPr>
        <p:spPr>
          <a:xfrm>
            <a:off x="5451087" y="1928103"/>
            <a:ext cx="2741937" cy="45019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EC21E6BA-38ED-CFCF-7F48-024FBE0929EA}"/>
              </a:ext>
            </a:extLst>
          </p:cNvPr>
          <p:cNvSpPr/>
          <p:nvPr/>
        </p:nvSpPr>
        <p:spPr>
          <a:xfrm>
            <a:off x="8271644" y="223503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0" name="Marcador de texto vertical 1">
            <a:extLst>
              <a:ext uri="{FF2B5EF4-FFF2-40B4-BE49-F238E27FC236}">
                <a16:creationId xmlns:a16="http://schemas.microsoft.com/office/drawing/2014/main" id="{F6A5BC1A-3C45-E6A5-C79E-A25395BBCEAE}"/>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Tree>
    <p:extLst>
      <p:ext uri="{BB962C8B-B14F-4D97-AF65-F5344CB8AC3E}">
        <p14:creationId xmlns:p14="http://schemas.microsoft.com/office/powerpoint/2010/main" val="223103880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F37FD-016E-BFF5-2E67-E674DC03B7C5}"/>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02D19805-F2B7-2D8C-29A4-91B0F29E37FF}"/>
              </a:ext>
            </a:extLst>
          </p:cNvPr>
          <p:cNvPicPr>
            <a:picLocks noChangeAspect="1"/>
          </p:cNvPicPr>
          <p:nvPr/>
        </p:nvPicPr>
        <p:blipFill>
          <a:blip r:embed="rId3"/>
          <a:stretch>
            <a:fillRect/>
          </a:stretch>
        </p:blipFill>
        <p:spPr>
          <a:xfrm>
            <a:off x="946491" y="721694"/>
            <a:ext cx="10870193" cy="4547383"/>
          </a:xfrm>
          <a:prstGeom prst="rect">
            <a:avLst/>
          </a:prstGeom>
        </p:spPr>
      </p:pic>
      <p:sp>
        <p:nvSpPr>
          <p:cNvPr id="13" name="Title 12">
            <a:extLst>
              <a:ext uri="{FF2B5EF4-FFF2-40B4-BE49-F238E27FC236}">
                <a16:creationId xmlns:a16="http://schemas.microsoft.com/office/drawing/2014/main" id="{D97981F6-6F48-0B3A-E1B6-311A438258EE}"/>
              </a:ext>
            </a:extLst>
          </p:cNvPr>
          <p:cNvSpPr>
            <a:spLocks noGrp="1"/>
          </p:cNvSpPr>
          <p:nvPr>
            <p:ph type="title"/>
          </p:nvPr>
        </p:nvSpPr>
        <p:spPr>
          <a:xfrm>
            <a:off x="946491" y="322193"/>
            <a:ext cx="10477497" cy="898555"/>
          </a:xfrm>
        </p:spPr>
        <p:txBody>
          <a:bodyPr vert="horz" lIns="0" tIns="0" rIns="0" bIns="0" rtlCol="0" anchor="t" anchorCtr="0">
            <a:noAutofit/>
          </a:bodyPr>
          <a:lstStyle/>
          <a:p>
            <a:r>
              <a:rPr lang="es-419" dirty="0">
                <a:solidFill>
                  <a:schemeClr val="tx2"/>
                </a:solidFill>
              </a:rPr>
              <a:t>Inscripción de cursos por autoservicio con lista de espera</a:t>
            </a:r>
            <a:endParaRPr lang="es-ES_tradnl" dirty="0">
              <a:solidFill>
                <a:schemeClr val="tx2"/>
              </a:solidFill>
            </a:endParaRPr>
          </a:p>
        </p:txBody>
      </p:sp>
      <p:sp>
        <p:nvSpPr>
          <p:cNvPr id="4" name="Rectángulo: esquinas redondeadas 3">
            <a:extLst>
              <a:ext uri="{FF2B5EF4-FFF2-40B4-BE49-F238E27FC236}">
                <a16:creationId xmlns:a16="http://schemas.microsoft.com/office/drawing/2014/main" id="{6AC1A357-F391-B2AD-C395-DDCB6B6BAB61}"/>
              </a:ext>
            </a:extLst>
          </p:cNvPr>
          <p:cNvSpPr/>
          <p:nvPr/>
        </p:nvSpPr>
        <p:spPr>
          <a:xfrm>
            <a:off x="2435734" y="3535847"/>
            <a:ext cx="7499010" cy="101160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2"/>
            </a:pPr>
            <a:r>
              <a:rPr lang="es-CL" sz="1200" dirty="0"/>
              <a:t>El estudiante debe seleccionar el Período para inscribirse</a:t>
            </a:r>
          </a:p>
          <a:p>
            <a:pPr marL="228600" indent="-228600">
              <a:buFont typeface="+mj-lt"/>
              <a:buAutoNum type="arabicPeriod" startAt="2"/>
            </a:pPr>
            <a:r>
              <a:rPr lang="es-CL" sz="1200" dirty="0"/>
              <a:t>Seleccionará, también, el Plan de estudios para el que desea inscribirse.</a:t>
            </a:r>
          </a:p>
          <a:p>
            <a:pPr marL="228600" indent="-228600">
              <a:buFont typeface="+mj-lt"/>
              <a:buAutoNum type="arabicPeriod" startAt="2"/>
            </a:pPr>
            <a:r>
              <a:rPr lang="es-CL" sz="1200" dirty="0"/>
              <a:t>Presione el botón Continuar</a:t>
            </a:r>
            <a:endParaRPr lang="es-ES_tradnl" sz="1200" dirty="0"/>
          </a:p>
        </p:txBody>
      </p:sp>
      <p:sp>
        <p:nvSpPr>
          <p:cNvPr id="9" name="Rectángulo 8">
            <a:extLst>
              <a:ext uri="{FF2B5EF4-FFF2-40B4-BE49-F238E27FC236}">
                <a16:creationId xmlns:a16="http://schemas.microsoft.com/office/drawing/2014/main" id="{E2697032-66AF-9343-04CB-093822CF8ED2}"/>
              </a:ext>
            </a:extLst>
          </p:cNvPr>
          <p:cNvSpPr/>
          <p:nvPr/>
        </p:nvSpPr>
        <p:spPr>
          <a:xfrm>
            <a:off x="1064765" y="1979534"/>
            <a:ext cx="1702819" cy="19775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A7077B53-2AB7-105F-E2AC-FFE8C78F547A}"/>
              </a:ext>
            </a:extLst>
          </p:cNvPr>
          <p:cNvSpPr/>
          <p:nvPr/>
        </p:nvSpPr>
        <p:spPr>
          <a:xfrm>
            <a:off x="2846204" y="1878294"/>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11" name="Rectángulo 10">
            <a:extLst>
              <a:ext uri="{FF2B5EF4-FFF2-40B4-BE49-F238E27FC236}">
                <a16:creationId xmlns:a16="http://schemas.microsoft.com/office/drawing/2014/main" id="{9ABBF4A1-45F6-8CB8-2DDE-648C3C9EC2CE}"/>
              </a:ext>
            </a:extLst>
          </p:cNvPr>
          <p:cNvSpPr/>
          <p:nvPr/>
        </p:nvSpPr>
        <p:spPr>
          <a:xfrm>
            <a:off x="1064765" y="2368927"/>
            <a:ext cx="1702819" cy="19775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09D3F7F9-8306-0835-F857-43C3669B3BAF}"/>
              </a:ext>
            </a:extLst>
          </p:cNvPr>
          <p:cNvSpPr/>
          <p:nvPr/>
        </p:nvSpPr>
        <p:spPr>
          <a:xfrm>
            <a:off x="2767584" y="261624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4" name="Rectángulo 13">
            <a:extLst>
              <a:ext uri="{FF2B5EF4-FFF2-40B4-BE49-F238E27FC236}">
                <a16:creationId xmlns:a16="http://schemas.microsoft.com/office/drawing/2014/main" id="{6B169D12-0E7F-8655-C676-B822F7DB2C73}"/>
              </a:ext>
            </a:extLst>
          </p:cNvPr>
          <p:cNvSpPr/>
          <p:nvPr/>
        </p:nvSpPr>
        <p:spPr>
          <a:xfrm>
            <a:off x="1131198" y="2770751"/>
            <a:ext cx="654307" cy="22463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92F39922-6CA6-9EEE-BF2C-694B6C7125DA}"/>
              </a:ext>
            </a:extLst>
          </p:cNvPr>
          <p:cNvSpPr/>
          <p:nvPr/>
        </p:nvSpPr>
        <p:spPr>
          <a:xfrm>
            <a:off x="1759064" y="291497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8" name="Marcador de texto vertical 1">
            <a:extLst>
              <a:ext uri="{FF2B5EF4-FFF2-40B4-BE49-F238E27FC236}">
                <a16:creationId xmlns:a16="http://schemas.microsoft.com/office/drawing/2014/main" id="{F514E3EC-0544-A2D4-89E6-0EE8D61E76A6}"/>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Tree>
    <p:extLst>
      <p:ext uri="{BB962C8B-B14F-4D97-AF65-F5344CB8AC3E}">
        <p14:creationId xmlns:p14="http://schemas.microsoft.com/office/powerpoint/2010/main" val="16568122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04CE2-E949-476E-1C27-090C59541956}"/>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6AFA5428-490A-C753-DC6C-99508725F87F}"/>
              </a:ext>
            </a:extLst>
          </p:cNvPr>
          <p:cNvPicPr>
            <a:picLocks noChangeAspect="1"/>
          </p:cNvPicPr>
          <p:nvPr/>
        </p:nvPicPr>
        <p:blipFill>
          <a:blip r:embed="rId3"/>
          <a:stretch>
            <a:fillRect/>
          </a:stretch>
        </p:blipFill>
        <p:spPr>
          <a:xfrm>
            <a:off x="890752" y="1114820"/>
            <a:ext cx="10688086" cy="4832678"/>
          </a:xfrm>
          <a:prstGeom prst="rect">
            <a:avLst/>
          </a:prstGeom>
        </p:spPr>
      </p:pic>
      <p:sp>
        <p:nvSpPr>
          <p:cNvPr id="13" name="Title 12">
            <a:extLst>
              <a:ext uri="{FF2B5EF4-FFF2-40B4-BE49-F238E27FC236}">
                <a16:creationId xmlns:a16="http://schemas.microsoft.com/office/drawing/2014/main" id="{BA315190-D552-876D-F786-0D05EF789F19}"/>
              </a:ext>
            </a:extLst>
          </p:cNvPr>
          <p:cNvSpPr>
            <a:spLocks noGrp="1"/>
          </p:cNvSpPr>
          <p:nvPr>
            <p:ph type="title"/>
          </p:nvPr>
        </p:nvSpPr>
        <p:spPr>
          <a:xfrm>
            <a:off x="946491" y="322193"/>
            <a:ext cx="10477497" cy="898555"/>
          </a:xfrm>
        </p:spPr>
        <p:txBody>
          <a:bodyPr vert="horz" lIns="0" tIns="0" rIns="0" bIns="0" rtlCol="0" anchor="t" anchorCtr="0">
            <a:noAutofit/>
          </a:bodyPr>
          <a:lstStyle/>
          <a:p>
            <a:r>
              <a:rPr lang="es-419" dirty="0">
                <a:solidFill>
                  <a:schemeClr val="tx2"/>
                </a:solidFill>
              </a:rPr>
              <a:t>Inscripción de cursos por autoservicio con lista de espera</a:t>
            </a:r>
            <a:endParaRPr lang="es-ES_tradnl" dirty="0">
              <a:solidFill>
                <a:schemeClr val="tx2"/>
              </a:solidFill>
            </a:endParaRPr>
          </a:p>
        </p:txBody>
      </p:sp>
      <p:sp>
        <p:nvSpPr>
          <p:cNvPr id="4" name="Rectángulo: esquinas redondeadas 3">
            <a:extLst>
              <a:ext uri="{FF2B5EF4-FFF2-40B4-BE49-F238E27FC236}">
                <a16:creationId xmlns:a16="http://schemas.microsoft.com/office/drawing/2014/main" id="{E4A0F0A7-349E-E7D3-2B83-5C0517C69574}"/>
              </a:ext>
            </a:extLst>
          </p:cNvPr>
          <p:cNvSpPr/>
          <p:nvPr/>
        </p:nvSpPr>
        <p:spPr>
          <a:xfrm>
            <a:off x="2385161" y="3336981"/>
            <a:ext cx="7499010" cy="101160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5"/>
            </a:pPr>
            <a:r>
              <a:rPr lang="es-CL" sz="1200" dirty="0"/>
              <a:t>Se puede ingresar el NRC, para este caso 10012</a:t>
            </a:r>
          </a:p>
          <a:p>
            <a:pPr marL="228600" indent="-228600">
              <a:buFont typeface="+mj-lt"/>
              <a:buAutoNum type="arabicPeriod" startAt="5"/>
            </a:pPr>
            <a:r>
              <a:rPr lang="es-CL" sz="1200" dirty="0"/>
              <a:t>Aparecerá en la sección de Resumen, se debe dar enviar</a:t>
            </a:r>
          </a:p>
        </p:txBody>
      </p:sp>
      <p:sp>
        <p:nvSpPr>
          <p:cNvPr id="9" name="Rectángulo 8">
            <a:extLst>
              <a:ext uri="{FF2B5EF4-FFF2-40B4-BE49-F238E27FC236}">
                <a16:creationId xmlns:a16="http://schemas.microsoft.com/office/drawing/2014/main" id="{CCB8D1A6-994B-0072-48B7-764FC89A583D}"/>
              </a:ext>
            </a:extLst>
          </p:cNvPr>
          <p:cNvSpPr/>
          <p:nvPr/>
        </p:nvSpPr>
        <p:spPr>
          <a:xfrm>
            <a:off x="1061687" y="2464669"/>
            <a:ext cx="10517151" cy="247122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1BC36CCF-06E1-7BBC-7C9F-A283BD522526}"/>
              </a:ext>
            </a:extLst>
          </p:cNvPr>
          <p:cNvSpPr/>
          <p:nvPr/>
        </p:nvSpPr>
        <p:spPr>
          <a:xfrm>
            <a:off x="746625" y="251234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
        <p:nvSpPr>
          <p:cNvPr id="11" name="Rectángulo 10">
            <a:extLst>
              <a:ext uri="{FF2B5EF4-FFF2-40B4-BE49-F238E27FC236}">
                <a16:creationId xmlns:a16="http://schemas.microsoft.com/office/drawing/2014/main" id="{DE5E8DDA-4AE8-29BD-BE15-A8665127275C}"/>
              </a:ext>
            </a:extLst>
          </p:cNvPr>
          <p:cNvSpPr/>
          <p:nvPr/>
        </p:nvSpPr>
        <p:spPr>
          <a:xfrm>
            <a:off x="983067" y="2507415"/>
            <a:ext cx="1702819" cy="19775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9ECB503F-4653-5F7E-5DCD-0AB2E77E7733}"/>
              </a:ext>
            </a:extLst>
          </p:cNvPr>
          <p:cNvSpPr/>
          <p:nvPr/>
        </p:nvSpPr>
        <p:spPr>
          <a:xfrm>
            <a:off x="9884171" y="556770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15" name="Marcador de texto vertical 1">
            <a:extLst>
              <a:ext uri="{FF2B5EF4-FFF2-40B4-BE49-F238E27FC236}">
                <a16:creationId xmlns:a16="http://schemas.microsoft.com/office/drawing/2014/main" id="{938A1D6A-34B0-8C49-4764-86A29CFE2101}"/>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Tree>
    <p:extLst>
      <p:ext uri="{BB962C8B-B14F-4D97-AF65-F5344CB8AC3E}">
        <p14:creationId xmlns:p14="http://schemas.microsoft.com/office/powerpoint/2010/main" val="323903689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DDEB1-9CED-1B26-6BF7-225C16FD84A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E83EF6EF-0E6A-EB66-13EB-6E537EF28941}"/>
              </a:ext>
            </a:extLst>
          </p:cNvPr>
          <p:cNvPicPr>
            <a:picLocks noChangeAspect="1"/>
          </p:cNvPicPr>
          <p:nvPr/>
        </p:nvPicPr>
        <p:blipFill>
          <a:blip r:embed="rId3"/>
          <a:stretch>
            <a:fillRect/>
          </a:stretch>
        </p:blipFill>
        <p:spPr>
          <a:xfrm>
            <a:off x="768012" y="1104005"/>
            <a:ext cx="10722319" cy="4977414"/>
          </a:xfrm>
          <a:prstGeom prst="rect">
            <a:avLst/>
          </a:prstGeom>
        </p:spPr>
      </p:pic>
      <p:sp>
        <p:nvSpPr>
          <p:cNvPr id="13" name="Title 12">
            <a:extLst>
              <a:ext uri="{FF2B5EF4-FFF2-40B4-BE49-F238E27FC236}">
                <a16:creationId xmlns:a16="http://schemas.microsoft.com/office/drawing/2014/main" id="{C0BDA6CD-7207-F0B6-ABC4-A3BCFEA5A364}"/>
              </a:ext>
            </a:extLst>
          </p:cNvPr>
          <p:cNvSpPr>
            <a:spLocks noGrp="1"/>
          </p:cNvSpPr>
          <p:nvPr>
            <p:ph type="title"/>
          </p:nvPr>
        </p:nvSpPr>
        <p:spPr>
          <a:xfrm>
            <a:off x="946491" y="322193"/>
            <a:ext cx="10477497" cy="898555"/>
          </a:xfrm>
        </p:spPr>
        <p:txBody>
          <a:bodyPr vert="horz" lIns="0" tIns="0" rIns="0" bIns="0" rtlCol="0" anchor="t" anchorCtr="0">
            <a:noAutofit/>
          </a:bodyPr>
          <a:lstStyle/>
          <a:p>
            <a:r>
              <a:rPr lang="es-419" dirty="0">
                <a:solidFill>
                  <a:schemeClr val="tx2"/>
                </a:solidFill>
              </a:rPr>
              <a:t>Inscripción de cursos por autoservicio con lista de espera</a:t>
            </a:r>
            <a:endParaRPr lang="es-ES_tradnl" dirty="0">
              <a:solidFill>
                <a:schemeClr val="tx2"/>
              </a:solidFill>
            </a:endParaRPr>
          </a:p>
        </p:txBody>
      </p:sp>
      <p:sp>
        <p:nvSpPr>
          <p:cNvPr id="4" name="Rectángulo: esquinas redondeadas 3">
            <a:extLst>
              <a:ext uri="{FF2B5EF4-FFF2-40B4-BE49-F238E27FC236}">
                <a16:creationId xmlns:a16="http://schemas.microsoft.com/office/drawing/2014/main" id="{73E131F1-672B-D05D-74DF-576DDE85CC94}"/>
              </a:ext>
            </a:extLst>
          </p:cNvPr>
          <p:cNvSpPr/>
          <p:nvPr/>
        </p:nvSpPr>
        <p:spPr>
          <a:xfrm>
            <a:off x="2202281" y="4240198"/>
            <a:ext cx="7499010" cy="101160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startAt="7"/>
            </a:pPr>
            <a:r>
              <a:rPr lang="es-CL" sz="1200" dirty="0"/>
              <a:t>Aparece que el NRC tiene errores</a:t>
            </a:r>
          </a:p>
          <a:p>
            <a:pPr marL="228600" indent="-228600">
              <a:buAutoNum type="arabicPeriod" startAt="7"/>
            </a:pPr>
            <a:r>
              <a:rPr lang="es-CL" sz="1200" dirty="0"/>
              <a:t>En la parte superior aparecerá el error. En esté caso el NRC está cerrado. Ya no tiene cupos.</a:t>
            </a:r>
          </a:p>
        </p:txBody>
      </p:sp>
      <p:sp>
        <p:nvSpPr>
          <p:cNvPr id="9" name="Rectángulo 8">
            <a:extLst>
              <a:ext uri="{FF2B5EF4-FFF2-40B4-BE49-F238E27FC236}">
                <a16:creationId xmlns:a16="http://schemas.microsoft.com/office/drawing/2014/main" id="{D187A4DB-25D0-709E-A680-167F3D2F8320}"/>
              </a:ext>
            </a:extLst>
          </p:cNvPr>
          <p:cNvSpPr/>
          <p:nvPr/>
        </p:nvSpPr>
        <p:spPr>
          <a:xfrm>
            <a:off x="6096000" y="2464669"/>
            <a:ext cx="5482838" cy="142263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9EFD161A-BACD-B209-C242-C726F8C4EDBB}"/>
              </a:ext>
            </a:extLst>
          </p:cNvPr>
          <p:cNvSpPr/>
          <p:nvPr/>
        </p:nvSpPr>
        <p:spPr>
          <a:xfrm>
            <a:off x="771833" y="1397196"/>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1" name="Rectángulo 10">
            <a:extLst>
              <a:ext uri="{FF2B5EF4-FFF2-40B4-BE49-F238E27FC236}">
                <a16:creationId xmlns:a16="http://schemas.microsoft.com/office/drawing/2014/main" id="{93EEDB5F-4F7D-F1FF-3B82-8318536749F3}"/>
              </a:ext>
            </a:extLst>
          </p:cNvPr>
          <p:cNvSpPr/>
          <p:nvPr/>
        </p:nvSpPr>
        <p:spPr>
          <a:xfrm>
            <a:off x="1004895" y="1220748"/>
            <a:ext cx="2579553" cy="3528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14A17FFD-039D-A533-0853-DB1FC4AB2720}"/>
              </a:ext>
            </a:extLst>
          </p:cNvPr>
          <p:cNvSpPr/>
          <p:nvPr/>
        </p:nvSpPr>
        <p:spPr>
          <a:xfrm>
            <a:off x="11533744" y="309557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15" name="Marcador de texto vertical 1">
            <a:extLst>
              <a:ext uri="{FF2B5EF4-FFF2-40B4-BE49-F238E27FC236}">
                <a16:creationId xmlns:a16="http://schemas.microsoft.com/office/drawing/2014/main" id="{89B3C3C6-14B8-6E4E-6B69-970A9CED7E6C}"/>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Tree>
    <p:extLst>
      <p:ext uri="{BB962C8B-B14F-4D97-AF65-F5344CB8AC3E}">
        <p14:creationId xmlns:p14="http://schemas.microsoft.com/office/powerpoint/2010/main" val="22588876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FEADB-ED42-2737-4B10-42CD79EAE31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5B286B7-0020-1C5E-CE39-CBB93BE334C8}"/>
              </a:ext>
            </a:extLst>
          </p:cNvPr>
          <p:cNvPicPr>
            <a:picLocks noChangeAspect="1"/>
          </p:cNvPicPr>
          <p:nvPr/>
        </p:nvPicPr>
        <p:blipFill>
          <a:blip r:embed="rId3"/>
          <a:stretch>
            <a:fillRect/>
          </a:stretch>
        </p:blipFill>
        <p:spPr>
          <a:xfrm>
            <a:off x="946491" y="1128959"/>
            <a:ext cx="10641075" cy="4945300"/>
          </a:xfrm>
          <a:prstGeom prst="rect">
            <a:avLst/>
          </a:prstGeom>
        </p:spPr>
      </p:pic>
      <p:sp>
        <p:nvSpPr>
          <p:cNvPr id="13" name="Title 12">
            <a:extLst>
              <a:ext uri="{FF2B5EF4-FFF2-40B4-BE49-F238E27FC236}">
                <a16:creationId xmlns:a16="http://schemas.microsoft.com/office/drawing/2014/main" id="{87984FCB-4D66-2094-2C89-1C60E83153F7}"/>
              </a:ext>
            </a:extLst>
          </p:cNvPr>
          <p:cNvSpPr>
            <a:spLocks noGrp="1"/>
          </p:cNvSpPr>
          <p:nvPr>
            <p:ph type="title"/>
          </p:nvPr>
        </p:nvSpPr>
        <p:spPr>
          <a:xfrm>
            <a:off x="946491" y="322193"/>
            <a:ext cx="10477497" cy="898555"/>
          </a:xfrm>
        </p:spPr>
        <p:txBody>
          <a:bodyPr vert="horz" lIns="0" tIns="0" rIns="0" bIns="0" rtlCol="0" anchor="t" anchorCtr="0">
            <a:noAutofit/>
          </a:bodyPr>
          <a:lstStyle/>
          <a:p>
            <a:r>
              <a:rPr lang="es-419" dirty="0">
                <a:solidFill>
                  <a:schemeClr val="tx2"/>
                </a:solidFill>
              </a:rPr>
              <a:t>Inscripción de cursos por autoservicio con lista de espera</a:t>
            </a:r>
            <a:endParaRPr lang="es-ES_tradnl" dirty="0">
              <a:solidFill>
                <a:schemeClr val="tx2"/>
              </a:solidFill>
            </a:endParaRPr>
          </a:p>
        </p:txBody>
      </p:sp>
      <p:sp>
        <p:nvSpPr>
          <p:cNvPr id="4" name="Rectángulo: esquinas redondeadas 3">
            <a:extLst>
              <a:ext uri="{FF2B5EF4-FFF2-40B4-BE49-F238E27FC236}">
                <a16:creationId xmlns:a16="http://schemas.microsoft.com/office/drawing/2014/main" id="{8001C60B-036E-9A08-DD7D-CDCAF5C3ECD5}"/>
              </a:ext>
            </a:extLst>
          </p:cNvPr>
          <p:cNvSpPr/>
          <p:nvPr/>
        </p:nvSpPr>
        <p:spPr>
          <a:xfrm>
            <a:off x="2202281" y="4240198"/>
            <a:ext cx="7499010" cy="101160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startAt="9"/>
            </a:pPr>
            <a:r>
              <a:rPr lang="es-CL" sz="1200" dirty="0"/>
              <a:t>El estudiante puede seleccionar la opción de Lista de Espera. EL estudiante no está inscrito en el NRC.</a:t>
            </a:r>
          </a:p>
          <a:p>
            <a:pPr marL="228600" indent="-228600">
              <a:buAutoNum type="arabicPeriod" startAt="9"/>
            </a:pPr>
            <a:r>
              <a:rPr lang="es-CL" sz="1200" dirty="0"/>
              <a:t>Y debe dar ENVIAR en la parte inferior de la pantalla, para que aparezca el estatus de Lista de espera</a:t>
            </a:r>
          </a:p>
        </p:txBody>
      </p:sp>
      <p:sp>
        <p:nvSpPr>
          <p:cNvPr id="9" name="Rectángulo 8">
            <a:extLst>
              <a:ext uri="{FF2B5EF4-FFF2-40B4-BE49-F238E27FC236}">
                <a16:creationId xmlns:a16="http://schemas.microsoft.com/office/drawing/2014/main" id="{B839F88C-1329-0BB1-56E1-07BA1F2F9A23}"/>
              </a:ext>
            </a:extLst>
          </p:cNvPr>
          <p:cNvSpPr/>
          <p:nvPr/>
        </p:nvSpPr>
        <p:spPr>
          <a:xfrm>
            <a:off x="10094976" y="2752344"/>
            <a:ext cx="1492590" cy="34323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30B53208-0389-79A0-3164-CCC99CC9D2E6}"/>
              </a:ext>
            </a:extLst>
          </p:cNvPr>
          <p:cNvSpPr/>
          <p:nvPr/>
        </p:nvSpPr>
        <p:spPr>
          <a:xfrm>
            <a:off x="10208441" y="6245491"/>
            <a:ext cx="371167" cy="26823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
        <p:nvSpPr>
          <p:cNvPr id="11" name="Rectángulo 10">
            <a:extLst>
              <a:ext uri="{FF2B5EF4-FFF2-40B4-BE49-F238E27FC236}">
                <a16:creationId xmlns:a16="http://schemas.microsoft.com/office/drawing/2014/main" id="{5D590F1C-928A-36E9-7D85-D885BD10959A}"/>
              </a:ext>
            </a:extLst>
          </p:cNvPr>
          <p:cNvSpPr/>
          <p:nvPr/>
        </p:nvSpPr>
        <p:spPr>
          <a:xfrm>
            <a:off x="10579608" y="6204438"/>
            <a:ext cx="1083271" cy="31056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sz="1200" dirty="0">
                <a:ln>
                  <a:solidFill>
                    <a:schemeClr val="accent1"/>
                  </a:solidFill>
                </a:ln>
                <a:solidFill>
                  <a:schemeClr val="tx1"/>
                </a:solidFill>
              </a:rPr>
              <a:t>ENVIAR</a:t>
            </a:r>
          </a:p>
        </p:txBody>
      </p:sp>
      <p:sp>
        <p:nvSpPr>
          <p:cNvPr id="12" name="Rectángulo redondeado 15">
            <a:extLst>
              <a:ext uri="{FF2B5EF4-FFF2-40B4-BE49-F238E27FC236}">
                <a16:creationId xmlns:a16="http://schemas.microsoft.com/office/drawing/2014/main" id="{DECB0D8F-3797-A73A-C8FA-7EF46AF8D877}"/>
              </a:ext>
            </a:extLst>
          </p:cNvPr>
          <p:cNvSpPr/>
          <p:nvPr/>
        </p:nvSpPr>
        <p:spPr>
          <a:xfrm>
            <a:off x="11533744" y="309557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9</a:t>
            </a:r>
            <a:endParaRPr lang="es-419" sz="1100" noProof="0" dirty="0"/>
          </a:p>
        </p:txBody>
      </p:sp>
      <p:sp>
        <p:nvSpPr>
          <p:cNvPr id="15" name="Marcador de texto vertical 1">
            <a:extLst>
              <a:ext uri="{FF2B5EF4-FFF2-40B4-BE49-F238E27FC236}">
                <a16:creationId xmlns:a16="http://schemas.microsoft.com/office/drawing/2014/main" id="{EDFE0F81-1E53-6981-B343-32BA8B6FE259}"/>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pic>
        <p:nvPicPr>
          <p:cNvPr id="7" name="Imagen 6">
            <a:extLst>
              <a:ext uri="{FF2B5EF4-FFF2-40B4-BE49-F238E27FC236}">
                <a16:creationId xmlns:a16="http://schemas.microsoft.com/office/drawing/2014/main" id="{CA2D475E-3887-CFF2-CAA9-D227C3B32290}"/>
              </a:ext>
            </a:extLst>
          </p:cNvPr>
          <p:cNvPicPr>
            <a:picLocks noChangeAspect="1"/>
          </p:cNvPicPr>
          <p:nvPr/>
        </p:nvPicPr>
        <p:blipFill>
          <a:blip r:embed="rId4"/>
          <a:stretch>
            <a:fillRect/>
          </a:stretch>
        </p:blipFill>
        <p:spPr>
          <a:xfrm>
            <a:off x="1350191" y="5225500"/>
            <a:ext cx="8858250" cy="1123950"/>
          </a:xfrm>
          <a:prstGeom prst="rect">
            <a:avLst/>
          </a:prstGeom>
        </p:spPr>
      </p:pic>
    </p:spTree>
    <p:extLst>
      <p:ext uri="{BB962C8B-B14F-4D97-AF65-F5344CB8AC3E}">
        <p14:creationId xmlns:p14="http://schemas.microsoft.com/office/powerpoint/2010/main" val="183723916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1537F-87FF-043C-B7BA-530EAD09F78D}"/>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55139C69-EB93-C024-A81B-43905322F4FE}"/>
              </a:ext>
            </a:extLst>
          </p:cNvPr>
          <p:cNvSpPr>
            <a:spLocks noGrp="1"/>
          </p:cNvSpPr>
          <p:nvPr>
            <p:ph type="body" sz="quarter" idx="10"/>
          </p:nvPr>
        </p:nvSpPr>
        <p:spPr>
          <a:xfrm>
            <a:off x="914399" y="2238843"/>
            <a:ext cx="10363202" cy="1333891"/>
          </a:xfrm>
        </p:spPr>
        <p:txBody>
          <a:bodyPr/>
          <a:lstStyle/>
          <a:p>
            <a:r>
              <a:rPr lang="es-419" dirty="0"/>
              <a:t>Inscripción con lista de espera desde </a:t>
            </a:r>
            <a:r>
              <a:rPr lang="es-419" dirty="0" err="1"/>
              <a:t>Backoffice</a:t>
            </a:r>
            <a:endParaRPr lang="es-419" dirty="0"/>
          </a:p>
        </p:txBody>
      </p:sp>
      <p:sp>
        <p:nvSpPr>
          <p:cNvPr id="6" name="Marcador de texto 5">
            <a:extLst>
              <a:ext uri="{FF2B5EF4-FFF2-40B4-BE49-F238E27FC236}">
                <a16:creationId xmlns:a16="http://schemas.microsoft.com/office/drawing/2014/main" id="{99581BD2-350D-E945-7CCA-030739F43F1D}"/>
              </a:ext>
            </a:extLst>
          </p:cNvPr>
          <p:cNvSpPr>
            <a:spLocks noGrp="1"/>
          </p:cNvSpPr>
          <p:nvPr>
            <p:ph type="body" sz="quarter" idx="11"/>
          </p:nvPr>
        </p:nvSpPr>
        <p:spPr>
          <a:xfrm>
            <a:off x="914399" y="3750468"/>
            <a:ext cx="10363202" cy="389915"/>
          </a:xfrm>
        </p:spPr>
        <p:txBody>
          <a:bodyPr/>
          <a:lstStyle/>
          <a:p>
            <a:r>
              <a:rPr lang="es-419" dirty="0"/>
              <a:t>Ejecutar la inscripción de cursos de forma administrativa</a:t>
            </a:r>
          </a:p>
        </p:txBody>
      </p:sp>
    </p:spTree>
    <p:extLst>
      <p:ext uri="{BB962C8B-B14F-4D97-AF65-F5344CB8AC3E}">
        <p14:creationId xmlns:p14="http://schemas.microsoft.com/office/powerpoint/2010/main" val="384020234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97B29-7EF3-DC10-E814-01B2B594858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08E33F67-50EA-F23B-B2A7-E2A56E0EC481}"/>
              </a:ext>
            </a:extLst>
          </p:cNvPr>
          <p:cNvPicPr>
            <a:picLocks noChangeAspect="1"/>
          </p:cNvPicPr>
          <p:nvPr/>
        </p:nvPicPr>
        <p:blipFill>
          <a:blip r:embed="rId3"/>
          <a:stretch>
            <a:fillRect/>
          </a:stretch>
        </p:blipFill>
        <p:spPr>
          <a:xfrm>
            <a:off x="832020" y="771470"/>
            <a:ext cx="10957560" cy="4750951"/>
          </a:xfrm>
          <a:prstGeom prst="rect">
            <a:avLst/>
          </a:prstGeom>
        </p:spPr>
      </p:pic>
      <p:sp>
        <p:nvSpPr>
          <p:cNvPr id="13" name="Title 12">
            <a:extLst>
              <a:ext uri="{FF2B5EF4-FFF2-40B4-BE49-F238E27FC236}">
                <a16:creationId xmlns:a16="http://schemas.microsoft.com/office/drawing/2014/main" id="{2F6A9D47-9E38-3013-DEBB-55A73781D2F6}"/>
              </a:ext>
            </a:extLst>
          </p:cNvPr>
          <p:cNvSpPr>
            <a:spLocks noGrp="1"/>
          </p:cNvSpPr>
          <p:nvPr>
            <p:ph type="title"/>
          </p:nvPr>
        </p:nvSpPr>
        <p:spPr>
          <a:xfrm>
            <a:off x="946491" y="322193"/>
            <a:ext cx="10477497" cy="898555"/>
          </a:xfrm>
        </p:spPr>
        <p:txBody>
          <a:bodyPr vert="horz" lIns="0" tIns="0" rIns="0" bIns="0" rtlCol="0" anchor="t" anchorCtr="0">
            <a:noAutofit/>
          </a:bodyPr>
          <a:lstStyle/>
          <a:p>
            <a:r>
              <a:rPr lang="es-CO" dirty="0">
                <a:solidFill>
                  <a:schemeClr val="tx2"/>
                </a:solidFill>
              </a:rPr>
              <a:t>Administración de prioridad de lista de espera (SFAWLPR)</a:t>
            </a:r>
            <a:endParaRPr lang="es-ES_tradnl" dirty="0">
              <a:solidFill>
                <a:schemeClr val="tx2"/>
              </a:solidFill>
            </a:endParaRPr>
          </a:p>
        </p:txBody>
      </p:sp>
      <p:sp>
        <p:nvSpPr>
          <p:cNvPr id="9" name="Rectángulo 8">
            <a:extLst>
              <a:ext uri="{FF2B5EF4-FFF2-40B4-BE49-F238E27FC236}">
                <a16:creationId xmlns:a16="http://schemas.microsoft.com/office/drawing/2014/main" id="{9A57EBB9-69AB-7631-D826-305044CA87A8}"/>
              </a:ext>
            </a:extLst>
          </p:cNvPr>
          <p:cNvSpPr/>
          <p:nvPr/>
        </p:nvSpPr>
        <p:spPr>
          <a:xfrm>
            <a:off x="8476488" y="1792224"/>
            <a:ext cx="1636776" cy="16459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Marcador de texto vertical 1">
            <a:extLst>
              <a:ext uri="{FF2B5EF4-FFF2-40B4-BE49-F238E27FC236}">
                <a16:creationId xmlns:a16="http://schemas.microsoft.com/office/drawing/2014/main" id="{81242675-CF04-79CB-62FB-2816B0FD2651}"/>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
        <p:nvSpPr>
          <p:cNvPr id="8" name="Rectángulo redondeado 14">
            <a:extLst>
              <a:ext uri="{FF2B5EF4-FFF2-40B4-BE49-F238E27FC236}">
                <a16:creationId xmlns:a16="http://schemas.microsoft.com/office/drawing/2014/main" id="{EA252B88-A8DF-699D-7492-FFAA94C6EC1E}"/>
              </a:ext>
            </a:extLst>
          </p:cNvPr>
          <p:cNvSpPr/>
          <p:nvPr/>
        </p:nvSpPr>
        <p:spPr>
          <a:xfrm>
            <a:off x="4971404" y="2061630"/>
            <a:ext cx="2499272" cy="83282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En SFAWLPR se puede administrar la prioridad de los estudiantes que están en lista de espera, cambiándola si es necesario.</a:t>
            </a:r>
          </a:p>
        </p:txBody>
      </p:sp>
    </p:spTree>
    <p:extLst>
      <p:ext uri="{BB962C8B-B14F-4D97-AF65-F5344CB8AC3E}">
        <p14:creationId xmlns:p14="http://schemas.microsoft.com/office/powerpoint/2010/main" val="426712090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98C61-3066-89C7-6B95-6FEDE4DB4DA0}"/>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16525997-0F58-654B-C9C0-620A38498853}"/>
              </a:ext>
            </a:extLst>
          </p:cNvPr>
          <p:cNvPicPr>
            <a:picLocks noChangeAspect="1"/>
          </p:cNvPicPr>
          <p:nvPr/>
        </p:nvPicPr>
        <p:blipFill>
          <a:blip r:embed="rId3"/>
          <a:stretch>
            <a:fillRect/>
          </a:stretch>
        </p:blipFill>
        <p:spPr>
          <a:xfrm>
            <a:off x="707950" y="1097279"/>
            <a:ext cx="11484050" cy="4969811"/>
          </a:xfrm>
          <a:prstGeom prst="rect">
            <a:avLst/>
          </a:prstGeom>
        </p:spPr>
      </p:pic>
      <p:sp>
        <p:nvSpPr>
          <p:cNvPr id="13" name="Title 12">
            <a:extLst>
              <a:ext uri="{FF2B5EF4-FFF2-40B4-BE49-F238E27FC236}">
                <a16:creationId xmlns:a16="http://schemas.microsoft.com/office/drawing/2014/main" id="{331B765B-77CF-8228-F623-5B5EFDD68430}"/>
              </a:ext>
            </a:extLst>
          </p:cNvPr>
          <p:cNvSpPr>
            <a:spLocks noGrp="1"/>
          </p:cNvSpPr>
          <p:nvPr>
            <p:ph type="title"/>
          </p:nvPr>
        </p:nvSpPr>
        <p:spPr>
          <a:xfrm>
            <a:off x="946491" y="322193"/>
            <a:ext cx="10477497" cy="898555"/>
          </a:xfrm>
        </p:spPr>
        <p:txBody>
          <a:bodyPr vert="horz" lIns="0" tIns="0" rIns="0" bIns="0" rtlCol="0" anchor="t" anchorCtr="0">
            <a:noAutofit/>
          </a:bodyPr>
          <a:lstStyle/>
          <a:p>
            <a:r>
              <a:rPr lang="es-CO" dirty="0">
                <a:solidFill>
                  <a:schemeClr val="tx2"/>
                </a:solidFill>
              </a:rPr>
              <a:t>Horario (SSASECT)</a:t>
            </a:r>
            <a:endParaRPr lang="es-ES_tradnl" dirty="0">
              <a:solidFill>
                <a:schemeClr val="tx2"/>
              </a:solidFill>
            </a:endParaRPr>
          </a:p>
        </p:txBody>
      </p:sp>
      <p:sp>
        <p:nvSpPr>
          <p:cNvPr id="9" name="Rectángulo 8">
            <a:extLst>
              <a:ext uri="{FF2B5EF4-FFF2-40B4-BE49-F238E27FC236}">
                <a16:creationId xmlns:a16="http://schemas.microsoft.com/office/drawing/2014/main" id="{4DBA079B-9FD7-585F-83F2-3303CE23B60A}"/>
              </a:ext>
            </a:extLst>
          </p:cNvPr>
          <p:cNvSpPr/>
          <p:nvPr/>
        </p:nvSpPr>
        <p:spPr>
          <a:xfrm>
            <a:off x="1709928" y="2276874"/>
            <a:ext cx="557784" cy="24687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Marcador de texto vertical 1">
            <a:extLst>
              <a:ext uri="{FF2B5EF4-FFF2-40B4-BE49-F238E27FC236}">
                <a16:creationId xmlns:a16="http://schemas.microsoft.com/office/drawing/2014/main" id="{3E045228-B065-6ED3-0274-4B32851BE3D1}"/>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
        <p:nvSpPr>
          <p:cNvPr id="8" name="Rectángulo redondeado 14">
            <a:extLst>
              <a:ext uri="{FF2B5EF4-FFF2-40B4-BE49-F238E27FC236}">
                <a16:creationId xmlns:a16="http://schemas.microsoft.com/office/drawing/2014/main" id="{FE8F2BA9-6FA0-3B08-31D8-B6068E7D7D45}"/>
              </a:ext>
            </a:extLst>
          </p:cNvPr>
          <p:cNvSpPr/>
          <p:nvPr/>
        </p:nvSpPr>
        <p:spPr>
          <a:xfrm>
            <a:off x="4422764" y="3369222"/>
            <a:ext cx="2499272" cy="83282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debe aumentar la capacidad del NRC para hacer la inscripción</a:t>
            </a:r>
          </a:p>
        </p:txBody>
      </p:sp>
      <p:sp>
        <p:nvSpPr>
          <p:cNvPr id="12" name="Rectángulo 11">
            <a:extLst>
              <a:ext uri="{FF2B5EF4-FFF2-40B4-BE49-F238E27FC236}">
                <a16:creationId xmlns:a16="http://schemas.microsoft.com/office/drawing/2014/main" id="{2A2313C2-035B-34D2-E239-65903A7BCAA4}"/>
              </a:ext>
            </a:extLst>
          </p:cNvPr>
          <p:cNvSpPr/>
          <p:nvPr/>
        </p:nvSpPr>
        <p:spPr>
          <a:xfrm>
            <a:off x="5627455" y="2734809"/>
            <a:ext cx="557784" cy="24687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85896785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6D1C7-F2C9-E396-9C9B-09E6F8350F79}"/>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CFD2BB50-AB90-B871-6359-08E16CACFA22}"/>
              </a:ext>
            </a:extLst>
          </p:cNvPr>
          <p:cNvPicPr>
            <a:picLocks noChangeAspect="1"/>
          </p:cNvPicPr>
          <p:nvPr/>
        </p:nvPicPr>
        <p:blipFill>
          <a:blip r:embed="rId3"/>
          <a:stretch>
            <a:fillRect/>
          </a:stretch>
        </p:blipFill>
        <p:spPr>
          <a:xfrm>
            <a:off x="596901" y="972432"/>
            <a:ext cx="11360884" cy="4913136"/>
          </a:xfrm>
          <a:prstGeom prst="rect">
            <a:avLst/>
          </a:prstGeom>
        </p:spPr>
      </p:pic>
      <p:sp>
        <p:nvSpPr>
          <p:cNvPr id="13" name="Title 12">
            <a:extLst>
              <a:ext uri="{FF2B5EF4-FFF2-40B4-BE49-F238E27FC236}">
                <a16:creationId xmlns:a16="http://schemas.microsoft.com/office/drawing/2014/main" id="{72A5D922-C5B5-4776-C86A-5D45CDEE6ADE}"/>
              </a:ext>
            </a:extLst>
          </p:cNvPr>
          <p:cNvSpPr>
            <a:spLocks noGrp="1"/>
          </p:cNvSpPr>
          <p:nvPr>
            <p:ph type="title"/>
          </p:nvPr>
        </p:nvSpPr>
        <p:spPr>
          <a:xfrm>
            <a:off x="946491" y="322193"/>
            <a:ext cx="10477497" cy="898555"/>
          </a:xfrm>
        </p:spPr>
        <p:txBody>
          <a:bodyPr vert="horz" lIns="0" tIns="0" rIns="0" bIns="0" rtlCol="0" anchor="t" anchorCtr="0">
            <a:noAutofit/>
          </a:bodyPr>
          <a:lstStyle/>
          <a:p>
            <a:r>
              <a:rPr lang="es-CO" dirty="0">
                <a:solidFill>
                  <a:schemeClr val="tx2"/>
                </a:solidFill>
              </a:rPr>
              <a:t>Inscripción de curso de alumno (SFAREGS)</a:t>
            </a:r>
            <a:endParaRPr lang="es-ES_tradnl" dirty="0">
              <a:solidFill>
                <a:schemeClr val="tx2"/>
              </a:solidFill>
            </a:endParaRPr>
          </a:p>
        </p:txBody>
      </p:sp>
      <p:sp>
        <p:nvSpPr>
          <p:cNvPr id="9" name="Rectángulo 8">
            <a:extLst>
              <a:ext uri="{FF2B5EF4-FFF2-40B4-BE49-F238E27FC236}">
                <a16:creationId xmlns:a16="http://schemas.microsoft.com/office/drawing/2014/main" id="{9E7960A1-7FD0-7B88-FFF8-3FBFE9D4FC45}"/>
              </a:ext>
            </a:extLst>
          </p:cNvPr>
          <p:cNvSpPr/>
          <p:nvPr/>
        </p:nvSpPr>
        <p:spPr>
          <a:xfrm>
            <a:off x="7927848" y="5038344"/>
            <a:ext cx="609602" cy="21031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Marcador de texto vertical 1">
            <a:extLst>
              <a:ext uri="{FF2B5EF4-FFF2-40B4-BE49-F238E27FC236}">
                <a16:creationId xmlns:a16="http://schemas.microsoft.com/office/drawing/2014/main" id="{6693D43C-7ECA-487E-967B-1CEC81E72845}"/>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
        <p:nvSpPr>
          <p:cNvPr id="8" name="Rectángulo redondeado 14">
            <a:extLst>
              <a:ext uri="{FF2B5EF4-FFF2-40B4-BE49-F238E27FC236}">
                <a16:creationId xmlns:a16="http://schemas.microsoft.com/office/drawing/2014/main" id="{12197308-8A9C-C2E3-303E-6329159D7425}"/>
              </a:ext>
            </a:extLst>
          </p:cNvPr>
          <p:cNvSpPr/>
          <p:nvPr/>
        </p:nvSpPr>
        <p:spPr>
          <a:xfrm>
            <a:off x="4971404" y="2061630"/>
            <a:ext cx="2499272" cy="83282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puede ingresar a SFAREGS con los estudiantes que están en lista de espera, para cambiarles el estatus a RE.</a:t>
            </a:r>
          </a:p>
        </p:txBody>
      </p:sp>
    </p:spTree>
    <p:extLst>
      <p:ext uri="{BB962C8B-B14F-4D97-AF65-F5344CB8AC3E}">
        <p14:creationId xmlns:p14="http://schemas.microsoft.com/office/powerpoint/2010/main" val="383807117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81714-9A96-343F-B4C6-E3CA050A36ED}"/>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1ADD02E1-53B9-3EE8-1579-CD1FF54C43AF}"/>
              </a:ext>
            </a:extLst>
          </p:cNvPr>
          <p:cNvPicPr>
            <a:picLocks noChangeAspect="1"/>
          </p:cNvPicPr>
          <p:nvPr/>
        </p:nvPicPr>
        <p:blipFill>
          <a:blip r:embed="rId3"/>
          <a:stretch>
            <a:fillRect/>
          </a:stretch>
        </p:blipFill>
        <p:spPr>
          <a:xfrm>
            <a:off x="596901" y="1115568"/>
            <a:ext cx="11371606" cy="4966908"/>
          </a:xfrm>
          <a:prstGeom prst="rect">
            <a:avLst/>
          </a:prstGeom>
        </p:spPr>
      </p:pic>
      <p:sp>
        <p:nvSpPr>
          <p:cNvPr id="13" name="Title 12">
            <a:extLst>
              <a:ext uri="{FF2B5EF4-FFF2-40B4-BE49-F238E27FC236}">
                <a16:creationId xmlns:a16="http://schemas.microsoft.com/office/drawing/2014/main" id="{25DDC915-06E1-6BE9-37E8-A7F66AFF1E20}"/>
              </a:ext>
            </a:extLst>
          </p:cNvPr>
          <p:cNvSpPr>
            <a:spLocks noGrp="1"/>
          </p:cNvSpPr>
          <p:nvPr>
            <p:ph type="title"/>
          </p:nvPr>
        </p:nvSpPr>
        <p:spPr>
          <a:xfrm>
            <a:off x="946491" y="322193"/>
            <a:ext cx="10477497" cy="898555"/>
          </a:xfrm>
        </p:spPr>
        <p:txBody>
          <a:bodyPr vert="horz" lIns="0" tIns="0" rIns="0" bIns="0" rtlCol="0" anchor="t" anchorCtr="0">
            <a:noAutofit/>
          </a:bodyPr>
          <a:lstStyle/>
          <a:p>
            <a:r>
              <a:rPr lang="es-CO" dirty="0">
                <a:solidFill>
                  <a:schemeClr val="tx2"/>
                </a:solidFill>
              </a:rPr>
              <a:t>Inscripción de curso de alumno (SFAREGS)</a:t>
            </a:r>
            <a:endParaRPr lang="es-ES_tradnl" dirty="0">
              <a:solidFill>
                <a:schemeClr val="tx2"/>
              </a:solidFill>
            </a:endParaRPr>
          </a:p>
        </p:txBody>
      </p:sp>
      <p:sp>
        <p:nvSpPr>
          <p:cNvPr id="9" name="Rectángulo 8">
            <a:extLst>
              <a:ext uri="{FF2B5EF4-FFF2-40B4-BE49-F238E27FC236}">
                <a16:creationId xmlns:a16="http://schemas.microsoft.com/office/drawing/2014/main" id="{0B99CB37-0F9D-9C35-1E69-B5897934A233}"/>
              </a:ext>
            </a:extLst>
          </p:cNvPr>
          <p:cNvSpPr/>
          <p:nvPr/>
        </p:nvSpPr>
        <p:spPr>
          <a:xfrm>
            <a:off x="7927848" y="5202936"/>
            <a:ext cx="609602" cy="21031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Marcador de texto vertical 1">
            <a:extLst>
              <a:ext uri="{FF2B5EF4-FFF2-40B4-BE49-F238E27FC236}">
                <a16:creationId xmlns:a16="http://schemas.microsoft.com/office/drawing/2014/main" id="{6858482A-D744-BAA2-934C-38DB855BEE0C}"/>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
        <p:nvSpPr>
          <p:cNvPr id="8" name="Rectángulo redondeado 14">
            <a:extLst>
              <a:ext uri="{FF2B5EF4-FFF2-40B4-BE49-F238E27FC236}">
                <a16:creationId xmlns:a16="http://schemas.microsoft.com/office/drawing/2014/main" id="{B5CCB57C-D9B7-C357-42C2-B019E97F0320}"/>
              </a:ext>
            </a:extLst>
          </p:cNvPr>
          <p:cNvSpPr/>
          <p:nvPr/>
        </p:nvSpPr>
        <p:spPr>
          <a:xfrm>
            <a:off x="4971404" y="2061630"/>
            <a:ext cx="2499272" cy="83282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puede ingresar a SFAREGS con los estudiantes que están en lista de espera, para cambiarles el estatus a RE.</a:t>
            </a:r>
          </a:p>
        </p:txBody>
      </p:sp>
    </p:spTree>
    <p:extLst>
      <p:ext uri="{BB962C8B-B14F-4D97-AF65-F5344CB8AC3E}">
        <p14:creationId xmlns:p14="http://schemas.microsoft.com/office/powerpoint/2010/main" val="236422811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Ejecutar la inscripción de cursos por autoservicio por bloques</a:t>
            </a:r>
            <a:endParaRPr lang="es-419"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1104900" y="1058434"/>
            <a:ext cx="7092820" cy="1520131"/>
          </a:xfrm>
        </p:spPr>
        <p:txBody>
          <a:bodyPr/>
          <a:lstStyle/>
          <a:p>
            <a:r>
              <a:rPr lang="en-US" sz="3600" dirty="0"/>
              <a:t>RESUMEN</a:t>
            </a:r>
          </a:p>
        </p:txBody>
      </p:sp>
      <p:sp>
        <p:nvSpPr>
          <p:cNvPr id="4" name="Marcador de texto 3">
            <a:extLst>
              <a:ext uri="{FF2B5EF4-FFF2-40B4-BE49-F238E27FC236}">
                <a16:creationId xmlns:a16="http://schemas.microsoft.com/office/drawing/2014/main" id="{9FD3E5DC-E7AD-0392-9E9A-95AF3E19F3DC}"/>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311348563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C10BB-3B22-4F77-5C07-FA10BFD138EF}"/>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7A577F69-2B01-A482-9464-23A500963806}"/>
              </a:ext>
            </a:extLst>
          </p:cNvPr>
          <p:cNvSpPr>
            <a:spLocks noGrp="1"/>
          </p:cNvSpPr>
          <p:nvPr>
            <p:ph type="body" sz="quarter" idx="18"/>
          </p:nvPr>
        </p:nvSpPr>
        <p:spPr>
          <a:xfrm>
            <a:off x="1104898" y="1429514"/>
            <a:ext cx="10477499" cy="4267198"/>
          </a:xfrm>
        </p:spPr>
        <p:txBody>
          <a:bodyPr/>
          <a:lstStyle/>
          <a:p>
            <a:pPr algn="just">
              <a:buClr>
                <a:schemeClr val="tx1"/>
              </a:buClr>
              <a:buFont typeface="Wingdings" panose="05000000000000000000" pitchFamily="2" charset="2"/>
              <a:buChar char="v"/>
            </a:pPr>
            <a:r>
              <a:rPr lang="es-CO" sz="2000" dirty="0"/>
              <a:t>Una lista de espera, consiste en un cupo adicional en el cual los estudiantes quedan “encolados” esperando que se libere alguno de los cupos oficiales. Si se libera un cupo, el primer estudiante de la lista de espera podrá inscribir el curso si así lo desea.</a:t>
            </a:r>
          </a:p>
          <a:p>
            <a:pPr algn="just">
              <a:buClr>
                <a:schemeClr val="tx1"/>
              </a:buClr>
              <a:buFont typeface="Wingdings" panose="05000000000000000000" pitchFamily="2" charset="2"/>
              <a:buChar char="v"/>
            </a:pPr>
            <a:r>
              <a:rPr lang="es-CO" sz="2000" dirty="0"/>
              <a:t>Esta funcionalidad aplica para </a:t>
            </a:r>
            <a:r>
              <a:rPr lang="es-CO" sz="2000" dirty="0" err="1"/>
              <a:t>Backoffice</a:t>
            </a:r>
            <a:r>
              <a:rPr lang="es-CO" sz="2000" dirty="0"/>
              <a:t> como para Autoservicio.</a:t>
            </a:r>
          </a:p>
          <a:p>
            <a:pPr algn="just">
              <a:buClr>
                <a:schemeClr val="tx1"/>
              </a:buClr>
              <a:buFont typeface="Wingdings" panose="05000000000000000000" pitchFamily="2" charset="2"/>
              <a:buChar char="v"/>
            </a:pPr>
            <a:r>
              <a:rPr lang="es-CO" sz="2000" dirty="0"/>
              <a:t>La institución puede tener un registro de los estudiantes que están en lista de espera, así como la fecha y hora en que se les envió una notificación, o bien aquellos a quienes se produjo un error al momento de enviarles el aviso.</a:t>
            </a:r>
          </a:p>
          <a:p>
            <a:pPr algn="just">
              <a:buClr>
                <a:schemeClr val="tx1"/>
              </a:buClr>
              <a:buFont typeface="Wingdings" panose="05000000000000000000" pitchFamily="2" charset="2"/>
              <a:buChar char="v"/>
            </a:pPr>
            <a:r>
              <a:rPr lang="es-CO" sz="2000" dirty="0"/>
              <a:t>La lista de espera se recomienda cuando los tiempos de inscripción son amplios, ya que al estudiante hay que darle un tiempo prudente para que se entere, y para que finalmente inscriba la sección que estaba esperando.</a:t>
            </a:r>
          </a:p>
        </p:txBody>
      </p:sp>
      <p:sp>
        <p:nvSpPr>
          <p:cNvPr id="16" name="Title 15">
            <a:extLst>
              <a:ext uri="{FF2B5EF4-FFF2-40B4-BE49-F238E27FC236}">
                <a16:creationId xmlns:a16="http://schemas.microsoft.com/office/drawing/2014/main" id="{356E55AC-9C5A-73F9-EF95-A41B9BF934B4}"/>
              </a:ext>
            </a:extLst>
          </p:cNvPr>
          <p:cNvSpPr>
            <a:spLocks noGrp="1"/>
          </p:cNvSpPr>
          <p:nvPr>
            <p:ph type="title"/>
          </p:nvPr>
        </p:nvSpPr>
        <p:spPr/>
        <p:txBody>
          <a:bodyPr/>
          <a:lstStyle/>
          <a:p>
            <a:r>
              <a:rPr lang="en-US" dirty="0">
                <a:solidFill>
                  <a:schemeClr val="tx2"/>
                </a:solidFill>
              </a:rPr>
              <a:t>RESUMEN</a:t>
            </a:r>
          </a:p>
        </p:txBody>
      </p:sp>
      <p:sp>
        <p:nvSpPr>
          <p:cNvPr id="8" name="Marcador de texto vertical 1">
            <a:extLst>
              <a:ext uri="{FF2B5EF4-FFF2-40B4-BE49-F238E27FC236}">
                <a16:creationId xmlns:a16="http://schemas.microsoft.com/office/drawing/2014/main" id="{E4F54714-407F-8E98-798E-94B6C7EA36AA}"/>
              </a:ext>
            </a:extLst>
          </p:cNvPr>
          <p:cNvSpPr txBox="1">
            <a:spLocks/>
          </p:cNvSpPr>
          <p:nvPr/>
        </p:nvSpPr>
        <p:spPr>
          <a:xfrm rot="10800000">
            <a:off x="-12700" y="5181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Ejecutar la inscripción de cursos por Lista de Espera</a:t>
            </a:r>
          </a:p>
        </p:txBody>
      </p:sp>
    </p:spTree>
    <p:extLst>
      <p:ext uri="{BB962C8B-B14F-4D97-AF65-F5344CB8AC3E}">
        <p14:creationId xmlns:p14="http://schemas.microsoft.com/office/powerpoint/2010/main" val="259799582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dirty="0"/>
              <a:t>Nidia Beltran.</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a:t>Nidia.beltran@</a:t>
            </a:r>
            <a:r>
              <a:rPr lang="es-419" dirty="0"/>
              <a:t>ellucian.com</a:t>
            </a:r>
          </a:p>
        </p:txBody>
      </p:sp>
    </p:spTree>
    <p:extLst>
      <p:ext uri="{BB962C8B-B14F-4D97-AF65-F5344CB8AC3E}">
        <p14:creationId xmlns:p14="http://schemas.microsoft.com/office/powerpoint/2010/main" val="3192274581"/>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12774</TotalTime>
  <Words>6995</Words>
  <Application>Microsoft Office PowerPoint</Application>
  <PresentationFormat>Panorámica</PresentationFormat>
  <Paragraphs>957</Paragraphs>
  <Slides>116</Slides>
  <Notes>85</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116</vt:i4>
      </vt:variant>
    </vt:vector>
  </HeadingPairs>
  <TitlesOfParts>
    <vt:vector size="126" baseType="lpstr">
      <vt:lpstr>Aptos</vt:lpstr>
      <vt:lpstr>Aptos Display</vt:lpstr>
      <vt:lpstr>Arial</vt:lpstr>
      <vt:lpstr>Calibri</vt:lpstr>
      <vt:lpstr>Courier New</vt:lpstr>
      <vt:lpstr>Helvetica Neue</vt:lpstr>
      <vt:lpstr>Libre Franklin</vt:lpstr>
      <vt:lpstr>Wingdings</vt:lpstr>
      <vt:lpstr>Ellucian_April 2025</vt:lpstr>
      <vt:lpstr>Ellucian Blank Layouts</vt:lpstr>
      <vt:lpstr>Presentación de PowerPoint</vt:lpstr>
      <vt:lpstr>Presentación de PowerPoint</vt:lpstr>
      <vt:lpstr>Overview</vt:lpstr>
      <vt:lpstr>Overview: Mapa de capacidades</vt:lpstr>
      <vt:lpstr>Overview: Capacidad operativa Gestionar la inscripción de cursos</vt:lpstr>
      <vt:lpstr>Overview: Capacidad operativa Gestionar la inscripción de cursos</vt:lpstr>
      <vt:lpstr>Presentación de PowerPoint</vt:lpstr>
      <vt:lpstr>Presentación de PowerPoint</vt:lpstr>
      <vt:lpstr>Presentación de PowerPoint</vt:lpstr>
      <vt:lpstr>Presentación de PowerPoint</vt:lpstr>
      <vt:lpstr>CONFIGURACIONES</vt:lpstr>
      <vt:lpstr>Presentación de PowerPoint</vt:lpstr>
      <vt:lpstr>Control de periodo (SOATERM)</vt:lpstr>
      <vt:lpstr>Control de periodo (SOATERM)</vt:lpstr>
      <vt:lpstr>Control de periodo (SOATERM)</vt:lpstr>
      <vt:lpstr>Control de periodo (SOATERM)</vt:lpstr>
      <vt:lpstr>Control de periodo (SOATERM)</vt:lpstr>
      <vt:lpstr>Control de periodo (SOATERM)</vt:lpstr>
      <vt:lpstr>Control de periodo (SOATERM)</vt:lpstr>
      <vt:lpstr>Control de periodo (SOATERM)</vt:lpstr>
      <vt:lpstr>Control de periodo (SOATERM)</vt:lpstr>
      <vt:lpstr>Control de periodo (SOATERM)</vt:lpstr>
      <vt:lpstr>Presentación de PowerPoint</vt:lpstr>
      <vt:lpstr>Validación de transposición (GTVSDAX)</vt:lpstr>
      <vt:lpstr>Validación de transposición (GTVSDAX)</vt:lpstr>
      <vt:lpstr>Validación de transposición (GTVSDAX) </vt:lpstr>
      <vt:lpstr>Validación de transposición (GTVSDAX)</vt:lpstr>
      <vt:lpstr>Validación de transposición (GTVSDAX)</vt:lpstr>
      <vt:lpstr>Validación de transposición (GTVSDAX)</vt:lpstr>
      <vt:lpstr>Validación de transposición (GTVSDAX)</vt:lpstr>
      <vt:lpstr>Presentación de PowerPoint</vt:lpstr>
      <vt:lpstr>Mensajes de error de inscripción (SFARMSG) </vt:lpstr>
      <vt:lpstr>Presentación de PowerPoint</vt:lpstr>
      <vt:lpstr>Premisa: Validación del código del estatus de ingreso (STVESTS) </vt:lpstr>
      <vt:lpstr>Control del estatus de ingreso (SFAESTS)</vt:lpstr>
      <vt:lpstr>Control del estatus de ingreso (SFAESTS)</vt:lpstr>
      <vt:lpstr>Control del estatus de ingreso (SFAESTS)</vt:lpstr>
      <vt:lpstr>Control del estatus de ingreso (SFAESTS)</vt:lpstr>
      <vt:lpstr>Presentación de PowerPoint</vt:lpstr>
      <vt:lpstr> Validación del código de estatus de la inscripción al curso (STVRSTS) </vt:lpstr>
      <vt:lpstr>Estatus de inscripción a curso (SFARSTS)</vt:lpstr>
      <vt:lpstr> Estatus de inscripción a curso (SFARSTS) </vt:lpstr>
      <vt:lpstr>Estatus de inscripción a curso (SFARSTS)</vt:lpstr>
      <vt:lpstr>Presentación de PowerPoint</vt:lpstr>
      <vt:lpstr>Horas mínimas/máximas de inscripción (SFAMHRS)</vt:lpstr>
      <vt:lpstr>Horas mínimas/máximas de inscripción (SFAMHRS)</vt:lpstr>
      <vt:lpstr>Horas mínimas/máximas de inscripción (SFAMHRS)</vt:lpstr>
      <vt:lpstr>Presentación de PowerPoint</vt:lpstr>
      <vt:lpstr>Control de prioridad de inscripción</vt:lpstr>
      <vt:lpstr>Control de prioridad de inscripción (SFARCTT)</vt:lpstr>
      <vt:lpstr>Control de prioridad de inscripción (SFARCTT)</vt:lpstr>
      <vt:lpstr>Control de prioridad de inscripción (SFARCTT)</vt:lpstr>
      <vt:lpstr>Control de grupo de inscripción</vt:lpstr>
      <vt:lpstr>Control de grupo de inscripción (SFARCTL)</vt:lpstr>
      <vt:lpstr>Control de grupo de inscripción (SFARCTL)</vt:lpstr>
      <vt:lpstr>Asignación individual de Grupo de inscripción de alumnos </vt:lpstr>
      <vt:lpstr>Grupo de inscripción de alumnos (SFARGRP)</vt:lpstr>
      <vt:lpstr>Grupo de inscripción de alumnos (SFARGRP)</vt:lpstr>
      <vt:lpstr>Grupo de inscripción de alumnos (SFARGRP)</vt:lpstr>
      <vt:lpstr>Grupo de inscripción de alumnos (SFARGRP)</vt:lpstr>
      <vt:lpstr>Presentación de PowerPoint</vt:lpstr>
      <vt:lpstr>Selección de población</vt:lpstr>
      <vt:lpstr>Crear Selección de población 1. Reglas de definición de aplicación GLRAPPL</vt:lpstr>
      <vt:lpstr>Reglas de definición de selección de población GLRSLCT</vt:lpstr>
      <vt:lpstr>Grupo de inscripción de alumnos (SFARGRP)</vt:lpstr>
      <vt:lpstr>Crear archivo plano </vt:lpstr>
      <vt:lpstr>Cargar archivo (GJAJFLU)</vt:lpstr>
      <vt:lpstr>Cargar archivo (GJRJFLU)</vt:lpstr>
      <vt:lpstr>Importar los ID - GJRPSIM</vt:lpstr>
      <vt:lpstr>Importar los ID</vt:lpstr>
      <vt:lpstr>Importar los ID</vt:lpstr>
      <vt:lpstr>Importar los ID</vt:lpstr>
      <vt:lpstr>Importar los ID</vt:lpstr>
      <vt:lpstr>Datos de extracción de selección de población GLAEXTR</vt:lpstr>
      <vt:lpstr>Asignación masiva de grupos  de inscripción - Turnos</vt:lpstr>
      <vt:lpstr>Asignación de  grupo de turnos inscripción (SFRGRUP)</vt:lpstr>
      <vt:lpstr>Asignación de  grupo de turnos inscripción (SFRGRUP)</vt:lpstr>
      <vt:lpstr>Asignación de  grupo de turnos inscripción (SFRGRUP)</vt:lpstr>
      <vt:lpstr>Asignación de  grupo de turnos inscripción (SFRGRUP)</vt:lpstr>
      <vt:lpstr>Proceso: SFRGRUP Asig. grupo de turnos inscrip.</vt:lpstr>
      <vt:lpstr>Asignación de  grupo de turnos inscripción (SFRGRUP)</vt:lpstr>
      <vt:lpstr>Asignación de  grupo de turnos inscripción (SFRGRUP)</vt:lpstr>
      <vt:lpstr>Asignación de  grupo de turnos inscripción (SFRGRUP)</vt:lpstr>
      <vt:lpstr>Asignación de  grupo de turnos inscripción (SFRGRUP)</vt:lpstr>
      <vt:lpstr>Asignación de  grupo de turnos inscripción (SFRGRUP)</vt:lpstr>
      <vt:lpstr>Asignación de  grupo de turnos inscripción (SFRGRUP)</vt:lpstr>
      <vt:lpstr>Asignación de  grupo de turnos inscripción (SFRGRUP)</vt:lpstr>
      <vt:lpstr>Grupo de inscripción de alumnos SFARGRP</vt:lpstr>
      <vt:lpstr>Presentación de PowerPoint</vt:lpstr>
      <vt:lpstr>Validación del código de carta(GTVLETR)</vt:lpstr>
      <vt:lpstr>Validación del código de párrafo(GTVLETR)</vt:lpstr>
      <vt:lpstr>Validación del código de párrafo(GTVLETR)</vt:lpstr>
      <vt:lpstr>Proceso de carta(GUALETR)</vt:lpstr>
      <vt:lpstr>Asignación de carta HTML (SOAELTL)</vt:lpstr>
      <vt:lpstr>Presentación de PowerPoint</vt:lpstr>
      <vt:lpstr>Control de periodo de lista de espera automátic (SOAWLTC)</vt:lpstr>
      <vt:lpstr>Control de periodo de lista de espera automático (SOAWLTC)</vt:lpstr>
      <vt:lpstr>Control de periodo de lista de espera automático (SOAWLTC)</vt:lpstr>
      <vt:lpstr>Control de periodo de lista de espera automático (SOAWLTC)</vt:lpstr>
      <vt:lpstr>Control de periodo de lista de espera automático (SOAWLTC)</vt:lpstr>
      <vt:lpstr>Cupo Lista de Espera (SSASECT)</vt:lpstr>
      <vt:lpstr>Ejecutar la inscripción de cursos por autoservicio por lista de espera</vt:lpstr>
      <vt:lpstr>Inscripción de cursos por autoservicio por bloques</vt:lpstr>
      <vt:lpstr>Inscripción de cursos por autoservicio con lista de espera</vt:lpstr>
      <vt:lpstr>Inscripción de cursos por autoservicio con lista de espera</vt:lpstr>
      <vt:lpstr>Inscripción de cursos por autoservicio con lista de espera</vt:lpstr>
      <vt:lpstr>Inscripción de cursos por autoservicio con lista de espera</vt:lpstr>
      <vt:lpstr>Inscripción de cursos por autoservicio con lista de espera</vt:lpstr>
      <vt:lpstr>Presentación de PowerPoint</vt:lpstr>
      <vt:lpstr>Administración de prioridad de lista de espera (SFAWLPR)</vt:lpstr>
      <vt:lpstr>Horario (SSASECT)</vt:lpstr>
      <vt:lpstr>Inscripción de curso de alumno (SFAREGS)</vt:lpstr>
      <vt:lpstr>Inscripción de curso de alumno (SFAREGS)</vt:lpstr>
      <vt:lpstr>RESUMEN</vt:lpstr>
      <vt:lpstr>RESUMEN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289</cp:revision>
  <dcterms:created xsi:type="dcterms:W3CDTF">2023-07-17T20:07:38Z</dcterms:created>
  <dcterms:modified xsi:type="dcterms:W3CDTF">2026-07-14T14:30:17Z</dcterms:modified>
</cp:coreProperties>
</file>
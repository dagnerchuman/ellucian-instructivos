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55"/>
  </p:notesMasterIdLst>
  <p:sldIdLst>
    <p:sldId id="257" r:id="rId3"/>
    <p:sldId id="423" r:id="rId4"/>
    <p:sldId id="476" r:id="rId5"/>
    <p:sldId id="348" r:id="rId6"/>
    <p:sldId id="349" r:id="rId7"/>
    <p:sldId id="350" r:id="rId8"/>
    <p:sldId id="421" r:id="rId9"/>
    <p:sldId id="352" r:id="rId10"/>
    <p:sldId id="1597" r:id="rId11"/>
    <p:sldId id="566" r:id="rId12"/>
    <p:sldId id="1528" r:id="rId13"/>
    <p:sldId id="469" r:id="rId14"/>
    <p:sldId id="1577" r:id="rId15"/>
    <p:sldId id="1527" r:id="rId16"/>
    <p:sldId id="1559" r:id="rId17"/>
    <p:sldId id="1529" r:id="rId18"/>
    <p:sldId id="1530" r:id="rId19"/>
    <p:sldId id="1560" r:id="rId20"/>
    <p:sldId id="1531" r:id="rId21"/>
    <p:sldId id="1532" r:id="rId22"/>
    <p:sldId id="1561" r:id="rId23"/>
    <p:sldId id="1543" r:id="rId24"/>
    <p:sldId id="1579" r:id="rId25"/>
    <p:sldId id="1578" r:id="rId26"/>
    <p:sldId id="1562" r:id="rId27"/>
    <p:sldId id="1545" r:id="rId28"/>
    <p:sldId id="1580" r:id="rId29"/>
    <p:sldId id="543" r:id="rId30"/>
    <p:sldId id="577" r:id="rId31"/>
    <p:sldId id="1581" r:id="rId32"/>
    <p:sldId id="1582" r:id="rId33"/>
    <p:sldId id="1583" r:id="rId34"/>
    <p:sldId id="1569" r:id="rId35"/>
    <p:sldId id="1565" r:id="rId36"/>
    <p:sldId id="1584" r:id="rId37"/>
    <p:sldId id="1585" r:id="rId38"/>
    <p:sldId id="1548" r:id="rId39"/>
    <p:sldId id="1586" r:id="rId40"/>
    <p:sldId id="1587" r:id="rId41"/>
    <p:sldId id="1588" r:id="rId42"/>
    <p:sldId id="1589" r:id="rId43"/>
    <p:sldId id="1590" r:id="rId44"/>
    <p:sldId id="1591" r:id="rId45"/>
    <p:sldId id="1592" r:id="rId46"/>
    <p:sldId id="1542" r:id="rId47"/>
    <p:sldId id="1536" r:id="rId48"/>
    <p:sldId id="1593" r:id="rId49"/>
    <p:sldId id="1594" r:id="rId50"/>
    <p:sldId id="1595" r:id="rId51"/>
    <p:sldId id="345" r:id="rId52"/>
    <p:sldId id="1596" r:id="rId53"/>
    <p:sldId id="50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111" d="100"/>
          <a:sy n="111" d="100"/>
        </p:scale>
        <p:origin x="324"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08-07-2026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09A71-9DC1-7FEB-6555-04B51192A1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20D001-F2A7-8C0F-8889-426229AB22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2C0232-2E87-37DE-D771-4FD8ECD890E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7AE9D0E-6078-76B2-B5A7-0A0B0117B38C}"/>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4158918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A5FC1-2DE3-40DD-5C13-5E74F2B874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79C20D-5AA8-7312-3B16-5324513309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529332-547F-5B13-6617-B7325AE1D7E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E5C181B-BCD4-504F-7F2E-70CAB78791CD}"/>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269233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D301F-12DE-7D99-D983-C8B15A844F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7C364F-ACB7-C887-2D1E-D7BBC8C62AA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337A3D-1138-75FF-8BC3-990B709A59E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5AB0AB4-06AD-FB26-A83D-52BC189020F2}"/>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654443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FA870-F1CF-5F50-9513-F968E46BA6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418312-5DEB-45C7-4852-F7F5C96CD3D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96D114-E57C-9F6B-2D54-0B9424D2682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54FE4E9-C2DC-6717-AAAF-A8ADD863715D}"/>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1508827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DBC31-35CA-2878-7085-976AB32EB9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265982-666D-B7E9-2A44-34A7EDFCAB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BE47B1-28D8-6D98-34E9-80691240AB3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6720912-CED7-51F6-BADE-0FF2863824BB}"/>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4024259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91AFE-3344-B90B-2F40-5C7C0FBAE6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D1A168-A29C-0851-FF99-C26944EE82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C37A64-3F00-3D47-3974-DA729E3F6C0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92D9FB9-C6B6-11E9-E541-4451C0516749}"/>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844634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C5B5A-69FF-F4EF-971D-13AD4165FE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BFED8A-2336-7A1A-1086-DCE85D85C4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1709AC-2E88-1E8C-4204-8A04C39CC84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23DE923-0749-ABDF-D0E7-17CD3A71F9AB}"/>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2636189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99AB-ADD8-BC10-9219-34436BB26D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4329A1-5E80-A460-C6EA-5026599A5D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70C6D0-CBC1-9C2D-9E06-45B7BD21C80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DFDB90E-F212-682A-25FC-785D86184315}"/>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1963362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5D3E-5E0C-0691-AC39-385A7BF964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652B09-2CFC-8563-CDF2-63A78BAD8B8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921815-882E-5474-A9F6-5BE9FA6C5CF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C8BB24-7676-F580-2DAA-F6DEE94072C4}"/>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206245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F3F85-CDE0-9F60-A08F-EB701FC8B7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579486-D2C5-52AA-1C07-A55B1E304C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8712F5-E121-2791-2E4E-BBE8DFD1BAC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14171D1-384E-33AC-D7D8-33B40717117E}"/>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2337755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A018-5B0A-E87C-EE68-51F42C3106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2966E0-14F6-C19A-2A77-C7E5356D3B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F69466-E5E8-1EC3-6E75-C9E1248234F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5971F28-2D8C-FC3F-7321-C6558375C043}"/>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210078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991E3-685E-6FBF-3A2B-24C0958AC3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EAE77E-A99C-6AE3-5C4A-67F1609D7B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941420B-79DB-8768-419B-11C39472E5C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54DB3F9-8E13-FC77-E834-5E1AE21B0069}"/>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2539171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BA090-2A59-963F-D6ED-467C5A837B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9371C3-1F32-6323-7704-D694B80945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A011BD-2F1B-8853-2CBD-70405A9F57B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78CDE43-3C5C-F968-CF34-64118CDB06B7}"/>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336224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E010-830A-739E-1F60-BB1B277B56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2518E1-F27B-7B77-EF71-E2CA49DB27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B6D8A5-91F2-3D57-311E-A128F8B9A8E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2FA3CF2-C7BB-787D-C43B-FE7AF9A36BC7}"/>
              </a:ext>
            </a:extLst>
          </p:cNvPr>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1053126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F9DF1-1606-3F4A-5859-E0570425DE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D599F1-0020-D0A2-AEB2-1CF6B46BF3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818896-8544-731E-7083-8E29075D7E3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E84AA36-784A-4D06-C119-DB414DB3489E}"/>
              </a:ext>
            </a:extLst>
          </p:cNvPr>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2353671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512C7-300C-9EB5-B897-F3AD60771C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3D81F5-9AF4-CAA9-6AB0-ECFFBB4455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0A2825-57FC-C892-85DD-3679040E889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3874A34-A200-D879-4AEA-17906AE3A824}"/>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569597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9F783-DED7-3E0D-6E23-6DCBD20AB9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5A58F0-9683-A357-BC7F-1F2AF80E25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604E473-62F0-3321-8DFE-8D2FA73FBE6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8036D6A-46FC-DCE8-B183-8761F7393B97}"/>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4248545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EF73-92AA-FE5D-3FE2-54CC4036E7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D9729F-5F72-8A77-813B-9A4262ACB0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A3FA3F-6D9E-0FCB-65F5-CD704F14E38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417D513-B3EA-95C7-B0EB-17A92E1A756C}"/>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916072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7C40-F18F-314E-8C2E-0B2027E36C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A2BE95-5041-7EEA-E5FF-5C615B227B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092C86-46BF-A5B5-8AB5-614F346CB5D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D947389-77B2-6237-086D-DFCAA30F7B49}"/>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1338821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EEF3-85C4-9F7A-875C-7592E0B785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5128B3-3479-5AC8-9E7F-BD2F170289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95F2A8-1B3C-10E2-BFFB-460F64CC126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06D4CB7-28F8-F0F0-7B4A-C35DEA109F07}"/>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2691464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4247-F32F-8043-4730-5E5073FA88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77C8BA-CF21-54BB-4067-A230761003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C51459-8C96-8537-A8AA-64DF7B54956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DD1CB1E-AEF4-1C40-8D1C-6AE9CB71EFDB}"/>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174911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0DC20-34C4-6C09-30BE-5103F6E064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6A8B23-B0C5-3918-1FEC-B9C180583F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ADC375-98AE-C2E7-E22B-81868D2583D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74CC9AA-40E0-EAC6-2941-4179C41E6C4D}"/>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29550915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F17B0-7511-0422-5D7F-CD88BD93B3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BAE4C5-B9A9-836C-0AAF-642BEF7268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A68DD0-5719-7E57-28A6-7653CD4BBC9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AD26D1B-CD00-4BA8-7A1A-5DE182B16F5C}"/>
              </a:ext>
            </a:extLst>
          </p:cNvPr>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3891842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A1C9-C420-2992-4EAE-BB7180002A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608982-1BF7-BE0F-C4FA-BF8B3C9A5C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633647-2F30-F005-ECD4-22789D3C771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29353F2-6868-7A6B-692D-6E29E9EB36EF}"/>
              </a:ext>
            </a:extLst>
          </p:cNvPr>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318815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891EA-0F97-7981-AEF4-DF83895CC1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0ED3DC-6889-EABD-91EA-ADA573E546C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24F79A-0926-2C4A-C148-08647740F07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5FD5799-CA86-2325-184D-E95FB8A5ED12}"/>
              </a:ext>
            </a:extLst>
          </p:cNvPr>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24557153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5A962-6389-57B8-F5C6-796959D997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D92255-CF61-AB2B-E6F6-7B62E092B6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EFCA43-46F3-D495-7CCC-C1E29F50409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C355D6E-9559-CA02-123D-BBF32C3D2F45}"/>
              </a:ext>
            </a:extLst>
          </p:cNvPr>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27959959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8B18-A898-035E-9911-E58AE80EDA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F1A291-B998-EEB2-ECC6-E0A0702462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C2F733-97DB-10D3-8A27-1C6C92A2987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76EC028-4F1B-2FBA-E228-D05218867AF1}"/>
              </a:ext>
            </a:extLst>
          </p:cNvPr>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607742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1F62-2FD3-40A2-5FAF-1DB5D0E31A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F3ECCD-43B1-6B82-8FB7-8CD974F098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9EC460-F6D6-0221-8E53-D61144BE080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F110B28-9052-58AD-5620-9C8EAB5A421B}"/>
              </a:ext>
            </a:extLst>
          </p:cNvPr>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170884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0BF1B-6442-78C6-D1BB-B5FE94BCBF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82BF9D-26D1-44F0-0D0A-2587ADF068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22A1E8-4169-6FC1-270F-8B093276B0E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64AC8E0-2F66-98D3-FADF-9BD1A54CECCD}"/>
              </a:ext>
            </a:extLst>
          </p:cNvPr>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260589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92619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97534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63066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02430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0986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74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73274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2006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983209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89608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568532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076755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898760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627357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72517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0666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38781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27612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32543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1780988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518639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41605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254368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5536783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391317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799285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141904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931564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401026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839357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20471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48955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943152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08-07-2026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31500824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9174467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23006417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61180309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15181974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2174605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5801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672323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202149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207353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21774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5275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10411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180025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343669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83781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636486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65581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509944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911708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26015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990002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16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878943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1747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0667528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4284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8.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Proyección Académica</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674095"/>
          </a:xfrm>
        </p:spPr>
        <p:txBody>
          <a:bodyPr/>
          <a:lstStyle/>
          <a:p>
            <a:endParaRPr lang="es-ES" sz="1800" dirty="0"/>
          </a:p>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1AAB1C61-257C-A274-A80C-24F3FC7B603F}"/>
              </a:ext>
            </a:extLst>
          </p:cNvPr>
          <p:cNvSpPr>
            <a:spLocks noGrp="1"/>
          </p:cNvSpPr>
          <p:nvPr>
            <p:ph type="body" sz="quarter" idx="13"/>
          </p:nvPr>
        </p:nvSpPr>
        <p:spPr/>
        <p:txBody>
          <a:bodyPr/>
          <a:lstStyle/>
          <a:p>
            <a:r>
              <a:rPr lang="es-419" dirty="0"/>
              <a:t>Julio, 2026</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98389FE1-BE3B-0672-6DD9-7745F9B67C9D}"/>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Proyección Académica</a:t>
            </a:r>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417551882"/>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Proyección Académica</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Proyección Académica</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´Gestión de la Inscripción Académica</a:t>
            </a:r>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2" name="Imagen 2">
            <a:extLst>
              <a:ext uri="{FF2B5EF4-FFF2-40B4-BE49-F238E27FC236}">
                <a16:creationId xmlns:a16="http://schemas.microsoft.com/office/drawing/2014/main" id="{CD767F04-A4F8-7CF9-45B1-8070B88894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166297"/>
            <a:ext cx="10180101" cy="4796619"/>
          </a:xfrm>
          <a:prstGeom prst="rect">
            <a:avLst/>
          </a:prstGeom>
        </p:spPr>
      </p:pic>
      <p:sp>
        <p:nvSpPr>
          <p:cNvPr id="6" name="Rectangle 5">
            <a:extLst>
              <a:ext uri="{FF2B5EF4-FFF2-40B4-BE49-F238E27FC236}">
                <a16:creationId xmlns:a16="http://schemas.microsoft.com/office/drawing/2014/main" id="{226A4735-976B-631C-3E5A-3509C44EC4B5}"/>
              </a:ext>
            </a:extLst>
          </p:cNvPr>
          <p:cNvSpPr/>
          <p:nvPr/>
        </p:nvSpPr>
        <p:spPr>
          <a:xfrm>
            <a:off x="1463336" y="4713818"/>
            <a:ext cx="3986487"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031009" y="1584355"/>
            <a:ext cx="9698935" cy="3737745"/>
          </a:xfrm>
        </p:spPr>
        <p:txBody>
          <a:bodyPr anchor="ctr"/>
          <a:lstStyle/>
          <a:p>
            <a:pPr marL="0" lvl="0" indent="0" algn="just">
              <a:buClr>
                <a:srgbClr val="0CB4B4"/>
              </a:buClr>
              <a:buNone/>
            </a:pPr>
            <a:r>
              <a:rPr lang="es-CO" sz="2000" dirty="0"/>
              <a:t>Tiene como propósito </a:t>
            </a:r>
            <a:r>
              <a:rPr lang="es-CO" sz="2000" b="1" dirty="0"/>
              <a:t>administrar el registro y retiro de asignaturas</a:t>
            </a:r>
            <a:r>
              <a:rPr lang="es-CO" sz="2000" dirty="0"/>
              <a:t> que los estudiantes cursarán en un periodo académico. Para ello utiliza los distintos </a:t>
            </a:r>
            <a:r>
              <a:rPr lang="es-CO" sz="2000" b="1" dirty="0"/>
              <a:t>modelos de inscripción</a:t>
            </a:r>
            <a:r>
              <a:rPr lang="es-CO" sz="2000" dirty="0"/>
              <a:t> definidos por la institución —como inscripción básica, estructurada o proyectada— y opera en conjunto con funcionalidades complementarias como la </a:t>
            </a:r>
            <a:r>
              <a:rPr lang="es-CO" sz="2000" b="1" dirty="0"/>
              <a:t>gestión de turnos</a:t>
            </a:r>
            <a:r>
              <a:rPr lang="es-CO" sz="2000" dirty="0"/>
              <a:t>, </a:t>
            </a:r>
            <a:r>
              <a:rPr lang="es-CO" sz="2000" b="1" dirty="0"/>
              <a:t>inscripción por bloques</a:t>
            </a:r>
            <a:r>
              <a:rPr lang="es-CO" sz="2000" dirty="0"/>
              <a:t>, </a:t>
            </a:r>
            <a:r>
              <a:rPr lang="es-CO" sz="2000" b="1" dirty="0"/>
              <a:t>listas de espera</a:t>
            </a:r>
            <a:r>
              <a:rPr lang="es-CO" sz="2000" dirty="0"/>
              <a:t>, </a:t>
            </a:r>
            <a:r>
              <a:rPr lang="es-CO" sz="2000" b="1" dirty="0"/>
              <a:t>sobrepasos</a:t>
            </a:r>
            <a:r>
              <a:rPr lang="es-CO" sz="2000" dirty="0"/>
              <a:t>, entre otras herramientas que permiten controlar y organizar el proceso de matrícula de manera eficiente.</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7A5B615C-2E6F-63B7-AAC2-AA0545E94BBE}"/>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24354" y="1500996"/>
            <a:ext cx="10136257" cy="4671203"/>
          </a:xfrm>
        </p:spPr>
        <p:txBody>
          <a:bodyPr vert="horz" lIns="91440" tIns="45720" rIns="91440" bIns="45720" rtlCol="0" anchor="t">
            <a:noAutofit/>
          </a:bodyPr>
          <a:lstStyle/>
          <a:p>
            <a:pPr>
              <a:buClr>
                <a:schemeClr val="bg2">
                  <a:lumMod val="10000"/>
                </a:schemeClr>
              </a:buClr>
              <a:buFont typeface="Wingdings" panose="05000000000000000000" pitchFamily="2" charset="2"/>
              <a:buChar char="v"/>
            </a:pPr>
            <a:r>
              <a:rPr lang="es-ES" sz="2400" dirty="0">
                <a:solidFill>
                  <a:srgbClr val="7030A0"/>
                </a:solidFill>
              </a:rPr>
              <a:t> </a:t>
            </a:r>
            <a:r>
              <a:rPr lang="es-ES" sz="2400" b="1" dirty="0">
                <a:solidFill>
                  <a:srgbClr val="7030A0"/>
                </a:solidFill>
              </a:rPr>
              <a:t>Ejecutar Proyección Académica</a:t>
            </a:r>
          </a:p>
          <a:p>
            <a:pPr>
              <a:buClr>
                <a:schemeClr val="bg2">
                  <a:lumMod val="10000"/>
                </a:schemeClr>
              </a:buClr>
              <a:buFont typeface="Wingdings" panose="05000000000000000000" pitchFamily="2" charset="2"/>
              <a:buChar char="v"/>
            </a:pPr>
            <a:r>
              <a:rPr lang="es-ES" sz="2400" b="1" dirty="0">
                <a:solidFill>
                  <a:srgbClr val="7030A0"/>
                </a:solidFill>
              </a:rPr>
              <a:t> </a:t>
            </a:r>
            <a:r>
              <a:rPr lang="es-ES" sz="2400" dirty="0">
                <a:solidFill>
                  <a:srgbClr val="7030A0"/>
                </a:solidFill>
              </a:rPr>
              <a:t>Ejecutar Planificación de cursos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Básico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Estructurado</a:t>
            </a:r>
          </a:p>
          <a:p>
            <a:pPr>
              <a:buClr>
                <a:schemeClr val="bg2">
                  <a:lumMod val="10000"/>
                </a:schemeClr>
              </a:buClr>
              <a:buFont typeface="Wingdings" panose="05000000000000000000" pitchFamily="2" charset="2"/>
              <a:buChar char="v"/>
            </a:pPr>
            <a:r>
              <a:rPr lang="es-CO" sz="2400" dirty="0">
                <a:solidFill>
                  <a:srgbClr val="7030A0"/>
                </a:solidFill>
              </a:rPr>
              <a:t>Inscripción de Cursos por </a:t>
            </a:r>
            <a:r>
              <a:rPr lang="es-CO" sz="2400" dirty="0" err="1">
                <a:solidFill>
                  <a:srgbClr val="7030A0"/>
                </a:solidFill>
              </a:rPr>
              <a:t>Backoffice</a:t>
            </a:r>
            <a:endParaRPr lang="es-CO" sz="2400" dirty="0">
              <a:solidFill>
                <a:srgbClr val="7030A0"/>
              </a:solidFill>
            </a:endParaRPr>
          </a:p>
          <a:p>
            <a:pPr>
              <a:buClr>
                <a:schemeClr val="bg2">
                  <a:lumMod val="10000"/>
                </a:schemeClr>
              </a:buClr>
              <a:buFont typeface="Wingdings" panose="05000000000000000000" pitchFamily="2" charset="2"/>
              <a:buChar char="v"/>
            </a:pPr>
            <a:r>
              <a:rPr lang="es-ES" sz="2400" dirty="0">
                <a:solidFill>
                  <a:srgbClr val="7030A0"/>
                </a:solidFill>
              </a:rPr>
              <a:t>Inscripción de cursos por </a:t>
            </a:r>
            <a:r>
              <a:rPr lang="es-ES" sz="2400" dirty="0" err="1">
                <a:solidFill>
                  <a:srgbClr val="7030A0"/>
                </a:solidFill>
              </a:rPr>
              <a:t>Backoffice</a:t>
            </a:r>
            <a:r>
              <a:rPr lang="es-ES" sz="2400" dirty="0">
                <a:solidFill>
                  <a:srgbClr val="7030A0"/>
                </a:solidFill>
              </a:rPr>
              <a:t>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Lista de Espera</a:t>
            </a:r>
          </a:p>
          <a:p>
            <a:pPr>
              <a:buClr>
                <a:schemeClr val="bg2">
                  <a:lumMod val="10000"/>
                </a:schemeClr>
              </a:buClr>
              <a:buFont typeface="Wingdings" panose="05000000000000000000" pitchFamily="2" charset="2"/>
              <a:buChar char="v"/>
            </a:pPr>
            <a:r>
              <a:rPr lang="es-ES" sz="2400" dirty="0">
                <a:solidFill>
                  <a:srgbClr val="7030A0"/>
                </a:solidFill>
              </a:rPr>
              <a:t>Gestionar Sobrepasos de Inscripción</a:t>
            </a:r>
          </a:p>
          <a:p>
            <a:pPr>
              <a:buClr>
                <a:schemeClr val="bg2">
                  <a:lumMod val="10000"/>
                </a:schemeClr>
              </a:buClr>
              <a:buFont typeface="Wingdings" panose="05000000000000000000" pitchFamily="2" charset="2"/>
              <a:buChar char="v"/>
            </a:pPr>
            <a:r>
              <a:rPr lang="es-ES" sz="2400" dirty="0">
                <a:solidFill>
                  <a:srgbClr val="7030A0"/>
                </a:solidFill>
              </a:rPr>
              <a:t>Gestionar Retiro de Cursos por Autoservicio</a:t>
            </a: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24354" y="236522"/>
            <a:ext cx="10477497" cy="898555"/>
          </a:xfrm>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C031A173-880F-0E1B-25E5-A1B03E6E36AE}"/>
              </a:ext>
            </a:extLst>
          </p:cNvPr>
          <p:cNvSpPr txBox="1">
            <a:spLocks/>
          </p:cNvSpPr>
          <p:nvPr/>
        </p:nvSpPr>
        <p:spPr>
          <a:xfrm rot="10800000">
            <a:off x="0" y="5966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´Gestión de la Inscripción Académica</a:t>
            </a:r>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419" sz="3200" dirty="0"/>
          </a:p>
        </p:txBody>
      </p:sp>
      <p:pic>
        <p:nvPicPr>
          <p:cNvPr id="2" name="Picture 49">
            <a:extLst>
              <a:ext uri="{FF2B5EF4-FFF2-40B4-BE49-F238E27FC236}">
                <a16:creationId xmlns:a16="http://schemas.microsoft.com/office/drawing/2014/main" id="{F747E82D-4004-F481-DBFE-93BF2BFB3E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4" r="840" b="2225"/>
          <a:stretch>
            <a:fillRect/>
          </a:stretch>
        </p:blipFill>
        <p:spPr bwMode="auto">
          <a:xfrm>
            <a:off x="1457864" y="1803624"/>
            <a:ext cx="9622905" cy="3372226"/>
          </a:xfrm>
          <a:prstGeom prst="rect">
            <a:avLst/>
          </a:prstGeom>
          <a:noFill/>
          <a:ln>
            <a:noFill/>
          </a:ln>
          <a:extLst>
            <a:ext uri="{53640926-AAD7-44D8-BBD7-CCE9431645EC}">
              <a14:shadowObscured xmlns:a14="http://schemas.microsoft.com/office/drawing/2010/main"/>
            </a:ext>
          </a:extLst>
        </p:spPr>
      </p:pic>
      <p:sp>
        <p:nvSpPr>
          <p:cNvPr id="7" name="Vertical Text Placeholder 3">
            <a:extLst>
              <a:ext uri="{FF2B5EF4-FFF2-40B4-BE49-F238E27FC236}">
                <a16:creationId xmlns:a16="http://schemas.microsoft.com/office/drawing/2014/main" id="{13913AA1-AF07-8DBA-ED4D-D5C0F670DEA1}"/>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832167" y="1425069"/>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Macroproceso </a:t>
            </a:r>
            <a:r>
              <a:rPr lang="es-419" dirty="0">
                <a:solidFill>
                  <a:schemeClr val="tx2"/>
                </a:solidFill>
              </a:rPr>
              <a:t>Gestionar la inscripción de cursos – Proyección Académica</a:t>
            </a:r>
          </a:p>
        </p:txBody>
      </p:sp>
      <p:sp>
        <p:nvSpPr>
          <p:cNvPr id="5" name="Vertical Text Placeholder 3">
            <a:extLst>
              <a:ext uri="{FF2B5EF4-FFF2-40B4-BE49-F238E27FC236}">
                <a16:creationId xmlns:a16="http://schemas.microsoft.com/office/drawing/2014/main" id="{E3F09ABA-D646-212F-379A-73C0460B3E8C}"/>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CC145-9F97-F50B-A64F-EB740BABA6AC}"/>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C557B2D4-891C-0B3E-2ED6-7DC0C45D1F22}"/>
              </a:ext>
            </a:extLst>
          </p:cNvPr>
          <p:cNvSpPr>
            <a:spLocks noGrp="1"/>
          </p:cNvSpPr>
          <p:nvPr>
            <p:ph type="body" orient="vert" sz="quarter" idx="17"/>
          </p:nvPr>
        </p:nvSpPr>
        <p:spPr/>
        <p:txBody>
          <a:bodyPr/>
          <a:lstStyle/>
          <a:p>
            <a:r>
              <a:rPr lang="es-419" sz="1200" dirty="0"/>
              <a:t>Proyección Académica</a:t>
            </a:r>
          </a:p>
        </p:txBody>
      </p:sp>
      <p:sp>
        <p:nvSpPr>
          <p:cNvPr id="6" name="Título 3">
            <a:extLst>
              <a:ext uri="{FF2B5EF4-FFF2-40B4-BE49-F238E27FC236}">
                <a16:creationId xmlns:a16="http://schemas.microsoft.com/office/drawing/2014/main" id="{11C9A95E-95DE-C6CB-9BA8-924D211201B5}"/>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Procedimiento  </a:t>
            </a:r>
            <a:r>
              <a:rPr lang="es-CO" dirty="0">
                <a:solidFill>
                  <a:schemeClr val="tx2"/>
                </a:solidFill>
              </a:rPr>
              <a:t>Ejecutar </a:t>
            </a:r>
            <a:r>
              <a:rPr lang="es-ES" dirty="0">
                <a:solidFill>
                  <a:schemeClr val="tx2"/>
                </a:solidFill>
              </a:rPr>
              <a:t>Proyección Académica</a:t>
            </a:r>
          </a:p>
        </p:txBody>
      </p:sp>
      <p:pic>
        <p:nvPicPr>
          <p:cNvPr id="2" name="Imagen 1" descr="Diagrama&#10;&#10;Descripción generada automáticamente">
            <a:extLst>
              <a:ext uri="{FF2B5EF4-FFF2-40B4-BE49-F238E27FC236}">
                <a16:creationId xmlns:a16="http://schemas.microsoft.com/office/drawing/2014/main" id="{B13F2833-847D-EAA0-2AC8-97BDBA34893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39" t="3707" r="4323" b="3884"/>
          <a:stretch/>
        </p:blipFill>
        <p:spPr bwMode="auto">
          <a:xfrm>
            <a:off x="1114806" y="1820174"/>
            <a:ext cx="10229478" cy="33039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6877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51A2C4E-9EAB-4066-C1E1-1286B6A8930B}"/>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algn="just">
              <a:lnSpc>
                <a:spcPct val="115000"/>
              </a:lnSpc>
              <a:spcAft>
                <a:spcPts val="300"/>
              </a:spcAft>
              <a:buNone/>
            </a:pPr>
            <a:r>
              <a:rPr lang="es-CO" sz="2400" b="1" kern="100" dirty="0">
                <a:solidFill>
                  <a:srgbClr val="FFFFFF"/>
                </a:solidFill>
                <a:latin typeface="Aptos" panose="020B0004020202020204" pitchFamily="34" charset="0"/>
                <a:ea typeface="Aptos" panose="020B0004020202020204" pitchFamily="34" charset="0"/>
                <a:cs typeface="Arial" panose="020B0604020202020204" pitchFamily="34" charset="0"/>
              </a:rPr>
              <a:t>u avance curricular.</a:t>
            </a:r>
            <a:endParaRPr lang="es-CO" sz="3600" kern="100" dirty="0">
              <a:latin typeface="Aptos" panose="020B0004020202020204" pitchFamily="34" charset="0"/>
              <a:ea typeface="Aptos" panose="020B0004020202020204" pitchFamily="34" charset="0"/>
              <a:cs typeface="Arial" panose="020B0604020202020204" pitchFamily="34" charset="0"/>
            </a:endParaRPr>
          </a:p>
          <a:p>
            <a:pPr marL="0" indent="0" algn="just">
              <a:buClr>
                <a:srgbClr val="0CB4B4"/>
              </a:buClr>
              <a:buNone/>
            </a:pPr>
            <a:r>
              <a:rPr lang="es-CO" sz="2400" dirty="0">
                <a:solidFill>
                  <a:srgbClr val="7030A0"/>
                </a:solidFill>
              </a:rPr>
              <a:t>Proceso que identifica y habilita los cursos que un estudiante aún no ha aprobado y que puede inscribir en un periodo académico determinado, de acuerdo con su avance curricular.</a:t>
            </a:r>
            <a:endParaRPr lang="es-419" sz="2400" dirty="0">
              <a:solidFill>
                <a:srgbClr val="7030A0"/>
              </a:solidFill>
            </a:endParaRPr>
          </a:p>
        </p:txBody>
      </p:sp>
      <p:sp>
        <p:nvSpPr>
          <p:cNvPr id="3" name="Marcador de texto vertical 2">
            <a:extLst>
              <a:ext uri="{FF2B5EF4-FFF2-40B4-BE49-F238E27FC236}">
                <a16:creationId xmlns:a16="http://schemas.microsoft.com/office/drawing/2014/main" id="{51945B24-A53A-5B2A-A335-1B6099500175}"/>
              </a:ext>
            </a:extLst>
          </p:cNvPr>
          <p:cNvSpPr>
            <a:spLocks noGrp="1"/>
          </p:cNvSpPr>
          <p:nvPr>
            <p:ph type="body" orient="vert" sz="quarter" idx="17"/>
          </p:nvPr>
        </p:nvSpPr>
        <p:spPr/>
        <p:txBody>
          <a:bodyPr/>
          <a:lstStyle/>
          <a:p>
            <a:r>
              <a:rPr lang="es-419" sz="1200" dirty="0"/>
              <a:t>Proyección Académica</a:t>
            </a:r>
          </a:p>
        </p:txBody>
      </p:sp>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a:t>
            </a:r>
            <a:r>
              <a:rPr lang="es-ES_tradnl">
                <a:solidFill>
                  <a:schemeClr val="tx2"/>
                </a:solidFill>
              </a:rPr>
              <a:t>: </a:t>
            </a:r>
            <a:r>
              <a:rPr lang="es-419">
                <a:solidFill>
                  <a:schemeClr val="tx2"/>
                </a:solidFill>
              </a:rPr>
              <a:t>Gestionar </a:t>
            </a:r>
            <a:r>
              <a:rPr lang="es-419" dirty="0">
                <a:solidFill>
                  <a:schemeClr val="tx2"/>
                </a:solidFill>
              </a:rPr>
              <a:t>la inscripción de cursos – Proyección Académica</a:t>
            </a:r>
          </a:p>
        </p:txBody>
      </p:sp>
    </p:spTree>
    <p:extLst>
      <p:ext uri="{BB962C8B-B14F-4D97-AF65-F5344CB8AC3E}">
        <p14:creationId xmlns:p14="http://schemas.microsoft.com/office/powerpoint/2010/main" val="403264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89A1C-D785-44CB-E24A-3B83DA89057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64866C3-749A-18E7-C171-BE74DFFFC0EB}"/>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algn="just">
              <a:buClr>
                <a:schemeClr val="tx1"/>
              </a:buClr>
              <a:buFont typeface="Wingdings" panose="05000000000000000000" pitchFamily="2" charset="2"/>
              <a:buChar char="v"/>
            </a:pPr>
            <a:r>
              <a:rPr lang="es-419" sz="2000" dirty="0">
                <a:solidFill>
                  <a:srgbClr val="7030A0"/>
                </a:solidFill>
              </a:rPr>
              <a:t>Dependiendo de las políticas internas de la institución, se puede configurar la cantidad de áreas del CAPP que se proyectan al estudiante.</a:t>
            </a:r>
          </a:p>
          <a:p>
            <a:pPr algn="just">
              <a:buClr>
                <a:schemeClr val="tx1"/>
              </a:buClr>
              <a:buFont typeface="Wingdings" panose="05000000000000000000" pitchFamily="2" charset="2"/>
              <a:buChar char="v"/>
            </a:pPr>
            <a:r>
              <a:rPr lang="es-419" sz="2000" dirty="0">
                <a:solidFill>
                  <a:srgbClr val="7030A0"/>
                </a:solidFill>
              </a:rPr>
              <a:t>Las proyecciones se pueden configurar para que los estudiantes:</a:t>
            </a:r>
          </a:p>
          <a:p>
            <a:pPr marL="854075" lvl="3" indent="-342900" algn="just">
              <a:buClr>
                <a:schemeClr val="tx1"/>
              </a:buClr>
              <a:buFont typeface="Wingdings" panose="05000000000000000000" pitchFamily="2" charset="2"/>
              <a:buChar char="ü"/>
            </a:pPr>
            <a:r>
              <a:rPr lang="es-419" sz="2000" dirty="0">
                <a:solidFill>
                  <a:srgbClr val="7030A0"/>
                </a:solidFill>
              </a:rPr>
              <a:t>Estén limitados a poder inscribir sólo lo que indica el listado de cursos no aprobados</a:t>
            </a:r>
          </a:p>
          <a:p>
            <a:pPr marL="854075" lvl="3" indent="-342900" algn="just">
              <a:buClr>
                <a:schemeClr val="tx1"/>
              </a:buClr>
              <a:buFont typeface="Wingdings" panose="05000000000000000000" pitchFamily="2" charset="2"/>
              <a:buChar char="ü"/>
            </a:pPr>
            <a:r>
              <a:rPr lang="es-419" sz="2000" dirty="0">
                <a:solidFill>
                  <a:srgbClr val="7030A0"/>
                </a:solidFill>
              </a:rPr>
              <a:t>Puedan inscribir cursos que no están en el listado de cursos no aprobados.</a:t>
            </a:r>
          </a:p>
          <a:p>
            <a:pPr marL="854075" lvl="3" indent="-342900" algn="just">
              <a:buClr>
                <a:schemeClr val="tx1"/>
              </a:buClr>
              <a:buFont typeface="Wingdings" panose="05000000000000000000" pitchFamily="2" charset="2"/>
              <a:buChar char="ü"/>
            </a:pPr>
            <a:r>
              <a:rPr lang="es-419" sz="2000" dirty="0">
                <a:solidFill>
                  <a:srgbClr val="7030A0"/>
                </a:solidFill>
              </a:rPr>
              <a:t>Puedan inscribir cursos cuando la proyección no ha arrojado resultados.</a:t>
            </a:r>
          </a:p>
        </p:txBody>
      </p:sp>
      <p:sp>
        <p:nvSpPr>
          <p:cNvPr id="3" name="Marcador de texto vertical 2">
            <a:extLst>
              <a:ext uri="{FF2B5EF4-FFF2-40B4-BE49-F238E27FC236}">
                <a16:creationId xmlns:a16="http://schemas.microsoft.com/office/drawing/2014/main" id="{F49BD4E5-0579-7DD9-664B-4C5C1F7A5B70}"/>
              </a:ext>
            </a:extLst>
          </p:cNvPr>
          <p:cNvSpPr>
            <a:spLocks noGrp="1"/>
          </p:cNvSpPr>
          <p:nvPr>
            <p:ph type="body" orient="vert" sz="quarter" idx="17"/>
          </p:nvPr>
        </p:nvSpPr>
        <p:spPr/>
        <p:txBody>
          <a:bodyPr/>
          <a:lstStyle/>
          <a:p>
            <a:r>
              <a:rPr lang="es-419" sz="1200" dirty="0"/>
              <a:t>Proyección Académica</a:t>
            </a:r>
          </a:p>
        </p:txBody>
      </p:sp>
      <p:sp>
        <p:nvSpPr>
          <p:cNvPr id="5" name="Título 3">
            <a:extLst>
              <a:ext uri="{FF2B5EF4-FFF2-40B4-BE49-F238E27FC236}">
                <a16:creationId xmlns:a16="http://schemas.microsoft.com/office/drawing/2014/main" id="{868AAB91-F5C3-D62A-2922-8BE732CB1102}"/>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Procedimiento  </a:t>
            </a:r>
            <a:r>
              <a:rPr lang="es-CO" dirty="0">
                <a:solidFill>
                  <a:schemeClr val="tx2"/>
                </a:solidFill>
              </a:rPr>
              <a:t>Ejecutar </a:t>
            </a:r>
            <a:r>
              <a:rPr lang="es-ES" dirty="0">
                <a:solidFill>
                  <a:schemeClr val="tx2"/>
                </a:solidFill>
              </a:rPr>
              <a:t>Proyección Académica</a:t>
            </a:r>
          </a:p>
        </p:txBody>
      </p:sp>
    </p:spTree>
    <p:extLst>
      <p:ext uri="{BB962C8B-B14F-4D97-AF65-F5344CB8AC3E}">
        <p14:creationId xmlns:p14="http://schemas.microsoft.com/office/powerpoint/2010/main" val="2433457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Proyección Académica</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49B8-29CA-9739-58DD-1A3F245D4E21}"/>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8AA42BBF-846E-9948-2143-1838EB43F124}"/>
              </a:ext>
            </a:extLst>
          </p:cNvPr>
          <p:cNvSpPr>
            <a:spLocks noGrp="1"/>
          </p:cNvSpPr>
          <p:nvPr>
            <p:ph type="body" sz="quarter" idx="10"/>
          </p:nvPr>
        </p:nvSpPr>
        <p:spPr>
          <a:xfrm>
            <a:off x="914399" y="2238843"/>
            <a:ext cx="10363202" cy="669094"/>
          </a:xfrm>
        </p:spPr>
        <p:txBody>
          <a:bodyPr/>
          <a:lstStyle/>
          <a:p>
            <a:r>
              <a:rPr lang="es-ES_tradnl" dirty="0"/>
              <a:t>CAPP ejecutado</a:t>
            </a:r>
            <a:endParaRPr lang="es-419" dirty="0"/>
          </a:p>
        </p:txBody>
      </p:sp>
      <p:sp>
        <p:nvSpPr>
          <p:cNvPr id="2" name="Marcador de texto vertical 1">
            <a:extLst>
              <a:ext uri="{FF2B5EF4-FFF2-40B4-BE49-F238E27FC236}">
                <a16:creationId xmlns:a16="http://schemas.microsoft.com/office/drawing/2014/main" id="{EF68F63A-D52C-8A59-4921-414B321D4DD5}"/>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3946912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9FB5-3340-4E6F-4598-8FB92A229AC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434A684-7515-8798-DCBD-6E373F99CFB4}"/>
              </a:ext>
            </a:extLst>
          </p:cNvPr>
          <p:cNvPicPr>
            <a:picLocks noChangeAspect="1"/>
          </p:cNvPicPr>
          <p:nvPr/>
        </p:nvPicPr>
        <p:blipFill>
          <a:blip r:embed="rId3"/>
          <a:stretch>
            <a:fillRect/>
          </a:stretch>
        </p:blipFill>
        <p:spPr>
          <a:xfrm>
            <a:off x="897830" y="1001162"/>
            <a:ext cx="10822561" cy="4928584"/>
          </a:xfrm>
          <a:prstGeom prst="rect">
            <a:avLst/>
          </a:prstGeom>
        </p:spPr>
      </p:pic>
      <p:sp>
        <p:nvSpPr>
          <p:cNvPr id="2" name="Marcador de texto vertical 1">
            <a:extLst>
              <a:ext uri="{FF2B5EF4-FFF2-40B4-BE49-F238E27FC236}">
                <a16:creationId xmlns:a16="http://schemas.microsoft.com/office/drawing/2014/main" id="{EA9AA00D-8D8A-89FD-96B9-7F7F9B479755}"/>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72CCCBD6-5D97-A68A-2DF1-5BFD78A51BEA}"/>
              </a:ext>
            </a:extLst>
          </p:cNvPr>
          <p:cNvSpPr>
            <a:spLocks noGrp="1"/>
          </p:cNvSpPr>
          <p:nvPr>
            <p:ph type="title"/>
          </p:nvPr>
        </p:nvSpPr>
        <p:spPr>
          <a:xfrm>
            <a:off x="938996" y="304614"/>
            <a:ext cx="10477497" cy="898555"/>
          </a:xfrm>
        </p:spPr>
        <p:txBody>
          <a:bodyPr/>
          <a:lstStyle/>
          <a:p>
            <a:r>
              <a:rPr lang="es-419" dirty="0">
                <a:solidFill>
                  <a:schemeClr val="tx2"/>
                </a:solidFill>
              </a:rPr>
              <a:t>Administración de solicitud de cumplimiento (</a:t>
            </a:r>
            <a:r>
              <a:rPr lang="es-ES_tradnl" dirty="0">
                <a:solidFill>
                  <a:schemeClr val="tx2"/>
                </a:solidFill>
              </a:rPr>
              <a:t>SMARQCM)</a:t>
            </a:r>
            <a:br>
              <a:rPr lang="es-419" b="0" dirty="0">
                <a:effectLst/>
              </a:rPr>
            </a:br>
            <a:endParaRPr lang="es-ES_tradnl" b="1" dirty="0"/>
          </a:p>
        </p:txBody>
      </p:sp>
      <p:sp>
        <p:nvSpPr>
          <p:cNvPr id="16" name="Rectángulo: esquinas redondeadas 15">
            <a:extLst>
              <a:ext uri="{FF2B5EF4-FFF2-40B4-BE49-F238E27FC236}">
                <a16:creationId xmlns:a16="http://schemas.microsoft.com/office/drawing/2014/main" id="{DEAEF99C-4980-9136-5E58-A711DDB5C0F2}"/>
              </a:ext>
            </a:extLst>
          </p:cNvPr>
          <p:cNvSpPr/>
          <p:nvPr/>
        </p:nvSpPr>
        <p:spPr>
          <a:xfrm>
            <a:off x="1621398" y="3862162"/>
            <a:ext cx="8431967" cy="8985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que los estudiantes cuenten con un registro de ejecución del CAPP en el periodo académico en el cual se ejecutará la proyección. Este registro será el insumo principal de la proyección para determinar las asignaturas a ser cursadas.</a:t>
            </a:r>
          </a:p>
        </p:txBody>
      </p:sp>
    </p:spTree>
    <p:extLst>
      <p:ext uri="{BB962C8B-B14F-4D97-AF65-F5344CB8AC3E}">
        <p14:creationId xmlns:p14="http://schemas.microsoft.com/office/powerpoint/2010/main" val="1281685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D7954389-8FF7-FF65-804E-92A9A07FF99F}"/>
              </a:ext>
            </a:extLst>
          </p:cNvPr>
          <p:cNvSpPr>
            <a:spLocks noGrp="1"/>
          </p:cNvSpPr>
          <p:nvPr>
            <p:ph type="body" sz="quarter" idx="10"/>
          </p:nvPr>
        </p:nvSpPr>
        <p:spPr>
          <a:xfrm>
            <a:off x="914399" y="2238843"/>
            <a:ext cx="10363202" cy="669094"/>
          </a:xfrm>
        </p:spPr>
        <p:txBody>
          <a:bodyPr/>
          <a:lstStyle/>
          <a:p>
            <a:r>
              <a:rPr lang="es-ES_tradnl" dirty="0"/>
              <a:t>Control de periodo</a:t>
            </a:r>
            <a:endParaRPr lang="es-419" dirty="0"/>
          </a:p>
        </p:txBody>
      </p:sp>
      <p:sp>
        <p:nvSpPr>
          <p:cNvPr id="2" name="Marcador de texto vertical 1">
            <a:extLst>
              <a:ext uri="{FF2B5EF4-FFF2-40B4-BE49-F238E27FC236}">
                <a16:creationId xmlns:a16="http://schemas.microsoft.com/office/drawing/2014/main" id="{0320B4EA-306B-0CB1-7AEB-BCE5B580A23E}"/>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1456897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8E27-D1EF-76A9-43F2-F81781626A5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FDC4F2C-D556-221A-114E-8B30F6AF1F8C}"/>
              </a:ext>
            </a:extLst>
          </p:cNvPr>
          <p:cNvPicPr>
            <a:picLocks noChangeAspect="1"/>
          </p:cNvPicPr>
          <p:nvPr/>
        </p:nvPicPr>
        <p:blipFill>
          <a:blip r:embed="rId3"/>
          <a:stretch>
            <a:fillRect/>
          </a:stretch>
        </p:blipFill>
        <p:spPr>
          <a:xfrm>
            <a:off x="845388" y="1065318"/>
            <a:ext cx="11121148" cy="4914943"/>
          </a:xfrm>
          <a:prstGeom prst="rect">
            <a:avLst/>
          </a:prstGeom>
        </p:spPr>
      </p:pic>
      <p:sp>
        <p:nvSpPr>
          <p:cNvPr id="2" name="Marcador de texto vertical 1">
            <a:extLst>
              <a:ext uri="{FF2B5EF4-FFF2-40B4-BE49-F238E27FC236}">
                <a16:creationId xmlns:a16="http://schemas.microsoft.com/office/drawing/2014/main" id="{2EED8686-52DA-1917-086A-EA6490D3F5DF}"/>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35B8105D-8D46-2D08-C9AE-F099A1C09B58}"/>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br>
              <a:rPr lang="es-419" dirty="0">
                <a:solidFill>
                  <a:schemeClr val="tx2"/>
                </a:solidFill>
              </a:rPr>
            </a:br>
            <a:endParaRPr lang="es-ES_tradnl" dirty="0">
              <a:solidFill>
                <a:schemeClr val="tx2"/>
              </a:solidFill>
            </a:endParaRPr>
          </a:p>
        </p:txBody>
      </p:sp>
      <p:sp>
        <p:nvSpPr>
          <p:cNvPr id="16" name="Rectángulo: esquinas redondeadas 15">
            <a:extLst>
              <a:ext uri="{FF2B5EF4-FFF2-40B4-BE49-F238E27FC236}">
                <a16:creationId xmlns:a16="http://schemas.microsoft.com/office/drawing/2014/main" id="{CC7D8BBE-6E55-F228-0412-83C404BC09D8}"/>
              </a:ext>
            </a:extLst>
          </p:cNvPr>
          <p:cNvSpPr/>
          <p:nvPr/>
        </p:nvSpPr>
        <p:spPr>
          <a:xfrm>
            <a:off x="1293091" y="4410646"/>
            <a:ext cx="9076127" cy="97415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Para activar la proyección para un periodo académico, en SOATERM, en la sección “Modelo de Inscripción” de la primera pestaña (‘Inscripción’), debemos activar la casilla ‘Proyección’</a:t>
            </a:r>
          </a:p>
        </p:txBody>
      </p:sp>
    </p:spTree>
    <p:extLst>
      <p:ext uri="{BB962C8B-B14F-4D97-AF65-F5344CB8AC3E}">
        <p14:creationId xmlns:p14="http://schemas.microsoft.com/office/powerpoint/2010/main" val="1725009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92914-0E21-719F-B2C7-240ACF83165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83F8451-0DBC-FD9B-D5C3-5E9FEEB74252}"/>
              </a:ext>
            </a:extLst>
          </p:cNvPr>
          <p:cNvPicPr>
            <a:picLocks noChangeAspect="1"/>
          </p:cNvPicPr>
          <p:nvPr/>
        </p:nvPicPr>
        <p:blipFill>
          <a:blip r:embed="rId3"/>
          <a:stretch>
            <a:fillRect/>
          </a:stretch>
        </p:blipFill>
        <p:spPr>
          <a:xfrm>
            <a:off x="775506" y="703364"/>
            <a:ext cx="11395456" cy="5036172"/>
          </a:xfrm>
          <a:prstGeom prst="rect">
            <a:avLst/>
          </a:prstGeom>
        </p:spPr>
      </p:pic>
      <p:sp>
        <p:nvSpPr>
          <p:cNvPr id="2" name="Marcador de texto vertical 1">
            <a:extLst>
              <a:ext uri="{FF2B5EF4-FFF2-40B4-BE49-F238E27FC236}">
                <a16:creationId xmlns:a16="http://schemas.microsoft.com/office/drawing/2014/main" id="{61693471-412C-FF30-7873-205A4890FC3A}"/>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060BF970-CC65-BAAB-20CF-5C6313195AD2}"/>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br>
              <a:rPr lang="es-419" dirty="0">
                <a:solidFill>
                  <a:schemeClr val="tx2"/>
                </a:solidFill>
              </a:rPr>
            </a:br>
            <a:endParaRPr lang="es-ES_tradnl" b="1" dirty="0"/>
          </a:p>
        </p:txBody>
      </p:sp>
      <p:sp>
        <p:nvSpPr>
          <p:cNvPr id="16" name="Rectángulo: esquinas redondeadas 15">
            <a:extLst>
              <a:ext uri="{FF2B5EF4-FFF2-40B4-BE49-F238E27FC236}">
                <a16:creationId xmlns:a16="http://schemas.microsoft.com/office/drawing/2014/main" id="{FD52C7EC-AF84-3863-14FD-17E18F84A959}"/>
              </a:ext>
            </a:extLst>
          </p:cNvPr>
          <p:cNvSpPr/>
          <p:nvPr/>
        </p:nvSpPr>
        <p:spPr>
          <a:xfrm>
            <a:off x="1741470" y="4045527"/>
            <a:ext cx="8431967" cy="210910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050" dirty="0"/>
              <a:t>Adicionalmente, en la pestaña ‘Inscripción proyectada’, Se configuran las casillas de la sección ‘Restricciones’ y ‘Proyección de alumno’ de la siguiente manera:</a:t>
            </a:r>
          </a:p>
          <a:p>
            <a:pPr marL="228600" indent="-228600">
              <a:buFont typeface="+mj-lt"/>
              <a:buAutoNum type="arabicPeriod"/>
            </a:pPr>
            <a:r>
              <a:rPr lang="es-ES_tradnl" sz="1050" dirty="0"/>
              <a:t>Restricciones:</a:t>
            </a:r>
          </a:p>
          <a:p>
            <a:pPr lvl="1"/>
            <a:r>
              <a:rPr lang="es-ES_tradnl" sz="1050" dirty="0"/>
              <a:t>Período abierto para proyecciones en autoservicio: Se debe activar para que las proyecciones se desplieguen en las inscripciones en línea.</a:t>
            </a:r>
          </a:p>
          <a:p>
            <a:pPr lvl="1"/>
            <a:r>
              <a:rPr lang="es-ES_tradnl" sz="1050" dirty="0"/>
              <a:t>Restringir a cursos proyectados: si se va a permitir al estudiante inscribir asignaturas adicionales a las proyectadas, no lo active.</a:t>
            </a:r>
          </a:p>
          <a:p>
            <a:pPr lvl="1"/>
            <a:r>
              <a:rPr lang="es-ES_tradnl" sz="1050" dirty="0"/>
              <a:t>Restringir a proyecciones nulas: si está activo, no se permite la inscripción si la proyección del estudiante no da resultados.</a:t>
            </a:r>
          </a:p>
          <a:p>
            <a:pPr marL="228600" indent="-228600">
              <a:buFont typeface="+mj-lt"/>
              <a:buAutoNum type="arabicPeriod"/>
            </a:pPr>
            <a:r>
              <a:rPr lang="es-ES_tradnl" sz="1050" dirty="0"/>
              <a:t>Proyección del alumno:</a:t>
            </a:r>
          </a:p>
          <a:p>
            <a:pPr lvl="1"/>
            <a:r>
              <a:rPr lang="es-ES_tradnl" sz="1050" dirty="0"/>
              <a:t>Incluir cursos proyectados en proyecciones de alumno: debe estar activo.</a:t>
            </a:r>
          </a:p>
          <a:p>
            <a:pPr lvl="1"/>
            <a:r>
              <a:rPr lang="es-ES_tradnl" sz="1050" dirty="0"/>
              <a:t>Marcar cursos reprobados como más probables: debe estar activo.</a:t>
            </a:r>
          </a:p>
          <a:p>
            <a:pPr lvl="1"/>
            <a:r>
              <a:rPr lang="es-ES_tradnl" sz="1050" dirty="0"/>
              <a:t>Obligatorio activo: debe estar marcado</a:t>
            </a:r>
          </a:p>
          <a:p>
            <a:pPr lvl="1"/>
            <a:r>
              <a:rPr lang="es-ES_tradnl" sz="1050" dirty="0"/>
              <a:t>Electivo activo: debe estar marcado.</a:t>
            </a:r>
          </a:p>
        </p:txBody>
      </p:sp>
      <p:sp>
        <p:nvSpPr>
          <p:cNvPr id="9" name="Rectángulo 8">
            <a:extLst>
              <a:ext uri="{FF2B5EF4-FFF2-40B4-BE49-F238E27FC236}">
                <a16:creationId xmlns:a16="http://schemas.microsoft.com/office/drawing/2014/main" id="{0C2EE5E4-818F-C2EC-05F1-E10C91796E72}"/>
              </a:ext>
            </a:extLst>
          </p:cNvPr>
          <p:cNvSpPr/>
          <p:nvPr/>
        </p:nvSpPr>
        <p:spPr>
          <a:xfrm>
            <a:off x="775507" y="1849233"/>
            <a:ext cx="10880784" cy="25665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3D269465-412A-6729-7118-C725215372BD}"/>
              </a:ext>
            </a:extLst>
          </p:cNvPr>
          <p:cNvSpPr/>
          <p:nvPr/>
        </p:nvSpPr>
        <p:spPr>
          <a:xfrm>
            <a:off x="517236" y="168841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1" name="Rectángulo 10">
            <a:extLst>
              <a:ext uri="{FF2B5EF4-FFF2-40B4-BE49-F238E27FC236}">
                <a16:creationId xmlns:a16="http://schemas.microsoft.com/office/drawing/2014/main" id="{02BEBF35-53A7-20C9-39B3-07F441DFCAFB}"/>
              </a:ext>
            </a:extLst>
          </p:cNvPr>
          <p:cNvSpPr/>
          <p:nvPr/>
        </p:nvSpPr>
        <p:spPr>
          <a:xfrm>
            <a:off x="784743" y="2105891"/>
            <a:ext cx="10880784" cy="19396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318CC8D7-8B99-900F-FE64-FBB2935E8C13}"/>
              </a:ext>
            </a:extLst>
          </p:cNvPr>
          <p:cNvSpPr/>
          <p:nvPr/>
        </p:nvSpPr>
        <p:spPr>
          <a:xfrm>
            <a:off x="526473" y="21862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4135542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4085B-8C90-C36D-F3D6-3B6A705BDD20}"/>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F35BA52-5DDC-EFF4-44DC-13F1F4FD292C}"/>
              </a:ext>
            </a:extLst>
          </p:cNvPr>
          <p:cNvSpPr>
            <a:spLocks noGrp="1"/>
          </p:cNvSpPr>
          <p:nvPr>
            <p:ph type="body" sz="quarter" idx="10"/>
          </p:nvPr>
        </p:nvSpPr>
        <p:spPr>
          <a:xfrm>
            <a:off x="914399" y="2238843"/>
            <a:ext cx="10363202" cy="669094"/>
          </a:xfrm>
        </p:spPr>
        <p:txBody>
          <a:bodyPr/>
          <a:lstStyle/>
          <a:p>
            <a:r>
              <a:rPr lang="es-419" dirty="0"/>
              <a:t>Requerimientos de programa</a:t>
            </a:r>
          </a:p>
        </p:txBody>
      </p:sp>
      <p:sp>
        <p:nvSpPr>
          <p:cNvPr id="2" name="Marcador de texto vertical 1">
            <a:extLst>
              <a:ext uri="{FF2B5EF4-FFF2-40B4-BE49-F238E27FC236}">
                <a16:creationId xmlns:a16="http://schemas.microsoft.com/office/drawing/2014/main" id="{C7FB344A-7AA9-A0BD-959B-5D0D75B21B6A}"/>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401094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B83F0-A693-43A4-E4C0-DEBB46B40C3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D6751B9-90D3-8D70-0D9E-07E7464E4CA2}"/>
              </a:ext>
            </a:extLst>
          </p:cNvPr>
          <p:cNvPicPr>
            <a:picLocks noChangeAspect="1"/>
          </p:cNvPicPr>
          <p:nvPr/>
        </p:nvPicPr>
        <p:blipFill>
          <a:blip r:embed="rId3"/>
          <a:stretch>
            <a:fillRect/>
          </a:stretch>
        </p:blipFill>
        <p:spPr>
          <a:xfrm>
            <a:off x="938996" y="1010547"/>
            <a:ext cx="10996623" cy="4836904"/>
          </a:xfrm>
          <a:prstGeom prst="rect">
            <a:avLst/>
          </a:prstGeom>
        </p:spPr>
      </p:pic>
      <p:sp>
        <p:nvSpPr>
          <p:cNvPr id="2" name="Marcador de texto vertical 1">
            <a:extLst>
              <a:ext uri="{FF2B5EF4-FFF2-40B4-BE49-F238E27FC236}">
                <a16:creationId xmlns:a16="http://schemas.microsoft.com/office/drawing/2014/main" id="{47901165-08BC-3A7E-0F47-E5752998B9AA}"/>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A7161783-49AC-3546-5674-512B0BCEF912}"/>
              </a:ext>
            </a:extLst>
          </p:cNvPr>
          <p:cNvSpPr>
            <a:spLocks noGrp="1"/>
          </p:cNvSpPr>
          <p:nvPr>
            <p:ph type="title"/>
          </p:nvPr>
        </p:nvSpPr>
        <p:spPr>
          <a:xfrm>
            <a:off x="938996" y="304614"/>
            <a:ext cx="10477497" cy="898555"/>
          </a:xfrm>
        </p:spPr>
        <p:txBody>
          <a:bodyPr/>
          <a:lstStyle/>
          <a:p>
            <a:r>
              <a:rPr lang="es-419" dirty="0">
                <a:solidFill>
                  <a:schemeClr val="tx2"/>
                </a:solidFill>
              </a:rPr>
              <a:t>Requerimientos de programa (</a:t>
            </a:r>
            <a:r>
              <a:rPr lang="es-ES_tradnl" dirty="0">
                <a:solidFill>
                  <a:schemeClr val="tx2"/>
                </a:solidFill>
              </a:rPr>
              <a:t>SMAPROG)</a:t>
            </a:r>
            <a:endParaRPr lang="es-ES_tradnl" b="1" dirty="0"/>
          </a:p>
        </p:txBody>
      </p:sp>
      <p:sp>
        <p:nvSpPr>
          <p:cNvPr id="16" name="Rectángulo: esquinas redondeadas 15">
            <a:extLst>
              <a:ext uri="{FF2B5EF4-FFF2-40B4-BE49-F238E27FC236}">
                <a16:creationId xmlns:a16="http://schemas.microsoft.com/office/drawing/2014/main" id="{EFA66CAA-F76F-1B6F-E443-943FA3D7D905}"/>
              </a:ext>
            </a:extLst>
          </p:cNvPr>
          <p:cNvSpPr/>
          <p:nvPr/>
        </p:nvSpPr>
        <p:spPr>
          <a:xfrm>
            <a:off x="1961760" y="3428999"/>
            <a:ext cx="8431967" cy="101675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Cada plan de estudios configurado en el ambiente debe estar habilitado para poder ejecutar la proyección en él, para ello a cada plan de estudios se he de activar la opción ‘proyectada’ del campo ‘Código de modelo de inscripción’ de la página administrativa SMAPROG. </a:t>
            </a:r>
          </a:p>
        </p:txBody>
      </p:sp>
      <p:sp>
        <p:nvSpPr>
          <p:cNvPr id="6" name="Rectángulo 5">
            <a:extLst>
              <a:ext uri="{FF2B5EF4-FFF2-40B4-BE49-F238E27FC236}">
                <a16:creationId xmlns:a16="http://schemas.microsoft.com/office/drawing/2014/main" id="{33ED6948-836C-9D2A-DE48-0B0A82FA0B89}"/>
              </a:ext>
            </a:extLst>
          </p:cNvPr>
          <p:cNvSpPr/>
          <p:nvPr/>
        </p:nvSpPr>
        <p:spPr>
          <a:xfrm>
            <a:off x="9074989" y="2059426"/>
            <a:ext cx="819509" cy="25665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905655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1234A-AD72-74C3-9B3D-805CA148D60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7FD465C-E116-E539-B099-459AC42F2A10}"/>
              </a:ext>
            </a:extLst>
          </p:cNvPr>
          <p:cNvPicPr>
            <a:picLocks noChangeAspect="1"/>
          </p:cNvPicPr>
          <p:nvPr/>
        </p:nvPicPr>
        <p:blipFill>
          <a:blip r:embed="rId3"/>
          <a:stretch>
            <a:fillRect/>
          </a:stretch>
        </p:blipFill>
        <p:spPr>
          <a:xfrm>
            <a:off x="938996" y="1052929"/>
            <a:ext cx="11105734" cy="4752140"/>
          </a:xfrm>
          <a:prstGeom prst="rect">
            <a:avLst/>
          </a:prstGeom>
        </p:spPr>
      </p:pic>
      <p:sp>
        <p:nvSpPr>
          <p:cNvPr id="2" name="Marcador de texto vertical 1">
            <a:extLst>
              <a:ext uri="{FF2B5EF4-FFF2-40B4-BE49-F238E27FC236}">
                <a16:creationId xmlns:a16="http://schemas.microsoft.com/office/drawing/2014/main" id="{0BB9B5B5-400C-4698-0324-9F7E547A21C9}"/>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D62FCD45-6C98-3BAF-9BE3-876EB49A92D2}"/>
              </a:ext>
            </a:extLst>
          </p:cNvPr>
          <p:cNvSpPr>
            <a:spLocks noGrp="1"/>
          </p:cNvSpPr>
          <p:nvPr>
            <p:ph type="title"/>
          </p:nvPr>
        </p:nvSpPr>
        <p:spPr>
          <a:xfrm>
            <a:off x="938996" y="304614"/>
            <a:ext cx="10477497" cy="898555"/>
          </a:xfrm>
        </p:spPr>
        <p:txBody>
          <a:bodyPr/>
          <a:lstStyle/>
          <a:p>
            <a:r>
              <a:rPr lang="es-419" dirty="0">
                <a:solidFill>
                  <a:schemeClr val="tx2"/>
                </a:solidFill>
              </a:rPr>
              <a:t>Requerimientos de programa (</a:t>
            </a:r>
            <a:r>
              <a:rPr lang="es-ES_tradnl" dirty="0">
                <a:solidFill>
                  <a:schemeClr val="tx2"/>
                </a:solidFill>
              </a:rPr>
              <a:t>SMAPROG)</a:t>
            </a:r>
            <a:endParaRPr lang="es-ES_tradnl" b="1" dirty="0"/>
          </a:p>
        </p:txBody>
      </p:sp>
      <p:sp>
        <p:nvSpPr>
          <p:cNvPr id="3" name="Rectángulo: esquinas redondeadas 2">
            <a:extLst>
              <a:ext uri="{FF2B5EF4-FFF2-40B4-BE49-F238E27FC236}">
                <a16:creationId xmlns:a16="http://schemas.microsoft.com/office/drawing/2014/main" id="{E32E031F-0821-49D1-2194-65E07058912E}"/>
              </a:ext>
            </a:extLst>
          </p:cNvPr>
          <p:cNvSpPr/>
          <p:nvPr/>
        </p:nvSpPr>
        <p:spPr>
          <a:xfrm>
            <a:off x="1961760" y="4288106"/>
            <a:ext cx="8431967" cy="154373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De igual forma se requiere que el plan de estudios cuente con la definición de áreas consideradas en cada uno, pero, sobre todo, que estas cuenten con una prioridad definida. Esto se encuentra detallado en el instructivo </a:t>
            </a:r>
            <a:r>
              <a:rPr lang="es-419" sz="1200" dirty="0"/>
              <a:t>Crear las mallas curriculares del macroproceso de Oferta Académica</a:t>
            </a:r>
            <a:endParaRPr lang="es-ES_tradnl" sz="1200" dirty="0"/>
          </a:p>
        </p:txBody>
      </p:sp>
    </p:spTree>
    <p:extLst>
      <p:ext uri="{BB962C8B-B14F-4D97-AF65-F5344CB8AC3E}">
        <p14:creationId xmlns:p14="http://schemas.microsoft.com/office/powerpoint/2010/main" val="220985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67157-EF82-D3D0-86FD-B89AC3E27CC2}"/>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6B8A0C6C-AE90-7C48-6DA4-D49F23F5913E}"/>
              </a:ext>
            </a:extLst>
          </p:cNvPr>
          <p:cNvSpPr>
            <a:spLocks noGrp="1"/>
          </p:cNvSpPr>
          <p:nvPr>
            <p:ph type="body" sz="quarter" idx="10"/>
          </p:nvPr>
        </p:nvSpPr>
        <p:spPr>
          <a:xfrm>
            <a:off x="914399" y="2238843"/>
            <a:ext cx="10363202" cy="1333891"/>
          </a:xfrm>
        </p:spPr>
        <p:txBody>
          <a:bodyPr/>
          <a:lstStyle/>
          <a:p>
            <a:r>
              <a:rPr lang="es-ES_tradnl" dirty="0"/>
              <a:t>Validación de transposición (GTVSDAX)</a:t>
            </a:r>
            <a:endParaRPr lang="es-419" dirty="0"/>
          </a:p>
        </p:txBody>
      </p:sp>
      <p:sp>
        <p:nvSpPr>
          <p:cNvPr id="2" name="Marcador de texto vertical 1">
            <a:extLst>
              <a:ext uri="{FF2B5EF4-FFF2-40B4-BE49-F238E27FC236}">
                <a16:creationId xmlns:a16="http://schemas.microsoft.com/office/drawing/2014/main" id="{A88C952F-4E57-6B37-2514-DDE90643631B}"/>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2549293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1CAF7-431F-D5F2-B386-A07FA2B372A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58C7025-1DFC-90EB-CA62-01BB3304CCBB}"/>
              </a:ext>
            </a:extLst>
          </p:cNvPr>
          <p:cNvPicPr>
            <a:picLocks noChangeAspect="1"/>
          </p:cNvPicPr>
          <p:nvPr/>
        </p:nvPicPr>
        <p:blipFill>
          <a:blip r:embed="rId3"/>
          <a:stretch>
            <a:fillRect/>
          </a:stretch>
        </p:blipFill>
        <p:spPr>
          <a:xfrm>
            <a:off x="938996" y="1204640"/>
            <a:ext cx="10580945" cy="4813033"/>
          </a:xfrm>
          <a:prstGeom prst="rect">
            <a:avLst/>
          </a:prstGeom>
        </p:spPr>
      </p:pic>
      <p:sp>
        <p:nvSpPr>
          <p:cNvPr id="2" name="Marcador de texto vertical 1">
            <a:extLst>
              <a:ext uri="{FF2B5EF4-FFF2-40B4-BE49-F238E27FC236}">
                <a16:creationId xmlns:a16="http://schemas.microsoft.com/office/drawing/2014/main" id="{C2E4D2A5-4B42-78A5-5DF9-56941E00FA7C}"/>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29A9DD67-7A30-D9B4-BEB0-D2711BCA8D5E}"/>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p>
        </p:txBody>
      </p:sp>
      <p:sp>
        <p:nvSpPr>
          <p:cNvPr id="6" name="Rectángulo redondeado 5">
            <a:extLst>
              <a:ext uri="{FF2B5EF4-FFF2-40B4-BE49-F238E27FC236}">
                <a16:creationId xmlns:a16="http://schemas.microsoft.com/office/drawing/2014/main" id="{68E139B4-0721-0AC0-9A5E-3E903C9908F8}"/>
              </a:ext>
            </a:extLst>
          </p:cNvPr>
          <p:cNvSpPr/>
          <p:nvPr/>
        </p:nvSpPr>
        <p:spPr>
          <a:xfrm>
            <a:off x="2791198" y="3428999"/>
            <a:ext cx="6773091" cy="15124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Continuando con la configuración de la proyección, se requiere ingresar a GTVSDAX y configurar el registro:</a:t>
            </a:r>
            <a:br>
              <a:rPr lang="es-ES_tradnl" sz="1200" dirty="0"/>
            </a:br>
            <a:r>
              <a:rPr lang="pt-BR" sz="1200" dirty="0"/>
              <a:t>• Código: PRIADJFAC</a:t>
            </a:r>
          </a:p>
          <a:p>
            <a:pPr algn="ctr"/>
            <a:r>
              <a:rPr lang="pt-BR" sz="1200" dirty="0"/>
              <a:t>• Grupo: REGPROJSTRUCT</a:t>
            </a:r>
            <a:br>
              <a:rPr lang="pt-BR" sz="1200" dirty="0"/>
            </a:br>
            <a:br>
              <a:rPr lang="pt-BR" sz="1200" dirty="0"/>
            </a:br>
            <a:r>
              <a:rPr lang="pt-BR" sz="1200" dirty="0"/>
              <a:t>1. Para acceder rápidamente al registro se debe presionar el comando ‘Filtrar’ </a:t>
            </a:r>
          </a:p>
        </p:txBody>
      </p:sp>
      <p:sp>
        <p:nvSpPr>
          <p:cNvPr id="9" name="Rectángulo 8">
            <a:extLst>
              <a:ext uri="{FF2B5EF4-FFF2-40B4-BE49-F238E27FC236}">
                <a16:creationId xmlns:a16="http://schemas.microsoft.com/office/drawing/2014/main" id="{3DACBE53-D2CB-7659-8BC8-470872B94510}"/>
              </a:ext>
            </a:extLst>
          </p:cNvPr>
          <p:cNvSpPr/>
          <p:nvPr/>
        </p:nvSpPr>
        <p:spPr>
          <a:xfrm>
            <a:off x="11323782" y="1470542"/>
            <a:ext cx="212610" cy="17353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CDE39D33-140D-B21D-4608-9AEDB755D1D4}"/>
              </a:ext>
            </a:extLst>
          </p:cNvPr>
          <p:cNvSpPr/>
          <p:nvPr/>
        </p:nvSpPr>
        <p:spPr>
          <a:xfrm>
            <a:off x="11065512" y="164407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Tree>
    <p:extLst>
      <p:ext uri="{BB962C8B-B14F-4D97-AF65-F5344CB8AC3E}">
        <p14:creationId xmlns:p14="http://schemas.microsoft.com/office/powerpoint/2010/main" val="1763875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E49DD-21D3-7C5C-8BAF-05D87A2838F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CE0E87B-A6F2-0928-3C4F-CA535B682CE9}"/>
              </a:ext>
            </a:extLst>
          </p:cNvPr>
          <p:cNvPicPr>
            <a:picLocks noChangeAspect="1"/>
          </p:cNvPicPr>
          <p:nvPr/>
        </p:nvPicPr>
        <p:blipFill>
          <a:blip r:embed="rId3"/>
          <a:stretch>
            <a:fillRect/>
          </a:stretch>
        </p:blipFill>
        <p:spPr>
          <a:xfrm>
            <a:off x="868216" y="923924"/>
            <a:ext cx="10711862" cy="4856342"/>
          </a:xfrm>
          <a:prstGeom prst="rect">
            <a:avLst/>
          </a:prstGeom>
        </p:spPr>
      </p:pic>
      <p:sp>
        <p:nvSpPr>
          <p:cNvPr id="2" name="Marcador de texto vertical 1">
            <a:extLst>
              <a:ext uri="{FF2B5EF4-FFF2-40B4-BE49-F238E27FC236}">
                <a16:creationId xmlns:a16="http://schemas.microsoft.com/office/drawing/2014/main" id="{5A788F04-C24A-5B76-1ED9-E5B9029DFE27}"/>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F8EA00DB-2C1C-4331-F67C-D769E8DD02B9}"/>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p>
        </p:txBody>
      </p:sp>
      <p:sp>
        <p:nvSpPr>
          <p:cNvPr id="6" name="Rectángulo redondeado 5">
            <a:extLst>
              <a:ext uri="{FF2B5EF4-FFF2-40B4-BE49-F238E27FC236}">
                <a16:creationId xmlns:a16="http://schemas.microsoft.com/office/drawing/2014/main" id="{9CC7906D-F926-C106-DEFA-77410E37908B}"/>
              </a:ext>
            </a:extLst>
          </p:cNvPr>
          <p:cNvSpPr/>
          <p:nvPr/>
        </p:nvSpPr>
        <p:spPr>
          <a:xfrm>
            <a:off x="1729016" y="3352094"/>
            <a:ext cx="7368803" cy="12768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Continuando con la configuración de la proyección, se requiere ingresar a GTVSDAX y configurar el registro:</a:t>
            </a:r>
            <a:br>
              <a:rPr lang="es-ES_tradnl" sz="1200" dirty="0"/>
            </a:br>
            <a:r>
              <a:rPr lang="pt-BR" sz="1200" dirty="0"/>
              <a:t>• Código: PRIADJFAC</a:t>
            </a:r>
          </a:p>
          <a:p>
            <a:pPr algn="ctr"/>
            <a:r>
              <a:rPr lang="pt-BR" sz="1200" dirty="0"/>
              <a:t>• Grupo: REGPROJSTRUCT</a:t>
            </a:r>
          </a:p>
          <a:p>
            <a:pPr marL="228600" indent="-228600">
              <a:buFont typeface="+mj-lt"/>
              <a:buAutoNum type="arabicPeriod" startAt="2"/>
            </a:pPr>
            <a:r>
              <a:rPr lang="pt-BR" sz="1200" dirty="0"/>
              <a:t> </a:t>
            </a:r>
            <a:r>
              <a:rPr lang="es-CL" sz="1200" dirty="0"/>
              <a:t>En la ventana emergente, en el campo “Código” ingresar ‘</a:t>
            </a:r>
            <a:r>
              <a:rPr lang="pt-BR" sz="1200" dirty="0"/>
              <a:t>PRIADJFAC</a:t>
            </a:r>
            <a:r>
              <a:rPr lang="es-CL" sz="1200" dirty="0"/>
              <a:t>’ </a:t>
            </a:r>
          </a:p>
          <a:p>
            <a:pPr marL="228600" indent="-228600">
              <a:buFont typeface="+mj-lt"/>
              <a:buAutoNum type="arabicPeriod" startAt="2"/>
            </a:pPr>
            <a:r>
              <a:rPr lang="es-CL" sz="1200" dirty="0"/>
              <a:t>Presionar el botón ‘Ir’.</a:t>
            </a:r>
            <a:r>
              <a:rPr lang="pt-BR" sz="1200" dirty="0"/>
              <a:t> </a:t>
            </a:r>
          </a:p>
        </p:txBody>
      </p:sp>
      <p:sp>
        <p:nvSpPr>
          <p:cNvPr id="9" name="Rectángulo 8">
            <a:extLst>
              <a:ext uri="{FF2B5EF4-FFF2-40B4-BE49-F238E27FC236}">
                <a16:creationId xmlns:a16="http://schemas.microsoft.com/office/drawing/2014/main" id="{9F6A434D-91ED-14C4-967F-B73D952DD209}"/>
              </a:ext>
            </a:extLst>
          </p:cNvPr>
          <p:cNvSpPr/>
          <p:nvPr/>
        </p:nvSpPr>
        <p:spPr>
          <a:xfrm>
            <a:off x="868217" y="1641418"/>
            <a:ext cx="757384" cy="2871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DFC19DE9-7B22-839B-8362-C6924AD003FB}"/>
              </a:ext>
            </a:extLst>
          </p:cNvPr>
          <p:cNvSpPr/>
          <p:nvPr/>
        </p:nvSpPr>
        <p:spPr>
          <a:xfrm>
            <a:off x="1625601" y="194699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1" name="Rectángulo 10">
            <a:extLst>
              <a:ext uri="{FF2B5EF4-FFF2-40B4-BE49-F238E27FC236}">
                <a16:creationId xmlns:a16="http://schemas.microsoft.com/office/drawing/2014/main" id="{790415A3-E017-AD7E-FAA7-34B092D8C6C3}"/>
              </a:ext>
            </a:extLst>
          </p:cNvPr>
          <p:cNvSpPr/>
          <p:nvPr/>
        </p:nvSpPr>
        <p:spPr>
          <a:xfrm>
            <a:off x="11361352" y="1973749"/>
            <a:ext cx="220588" cy="23184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F8381DEB-9EEF-C1D2-40E9-19856961E06F}"/>
              </a:ext>
            </a:extLst>
          </p:cNvPr>
          <p:cNvSpPr/>
          <p:nvPr/>
        </p:nvSpPr>
        <p:spPr>
          <a:xfrm>
            <a:off x="11060552" y="182247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3639129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5F0C9-CEAA-2A73-661E-F39E649FA3AC}"/>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4DEC08A6-0977-3793-380C-DDE514C89241}"/>
              </a:ext>
            </a:extLst>
          </p:cNvPr>
          <p:cNvPicPr>
            <a:picLocks noChangeAspect="1"/>
          </p:cNvPicPr>
          <p:nvPr/>
        </p:nvPicPr>
        <p:blipFill>
          <a:blip r:embed="rId3"/>
          <a:stretch>
            <a:fillRect/>
          </a:stretch>
        </p:blipFill>
        <p:spPr>
          <a:xfrm>
            <a:off x="868216" y="834154"/>
            <a:ext cx="10676156" cy="4867971"/>
          </a:xfrm>
          <a:prstGeom prst="rect">
            <a:avLst/>
          </a:prstGeom>
        </p:spPr>
      </p:pic>
      <p:sp>
        <p:nvSpPr>
          <p:cNvPr id="2" name="Marcador de texto vertical 1">
            <a:extLst>
              <a:ext uri="{FF2B5EF4-FFF2-40B4-BE49-F238E27FC236}">
                <a16:creationId xmlns:a16="http://schemas.microsoft.com/office/drawing/2014/main" id="{1A086018-0DDA-951D-919E-8E95021FFA29}"/>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6DFC34EC-A5B3-BD7E-95FD-258D2A074316}"/>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p>
        </p:txBody>
      </p:sp>
      <p:sp>
        <p:nvSpPr>
          <p:cNvPr id="6" name="Rectángulo redondeado 5">
            <a:extLst>
              <a:ext uri="{FF2B5EF4-FFF2-40B4-BE49-F238E27FC236}">
                <a16:creationId xmlns:a16="http://schemas.microsoft.com/office/drawing/2014/main" id="{4EAC2CA2-C84E-FA40-7C58-1EBE7CE530DB}"/>
              </a:ext>
            </a:extLst>
          </p:cNvPr>
          <p:cNvSpPr/>
          <p:nvPr/>
        </p:nvSpPr>
        <p:spPr>
          <a:xfrm>
            <a:off x="1729016" y="3352094"/>
            <a:ext cx="7368803" cy="12768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Realizada la acción anterior, se requiere establecer el valor del campo ‘Código Externo’. Este valor, tradicionalmente es definido en función a las unidades de prioridades definidas en la configuración de áreas (SMAPROG) lo que en la mayoría de los casos es </a:t>
            </a:r>
            <a:r>
              <a:rPr lang="es-ES_tradnl" sz="1200" b="1" dirty="0"/>
              <a:t>10</a:t>
            </a:r>
            <a:r>
              <a:rPr lang="es-ES_tradnl" sz="1200" dirty="0"/>
              <a:t>, pudiendo ser incluso diferenciación de prioridades de 1.</a:t>
            </a:r>
          </a:p>
          <a:p>
            <a:pPr marL="228600" indent="-228600">
              <a:buFont typeface="+mj-lt"/>
              <a:buAutoNum type="arabicPeriod" startAt="4"/>
            </a:pPr>
            <a:r>
              <a:rPr lang="es-ES_tradnl" sz="1200" dirty="0"/>
              <a:t>Si ingresó información, guarde.</a:t>
            </a:r>
            <a:endParaRPr lang="pt-BR" sz="1200" dirty="0"/>
          </a:p>
        </p:txBody>
      </p:sp>
      <p:sp>
        <p:nvSpPr>
          <p:cNvPr id="9" name="Rectángulo 8">
            <a:extLst>
              <a:ext uri="{FF2B5EF4-FFF2-40B4-BE49-F238E27FC236}">
                <a16:creationId xmlns:a16="http://schemas.microsoft.com/office/drawing/2014/main" id="{E4F223F9-A590-5B6F-171E-4D1BEB05411A}"/>
              </a:ext>
            </a:extLst>
          </p:cNvPr>
          <p:cNvSpPr/>
          <p:nvPr/>
        </p:nvSpPr>
        <p:spPr>
          <a:xfrm>
            <a:off x="1062181" y="2038516"/>
            <a:ext cx="1366983" cy="24036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7CDD5B0-6F76-74CB-C220-7C8DA10A8807}"/>
              </a:ext>
            </a:extLst>
          </p:cNvPr>
          <p:cNvSpPr/>
          <p:nvPr/>
        </p:nvSpPr>
        <p:spPr>
          <a:xfrm>
            <a:off x="2493994" y="197658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Rectángulo 10">
            <a:extLst>
              <a:ext uri="{FF2B5EF4-FFF2-40B4-BE49-F238E27FC236}">
                <a16:creationId xmlns:a16="http://schemas.microsoft.com/office/drawing/2014/main" id="{30D5D84F-7161-58A5-D366-B5B1962BB13B}"/>
              </a:ext>
            </a:extLst>
          </p:cNvPr>
          <p:cNvSpPr/>
          <p:nvPr/>
        </p:nvSpPr>
        <p:spPr>
          <a:xfrm>
            <a:off x="11075834" y="5384800"/>
            <a:ext cx="487010" cy="2309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4CBDD3AE-2132-C3D0-C558-DBECD70D75E9}"/>
              </a:ext>
            </a:extLst>
          </p:cNvPr>
          <p:cNvSpPr/>
          <p:nvPr/>
        </p:nvSpPr>
        <p:spPr>
          <a:xfrm>
            <a:off x="10794130" y="522146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1116636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5F0C-EF30-CB8F-5D8C-F0C4A2F0CAF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A925F3D-B6F7-7C1C-3E22-20343D10856F}"/>
              </a:ext>
            </a:extLst>
          </p:cNvPr>
          <p:cNvSpPr>
            <a:spLocks noGrp="1"/>
          </p:cNvSpPr>
          <p:nvPr>
            <p:ph type="body" sz="quarter" idx="10"/>
          </p:nvPr>
        </p:nvSpPr>
        <p:spPr/>
        <p:txBody>
          <a:bodyPr/>
          <a:lstStyle/>
          <a:p>
            <a:r>
              <a:rPr lang="es-419" dirty="0"/>
              <a:t>Configuración de proyección por programa</a:t>
            </a:r>
          </a:p>
        </p:txBody>
      </p:sp>
      <p:sp>
        <p:nvSpPr>
          <p:cNvPr id="2" name="Marcador de texto vertical 1">
            <a:extLst>
              <a:ext uri="{FF2B5EF4-FFF2-40B4-BE49-F238E27FC236}">
                <a16:creationId xmlns:a16="http://schemas.microsoft.com/office/drawing/2014/main" id="{C7F17132-021D-D672-8F6B-D04688E34B53}"/>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1664302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871D9-5FEC-8145-79DA-9AE942BC72A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112C63F-8148-208D-9465-002035383508}"/>
              </a:ext>
            </a:extLst>
          </p:cNvPr>
          <p:cNvPicPr>
            <a:picLocks noChangeAspect="1"/>
          </p:cNvPicPr>
          <p:nvPr/>
        </p:nvPicPr>
        <p:blipFill>
          <a:blip r:embed="rId3"/>
          <a:stretch>
            <a:fillRect/>
          </a:stretch>
        </p:blipFill>
        <p:spPr>
          <a:xfrm>
            <a:off x="775507" y="1184152"/>
            <a:ext cx="11212903" cy="1599323"/>
          </a:xfrm>
          <a:prstGeom prst="rect">
            <a:avLst/>
          </a:prstGeom>
        </p:spPr>
      </p:pic>
      <p:sp>
        <p:nvSpPr>
          <p:cNvPr id="2" name="Marcador de texto vertical 1">
            <a:extLst>
              <a:ext uri="{FF2B5EF4-FFF2-40B4-BE49-F238E27FC236}">
                <a16:creationId xmlns:a16="http://schemas.microsoft.com/office/drawing/2014/main" id="{F4029B50-99EB-2FBF-9D9E-BC368C3F70B4}"/>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1AEABC57-36F4-A1AF-FFE8-3C00A2B1E9DA}"/>
              </a:ext>
            </a:extLst>
          </p:cNvPr>
          <p:cNvSpPr>
            <a:spLocks noGrp="1"/>
          </p:cNvSpPr>
          <p:nvPr>
            <p:ph type="title"/>
          </p:nvPr>
        </p:nvSpPr>
        <p:spPr>
          <a:xfrm>
            <a:off x="938996" y="304614"/>
            <a:ext cx="10477497" cy="898555"/>
          </a:xfrm>
        </p:spPr>
        <p:txBody>
          <a:bodyPr/>
          <a:lstStyle/>
          <a:p>
            <a:r>
              <a:rPr lang="es-419" dirty="0">
                <a:solidFill>
                  <a:schemeClr val="tx2"/>
                </a:solidFill>
              </a:rPr>
              <a:t>Configuración de proyección por programa (</a:t>
            </a:r>
            <a:r>
              <a:rPr lang="es-ES_tradnl" dirty="0">
                <a:solidFill>
                  <a:schemeClr val="tx2"/>
                </a:solidFill>
              </a:rPr>
              <a:t>SFALPRO)</a:t>
            </a:r>
            <a:br>
              <a:rPr lang="es-419" b="0" dirty="0">
                <a:effectLst/>
              </a:rPr>
            </a:br>
            <a:endParaRPr lang="es-ES_tradnl" b="1" dirty="0"/>
          </a:p>
        </p:txBody>
      </p:sp>
      <p:sp>
        <p:nvSpPr>
          <p:cNvPr id="10" name="Rectángulo: esquinas redondeadas 9">
            <a:extLst>
              <a:ext uri="{FF2B5EF4-FFF2-40B4-BE49-F238E27FC236}">
                <a16:creationId xmlns:a16="http://schemas.microsoft.com/office/drawing/2014/main" id="{DFC17A70-01E3-A494-A9AD-E2D3F6CB01EC}"/>
              </a:ext>
            </a:extLst>
          </p:cNvPr>
          <p:cNvSpPr/>
          <p:nvPr/>
        </p:nvSpPr>
        <p:spPr>
          <a:xfrm>
            <a:off x="2178601" y="3567534"/>
            <a:ext cx="6717737" cy="109850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la página SFALPROJ, para cada programa de estudios, se debe realizar la configuración que determina la cantidad de áreas a proyectar, para ello:</a:t>
            </a:r>
          </a:p>
          <a:p>
            <a:pPr marL="228600" indent="-228600">
              <a:buFont typeface="+mj-lt"/>
              <a:buAutoNum type="arabicPeriod"/>
            </a:pPr>
            <a:r>
              <a:rPr lang="es-ES_tradnl" sz="1200" dirty="0"/>
              <a:t>Ingrese o seleccione el código del programa a configurar.</a:t>
            </a:r>
          </a:p>
          <a:p>
            <a:pPr marL="228600" indent="-228600">
              <a:buFont typeface="+mj-lt"/>
              <a:buAutoNum type="arabicPeriod"/>
            </a:pPr>
            <a:r>
              <a:rPr lang="es-ES_tradnl" sz="1200" dirty="0"/>
              <a:t>Presione el botón Ir</a:t>
            </a:r>
            <a:r>
              <a:rPr lang="es-CO" sz="1200" dirty="0"/>
              <a:t>.</a:t>
            </a:r>
            <a:endParaRPr lang="es-ES_tradnl" sz="1200" dirty="0"/>
          </a:p>
        </p:txBody>
      </p:sp>
      <p:sp>
        <p:nvSpPr>
          <p:cNvPr id="11" name="Rectángulo 10">
            <a:extLst>
              <a:ext uri="{FF2B5EF4-FFF2-40B4-BE49-F238E27FC236}">
                <a16:creationId xmlns:a16="http://schemas.microsoft.com/office/drawing/2014/main" id="{935C0766-5A49-1E21-623F-6159575E52A6}"/>
              </a:ext>
            </a:extLst>
          </p:cNvPr>
          <p:cNvSpPr/>
          <p:nvPr/>
        </p:nvSpPr>
        <p:spPr>
          <a:xfrm>
            <a:off x="2178551" y="1796719"/>
            <a:ext cx="1554774" cy="1740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708F5AEE-99B9-8FD6-749D-ECAAC4262E42}"/>
              </a:ext>
            </a:extLst>
          </p:cNvPr>
          <p:cNvSpPr/>
          <p:nvPr/>
        </p:nvSpPr>
        <p:spPr>
          <a:xfrm>
            <a:off x="3733325" y="200250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4" name="Rectángulo 13">
            <a:extLst>
              <a:ext uri="{FF2B5EF4-FFF2-40B4-BE49-F238E27FC236}">
                <a16:creationId xmlns:a16="http://schemas.microsoft.com/office/drawing/2014/main" id="{53D91EE5-DFA1-2487-2911-2B283949EFF3}"/>
              </a:ext>
            </a:extLst>
          </p:cNvPr>
          <p:cNvSpPr/>
          <p:nvPr/>
        </p:nvSpPr>
        <p:spPr>
          <a:xfrm>
            <a:off x="11538827" y="1796719"/>
            <a:ext cx="338094"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0FBE96E-C00A-DBDA-8F30-18F3418EE8AF}"/>
              </a:ext>
            </a:extLst>
          </p:cNvPr>
          <p:cNvSpPr/>
          <p:nvPr/>
        </p:nvSpPr>
        <p:spPr>
          <a:xfrm>
            <a:off x="10992863" y="197077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1850955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8D0D8-4C5C-17A1-9346-33ECDACAF345}"/>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987084B-D8D6-12B0-6731-FF803A2D6018}"/>
              </a:ext>
            </a:extLst>
          </p:cNvPr>
          <p:cNvPicPr>
            <a:picLocks noChangeAspect="1"/>
          </p:cNvPicPr>
          <p:nvPr/>
        </p:nvPicPr>
        <p:blipFill>
          <a:blip r:embed="rId3"/>
          <a:stretch>
            <a:fillRect/>
          </a:stretch>
        </p:blipFill>
        <p:spPr>
          <a:xfrm>
            <a:off x="775507" y="910101"/>
            <a:ext cx="11174580" cy="4755639"/>
          </a:xfrm>
          <a:prstGeom prst="rect">
            <a:avLst/>
          </a:prstGeom>
        </p:spPr>
      </p:pic>
      <p:sp>
        <p:nvSpPr>
          <p:cNvPr id="2" name="Marcador de texto vertical 1">
            <a:extLst>
              <a:ext uri="{FF2B5EF4-FFF2-40B4-BE49-F238E27FC236}">
                <a16:creationId xmlns:a16="http://schemas.microsoft.com/office/drawing/2014/main" id="{8982FDE0-A1EF-B35F-E41A-DC372F04D24D}"/>
              </a:ext>
            </a:extLst>
          </p:cNvPr>
          <p:cNvSpPr>
            <a:spLocks noGrp="1"/>
          </p:cNvSpPr>
          <p:nvPr>
            <p:ph type="body" orient="vert" sz="quarter" idx="17"/>
          </p:nvPr>
        </p:nvSpPr>
        <p:spPr>
          <a:xfrm rot="10800000">
            <a:off x="64682" y="1520175"/>
            <a:ext cx="609600" cy="4720114"/>
          </a:xfrm>
        </p:spPr>
        <p:txBody>
          <a:bodyPr/>
          <a:lstStyle/>
          <a:p>
            <a:r>
              <a:rPr lang="es-419" sz="1200" dirty="0"/>
              <a:t>Proyección Académica</a:t>
            </a:r>
          </a:p>
        </p:txBody>
      </p:sp>
      <p:sp>
        <p:nvSpPr>
          <p:cNvPr id="13" name="Title 12">
            <a:extLst>
              <a:ext uri="{FF2B5EF4-FFF2-40B4-BE49-F238E27FC236}">
                <a16:creationId xmlns:a16="http://schemas.microsoft.com/office/drawing/2014/main" id="{C55B9A28-4FC8-B0FE-F6E6-5FD385842E75}"/>
              </a:ext>
            </a:extLst>
          </p:cNvPr>
          <p:cNvSpPr>
            <a:spLocks noGrp="1"/>
          </p:cNvSpPr>
          <p:nvPr>
            <p:ph type="title"/>
          </p:nvPr>
        </p:nvSpPr>
        <p:spPr>
          <a:xfrm>
            <a:off x="938996" y="304614"/>
            <a:ext cx="10477497" cy="898555"/>
          </a:xfrm>
        </p:spPr>
        <p:txBody>
          <a:bodyPr/>
          <a:lstStyle/>
          <a:p>
            <a:r>
              <a:rPr lang="es-419" dirty="0">
                <a:solidFill>
                  <a:schemeClr val="tx2"/>
                </a:solidFill>
              </a:rPr>
              <a:t>Configuración de proyección por programa (</a:t>
            </a:r>
            <a:r>
              <a:rPr lang="es-ES_tradnl" dirty="0">
                <a:solidFill>
                  <a:schemeClr val="tx2"/>
                </a:solidFill>
              </a:rPr>
              <a:t>SFALPRO)</a:t>
            </a:r>
            <a:br>
              <a:rPr lang="es-419" b="0" dirty="0">
                <a:effectLst/>
              </a:rPr>
            </a:br>
            <a:endParaRPr lang="es-ES_tradnl" b="1" dirty="0"/>
          </a:p>
        </p:txBody>
      </p:sp>
      <p:sp>
        <p:nvSpPr>
          <p:cNvPr id="10" name="Rectángulo: esquinas redondeadas 9">
            <a:extLst>
              <a:ext uri="{FF2B5EF4-FFF2-40B4-BE49-F238E27FC236}">
                <a16:creationId xmlns:a16="http://schemas.microsoft.com/office/drawing/2014/main" id="{02F751CE-C2FC-B354-7710-CD3341CBB175}"/>
              </a:ext>
            </a:extLst>
          </p:cNvPr>
          <p:cNvSpPr/>
          <p:nvPr/>
        </p:nvSpPr>
        <p:spPr>
          <a:xfrm>
            <a:off x="2178601" y="3567533"/>
            <a:ext cx="7889035" cy="164177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Ingrese el número máximo de áreas que un estudiante podría tener proyectadas en función a el área más pequeña que aún no tenga cumplida en su totalidad. </a:t>
            </a:r>
          </a:p>
          <a:p>
            <a:pPr marL="228600" indent="-228600">
              <a:buFont typeface="+mj-lt"/>
              <a:buAutoNum type="arabicPeriod" startAt="3"/>
            </a:pPr>
            <a:r>
              <a:rPr lang="es-CO" sz="1200" dirty="0"/>
              <a:t>Ingrese </a:t>
            </a:r>
            <a:r>
              <a:rPr lang="es-ES_tradnl" sz="1200" dirty="0"/>
              <a:t>el número máximo de créditos que podrán ser proyectadas por estudiante. Se puede definir el valor de  ‘999’ y controlar los créditos máximos definidos en SFAMHRS.</a:t>
            </a:r>
          </a:p>
          <a:p>
            <a:pPr marL="228600" indent="-228600">
              <a:buFont typeface="+mj-lt"/>
              <a:buAutoNum type="arabicPeriod" startAt="3"/>
            </a:pPr>
            <a:r>
              <a:rPr lang="es-CO" sz="1200" dirty="0"/>
              <a:t>Número máximo de áreas que pueden incluirse en la proyección de área, según la prioridad del área, como límite para una clase de estudiantes</a:t>
            </a:r>
            <a:r>
              <a:rPr lang="es-ES_tradnl" sz="1200" dirty="0"/>
              <a:t>. Se puede ingresar el valor 999</a:t>
            </a:r>
          </a:p>
          <a:p>
            <a:pPr marL="228600" indent="-228600">
              <a:buFont typeface="+mj-lt"/>
              <a:buAutoNum type="arabicPeriod" startAt="3"/>
            </a:pPr>
            <a:r>
              <a:rPr lang="es-ES_tradnl" sz="1200" dirty="0"/>
              <a:t>Guarde la información</a:t>
            </a:r>
          </a:p>
        </p:txBody>
      </p:sp>
      <p:sp>
        <p:nvSpPr>
          <p:cNvPr id="11" name="Rectángulo 10">
            <a:extLst>
              <a:ext uri="{FF2B5EF4-FFF2-40B4-BE49-F238E27FC236}">
                <a16:creationId xmlns:a16="http://schemas.microsoft.com/office/drawing/2014/main" id="{B3248E61-DE23-6C12-DD53-9496AFF348CD}"/>
              </a:ext>
            </a:extLst>
          </p:cNvPr>
          <p:cNvSpPr/>
          <p:nvPr/>
        </p:nvSpPr>
        <p:spPr>
          <a:xfrm>
            <a:off x="2227949" y="2157015"/>
            <a:ext cx="1674952" cy="326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CD189F50-134A-7CBF-A2F7-76989CA12328}"/>
              </a:ext>
            </a:extLst>
          </p:cNvPr>
          <p:cNvSpPr/>
          <p:nvPr/>
        </p:nvSpPr>
        <p:spPr>
          <a:xfrm>
            <a:off x="4004126" y="207660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4" name="Rectángulo 13">
            <a:extLst>
              <a:ext uri="{FF2B5EF4-FFF2-40B4-BE49-F238E27FC236}">
                <a16:creationId xmlns:a16="http://schemas.microsoft.com/office/drawing/2014/main" id="{9842ACE3-1589-83F6-11CF-C1187F979D92}"/>
              </a:ext>
            </a:extLst>
          </p:cNvPr>
          <p:cNvSpPr/>
          <p:nvPr/>
        </p:nvSpPr>
        <p:spPr>
          <a:xfrm>
            <a:off x="11182963" y="5243969"/>
            <a:ext cx="767123" cy="28556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BC693DA0-F4BF-456E-8691-605D1E6EA57E}"/>
              </a:ext>
            </a:extLst>
          </p:cNvPr>
          <p:cNvSpPr/>
          <p:nvPr/>
        </p:nvSpPr>
        <p:spPr>
          <a:xfrm>
            <a:off x="10648602" y="530634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5" name="Rectángulo 4">
            <a:extLst>
              <a:ext uri="{FF2B5EF4-FFF2-40B4-BE49-F238E27FC236}">
                <a16:creationId xmlns:a16="http://schemas.microsoft.com/office/drawing/2014/main" id="{E52277C4-C422-511C-D3F8-BED0A2CE7F10}"/>
              </a:ext>
            </a:extLst>
          </p:cNvPr>
          <p:cNvSpPr/>
          <p:nvPr/>
        </p:nvSpPr>
        <p:spPr>
          <a:xfrm>
            <a:off x="2227949" y="2840295"/>
            <a:ext cx="1665586" cy="326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16B5C2D9-5AEA-C804-B8AC-2900238C0828}"/>
              </a:ext>
            </a:extLst>
          </p:cNvPr>
          <p:cNvSpPr/>
          <p:nvPr/>
        </p:nvSpPr>
        <p:spPr>
          <a:xfrm>
            <a:off x="4004126" y="296676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7" name="Rectángulo 6">
            <a:extLst>
              <a:ext uri="{FF2B5EF4-FFF2-40B4-BE49-F238E27FC236}">
                <a16:creationId xmlns:a16="http://schemas.microsoft.com/office/drawing/2014/main" id="{A5445E20-BEB1-CD93-CF84-0C24B7617056}"/>
              </a:ext>
            </a:extLst>
          </p:cNvPr>
          <p:cNvSpPr/>
          <p:nvPr/>
        </p:nvSpPr>
        <p:spPr>
          <a:xfrm>
            <a:off x="7754739" y="2157015"/>
            <a:ext cx="1389261" cy="29027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45997CC1-682A-01BE-77C5-7010A6FC68B6}"/>
              </a:ext>
            </a:extLst>
          </p:cNvPr>
          <p:cNvSpPr/>
          <p:nvPr/>
        </p:nvSpPr>
        <p:spPr>
          <a:xfrm>
            <a:off x="9245224" y="220667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2094495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Proyección Académica</a:t>
            </a:r>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dirty="0"/>
              <a:t>Proyección Académica</a:t>
            </a: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a:xfrm>
            <a:off x="962494" y="3577587"/>
            <a:ext cx="7092820" cy="774441"/>
          </a:xfrm>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B2CBCDE2-5351-5758-6707-0E16EA55598F}"/>
              </a:ext>
            </a:extLst>
          </p:cNvPr>
          <p:cNvSpPr>
            <a:spLocks noGrp="1"/>
          </p:cNvSpPr>
          <p:nvPr>
            <p:ph type="body" sz="quarter" idx="10"/>
          </p:nvPr>
        </p:nvSpPr>
        <p:spPr>
          <a:xfrm>
            <a:off x="914399" y="2238843"/>
            <a:ext cx="10363202" cy="669094"/>
          </a:xfrm>
        </p:spPr>
        <p:txBody>
          <a:bodyPr/>
          <a:lstStyle/>
          <a:p>
            <a:r>
              <a:rPr lang="es-CL" dirty="0"/>
              <a:t>Ejecución de la Proyección</a:t>
            </a:r>
            <a:endParaRPr lang="es-419" dirty="0"/>
          </a:p>
        </p:txBody>
      </p:sp>
      <p:sp>
        <p:nvSpPr>
          <p:cNvPr id="2" name="Marcador de texto vertical 1">
            <a:extLst>
              <a:ext uri="{FF2B5EF4-FFF2-40B4-BE49-F238E27FC236}">
                <a16:creationId xmlns:a16="http://schemas.microsoft.com/office/drawing/2014/main" id="{43D9C6C6-B470-AF17-38D1-4280F6AD91E5}"/>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1849218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1F56F-8224-B0AA-7002-795F0C6C9491}"/>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2788C944-F9EB-7E7D-1D59-6D9C866C2EFF}"/>
              </a:ext>
            </a:extLst>
          </p:cNvPr>
          <p:cNvPicPr>
            <a:picLocks noChangeAspect="1"/>
          </p:cNvPicPr>
          <p:nvPr/>
        </p:nvPicPr>
        <p:blipFill>
          <a:blip r:embed="rId3"/>
          <a:stretch>
            <a:fillRect/>
          </a:stretch>
        </p:blipFill>
        <p:spPr>
          <a:xfrm>
            <a:off x="921545" y="1287231"/>
            <a:ext cx="10697800" cy="998387"/>
          </a:xfrm>
          <a:prstGeom prst="rect">
            <a:avLst/>
          </a:prstGeom>
        </p:spPr>
      </p:pic>
      <p:sp>
        <p:nvSpPr>
          <p:cNvPr id="2" name="Marcador de texto vertical 1">
            <a:extLst>
              <a:ext uri="{FF2B5EF4-FFF2-40B4-BE49-F238E27FC236}">
                <a16:creationId xmlns:a16="http://schemas.microsoft.com/office/drawing/2014/main" id="{4474E60D-92BE-1154-E78B-74E58F674594}"/>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C17A1E13-DE67-FC18-E12F-21E5F58154CB}"/>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br>
              <a:rPr lang="es-419" b="0" dirty="0">
                <a:effectLst/>
              </a:rPr>
            </a:br>
            <a:endParaRPr lang="es-ES_tradnl" b="1" dirty="0"/>
          </a:p>
        </p:txBody>
      </p:sp>
      <p:sp>
        <p:nvSpPr>
          <p:cNvPr id="11" name="Rectángulo 10">
            <a:extLst>
              <a:ext uri="{FF2B5EF4-FFF2-40B4-BE49-F238E27FC236}">
                <a16:creationId xmlns:a16="http://schemas.microsoft.com/office/drawing/2014/main" id="{AE5B5292-4A7F-CCCA-146A-CD22D0FBEC04}"/>
              </a:ext>
            </a:extLst>
          </p:cNvPr>
          <p:cNvSpPr/>
          <p:nvPr/>
        </p:nvSpPr>
        <p:spPr>
          <a:xfrm>
            <a:off x="1290030" y="1568167"/>
            <a:ext cx="1554774" cy="1740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74B24C3A-2CE6-2A1C-07E6-EE1049860D6D}"/>
              </a:ext>
            </a:extLst>
          </p:cNvPr>
          <p:cNvSpPr/>
          <p:nvPr/>
        </p:nvSpPr>
        <p:spPr>
          <a:xfrm>
            <a:off x="11262779" y="1568167"/>
            <a:ext cx="338094"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esquinas redondeadas 2">
            <a:extLst>
              <a:ext uri="{FF2B5EF4-FFF2-40B4-BE49-F238E27FC236}">
                <a16:creationId xmlns:a16="http://schemas.microsoft.com/office/drawing/2014/main" id="{17CB10C6-2447-64A3-892E-8C7F8730BD31}"/>
              </a:ext>
            </a:extLst>
          </p:cNvPr>
          <p:cNvSpPr/>
          <p:nvPr/>
        </p:nvSpPr>
        <p:spPr>
          <a:xfrm>
            <a:off x="2658892" y="3112852"/>
            <a:ext cx="6717737" cy="63229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Ingrese al proceso SFPPROJ desde la página GJAPCTL.</a:t>
            </a:r>
          </a:p>
          <a:p>
            <a:pPr marL="228600" indent="-228600">
              <a:buFont typeface="+mj-lt"/>
              <a:buAutoNum type="arabicPeriod"/>
            </a:pPr>
            <a:r>
              <a:rPr lang="es-ES_tradnl" sz="1200" dirty="0"/>
              <a:t>Presione el botón Ir</a:t>
            </a:r>
            <a:r>
              <a:rPr lang="es-CO" sz="1200" dirty="0"/>
              <a:t>.</a:t>
            </a:r>
            <a:endParaRPr lang="es-ES_tradnl" sz="1200" dirty="0"/>
          </a:p>
        </p:txBody>
      </p:sp>
      <p:sp>
        <p:nvSpPr>
          <p:cNvPr id="5" name="Rectángulo redondeado 15">
            <a:extLst>
              <a:ext uri="{FF2B5EF4-FFF2-40B4-BE49-F238E27FC236}">
                <a16:creationId xmlns:a16="http://schemas.microsoft.com/office/drawing/2014/main" id="{8D5FCB5C-B0B4-D40C-BA29-83171CABF9BE}"/>
              </a:ext>
            </a:extLst>
          </p:cNvPr>
          <p:cNvSpPr/>
          <p:nvPr/>
        </p:nvSpPr>
        <p:spPr>
          <a:xfrm>
            <a:off x="2844804" y="179721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7" name="Rectángulo redondeado 15">
            <a:extLst>
              <a:ext uri="{FF2B5EF4-FFF2-40B4-BE49-F238E27FC236}">
                <a16:creationId xmlns:a16="http://schemas.microsoft.com/office/drawing/2014/main" id="{2BC90525-546F-9C53-9262-BC6F6687C0B5}"/>
              </a:ext>
            </a:extLst>
          </p:cNvPr>
          <p:cNvSpPr/>
          <p:nvPr/>
        </p:nvSpPr>
        <p:spPr>
          <a:xfrm>
            <a:off x="10795035" y="1378599"/>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3156090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7FA3-5EE7-9696-AFA4-2F92CE5D1A8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B0111184-C06D-2BCD-4B07-D69A8DBBA099}"/>
              </a:ext>
            </a:extLst>
          </p:cNvPr>
          <p:cNvPicPr>
            <a:picLocks noChangeAspect="1"/>
          </p:cNvPicPr>
          <p:nvPr/>
        </p:nvPicPr>
        <p:blipFill>
          <a:blip r:embed="rId3"/>
          <a:stretch>
            <a:fillRect/>
          </a:stretch>
        </p:blipFill>
        <p:spPr>
          <a:xfrm>
            <a:off x="938996" y="1066793"/>
            <a:ext cx="10697800" cy="4874805"/>
          </a:xfrm>
          <a:prstGeom prst="rect">
            <a:avLst/>
          </a:prstGeom>
        </p:spPr>
      </p:pic>
      <p:sp>
        <p:nvSpPr>
          <p:cNvPr id="2" name="Marcador de texto vertical 1">
            <a:extLst>
              <a:ext uri="{FF2B5EF4-FFF2-40B4-BE49-F238E27FC236}">
                <a16:creationId xmlns:a16="http://schemas.microsoft.com/office/drawing/2014/main" id="{EDB54712-6FE9-5D8C-8A40-CA59D13CA5E0}"/>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1027A400-FB31-EECE-69A7-66C02C274801}"/>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br>
              <a:rPr lang="es-419" b="0" dirty="0">
                <a:effectLst/>
              </a:rPr>
            </a:br>
            <a:endParaRPr lang="es-ES_tradnl" b="1" dirty="0"/>
          </a:p>
        </p:txBody>
      </p:sp>
      <p:sp>
        <p:nvSpPr>
          <p:cNvPr id="11" name="Rectángulo 10">
            <a:extLst>
              <a:ext uri="{FF2B5EF4-FFF2-40B4-BE49-F238E27FC236}">
                <a16:creationId xmlns:a16="http://schemas.microsoft.com/office/drawing/2014/main" id="{6831ABA2-4EAC-DFD2-49D4-03FA620CF079}"/>
              </a:ext>
            </a:extLst>
          </p:cNvPr>
          <p:cNvSpPr/>
          <p:nvPr/>
        </p:nvSpPr>
        <p:spPr>
          <a:xfrm>
            <a:off x="1290030" y="1710185"/>
            <a:ext cx="1804152"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E789AAE4-4E59-CD00-81D2-A37B5274AFD7}"/>
              </a:ext>
            </a:extLst>
          </p:cNvPr>
          <p:cNvSpPr/>
          <p:nvPr/>
        </p:nvSpPr>
        <p:spPr>
          <a:xfrm>
            <a:off x="1216142" y="5638766"/>
            <a:ext cx="338094"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7F10510C-BA02-C304-CA10-53B98F67882A}"/>
              </a:ext>
            </a:extLst>
          </p:cNvPr>
          <p:cNvSpPr/>
          <p:nvPr/>
        </p:nvSpPr>
        <p:spPr>
          <a:xfrm>
            <a:off x="3094182" y="188494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7" name="Rectángulo redondeado 15">
            <a:extLst>
              <a:ext uri="{FF2B5EF4-FFF2-40B4-BE49-F238E27FC236}">
                <a16:creationId xmlns:a16="http://schemas.microsoft.com/office/drawing/2014/main" id="{A38095A3-5285-1C91-4E17-3C17975E4040}"/>
              </a:ext>
            </a:extLst>
          </p:cNvPr>
          <p:cNvSpPr/>
          <p:nvPr/>
        </p:nvSpPr>
        <p:spPr>
          <a:xfrm>
            <a:off x="1667062" y="5558358"/>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8" name="Rectángulo: esquinas redondeadas 7">
            <a:extLst>
              <a:ext uri="{FF2B5EF4-FFF2-40B4-BE49-F238E27FC236}">
                <a16:creationId xmlns:a16="http://schemas.microsoft.com/office/drawing/2014/main" id="{810FFADF-D25F-77B5-1469-DC67C88DB622}"/>
              </a:ext>
            </a:extLst>
          </p:cNvPr>
          <p:cNvSpPr/>
          <p:nvPr/>
        </p:nvSpPr>
        <p:spPr>
          <a:xfrm>
            <a:off x="3779986" y="4058727"/>
            <a:ext cx="4795515" cy="8290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Defina la impresora como DATABASE</a:t>
            </a:r>
          </a:p>
          <a:p>
            <a:pPr marL="228600" indent="-228600">
              <a:buFont typeface="+mj-lt"/>
              <a:buAutoNum type="arabicPeriod" startAt="3"/>
            </a:pPr>
            <a:r>
              <a:rPr lang="es-ES_tradnl" sz="1200" dirty="0"/>
              <a:t>Pase al siguiente bloque.</a:t>
            </a:r>
          </a:p>
        </p:txBody>
      </p:sp>
    </p:spTree>
    <p:extLst>
      <p:ext uri="{BB962C8B-B14F-4D97-AF65-F5344CB8AC3E}">
        <p14:creationId xmlns:p14="http://schemas.microsoft.com/office/powerpoint/2010/main" val="3351775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2930-A171-F11C-45C8-0D668F32FA2E}"/>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C5C8CDA-6623-1E98-2A74-35D9D6DEF0ED}"/>
              </a:ext>
            </a:extLst>
          </p:cNvPr>
          <p:cNvPicPr>
            <a:picLocks noChangeAspect="1"/>
          </p:cNvPicPr>
          <p:nvPr/>
        </p:nvPicPr>
        <p:blipFill>
          <a:blip r:embed="rId3"/>
          <a:stretch>
            <a:fillRect/>
          </a:stretch>
        </p:blipFill>
        <p:spPr>
          <a:xfrm>
            <a:off x="938996" y="1066793"/>
            <a:ext cx="10697800" cy="4874805"/>
          </a:xfrm>
          <a:prstGeom prst="rect">
            <a:avLst/>
          </a:prstGeom>
        </p:spPr>
      </p:pic>
      <p:sp>
        <p:nvSpPr>
          <p:cNvPr id="2" name="Marcador de texto vertical 1">
            <a:extLst>
              <a:ext uri="{FF2B5EF4-FFF2-40B4-BE49-F238E27FC236}">
                <a16:creationId xmlns:a16="http://schemas.microsoft.com/office/drawing/2014/main" id="{782697C2-73C9-D8D4-AD30-0EB1CE681EDD}"/>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D49F6B48-62B5-8F71-D382-36A69DB31E2D}"/>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br>
              <a:rPr lang="es-419" b="0" dirty="0">
                <a:effectLst/>
              </a:rPr>
            </a:br>
            <a:endParaRPr lang="es-ES_tradnl" b="1" dirty="0"/>
          </a:p>
        </p:txBody>
      </p:sp>
      <p:sp>
        <p:nvSpPr>
          <p:cNvPr id="3" name="Rectángulo: esquinas redondeadas 2">
            <a:extLst>
              <a:ext uri="{FF2B5EF4-FFF2-40B4-BE49-F238E27FC236}">
                <a16:creationId xmlns:a16="http://schemas.microsoft.com/office/drawing/2014/main" id="{B95C0F99-4944-7167-DDC4-7EF07CF0F37E}"/>
              </a:ext>
            </a:extLst>
          </p:cNvPr>
          <p:cNvSpPr/>
          <p:nvPr/>
        </p:nvSpPr>
        <p:spPr>
          <a:xfrm>
            <a:off x="2011684" y="5130276"/>
            <a:ext cx="7629865" cy="87819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CO" sz="1200" dirty="0"/>
              <a:t>Ingrese los parámetros del proceso, según la tabla que se presenta en la siguiente diapositiva. </a:t>
            </a:r>
          </a:p>
          <a:p>
            <a:pPr algn="ctr"/>
            <a:r>
              <a:rPr lang="es-CO" sz="1200" dirty="0"/>
              <a:t>Inicialmente se muestran solo 10 parámetros, amplíe los registros por página para ver todos los que se solicitan.</a:t>
            </a:r>
            <a:endParaRPr lang="es-ES_tradnl" sz="1200" dirty="0"/>
          </a:p>
        </p:txBody>
      </p:sp>
      <p:sp>
        <p:nvSpPr>
          <p:cNvPr id="4" name="Rectángulo 3">
            <a:extLst>
              <a:ext uri="{FF2B5EF4-FFF2-40B4-BE49-F238E27FC236}">
                <a16:creationId xmlns:a16="http://schemas.microsoft.com/office/drawing/2014/main" id="{1ECDD178-645B-F939-6F40-6097E33FCA6A}"/>
              </a:ext>
            </a:extLst>
          </p:cNvPr>
          <p:cNvSpPr/>
          <p:nvPr/>
        </p:nvSpPr>
        <p:spPr>
          <a:xfrm>
            <a:off x="938996" y="2523982"/>
            <a:ext cx="10697800" cy="21240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B69BF54-240C-056B-3FB8-DB4FC9298FDA}"/>
              </a:ext>
            </a:extLst>
          </p:cNvPr>
          <p:cNvSpPr/>
          <p:nvPr/>
        </p:nvSpPr>
        <p:spPr>
          <a:xfrm>
            <a:off x="554236" y="234931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2488935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4BDA7-8F66-4222-EA1D-DC87DDA9E9D6}"/>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3BB360BC-B499-02C4-8654-CB2AD1086383}"/>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81481CB1-4394-7A58-6C8D-3999DADDDF80}"/>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graphicFrame>
        <p:nvGraphicFramePr>
          <p:cNvPr id="4" name="Tabla 3">
            <a:extLst>
              <a:ext uri="{FF2B5EF4-FFF2-40B4-BE49-F238E27FC236}">
                <a16:creationId xmlns:a16="http://schemas.microsoft.com/office/drawing/2014/main" id="{0B82A6FA-033E-C5C2-B053-78D1C578AF60}"/>
              </a:ext>
            </a:extLst>
          </p:cNvPr>
          <p:cNvGraphicFramePr>
            <a:graphicFrameLocks noGrp="1"/>
          </p:cNvGraphicFramePr>
          <p:nvPr>
            <p:extLst>
              <p:ext uri="{D42A27DB-BD31-4B8C-83A1-F6EECF244321}">
                <p14:modId xmlns:p14="http://schemas.microsoft.com/office/powerpoint/2010/main" val="2976613011"/>
              </p:ext>
            </p:extLst>
          </p:nvPr>
        </p:nvGraphicFramePr>
        <p:xfrm>
          <a:off x="775508" y="1203169"/>
          <a:ext cx="10760710" cy="4855886"/>
        </p:xfrm>
        <a:graphic>
          <a:graphicData uri="http://schemas.openxmlformats.org/drawingml/2006/table">
            <a:tbl>
              <a:tblPr firstRow="1" bandRow="1">
                <a:tableStyleId>{5C22544A-7EE6-4342-B048-85BDC9FD1C3A}</a:tableStyleId>
              </a:tblPr>
              <a:tblGrid>
                <a:gridCol w="809803">
                  <a:extLst>
                    <a:ext uri="{9D8B030D-6E8A-4147-A177-3AD203B41FA5}">
                      <a16:colId xmlns:a16="http://schemas.microsoft.com/office/drawing/2014/main" val="3671970364"/>
                    </a:ext>
                  </a:extLst>
                </a:gridCol>
                <a:gridCol w="2124824">
                  <a:extLst>
                    <a:ext uri="{9D8B030D-6E8A-4147-A177-3AD203B41FA5}">
                      <a16:colId xmlns:a16="http://schemas.microsoft.com/office/drawing/2014/main" val="1822289275"/>
                    </a:ext>
                  </a:extLst>
                </a:gridCol>
                <a:gridCol w="6024285">
                  <a:extLst>
                    <a:ext uri="{9D8B030D-6E8A-4147-A177-3AD203B41FA5}">
                      <a16:colId xmlns:a16="http://schemas.microsoft.com/office/drawing/2014/main" val="3567961620"/>
                    </a:ext>
                  </a:extLst>
                </a:gridCol>
                <a:gridCol w="1801798">
                  <a:extLst>
                    <a:ext uri="{9D8B030D-6E8A-4147-A177-3AD203B41FA5}">
                      <a16:colId xmlns:a16="http://schemas.microsoft.com/office/drawing/2014/main" val="1570736915"/>
                    </a:ext>
                  </a:extLst>
                </a:gridCol>
              </a:tblGrid>
              <a:tr h="432205">
                <a:tc>
                  <a:txBody>
                    <a:bodyPr/>
                    <a:lstStyle/>
                    <a:p>
                      <a:pPr algn="ctr" fontAlgn="b"/>
                      <a:r>
                        <a:rPr lang="es-419" sz="1100" kern="1200" dirty="0">
                          <a:solidFill>
                            <a:schemeClr val="bg1"/>
                          </a:solidFill>
                          <a:effectLst/>
                          <a:latin typeface="+mn-lt"/>
                          <a:ea typeface="+mn-ea"/>
                          <a:cs typeface="+mn-cs"/>
                        </a:rPr>
                        <a:t>Parámetros</a:t>
                      </a:r>
                    </a:p>
                  </a:txBody>
                  <a:tcPr marL="0" marR="0" marT="0" marB="0" anchor="ctr"/>
                </a:tc>
                <a:tc>
                  <a:txBody>
                    <a:bodyPr/>
                    <a:lstStyle/>
                    <a:p>
                      <a:pPr algn="l" fontAlgn="b"/>
                      <a:r>
                        <a:rPr lang="es-419" sz="1100" kern="1200" dirty="0">
                          <a:solidFill>
                            <a:schemeClr val="bg1"/>
                          </a:solidFill>
                          <a:effectLst/>
                          <a:latin typeface="+mn-lt"/>
                          <a:ea typeface="+mn-ea"/>
                          <a:cs typeface="+mn-cs"/>
                        </a:rPr>
                        <a:t>Descripción</a:t>
                      </a:r>
                    </a:p>
                  </a:txBody>
                  <a:tcPr marL="0" marR="0" marT="0" marB="0" anchor="ctr"/>
                </a:tc>
                <a:tc>
                  <a:txBody>
                    <a:bodyPr/>
                    <a:lstStyle/>
                    <a:p>
                      <a:pPr algn="l" fontAlgn="b"/>
                      <a:r>
                        <a:rPr lang="es-419" sz="1100" kern="1200" dirty="0">
                          <a:solidFill>
                            <a:schemeClr val="bg1"/>
                          </a:solidFill>
                          <a:effectLst/>
                          <a:latin typeface="+mn-lt"/>
                          <a:ea typeface="+mn-ea"/>
                          <a:cs typeface="+mn-cs"/>
                        </a:rPr>
                        <a:t>Comentarios</a:t>
                      </a:r>
                    </a:p>
                  </a:txBody>
                  <a:tcPr marL="0" marR="0" marT="0" marB="0" anchor="ctr"/>
                </a:tc>
                <a:tc>
                  <a:txBody>
                    <a:bodyPr/>
                    <a:lstStyle/>
                    <a:p>
                      <a:pPr algn="l" fontAlgn="b"/>
                      <a:r>
                        <a:rPr lang="es-419" sz="1100" kern="1200" dirty="0">
                          <a:solidFill>
                            <a:schemeClr val="bg1"/>
                          </a:solidFill>
                          <a:effectLst/>
                          <a:latin typeface="+mn-lt"/>
                          <a:ea typeface="+mn-ea"/>
                          <a:cs typeface="+mn-cs"/>
                        </a:rPr>
                        <a:t>Requerido /Opcional</a:t>
                      </a:r>
                    </a:p>
                  </a:txBody>
                  <a:tcPr marL="0" marR="0" marT="0" marB="0" anchor="ctr"/>
                </a:tc>
                <a:extLst>
                  <a:ext uri="{0D108BD9-81ED-4DB2-BD59-A6C34878D82A}">
                    <a16:rowId xmlns:a16="http://schemas.microsoft.com/office/drawing/2014/main" val="1600408903"/>
                  </a:ext>
                </a:extLst>
              </a:tr>
              <a:tr h="471586">
                <a:tc>
                  <a:txBody>
                    <a:bodyPr/>
                    <a:lstStyle/>
                    <a:p>
                      <a:pPr algn="ctr" fontAlgn="ctr"/>
                      <a:r>
                        <a:rPr lang="es-419" sz="1100" kern="1200">
                          <a:solidFill>
                            <a:schemeClr val="tx1">
                              <a:lumMod val="50000"/>
                              <a:lumOff val="50000"/>
                            </a:schemeClr>
                          </a:solidFill>
                          <a:effectLst/>
                          <a:latin typeface="+mn-lt"/>
                          <a:ea typeface="+mn-ea"/>
                          <a:cs typeface="+mn-cs"/>
                        </a:rPr>
                        <a:t>01</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Periodo de inscripción</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el código de periodo para el cual se harán las proyecciones.</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Requerido</a:t>
                      </a:r>
                    </a:p>
                  </a:txBody>
                  <a:tcPr marL="0" marR="0" marT="0" marB="0" anchor="ctr"/>
                </a:tc>
                <a:extLst>
                  <a:ext uri="{0D108BD9-81ED-4DB2-BD59-A6C34878D82A}">
                    <a16:rowId xmlns:a16="http://schemas.microsoft.com/office/drawing/2014/main" val="1252697042"/>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02</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Periodo de horario</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Si no ingresó período de horario, el período inscripción se establece como período horario.</a:t>
                      </a:r>
                    </a:p>
                    <a:p>
                      <a:pPr algn="l" fontAlgn="ctr"/>
                      <a:r>
                        <a:rPr lang="es-419" sz="1100" kern="1200" dirty="0">
                          <a:solidFill>
                            <a:schemeClr val="tx1">
                              <a:lumMod val="50000"/>
                              <a:lumOff val="50000"/>
                            </a:schemeClr>
                          </a:solidFill>
                          <a:effectLst/>
                          <a:latin typeface="+mn-lt"/>
                          <a:ea typeface="+mn-ea"/>
                          <a:cs typeface="+mn-cs"/>
                        </a:rPr>
                        <a:t>Puede dejarlo vacío o ingresar el mismo período del parámetro anterior.</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2717954487"/>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03</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Identificador de selección</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el identificador de la selección de población</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3807490090"/>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04</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Aplicación de selección</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la aplicación de selección de población</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580853560"/>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05</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ID de creador de selección</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el ID del creador de la selección de población</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3452798"/>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06</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ID de usuario de selección</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el ID del usuario de la selección de población</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2785379510"/>
                  </a:ext>
                </a:extLst>
              </a:tr>
              <a:tr h="494455">
                <a:tc>
                  <a:txBody>
                    <a:bodyPr/>
                    <a:lstStyle/>
                    <a:p>
                      <a:pPr algn="ctr" fontAlgn="ctr"/>
                      <a:r>
                        <a:rPr lang="es-419" sz="1100" kern="1200">
                          <a:solidFill>
                            <a:schemeClr val="tx1">
                              <a:lumMod val="50000"/>
                              <a:lumOff val="50000"/>
                            </a:schemeClr>
                          </a:solidFill>
                          <a:effectLst/>
                          <a:latin typeface="+mn-lt"/>
                          <a:ea typeface="+mn-ea"/>
                          <a:cs typeface="+mn-cs"/>
                        </a:rPr>
                        <a:t>07</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Número de ID</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Ingrese el ID del estudiante al que desea realizar la proyección</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41993088"/>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08</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Escuela</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Si se ingresa código de escuela, las proyecciones se ejecutan para todos los estudiantes cuyo Programa pertenezca a dicho escuela, según lo configurado en SMAPRLE.</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2183416493"/>
                  </a:ext>
                </a:extLst>
              </a:tr>
              <a:tr h="432205">
                <a:tc>
                  <a:txBody>
                    <a:bodyPr/>
                    <a:lstStyle/>
                    <a:p>
                      <a:pPr algn="ctr" fontAlgn="ctr"/>
                      <a:r>
                        <a:rPr lang="es-419" sz="1100" kern="1200">
                          <a:solidFill>
                            <a:schemeClr val="tx1">
                              <a:lumMod val="50000"/>
                              <a:lumOff val="50000"/>
                            </a:schemeClr>
                          </a:solidFill>
                          <a:effectLst/>
                          <a:latin typeface="+mn-lt"/>
                          <a:ea typeface="+mn-ea"/>
                          <a:cs typeface="+mn-cs"/>
                        </a:rPr>
                        <a:t>09</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Carrera</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Si se ingresa código de carrera, las proyecciones se ejecutan para todos los estudiantes cuyo registro en SGASTDN sea de dicha carrera.</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397777445"/>
                  </a:ext>
                </a:extLst>
              </a:tr>
              <a:tr h="432205">
                <a:tc>
                  <a:txBody>
                    <a:bodyPr/>
                    <a:lstStyle/>
                    <a:p>
                      <a:pPr algn="ctr" fontAlgn="ctr"/>
                      <a:r>
                        <a:rPr lang="es-419" sz="1100" kern="1200">
                          <a:solidFill>
                            <a:schemeClr val="tx1">
                              <a:lumMod val="50000"/>
                              <a:lumOff val="50000"/>
                            </a:schemeClr>
                          </a:solidFill>
                          <a:effectLst/>
                          <a:latin typeface="+mn-lt"/>
                          <a:ea typeface="+mn-ea"/>
                          <a:cs typeface="+mn-cs"/>
                        </a:rPr>
                        <a:t>10</a:t>
                      </a:r>
                    </a:p>
                  </a:txBody>
                  <a:tcPr marL="0" marR="0" marT="0" marB="0" anchor="ctr"/>
                </a:tc>
                <a:tc>
                  <a:txBody>
                    <a:bodyPr/>
                    <a:lstStyle/>
                    <a:p>
                      <a:pPr algn="l" fontAlgn="ctr"/>
                      <a:r>
                        <a:rPr lang="es-419" sz="1100" kern="1200">
                          <a:solidFill>
                            <a:schemeClr val="tx1">
                              <a:lumMod val="50000"/>
                              <a:lumOff val="50000"/>
                            </a:schemeClr>
                          </a:solidFill>
                          <a:effectLst/>
                          <a:latin typeface="+mn-lt"/>
                          <a:ea typeface="+mn-ea"/>
                          <a:cs typeface="+mn-cs"/>
                        </a:rPr>
                        <a:t>Tipo de alumno</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Si se ingresa código de tipo de alumno, las proyecciones se ejecutan para todos los estudiantes cuyo tipo de alumno en SGASTDN sea el código ingresado.</a:t>
                      </a:r>
                    </a:p>
                  </a:txBody>
                  <a:tcPr marL="0" marR="0" marT="0" marB="0" anchor="ctr"/>
                </a:tc>
                <a:tc>
                  <a:txBody>
                    <a:bodyPr/>
                    <a:lstStyle/>
                    <a:p>
                      <a:pPr algn="l" fontAlgn="ctr"/>
                      <a:r>
                        <a:rPr lang="es-419" sz="1100" kern="1200" dirty="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1301163987"/>
                  </a:ext>
                </a:extLst>
              </a:tr>
            </a:tbl>
          </a:graphicData>
        </a:graphic>
      </p:graphicFrame>
    </p:spTree>
    <p:extLst>
      <p:ext uri="{BB962C8B-B14F-4D97-AF65-F5344CB8AC3E}">
        <p14:creationId xmlns:p14="http://schemas.microsoft.com/office/powerpoint/2010/main" val="4129769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09F4-3C91-D563-B1F4-6584A1CE1A14}"/>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CB5B5239-5390-DB1A-EF0F-30B8E9ADA97D}"/>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4C86858E-96A2-B5B6-E978-11A46FC967A5}"/>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graphicFrame>
        <p:nvGraphicFramePr>
          <p:cNvPr id="4" name="Tabla 3">
            <a:extLst>
              <a:ext uri="{FF2B5EF4-FFF2-40B4-BE49-F238E27FC236}">
                <a16:creationId xmlns:a16="http://schemas.microsoft.com/office/drawing/2014/main" id="{9B145318-3B78-8CC8-0363-00A74F9A2D63}"/>
              </a:ext>
            </a:extLst>
          </p:cNvPr>
          <p:cNvGraphicFramePr>
            <a:graphicFrameLocks noGrp="1"/>
          </p:cNvGraphicFramePr>
          <p:nvPr>
            <p:extLst>
              <p:ext uri="{D42A27DB-BD31-4B8C-83A1-F6EECF244321}">
                <p14:modId xmlns:p14="http://schemas.microsoft.com/office/powerpoint/2010/main" val="2811409563"/>
              </p:ext>
            </p:extLst>
          </p:nvPr>
        </p:nvGraphicFramePr>
        <p:xfrm>
          <a:off x="938996" y="1414283"/>
          <a:ext cx="10477496" cy="2733063"/>
        </p:xfrm>
        <a:graphic>
          <a:graphicData uri="http://schemas.openxmlformats.org/drawingml/2006/table">
            <a:tbl>
              <a:tblPr firstRow="1" bandRow="1">
                <a:tableStyleId>{5C22544A-7EE6-4342-B048-85BDC9FD1C3A}</a:tableStyleId>
              </a:tblPr>
              <a:tblGrid>
                <a:gridCol w="789840">
                  <a:extLst>
                    <a:ext uri="{9D8B030D-6E8A-4147-A177-3AD203B41FA5}">
                      <a16:colId xmlns:a16="http://schemas.microsoft.com/office/drawing/2014/main" val="3671970364"/>
                    </a:ext>
                  </a:extLst>
                </a:gridCol>
                <a:gridCol w="2246276">
                  <a:extLst>
                    <a:ext uri="{9D8B030D-6E8A-4147-A177-3AD203B41FA5}">
                      <a16:colId xmlns:a16="http://schemas.microsoft.com/office/drawing/2014/main" val="1822289275"/>
                    </a:ext>
                  </a:extLst>
                </a:gridCol>
                <a:gridCol w="5684001">
                  <a:extLst>
                    <a:ext uri="{9D8B030D-6E8A-4147-A177-3AD203B41FA5}">
                      <a16:colId xmlns:a16="http://schemas.microsoft.com/office/drawing/2014/main" val="3567961620"/>
                    </a:ext>
                  </a:extLst>
                </a:gridCol>
                <a:gridCol w="1757379">
                  <a:extLst>
                    <a:ext uri="{9D8B030D-6E8A-4147-A177-3AD203B41FA5}">
                      <a16:colId xmlns:a16="http://schemas.microsoft.com/office/drawing/2014/main" val="1570736915"/>
                    </a:ext>
                  </a:extLst>
                </a:gridCol>
              </a:tblGrid>
              <a:tr h="438046">
                <a:tc>
                  <a:txBody>
                    <a:bodyPr/>
                    <a:lstStyle/>
                    <a:p>
                      <a:pPr marL="0" algn="ctr" defTabSz="914400" rtl="0" eaLnBrk="1" fontAlgn="b" latinLnBrk="0" hangingPunct="1"/>
                      <a:r>
                        <a:rPr lang="es-419" sz="1100" b="1" kern="1200" dirty="0">
                          <a:solidFill>
                            <a:schemeClr val="bg1"/>
                          </a:solidFill>
                          <a:effectLst/>
                          <a:latin typeface="+mn-lt"/>
                          <a:ea typeface="+mn-ea"/>
                          <a:cs typeface="+mn-cs"/>
                        </a:rPr>
                        <a:t>Parámetros</a:t>
                      </a:r>
                    </a:p>
                  </a:txBody>
                  <a:tcPr marL="0" marR="0" marT="0" marB="0" anchor="ctr"/>
                </a:tc>
                <a:tc>
                  <a:txBody>
                    <a:bodyPr/>
                    <a:lstStyle/>
                    <a:p>
                      <a:pPr marL="0" algn="ctr" defTabSz="914400" rtl="0" eaLnBrk="1" fontAlgn="b" latinLnBrk="0" hangingPunct="1"/>
                      <a:r>
                        <a:rPr lang="es-419" sz="1100" b="1" kern="1200" dirty="0">
                          <a:solidFill>
                            <a:schemeClr val="bg1"/>
                          </a:solidFill>
                          <a:effectLst/>
                          <a:latin typeface="+mn-lt"/>
                          <a:ea typeface="+mn-ea"/>
                          <a:cs typeface="+mn-cs"/>
                        </a:rPr>
                        <a:t>Descripción</a:t>
                      </a:r>
                    </a:p>
                  </a:txBody>
                  <a:tcPr marL="0" marR="0" marT="0" marB="0" anchor="ctr"/>
                </a:tc>
                <a:tc>
                  <a:txBody>
                    <a:bodyPr/>
                    <a:lstStyle/>
                    <a:p>
                      <a:pPr marL="0" algn="ctr" defTabSz="914400" rtl="0" eaLnBrk="1" fontAlgn="b" latinLnBrk="0" hangingPunct="1"/>
                      <a:r>
                        <a:rPr lang="es-419" sz="1100" b="1" kern="1200" dirty="0">
                          <a:solidFill>
                            <a:schemeClr val="bg1"/>
                          </a:solidFill>
                          <a:effectLst/>
                          <a:latin typeface="+mn-lt"/>
                          <a:ea typeface="+mn-ea"/>
                          <a:cs typeface="+mn-cs"/>
                        </a:rPr>
                        <a:t>Comentarios</a:t>
                      </a:r>
                    </a:p>
                  </a:txBody>
                  <a:tcPr marL="0" marR="0" marT="0" marB="0" anchor="ctr"/>
                </a:tc>
                <a:tc>
                  <a:txBody>
                    <a:bodyPr/>
                    <a:lstStyle/>
                    <a:p>
                      <a:pPr marL="0" algn="ctr" defTabSz="914400" rtl="0" eaLnBrk="1" fontAlgn="b" latinLnBrk="0" hangingPunct="1"/>
                      <a:r>
                        <a:rPr lang="es-419" sz="1100" b="1" kern="1200" dirty="0">
                          <a:solidFill>
                            <a:schemeClr val="bg1"/>
                          </a:solidFill>
                          <a:effectLst/>
                          <a:latin typeface="+mn-lt"/>
                          <a:ea typeface="+mn-ea"/>
                          <a:cs typeface="+mn-cs"/>
                        </a:rPr>
                        <a:t>Requerido /Opcional</a:t>
                      </a:r>
                    </a:p>
                  </a:txBody>
                  <a:tcPr marL="0" marR="0" marT="0" marB="0" anchor="ctr"/>
                </a:tc>
                <a:extLst>
                  <a:ext uri="{0D108BD9-81ED-4DB2-BD59-A6C34878D82A}">
                    <a16:rowId xmlns:a16="http://schemas.microsoft.com/office/drawing/2014/main" val="1600408903"/>
                  </a:ext>
                </a:extLst>
              </a:tr>
              <a:tr h="477959">
                <a:tc>
                  <a:txBody>
                    <a:bodyPr/>
                    <a:lstStyle/>
                    <a:p>
                      <a:pPr marL="0" algn="ctr" defTabSz="914400" rtl="0" eaLnBrk="1" fontAlgn="b" latinLnBrk="0" hangingPunct="1"/>
                      <a:r>
                        <a:rPr lang="es-419" sz="1100" kern="1200" dirty="0">
                          <a:solidFill>
                            <a:schemeClr val="tx1">
                              <a:lumMod val="50000"/>
                              <a:lumOff val="50000"/>
                            </a:schemeClr>
                          </a:solidFill>
                          <a:effectLst/>
                          <a:latin typeface="+mn-lt"/>
                          <a:ea typeface="+mn-ea"/>
                          <a:cs typeface="+mn-cs"/>
                        </a:rPr>
                        <a:t>11</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Currículo</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Currículo [P-Currículo principal, A-Todos los currículos]</a:t>
                      </a:r>
                    </a:p>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Ingrese A para que se ejecuten las proyecciones de todos los currículos del estudiante.</a:t>
                      </a:r>
                    </a:p>
                  </a:txBody>
                  <a:tcPr marL="0" marR="0" marT="0" marB="0" anchor="ctr"/>
                </a:tc>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Requerido</a:t>
                      </a:r>
                    </a:p>
                  </a:txBody>
                  <a:tcPr marL="0" marR="0" marT="0" marB="0" anchor="ctr"/>
                </a:tc>
                <a:extLst>
                  <a:ext uri="{0D108BD9-81ED-4DB2-BD59-A6C34878D82A}">
                    <a16:rowId xmlns:a16="http://schemas.microsoft.com/office/drawing/2014/main" val="1252697042"/>
                  </a:ext>
                </a:extLst>
              </a:tr>
              <a:tr h="438046">
                <a:tc>
                  <a:txBody>
                    <a:bodyPr/>
                    <a:lstStyle/>
                    <a:p>
                      <a:pPr marL="0" algn="ctr" defTabSz="914400" rtl="0" eaLnBrk="1" fontAlgn="b" latinLnBrk="0" hangingPunct="1"/>
                      <a:r>
                        <a:rPr lang="es-419" sz="1100" kern="1200" dirty="0">
                          <a:solidFill>
                            <a:schemeClr val="tx1">
                              <a:lumMod val="50000"/>
                              <a:lumOff val="50000"/>
                            </a:schemeClr>
                          </a:solidFill>
                          <a:effectLst/>
                          <a:latin typeface="+mn-lt"/>
                          <a:ea typeface="+mn-ea"/>
                          <a:cs typeface="+mn-cs"/>
                        </a:rPr>
                        <a:t>12</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Incluir cursos ofrecidos [Y/N]</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Y – Solo se tomarán para las proyecciones aquellos cursos que tienen NRC programados en el período de horario.</a:t>
                      </a:r>
                    </a:p>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N – Se tomarán todos los cursos según catálogo para las proyecciones.</a:t>
                      </a:r>
                    </a:p>
                  </a:txBody>
                  <a:tcPr marL="0" marR="0" marT="0" marB="0" anchor="ctr"/>
                </a:tc>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2717954487"/>
                  </a:ext>
                </a:extLst>
              </a:tr>
              <a:tr h="438046">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13</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a:t>
                      </a:r>
                      <a:r>
                        <a:rPr lang="es-419" sz="1100" kern="1200" dirty="0" err="1">
                          <a:solidFill>
                            <a:schemeClr val="tx1">
                              <a:lumMod val="50000"/>
                              <a:lumOff val="50000"/>
                            </a:schemeClr>
                          </a:solidFill>
                          <a:effectLst/>
                          <a:latin typeface="+mn-lt"/>
                          <a:ea typeface="+mn-ea"/>
                          <a:cs typeface="+mn-cs"/>
                        </a:rPr>
                        <a:t>Verif</a:t>
                      </a:r>
                      <a:r>
                        <a:rPr lang="es-419" sz="1100" kern="1200" dirty="0">
                          <a:solidFill>
                            <a:schemeClr val="tx1">
                              <a:lumMod val="50000"/>
                              <a:lumOff val="50000"/>
                            </a:schemeClr>
                          </a:solidFill>
                          <a:effectLst/>
                          <a:latin typeface="+mn-lt"/>
                          <a:ea typeface="+mn-ea"/>
                          <a:cs typeface="+mn-cs"/>
                        </a:rPr>
                        <a:t> de prerrequisito? [Y/N]</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¿Ejecutar verificación de prerrequisito? [Y (sí) / N (no)].</a:t>
                      </a:r>
                    </a:p>
                  </a:txBody>
                  <a:tcPr marL="0" marR="0" marT="0" marB="0" anchor="ctr"/>
                </a:tc>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3807490090"/>
                  </a:ext>
                </a:extLst>
              </a:tr>
              <a:tr h="438046">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14</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a:t>
                      </a:r>
                      <a:r>
                        <a:rPr lang="es-419" sz="1100" kern="1200" dirty="0" err="1">
                          <a:solidFill>
                            <a:schemeClr val="tx1">
                              <a:lumMod val="50000"/>
                              <a:lumOff val="50000"/>
                            </a:schemeClr>
                          </a:solidFill>
                          <a:effectLst/>
                          <a:latin typeface="+mn-lt"/>
                          <a:ea typeface="+mn-ea"/>
                          <a:cs typeface="+mn-cs"/>
                        </a:rPr>
                        <a:t>Verif</a:t>
                      </a:r>
                      <a:r>
                        <a:rPr lang="es-419" sz="1100" kern="1200" dirty="0">
                          <a:solidFill>
                            <a:schemeClr val="tx1">
                              <a:lumMod val="50000"/>
                              <a:lumOff val="50000"/>
                            </a:schemeClr>
                          </a:solidFill>
                          <a:effectLst/>
                          <a:latin typeface="+mn-lt"/>
                          <a:ea typeface="+mn-ea"/>
                          <a:cs typeface="+mn-cs"/>
                        </a:rPr>
                        <a:t> de correquisito? [Y/N]</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¿Ejecutar verificación de correquisito? [Y (sí) / N (no)].</a:t>
                      </a:r>
                    </a:p>
                  </a:txBody>
                  <a:tcPr marL="0" marR="0" marT="0" marB="0" anchor="ctr"/>
                </a:tc>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580853560"/>
                  </a:ext>
                </a:extLst>
              </a:tr>
              <a:tr h="438046">
                <a:tc>
                  <a:txBody>
                    <a:bodyPr/>
                    <a:lstStyle/>
                    <a:p>
                      <a:pPr marL="0" algn="ctr" defTabSz="914400" rtl="0" eaLnBrk="1" fontAlgn="b" latinLnBrk="0" hangingPunct="1"/>
                      <a:r>
                        <a:rPr lang="es-419" sz="1100" kern="1200">
                          <a:solidFill>
                            <a:schemeClr val="tx1">
                              <a:lumMod val="50000"/>
                              <a:lumOff val="50000"/>
                            </a:schemeClr>
                          </a:solidFill>
                          <a:effectLst/>
                          <a:latin typeface="+mn-lt"/>
                          <a:ea typeface="+mn-ea"/>
                          <a:cs typeface="+mn-cs"/>
                        </a:rPr>
                        <a:t>15</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Campus</a:t>
                      </a:r>
                    </a:p>
                  </a:txBody>
                  <a:tcPr marL="0" marR="0" marT="0" marB="0" anchor="ctr"/>
                </a:tc>
                <a:tc>
                  <a:txBody>
                    <a:bodyPr/>
                    <a:lstStyle/>
                    <a:p>
                      <a:pPr marL="0" algn="l" defTabSz="914400" rtl="0" eaLnBrk="1" fontAlgn="b" latinLnBrk="0" hangingPunct="1"/>
                      <a:r>
                        <a:rPr lang="es-419" sz="1100" kern="1200" dirty="0">
                          <a:solidFill>
                            <a:schemeClr val="tx1">
                              <a:lumMod val="50000"/>
                              <a:lumOff val="50000"/>
                            </a:schemeClr>
                          </a:solidFill>
                          <a:effectLst/>
                          <a:latin typeface="+mn-lt"/>
                          <a:ea typeface="+mn-ea"/>
                          <a:cs typeface="+mn-cs"/>
                        </a:rPr>
                        <a:t>Usado para verificar prerrequisito y correquisito y no para filtrar alumnos. Ingrese un código de campus.</a:t>
                      </a:r>
                    </a:p>
                  </a:txBody>
                  <a:tcPr marL="0" marR="0" marT="0" marB="0" anchor="ctr"/>
                </a:tc>
                <a:tc>
                  <a:txBody>
                    <a:bodyPr/>
                    <a:lstStyle/>
                    <a:p>
                      <a:pPr marL="0" algn="ctr" defTabSz="914400" rtl="0" eaLnBrk="1" fontAlgn="b" latinLnBrk="0" hangingPunct="1"/>
                      <a:r>
                        <a:rPr lang="es-419" sz="1100" kern="1200" dirty="0">
                          <a:solidFill>
                            <a:schemeClr val="tx1">
                              <a:lumMod val="50000"/>
                              <a:lumOff val="50000"/>
                            </a:schemeClr>
                          </a:solidFill>
                          <a:effectLst/>
                          <a:latin typeface="+mn-lt"/>
                          <a:ea typeface="+mn-ea"/>
                          <a:cs typeface="+mn-cs"/>
                        </a:rPr>
                        <a:t>Opcional</a:t>
                      </a:r>
                    </a:p>
                  </a:txBody>
                  <a:tcPr marL="0" marR="0" marT="0" marB="0" anchor="ctr"/>
                </a:tc>
                <a:extLst>
                  <a:ext uri="{0D108BD9-81ED-4DB2-BD59-A6C34878D82A}">
                    <a16:rowId xmlns:a16="http://schemas.microsoft.com/office/drawing/2014/main" val="3452798"/>
                  </a:ext>
                </a:extLst>
              </a:tr>
            </a:tbl>
          </a:graphicData>
        </a:graphic>
      </p:graphicFrame>
    </p:spTree>
    <p:extLst>
      <p:ext uri="{BB962C8B-B14F-4D97-AF65-F5344CB8AC3E}">
        <p14:creationId xmlns:p14="http://schemas.microsoft.com/office/powerpoint/2010/main" val="2316205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5B055-CADF-FC6A-6415-DFF53D069314}"/>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13C5A77A-A472-8091-8815-1E3CB7F453A6}"/>
              </a:ext>
            </a:extLst>
          </p:cNvPr>
          <p:cNvPicPr>
            <a:picLocks noChangeAspect="1"/>
          </p:cNvPicPr>
          <p:nvPr/>
        </p:nvPicPr>
        <p:blipFill>
          <a:blip r:embed="rId3"/>
          <a:stretch>
            <a:fillRect/>
          </a:stretch>
        </p:blipFill>
        <p:spPr>
          <a:xfrm>
            <a:off x="938996" y="1066793"/>
            <a:ext cx="10697800" cy="4874805"/>
          </a:xfrm>
          <a:prstGeom prst="rect">
            <a:avLst/>
          </a:prstGeom>
        </p:spPr>
      </p:pic>
      <p:sp>
        <p:nvSpPr>
          <p:cNvPr id="2" name="Marcador de texto vertical 1">
            <a:extLst>
              <a:ext uri="{FF2B5EF4-FFF2-40B4-BE49-F238E27FC236}">
                <a16:creationId xmlns:a16="http://schemas.microsoft.com/office/drawing/2014/main" id="{F6F75BFB-6D22-5345-A541-E8F661294749}"/>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24816DD5-11C6-52E3-E2A4-D84CE656ACCB}"/>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br>
              <a:rPr lang="es-419" b="0" dirty="0">
                <a:effectLst/>
              </a:rPr>
            </a:br>
            <a:endParaRPr lang="es-ES_tradnl" b="1" dirty="0"/>
          </a:p>
        </p:txBody>
      </p:sp>
      <p:sp>
        <p:nvSpPr>
          <p:cNvPr id="5" name="Rectángulo: esquinas redondeadas 4">
            <a:extLst>
              <a:ext uri="{FF2B5EF4-FFF2-40B4-BE49-F238E27FC236}">
                <a16:creationId xmlns:a16="http://schemas.microsoft.com/office/drawing/2014/main" id="{0CA823A0-2FC4-17C7-1EB3-B2DEBC3AD574}"/>
              </a:ext>
            </a:extLst>
          </p:cNvPr>
          <p:cNvSpPr/>
          <p:nvPr/>
        </p:nvSpPr>
        <p:spPr>
          <a:xfrm>
            <a:off x="3265172" y="4721867"/>
            <a:ext cx="5145930" cy="56787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419" sz="1200" dirty="0"/>
              <a:t>Toda vez que se ingresaron los parámetros, pase al siguiente bloque</a:t>
            </a:r>
            <a:r>
              <a:rPr lang="es-ES_tradnl" sz="1200" dirty="0"/>
              <a:t>.</a:t>
            </a:r>
            <a:endParaRPr lang="es-419" sz="1200" dirty="0"/>
          </a:p>
        </p:txBody>
      </p:sp>
      <p:sp>
        <p:nvSpPr>
          <p:cNvPr id="7" name="Rectángulo 6">
            <a:extLst>
              <a:ext uri="{FF2B5EF4-FFF2-40B4-BE49-F238E27FC236}">
                <a16:creationId xmlns:a16="http://schemas.microsoft.com/office/drawing/2014/main" id="{4FF84B2B-3C47-C66C-39A6-FDA0E5FC548E}"/>
              </a:ext>
            </a:extLst>
          </p:cNvPr>
          <p:cNvSpPr/>
          <p:nvPr/>
        </p:nvSpPr>
        <p:spPr>
          <a:xfrm>
            <a:off x="1183595" y="5627923"/>
            <a:ext cx="361191" cy="2055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997F4F5F-070E-FD6C-1890-20069ABECC5A}"/>
              </a:ext>
            </a:extLst>
          </p:cNvPr>
          <p:cNvSpPr/>
          <p:nvPr/>
        </p:nvSpPr>
        <p:spPr>
          <a:xfrm>
            <a:off x="1628230" y="575307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3702542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8868B-004A-F723-8E45-D8465C4FF13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807DFB4A-1DF5-A06E-0703-DC74690D465D}"/>
              </a:ext>
            </a:extLst>
          </p:cNvPr>
          <p:cNvPicPr>
            <a:picLocks noChangeAspect="1"/>
          </p:cNvPicPr>
          <p:nvPr/>
        </p:nvPicPr>
        <p:blipFill>
          <a:blip r:embed="rId3"/>
          <a:stretch>
            <a:fillRect/>
          </a:stretch>
        </p:blipFill>
        <p:spPr>
          <a:xfrm>
            <a:off x="938996" y="1066793"/>
            <a:ext cx="10697800" cy="4874805"/>
          </a:xfrm>
          <a:prstGeom prst="rect">
            <a:avLst/>
          </a:prstGeom>
        </p:spPr>
      </p:pic>
      <p:sp>
        <p:nvSpPr>
          <p:cNvPr id="2" name="Marcador de texto vertical 1">
            <a:extLst>
              <a:ext uri="{FF2B5EF4-FFF2-40B4-BE49-F238E27FC236}">
                <a16:creationId xmlns:a16="http://schemas.microsoft.com/office/drawing/2014/main" id="{85549203-5ADE-D1A9-80A5-89DC97CE09A4}"/>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A88CEF77-1686-CE1A-A32E-B704A9D59D4E}"/>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3" name="Rectángulo: esquinas redondeadas 2">
            <a:extLst>
              <a:ext uri="{FF2B5EF4-FFF2-40B4-BE49-F238E27FC236}">
                <a16:creationId xmlns:a16="http://schemas.microsoft.com/office/drawing/2014/main" id="{C20B0AA1-DB1C-A32E-095B-3140B85BEE54}"/>
              </a:ext>
            </a:extLst>
          </p:cNvPr>
          <p:cNvSpPr/>
          <p:nvPr/>
        </p:nvSpPr>
        <p:spPr>
          <a:xfrm>
            <a:off x="3995860" y="5232276"/>
            <a:ext cx="4132518" cy="79411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Seleccione la opción enviar.</a:t>
            </a:r>
          </a:p>
          <a:p>
            <a:pPr marL="228600" indent="-228600">
              <a:buFont typeface="+mj-lt"/>
              <a:buAutoNum type="arabicPeriod" startAt="7"/>
            </a:pPr>
            <a:r>
              <a:rPr lang="es-ES_tradnl" sz="1200" dirty="0"/>
              <a:t>Guarde la información.</a:t>
            </a:r>
            <a:endParaRPr lang="es-419" sz="1200" dirty="0"/>
          </a:p>
        </p:txBody>
      </p:sp>
      <p:sp>
        <p:nvSpPr>
          <p:cNvPr id="4" name="Rectángulo 3">
            <a:extLst>
              <a:ext uri="{FF2B5EF4-FFF2-40B4-BE49-F238E27FC236}">
                <a16:creationId xmlns:a16="http://schemas.microsoft.com/office/drawing/2014/main" id="{457ED331-0D74-0BF3-25EA-918F9A6ADC10}"/>
              </a:ext>
            </a:extLst>
          </p:cNvPr>
          <p:cNvSpPr/>
          <p:nvPr/>
        </p:nvSpPr>
        <p:spPr>
          <a:xfrm>
            <a:off x="7467175" y="4787139"/>
            <a:ext cx="444635" cy="2450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E13130E-5CAC-D1B8-48FF-33173995EE39}"/>
              </a:ext>
            </a:extLst>
          </p:cNvPr>
          <p:cNvSpPr/>
          <p:nvPr/>
        </p:nvSpPr>
        <p:spPr>
          <a:xfrm>
            <a:off x="7911810" y="462632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0" name="Rectángulo 9">
            <a:extLst>
              <a:ext uri="{FF2B5EF4-FFF2-40B4-BE49-F238E27FC236}">
                <a16:creationId xmlns:a16="http://schemas.microsoft.com/office/drawing/2014/main" id="{A64E056D-1496-DDDE-A787-D445D73FAF43}"/>
              </a:ext>
            </a:extLst>
          </p:cNvPr>
          <p:cNvSpPr/>
          <p:nvPr/>
        </p:nvSpPr>
        <p:spPr>
          <a:xfrm>
            <a:off x="11106783" y="5629331"/>
            <a:ext cx="570835" cy="2450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85ABAC15-B260-C687-A1EB-46D8AB9B14D0}"/>
              </a:ext>
            </a:extLst>
          </p:cNvPr>
          <p:cNvSpPr/>
          <p:nvPr/>
        </p:nvSpPr>
        <p:spPr>
          <a:xfrm>
            <a:off x="10673646" y="545004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Tree>
    <p:extLst>
      <p:ext uri="{BB962C8B-B14F-4D97-AF65-F5344CB8AC3E}">
        <p14:creationId xmlns:p14="http://schemas.microsoft.com/office/powerpoint/2010/main" val="2278784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939A4-7FD5-411A-AC26-F4217FADC2C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0D026EC-DB4B-292F-5E28-2DDAC220B633}"/>
              </a:ext>
            </a:extLst>
          </p:cNvPr>
          <p:cNvPicPr>
            <a:picLocks noChangeAspect="1"/>
          </p:cNvPicPr>
          <p:nvPr/>
        </p:nvPicPr>
        <p:blipFill>
          <a:blip r:embed="rId3"/>
          <a:stretch>
            <a:fillRect/>
          </a:stretch>
        </p:blipFill>
        <p:spPr>
          <a:xfrm>
            <a:off x="938996" y="1042232"/>
            <a:ext cx="10587986" cy="4824765"/>
          </a:xfrm>
          <a:prstGeom prst="rect">
            <a:avLst/>
          </a:prstGeom>
        </p:spPr>
      </p:pic>
      <p:sp>
        <p:nvSpPr>
          <p:cNvPr id="2" name="Marcador de texto vertical 1">
            <a:extLst>
              <a:ext uri="{FF2B5EF4-FFF2-40B4-BE49-F238E27FC236}">
                <a16:creationId xmlns:a16="http://schemas.microsoft.com/office/drawing/2014/main" id="{A50476C5-1745-C498-254B-700FA8C54995}"/>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3D1E8246-8395-D985-C47E-EC688A102C01}"/>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8" name="Rectángulo: esquinas redondeadas 7">
            <a:extLst>
              <a:ext uri="{FF2B5EF4-FFF2-40B4-BE49-F238E27FC236}">
                <a16:creationId xmlns:a16="http://schemas.microsoft.com/office/drawing/2014/main" id="{2CF2DB8A-9DF0-37ED-94EE-467BAB5BF2E4}"/>
              </a:ext>
            </a:extLst>
          </p:cNvPr>
          <p:cNvSpPr/>
          <p:nvPr/>
        </p:nvSpPr>
        <p:spPr>
          <a:xfrm>
            <a:off x="4577557" y="2380726"/>
            <a:ext cx="3378632" cy="79411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419" sz="1200" dirty="0"/>
              <a:t>El sistema asignará un número al proceso ejecutado.</a:t>
            </a:r>
          </a:p>
        </p:txBody>
      </p:sp>
      <p:cxnSp>
        <p:nvCxnSpPr>
          <p:cNvPr id="9" name="Conector recto de flecha 8">
            <a:extLst>
              <a:ext uri="{FF2B5EF4-FFF2-40B4-BE49-F238E27FC236}">
                <a16:creationId xmlns:a16="http://schemas.microsoft.com/office/drawing/2014/main" id="{B14001E9-6C5E-C11D-10FE-EA2EC9F4EDA4}"/>
              </a:ext>
            </a:extLst>
          </p:cNvPr>
          <p:cNvCxnSpPr>
            <a:cxnSpLocks/>
            <a:stCxn id="8" idx="3"/>
          </p:cNvCxnSpPr>
          <p:nvPr/>
        </p:nvCxnSpPr>
        <p:spPr>
          <a:xfrm flipV="1">
            <a:off x="7956189" y="1597891"/>
            <a:ext cx="1557266" cy="1179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2177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2F1B-414D-D1EB-6C0B-2C47AA994215}"/>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5B0F9C3A-85ED-BF2E-3202-4650D58B4C2E}"/>
              </a:ext>
            </a:extLst>
          </p:cNvPr>
          <p:cNvPicPr>
            <a:picLocks noChangeAspect="1"/>
          </p:cNvPicPr>
          <p:nvPr/>
        </p:nvPicPr>
        <p:blipFill>
          <a:blip r:embed="rId3"/>
          <a:stretch>
            <a:fillRect/>
          </a:stretch>
        </p:blipFill>
        <p:spPr>
          <a:xfrm>
            <a:off x="938996" y="972937"/>
            <a:ext cx="10645354" cy="4842832"/>
          </a:xfrm>
          <a:prstGeom prst="rect">
            <a:avLst/>
          </a:prstGeom>
        </p:spPr>
      </p:pic>
      <p:sp>
        <p:nvSpPr>
          <p:cNvPr id="2" name="Marcador de texto vertical 1">
            <a:extLst>
              <a:ext uri="{FF2B5EF4-FFF2-40B4-BE49-F238E27FC236}">
                <a16:creationId xmlns:a16="http://schemas.microsoft.com/office/drawing/2014/main" id="{E6E5F41F-5438-F5EB-75D9-ECCEBBD6C598}"/>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E9639E40-6F88-0BEE-4579-2633E3D56998}"/>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3" name="Rectángulo: esquinas redondeadas 2">
            <a:extLst>
              <a:ext uri="{FF2B5EF4-FFF2-40B4-BE49-F238E27FC236}">
                <a16:creationId xmlns:a16="http://schemas.microsoft.com/office/drawing/2014/main" id="{53FA5070-B31D-B315-7E14-95DE9597636A}"/>
              </a:ext>
            </a:extLst>
          </p:cNvPr>
          <p:cNvSpPr/>
          <p:nvPr/>
        </p:nvSpPr>
        <p:spPr>
          <a:xfrm>
            <a:off x="2660073" y="3933511"/>
            <a:ext cx="6082202" cy="110954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419" sz="1200" dirty="0"/>
              <a:t>Presione el ícono correspondiente al Menú Relacionado</a:t>
            </a:r>
          </a:p>
          <a:p>
            <a:pPr marL="228600" indent="-228600">
              <a:buFont typeface="+mj-lt"/>
              <a:buAutoNum type="arabicPeriod" startAt="9"/>
            </a:pPr>
            <a:r>
              <a:rPr lang="es-419" sz="1200" dirty="0"/>
              <a:t>Seleccionar la opción  Revisar salida (GJIREVO)</a:t>
            </a:r>
          </a:p>
        </p:txBody>
      </p:sp>
      <p:sp>
        <p:nvSpPr>
          <p:cNvPr id="4" name="Rectángulo 3">
            <a:extLst>
              <a:ext uri="{FF2B5EF4-FFF2-40B4-BE49-F238E27FC236}">
                <a16:creationId xmlns:a16="http://schemas.microsoft.com/office/drawing/2014/main" id="{2EB97F43-54A4-E0D5-EE06-D05572AF3E02}"/>
              </a:ext>
            </a:extLst>
          </p:cNvPr>
          <p:cNvSpPr/>
          <p:nvPr/>
        </p:nvSpPr>
        <p:spPr>
          <a:xfrm>
            <a:off x="10224196" y="1009881"/>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AED7F395-21D6-C831-A86D-82E6833711FB}"/>
              </a:ext>
            </a:extLst>
          </p:cNvPr>
          <p:cNvSpPr/>
          <p:nvPr/>
        </p:nvSpPr>
        <p:spPr>
          <a:xfrm>
            <a:off x="9780032" y="89253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6" name="Rectángulo 5">
            <a:extLst>
              <a:ext uri="{FF2B5EF4-FFF2-40B4-BE49-F238E27FC236}">
                <a16:creationId xmlns:a16="http://schemas.microsoft.com/office/drawing/2014/main" id="{FD511009-A5F7-6291-520C-74BD7C863DD9}"/>
              </a:ext>
            </a:extLst>
          </p:cNvPr>
          <p:cNvSpPr/>
          <p:nvPr/>
        </p:nvSpPr>
        <p:spPr>
          <a:xfrm>
            <a:off x="9951822" y="1506376"/>
            <a:ext cx="1464671" cy="2152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B327BC07-9F43-BC13-1448-983D0B174420}"/>
              </a:ext>
            </a:extLst>
          </p:cNvPr>
          <p:cNvSpPr/>
          <p:nvPr/>
        </p:nvSpPr>
        <p:spPr>
          <a:xfrm>
            <a:off x="9381489" y="153361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3171081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4E38-57A6-94F3-B0A4-2F8DE43CA873}"/>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E26E26F7-9CBC-723F-BC2F-A6B194EB3E51}"/>
              </a:ext>
            </a:extLst>
          </p:cNvPr>
          <p:cNvPicPr>
            <a:picLocks noChangeAspect="1"/>
          </p:cNvPicPr>
          <p:nvPr/>
        </p:nvPicPr>
        <p:blipFill>
          <a:blip r:embed="rId3"/>
          <a:stretch>
            <a:fillRect/>
          </a:stretch>
        </p:blipFill>
        <p:spPr>
          <a:xfrm>
            <a:off x="840509" y="892528"/>
            <a:ext cx="10878631" cy="4959793"/>
          </a:xfrm>
          <a:prstGeom prst="rect">
            <a:avLst/>
          </a:prstGeom>
        </p:spPr>
      </p:pic>
      <p:pic>
        <p:nvPicPr>
          <p:cNvPr id="22" name="Imagen 21">
            <a:extLst>
              <a:ext uri="{FF2B5EF4-FFF2-40B4-BE49-F238E27FC236}">
                <a16:creationId xmlns:a16="http://schemas.microsoft.com/office/drawing/2014/main" id="{565A33A2-2F70-7B63-0833-04C4FD42C1EE}"/>
              </a:ext>
            </a:extLst>
          </p:cNvPr>
          <p:cNvPicPr>
            <a:picLocks noChangeAspect="1"/>
          </p:cNvPicPr>
          <p:nvPr/>
        </p:nvPicPr>
        <p:blipFill>
          <a:blip r:embed="rId4"/>
          <a:stretch>
            <a:fillRect/>
          </a:stretch>
        </p:blipFill>
        <p:spPr>
          <a:xfrm>
            <a:off x="4077991" y="2058636"/>
            <a:ext cx="2892267" cy="2159686"/>
          </a:xfrm>
          <a:prstGeom prst="rect">
            <a:avLst/>
          </a:prstGeom>
        </p:spPr>
      </p:pic>
      <p:sp>
        <p:nvSpPr>
          <p:cNvPr id="2" name="Marcador de texto vertical 1">
            <a:extLst>
              <a:ext uri="{FF2B5EF4-FFF2-40B4-BE49-F238E27FC236}">
                <a16:creationId xmlns:a16="http://schemas.microsoft.com/office/drawing/2014/main" id="{7D95A6FD-C130-124A-0A5F-31B0EB5D14A7}"/>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088208EA-CAE3-146C-C7A3-275AD9C8CE6A}"/>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8" name="Rectángulo: esquinas redondeadas 7">
            <a:extLst>
              <a:ext uri="{FF2B5EF4-FFF2-40B4-BE49-F238E27FC236}">
                <a16:creationId xmlns:a16="http://schemas.microsoft.com/office/drawing/2014/main" id="{A4D927A0-5147-C1B5-3BE5-ADF481833D29}"/>
              </a:ext>
            </a:extLst>
          </p:cNvPr>
          <p:cNvSpPr/>
          <p:nvPr/>
        </p:nvSpPr>
        <p:spPr>
          <a:xfrm>
            <a:off x="1195402" y="4382324"/>
            <a:ext cx="9666562" cy="165567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1"/>
            </a:pPr>
            <a:r>
              <a:rPr lang="es-ES_tradnl" sz="1200" dirty="0"/>
              <a:t>Automáticamente, la página muestra el código  del proceso y el número asignado*</a:t>
            </a:r>
          </a:p>
          <a:p>
            <a:pPr marL="228600" indent="-228600">
              <a:buFont typeface="+mj-lt"/>
              <a:buAutoNum type="arabicPeriod" startAt="11"/>
            </a:pPr>
            <a:r>
              <a:rPr lang="es-ES_tradnl" sz="1200" dirty="0"/>
              <a:t>Presione los tres puntos del campo </a:t>
            </a:r>
            <a:r>
              <a:rPr lang="es-ES_tradnl" sz="1200" b="1" dirty="0"/>
              <a:t>Nombre de archivo</a:t>
            </a:r>
            <a:r>
              <a:rPr lang="es-ES_tradnl" sz="1200" dirty="0"/>
              <a:t>.</a:t>
            </a:r>
          </a:p>
          <a:p>
            <a:pPr marL="228600" indent="-228600">
              <a:buFont typeface="+mj-lt"/>
              <a:buAutoNum type="arabicPeriod" startAt="11"/>
            </a:pPr>
            <a:r>
              <a:rPr lang="es-ES_tradnl" sz="1200" dirty="0"/>
              <a:t>Seleccione, de la ventana que emergió, el archivo .lis que se muestra (se despliega solamente si el proceso terminó su ejecución), presionando el botón </a:t>
            </a:r>
            <a:r>
              <a:rPr lang="es-ES_tradnl" sz="1200" b="1" dirty="0"/>
              <a:t>OK</a:t>
            </a:r>
            <a:endParaRPr lang="es-419" sz="1200" dirty="0"/>
          </a:p>
          <a:p>
            <a:r>
              <a:rPr lang="es-419" sz="1100" dirty="0"/>
              <a:t>* El proceso de ejecución de proyecciones, si se hace masivamente, generalmente tarda en generar los resultados. Mientras se esté ejecutando, el sistema mostrará el mensaje “</a:t>
            </a:r>
            <a:r>
              <a:rPr lang="es-419" sz="1100" b="1" dirty="0"/>
              <a:t>*ERROR* No hay salidas guardadas para el nombre/número de proceso en la base de datos</a:t>
            </a:r>
            <a:r>
              <a:rPr lang="es-419" sz="1100" dirty="0"/>
              <a:t>”</a:t>
            </a:r>
            <a:r>
              <a:rPr lang="es-419" sz="1100" b="1" dirty="0"/>
              <a:t> </a:t>
            </a:r>
            <a:r>
              <a:rPr lang="es-419" sz="1100" dirty="0"/>
              <a:t>que desaparecerá cuando ya haya finalizado la ejecución de las </a:t>
            </a:r>
            <a:r>
              <a:rPr lang="es-419" sz="1100" dirty="0" err="1"/>
              <a:t>proyeccionesy</a:t>
            </a:r>
            <a:r>
              <a:rPr lang="es-419" sz="1100" dirty="0"/>
              <a:t> se puedan consultar los archivos de resultado.</a:t>
            </a:r>
          </a:p>
        </p:txBody>
      </p:sp>
      <p:sp>
        <p:nvSpPr>
          <p:cNvPr id="9" name="Rectángulo 8">
            <a:extLst>
              <a:ext uri="{FF2B5EF4-FFF2-40B4-BE49-F238E27FC236}">
                <a16:creationId xmlns:a16="http://schemas.microsoft.com/office/drawing/2014/main" id="{AC30F62A-F486-0738-1AD5-DA3497D2F03E}"/>
              </a:ext>
            </a:extLst>
          </p:cNvPr>
          <p:cNvSpPr/>
          <p:nvPr/>
        </p:nvSpPr>
        <p:spPr>
          <a:xfrm>
            <a:off x="1282883" y="1179118"/>
            <a:ext cx="6452307" cy="1880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C1B69D7C-EDFD-AC67-4883-EC30A8534BB8}"/>
              </a:ext>
            </a:extLst>
          </p:cNvPr>
          <p:cNvSpPr/>
          <p:nvPr/>
        </p:nvSpPr>
        <p:spPr>
          <a:xfrm>
            <a:off x="7746196" y="102894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
        <p:nvSpPr>
          <p:cNvPr id="14" name="Rectángulo 13">
            <a:extLst>
              <a:ext uri="{FF2B5EF4-FFF2-40B4-BE49-F238E27FC236}">
                <a16:creationId xmlns:a16="http://schemas.microsoft.com/office/drawing/2014/main" id="{57F10199-F961-A857-FC99-CDDAFFCB9C87}"/>
              </a:ext>
            </a:extLst>
          </p:cNvPr>
          <p:cNvSpPr/>
          <p:nvPr/>
        </p:nvSpPr>
        <p:spPr>
          <a:xfrm>
            <a:off x="927991" y="1359347"/>
            <a:ext cx="1819564" cy="1880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0BBEB7DD-1832-3EB5-B285-8DBE0596516D}"/>
              </a:ext>
            </a:extLst>
          </p:cNvPr>
          <p:cNvSpPr/>
          <p:nvPr/>
        </p:nvSpPr>
        <p:spPr>
          <a:xfrm>
            <a:off x="2747554" y="157652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17" name="Rectángulo 16">
            <a:extLst>
              <a:ext uri="{FF2B5EF4-FFF2-40B4-BE49-F238E27FC236}">
                <a16:creationId xmlns:a16="http://schemas.microsoft.com/office/drawing/2014/main" id="{D90A29DF-04FE-6F6E-3313-5AA1F5EBF244}"/>
              </a:ext>
            </a:extLst>
          </p:cNvPr>
          <p:cNvSpPr/>
          <p:nvPr/>
        </p:nvSpPr>
        <p:spPr>
          <a:xfrm>
            <a:off x="6483880" y="3998733"/>
            <a:ext cx="486378" cy="19775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4C513B48-8FB2-14FD-7BA0-9C654E39A682}"/>
              </a:ext>
            </a:extLst>
          </p:cNvPr>
          <p:cNvSpPr/>
          <p:nvPr/>
        </p:nvSpPr>
        <p:spPr>
          <a:xfrm>
            <a:off x="7003069" y="391832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Tree>
    <p:extLst>
      <p:ext uri="{BB962C8B-B14F-4D97-AF65-F5344CB8AC3E}">
        <p14:creationId xmlns:p14="http://schemas.microsoft.com/office/powerpoint/2010/main" val="231549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22277-66F8-E6FC-BC86-45BBC3982B2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7432289-BD86-1F88-BC04-D387E1B62FFE}"/>
              </a:ext>
            </a:extLst>
          </p:cNvPr>
          <p:cNvPicPr>
            <a:picLocks noChangeAspect="1"/>
          </p:cNvPicPr>
          <p:nvPr/>
        </p:nvPicPr>
        <p:blipFill>
          <a:blip r:embed="rId3"/>
          <a:stretch>
            <a:fillRect/>
          </a:stretch>
        </p:blipFill>
        <p:spPr>
          <a:xfrm>
            <a:off x="775507" y="847881"/>
            <a:ext cx="11072283" cy="5048083"/>
          </a:xfrm>
          <a:prstGeom prst="rect">
            <a:avLst/>
          </a:prstGeom>
        </p:spPr>
      </p:pic>
      <p:sp>
        <p:nvSpPr>
          <p:cNvPr id="2" name="Marcador de texto vertical 1">
            <a:extLst>
              <a:ext uri="{FF2B5EF4-FFF2-40B4-BE49-F238E27FC236}">
                <a16:creationId xmlns:a16="http://schemas.microsoft.com/office/drawing/2014/main" id="{D821B4AB-B9AF-BBD7-930C-A3CCB3C689CA}"/>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05A9ECDD-344D-9523-4870-960A742EA5F2}"/>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4" name="Rectángulo: esquinas redondeadas 3">
            <a:extLst>
              <a:ext uri="{FF2B5EF4-FFF2-40B4-BE49-F238E27FC236}">
                <a16:creationId xmlns:a16="http://schemas.microsoft.com/office/drawing/2014/main" id="{5D7982D7-9DA6-6D44-196C-2A68D878E1E1}"/>
              </a:ext>
            </a:extLst>
          </p:cNvPr>
          <p:cNvSpPr/>
          <p:nvPr/>
        </p:nvSpPr>
        <p:spPr>
          <a:xfrm>
            <a:off x="4009541" y="4903395"/>
            <a:ext cx="3918501" cy="60459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Puede visualizar los resultados del proceso en la página.</a:t>
            </a:r>
          </a:p>
        </p:txBody>
      </p:sp>
    </p:spTree>
    <p:extLst>
      <p:ext uri="{BB962C8B-B14F-4D97-AF65-F5344CB8AC3E}">
        <p14:creationId xmlns:p14="http://schemas.microsoft.com/office/powerpoint/2010/main" val="3749587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EFB5E-821D-CD56-98DD-C777A2B98F9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614981AB-E5C9-2E08-264D-F48FE8C294C1}"/>
              </a:ext>
            </a:extLst>
          </p:cNvPr>
          <p:cNvPicPr>
            <a:picLocks noChangeAspect="1"/>
          </p:cNvPicPr>
          <p:nvPr/>
        </p:nvPicPr>
        <p:blipFill>
          <a:blip r:embed="rId3"/>
          <a:stretch>
            <a:fillRect/>
          </a:stretch>
        </p:blipFill>
        <p:spPr>
          <a:xfrm>
            <a:off x="775507" y="846615"/>
            <a:ext cx="11072283" cy="5030755"/>
          </a:xfrm>
          <a:prstGeom prst="rect">
            <a:avLst/>
          </a:prstGeom>
        </p:spPr>
      </p:pic>
      <p:sp>
        <p:nvSpPr>
          <p:cNvPr id="2" name="Marcador de texto vertical 1">
            <a:extLst>
              <a:ext uri="{FF2B5EF4-FFF2-40B4-BE49-F238E27FC236}">
                <a16:creationId xmlns:a16="http://schemas.microsoft.com/office/drawing/2014/main" id="{072AD77E-5A2C-CA29-4ECA-A72EB06687B7}"/>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6DB92314-9985-5DFC-A438-3C096621A370}"/>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3" name="Rectángulo: esquinas redondeadas 2">
            <a:extLst>
              <a:ext uri="{FF2B5EF4-FFF2-40B4-BE49-F238E27FC236}">
                <a16:creationId xmlns:a16="http://schemas.microsoft.com/office/drawing/2014/main" id="{DA4662DA-77C6-BCAF-544D-45715762A98D}"/>
              </a:ext>
            </a:extLst>
          </p:cNvPr>
          <p:cNvSpPr/>
          <p:nvPr/>
        </p:nvSpPr>
        <p:spPr>
          <a:xfrm>
            <a:off x="1598306" y="3933511"/>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4"/>
            </a:pPr>
            <a:r>
              <a:rPr lang="es-419" sz="1200" dirty="0"/>
              <a:t>Si desea guardar los resultados del proceso, presione el ícono correspondiente al menú de  HERRAMIENTAS</a:t>
            </a:r>
          </a:p>
          <a:p>
            <a:pPr marL="228600" indent="-228600">
              <a:buFont typeface="+mj-lt"/>
              <a:buAutoNum type="arabicPeriod" startAt="14"/>
            </a:pPr>
            <a:r>
              <a:rPr lang="es-419" sz="1200" dirty="0"/>
              <a:t>Seleccione la opción  Mostrar documento (guardar e imprimir)</a:t>
            </a:r>
          </a:p>
        </p:txBody>
      </p:sp>
      <p:sp>
        <p:nvSpPr>
          <p:cNvPr id="5" name="Rectángulo 4">
            <a:extLst>
              <a:ext uri="{FF2B5EF4-FFF2-40B4-BE49-F238E27FC236}">
                <a16:creationId xmlns:a16="http://schemas.microsoft.com/office/drawing/2014/main" id="{B4806C71-90D0-B15C-390D-DF951B41EF54}"/>
              </a:ext>
            </a:extLst>
          </p:cNvPr>
          <p:cNvSpPr/>
          <p:nvPr/>
        </p:nvSpPr>
        <p:spPr>
          <a:xfrm>
            <a:off x="11557261" y="893840"/>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A45C1BF0-8AE4-C9C7-77F8-5E62D076989E}"/>
              </a:ext>
            </a:extLst>
          </p:cNvPr>
          <p:cNvSpPr/>
          <p:nvPr/>
        </p:nvSpPr>
        <p:spPr>
          <a:xfrm>
            <a:off x="11043337" y="68580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8" name="Rectángulo 7">
            <a:extLst>
              <a:ext uri="{FF2B5EF4-FFF2-40B4-BE49-F238E27FC236}">
                <a16:creationId xmlns:a16="http://schemas.microsoft.com/office/drawing/2014/main" id="{51ACDF45-6CEE-7BBF-410F-A3C3D6291804}"/>
              </a:ext>
            </a:extLst>
          </p:cNvPr>
          <p:cNvSpPr/>
          <p:nvPr/>
        </p:nvSpPr>
        <p:spPr>
          <a:xfrm>
            <a:off x="10011803" y="4430598"/>
            <a:ext cx="1749754" cy="32456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F33B2789-7C94-CF3C-1BA5-33817489E291}"/>
              </a:ext>
            </a:extLst>
          </p:cNvPr>
          <p:cNvSpPr/>
          <p:nvPr/>
        </p:nvSpPr>
        <p:spPr>
          <a:xfrm>
            <a:off x="9578666" y="434854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Tree>
    <p:extLst>
      <p:ext uri="{BB962C8B-B14F-4D97-AF65-F5344CB8AC3E}">
        <p14:creationId xmlns:p14="http://schemas.microsoft.com/office/powerpoint/2010/main" val="2122528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04C9-211A-0CC3-071F-3E2DCAFE70AE}"/>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396BAEB1-B351-847D-7333-1ABECD0E0399}"/>
              </a:ext>
            </a:extLst>
          </p:cNvPr>
          <p:cNvPicPr>
            <a:picLocks noChangeAspect="1"/>
          </p:cNvPicPr>
          <p:nvPr/>
        </p:nvPicPr>
        <p:blipFill>
          <a:blip r:embed="rId3"/>
          <a:stretch>
            <a:fillRect/>
          </a:stretch>
        </p:blipFill>
        <p:spPr>
          <a:xfrm>
            <a:off x="741571" y="813693"/>
            <a:ext cx="11118074" cy="5063677"/>
          </a:xfrm>
          <a:prstGeom prst="rect">
            <a:avLst/>
          </a:prstGeom>
        </p:spPr>
      </p:pic>
      <p:sp>
        <p:nvSpPr>
          <p:cNvPr id="2" name="Marcador de texto vertical 1">
            <a:extLst>
              <a:ext uri="{FF2B5EF4-FFF2-40B4-BE49-F238E27FC236}">
                <a16:creationId xmlns:a16="http://schemas.microsoft.com/office/drawing/2014/main" id="{09EFEA87-A389-D3F7-1581-E67D699F61AA}"/>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08D64257-FC30-98CD-7670-E79605975E58}"/>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4" name="Rectángulo: esquinas redondeadas 3">
            <a:extLst>
              <a:ext uri="{FF2B5EF4-FFF2-40B4-BE49-F238E27FC236}">
                <a16:creationId xmlns:a16="http://schemas.microsoft.com/office/drawing/2014/main" id="{F494BD70-09A3-617C-A007-DA77ED9017A7}"/>
              </a:ext>
            </a:extLst>
          </p:cNvPr>
          <p:cNvSpPr/>
          <p:nvPr/>
        </p:nvSpPr>
        <p:spPr>
          <a:xfrm>
            <a:off x="3815033" y="4302890"/>
            <a:ext cx="3388225"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6"/>
            </a:pPr>
            <a:r>
              <a:rPr lang="es-419" sz="1200" dirty="0"/>
              <a:t>Presione el botón Guardar archivo</a:t>
            </a:r>
          </a:p>
        </p:txBody>
      </p:sp>
      <p:sp>
        <p:nvSpPr>
          <p:cNvPr id="6" name="Rectángulo 5">
            <a:extLst>
              <a:ext uri="{FF2B5EF4-FFF2-40B4-BE49-F238E27FC236}">
                <a16:creationId xmlns:a16="http://schemas.microsoft.com/office/drawing/2014/main" id="{5AA7D8F8-9CE0-E745-8F6C-E9952A75D9B6}"/>
              </a:ext>
            </a:extLst>
          </p:cNvPr>
          <p:cNvSpPr/>
          <p:nvPr/>
        </p:nvSpPr>
        <p:spPr>
          <a:xfrm>
            <a:off x="6086764" y="3544378"/>
            <a:ext cx="852408" cy="25223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CEA7351A-D0C7-B462-2595-641DD63941BB}"/>
              </a:ext>
            </a:extLst>
          </p:cNvPr>
          <p:cNvSpPr/>
          <p:nvPr/>
        </p:nvSpPr>
        <p:spPr>
          <a:xfrm>
            <a:off x="5587642" y="377703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Tree>
    <p:extLst>
      <p:ext uri="{BB962C8B-B14F-4D97-AF65-F5344CB8AC3E}">
        <p14:creationId xmlns:p14="http://schemas.microsoft.com/office/powerpoint/2010/main" val="2809519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1E8B-0D71-B951-E546-8E4FA98C80BA}"/>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7B88C905-9933-62A8-0038-00248879013B}"/>
              </a:ext>
            </a:extLst>
          </p:cNvPr>
          <p:cNvPicPr>
            <a:picLocks noChangeAspect="1"/>
          </p:cNvPicPr>
          <p:nvPr/>
        </p:nvPicPr>
        <p:blipFill>
          <a:blip r:embed="rId3"/>
          <a:stretch>
            <a:fillRect/>
          </a:stretch>
        </p:blipFill>
        <p:spPr>
          <a:xfrm>
            <a:off x="741571" y="813693"/>
            <a:ext cx="11016320" cy="5490839"/>
          </a:xfrm>
          <a:prstGeom prst="rect">
            <a:avLst/>
          </a:prstGeom>
        </p:spPr>
      </p:pic>
      <p:sp>
        <p:nvSpPr>
          <p:cNvPr id="2" name="Marcador de texto vertical 1">
            <a:extLst>
              <a:ext uri="{FF2B5EF4-FFF2-40B4-BE49-F238E27FC236}">
                <a16:creationId xmlns:a16="http://schemas.microsoft.com/office/drawing/2014/main" id="{96ECD125-629C-F4EB-8289-EEB781B3E797}"/>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C1744B52-90FC-9054-A236-A8EBCACDF3B7}"/>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3" name="Rectángulo: esquinas redondeadas 2">
            <a:extLst>
              <a:ext uri="{FF2B5EF4-FFF2-40B4-BE49-F238E27FC236}">
                <a16:creationId xmlns:a16="http://schemas.microsoft.com/office/drawing/2014/main" id="{2D99AE0D-4528-2569-17BE-B410CC245277}"/>
              </a:ext>
            </a:extLst>
          </p:cNvPr>
          <p:cNvSpPr/>
          <p:nvPr/>
        </p:nvSpPr>
        <p:spPr>
          <a:xfrm>
            <a:off x="2424546" y="4515326"/>
            <a:ext cx="7342908"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6"/>
            </a:pPr>
            <a:r>
              <a:rPr lang="es-419" sz="1200" dirty="0"/>
              <a:t>El sistema muestra el archivo .lis que se descarga para su consulta (por medio de un block de notas, por ejemplo)</a:t>
            </a:r>
          </a:p>
          <a:p>
            <a:pPr marL="228600" indent="-228600">
              <a:buFont typeface="+mj-lt"/>
              <a:buAutoNum type="arabicPeriod" startAt="16"/>
            </a:pPr>
            <a:r>
              <a:rPr lang="es-419" sz="1200" dirty="0"/>
              <a:t>Presione el botón OK para finalizar la operación</a:t>
            </a:r>
          </a:p>
        </p:txBody>
      </p:sp>
      <p:cxnSp>
        <p:nvCxnSpPr>
          <p:cNvPr id="5" name="Conector recto de flecha 4">
            <a:extLst>
              <a:ext uri="{FF2B5EF4-FFF2-40B4-BE49-F238E27FC236}">
                <a16:creationId xmlns:a16="http://schemas.microsoft.com/office/drawing/2014/main" id="{E3D431AA-4B0C-1FDB-DCFC-BA4FA575EF15}"/>
              </a:ext>
            </a:extLst>
          </p:cNvPr>
          <p:cNvCxnSpPr>
            <a:cxnSpLocks/>
            <a:stCxn id="7" idx="0"/>
            <a:endCxn id="9" idx="1"/>
          </p:cNvCxnSpPr>
          <p:nvPr/>
        </p:nvCxnSpPr>
        <p:spPr>
          <a:xfrm flipV="1">
            <a:off x="6212662" y="1131902"/>
            <a:ext cx="2318026" cy="17648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F191210D-4096-0859-976A-C8E1EC298B89}"/>
              </a:ext>
            </a:extLst>
          </p:cNvPr>
          <p:cNvSpPr/>
          <p:nvPr/>
        </p:nvSpPr>
        <p:spPr>
          <a:xfrm>
            <a:off x="4777614" y="2896781"/>
            <a:ext cx="2870095" cy="15366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4BE764A8-33A9-98F1-B567-3CFDCA702625}"/>
              </a:ext>
            </a:extLst>
          </p:cNvPr>
          <p:cNvSpPr/>
          <p:nvPr/>
        </p:nvSpPr>
        <p:spPr>
          <a:xfrm>
            <a:off x="8314119" y="1526129"/>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
        <p:nvSpPr>
          <p:cNvPr id="9" name="Rectángulo 8">
            <a:extLst>
              <a:ext uri="{FF2B5EF4-FFF2-40B4-BE49-F238E27FC236}">
                <a16:creationId xmlns:a16="http://schemas.microsoft.com/office/drawing/2014/main" id="{A2671C39-C741-A1A5-C7C4-377EDDC4EC0E}"/>
              </a:ext>
            </a:extLst>
          </p:cNvPr>
          <p:cNvSpPr/>
          <p:nvPr/>
        </p:nvSpPr>
        <p:spPr>
          <a:xfrm>
            <a:off x="8530688" y="813693"/>
            <a:ext cx="2580657" cy="6364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C04FF2C1-82E1-49CF-02BF-54E61CC04790}"/>
              </a:ext>
            </a:extLst>
          </p:cNvPr>
          <p:cNvSpPr/>
          <p:nvPr/>
        </p:nvSpPr>
        <p:spPr>
          <a:xfrm>
            <a:off x="7019635" y="3999345"/>
            <a:ext cx="433137" cy="28751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DBCA0A8C-8621-7ADA-51C6-786E2C014B7F}"/>
              </a:ext>
            </a:extLst>
          </p:cNvPr>
          <p:cNvSpPr/>
          <p:nvPr/>
        </p:nvSpPr>
        <p:spPr>
          <a:xfrm>
            <a:off x="6535213" y="401130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Tree>
    <p:extLst>
      <p:ext uri="{BB962C8B-B14F-4D97-AF65-F5344CB8AC3E}">
        <p14:creationId xmlns:p14="http://schemas.microsoft.com/office/powerpoint/2010/main" val="673675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0E135-FD82-5D28-18BF-1801B3CB4E19}"/>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320416DB-FD4C-DF61-2173-BFE685B008A8}"/>
              </a:ext>
            </a:extLst>
          </p:cNvPr>
          <p:cNvPicPr>
            <a:picLocks noChangeAspect="1"/>
          </p:cNvPicPr>
          <p:nvPr/>
        </p:nvPicPr>
        <p:blipFill>
          <a:blip r:embed="rId3"/>
          <a:stretch>
            <a:fillRect/>
          </a:stretch>
        </p:blipFill>
        <p:spPr>
          <a:xfrm>
            <a:off x="775507" y="913358"/>
            <a:ext cx="11066517" cy="5031284"/>
          </a:xfrm>
          <a:prstGeom prst="rect">
            <a:avLst/>
          </a:prstGeom>
        </p:spPr>
      </p:pic>
      <p:sp>
        <p:nvSpPr>
          <p:cNvPr id="2" name="Marcador de texto vertical 1">
            <a:extLst>
              <a:ext uri="{FF2B5EF4-FFF2-40B4-BE49-F238E27FC236}">
                <a16:creationId xmlns:a16="http://schemas.microsoft.com/office/drawing/2014/main" id="{71B86213-52CD-129C-8C0B-B382FA171AB9}"/>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C00ADCAA-B1F9-6F03-C193-F0A7BE4D4C99}"/>
              </a:ext>
            </a:extLst>
          </p:cNvPr>
          <p:cNvSpPr>
            <a:spLocks noGrp="1"/>
          </p:cNvSpPr>
          <p:nvPr>
            <p:ph type="title"/>
          </p:nvPr>
        </p:nvSpPr>
        <p:spPr>
          <a:xfrm>
            <a:off x="938996" y="304614"/>
            <a:ext cx="10477497" cy="898555"/>
          </a:xfrm>
        </p:spPr>
        <p:txBody>
          <a:bodyPr/>
          <a:lstStyle/>
          <a:p>
            <a:r>
              <a:rPr lang="es-419" dirty="0">
                <a:solidFill>
                  <a:schemeClr val="tx2"/>
                </a:solidFill>
              </a:rPr>
              <a:t>Proceso de proyección del alumno (SFPPROJ</a:t>
            </a:r>
            <a:r>
              <a:rPr lang="es-ES_tradnl" dirty="0">
                <a:solidFill>
                  <a:schemeClr val="tx2"/>
                </a:solidFill>
              </a:rPr>
              <a:t>)</a:t>
            </a:r>
            <a:endParaRPr lang="es-ES_tradnl" b="1" dirty="0"/>
          </a:p>
        </p:txBody>
      </p:sp>
      <p:sp>
        <p:nvSpPr>
          <p:cNvPr id="4" name="Rectángulo: esquinas redondeadas 3">
            <a:extLst>
              <a:ext uri="{FF2B5EF4-FFF2-40B4-BE49-F238E27FC236}">
                <a16:creationId xmlns:a16="http://schemas.microsoft.com/office/drawing/2014/main" id="{70CD1CC7-2801-97CC-77A5-7B4F4C0D0154}"/>
              </a:ext>
            </a:extLst>
          </p:cNvPr>
          <p:cNvSpPr/>
          <p:nvPr/>
        </p:nvSpPr>
        <p:spPr>
          <a:xfrm>
            <a:off x="3815033" y="4302890"/>
            <a:ext cx="4848676"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8"/>
            </a:pPr>
            <a:r>
              <a:rPr lang="es-419" sz="1200" dirty="0"/>
              <a:t>Cierre la ventana de Extracción del archivo y salga de la página GJIREVO. </a:t>
            </a:r>
          </a:p>
        </p:txBody>
      </p:sp>
      <p:sp>
        <p:nvSpPr>
          <p:cNvPr id="6" name="Rectángulo 5">
            <a:extLst>
              <a:ext uri="{FF2B5EF4-FFF2-40B4-BE49-F238E27FC236}">
                <a16:creationId xmlns:a16="http://schemas.microsoft.com/office/drawing/2014/main" id="{7FEA1330-ACD1-E84D-6D79-7B24EA2C1D03}"/>
              </a:ext>
            </a:extLst>
          </p:cNvPr>
          <p:cNvSpPr/>
          <p:nvPr/>
        </p:nvSpPr>
        <p:spPr>
          <a:xfrm>
            <a:off x="6943309" y="3658414"/>
            <a:ext cx="528910" cy="2300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3AD765D-317B-407A-BC5B-50090B46418F}"/>
              </a:ext>
            </a:extLst>
          </p:cNvPr>
          <p:cNvSpPr/>
          <p:nvPr/>
        </p:nvSpPr>
        <p:spPr>
          <a:xfrm>
            <a:off x="7585132" y="383770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Tree>
    <p:extLst>
      <p:ext uri="{BB962C8B-B14F-4D97-AF65-F5344CB8AC3E}">
        <p14:creationId xmlns:p14="http://schemas.microsoft.com/office/powerpoint/2010/main" val="2698892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F936A-6138-C2CE-467F-1A82C2EC4739}"/>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DCFC5A2-E81E-AD48-E017-33771366300B}"/>
              </a:ext>
            </a:extLst>
          </p:cNvPr>
          <p:cNvSpPr>
            <a:spLocks noGrp="1"/>
          </p:cNvSpPr>
          <p:nvPr>
            <p:ph type="body" sz="quarter" idx="10"/>
          </p:nvPr>
        </p:nvSpPr>
        <p:spPr>
          <a:xfrm>
            <a:off x="914399" y="2238843"/>
            <a:ext cx="10363202" cy="1333891"/>
          </a:xfrm>
        </p:spPr>
        <p:txBody>
          <a:bodyPr/>
          <a:lstStyle/>
          <a:p>
            <a:r>
              <a:rPr lang="es-CL" dirty="0"/>
              <a:t>Resultados de la Proyección por alumno</a:t>
            </a:r>
            <a:endParaRPr lang="es-419" dirty="0"/>
          </a:p>
        </p:txBody>
      </p:sp>
      <p:sp>
        <p:nvSpPr>
          <p:cNvPr id="2" name="Marcador de texto vertical 1">
            <a:extLst>
              <a:ext uri="{FF2B5EF4-FFF2-40B4-BE49-F238E27FC236}">
                <a16:creationId xmlns:a16="http://schemas.microsoft.com/office/drawing/2014/main" id="{13B0AD55-EC6C-C240-E27E-366C99E6C137}"/>
              </a:ext>
            </a:extLst>
          </p:cNvPr>
          <p:cNvSpPr>
            <a:spLocks noGrp="1"/>
          </p:cNvSpPr>
          <p:nvPr>
            <p:ph type="body" sz="quarter" idx="11"/>
          </p:nvPr>
        </p:nvSpPr>
        <p:spPr/>
        <p:txBody>
          <a:bodyPr/>
          <a:lstStyle/>
          <a:p>
            <a:r>
              <a:rPr lang="es-419" sz="1200" dirty="0"/>
              <a:t>Proyección Académica</a:t>
            </a:r>
          </a:p>
        </p:txBody>
      </p:sp>
    </p:spTree>
    <p:extLst>
      <p:ext uri="{BB962C8B-B14F-4D97-AF65-F5344CB8AC3E}">
        <p14:creationId xmlns:p14="http://schemas.microsoft.com/office/powerpoint/2010/main" val="2410163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3AB7-D4F1-6594-2CDD-20FAE3C76298}"/>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A3C833C6-8DC1-9625-EAFB-A33CAA581013}"/>
              </a:ext>
            </a:extLst>
          </p:cNvPr>
          <p:cNvPicPr>
            <a:picLocks noChangeAspect="1"/>
          </p:cNvPicPr>
          <p:nvPr/>
        </p:nvPicPr>
        <p:blipFill>
          <a:blip r:embed="rId3"/>
          <a:stretch>
            <a:fillRect/>
          </a:stretch>
        </p:blipFill>
        <p:spPr>
          <a:xfrm>
            <a:off x="938996" y="1200248"/>
            <a:ext cx="10477497" cy="971857"/>
          </a:xfrm>
          <a:prstGeom prst="rect">
            <a:avLst/>
          </a:prstGeom>
        </p:spPr>
      </p:pic>
      <p:sp>
        <p:nvSpPr>
          <p:cNvPr id="2" name="Marcador de texto vertical 1">
            <a:extLst>
              <a:ext uri="{FF2B5EF4-FFF2-40B4-BE49-F238E27FC236}">
                <a16:creationId xmlns:a16="http://schemas.microsoft.com/office/drawing/2014/main" id="{E533D657-084A-82EF-E3EC-31FAEBEA3C66}"/>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1480E1C9-1537-D794-AEE3-907EF5757481}"/>
              </a:ext>
            </a:extLst>
          </p:cNvPr>
          <p:cNvSpPr>
            <a:spLocks noGrp="1"/>
          </p:cNvSpPr>
          <p:nvPr>
            <p:ph type="title"/>
          </p:nvPr>
        </p:nvSpPr>
        <p:spPr>
          <a:xfrm>
            <a:off x="938996" y="304614"/>
            <a:ext cx="10477497" cy="898555"/>
          </a:xfrm>
        </p:spPr>
        <p:txBody>
          <a:bodyPr/>
          <a:lstStyle/>
          <a:p>
            <a:r>
              <a:rPr lang="es-419" dirty="0">
                <a:solidFill>
                  <a:schemeClr val="tx2"/>
                </a:solidFill>
              </a:rPr>
              <a:t>Mantenimiento de proyección (</a:t>
            </a:r>
            <a:r>
              <a:rPr lang="es-ES_tradnl" dirty="0">
                <a:solidFill>
                  <a:schemeClr val="tx2"/>
                </a:solidFill>
              </a:rPr>
              <a:t>SFAPROJ)</a:t>
            </a:r>
          </a:p>
        </p:txBody>
      </p:sp>
      <p:sp>
        <p:nvSpPr>
          <p:cNvPr id="7" name="Rectángulo 6">
            <a:extLst>
              <a:ext uri="{FF2B5EF4-FFF2-40B4-BE49-F238E27FC236}">
                <a16:creationId xmlns:a16="http://schemas.microsoft.com/office/drawing/2014/main" id="{6507D58A-3F81-88CF-0953-C9705CDDB8B5}"/>
              </a:ext>
            </a:extLst>
          </p:cNvPr>
          <p:cNvSpPr/>
          <p:nvPr/>
        </p:nvSpPr>
        <p:spPr>
          <a:xfrm>
            <a:off x="1431636" y="1497006"/>
            <a:ext cx="1385460"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D3663E59-F1AE-0968-CF46-7F378F2D13C7}"/>
              </a:ext>
            </a:extLst>
          </p:cNvPr>
          <p:cNvSpPr/>
          <p:nvPr/>
        </p:nvSpPr>
        <p:spPr>
          <a:xfrm>
            <a:off x="11069163" y="1494992"/>
            <a:ext cx="338094"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esquinas redondeadas 8">
            <a:extLst>
              <a:ext uri="{FF2B5EF4-FFF2-40B4-BE49-F238E27FC236}">
                <a16:creationId xmlns:a16="http://schemas.microsoft.com/office/drawing/2014/main" id="{1EA95168-894D-7B46-57C0-468583CE3E2C}"/>
              </a:ext>
            </a:extLst>
          </p:cNvPr>
          <p:cNvSpPr/>
          <p:nvPr/>
        </p:nvSpPr>
        <p:spPr>
          <a:xfrm>
            <a:off x="2261729" y="2731752"/>
            <a:ext cx="7381035" cy="13944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la página SFAPROJ podrá visualizarse para cada estudiante la lista de asignaturas proyectadas para un periodo académico determinado; igualmente estas proyecciones pueden ser modificadas en esta página. Para ello:</a:t>
            </a:r>
          </a:p>
          <a:p>
            <a:pPr marL="228600" indent="-228600">
              <a:buFont typeface="+mj-lt"/>
              <a:buAutoNum type="arabicPeriod"/>
            </a:pPr>
            <a:r>
              <a:rPr lang="es-ES_tradnl" sz="1200" dirty="0"/>
              <a:t>Ingrese  el Id del estudiante </a:t>
            </a:r>
          </a:p>
          <a:p>
            <a:pPr marL="228600" indent="-228600">
              <a:buFont typeface="+mj-lt"/>
              <a:buAutoNum type="arabicPeriod"/>
            </a:pPr>
            <a:r>
              <a:rPr lang="es-ES_tradnl" sz="1200" dirty="0"/>
              <a:t>Ingrese o seleccione el periodo académico de la proyección a consultar/modificar.</a:t>
            </a:r>
          </a:p>
          <a:p>
            <a:pPr marL="228600" indent="-228600">
              <a:buFont typeface="+mj-lt"/>
              <a:buAutoNum type="arabicPeriod"/>
            </a:pPr>
            <a:r>
              <a:rPr lang="es-ES_tradnl" sz="1200" dirty="0"/>
              <a:t>Presione el botón Ir</a:t>
            </a:r>
            <a:r>
              <a:rPr lang="es-CO" sz="1200" dirty="0"/>
              <a:t>.</a:t>
            </a:r>
            <a:endParaRPr lang="es-ES_tradnl" sz="1200" dirty="0"/>
          </a:p>
        </p:txBody>
      </p:sp>
      <p:sp>
        <p:nvSpPr>
          <p:cNvPr id="10" name="Rectángulo redondeado 15">
            <a:extLst>
              <a:ext uri="{FF2B5EF4-FFF2-40B4-BE49-F238E27FC236}">
                <a16:creationId xmlns:a16="http://schemas.microsoft.com/office/drawing/2014/main" id="{C8CBA9A5-2263-5AB0-14B3-787E3EE5A573}"/>
              </a:ext>
            </a:extLst>
          </p:cNvPr>
          <p:cNvSpPr/>
          <p:nvPr/>
        </p:nvSpPr>
        <p:spPr>
          <a:xfrm>
            <a:off x="968748" y="1402759"/>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1" name="Rectángulo redondeado 15">
            <a:extLst>
              <a:ext uri="{FF2B5EF4-FFF2-40B4-BE49-F238E27FC236}">
                <a16:creationId xmlns:a16="http://schemas.microsoft.com/office/drawing/2014/main" id="{C3ADF87F-ECBC-F652-0E97-94270BDF2988}"/>
              </a:ext>
            </a:extLst>
          </p:cNvPr>
          <p:cNvSpPr/>
          <p:nvPr/>
        </p:nvSpPr>
        <p:spPr>
          <a:xfrm>
            <a:off x="10636026" y="171680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2" name="Rectángulo 11">
            <a:extLst>
              <a:ext uri="{FF2B5EF4-FFF2-40B4-BE49-F238E27FC236}">
                <a16:creationId xmlns:a16="http://schemas.microsoft.com/office/drawing/2014/main" id="{889664BC-9F83-7D79-9BBF-CC116CC6AC0A}"/>
              </a:ext>
            </a:extLst>
          </p:cNvPr>
          <p:cNvSpPr/>
          <p:nvPr/>
        </p:nvSpPr>
        <p:spPr>
          <a:xfrm>
            <a:off x="6121380" y="1497006"/>
            <a:ext cx="1498619"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E7BED987-53E1-25C2-777E-23A56146875E}"/>
              </a:ext>
            </a:extLst>
          </p:cNvPr>
          <p:cNvSpPr/>
          <p:nvPr/>
        </p:nvSpPr>
        <p:spPr>
          <a:xfrm>
            <a:off x="7534549" y="170077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3967947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2C4F-EF6A-8258-30D3-6F14620D95D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84F7E71-7FA3-9879-AE0B-716CF75EA602}"/>
              </a:ext>
            </a:extLst>
          </p:cNvPr>
          <p:cNvPicPr>
            <a:picLocks noChangeAspect="1"/>
          </p:cNvPicPr>
          <p:nvPr/>
        </p:nvPicPr>
        <p:blipFill>
          <a:blip r:embed="rId3"/>
          <a:stretch>
            <a:fillRect/>
          </a:stretch>
        </p:blipFill>
        <p:spPr>
          <a:xfrm>
            <a:off x="938996" y="993560"/>
            <a:ext cx="10717295" cy="4875055"/>
          </a:xfrm>
          <a:prstGeom prst="rect">
            <a:avLst/>
          </a:prstGeom>
        </p:spPr>
      </p:pic>
      <p:sp>
        <p:nvSpPr>
          <p:cNvPr id="2" name="Marcador de texto vertical 1">
            <a:extLst>
              <a:ext uri="{FF2B5EF4-FFF2-40B4-BE49-F238E27FC236}">
                <a16:creationId xmlns:a16="http://schemas.microsoft.com/office/drawing/2014/main" id="{86F37FEF-A916-3E42-731C-127CAC0CEBA8}"/>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32D07172-370E-1035-E3EF-5C94F9C21AE0}"/>
              </a:ext>
            </a:extLst>
          </p:cNvPr>
          <p:cNvSpPr>
            <a:spLocks noGrp="1"/>
          </p:cNvSpPr>
          <p:nvPr>
            <p:ph type="title"/>
          </p:nvPr>
        </p:nvSpPr>
        <p:spPr>
          <a:xfrm>
            <a:off x="938996" y="304614"/>
            <a:ext cx="10477497" cy="898555"/>
          </a:xfrm>
        </p:spPr>
        <p:txBody>
          <a:bodyPr/>
          <a:lstStyle/>
          <a:p>
            <a:r>
              <a:rPr lang="es-419" dirty="0">
                <a:solidFill>
                  <a:schemeClr val="tx2"/>
                </a:solidFill>
              </a:rPr>
              <a:t>Mantenimiento de proyección (</a:t>
            </a:r>
            <a:r>
              <a:rPr lang="es-ES_tradnl" dirty="0">
                <a:solidFill>
                  <a:schemeClr val="tx2"/>
                </a:solidFill>
              </a:rPr>
              <a:t>SFAPROJ)</a:t>
            </a:r>
          </a:p>
        </p:txBody>
      </p:sp>
      <p:sp>
        <p:nvSpPr>
          <p:cNvPr id="7" name="Rectángulo 6">
            <a:extLst>
              <a:ext uri="{FF2B5EF4-FFF2-40B4-BE49-F238E27FC236}">
                <a16:creationId xmlns:a16="http://schemas.microsoft.com/office/drawing/2014/main" id="{B50DB1FE-690D-645F-9430-AB830EA61254}"/>
              </a:ext>
            </a:extLst>
          </p:cNvPr>
          <p:cNvSpPr/>
          <p:nvPr/>
        </p:nvSpPr>
        <p:spPr>
          <a:xfrm>
            <a:off x="1181068" y="4448230"/>
            <a:ext cx="69391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F778A99D-4C80-A690-C3E7-3FAA829534A8}"/>
              </a:ext>
            </a:extLst>
          </p:cNvPr>
          <p:cNvSpPr/>
          <p:nvPr/>
        </p:nvSpPr>
        <p:spPr>
          <a:xfrm>
            <a:off x="11069163" y="4403263"/>
            <a:ext cx="587128"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esquinas redondeadas 8">
            <a:extLst>
              <a:ext uri="{FF2B5EF4-FFF2-40B4-BE49-F238E27FC236}">
                <a16:creationId xmlns:a16="http://schemas.microsoft.com/office/drawing/2014/main" id="{F4F3938A-C23F-D8DA-5C0E-1346E426FC6B}"/>
              </a:ext>
            </a:extLst>
          </p:cNvPr>
          <p:cNvSpPr/>
          <p:nvPr/>
        </p:nvSpPr>
        <p:spPr>
          <a:xfrm>
            <a:off x="2447046" y="4746245"/>
            <a:ext cx="7297908" cy="8985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419" sz="1200" dirty="0"/>
              <a:t>Ya dentro de la página administrativa se puede visualizar la lista de asignaturas que el estudiante tiene proyectadas, las mismas que fueron definidas en función a la última ejecución del CAPP del periodo consultado y los parámetros considerados al momento de ejecutar la proyección (SFPPROJ).</a:t>
            </a:r>
          </a:p>
        </p:txBody>
      </p:sp>
    </p:spTree>
    <p:extLst>
      <p:ext uri="{BB962C8B-B14F-4D97-AF65-F5344CB8AC3E}">
        <p14:creationId xmlns:p14="http://schemas.microsoft.com/office/powerpoint/2010/main" val="72233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0D54C-5F0C-C886-B275-FF5C81EC936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656128D-6B5E-ADC3-2C48-756C517572CD}"/>
              </a:ext>
            </a:extLst>
          </p:cNvPr>
          <p:cNvPicPr>
            <a:picLocks noChangeAspect="1"/>
          </p:cNvPicPr>
          <p:nvPr/>
        </p:nvPicPr>
        <p:blipFill>
          <a:blip r:embed="rId3"/>
          <a:stretch>
            <a:fillRect/>
          </a:stretch>
        </p:blipFill>
        <p:spPr>
          <a:xfrm>
            <a:off x="938996" y="989385"/>
            <a:ext cx="10717295" cy="4872514"/>
          </a:xfrm>
          <a:prstGeom prst="rect">
            <a:avLst/>
          </a:prstGeom>
        </p:spPr>
      </p:pic>
      <p:sp>
        <p:nvSpPr>
          <p:cNvPr id="2" name="Marcador de texto vertical 1">
            <a:extLst>
              <a:ext uri="{FF2B5EF4-FFF2-40B4-BE49-F238E27FC236}">
                <a16:creationId xmlns:a16="http://schemas.microsoft.com/office/drawing/2014/main" id="{181BFB0F-6D96-D6B3-F4DA-A3EF749E8F33}"/>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FD84EF5F-9FC0-8B06-BACC-76F6408E0FBC}"/>
              </a:ext>
            </a:extLst>
          </p:cNvPr>
          <p:cNvSpPr>
            <a:spLocks noGrp="1"/>
          </p:cNvSpPr>
          <p:nvPr>
            <p:ph type="title"/>
          </p:nvPr>
        </p:nvSpPr>
        <p:spPr>
          <a:xfrm>
            <a:off x="938996" y="304614"/>
            <a:ext cx="10477497" cy="898555"/>
          </a:xfrm>
        </p:spPr>
        <p:txBody>
          <a:bodyPr/>
          <a:lstStyle/>
          <a:p>
            <a:r>
              <a:rPr lang="es-419" dirty="0">
                <a:solidFill>
                  <a:schemeClr val="tx2"/>
                </a:solidFill>
              </a:rPr>
              <a:t>Mantenimiento de proyección (</a:t>
            </a:r>
            <a:r>
              <a:rPr lang="es-ES_tradnl" dirty="0">
                <a:solidFill>
                  <a:schemeClr val="tx2"/>
                </a:solidFill>
              </a:rPr>
              <a:t>SFAPROJ)</a:t>
            </a:r>
          </a:p>
        </p:txBody>
      </p:sp>
      <p:sp>
        <p:nvSpPr>
          <p:cNvPr id="7" name="Rectángulo 6">
            <a:extLst>
              <a:ext uri="{FF2B5EF4-FFF2-40B4-BE49-F238E27FC236}">
                <a16:creationId xmlns:a16="http://schemas.microsoft.com/office/drawing/2014/main" id="{2FFCD1CB-5D09-33BC-3E08-8BCBB9BB8526}"/>
              </a:ext>
            </a:extLst>
          </p:cNvPr>
          <p:cNvSpPr/>
          <p:nvPr/>
        </p:nvSpPr>
        <p:spPr>
          <a:xfrm>
            <a:off x="10926618" y="1455649"/>
            <a:ext cx="326386" cy="2057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esquinas redondeadas 8">
            <a:extLst>
              <a:ext uri="{FF2B5EF4-FFF2-40B4-BE49-F238E27FC236}">
                <a16:creationId xmlns:a16="http://schemas.microsoft.com/office/drawing/2014/main" id="{97E7F039-2140-1D67-6488-44759C6AB654}"/>
              </a:ext>
            </a:extLst>
          </p:cNvPr>
          <p:cNvSpPr/>
          <p:nvPr/>
        </p:nvSpPr>
        <p:spPr>
          <a:xfrm>
            <a:off x="2447046" y="4746245"/>
            <a:ext cx="7297908" cy="8985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Las proyecciones puede ser modificadas en función a lo requerido mediante los comandos Insertar (+) y Eliminar (-) según corresponda. </a:t>
            </a:r>
          </a:p>
          <a:p>
            <a:r>
              <a:rPr lang="es-ES_tradnl" sz="1200" dirty="0"/>
              <a:t>Este último punto tiene implicancias en donde podría incorporar o eliminar una asignatura que el estudiante pudiera visualizar en su proceso de inscripción, modificando esta nómina.</a:t>
            </a:r>
            <a:endParaRPr lang="es-419" sz="1200" dirty="0"/>
          </a:p>
        </p:txBody>
      </p:sp>
    </p:spTree>
    <p:extLst>
      <p:ext uri="{BB962C8B-B14F-4D97-AF65-F5344CB8AC3E}">
        <p14:creationId xmlns:p14="http://schemas.microsoft.com/office/powerpoint/2010/main" val="15066299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750F-30B1-A5F4-0D56-764B56813E5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63B373E-B18A-AF47-EC68-CD20F29EFE88}"/>
              </a:ext>
            </a:extLst>
          </p:cNvPr>
          <p:cNvPicPr>
            <a:picLocks noChangeAspect="1"/>
          </p:cNvPicPr>
          <p:nvPr/>
        </p:nvPicPr>
        <p:blipFill>
          <a:blip r:embed="rId3"/>
          <a:stretch>
            <a:fillRect/>
          </a:stretch>
        </p:blipFill>
        <p:spPr>
          <a:xfrm>
            <a:off x="938996" y="902269"/>
            <a:ext cx="10717295" cy="4880646"/>
          </a:xfrm>
          <a:prstGeom prst="rect">
            <a:avLst/>
          </a:prstGeom>
        </p:spPr>
      </p:pic>
      <p:sp>
        <p:nvSpPr>
          <p:cNvPr id="2" name="Marcador de texto vertical 1">
            <a:extLst>
              <a:ext uri="{FF2B5EF4-FFF2-40B4-BE49-F238E27FC236}">
                <a16:creationId xmlns:a16="http://schemas.microsoft.com/office/drawing/2014/main" id="{E94610C8-2A22-6862-C6DE-7F5FF868DB33}"/>
              </a:ext>
            </a:extLst>
          </p:cNvPr>
          <p:cNvSpPr>
            <a:spLocks noGrp="1"/>
          </p:cNvSpPr>
          <p:nvPr>
            <p:ph type="body" orient="vert" sz="quarter" idx="17"/>
          </p:nvPr>
        </p:nvSpPr>
        <p:spPr/>
        <p:txBody>
          <a:bodyPr/>
          <a:lstStyle/>
          <a:p>
            <a:r>
              <a:rPr lang="es-419" sz="1200" dirty="0"/>
              <a:t>Proyección Académica</a:t>
            </a:r>
          </a:p>
        </p:txBody>
      </p:sp>
      <p:sp>
        <p:nvSpPr>
          <p:cNvPr id="13" name="Title 12">
            <a:extLst>
              <a:ext uri="{FF2B5EF4-FFF2-40B4-BE49-F238E27FC236}">
                <a16:creationId xmlns:a16="http://schemas.microsoft.com/office/drawing/2014/main" id="{F4FE5E5D-1FDD-E7E7-2A79-D0344211DE7F}"/>
              </a:ext>
            </a:extLst>
          </p:cNvPr>
          <p:cNvSpPr>
            <a:spLocks noGrp="1"/>
          </p:cNvSpPr>
          <p:nvPr>
            <p:ph type="title"/>
          </p:nvPr>
        </p:nvSpPr>
        <p:spPr>
          <a:xfrm>
            <a:off x="938996" y="304614"/>
            <a:ext cx="10477497" cy="898555"/>
          </a:xfrm>
        </p:spPr>
        <p:txBody>
          <a:bodyPr/>
          <a:lstStyle/>
          <a:p>
            <a:r>
              <a:rPr lang="es-419" dirty="0">
                <a:solidFill>
                  <a:schemeClr val="tx2"/>
                </a:solidFill>
              </a:rPr>
              <a:t>Mantenimiento de proyección (</a:t>
            </a:r>
            <a:r>
              <a:rPr lang="es-ES_tradnl" dirty="0">
                <a:solidFill>
                  <a:schemeClr val="tx2"/>
                </a:solidFill>
              </a:rPr>
              <a:t>SFAPROJ)</a:t>
            </a:r>
          </a:p>
        </p:txBody>
      </p:sp>
      <p:sp>
        <p:nvSpPr>
          <p:cNvPr id="7" name="Rectángulo 6">
            <a:extLst>
              <a:ext uri="{FF2B5EF4-FFF2-40B4-BE49-F238E27FC236}">
                <a16:creationId xmlns:a16="http://schemas.microsoft.com/office/drawing/2014/main" id="{DD476BC2-FAC4-6CB7-4F0A-85D4B1E4717B}"/>
              </a:ext>
            </a:extLst>
          </p:cNvPr>
          <p:cNvSpPr/>
          <p:nvPr/>
        </p:nvSpPr>
        <p:spPr>
          <a:xfrm>
            <a:off x="938996" y="1800823"/>
            <a:ext cx="68660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esquinas redondeadas 8">
            <a:extLst>
              <a:ext uri="{FF2B5EF4-FFF2-40B4-BE49-F238E27FC236}">
                <a16:creationId xmlns:a16="http://schemas.microsoft.com/office/drawing/2014/main" id="{01F631C0-4AB6-A0D1-9A5E-BC8133C8ABAC}"/>
              </a:ext>
            </a:extLst>
          </p:cNvPr>
          <p:cNvSpPr/>
          <p:nvPr/>
        </p:nvSpPr>
        <p:spPr>
          <a:xfrm>
            <a:off x="2447046" y="4608946"/>
            <a:ext cx="7297908" cy="17716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Para insertar un nuevo registro a la proyección de un estudiante, se debe presionar el botón ‘</a:t>
            </a:r>
            <a:r>
              <a:rPr lang="es-ES_tradnl" sz="1400" b="1" dirty="0"/>
              <a:t>+</a:t>
            </a:r>
            <a:r>
              <a:rPr lang="es-ES_tradnl" sz="1200" dirty="0"/>
              <a:t>’ de la comanda superior derecha, lo que generará un nuevo registro.</a:t>
            </a:r>
          </a:p>
          <a:p>
            <a:pPr marL="228600" indent="-228600">
              <a:buFont typeface="+mj-lt"/>
              <a:buAutoNum type="arabicPeriod" startAt="4"/>
            </a:pPr>
            <a:r>
              <a:rPr lang="es-ES_tradnl" sz="1200" dirty="0"/>
              <a:t>Ingrese o seleccione el Plan de estudios para el cual insertará la asignatura en la proyección. Se desplegará automáticamente el código del programa.</a:t>
            </a:r>
          </a:p>
          <a:p>
            <a:pPr marL="228600" indent="-228600">
              <a:buFont typeface="+mj-lt"/>
              <a:buAutoNum type="arabicPeriod" startAt="4"/>
            </a:pPr>
            <a:r>
              <a:rPr lang="es-ES_tradnl" sz="1200" dirty="0"/>
              <a:t>Ingrese los códigos de Materia y Curso que identifican, en el catálogo, a la asignatura que desea incluir en la proyección. Se desplegará el título de la asignatura en el campo Descripción.</a:t>
            </a:r>
          </a:p>
          <a:p>
            <a:pPr marL="228600" indent="-228600">
              <a:buFont typeface="+mj-lt"/>
              <a:buAutoNum type="arabicPeriod" startAt="4"/>
            </a:pPr>
            <a:r>
              <a:rPr lang="es-ES_tradnl" sz="1200" dirty="0"/>
              <a:t>Ingrese el nivel del estudiante.</a:t>
            </a:r>
          </a:p>
          <a:p>
            <a:pPr marL="228600" indent="-228600">
              <a:buFont typeface="+mj-lt"/>
              <a:buAutoNum type="arabicPeriod" startAt="4"/>
            </a:pPr>
            <a:r>
              <a:rPr lang="es-ES_tradnl" sz="1200" dirty="0"/>
              <a:t>Ingrese una prioridad de área para “ordenar” la asignatura en la proyección.</a:t>
            </a:r>
          </a:p>
          <a:p>
            <a:pPr marL="228600" indent="-228600">
              <a:buFont typeface="+mj-lt"/>
              <a:buAutoNum type="arabicPeriod" startAt="4"/>
            </a:pPr>
            <a:r>
              <a:rPr lang="es-ES_tradnl" sz="1200" dirty="0"/>
              <a:t>Guarde la información</a:t>
            </a:r>
            <a:endParaRPr lang="es-419" sz="1200" dirty="0"/>
          </a:p>
        </p:txBody>
      </p:sp>
      <p:sp>
        <p:nvSpPr>
          <p:cNvPr id="6" name="Rectángulo redondeado 15">
            <a:extLst>
              <a:ext uri="{FF2B5EF4-FFF2-40B4-BE49-F238E27FC236}">
                <a16:creationId xmlns:a16="http://schemas.microsoft.com/office/drawing/2014/main" id="{25F34467-6737-8647-CA88-3E01C24E5A4F}"/>
              </a:ext>
            </a:extLst>
          </p:cNvPr>
          <p:cNvSpPr/>
          <p:nvPr/>
        </p:nvSpPr>
        <p:spPr>
          <a:xfrm>
            <a:off x="722427" y="1961638"/>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8" name="Rectángulo 7">
            <a:extLst>
              <a:ext uri="{FF2B5EF4-FFF2-40B4-BE49-F238E27FC236}">
                <a16:creationId xmlns:a16="http://schemas.microsoft.com/office/drawing/2014/main" id="{8389DDC9-77AD-50E0-13C5-0935AF337DE3}"/>
              </a:ext>
            </a:extLst>
          </p:cNvPr>
          <p:cNvSpPr/>
          <p:nvPr/>
        </p:nvSpPr>
        <p:spPr>
          <a:xfrm>
            <a:off x="2103744" y="1808149"/>
            <a:ext cx="1452256" cy="1534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56BD0F15-8B64-ED8D-CF09-D3E08E9119F0}"/>
              </a:ext>
            </a:extLst>
          </p:cNvPr>
          <p:cNvSpPr/>
          <p:nvPr/>
        </p:nvSpPr>
        <p:spPr>
          <a:xfrm>
            <a:off x="1887175" y="196896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1" name="Rectángulo 10">
            <a:extLst>
              <a:ext uri="{FF2B5EF4-FFF2-40B4-BE49-F238E27FC236}">
                <a16:creationId xmlns:a16="http://schemas.microsoft.com/office/drawing/2014/main" id="{91960C0B-32A6-07D7-BF45-B06897F86DF2}"/>
              </a:ext>
            </a:extLst>
          </p:cNvPr>
          <p:cNvSpPr/>
          <p:nvPr/>
        </p:nvSpPr>
        <p:spPr>
          <a:xfrm>
            <a:off x="10926618" y="1399105"/>
            <a:ext cx="203200" cy="16184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4213FF08-66BD-6C09-44DB-5FD45024B62C}"/>
              </a:ext>
            </a:extLst>
          </p:cNvPr>
          <p:cNvSpPr/>
          <p:nvPr/>
        </p:nvSpPr>
        <p:spPr>
          <a:xfrm>
            <a:off x="10429845" y="126077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4" name="Rectángulo 13">
            <a:extLst>
              <a:ext uri="{FF2B5EF4-FFF2-40B4-BE49-F238E27FC236}">
                <a16:creationId xmlns:a16="http://schemas.microsoft.com/office/drawing/2014/main" id="{ADCC8ABA-ADA3-AC1E-D131-947D358C76F1}"/>
              </a:ext>
            </a:extLst>
          </p:cNvPr>
          <p:cNvSpPr/>
          <p:nvPr/>
        </p:nvSpPr>
        <p:spPr>
          <a:xfrm>
            <a:off x="5814660" y="1808149"/>
            <a:ext cx="787239" cy="1534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FE9299DA-B6CC-B30B-11B2-57427F225534}"/>
              </a:ext>
            </a:extLst>
          </p:cNvPr>
          <p:cNvSpPr/>
          <p:nvPr/>
        </p:nvSpPr>
        <p:spPr>
          <a:xfrm>
            <a:off x="5961175" y="198597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6" name="Rectángulo 15">
            <a:extLst>
              <a:ext uri="{FF2B5EF4-FFF2-40B4-BE49-F238E27FC236}">
                <a16:creationId xmlns:a16="http://schemas.microsoft.com/office/drawing/2014/main" id="{941893CA-5A0F-238A-55E8-0FC152053BC9}"/>
              </a:ext>
            </a:extLst>
          </p:cNvPr>
          <p:cNvSpPr/>
          <p:nvPr/>
        </p:nvSpPr>
        <p:spPr>
          <a:xfrm>
            <a:off x="7386944" y="1808149"/>
            <a:ext cx="787238"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84AF2C86-3659-AF73-5CC9-EEBB3C188F98}"/>
              </a:ext>
            </a:extLst>
          </p:cNvPr>
          <p:cNvSpPr/>
          <p:nvPr/>
        </p:nvSpPr>
        <p:spPr>
          <a:xfrm>
            <a:off x="7563994" y="199265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8" name="Rectángulo 17">
            <a:extLst>
              <a:ext uri="{FF2B5EF4-FFF2-40B4-BE49-F238E27FC236}">
                <a16:creationId xmlns:a16="http://schemas.microsoft.com/office/drawing/2014/main" id="{0AA5CB2D-13F1-77C3-93FC-145842345533}"/>
              </a:ext>
            </a:extLst>
          </p:cNvPr>
          <p:cNvSpPr/>
          <p:nvPr/>
        </p:nvSpPr>
        <p:spPr>
          <a:xfrm>
            <a:off x="11129817" y="5518007"/>
            <a:ext cx="55476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D034444A-9F53-CC69-EE04-B4E07990D5D6}"/>
              </a:ext>
            </a:extLst>
          </p:cNvPr>
          <p:cNvSpPr/>
          <p:nvPr/>
        </p:nvSpPr>
        <p:spPr>
          <a:xfrm>
            <a:off x="11074399" y="570250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Tree>
    <p:extLst>
      <p:ext uri="{BB962C8B-B14F-4D97-AF65-F5344CB8AC3E}">
        <p14:creationId xmlns:p14="http://schemas.microsoft.com/office/powerpoint/2010/main" val="12136791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Proyección Académica</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018636" y="1335069"/>
            <a:ext cx="7092820" cy="1628192"/>
          </a:xfrm>
        </p:spPr>
        <p:txBody>
          <a:bodyPr/>
          <a:lstStyle/>
          <a:p>
            <a:r>
              <a:rPr lang="en-US" sz="3600" dirty="0"/>
              <a:t>RESUMEN</a:t>
            </a:r>
          </a:p>
        </p:txBody>
      </p:sp>
    </p:spTree>
    <p:extLst>
      <p:ext uri="{BB962C8B-B14F-4D97-AF65-F5344CB8AC3E}">
        <p14:creationId xmlns:p14="http://schemas.microsoft.com/office/powerpoint/2010/main" val="3113485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757B8-613F-2AFB-17A8-3C006420F8C9}"/>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D1D691AF-0427-7F34-41EF-2FD94F8D0487}"/>
              </a:ext>
            </a:extLst>
          </p:cNvPr>
          <p:cNvSpPr>
            <a:spLocks noGrp="1"/>
          </p:cNvSpPr>
          <p:nvPr>
            <p:ph type="body" sz="quarter" idx="18"/>
          </p:nvPr>
        </p:nvSpPr>
        <p:spPr/>
        <p:txBody>
          <a:bodyPr/>
          <a:lstStyle/>
          <a:p>
            <a:pPr algn="just">
              <a:buClr>
                <a:schemeClr val="tx1"/>
              </a:buClr>
              <a:buFont typeface="Wingdings" panose="05000000000000000000" pitchFamily="2" charset="2"/>
              <a:buChar char="v"/>
            </a:pPr>
            <a:r>
              <a:rPr lang="es-419" sz="1800" dirty="0"/>
              <a:t>En Ellucian Student se puede realizar proyección de la oferta académica (SFPPROJ), el cual es basado en el avance curricular de los estudiantes (CAPP), que genera  los cursos faltantes a aprobar.</a:t>
            </a:r>
          </a:p>
          <a:p>
            <a:pPr algn="just">
              <a:buClr>
                <a:schemeClr val="tx1"/>
              </a:buClr>
              <a:buFont typeface="Wingdings" panose="05000000000000000000" pitchFamily="2" charset="2"/>
              <a:buChar char="v"/>
            </a:pPr>
            <a:r>
              <a:rPr lang="es-419" sz="1800" dirty="0"/>
              <a:t>La proyección es un insumo que permitirá a la institución realizar una estimación de la oferta académica del estudiante.</a:t>
            </a:r>
          </a:p>
          <a:p>
            <a:pPr algn="just">
              <a:buClr>
                <a:schemeClr val="tx1"/>
              </a:buClr>
              <a:buFont typeface="Wingdings" panose="05000000000000000000" pitchFamily="2" charset="2"/>
              <a:buChar char="v"/>
            </a:pPr>
            <a:r>
              <a:rPr lang="es-419" sz="1800" dirty="0"/>
              <a:t>La inscripción de asignaturas por Registration puede ser restringida solo a asignaturas que se encontraran definidas en la nómina de asignaturas proyectadas (SOATERM).</a:t>
            </a:r>
          </a:p>
          <a:p>
            <a:pPr algn="just">
              <a:buClr>
                <a:schemeClr val="tx1"/>
              </a:buClr>
              <a:buFont typeface="Wingdings" panose="05000000000000000000" pitchFamily="2" charset="2"/>
              <a:buChar char="v"/>
            </a:pPr>
            <a:r>
              <a:rPr lang="es-419" sz="1800" dirty="0"/>
              <a:t>La proyección de un estudiante puede ser actualizada y modificada en SFAPROJ según corresponda al caso.</a:t>
            </a:r>
          </a:p>
        </p:txBody>
      </p:sp>
      <p:sp>
        <p:nvSpPr>
          <p:cNvPr id="10" name="Vertical Text Placeholder 9">
            <a:extLst>
              <a:ext uri="{FF2B5EF4-FFF2-40B4-BE49-F238E27FC236}">
                <a16:creationId xmlns:a16="http://schemas.microsoft.com/office/drawing/2014/main" id="{98822AE6-B749-B659-3989-80D13471B800}"/>
              </a:ext>
            </a:extLst>
          </p:cNvPr>
          <p:cNvSpPr>
            <a:spLocks noGrp="1"/>
          </p:cNvSpPr>
          <p:nvPr>
            <p:ph type="body" orient="vert" sz="quarter" idx="17"/>
          </p:nvPr>
        </p:nvSpPr>
        <p:spPr/>
        <p:txBody>
          <a:bodyPr/>
          <a:lstStyle/>
          <a:p>
            <a:r>
              <a:rPr lang="es-419" sz="1200" dirty="0"/>
              <a:t>Proyección Académica</a:t>
            </a:r>
          </a:p>
        </p:txBody>
      </p:sp>
      <p:sp>
        <p:nvSpPr>
          <p:cNvPr id="16" name="Title 15">
            <a:extLst>
              <a:ext uri="{FF2B5EF4-FFF2-40B4-BE49-F238E27FC236}">
                <a16:creationId xmlns:a16="http://schemas.microsoft.com/office/drawing/2014/main" id="{495B3CDF-3CD8-93F3-7968-63EFD8376105}"/>
              </a:ext>
            </a:extLst>
          </p:cNvPr>
          <p:cNvSpPr>
            <a:spLocks noGrp="1"/>
          </p:cNvSpPr>
          <p:nvPr>
            <p:ph type="title"/>
          </p:nvPr>
        </p:nvSpPr>
        <p:spPr/>
        <p:txBody>
          <a:bodyPr/>
          <a:lstStyle/>
          <a:p>
            <a:r>
              <a:rPr lang="en-US" sz="3600" dirty="0"/>
              <a:t>RESUMEN</a:t>
            </a:r>
          </a:p>
        </p:txBody>
      </p:sp>
    </p:spTree>
    <p:extLst>
      <p:ext uri="{BB962C8B-B14F-4D97-AF65-F5344CB8AC3E}">
        <p14:creationId xmlns:p14="http://schemas.microsoft.com/office/powerpoint/2010/main" val="21189204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err="1"/>
              <a:t>Nidia.beltran@</a:t>
            </a:r>
            <a:r>
              <a:rPr lang="es-419" err="1"/>
              <a:t>ellucian</a:t>
            </a:r>
            <a:r>
              <a:rPr lang="es-419"/>
              <a:t>.com</a:t>
            </a:r>
            <a:endParaRPr lang="es-419" dirty="0"/>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12558</TotalTime>
  <Words>2460</Words>
  <Application>Microsoft Office PowerPoint</Application>
  <PresentationFormat>Panorámica</PresentationFormat>
  <Paragraphs>347</Paragraphs>
  <Slides>52</Slides>
  <Notes>29</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52</vt:i4>
      </vt:variant>
    </vt:vector>
  </HeadingPairs>
  <TitlesOfParts>
    <vt:vector size="61"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Gestionar la inscripción de cursos</vt:lpstr>
      <vt:lpstr>Overview: Capacidad operativa Gestionar la inscripción de cursos</vt:lpstr>
      <vt:lpstr>Presentación de PowerPoint</vt:lpstr>
      <vt:lpstr>Presentación de PowerPoint</vt:lpstr>
      <vt:lpstr>Presentación de PowerPoint</vt:lpstr>
      <vt:lpstr>Presentación de PowerPoint</vt:lpstr>
      <vt:lpstr>Presentación de PowerPoint</vt:lpstr>
      <vt:lpstr>CONFIGURACIONES</vt:lpstr>
      <vt:lpstr>Presentación de PowerPoint</vt:lpstr>
      <vt:lpstr>Administración de solicitud de cumplimiento (SMARQCM) </vt:lpstr>
      <vt:lpstr>Presentación de PowerPoint</vt:lpstr>
      <vt:lpstr>Control de periodo (SOATERM) </vt:lpstr>
      <vt:lpstr>Control de periodo (SOATERM) </vt:lpstr>
      <vt:lpstr>Presentación de PowerPoint</vt:lpstr>
      <vt:lpstr>Requerimientos de programa (SMAPROG)</vt:lpstr>
      <vt:lpstr>Requerimientos de programa (SMAPROG)</vt:lpstr>
      <vt:lpstr>Presentación de PowerPoint</vt:lpstr>
      <vt:lpstr>Validación de transposición (GTVSDAX)</vt:lpstr>
      <vt:lpstr>Validación de transposición (GTVSDAX)</vt:lpstr>
      <vt:lpstr>Validación de transposición (GTVSDAX)</vt:lpstr>
      <vt:lpstr>Presentación de PowerPoint</vt:lpstr>
      <vt:lpstr>Configuración de proyección por programa (SFALPRO) </vt:lpstr>
      <vt:lpstr>Configuración de proyección por programa (SFALPRO) </vt:lpstr>
      <vt:lpstr>Proyección Académica</vt:lpstr>
      <vt:lpstr>Presentación de PowerPoint</vt:lpstr>
      <vt:lpstr>Proceso de proyección del alumno (SFPPROJ) </vt:lpstr>
      <vt:lpstr>Proceso de proyección del alumno (SFPPROJ) </vt:lpstr>
      <vt:lpstr>Proceso de proyección del alumno (SFPPROJ) </vt:lpstr>
      <vt:lpstr>Proceso de proyección del alumno (SFPPROJ)</vt:lpstr>
      <vt:lpstr>Proceso de proyección del alumno (SFPPROJ)</vt:lpstr>
      <vt:lpstr>Proceso de proyección del alumno (SFPPROJ) </vt:lpstr>
      <vt:lpstr>Proceso de proyección del alumno (SFPPROJ)</vt:lpstr>
      <vt:lpstr>Proceso de proyección del alumno (SFPPROJ)</vt:lpstr>
      <vt:lpstr>Proceso de proyección del alumno (SFPPROJ)</vt:lpstr>
      <vt:lpstr>Proceso de proyección del alumno (SFPPROJ)</vt:lpstr>
      <vt:lpstr>Proceso de proyección del alumno (SFPPROJ)</vt:lpstr>
      <vt:lpstr>Proceso de proyección del alumno (SFPPROJ)</vt:lpstr>
      <vt:lpstr>Proceso de proyección del alumno (SFPPROJ)</vt:lpstr>
      <vt:lpstr>Proceso de proyección del alumno (SFPPROJ)</vt:lpstr>
      <vt:lpstr>Proceso de proyección del alumno (SFPPROJ)</vt:lpstr>
      <vt:lpstr>Presentación de PowerPoint</vt:lpstr>
      <vt:lpstr>Mantenimiento de proyección (SFAPROJ)</vt:lpstr>
      <vt:lpstr>Mantenimiento de proyección (SFAPROJ)</vt:lpstr>
      <vt:lpstr>Mantenimiento de proyección (SFAPROJ)</vt:lpstr>
      <vt:lpstr>Mantenimiento de proyección (SFAPROJ)</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277</cp:revision>
  <dcterms:created xsi:type="dcterms:W3CDTF">2023-07-17T20:07:38Z</dcterms:created>
  <dcterms:modified xsi:type="dcterms:W3CDTF">2026-07-08T22:46:57Z</dcterms:modified>
</cp:coreProperties>
</file>
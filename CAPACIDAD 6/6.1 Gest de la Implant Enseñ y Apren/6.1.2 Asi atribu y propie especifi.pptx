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  <p:sldMasterId id="2147483750" r:id="rId2"/>
  </p:sldMasterIdLst>
  <p:notesMasterIdLst>
    <p:notesMasterId r:id="rId31"/>
  </p:notesMasterIdLst>
  <p:sldIdLst>
    <p:sldId id="515" r:id="rId3"/>
    <p:sldId id="423" r:id="rId4"/>
    <p:sldId id="476" r:id="rId5"/>
    <p:sldId id="517" r:id="rId6"/>
    <p:sldId id="350" r:id="rId7"/>
    <p:sldId id="421" r:id="rId8"/>
    <p:sldId id="261" r:id="rId9"/>
    <p:sldId id="343" r:id="rId10"/>
    <p:sldId id="475" r:id="rId11"/>
    <p:sldId id="501" r:id="rId12"/>
    <p:sldId id="502" r:id="rId13"/>
    <p:sldId id="503" r:id="rId14"/>
    <p:sldId id="504" r:id="rId15"/>
    <p:sldId id="505" r:id="rId16"/>
    <p:sldId id="506" r:id="rId17"/>
    <p:sldId id="507" r:id="rId18"/>
    <p:sldId id="508" r:id="rId19"/>
    <p:sldId id="510" r:id="rId20"/>
    <p:sldId id="469" r:id="rId21"/>
    <p:sldId id="470" r:id="rId22"/>
    <p:sldId id="496" r:id="rId23"/>
    <p:sldId id="513" r:id="rId24"/>
    <p:sldId id="497" r:id="rId25"/>
    <p:sldId id="498" r:id="rId26"/>
    <p:sldId id="514" r:id="rId27"/>
    <p:sldId id="499" r:id="rId28"/>
    <p:sldId id="345" r:id="rId29"/>
    <p:sldId id="51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B06FD8-FBF7-48A6-EC94-7EAC12BBF7D7}" name="Mardones, Francisco" initials="MF" userId="S::Francisco.Mardones@ellucian.com::216dec8c-35d0-45c5-a341-2c26a65575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00B0"/>
    <a:srgbClr val="0CA8B4"/>
    <a:srgbClr val="33CCCC"/>
    <a:srgbClr val="0C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68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microsoft.com/office/2018/10/relationships/authors" Target="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22212-D69D-41E4-A547-75F507D8A64A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82945-6648-41CA-B880-4B10E0E0332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908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41345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35287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251270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49104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43727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81696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63127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2035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953057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98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7351700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3913295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7960821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8001080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3434937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617367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377009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442161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642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1101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4556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7849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5640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0054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27268509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4866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34994704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317897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225023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898913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124388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733424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32335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867220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2EE07C-91FB-6F44-703B-7C9D3AE69D03}"/>
              </a:ext>
            </a:extLst>
          </p:cNvPr>
          <p:cNvSpPr/>
          <p:nvPr userDrawn="1"/>
        </p:nvSpPr>
        <p:spPr>
          <a:xfrm>
            <a:off x="9165771" y="6466114"/>
            <a:ext cx="2438400" cy="3651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F45DE5-78DB-AC6D-BDEB-F0B9704B38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76566" y="6466114"/>
            <a:ext cx="2200582" cy="3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3801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0EB780-F538-1B7A-77FB-33D4E100EB9F}"/>
              </a:ext>
            </a:extLst>
          </p:cNvPr>
          <p:cNvSpPr/>
          <p:nvPr userDrawn="1"/>
        </p:nvSpPr>
        <p:spPr>
          <a:xfrm>
            <a:off x="9165771" y="6509657"/>
            <a:ext cx="2416626" cy="348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76BEB7-8B0D-6873-D190-A19834A16D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55479" y="6460190"/>
            <a:ext cx="2133898" cy="2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9490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5587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6264305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64647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2644497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2417192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1289693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0012449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2734005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0911351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684604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003064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6569876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8913732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467279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4894568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1077773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1940326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7056723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3523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2.sv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72138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2" r:id="rId31"/>
    <p:sldLayoutId id="2147483743" r:id="rId32"/>
    <p:sldLayoutId id="2147483744" r:id="rId33"/>
    <p:sldLayoutId id="2147483745" r:id="rId34"/>
    <p:sldLayoutId id="2147483746" r:id="rId35"/>
    <p:sldLayoutId id="2147483747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807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  <p:sldLayoutId id="2147483768" r:id="rId18"/>
    <p:sldLayoutId id="214748376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75F30-4948-8625-4D18-95EE2803BD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s-ES" sz="4400" dirty="0"/>
              <a:t>Asignar atributos y propiedades especificas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381F98-39A1-4ACC-B642-A72023AF9B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wrap="square">
            <a:normAutofit/>
          </a:bodyPr>
          <a:lstStyle/>
          <a:p>
            <a:r>
              <a:rPr lang="es-CL" dirty="0"/>
              <a:t>Instructivo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F1058994-14DF-8FFD-FA01-FFA4BBFEC0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6902" y="5609784"/>
            <a:ext cx="3032274" cy="398058"/>
          </a:xfrm>
        </p:spPr>
        <p:txBody>
          <a:bodyPr/>
          <a:lstStyle/>
          <a:p>
            <a:r>
              <a:rPr lang="es-CL" dirty="0"/>
              <a:t>Consultor</a:t>
            </a:r>
          </a:p>
          <a:p>
            <a:r>
              <a:rPr lang="es-CL" dirty="0"/>
              <a:t>Cargo</a:t>
            </a:r>
          </a:p>
        </p:txBody>
      </p:sp>
      <p:pic>
        <p:nvPicPr>
          <p:cNvPr id="8" name="Marcador de posición de imagen 8" descr="Un par de personas sentadas en una mesa&#10;&#10;El contenido generado por IA puede ser incorrecto.">
            <a:extLst>
              <a:ext uri="{FF2B5EF4-FFF2-40B4-BE49-F238E27FC236}">
                <a16:creationId xmlns:a16="http://schemas.microsoft.com/office/drawing/2014/main" id="{E56D2DEC-D416-3AB5-1313-E840E25BFD9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9" r="17869"/>
          <a:stretch>
            <a:fillRect/>
          </a:stretch>
        </p:blipFill>
        <p:spPr>
          <a:xfrm>
            <a:off x="6689725" y="574675"/>
            <a:ext cx="5502275" cy="5710238"/>
          </a:xfrm>
        </p:spPr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BC90C980-F946-78A1-2843-B04BE206F9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CL" dirty="0"/>
              <a:t>Mes, Año</a:t>
            </a:r>
          </a:p>
        </p:txBody>
      </p:sp>
    </p:spTree>
    <p:extLst>
      <p:ext uri="{BB962C8B-B14F-4D97-AF65-F5344CB8AC3E}">
        <p14:creationId xmlns:p14="http://schemas.microsoft.com/office/powerpoint/2010/main" val="1226147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Asignar atributos y propiedades especificas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86028BF8-A141-2E97-2FAA-0A37BCE60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793337"/>
              </p:ext>
            </p:extLst>
          </p:nvPr>
        </p:nvGraphicFramePr>
        <p:xfrm>
          <a:off x="786088" y="1651015"/>
          <a:ext cx="9058128" cy="3256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0128">
                  <a:extLst>
                    <a:ext uri="{9D8B030D-6E8A-4147-A177-3AD203B41FA5}">
                      <a16:colId xmlns:a16="http://schemas.microsoft.com/office/drawing/2014/main" val="1835725686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52046442"/>
                    </a:ext>
                  </a:extLst>
                </a:gridCol>
              </a:tblGrid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Overview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948859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Configuraciones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980871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03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419" sz="2800" b="1" dirty="0">
                          <a:solidFill>
                            <a:schemeClr val="bg1"/>
                          </a:solidFill>
                        </a:rPr>
                        <a:t>Asignar atributos y propiedades especificas</a:t>
                      </a:r>
                      <a:endParaRPr 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936347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04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Resumen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436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571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noProof="0" dirty="0"/>
              <a:t>Asignar Atributos y Propiedades Específicas</a:t>
            </a:r>
            <a:endParaRPr lang="es-419" noProof="0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sz="3200" b="1" noProof="0" dirty="0" err="1">
                <a:solidFill>
                  <a:schemeClr val="bg1"/>
                </a:solidFill>
              </a:rPr>
              <a:t>Overview</a:t>
            </a:r>
            <a:endParaRPr lang="es-419" sz="3200" b="1" noProof="0" dirty="0">
              <a:solidFill>
                <a:schemeClr val="bg1"/>
              </a:solidFill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s-419" noProof="0" smtClean="0"/>
              <a:pPr/>
              <a:t>3</a:t>
            </a:fld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2650576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cal Text Placeholder 3">
            <a:extLst>
              <a:ext uri="{FF2B5EF4-FFF2-40B4-BE49-F238E27FC236}">
                <a16:creationId xmlns:a16="http://schemas.microsoft.com/office/drawing/2014/main" id="{E84A95C1-A1C4-874B-A0F8-44AB6CD99FF1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noProof="0" dirty="0"/>
              <a:t>Asignar Atributos y Propiedades Específicas</a:t>
            </a:r>
            <a:endParaRPr lang="es-419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1505E3-5A51-3A2E-57EA-74DF6A59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337" y="508268"/>
            <a:ext cx="9418021" cy="898555"/>
          </a:xfrm>
        </p:spPr>
        <p:txBody>
          <a:bodyPr/>
          <a:lstStyle/>
          <a:p>
            <a:r>
              <a:rPr lang="es-419" sz="3200" noProof="0" dirty="0">
                <a:solidFill>
                  <a:schemeClr val="accent1"/>
                </a:solidFill>
              </a:rPr>
              <a:t>Overview: </a:t>
            </a:r>
            <a:r>
              <a:rPr lang="es-419" sz="3200" b="0" noProof="0" dirty="0">
                <a:solidFill>
                  <a:schemeClr val="accent1"/>
                </a:solidFill>
              </a:rPr>
              <a:t>Mapa de capacidades</a:t>
            </a:r>
            <a:endParaRPr lang="es-419" b="0" noProof="0" dirty="0">
              <a:solidFill>
                <a:schemeClr val="accent1"/>
              </a:solidFill>
            </a:endParaRPr>
          </a:p>
        </p:txBody>
      </p:sp>
      <p:pic>
        <p:nvPicPr>
          <p:cNvPr id="5" name="Imagen 2">
            <a:extLst>
              <a:ext uri="{FF2B5EF4-FFF2-40B4-BE49-F238E27FC236}">
                <a16:creationId xmlns:a16="http://schemas.microsoft.com/office/drawing/2014/main" id="{911D7325-C46C-1AEC-08B6-C55A90B2B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49" y="1030689"/>
            <a:ext cx="10180101" cy="479661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C70E560-FD05-5A48-6D34-D3EBD8654FB8}"/>
              </a:ext>
            </a:extLst>
          </p:cNvPr>
          <p:cNvSpPr/>
          <p:nvPr/>
        </p:nvSpPr>
        <p:spPr>
          <a:xfrm>
            <a:off x="5382194" y="1839686"/>
            <a:ext cx="2531719" cy="76241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118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1D2E5BD-8D92-BBEB-6DE7-7F46E2C205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27871" y="1789044"/>
            <a:ext cx="10136257" cy="4472608"/>
          </a:xfrm>
        </p:spPr>
        <p:txBody>
          <a:bodyPr/>
          <a:lstStyle/>
          <a:p>
            <a:pPr algn="just">
              <a:buClr>
                <a:srgbClr val="0CB4B4"/>
              </a:buClr>
              <a:buFont typeface="Wingdings" panose="05000000000000000000" pitchFamily="2" charset="2"/>
              <a:buChar char="§"/>
            </a:pPr>
            <a:r>
              <a:rPr lang="es-ES_tradnl" sz="2000" dirty="0"/>
              <a:t>A través de este procedimiento se definen los atributos que se exigen en la malla curricular para que un curso sea tomado para el cumplimiento.</a:t>
            </a:r>
          </a:p>
          <a:p>
            <a:pPr algn="just">
              <a:buClr>
                <a:srgbClr val="0CB4B4"/>
              </a:buClr>
              <a:buFont typeface="Wingdings" panose="05000000000000000000" pitchFamily="2" charset="2"/>
              <a:buChar char="§"/>
            </a:pPr>
            <a:r>
              <a:rPr lang="es-ES_tradnl" sz="2000" dirty="0"/>
              <a:t>Igualmente, se definen propiedades adicionales para los cursos como su categorización según la taxonomía, si es un curso ocupacional o de educación cooperativa y algunos elementos que pueden caracterizar al curso y que no se logran parametrizar en otras páginas administrativas.</a:t>
            </a:r>
          </a:p>
          <a:p>
            <a:pPr algn="just">
              <a:buClr>
                <a:srgbClr val="0CB4B4"/>
              </a:buClr>
              <a:buFont typeface="Wingdings" panose="05000000000000000000" pitchFamily="2" charset="2"/>
              <a:buChar char="§"/>
            </a:pPr>
            <a:r>
              <a:rPr lang="es-ES_tradnl" sz="2000" dirty="0"/>
              <a:t>Se puede agregar una descripción más exhaustiva del curso.</a:t>
            </a:r>
          </a:p>
          <a:p>
            <a:pPr marL="0" indent="0" algn="just">
              <a:buClr>
                <a:srgbClr val="0CB4B4"/>
              </a:buClr>
              <a:buNone/>
            </a:pPr>
            <a:endParaRPr lang="es-ES" sz="2000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atributos y propiedades especificas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6A5721-C06B-CE2D-66A9-59404F187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Overview: </a:t>
            </a:r>
            <a:r>
              <a:rPr lang="es-ES_tradnl" sz="3200" b="0" dirty="0">
                <a:solidFill>
                  <a:schemeClr val="accent1"/>
                </a:solidFill>
              </a:rPr>
              <a:t>Proceso de asignar atributos y propiedades especificas</a:t>
            </a:r>
            <a:endParaRPr lang="es-CL" b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75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atributos y propiedades especificas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6A5721-C06B-CE2D-66A9-59404F187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860" y="259264"/>
            <a:ext cx="10483297" cy="528791"/>
          </a:xfrm>
        </p:spPr>
        <p:txBody>
          <a:bodyPr/>
          <a:lstStyle/>
          <a:p>
            <a:r>
              <a:rPr lang="es-ES_tradnl" sz="3000" dirty="0">
                <a:solidFill>
                  <a:schemeClr val="accent1"/>
                </a:solidFill>
              </a:rPr>
              <a:t>Overview: </a:t>
            </a:r>
            <a:r>
              <a:rPr lang="es-ES_tradnl" sz="3000" b="0" dirty="0">
                <a:solidFill>
                  <a:schemeClr val="accent1"/>
                </a:solidFill>
              </a:rPr>
              <a:t>Procesos </a:t>
            </a:r>
            <a:r>
              <a:rPr lang="es-ES_tradnl" sz="2800" b="0" dirty="0">
                <a:solidFill>
                  <a:schemeClr val="accent1"/>
                </a:solidFill>
              </a:rPr>
              <a:t>de asignar atributos y propiedades especificas</a:t>
            </a:r>
            <a:endParaRPr lang="es-CL" sz="3000" b="0" dirty="0">
              <a:solidFill>
                <a:schemeClr val="accent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0C77B1C-EDAA-969B-8E02-29D11F054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25" y="2357436"/>
            <a:ext cx="1158240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5546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FF9F5-4D73-0F95-7678-0AE0FCC4F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F9B5C96-8DBC-65FF-FAE3-4F645679D6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2515" y="361822"/>
            <a:ext cx="11122188" cy="446084"/>
          </a:xfrm>
        </p:spPr>
        <p:txBody>
          <a:bodyPr/>
          <a:lstStyle/>
          <a:p>
            <a:r>
              <a:rPr lang="es-ES_tradnl" dirty="0" err="1"/>
              <a:t>Overview</a:t>
            </a:r>
            <a:r>
              <a:rPr lang="es-ES_tradnl" dirty="0"/>
              <a:t>: Región donde aplica</a:t>
            </a:r>
            <a:endParaRPr lang="es-419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3F52F2A-F8BB-F72D-A754-DB9173333620}"/>
              </a:ext>
            </a:extLst>
          </p:cNvPr>
          <p:cNvSpPr txBox="1"/>
          <p:nvPr/>
        </p:nvSpPr>
        <p:spPr>
          <a:xfrm>
            <a:off x="8400287" y="3429000"/>
            <a:ext cx="1197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Todo LAC</a:t>
            </a:r>
          </a:p>
        </p:txBody>
      </p:sp>
      <p:pic>
        <p:nvPicPr>
          <p:cNvPr id="10" name="Picture 9" descr="A purple map of south america&#10;&#10;AI-generated content may be incorrect.">
            <a:extLst>
              <a:ext uri="{FF2B5EF4-FFF2-40B4-BE49-F238E27FC236}">
                <a16:creationId xmlns:a16="http://schemas.microsoft.com/office/drawing/2014/main" id="{BC199AD4-C762-DD9E-693C-C0737DFB4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972" y="807906"/>
            <a:ext cx="5780314" cy="578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767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Asignar atributos y propiedades especificas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CONFIGURACIONES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O" dirty="0"/>
              <a:t>Tablas de validación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389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2FA29D0-2DD3-FB76-1741-B93DFF599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70" y="919346"/>
            <a:ext cx="10124830" cy="454638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atributos y propiedades especificas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b="1" dirty="0"/>
              <a:t>STV</a:t>
            </a:r>
            <a:r>
              <a:rPr lang="es-ES_tradnl" sz="3000" dirty="0"/>
              <a:t>ATTR</a:t>
            </a:r>
            <a:r>
              <a:rPr lang="es-ES_tradnl" sz="3000" b="1" dirty="0"/>
              <a:t> Validación de </a:t>
            </a:r>
            <a:r>
              <a:rPr lang="es-ES_tradnl" sz="3000" dirty="0"/>
              <a:t>atributo</a:t>
            </a: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1265151" y="3755822"/>
            <a:ext cx="9499165" cy="1094067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Página destinada a la creación de atributos.</a:t>
            </a:r>
          </a:p>
          <a:p>
            <a:r>
              <a:rPr lang="es-ES" sz="1100" dirty="0"/>
              <a:t>1. Para crear un registro nuevo dar en Insertar.</a:t>
            </a:r>
            <a:br>
              <a:rPr lang="es-ES" sz="1100" dirty="0"/>
            </a:br>
            <a:r>
              <a:rPr lang="es-ES" sz="1100" dirty="0"/>
              <a:t>2. Código: Código alfanumérico de 04 caracteres que representa el código definido para el atributo</a:t>
            </a:r>
          </a:p>
          <a:p>
            <a:pPr algn="just"/>
            <a:r>
              <a:rPr lang="es-CL" sz="1100" dirty="0"/>
              <a:t>3. Descripción: Campo alfanumérico de hasta 30 caracteres que representa el nombre del atributo creado.</a:t>
            </a:r>
          </a:p>
          <a:p>
            <a:pPr algn="just"/>
            <a:r>
              <a:rPr lang="es-CL" sz="1100" dirty="0"/>
              <a:t>4. Finalmente guarde los registros creados o modificados.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4490328F-7D3E-644D-8BE1-9E67838D8B00}"/>
              </a:ext>
            </a:extLst>
          </p:cNvPr>
          <p:cNvSpPr/>
          <p:nvPr/>
        </p:nvSpPr>
        <p:spPr>
          <a:xfrm>
            <a:off x="10128957" y="1545511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98A4B4F6-232C-913A-C029-50D8A034E9D0}"/>
              </a:ext>
            </a:extLst>
          </p:cNvPr>
          <p:cNvSpPr/>
          <p:nvPr/>
        </p:nvSpPr>
        <p:spPr>
          <a:xfrm>
            <a:off x="1546412" y="1782863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1" name="Rectángulo redondeado 15">
            <a:extLst>
              <a:ext uri="{FF2B5EF4-FFF2-40B4-BE49-F238E27FC236}">
                <a16:creationId xmlns:a16="http://schemas.microsoft.com/office/drawing/2014/main" id="{C891D136-B22F-5C68-8E15-7159650D2009}"/>
              </a:ext>
            </a:extLst>
          </p:cNvPr>
          <p:cNvSpPr/>
          <p:nvPr/>
        </p:nvSpPr>
        <p:spPr>
          <a:xfrm>
            <a:off x="3608294" y="1782863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6448E1B0-4BB0-87BE-CF9C-77C87437AA46}"/>
              </a:ext>
            </a:extLst>
          </p:cNvPr>
          <p:cNvSpPr/>
          <p:nvPr/>
        </p:nvSpPr>
        <p:spPr>
          <a:xfrm>
            <a:off x="10386795" y="5267360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64333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9A7C8FCD-A2A3-08B8-19C2-F55A49994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5" y="1240256"/>
            <a:ext cx="9972775" cy="451024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atributos y propiedades especificas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b="1" dirty="0"/>
              <a:t>STV</a:t>
            </a:r>
            <a:r>
              <a:rPr lang="es-ES_tradnl" sz="3000" dirty="0"/>
              <a:t>TOPS</a:t>
            </a:r>
            <a:r>
              <a:rPr lang="es-ES_tradnl" sz="3000" b="1" dirty="0"/>
              <a:t> </a:t>
            </a:r>
            <a:r>
              <a:rPr lang="es-ES_tradnl" sz="3000" dirty="0"/>
              <a:t>Validación de código de taxonomía de programa</a:t>
            </a: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810245" y="4455459"/>
            <a:ext cx="9032495" cy="1058208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Página destinada a la creación  de taxonomía, es una clasificación adicional que se puede dar a los cursos</a:t>
            </a:r>
          </a:p>
          <a:p>
            <a:br>
              <a:rPr lang="es-ES" sz="1100" b="1" dirty="0"/>
            </a:br>
            <a:r>
              <a:rPr lang="es-ES" sz="1100" b="1" dirty="0"/>
              <a:t>1.   Código: </a:t>
            </a:r>
            <a:r>
              <a:rPr lang="es-ES" sz="1100" dirty="0"/>
              <a:t>Código alfanumérico de 06 caracteres que representa el código de la taxonomía</a:t>
            </a:r>
          </a:p>
          <a:p>
            <a:pPr algn="just"/>
            <a:r>
              <a:rPr lang="es-CL" sz="1100" b="1" dirty="0"/>
              <a:t>2.   Descripción: </a:t>
            </a:r>
            <a:r>
              <a:rPr lang="es-CL" sz="1100" dirty="0"/>
              <a:t>Campo alfanumérico de hasta 30 caracteres que representa el nombre del código creado.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99629731-F2CF-2B6A-9D1C-A782FA0CACC2}"/>
              </a:ext>
            </a:extLst>
          </p:cNvPr>
          <p:cNvSpPr/>
          <p:nvPr/>
        </p:nvSpPr>
        <p:spPr>
          <a:xfrm>
            <a:off x="1297952" y="2093008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DB0810DE-DF7E-BC25-4543-7F4456B12F20}"/>
              </a:ext>
            </a:extLst>
          </p:cNvPr>
          <p:cNvSpPr/>
          <p:nvPr/>
        </p:nvSpPr>
        <p:spPr>
          <a:xfrm>
            <a:off x="5529576" y="2093007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21933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735997D0-554A-D29F-FFF5-1CA46724B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65" y="1693105"/>
            <a:ext cx="10886058" cy="190363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atributos y propiedades especificas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565" y="372717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b="1" dirty="0"/>
              <a:t>ST</a:t>
            </a:r>
            <a:r>
              <a:rPr lang="es-ES_tradnl" sz="3000" dirty="0"/>
              <a:t>VOCCS</a:t>
            </a:r>
            <a:r>
              <a:rPr lang="es-ES_tradnl" sz="3000" b="1" dirty="0"/>
              <a:t> </a:t>
            </a:r>
            <a:r>
              <a:rPr lang="es-ES_tradnl" sz="3000" dirty="0"/>
              <a:t>Validación de código de curso ocupacional</a:t>
            </a: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864036" y="4589929"/>
            <a:ext cx="10886057" cy="95063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Página destinada a la creación  de  curso ocupacional, datos para caracterizar al curso</a:t>
            </a:r>
            <a:br>
              <a:rPr lang="es-ES" sz="1100" dirty="0"/>
            </a:br>
            <a:endParaRPr lang="es-ES" sz="1100" dirty="0"/>
          </a:p>
          <a:p>
            <a:pPr marL="228600" indent="-228600">
              <a:buAutoNum type="arabicPeriod"/>
            </a:pPr>
            <a:r>
              <a:rPr lang="es-ES" sz="1100" b="1" dirty="0"/>
              <a:t>Código: </a:t>
            </a:r>
            <a:r>
              <a:rPr lang="es-ES" sz="1100" dirty="0"/>
              <a:t>Código alfanumérico de 02 caracteres que representa el código del curso ocupacional</a:t>
            </a:r>
          </a:p>
          <a:p>
            <a:pPr marL="228600" indent="-228600">
              <a:buAutoNum type="arabicPeriod"/>
            </a:pPr>
            <a:r>
              <a:rPr lang="es-CL" sz="1100" b="1" dirty="0"/>
              <a:t>Descripción: </a:t>
            </a:r>
            <a:r>
              <a:rPr lang="es-CL" sz="1100" dirty="0"/>
              <a:t>Campo alfanumérico de hasta 30 caracteres que representa el nombre del curso ocupacional.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322B61B0-CE62-B66C-CFB2-8547A2F553C2}"/>
              </a:ext>
            </a:extLst>
          </p:cNvPr>
          <p:cNvSpPr/>
          <p:nvPr/>
        </p:nvSpPr>
        <p:spPr>
          <a:xfrm>
            <a:off x="1548642" y="2644923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11EEA8AF-285B-2E95-CAA7-42C7A37170AF}"/>
              </a:ext>
            </a:extLst>
          </p:cNvPr>
          <p:cNvSpPr/>
          <p:nvPr/>
        </p:nvSpPr>
        <p:spPr>
          <a:xfrm>
            <a:off x="5731978" y="2671778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57651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E8C16429-FD26-883B-F887-957AA29E3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803" y="1481196"/>
            <a:ext cx="10271883" cy="291869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atributos y propiedades especificas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565" y="372717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b="1" dirty="0"/>
              <a:t>S</a:t>
            </a:r>
            <a:r>
              <a:rPr lang="es-ES_tradnl" sz="3000" dirty="0"/>
              <a:t>TVCCSL</a:t>
            </a:r>
            <a:r>
              <a:rPr lang="es-ES_tradnl" sz="3000" b="1" dirty="0"/>
              <a:t> </a:t>
            </a:r>
            <a:r>
              <a:rPr lang="es-ES_tradnl" sz="3000" dirty="0"/>
              <a:t>Validación de código de clasificación</a:t>
            </a: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806823" y="4625788"/>
            <a:ext cx="10886057" cy="95063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Página destinada a la creación  de  curso ocupacional, datos para caracterizar al curso</a:t>
            </a:r>
            <a:br>
              <a:rPr lang="es-ES" sz="1100" dirty="0"/>
            </a:br>
            <a:endParaRPr lang="es-ES" sz="1100" dirty="0"/>
          </a:p>
          <a:p>
            <a:pPr marL="228600" indent="-228600">
              <a:buAutoNum type="arabicPeriod"/>
            </a:pPr>
            <a:r>
              <a:rPr lang="es-ES" sz="1100" b="1" dirty="0"/>
              <a:t>Código: </a:t>
            </a:r>
            <a:r>
              <a:rPr lang="es-ES" sz="1100" dirty="0"/>
              <a:t>Código alfanumérico de 02 caracteres que representa el código de clasificación</a:t>
            </a:r>
          </a:p>
          <a:p>
            <a:pPr marL="228600" indent="-228600">
              <a:buAutoNum type="arabicPeriod"/>
            </a:pPr>
            <a:r>
              <a:rPr lang="es-CL" sz="1100" b="1" dirty="0"/>
              <a:t>Descripción: </a:t>
            </a:r>
            <a:r>
              <a:rPr lang="es-CL" sz="1100" dirty="0"/>
              <a:t>Campo alfanumérico de hasta 30 caracteres que representa el nombre de código de </a:t>
            </a:r>
            <a:r>
              <a:rPr lang="es-CL" sz="1100" dirty="0" err="1"/>
              <a:t>clasificacion</a:t>
            </a:r>
            <a:endParaRPr lang="es-CL" sz="11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D16F4E86-0E58-545E-E0A1-C873A2728AE7}"/>
              </a:ext>
            </a:extLst>
          </p:cNvPr>
          <p:cNvSpPr/>
          <p:nvPr/>
        </p:nvSpPr>
        <p:spPr>
          <a:xfrm>
            <a:off x="1296233" y="2665689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099DB95D-04D6-56EA-97EB-5CA6AE463379}"/>
              </a:ext>
            </a:extLst>
          </p:cNvPr>
          <p:cNvSpPr/>
          <p:nvPr/>
        </p:nvSpPr>
        <p:spPr>
          <a:xfrm>
            <a:off x="3981155" y="2665689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74261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658745F1-E1FF-1A0E-4D47-49C9BB1CB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65" y="1852558"/>
            <a:ext cx="10527907" cy="121497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atributos y propiedades especificas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565" y="372717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b="1" dirty="0"/>
              <a:t>S</a:t>
            </a:r>
            <a:r>
              <a:rPr lang="es-ES_tradnl" sz="3000" dirty="0"/>
              <a:t>TVCUDA</a:t>
            </a:r>
            <a:r>
              <a:rPr lang="es-ES_tradnl" sz="3000" b="1" dirty="0"/>
              <a:t> </a:t>
            </a:r>
            <a:r>
              <a:rPr lang="es-ES_tradnl" sz="3000" dirty="0"/>
              <a:t>Validación de elemento uno de catálogo</a:t>
            </a: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793769" y="4598894"/>
            <a:ext cx="10886057" cy="95063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Página destinada a la creación  de  elementos que se pueden asociar a un curso.</a:t>
            </a:r>
            <a:br>
              <a:rPr lang="es-ES" sz="1100" dirty="0"/>
            </a:br>
            <a:endParaRPr lang="es-ES" sz="1100" dirty="0"/>
          </a:p>
          <a:p>
            <a:pPr marL="228600" indent="-228600">
              <a:buAutoNum type="arabicPeriod"/>
            </a:pPr>
            <a:r>
              <a:rPr lang="es-ES" sz="1100" b="1" dirty="0"/>
              <a:t>Código: </a:t>
            </a:r>
            <a:r>
              <a:rPr lang="es-ES" sz="1100" dirty="0"/>
              <a:t>Código alfanumérico de 15 caracteres que representa el código de clasificación uno</a:t>
            </a:r>
          </a:p>
          <a:p>
            <a:pPr marL="228600" indent="-228600">
              <a:buAutoNum type="arabicPeriod"/>
            </a:pPr>
            <a:r>
              <a:rPr lang="es-CL" sz="1100" b="1" dirty="0"/>
              <a:t>Descripción: </a:t>
            </a:r>
            <a:r>
              <a:rPr lang="es-CL" sz="1100" dirty="0"/>
              <a:t>Campo alfanumérico de hasta 30 caracteres que representa el nombre del elemento de catálogo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244BC269-84AF-7331-B248-780163A3D0E9}"/>
              </a:ext>
            </a:extLst>
          </p:cNvPr>
          <p:cNvSpPr/>
          <p:nvPr/>
        </p:nvSpPr>
        <p:spPr>
          <a:xfrm>
            <a:off x="1892508" y="2778305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A2B1F304-7A8E-1280-E33B-B578F0589BA2}"/>
              </a:ext>
            </a:extLst>
          </p:cNvPr>
          <p:cNvSpPr/>
          <p:nvPr/>
        </p:nvSpPr>
        <p:spPr>
          <a:xfrm>
            <a:off x="3322507" y="2778305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05244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380A8B9A-D291-BED1-55F5-E449A66A8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506" y="1937306"/>
            <a:ext cx="10653624" cy="123504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atributos y propiedades especificas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565" y="372717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200" dirty="0"/>
              <a:t>STVCUDB</a:t>
            </a:r>
            <a:r>
              <a:rPr lang="es-ES_tradnl" sz="3000" b="1" dirty="0"/>
              <a:t> </a:t>
            </a:r>
            <a:r>
              <a:rPr lang="es-ES_tradnl" sz="3000" dirty="0"/>
              <a:t>Validación de elemento dos de catálogo</a:t>
            </a: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887506" y="4643718"/>
            <a:ext cx="10886057" cy="95063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Página destinada a la creación  de  elementos que se pueden asociar a un curso.</a:t>
            </a:r>
            <a:br>
              <a:rPr lang="es-ES" sz="1100" dirty="0"/>
            </a:br>
            <a:endParaRPr lang="es-ES" sz="1100" dirty="0"/>
          </a:p>
          <a:p>
            <a:pPr marL="228600" indent="-228600">
              <a:buAutoNum type="arabicPeriod"/>
            </a:pPr>
            <a:r>
              <a:rPr lang="es-ES" sz="1100" b="1" dirty="0"/>
              <a:t>Código: </a:t>
            </a:r>
            <a:r>
              <a:rPr lang="es-ES" sz="1100" dirty="0"/>
              <a:t>Código alfanumérico de 15 caracteres que representa el código de clasificación dos</a:t>
            </a:r>
          </a:p>
          <a:p>
            <a:pPr marL="228600" indent="-228600">
              <a:buAutoNum type="arabicPeriod"/>
            </a:pPr>
            <a:r>
              <a:rPr lang="es-CL" sz="1100" b="1" dirty="0"/>
              <a:t>Descripción: </a:t>
            </a:r>
            <a:r>
              <a:rPr lang="es-CL" sz="1100" dirty="0"/>
              <a:t>Campo alfanumérico de hasta 30 caracteres que representa el nombre del elemento de catálogo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43BEDDE1-3E8E-41C0-B0B1-63F0B88B2C15}"/>
              </a:ext>
            </a:extLst>
          </p:cNvPr>
          <p:cNvSpPr/>
          <p:nvPr/>
        </p:nvSpPr>
        <p:spPr>
          <a:xfrm>
            <a:off x="1270520" y="2831913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58EE6792-939F-B27C-3271-8316DA35AB98}"/>
              </a:ext>
            </a:extLst>
          </p:cNvPr>
          <p:cNvSpPr/>
          <p:nvPr/>
        </p:nvSpPr>
        <p:spPr>
          <a:xfrm>
            <a:off x="3636264" y="2831913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02933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C45353D7-1F9F-E90D-8A54-7C8A0EE11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65" y="1995896"/>
            <a:ext cx="10640051" cy="120631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atributos y propiedades especificas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565" y="372717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200" dirty="0"/>
              <a:t>STVCUDC</a:t>
            </a:r>
            <a:r>
              <a:rPr lang="es-ES_tradnl" sz="3000" b="1" dirty="0"/>
              <a:t> </a:t>
            </a:r>
            <a:r>
              <a:rPr lang="es-ES_tradnl" sz="3000" dirty="0"/>
              <a:t>Validación de elemento tres de catálogo</a:t>
            </a: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729565" y="4455459"/>
            <a:ext cx="10886057" cy="95063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Página destinada a la creación  de  elementos que se pueden asociar a un curso.</a:t>
            </a:r>
            <a:br>
              <a:rPr lang="es-ES" sz="1100" dirty="0"/>
            </a:br>
            <a:endParaRPr lang="es-ES" sz="1100" dirty="0"/>
          </a:p>
          <a:p>
            <a:pPr marL="228600" indent="-228600">
              <a:buAutoNum type="arabicPeriod"/>
            </a:pPr>
            <a:r>
              <a:rPr lang="es-ES" sz="1100" b="1" dirty="0"/>
              <a:t>Código: </a:t>
            </a:r>
            <a:r>
              <a:rPr lang="es-ES" sz="1100" dirty="0"/>
              <a:t>Código alfanumérico de 15 caracteres que representa el código de clasificación tres</a:t>
            </a:r>
          </a:p>
          <a:p>
            <a:pPr marL="228600" indent="-228600">
              <a:buAutoNum type="arabicPeriod"/>
            </a:pPr>
            <a:r>
              <a:rPr lang="es-CL" sz="1100" b="1" dirty="0"/>
              <a:t>Descripción: </a:t>
            </a:r>
            <a:r>
              <a:rPr lang="es-CL" sz="1100" dirty="0"/>
              <a:t>Campo alfanumérico de hasta 30 caracteres que representa el nombre del elemento de catálogo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16A9285F-0C7A-9DB8-EDB8-944B20E56776}"/>
              </a:ext>
            </a:extLst>
          </p:cNvPr>
          <p:cNvSpPr/>
          <p:nvPr/>
        </p:nvSpPr>
        <p:spPr>
          <a:xfrm>
            <a:off x="1334528" y="2942716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415C8AD8-F0CF-7491-0D3F-542D1C811E19}"/>
              </a:ext>
            </a:extLst>
          </p:cNvPr>
          <p:cNvSpPr/>
          <p:nvPr/>
        </p:nvSpPr>
        <p:spPr>
          <a:xfrm>
            <a:off x="3191314" y="2942715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89438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6A82AB3-84C0-C188-8028-920EFE44D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91" y="1788315"/>
            <a:ext cx="10633017" cy="120363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atributos y propiedades especificas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565" y="372717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200" dirty="0"/>
              <a:t>STVCUDD,</a:t>
            </a:r>
            <a:r>
              <a:rPr lang="es-ES_tradnl" sz="3000" b="1" dirty="0"/>
              <a:t> </a:t>
            </a:r>
            <a:r>
              <a:rPr lang="es-ES_tradnl" sz="3000" dirty="0"/>
              <a:t>Validación de elemento cuatro de catálogo</a:t>
            </a: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729565" y="4518212"/>
            <a:ext cx="10886057" cy="95063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Página destinada a la creación  de  elementos que se pueden asociar a un curso.</a:t>
            </a:r>
            <a:br>
              <a:rPr lang="es-ES" sz="1100" dirty="0"/>
            </a:br>
            <a:endParaRPr lang="es-ES" sz="1100" dirty="0"/>
          </a:p>
          <a:p>
            <a:pPr marL="228600" indent="-228600">
              <a:buAutoNum type="arabicPeriod"/>
            </a:pPr>
            <a:r>
              <a:rPr lang="es-ES" sz="1100" b="1" dirty="0"/>
              <a:t>Código: </a:t>
            </a:r>
            <a:r>
              <a:rPr lang="es-ES" sz="1100" dirty="0"/>
              <a:t>Código alfanumérico de 15 caracteres que representa el código de clasificación cuatro</a:t>
            </a:r>
          </a:p>
          <a:p>
            <a:pPr marL="228600" indent="-228600">
              <a:buAutoNum type="arabicPeriod"/>
            </a:pPr>
            <a:r>
              <a:rPr lang="es-CL" sz="1100" b="1" dirty="0"/>
              <a:t>Descripción: </a:t>
            </a:r>
            <a:r>
              <a:rPr lang="es-CL" sz="1100" dirty="0"/>
              <a:t>Campo alfanumérico de hasta 30 caracteres que representa el nombre del elemento de catálogo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14A95B99-F3CE-462C-8E29-DDFC72A80E01}"/>
              </a:ext>
            </a:extLst>
          </p:cNvPr>
          <p:cNvSpPr/>
          <p:nvPr/>
        </p:nvSpPr>
        <p:spPr>
          <a:xfrm>
            <a:off x="1229872" y="2751051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4AA9E04B-7CD0-2317-811C-FC9A5D685781}"/>
              </a:ext>
            </a:extLst>
          </p:cNvPr>
          <p:cNvSpPr/>
          <p:nvPr/>
        </p:nvSpPr>
        <p:spPr>
          <a:xfrm>
            <a:off x="3112537" y="2751050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27601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BE7AC067-218E-F6ED-BFA1-01E4ACA88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090" y="1830716"/>
            <a:ext cx="10886057" cy="123666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atributos y propiedades especificas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565" y="372717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200" dirty="0"/>
              <a:t>STVCUDE</a:t>
            </a:r>
            <a:r>
              <a:rPr lang="es-ES_tradnl" sz="3000" b="1" dirty="0"/>
              <a:t> </a:t>
            </a:r>
            <a:r>
              <a:rPr lang="es-ES_tradnl" sz="3000" dirty="0"/>
              <a:t>Validación de elemento cinco de catálogo</a:t>
            </a: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729565" y="4554071"/>
            <a:ext cx="10886057" cy="95063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Página destinada a la creación  de  elementos que se pueden asociar a un curso.</a:t>
            </a:r>
            <a:br>
              <a:rPr lang="es-ES" sz="1100" dirty="0"/>
            </a:br>
            <a:endParaRPr lang="es-ES" sz="1100" dirty="0"/>
          </a:p>
          <a:p>
            <a:pPr marL="228600" indent="-228600">
              <a:buAutoNum type="arabicPeriod"/>
            </a:pPr>
            <a:r>
              <a:rPr lang="es-ES" sz="1100" b="1" dirty="0"/>
              <a:t>Código: </a:t>
            </a:r>
            <a:r>
              <a:rPr lang="es-ES" sz="1100" dirty="0"/>
              <a:t>Código alfanumérico de 15 caracteres que representa el código de clasificación cinco</a:t>
            </a:r>
          </a:p>
          <a:p>
            <a:pPr marL="228600" indent="-228600">
              <a:buAutoNum type="arabicPeriod"/>
            </a:pPr>
            <a:r>
              <a:rPr lang="es-CL" sz="1100" b="1" dirty="0"/>
              <a:t>Descripción: </a:t>
            </a:r>
            <a:r>
              <a:rPr lang="es-CL" sz="1100" dirty="0"/>
              <a:t>Campo alfanumérico de hasta 30 caracteres que representa el nombre del elemento de catálogo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C1D7D043-7201-8F1E-E442-D5677E68D6B2}"/>
              </a:ext>
            </a:extLst>
          </p:cNvPr>
          <p:cNvSpPr/>
          <p:nvPr/>
        </p:nvSpPr>
        <p:spPr>
          <a:xfrm>
            <a:off x="1307096" y="2779559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294286B5-E681-8501-3CD9-264B6B39A2C0}"/>
              </a:ext>
            </a:extLst>
          </p:cNvPr>
          <p:cNvSpPr/>
          <p:nvPr/>
        </p:nvSpPr>
        <p:spPr>
          <a:xfrm>
            <a:off x="3405421" y="2779558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24062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3D93DAAE-D18A-50C0-09F4-AA490647E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14" y="1748633"/>
            <a:ext cx="10761608" cy="128824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atributos y propiedades especificas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565" y="372717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200" dirty="0"/>
              <a:t>STVCUDF</a:t>
            </a:r>
            <a:r>
              <a:rPr lang="es-ES_tradnl" sz="3000" b="1" dirty="0"/>
              <a:t> </a:t>
            </a:r>
            <a:r>
              <a:rPr lang="es-ES_tradnl" sz="3000" dirty="0"/>
              <a:t>Validación de elemento seis de catálogo</a:t>
            </a: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729565" y="4473388"/>
            <a:ext cx="10886057" cy="95063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Página destinada a la creación  de  elementos que se pueden asociar a un curso.</a:t>
            </a:r>
            <a:br>
              <a:rPr lang="es-ES" sz="1100" dirty="0"/>
            </a:br>
            <a:endParaRPr lang="es-ES" sz="1100" dirty="0"/>
          </a:p>
          <a:p>
            <a:pPr marL="228600" indent="-228600">
              <a:buAutoNum type="arabicPeriod"/>
            </a:pPr>
            <a:r>
              <a:rPr lang="es-ES" sz="1100" b="1" dirty="0"/>
              <a:t>Código: </a:t>
            </a:r>
            <a:r>
              <a:rPr lang="es-ES" sz="1100" dirty="0"/>
              <a:t>Código alfanumérico de 15 caracteres que representa el código de clasificación seis</a:t>
            </a:r>
          </a:p>
          <a:p>
            <a:pPr marL="228600" indent="-228600">
              <a:buAutoNum type="arabicPeriod"/>
            </a:pPr>
            <a:r>
              <a:rPr lang="es-CL" sz="1100" b="1" dirty="0"/>
              <a:t>Descripción: </a:t>
            </a:r>
            <a:r>
              <a:rPr lang="es-CL" sz="1100" dirty="0"/>
              <a:t>Campo alfanumérico de hasta 30 caracteres que representa el nombre del elemento de catálogo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7EE5AB63-FA5C-2904-8232-21F781FA63C1}"/>
              </a:ext>
            </a:extLst>
          </p:cNvPr>
          <p:cNvSpPr/>
          <p:nvPr/>
        </p:nvSpPr>
        <p:spPr>
          <a:xfrm>
            <a:off x="1297952" y="2701920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97EDC22A-9AA0-8726-94C9-D5E2F32DF9A5}"/>
              </a:ext>
            </a:extLst>
          </p:cNvPr>
          <p:cNvSpPr/>
          <p:nvPr/>
        </p:nvSpPr>
        <p:spPr>
          <a:xfrm>
            <a:off x="3232375" y="2701919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750803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Asignar atributos y propiedades especificas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sz="3200" b="1" dirty="0">
                <a:solidFill>
                  <a:schemeClr val="bg1"/>
                </a:solidFill>
              </a:rPr>
              <a:t>Asignar atributos y propiedades especificas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419" dirty="0"/>
              <a:t>Asociar atributos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6360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8A09876D-394D-340E-E2FF-8859C1870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845" y="1908279"/>
            <a:ext cx="10613366" cy="146869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atributos y propiedades especificas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670" y="319188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dirty="0"/>
              <a:t>SCADETL</a:t>
            </a:r>
            <a:r>
              <a:rPr lang="es-ES_tradnl" sz="3000" b="1" dirty="0"/>
              <a:t> Inform</a:t>
            </a:r>
            <a:r>
              <a:rPr lang="es-ES_tradnl" sz="3000" dirty="0"/>
              <a:t>ación detallada del curso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6EE0DA9-EBA3-10C7-6F49-93F77FD1ABFD}"/>
              </a:ext>
            </a:extLst>
          </p:cNvPr>
          <p:cNvSpPr/>
          <p:nvPr/>
        </p:nvSpPr>
        <p:spPr>
          <a:xfrm>
            <a:off x="728955" y="4620932"/>
            <a:ext cx="11001146" cy="95063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En esta forma de Información detallada del curso, se asocia atributo al curso elegible en:</a:t>
            </a:r>
            <a:br>
              <a:rPr lang="es-ES" sz="1100" dirty="0"/>
            </a:br>
            <a:endParaRPr lang="es-ES" sz="1100" dirty="0"/>
          </a:p>
          <a:p>
            <a:pPr marL="228600" indent="-228600">
              <a:buAutoNum type="arabicPeriod"/>
            </a:pPr>
            <a:r>
              <a:rPr lang="es-ES" sz="1100" b="1" dirty="0"/>
              <a:t>Materia: </a:t>
            </a:r>
            <a:r>
              <a:rPr lang="es-ES" sz="1100" dirty="0"/>
              <a:t>Se ingresa la materia a la cual se le va a ingresar el atributo</a:t>
            </a:r>
            <a:r>
              <a:rPr lang="es-ES" sz="1100" b="1" dirty="0"/>
              <a:t> </a:t>
            </a:r>
          </a:p>
          <a:p>
            <a:pPr marL="228600" indent="-228600">
              <a:buAutoNum type="arabicPeriod"/>
            </a:pPr>
            <a:r>
              <a:rPr lang="es-ES" sz="1100" b="1" dirty="0"/>
              <a:t>Curso: </a:t>
            </a:r>
            <a:r>
              <a:rPr lang="es-ES" sz="1100" dirty="0"/>
              <a:t>Se ingresa el curso a la cual se le va a ingresar el atributo</a:t>
            </a:r>
          </a:p>
          <a:p>
            <a:pPr marL="228600" indent="-228600">
              <a:buAutoNum type="arabicPeriod"/>
            </a:pPr>
            <a:r>
              <a:rPr lang="es-CL" sz="1100" b="1" dirty="0"/>
              <a:t>Período: </a:t>
            </a:r>
            <a:r>
              <a:rPr lang="es-CL" sz="1100" dirty="0"/>
              <a:t>Se selecciona el período a partir del cual se va a definir el atributo 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C5FBE9F6-349D-C8ED-80D9-68F02EB4A2AA}"/>
              </a:ext>
            </a:extLst>
          </p:cNvPr>
          <p:cNvSpPr/>
          <p:nvPr/>
        </p:nvSpPr>
        <p:spPr>
          <a:xfrm>
            <a:off x="1133360" y="2491613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C960E1F6-12E7-603B-B669-8B761A695ADD}"/>
              </a:ext>
            </a:extLst>
          </p:cNvPr>
          <p:cNvSpPr/>
          <p:nvPr/>
        </p:nvSpPr>
        <p:spPr>
          <a:xfrm>
            <a:off x="1133360" y="2694000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8879E77E-B73B-5355-523F-9ACF5436ED4A}"/>
              </a:ext>
            </a:extLst>
          </p:cNvPr>
          <p:cNvSpPr/>
          <p:nvPr/>
        </p:nvSpPr>
        <p:spPr>
          <a:xfrm>
            <a:off x="5962472" y="2491613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17849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CEC866C5-3384-F8B0-8DF4-A85E7E446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652" y="1668337"/>
            <a:ext cx="10575985" cy="1756221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endParaRPr lang="es-ES" dirty="0"/>
          </a:p>
          <a:p>
            <a:r>
              <a:rPr lang="es-ES" sz="1200" dirty="0"/>
              <a:t>Asignar atributos y propiedades especificas</a:t>
            </a:r>
            <a:endParaRPr lang="en-US" dirty="0"/>
          </a:p>
          <a:p>
            <a:endParaRPr lang="es-CL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600" y="372717"/>
            <a:ext cx="10271883" cy="626165"/>
          </a:xfrm>
        </p:spPr>
        <p:txBody>
          <a:bodyPr/>
          <a:lstStyle/>
          <a:p>
            <a:r>
              <a:rPr lang="es-ES_tradnl" sz="3600" b="0" dirty="0"/>
              <a:t>Configuraciones: </a:t>
            </a:r>
            <a:r>
              <a:rPr lang="es-ES_tradnl" sz="3200" dirty="0"/>
              <a:t>SCADETL</a:t>
            </a:r>
            <a:r>
              <a:rPr lang="es-ES_tradnl" sz="3200" b="1" dirty="0"/>
              <a:t> Inform</a:t>
            </a:r>
            <a:r>
              <a:rPr lang="es-ES_tradnl" sz="3200" dirty="0"/>
              <a:t>ación detallada del curso</a:t>
            </a:r>
            <a:endParaRPr lang="es-CL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52077CCA-2AFD-9D92-F65C-435DDC46A48F}"/>
              </a:ext>
            </a:extLst>
          </p:cNvPr>
          <p:cNvSpPr/>
          <p:nvPr/>
        </p:nvSpPr>
        <p:spPr>
          <a:xfrm>
            <a:off x="652971" y="5221567"/>
            <a:ext cx="11001146" cy="95063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En la pestaña atributos de grado</a:t>
            </a:r>
            <a:br>
              <a:rPr lang="es-ES" sz="1100" dirty="0"/>
            </a:br>
            <a:endParaRPr lang="es-ES" sz="1100" dirty="0"/>
          </a:p>
          <a:p>
            <a:r>
              <a:rPr lang="es-ES" sz="1100" dirty="0"/>
              <a:t>1.- </a:t>
            </a:r>
            <a:r>
              <a:rPr lang="es-ES" sz="1100" b="1" dirty="0"/>
              <a:t>Atributo</a:t>
            </a:r>
            <a:r>
              <a:rPr lang="es-ES" sz="1100" dirty="0"/>
              <a:t>: Se inserta el código del atributo que aplica para el curso.</a:t>
            </a:r>
          </a:p>
          <a:p>
            <a:r>
              <a:rPr lang="es-ES" sz="1100" dirty="0"/>
              <a:t>2.- </a:t>
            </a:r>
            <a:r>
              <a:rPr lang="es-ES" sz="1100" b="1" dirty="0"/>
              <a:t>Insertar</a:t>
            </a:r>
            <a:r>
              <a:rPr lang="es-ES" sz="1100" dirty="0"/>
              <a:t>: Se pueden incorporar varios registros con el botón de insertar. Se despliega de la tabla STVATTR</a:t>
            </a:r>
            <a:endParaRPr lang="es-CL" sz="11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9BE27D24-9262-A041-CB4E-FAFAB49B0F40}"/>
              </a:ext>
            </a:extLst>
          </p:cNvPr>
          <p:cNvSpPr/>
          <p:nvPr/>
        </p:nvSpPr>
        <p:spPr>
          <a:xfrm>
            <a:off x="1838707" y="3127379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8456B2E8-EA2D-8470-A458-C93819B0BCC2}"/>
              </a:ext>
            </a:extLst>
          </p:cNvPr>
          <p:cNvSpPr/>
          <p:nvPr/>
        </p:nvSpPr>
        <p:spPr>
          <a:xfrm>
            <a:off x="10646060" y="2470941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1585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Asignar atributos y propiedades especificas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sz="3200" b="1" dirty="0">
                <a:solidFill>
                  <a:schemeClr val="bg1"/>
                </a:solidFill>
              </a:rPr>
              <a:t>Asignar atributos y propiedades especificas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419" dirty="0"/>
              <a:t>Establecer propiedades adicionales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7285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16F45A27-EA38-17DD-F607-005D805BF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49" y="1316901"/>
            <a:ext cx="10579722" cy="292806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endParaRPr lang="es-ES" dirty="0"/>
          </a:p>
          <a:p>
            <a:r>
              <a:rPr lang="es-ES" sz="1200" dirty="0"/>
              <a:t>Asignar atributos y propiedades especificas</a:t>
            </a:r>
            <a:endParaRPr lang="en-US" dirty="0"/>
          </a:p>
          <a:p>
            <a:endParaRPr lang="es-CL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529" y="372717"/>
            <a:ext cx="10271883" cy="626165"/>
          </a:xfrm>
        </p:spPr>
        <p:txBody>
          <a:bodyPr/>
          <a:lstStyle/>
          <a:p>
            <a:r>
              <a:rPr lang="es-ES_tradnl" sz="3600" b="0" dirty="0"/>
              <a:t>Configuraciones: </a:t>
            </a:r>
            <a:r>
              <a:rPr lang="es-ES_tradnl" sz="3200" dirty="0"/>
              <a:t>SCADETL</a:t>
            </a:r>
            <a:r>
              <a:rPr lang="es-ES_tradnl" sz="3200" b="1" dirty="0"/>
              <a:t> Inform</a:t>
            </a:r>
            <a:r>
              <a:rPr lang="es-ES_tradnl" sz="3200" dirty="0"/>
              <a:t>ación detallada del curso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738529" y="4827324"/>
            <a:ext cx="11041095" cy="1636229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Página destinada al ingreso de características adicionales del curso</a:t>
            </a:r>
            <a:br>
              <a:rPr lang="es-ES" sz="1100" b="1" dirty="0"/>
            </a:br>
            <a:br>
              <a:rPr lang="es-ES" sz="1100" b="1" dirty="0"/>
            </a:br>
            <a:r>
              <a:rPr lang="es-ES" sz="1100" b="1" dirty="0"/>
              <a:t>1. Taxonomía del programa: </a:t>
            </a:r>
            <a:r>
              <a:rPr lang="es-419" sz="1100" dirty="0"/>
              <a:t>Se despliega de la tabla STVTOPS. Clasificación o atributo del curso.</a:t>
            </a:r>
            <a:endParaRPr lang="es-ES" sz="1100" dirty="0"/>
          </a:p>
          <a:p>
            <a:pPr algn="just"/>
            <a:r>
              <a:rPr lang="es-CL" sz="1100" b="1" dirty="0"/>
              <a:t>2. </a:t>
            </a:r>
            <a:r>
              <a:rPr lang="es-ES" sz="1100" b="1" dirty="0"/>
              <a:t>Curso ocupacional</a:t>
            </a:r>
            <a:r>
              <a:rPr lang="es-CL" sz="1100" b="1" dirty="0"/>
              <a:t>: </a:t>
            </a:r>
            <a:r>
              <a:rPr lang="es-CL" sz="1100" dirty="0"/>
              <a:t>Se despliega de la tabla STVOCCS. </a:t>
            </a:r>
            <a:r>
              <a:rPr lang="es-419" sz="1100" dirty="0"/>
              <a:t>Clasificación o atributo del curso.</a:t>
            </a:r>
            <a:endParaRPr lang="es-ES" sz="1100" dirty="0"/>
          </a:p>
          <a:p>
            <a:pPr algn="just"/>
            <a:r>
              <a:rPr lang="es-CL" sz="1100" b="1" dirty="0"/>
              <a:t>3. </a:t>
            </a:r>
            <a:r>
              <a:rPr lang="es-ES" sz="1100" b="1" dirty="0"/>
              <a:t>Clasificación</a:t>
            </a:r>
            <a:r>
              <a:rPr lang="es-CL" sz="1100" dirty="0"/>
              <a:t>: </a:t>
            </a:r>
            <a:r>
              <a:rPr lang="es-ES_tradnl" sz="1100" dirty="0"/>
              <a:t>Se </a:t>
            </a:r>
            <a:r>
              <a:rPr lang="es-419" sz="1100" dirty="0"/>
              <a:t>despliega de la tabla STVCCSL. Clasificación o atributo del curso.</a:t>
            </a:r>
            <a:endParaRPr lang="es-CL" sz="1100" dirty="0"/>
          </a:p>
          <a:p>
            <a:pPr algn="just"/>
            <a:r>
              <a:rPr lang="es-CL" sz="1100" b="1" dirty="0"/>
              <a:t>4. </a:t>
            </a:r>
            <a:r>
              <a:rPr lang="es-ES" sz="1100" b="1" dirty="0"/>
              <a:t>Educación cooperativa</a:t>
            </a:r>
            <a:r>
              <a:rPr lang="es-CL" sz="1100" dirty="0"/>
              <a:t>: </a:t>
            </a:r>
            <a:r>
              <a:rPr lang="es-ES_tradnl" sz="1100" dirty="0"/>
              <a:t>Se </a:t>
            </a:r>
            <a:r>
              <a:rPr lang="es-419" sz="1100" dirty="0"/>
              <a:t>marca para indicar que el curso es de educación cooperativa y podrá ser ingresado en SGACOPP.</a:t>
            </a:r>
            <a:endParaRPr lang="es-ES" sz="1100" dirty="0"/>
          </a:p>
          <a:p>
            <a:endParaRPr lang="es-CL" sz="11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08AE92B1-368A-F253-20A7-0935068F051B}"/>
              </a:ext>
            </a:extLst>
          </p:cNvPr>
          <p:cNvSpPr/>
          <p:nvPr/>
        </p:nvSpPr>
        <p:spPr>
          <a:xfrm>
            <a:off x="873750" y="2629925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62E8D68D-65E1-8B66-DC1D-BB997553FDCA}"/>
              </a:ext>
            </a:extLst>
          </p:cNvPr>
          <p:cNvSpPr/>
          <p:nvPr/>
        </p:nvSpPr>
        <p:spPr>
          <a:xfrm>
            <a:off x="711000" y="2946117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BC44AC95-8B08-7411-58EE-C3AED8981575}"/>
              </a:ext>
            </a:extLst>
          </p:cNvPr>
          <p:cNvSpPr/>
          <p:nvPr/>
        </p:nvSpPr>
        <p:spPr>
          <a:xfrm>
            <a:off x="873748" y="3156170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0" name="Rectángulo redondeado 15">
            <a:extLst>
              <a:ext uri="{FF2B5EF4-FFF2-40B4-BE49-F238E27FC236}">
                <a16:creationId xmlns:a16="http://schemas.microsoft.com/office/drawing/2014/main" id="{46739F02-AD63-730E-B047-9185FA3557F0}"/>
              </a:ext>
            </a:extLst>
          </p:cNvPr>
          <p:cNvSpPr/>
          <p:nvPr/>
        </p:nvSpPr>
        <p:spPr>
          <a:xfrm>
            <a:off x="6650367" y="2653572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04753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903E85D3-B66C-2C0D-B60E-D231FE440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043" y="1406106"/>
            <a:ext cx="10203675" cy="257490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endParaRPr lang="es-ES" dirty="0"/>
          </a:p>
          <a:p>
            <a:r>
              <a:rPr lang="es-ES" sz="1200" dirty="0"/>
              <a:t>Asignar atributos y propiedades especificas</a:t>
            </a:r>
            <a:endParaRPr lang="en-US" dirty="0"/>
          </a:p>
          <a:p>
            <a:endParaRPr lang="es-CL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372717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2800" dirty="0"/>
              <a:t>SCADETL</a:t>
            </a:r>
            <a:r>
              <a:rPr lang="es-ES_tradnl" sz="2800" b="1" dirty="0"/>
              <a:t> Inform</a:t>
            </a:r>
            <a:r>
              <a:rPr lang="es-ES_tradnl" sz="2800" dirty="0"/>
              <a:t>ación detallada del curso</a:t>
            </a: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860612" y="4840942"/>
            <a:ext cx="10847293" cy="1515408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419" sz="1100" b="1" dirty="0"/>
          </a:p>
          <a:p>
            <a:endParaRPr lang="es-419" sz="1100" b="1" dirty="0"/>
          </a:p>
          <a:p>
            <a:r>
              <a:rPr lang="es-419" sz="1100" b="1" dirty="0"/>
              <a:t>1.- Se ingresan los elementos que se establecen para el curso, </a:t>
            </a:r>
            <a:br>
              <a:rPr lang="es-419" sz="1100" b="1" dirty="0"/>
            </a:br>
            <a:endParaRPr lang="es-419" sz="1100" b="1" dirty="0"/>
          </a:p>
          <a:p>
            <a:r>
              <a:rPr lang="es-419" sz="1100" b="1" dirty="0"/>
              <a:t>Elemento 1. </a:t>
            </a:r>
            <a:r>
              <a:rPr lang="es-419" sz="1100" dirty="0"/>
              <a:t>se despliega de la tabla STVCUDA. </a:t>
            </a:r>
            <a:br>
              <a:rPr lang="es-419" sz="1100" dirty="0"/>
            </a:br>
            <a:r>
              <a:rPr lang="es-419" sz="1100" b="1" dirty="0"/>
              <a:t>Elemento 1. </a:t>
            </a:r>
            <a:r>
              <a:rPr lang="es-419" sz="1100" dirty="0"/>
              <a:t>se despliega de la tabla STVCUDB</a:t>
            </a:r>
            <a:endParaRPr lang="en-US" sz="1100" dirty="0"/>
          </a:p>
          <a:p>
            <a:r>
              <a:rPr lang="es-419" sz="1100" b="1" dirty="0"/>
              <a:t>Elemento 1. </a:t>
            </a:r>
            <a:r>
              <a:rPr lang="es-419" sz="1100" dirty="0"/>
              <a:t>se despliega de la tabla STVCUDC</a:t>
            </a:r>
            <a:endParaRPr lang="en-US" sz="1100" dirty="0"/>
          </a:p>
          <a:p>
            <a:r>
              <a:rPr lang="es-419" sz="1100" b="1" dirty="0"/>
              <a:t>Elemento 1. </a:t>
            </a:r>
            <a:r>
              <a:rPr lang="es-419" sz="1100" dirty="0"/>
              <a:t>se despliega de la tabla STVCUDD</a:t>
            </a:r>
            <a:endParaRPr lang="en-US" sz="1100" dirty="0"/>
          </a:p>
          <a:p>
            <a:r>
              <a:rPr lang="es-419" sz="1100" b="1" dirty="0"/>
              <a:t>Elemento 1. </a:t>
            </a:r>
            <a:r>
              <a:rPr lang="es-419" sz="1100" dirty="0"/>
              <a:t>se despliega de la tabla STVCUDE</a:t>
            </a:r>
            <a:endParaRPr lang="en-US" sz="1100" dirty="0"/>
          </a:p>
          <a:p>
            <a:r>
              <a:rPr lang="es-419" sz="1100" b="1" dirty="0"/>
              <a:t>Elemento 1. </a:t>
            </a:r>
            <a:r>
              <a:rPr lang="es-419" sz="1100" dirty="0"/>
              <a:t>se despliega de la tabla STVCUDF</a:t>
            </a:r>
            <a:endParaRPr lang="en-US" sz="1100" dirty="0"/>
          </a:p>
          <a:p>
            <a:br>
              <a:rPr lang="en-US" sz="1100" dirty="0"/>
            </a:br>
            <a:endParaRPr lang="en-US" sz="1100" dirty="0"/>
          </a:p>
          <a:p>
            <a:endParaRPr lang="es-CL" sz="11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C3D71206-BE3E-4A7D-2E6A-672FFE0D4C9A}"/>
              </a:ext>
            </a:extLst>
          </p:cNvPr>
          <p:cNvSpPr/>
          <p:nvPr/>
        </p:nvSpPr>
        <p:spPr>
          <a:xfrm>
            <a:off x="1095036" y="3511484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948222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Asignar atributos y propiedades especificas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sz="3200" b="1" dirty="0">
                <a:solidFill>
                  <a:schemeClr val="bg1"/>
                </a:solidFill>
              </a:rPr>
              <a:t>Asignar atributos y propiedades especificas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419" dirty="0"/>
              <a:t>Agregar la descripción del curso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0057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B275F013-8244-642A-F259-B95AC713E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203" y="1464342"/>
            <a:ext cx="9728862" cy="318537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endParaRPr lang="es-ES" dirty="0"/>
          </a:p>
          <a:p>
            <a:r>
              <a:rPr lang="es-ES" sz="1200" dirty="0"/>
              <a:t>Asignar atributos y propiedades especificas</a:t>
            </a:r>
            <a:endParaRPr lang="en-US" dirty="0"/>
          </a:p>
          <a:p>
            <a:endParaRPr lang="es-CL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600" y="350694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dirty="0"/>
              <a:t>SCADETL</a:t>
            </a:r>
            <a:r>
              <a:rPr lang="es-ES_tradnl" sz="3000" b="1" dirty="0"/>
              <a:t> Información detallada del curso </a:t>
            </a: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1224377" y="5192360"/>
            <a:ext cx="9920506" cy="787098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b="1" dirty="0"/>
              <a:t>Página destinada  al ingreso del detalle del curso</a:t>
            </a:r>
            <a:br>
              <a:rPr lang="es-ES" sz="1100" b="1" dirty="0"/>
            </a:br>
            <a:br>
              <a:rPr lang="es-419" sz="1100" b="1" dirty="0"/>
            </a:br>
            <a:r>
              <a:rPr lang="es-419" sz="1100" b="1" dirty="0"/>
              <a:t>1.- Descripción: </a:t>
            </a:r>
            <a:r>
              <a:rPr lang="es-419" sz="1100" dirty="0"/>
              <a:t>Se ingresa la descripción del curso, que le permita al estudiante entender de que se trata y decidir tomarlo</a:t>
            </a:r>
            <a:endParaRPr lang="en-US" sz="1100" dirty="0"/>
          </a:p>
          <a:p>
            <a:endParaRPr lang="es-CL" sz="11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86CEC01F-7EC4-68A2-9E82-DE1D7FA1C4B6}"/>
              </a:ext>
            </a:extLst>
          </p:cNvPr>
          <p:cNvSpPr/>
          <p:nvPr/>
        </p:nvSpPr>
        <p:spPr>
          <a:xfrm>
            <a:off x="1728934" y="2877719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19381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Asignar atributos y propiedades especificas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827" y="258335"/>
            <a:ext cx="7092820" cy="1628192"/>
          </a:xfrm>
        </p:spPr>
        <p:txBody>
          <a:bodyPr/>
          <a:lstStyle/>
          <a:p>
            <a:r>
              <a:rPr lang="en-US" sz="3600" dirty="0"/>
              <a:t>RESUMEN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636CD3-9D55-E7D6-7F08-EB5DED1D28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4826" y="2008765"/>
            <a:ext cx="10624467" cy="3979659"/>
          </a:xfrm>
        </p:spPr>
        <p:txBody>
          <a:bodyPr/>
          <a:lstStyle/>
          <a:p>
            <a:pPr marL="0" indent="0">
              <a:buNone/>
            </a:pPr>
            <a:r>
              <a:rPr lang="es-419" sz="2000" dirty="0"/>
              <a:t>Asignar atributos y propiedades especificas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dirty="0"/>
              <a:t>Los atributos de los cursos se definen a través de la página SCADETL para que sean tomadas en cuenta en el cumplimiento de la malla curricular del alumno.</a:t>
            </a:r>
          </a:p>
          <a:p>
            <a:pPr marL="342900" indent="-342900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dirty="0"/>
              <a:t>Si la institución así lo requiere, se designan también</a:t>
            </a:r>
          </a:p>
          <a:p>
            <a:pPr>
              <a:buClr>
                <a:srgbClr val="0CB4B4"/>
              </a:buClr>
            </a:pPr>
            <a:r>
              <a:rPr lang="es-ES_tradnl" dirty="0"/>
              <a:t>	Taxonomía del curso, según criterios académicos establecidos</a:t>
            </a:r>
          </a:p>
          <a:p>
            <a:pPr>
              <a:buClr>
                <a:srgbClr val="0CB4B4"/>
              </a:buClr>
            </a:pPr>
            <a:r>
              <a:rPr lang="es-ES_tradnl" dirty="0"/>
              <a:t>	Clasificación del curso</a:t>
            </a:r>
          </a:p>
          <a:p>
            <a:pPr>
              <a:buClr>
                <a:srgbClr val="0CB4B4"/>
              </a:buClr>
            </a:pPr>
            <a:r>
              <a:rPr lang="es-ES_tradnl" dirty="0"/>
              <a:t>	Se designa como curso de ocupación y/o de educación continua</a:t>
            </a:r>
          </a:p>
          <a:p>
            <a:pPr>
              <a:buClr>
                <a:srgbClr val="0CB4B4"/>
              </a:buClr>
            </a:pPr>
            <a:endParaRPr lang="es-ES_tradnl" dirty="0"/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dirty="0"/>
              <a:t>Los elementos que se pueden asignar al curso a través de la página SCADETL se utilizan para agregar propiedades que no se han podido definir en otras páginas..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134856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084689-227B-A2E5-EA69-DF2CD64C7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MUCHAS GRACIAS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EF50E-22E9-2C0A-4970-41D2FFEB26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Consultor</a:t>
            </a:r>
          </a:p>
          <a:p>
            <a:r>
              <a:rPr lang="en-US" dirty="0"/>
              <a:t>Correo@ellucian.com</a:t>
            </a:r>
          </a:p>
        </p:txBody>
      </p:sp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C726B198-B5C8-1C5D-4D10-BFFD13AAD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090" y="3652538"/>
            <a:ext cx="274320" cy="274320"/>
          </a:xfrm>
          <a:prstGeom prst="rect">
            <a:avLst/>
          </a:prstGeom>
        </p:spPr>
      </p:pic>
      <p:pic>
        <p:nvPicPr>
          <p:cNvPr id="9" name="Graphic 8" descr="Email with solid fill">
            <a:extLst>
              <a:ext uri="{FF2B5EF4-FFF2-40B4-BE49-F238E27FC236}">
                <a16:creationId xmlns:a16="http://schemas.microsoft.com/office/drawing/2014/main" id="{DD7F5D3F-15A6-F216-AF41-EA0DCDE6B3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0090" y="4039758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669019"/>
      </p:ext>
    </p:extLst>
  </p:cSld>
  <p:clrMapOvr>
    <a:masterClrMapping/>
  </p:clrMapOvr>
</p:sld>
</file>

<file path=ppt/theme/theme1.xml><?xml version="1.0" encoding="utf-8"?>
<a:theme xmlns:a="http://schemas.openxmlformats.org/drawingml/2006/main" name="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BP 01 - 4.1.6.2 Programar el inicio y finalizacion de Per.Acad.Regulares" id="{36489518-00D3-425C-91F5-1EE673D7B517}" vid="{CEA309A8-FD57-42A7-831A-1C6DF3BE5D5A}"/>
    </a:ext>
  </a:extLst>
</a:theme>
</file>

<file path=ppt/theme/theme2.xml><?xml version="1.0" encoding="utf-8"?>
<a:theme xmlns:a="http://schemas.openxmlformats.org/drawingml/2006/main" name="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BP 01 - 4.1.6.2 Programar el inicio y finalizacion de Per.Acad.Regulares" id="{36489518-00D3-425C-91F5-1EE673D7B517}" vid="{B53508D9-7D69-489E-B75B-7682E6255525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EBP 01 - 4.1.6.2 Programar el inicio y finalizacion de Per.Acad.Regulares</Template>
  <TotalTime>4246</TotalTime>
  <Words>1358</Words>
  <Application>Microsoft Office PowerPoint</Application>
  <PresentationFormat>Widescreen</PresentationFormat>
  <Paragraphs>188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Courier New</vt:lpstr>
      <vt:lpstr>Helvetica Neue</vt:lpstr>
      <vt:lpstr>Wingdings</vt:lpstr>
      <vt:lpstr>Ellucian Main Layouts</vt:lpstr>
      <vt:lpstr>Ellucian Blank Layouts</vt:lpstr>
      <vt:lpstr>PowerPoint Presentation</vt:lpstr>
      <vt:lpstr>PowerPoint Presentation</vt:lpstr>
      <vt:lpstr>Overview</vt:lpstr>
      <vt:lpstr>Overview: Mapa de capacidades</vt:lpstr>
      <vt:lpstr>Overview: Proceso de asignar atributos y propiedades especificas</vt:lpstr>
      <vt:lpstr>Overview: Procesos de asignar atributos y propiedades especificas</vt:lpstr>
      <vt:lpstr>PowerPoint Presentation</vt:lpstr>
      <vt:lpstr>CONFIGURACIONES</vt:lpstr>
      <vt:lpstr>Configuraciones: STVATTR Validación de atributo</vt:lpstr>
      <vt:lpstr>Configuraciones: STVTOPS Validación de código de taxonomía de programa</vt:lpstr>
      <vt:lpstr>Configuraciones: STVOCCS Validación de código de curso ocupacional</vt:lpstr>
      <vt:lpstr>Configuraciones: STVCCSL Validación de código de clasificación</vt:lpstr>
      <vt:lpstr>Configuraciones: STVCUDA Validación de elemento uno de catálogo</vt:lpstr>
      <vt:lpstr>Configuraciones: STVCUDB Validación de elemento dos de catálogo</vt:lpstr>
      <vt:lpstr>Configuraciones: STVCUDC Validación de elemento tres de catálogo</vt:lpstr>
      <vt:lpstr>Configuraciones: STVCUDD, Validación de elemento cuatro de catálogo</vt:lpstr>
      <vt:lpstr>Configuraciones: STVCUDE Validación de elemento cinco de catálogo</vt:lpstr>
      <vt:lpstr>Configuraciones: STVCUDF Validación de elemento seis de catálogo</vt:lpstr>
      <vt:lpstr>Asignar atributos y propiedades especificas</vt:lpstr>
      <vt:lpstr>Configuraciones: SCADETL Información detallada del curso </vt:lpstr>
      <vt:lpstr>Configuraciones: SCADETL Información detallada del curso</vt:lpstr>
      <vt:lpstr>Asignar atributos y propiedades especificas</vt:lpstr>
      <vt:lpstr>Configuraciones: SCADETL Información detallada del curso </vt:lpstr>
      <vt:lpstr>Configuraciones: SCADETL Información detallada del curso</vt:lpstr>
      <vt:lpstr>Asignar atributos y propiedades especificas</vt:lpstr>
      <vt:lpstr>Configuraciones: SCADETL Información detallada del curso </vt:lpstr>
      <vt:lpstr>RESUMEN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Gestionar conceptos de cobro y pago</dc:title>
  <dc:creator>Mardones, Francisco</dc:creator>
  <cp:lastModifiedBy>Trapp, Eduardo</cp:lastModifiedBy>
  <cp:revision>584</cp:revision>
  <dcterms:created xsi:type="dcterms:W3CDTF">2023-07-17T20:07:38Z</dcterms:created>
  <dcterms:modified xsi:type="dcterms:W3CDTF">2026-04-17T00:41:53Z</dcterms:modified>
</cp:coreProperties>
</file>
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0" r:id="rId2"/>
  </p:sldMasterIdLst>
  <p:notesMasterIdLst>
    <p:notesMasterId r:id="rId27"/>
  </p:notesMasterIdLst>
  <p:sldIdLst>
    <p:sldId id="257" r:id="rId3"/>
    <p:sldId id="423" r:id="rId4"/>
    <p:sldId id="476" r:id="rId5"/>
    <p:sldId id="554" r:id="rId6"/>
    <p:sldId id="555" r:id="rId7"/>
    <p:sldId id="556" r:id="rId8"/>
    <p:sldId id="352" r:id="rId9"/>
    <p:sldId id="421" r:id="rId10"/>
    <p:sldId id="525" r:id="rId11"/>
    <p:sldId id="478" r:id="rId12"/>
    <p:sldId id="469" r:id="rId13"/>
    <p:sldId id="526" r:id="rId14"/>
    <p:sldId id="493" r:id="rId15"/>
    <p:sldId id="518" r:id="rId16"/>
    <p:sldId id="529" r:id="rId17"/>
    <p:sldId id="530" r:id="rId18"/>
    <p:sldId id="531" r:id="rId19"/>
    <p:sldId id="540" r:id="rId20"/>
    <p:sldId id="539" r:id="rId21"/>
    <p:sldId id="541" r:id="rId22"/>
    <p:sldId id="542" r:id="rId23"/>
    <p:sldId id="345" r:id="rId24"/>
    <p:sldId id="543" r:id="rId25"/>
    <p:sldId id="55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06-07-2026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18417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84355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69551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54050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29356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34782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0434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11611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075041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397231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21341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06555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785322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137977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140541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277812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147970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9320870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33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75593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4736274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80875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980155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8988646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97064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901896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477879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870490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14731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233064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415428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508988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419908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06-07-2026</a:t>
            </a:fld>
            <a:endParaRPr lang="es-CL" dirty="0"/>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dirty="0"/>
          </a:p>
        </p:txBody>
      </p:sp>
    </p:spTree>
    <p:extLst>
      <p:ext uri="{BB962C8B-B14F-4D97-AF65-F5344CB8AC3E}">
        <p14:creationId xmlns:p14="http://schemas.microsoft.com/office/powerpoint/2010/main" val="26854716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15273656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207469236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38769430"/>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95784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449652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634059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513808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7223965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291802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13891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94406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248252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982487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0054406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631851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355203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921301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5512798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826068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941414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6546976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6088531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theme" Target="../theme/theme2.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9042321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883411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613309"/>
          </a:xfrm>
        </p:spPr>
        <p:txBody>
          <a:bodyPr/>
          <a:lstStyle/>
          <a:p>
            <a:r>
              <a:rPr lang="es-419" sz="4400" dirty="0"/>
              <a:t>Crear listas cruzadas</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 </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194925"/>
          </a:xfrm>
        </p:spPr>
        <p:txBody>
          <a:bodyPr/>
          <a:lstStyle/>
          <a:p>
            <a:r>
              <a:rPr lang="es-CL" dirty="0"/>
              <a:t>Universidad Señor de SIPAN</a:t>
            </a:r>
          </a:p>
        </p:txBody>
      </p:sp>
      <p:sp>
        <p:nvSpPr>
          <p:cNvPr id="6" name="Marcador de texto 5">
            <a:extLst>
              <a:ext uri="{FF2B5EF4-FFF2-40B4-BE49-F238E27FC236}">
                <a16:creationId xmlns:a16="http://schemas.microsoft.com/office/drawing/2014/main" id="{C2985291-506E-099B-34AF-5893D3D48C52}"/>
              </a:ext>
            </a:extLst>
          </p:cNvPr>
          <p:cNvSpPr>
            <a:spLocks noGrp="1"/>
          </p:cNvSpPr>
          <p:nvPr>
            <p:ph type="body" sz="quarter" idx="13"/>
          </p:nvPr>
        </p:nvSpPr>
        <p:spPr/>
        <p:txBody>
          <a:bodyPr/>
          <a:lstStyle/>
          <a:p>
            <a:r>
              <a:rPr lang="es-419" dirty="0"/>
              <a:t>Julio, 2026</a:t>
            </a:r>
          </a:p>
        </p:txBody>
      </p:sp>
      <p:pic>
        <p:nvPicPr>
          <p:cNvPr id="9" name="Marcador de posición de imagen 8" descr="Una persona con una laptop en una mesa&#10;&#10;El contenido generado por IA puede ser incorrecto.">
            <a:extLst>
              <a:ext uri="{FF2B5EF4-FFF2-40B4-BE49-F238E27FC236}">
                <a16:creationId xmlns:a16="http://schemas.microsoft.com/office/drawing/2014/main" id="{437BF862-3C3A-E183-3EB2-5B165AF13109}"/>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Crear listas cruzadas</a:t>
            </a:r>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1382094088"/>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Crear listas cruzadas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Crear listas cruzadas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Gestionar persona natural</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vert="horz" lIns="0" tIns="0" rIns="0" bIns="0" rtlCol="0" anchor="t" anchorCtr="0">
            <a:noAutofit/>
          </a:bodyPr>
          <a:lstStyle/>
          <a:p>
            <a:r>
              <a:rPr lang="es-ES_tradnl" dirty="0"/>
              <a:t>Overview: Mapa de capacidades</a:t>
            </a:r>
            <a:endParaRPr lang="en-US" dirty="0"/>
          </a:p>
        </p:txBody>
      </p:sp>
      <p:pic>
        <p:nvPicPr>
          <p:cNvPr id="5" name="Picture 2">
            <a:extLst>
              <a:ext uri="{FF2B5EF4-FFF2-40B4-BE49-F238E27FC236}">
                <a16:creationId xmlns:a16="http://schemas.microsoft.com/office/drawing/2014/main" id="{1CD86584-3813-004E-3696-5BB232753E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0" t="3607" r="2974"/>
          <a:stretch>
            <a:fillRect/>
          </a:stretch>
        </p:blipFill>
        <p:spPr bwMode="auto">
          <a:xfrm>
            <a:off x="609601" y="1289303"/>
            <a:ext cx="11225781" cy="457850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E791E00-6A81-316C-AA90-C0CA3861559B}"/>
              </a:ext>
            </a:extLst>
          </p:cNvPr>
          <p:cNvSpPr/>
          <p:nvPr/>
        </p:nvSpPr>
        <p:spPr>
          <a:xfrm>
            <a:off x="932068" y="4162565"/>
            <a:ext cx="4102156" cy="62179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466565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Copiar oferta horaria de los cursos de un periodo anterior</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a:solidFill>
                  <a:schemeClr val="tx2"/>
                </a:solidFill>
              </a:rPr>
              <a:t>Overview</a:t>
            </a:r>
            <a:r>
              <a:rPr lang="es-ES_tradnl" dirty="0">
                <a:solidFill>
                  <a:schemeClr val="tx2"/>
                </a:solidFill>
              </a:rPr>
              <a:t>: Capacidad operativa </a:t>
            </a:r>
            <a:r>
              <a:rPr lang="es-CO" dirty="0">
                <a:solidFill>
                  <a:schemeClr val="tx2"/>
                </a:solidFill>
              </a:rPr>
              <a:t>Gestión de la Programación Académica </a:t>
            </a:r>
            <a:endParaRPr lang="es-CL" dirty="0">
              <a:solidFill>
                <a:schemeClr val="tx2"/>
              </a:solidFill>
            </a:endParaRPr>
          </a:p>
        </p:txBody>
      </p:sp>
      <p:sp>
        <p:nvSpPr>
          <p:cNvPr id="7" name="Marcador de texto 1">
            <a:extLst>
              <a:ext uri="{FF2B5EF4-FFF2-40B4-BE49-F238E27FC236}">
                <a16:creationId xmlns:a16="http://schemas.microsoft.com/office/drawing/2014/main" id="{CB7A8793-8432-1052-4A39-DA1AAACF655C}"/>
              </a:ext>
            </a:extLst>
          </p:cNvPr>
          <p:cNvSpPr txBox="1">
            <a:spLocks/>
          </p:cNvSpPr>
          <p:nvPr/>
        </p:nvSpPr>
        <p:spPr>
          <a:xfrm>
            <a:off x="1104900" y="1584355"/>
            <a:ext cx="9698935" cy="4267198"/>
          </a:xfrm>
          <a:prstGeom prst="rect">
            <a:avLst/>
          </a:prstGeom>
        </p:spPr>
        <p:txBody>
          <a:bodyPr vert="horz" lIns="0" tIns="0" rIns="0" bIns="0" rtlCol="0" anchor="ctr">
            <a:noAutofit/>
          </a:bodyPr>
          <a:lstStyle>
            <a:lvl1pPr marL="174625" indent="-174625" algn="l" defTabSz="914400" rtl="0" eaLnBrk="1" latinLnBrk="0" hangingPunct="1">
              <a:lnSpc>
                <a:spcPct val="100000"/>
              </a:lnSpc>
              <a:spcBef>
                <a:spcPts val="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1pPr>
            <a:lvl2pPr marL="342900" indent="-168275" algn="l" defTabSz="914400" rtl="0" eaLnBrk="1" latinLnBrk="0" hangingPunct="1">
              <a:lnSpc>
                <a:spcPct val="100000"/>
              </a:lnSpc>
              <a:spcBef>
                <a:spcPts val="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2pPr>
            <a:lvl3pPr marL="519113" indent="-176213" algn="l" defTabSz="914400" rtl="0" eaLnBrk="1" latinLnBrk="0" hangingPunct="1">
              <a:lnSpc>
                <a:spcPct val="100000"/>
              </a:lnSpc>
              <a:spcBef>
                <a:spcPts val="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3pPr>
            <a:lvl4pPr marL="685800" indent="-166688" algn="l" defTabSz="914400" rtl="0" eaLnBrk="1" latinLnBrk="0" hangingPunct="1">
              <a:lnSpc>
                <a:spcPct val="100000"/>
              </a:lnSpc>
              <a:spcBef>
                <a:spcPts val="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4pPr>
            <a:lvl5pPr marL="862013" indent="-176213" algn="l" defTabSz="914400" rtl="0" eaLnBrk="1" latinLnBrk="0" hangingPunct="1">
              <a:lnSpc>
                <a:spcPct val="100000"/>
              </a:lnSpc>
              <a:spcBef>
                <a:spcPts val="0"/>
              </a:spcBef>
              <a:spcAft>
                <a:spcPts val="600"/>
              </a:spcAft>
              <a:buClr>
                <a:schemeClr val="accent2"/>
              </a:buClr>
              <a:buFont typeface="Arial" panose="020B0604020202020204" pitchFamily="34" charset="0"/>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lr>
                <a:srgbClr val="0CB4B4"/>
              </a:buClr>
              <a:buFont typeface="Wingdings" panose="05000000000000000000" pitchFamily="2" charset="2"/>
              <a:buChar char="q"/>
            </a:pPr>
            <a:r>
              <a:rPr lang="es-419" sz="3200" b="1" dirty="0">
                <a:solidFill>
                  <a:srgbClr val="7030A0"/>
                </a:solidFill>
              </a:rPr>
              <a:t> Programación Académica</a:t>
            </a:r>
          </a:p>
          <a:p>
            <a:pPr marL="285750" indent="-285750">
              <a:buClr>
                <a:srgbClr val="0CB4B4"/>
              </a:buClr>
              <a:buFont typeface="Wingdings" panose="05000000000000000000" pitchFamily="2" charset="2"/>
              <a:buChar char="q"/>
            </a:pPr>
            <a:r>
              <a:rPr lang="es-419" sz="3200" dirty="0">
                <a:solidFill>
                  <a:srgbClr val="7030A0"/>
                </a:solidFill>
              </a:rPr>
              <a:t> Gestión de cursos(planta Física)</a:t>
            </a:r>
          </a:p>
          <a:p>
            <a:pPr marL="0" indent="0">
              <a:buClr>
                <a:srgbClr val="0CB4B4"/>
              </a:buClr>
              <a:buFont typeface="Arial" panose="020B0604020202020204" pitchFamily="34" charset="0"/>
              <a:buNone/>
            </a:pPr>
            <a:endParaRPr lang="es-CO" sz="3200" dirty="0"/>
          </a:p>
        </p:txBody>
      </p:sp>
    </p:spTree>
    <p:extLst>
      <p:ext uri="{BB962C8B-B14F-4D97-AF65-F5344CB8AC3E}">
        <p14:creationId xmlns:p14="http://schemas.microsoft.com/office/powerpoint/2010/main" val="584002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950845" y="1057296"/>
            <a:ext cx="10136257" cy="5412515"/>
          </a:xfrm>
        </p:spPr>
        <p:txBody>
          <a:bodyPr vert="horz" lIns="91440" tIns="45720" rIns="91440" bIns="45720" rtlCol="0" anchor="t">
            <a:noAutofit/>
          </a:bodyPr>
          <a:lstStyle/>
          <a:p>
            <a:pPr marL="0" indent="0" algn="just">
              <a:buClr>
                <a:srgbClr val="0CB4B4"/>
              </a:buClr>
              <a:buNone/>
            </a:pPr>
            <a:r>
              <a:rPr lang="es-CO" sz="1800" dirty="0"/>
              <a:t>Comprende el conjunto de actividades que realiza la institución para organizar y administrar la programación académica de cada periodo. Incluye la </a:t>
            </a:r>
            <a:r>
              <a:rPr lang="es-CO" sz="1800" b="1" dirty="0"/>
              <a:t>asignación de espacios físicos</a:t>
            </a:r>
            <a:r>
              <a:rPr lang="es-CO" sz="1800" dirty="0"/>
              <a:t> destinados a clases, laboratorios, conferencias, seminarios, exámenes y otras actividades académicas, así como la coordinación operativa necesaria para garantizar que dichos recursos estén disponibles y correctamente programados:</a:t>
            </a:r>
          </a:p>
          <a:p>
            <a:pPr algn="just"/>
            <a:r>
              <a:rPr lang="es-CO" sz="1800" b="1" dirty="0"/>
              <a:t>Características básicas</a:t>
            </a:r>
            <a:r>
              <a:rPr lang="es-CO" sz="1800" dirty="0"/>
              <a:t>: Determinar campus de impartición, fechas de inicio y finalización, modalidad (presencial, virtual, híbrida) y demás atributos relevantes.</a:t>
            </a:r>
          </a:p>
          <a:p>
            <a:pPr algn="just"/>
            <a:r>
              <a:rPr lang="es-CO" sz="1800" b="1" dirty="0"/>
              <a:t>Cupos disponibles</a:t>
            </a:r>
            <a:r>
              <a:rPr lang="es-CO" sz="1800" dirty="0"/>
              <a:t>: Establecer el número máximo de estudiantes que podrán inscribirse en cada sección.</a:t>
            </a:r>
          </a:p>
          <a:p>
            <a:pPr algn="just"/>
            <a:r>
              <a:rPr lang="es-CO" sz="1800" b="1" dirty="0"/>
              <a:t>Días y horarios</a:t>
            </a:r>
            <a:r>
              <a:rPr lang="es-CO" sz="1800" dirty="0"/>
              <a:t>: Configurar el calendario semanal de clases, especificando franjas horarias y frecuencia.</a:t>
            </a:r>
          </a:p>
          <a:p>
            <a:pPr algn="just"/>
            <a:r>
              <a:rPr lang="es-CO" sz="1800" b="1" dirty="0"/>
              <a:t>Prerrequisitos</a:t>
            </a:r>
            <a:r>
              <a:rPr lang="es-CO" sz="1800" dirty="0"/>
              <a:t>: Señalar los cursos o conocimientos previos necesarios para la inscripción.</a:t>
            </a:r>
          </a:p>
          <a:p>
            <a:pPr algn="just"/>
            <a:r>
              <a:rPr lang="es-CO" sz="1800" b="1" dirty="0"/>
              <a:t>Correquisitos</a:t>
            </a:r>
            <a:r>
              <a:rPr lang="es-CO" sz="1800" dirty="0"/>
              <a:t>: Indicar los cursos que deben ser inscritos simultáneamente.</a:t>
            </a:r>
          </a:p>
          <a:p>
            <a:pPr algn="just"/>
            <a:r>
              <a:rPr lang="es-CO" sz="1800" b="1" dirty="0"/>
              <a:t>Restricciones de inscripción</a:t>
            </a:r>
            <a:r>
              <a:rPr lang="es-CO" sz="1800" dirty="0"/>
              <a:t>: Establecer limitaciones específicas a nivel de sección (por ejemplo, programas académicos autorizados, niveles de avance).</a:t>
            </a:r>
          </a:p>
          <a:p>
            <a:pPr algn="just"/>
            <a:r>
              <a:rPr lang="es-CO" sz="1800" b="1" dirty="0"/>
              <a:t>Secciones ligadas y listas cruzadas</a:t>
            </a:r>
            <a:r>
              <a:rPr lang="es-CO" sz="1800" dirty="0"/>
              <a:t>: Configurar vínculos entre secciones que comparten contenidos o que se ofertan de manera conjunta.</a:t>
            </a:r>
          </a:p>
          <a:p>
            <a:pPr marL="0" indent="0" algn="just">
              <a:buClr>
                <a:srgbClr val="0CB4B4"/>
              </a:buClr>
              <a:buNone/>
            </a:pPr>
            <a:endParaRPr lang="es-ES" sz="1800" dirty="0">
              <a:solidFill>
                <a:srgbClr val="7030A0"/>
              </a:solidFill>
            </a:endParaRP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Copiar oferta horaria de los cursos de un periodo anterior</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950845" y="322643"/>
            <a:ext cx="10477497" cy="898555"/>
          </a:xfrm>
        </p:spPr>
        <p:txBody>
          <a:bodyPr/>
          <a:lstStyle/>
          <a:p>
            <a:r>
              <a:rPr lang="es-ES_tradnl" dirty="0">
                <a:solidFill>
                  <a:schemeClr val="tx2"/>
                </a:solidFill>
              </a:rPr>
              <a:t>Overview: </a:t>
            </a:r>
            <a:r>
              <a:rPr lang="es-CO" dirty="0">
                <a:solidFill>
                  <a:schemeClr val="tx2"/>
                </a:solidFill>
              </a:rPr>
              <a:t>Gestión de la programación Académica</a:t>
            </a:r>
            <a:endParaRPr lang="es-CL" dirty="0">
              <a:solidFill>
                <a:schemeClr val="tx2"/>
              </a:solidFill>
            </a:endParaRPr>
          </a:p>
        </p:txBody>
      </p:sp>
    </p:spTree>
    <p:extLst>
      <p:ext uri="{BB962C8B-B14F-4D97-AF65-F5344CB8AC3E}">
        <p14:creationId xmlns:p14="http://schemas.microsoft.com/office/powerpoint/2010/main" val="533754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Crear listas cruzadas</a:t>
            </a:r>
            <a:endParaRPr lang="en-US" dirty="0"/>
          </a:p>
        </p:txBody>
      </p:sp>
      <p:pic>
        <p:nvPicPr>
          <p:cNvPr id="8" name="Imagen 7" descr="Imagen que contiene texto, mapa&#10;&#10;Descripción generada automáticamente">
            <a:extLst>
              <a:ext uri="{FF2B5EF4-FFF2-40B4-BE49-F238E27FC236}">
                <a16:creationId xmlns:a16="http://schemas.microsoft.com/office/drawing/2014/main" id="{171DEDFE-F050-E179-A066-C9F72BC68D9D}"/>
              </a:ext>
            </a:extLst>
          </p:cNvPr>
          <p:cNvPicPr>
            <a:picLocks noChangeAspect="1"/>
          </p:cNvPicPr>
          <p:nvPr/>
        </p:nvPicPr>
        <p:blipFill rotWithShape="1">
          <a:blip r:embed="rId2"/>
          <a:srcRect l="14657" t="34650" b="2103"/>
          <a:stretch/>
        </p:blipFill>
        <p:spPr>
          <a:xfrm>
            <a:off x="4765039" y="1415833"/>
            <a:ext cx="4750021" cy="5049719"/>
          </a:xfrm>
          <a:prstGeom prst="rect">
            <a:avLst/>
          </a:prstGeom>
        </p:spPr>
      </p:pic>
      <p:sp>
        <p:nvSpPr>
          <p:cNvPr id="9" name="CuadroTexto 8">
            <a:extLst>
              <a:ext uri="{FF2B5EF4-FFF2-40B4-BE49-F238E27FC236}">
                <a16:creationId xmlns:a16="http://schemas.microsoft.com/office/drawing/2014/main" id="{CDA0D89D-33DC-4151-D805-A43C6E21B822}"/>
              </a:ext>
            </a:extLst>
          </p:cNvPr>
          <p:cNvSpPr txBox="1"/>
          <p:nvPr/>
        </p:nvSpPr>
        <p:spPr>
          <a:xfrm>
            <a:off x="8921175" y="2785533"/>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Proceso </a:t>
            </a:r>
            <a:r>
              <a:rPr lang="es-419" dirty="0">
                <a:solidFill>
                  <a:schemeClr val="tx2"/>
                </a:solidFill>
              </a:rPr>
              <a:t>gestionar la programación académica</a:t>
            </a:r>
            <a:endParaRPr lang="es-CL" dirty="0">
              <a:solidFill>
                <a:schemeClr val="tx2"/>
              </a:solidFill>
            </a:endParaRPr>
          </a:p>
        </p:txBody>
      </p:sp>
    </p:spTree>
    <p:extLst>
      <p:ext uri="{BB962C8B-B14F-4D97-AF65-F5344CB8AC3E}">
        <p14:creationId xmlns:p14="http://schemas.microsoft.com/office/powerpoint/2010/main" val="1448098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Crear listas cruzadas</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68580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419" dirty="0">
                <a:solidFill>
                  <a:schemeClr val="tx2"/>
                </a:solidFill>
              </a:rPr>
              <a:t>Crear listas cruzadas</a:t>
            </a:r>
            <a:endParaRPr lang="en-US" dirty="0">
              <a:solidFill>
                <a:schemeClr val="tx2"/>
              </a:solidFill>
            </a:endParaRPr>
          </a:p>
        </p:txBody>
      </p:sp>
      <p:pic>
        <p:nvPicPr>
          <p:cNvPr id="2" name="Picture 9" descr="A diagram of a diagram&#10;&#10;Description automatically generated with medium confidence">
            <a:extLst>
              <a:ext uri="{FF2B5EF4-FFF2-40B4-BE49-F238E27FC236}">
                <a16:creationId xmlns:a16="http://schemas.microsoft.com/office/drawing/2014/main" id="{31233F03-22AD-3BF2-97B9-538AE168B7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4900" y="2344821"/>
            <a:ext cx="9756580" cy="2735178"/>
          </a:xfrm>
          <a:prstGeom prst="rect">
            <a:avLst/>
          </a:prstGeom>
        </p:spPr>
      </p:pic>
    </p:spTree>
    <p:extLst>
      <p:ext uri="{BB962C8B-B14F-4D97-AF65-F5344CB8AC3E}">
        <p14:creationId xmlns:p14="http://schemas.microsoft.com/office/powerpoint/2010/main" val="675546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0EA49-D883-181B-F061-447D12B7811C}"/>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FCA407C0-FF6F-2E21-C015-25BB7D1CD4AA}"/>
              </a:ext>
            </a:extLst>
          </p:cNvPr>
          <p:cNvSpPr>
            <a:spLocks noGrp="1"/>
          </p:cNvSpPr>
          <p:nvPr>
            <p:ph type="body" sz="quarter" idx="18"/>
          </p:nvPr>
        </p:nvSpPr>
        <p:spPr>
          <a:xfrm>
            <a:off x="950843" y="1377673"/>
            <a:ext cx="10136257" cy="4102652"/>
          </a:xfrm>
        </p:spPr>
        <p:txBody>
          <a:bodyPr vert="horz" lIns="91440" tIns="45720" rIns="91440" bIns="45720" rtlCol="0" anchor="t">
            <a:noAutofit/>
          </a:bodyPr>
          <a:lstStyle/>
          <a:p>
            <a:pPr marL="0" indent="0">
              <a:buNone/>
            </a:pPr>
            <a:r>
              <a:rPr lang="es-CO" sz="2400" dirty="0"/>
              <a:t>Una </a:t>
            </a:r>
            <a:r>
              <a:rPr lang="es-CO" sz="2400" b="1" dirty="0"/>
              <a:t>lista cruzada (cross-list)</a:t>
            </a:r>
            <a:r>
              <a:rPr lang="es-CO" sz="2400" dirty="0"/>
              <a:t> es un grupo de secciones que:</a:t>
            </a:r>
          </a:p>
          <a:p>
            <a:r>
              <a:rPr lang="es-CO" sz="2400" dirty="0"/>
              <a:t>Se dictan simultáneamente o comparten aula, instructor o contenido.</a:t>
            </a:r>
          </a:p>
          <a:p>
            <a:r>
              <a:rPr lang="es-CO" sz="2400" dirty="0"/>
              <a:t>Se identifican mediante un </a:t>
            </a:r>
            <a:r>
              <a:rPr lang="es-CO" sz="2400" b="1" dirty="0"/>
              <a:t>código de lista cruzada</a:t>
            </a:r>
            <a:r>
              <a:rPr lang="es-CO" sz="2400" dirty="0"/>
              <a:t> (dos caracteres). </a:t>
            </a:r>
          </a:p>
          <a:p>
            <a:r>
              <a:rPr lang="es-CO" sz="2400" dirty="0"/>
              <a:t>Comparten un </a:t>
            </a:r>
            <a:r>
              <a:rPr lang="es-CO" sz="2400" b="1" dirty="0"/>
              <a:t>límite máximo de cupos</a:t>
            </a:r>
            <a:r>
              <a:rPr lang="es-CO" sz="2400" dirty="0"/>
              <a:t> para todo el grupo, independiente de los cupos individuales de cada sección. </a:t>
            </a:r>
          </a:p>
          <a:p>
            <a:r>
              <a:rPr lang="es-CO" sz="2400" dirty="0"/>
              <a:t>En Latinoamérica es usado generalmente por las instituciones al momento de impartir cursos con un mismo contenido, pero de distintos programas.</a:t>
            </a:r>
          </a:p>
          <a:p>
            <a:r>
              <a:rPr lang="es-CO" sz="2400" dirty="0"/>
              <a:t>Lo anterior permite que cursos homólogos se puedan dictar en conjunto</a:t>
            </a:r>
          </a:p>
          <a:p>
            <a:pPr marL="285750" indent="-285750" algn="just">
              <a:buClr>
                <a:srgbClr val="0CB4B4"/>
              </a:buClr>
              <a:buFont typeface="Wingdings" panose="05000000000000000000" pitchFamily="2" charset="2"/>
              <a:buChar char="q"/>
            </a:pPr>
            <a:endParaRPr lang="es-419" sz="2400" dirty="0">
              <a:solidFill>
                <a:srgbClr val="7030A0"/>
              </a:solidFill>
            </a:endParaRPr>
          </a:p>
          <a:p>
            <a:pPr marL="630238" lvl="2" indent="-285750" algn="just">
              <a:buClr>
                <a:srgbClr val="0CB4B4"/>
              </a:buClr>
              <a:buFont typeface="Wingdings" panose="05000000000000000000" pitchFamily="2" charset="2"/>
              <a:buChar char="q"/>
            </a:pPr>
            <a:endParaRPr lang="es-419" sz="2400" dirty="0">
              <a:solidFill>
                <a:srgbClr val="7030A0"/>
              </a:solidFill>
            </a:endParaRPr>
          </a:p>
        </p:txBody>
      </p:sp>
      <p:sp>
        <p:nvSpPr>
          <p:cNvPr id="3" name="Marcador de texto vertical 2">
            <a:extLst>
              <a:ext uri="{FF2B5EF4-FFF2-40B4-BE49-F238E27FC236}">
                <a16:creationId xmlns:a16="http://schemas.microsoft.com/office/drawing/2014/main" id="{112068E7-D4A8-3053-8717-ABEA93AAC6A3}"/>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261AEC72-86FC-1E91-4C3C-F14FC3E8A24D}"/>
              </a:ext>
            </a:extLst>
          </p:cNvPr>
          <p:cNvSpPr>
            <a:spLocks noGrp="1"/>
          </p:cNvSpPr>
          <p:nvPr>
            <p:ph type="title"/>
          </p:nvPr>
        </p:nvSpPr>
        <p:spPr/>
        <p:txBody>
          <a:bodyPr/>
          <a:lstStyle/>
          <a:p>
            <a:r>
              <a:rPr lang="es-ES_tradnl" sz="3200" dirty="0">
                <a:solidFill>
                  <a:schemeClr val="tx2"/>
                </a:solidFill>
              </a:rPr>
              <a:t>Overview: </a:t>
            </a:r>
            <a:r>
              <a:rPr lang="es-419" dirty="0">
                <a:solidFill>
                  <a:schemeClr val="tx2"/>
                </a:solidFill>
              </a:rPr>
              <a:t>Crear listas cruzadas</a:t>
            </a:r>
            <a:endParaRPr lang="es-CL" dirty="0">
              <a:solidFill>
                <a:schemeClr val="tx2"/>
              </a:solidFill>
            </a:endParaRPr>
          </a:p>
        </p:txBody>
      </p:sp>
    </p:spTree>
    <p:extLst>
      <p:ext uri="{BB962C8B-B14F-4D97-AF65-F5344CB8AC3E}">
        <p14:creationId xmlns:p14="http://schemas.microsoft.com/office/powerpoint/2010/main" val="3208200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803585" y="1584355"/>
            <a:ext cx="10136257" cy="4102652"/>
          </a:xfrm>
        </p:spPr>
        <p:txBody>
          <a:bodyPr vert="horz" lIns="91440" tIns="45720" rIns="91440" bIns="45720" rtlCol="0" anchor="t">
            <a:noAutofit/>
          </a:bodyPr>
          <a:lstStyle/>
          <a:p>
            <a:pPr marL="0" indent="0">
              <a:buNone/>
            </a:pPr>
            <a:r>
              <a:rPr lang="es-CO" sz="2400" dirty="0"/>
              <a:t> </a:t>
            </a:r>
            <a:r>
              <a:rPr lang="es-419" sz="2400" dirty="0"/>
              <a:t>La utilización de listas cruzadas  otorga los siguientes beneficios</a:t>
            </a:r>
          </a:p>
          <a:p>
            <a:pPr marL="687388" lvl="2" indent="-342900"/>
            <a:r>
              <a:rPr lang="es-419" sz="2400" dirty="0"/>
              <a:t>Se optimizaría el uso de recursos como espacioso físicos y docente.</a:t>
            </a:r>
          </a:p>
          <a:p>
            <a:pPr marL="687388" lvl="2" indent="-342900"/>
            <a:r>
              <a:rPr lang="es-419" sz="2400" dirty="0"/>
              <a:t>Se mantiene el número máximo de inscripción definido a nivel de la lista cruzada y no por NRC involucrado</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solidFill>
                  <a:schemeClr val="tx2"/>
                </a:solidFill>
              </a:rPr>
              <a:t>Overview: </a:t>
            </a:r>
            <a:r>
              <a:rPr lang="es-419" dirty="0">
                <a:solidFill>
                  <a:schemeClr val="tx2"/>
                </a:solidFill>
              </a:rPr>
              <a:t>Crear listas cruzadas</a:t>
            </a:r>
            <a:endParaRPr lang="es-CL" dirty="0">
              <a:solidFill>
                <a:schemeClr val="tx2"/>
              </a:solidFill>
            </a:endParaRPr>
          </a:p>
        </p:txBody>
      </p:sp>
    </p:spTree>
    <p:extLst>
      <p:ext uri="{BB962C8B-B14F-4D97-AF65-F5344CB8AC3E}">
        <p14:creationId xmlns:p14="http://schemas.microsoft.com/office/powerpoint/2010/main" val="3559927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Crear listas cruzadas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68221-A415-C989-4FCF-047B32CBA2D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5C349E2-C3C0-3358-FFF1-23F52C640DCE}"/>
              </a:ext>
            </a:extLst>
          </p:cNvPr>
          <p:cNvPicPr>
            <a:picLocks noChangeAspect="1"/>
          </p:cNvPicPr>
          <p:nvPr/>
        </p:nvPicPr>
        <p:blipFill>
          <a:blip r:embed="rId2"/>
          <a:stretch>
            <a:fillRect/>
          </a:stretch>
        </p:blipFill>
        <p:spPr>
          <a:xfrm>
            <a:off x="609601" y="1026505"/>
            <a:ext cx="11185864" cy="4945575"/>
          </a:xfrm>
          <a:prstGeom prst="rect">
            <a:avLst/>
          </a:prstGeom>
        </p:spPr>
      </p:pic>
      <p:sp>
        <p:nvSpPr>
          <p:cNvPr id="3" name="Marcador de texto vertical 2">
            <a:extLst>
              <a:ext uri="{FF2B5EF4-FFF2-40B4-BE49-F238E27FC236}">
                <a16:creationId xmlns:a16="http://schemas.microsoft.com/office/drawing/2014/main" id="{4DB6A48F-70A2-9FF5-B3B1-AA2335B570A5}"/>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DB9BC5A3-8DE4-1ECA-D7D2-9A25782FA7DC}"/>
              </a:ext>
            </a:extLst>
          </p:cNvPr>
          <p:cNvSpPr>
            <a:spLocks noGrp="1"/>
          </p:cNvSpPr>
          <p:nvPr>
            <p:ph type="title"/>
          </p:nvPr>
        </p:nvSpPr>
        <p:spPr>
          <a:xfrm>
            <a:off x="810247" y="327992"/>
            <a:ext cx="10271883" cy="626165"/>
          </a:xfrm>
        </p:spPr>
        <p:txBody>
          <a:bodyPr/>
          <a:lstStyle/>
          <a:p>
            <a:r>
              <a:rPr lang="es-ES_tradnl" dirty="0">
                <a:solidFill>
                  <a:schemeClr val="tx2"/>
                </a:solidFill>
              </a:rPr>
              <a:t>Premisa: SSASECT Horario</a:t>
            </a:r>
            <a:br>
              <a:rPr lang="es-CL" b="1" dirty="0">
                <a:effectLst/>
              </a:rPr>
            </a:br>
            <a:endParaRPr lang="es-CL" dirty="0"/>
          </a:p>
        </p:txBody>
      </p:sp>
      <p:sp>
        <p:nvSpPr>
          <p:cNvPr id="12" name="Rectángulo redondeado 5">
            <a:extLst>
              <a:ext uri="{FF2B5EF4-FFF2-40B4-BE49-F238E27FC236}">
                <a16:creationId xmlns:a16="http://schemas.microsoft.com/office/drawing/2014/main" id="{1CF19D30-CEF6-8531-2628-FDFFFFE42EC9}"/>
              </a:ext>
            </a:extLst>
          </p:cNvPr>
          <p:cNvSpPr/>
          <p:nvPr/>
        </p:nvSpPr>
        <p:spPr>
          <a:xfrm>
            <a:off x="2898205" y="3645752"/>
            <a:ext cx="5416772" cy="160020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600" dirty="0"/>
              <a:t>Identificar los NRC que estarían siendo vinculados a la lista cruzada (ej.: NRC: 10001 / 202644)</a:t>
            </a:r>
          </a:p>
        </p:txBody>
      </p:sp>
    </p:spTree>
    <p:extLst>
      <p:ext uri="{BB962C8B-B14F-4D97-AF65-F5344CB8AC3E}">
        <p14:creationId xmlns:p14="http://schemas.microsoft.com/office/powerpoint/2010/main" val="2084471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Crear listas cruzadas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sz="3200" b="1" dirty="0">
                <a:solidFill>
                  <a:schemeClr val="bg1"/>
                </a:solidFill>
              </a:rPr>
              <a:t>Crear lista cruzada</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13</a:t>
            </a:fld>
            <a:endParaRPr lang="en-US" dirty="0"/>
          </a:p>
        </p:txBody>
      </p:sp>
    </p:spTree>
    <p:extLst>
      <p:ext uri="{BB962C8B-B14F-4D97-AF65-F5344CB8AC3E}">
        <p14:creationId xmlns:p14="http://schemas.microsoft.com/office/powerpoint/2010/main" val="4228670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16A4D-6E74-581B-0938-86606813933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6661013-244D-D530-DA1E-0CBABEF4CDA1}"/>
              </a:ext>
            </a:extLst>
          </p:cNvPr>
          <p:cNvPicPr>
            <a:picLocks noChangeAspect="1"/>
          </p:cNvPicPr>
          <p:nvPr/>
        </p:nvPicPr>
        <p:blipFill>
          <a:blip r:embed="rId2"/>
          <a:stretch>
            <a:fillRect/>
          </a:stretch>
        </p:blipFill>
        <p:spPr>
          <a:xfrm>
            <a:off x="818228" y="1371038"/>
            <a:ext cx="10955183" cy="1241511"/>
          </a:xfrm>
          <a:prstGeom prst="rect">
            <a:avLst/>
          </a:prstGeom>
        </p:spPr>
      </p:pic>
      <p:sp>
        <p:nvSpPr>
          <p:cNvPr id="3" name="Marcador de texto vertical 2">
            <a:extLst>
              <a:ext uri="{FF2B5EF4-FFF2-40B4-BE49-F238E27FC236}">
                <a16:creationId xmlns:a16="http://schemas.microsoft.com/office/drawing/2014/main" id="{66E4E100-64EC-361F-594E-77E8765B0C15}"/>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88B10F72-867A-F8FD-1D15-B842D20177E0}"/>
              </a:ext>
            </a:extLst>
          </p:cNvPr>
          <p:cNvSpPr>
            <a:spLocks noGrp="1"/>
          </p:cNvSpPr>
          <p:nvPr>
            <p:ph type="title"/>
          </p:nvPr>
        </p:nvSpPr>
        <p:spPr>
          <a:xfrm>
            <a:off x="810247" y="327992"/>
            <a:ext cx="10271883" cy="626165"/>
          </a:xfrm>
        </p:spPr>
        <p:txBody>
          <a:bodyPr/>
          <a:lstStyle/>
          <a:p>
            <a:r>
              <a:rPr lang="es-ES_tradnl" dirty="0">
                <a:solidFill>
                  <a:schemeClr val="tx2"/>
                </a:solidFill>
              </a:rPr>
              <a:t>Definición de lista cruzada de horario (SSAXLST)</a:t>
            </a:r>
            <a:endParaRPr lang="es-CL" dirty="0">
              <a:solidFill>
                <a:schemeClr val="tx2"/>
              </a:solidFill>
            </a:endParaRPr>
          </a:p>
        </p:txBody>
      </p:sp>
      <p:sp>
        <p:nvSpPr>
          <p:cNvPr id="13" name="Rectángulo redondeado 5">
            <a:extLst>
              <a:ext uri="{FF2B5EF4-FFF2-40B4-BE49-F238E27FC236}">
                <a16:creationId xmlns:a16="http://schemas.microsoft.com/office/drawing/2014/main" id="{BF4FB3A8-D6A8-95D8-A508-B0A6C8FE0081}"/>
              </a:ext>
            </a:extLst>
          </p:cNvPr>
          <p:cNvSpPr/>
          <p:nvPr/>
        </p:nvSpPr>
        <p:spPr>
          <a:xfrm>
            <a:off x="1110721" y="3315385"/>
            <a:ext cx="9628091" cy="130922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s-419" sz="1400" noProof="0" dirty="0"/>
              <a:t>La página SSAXLST se utiliza para la </a:t>
            </a:r>
            <a:r>
              <a:rPr lang="es-ES_tradnl" sz="1400" dirty="0"/>
              <a:t>la creación de la lista cruzada</a:t>
            </a:r>
            <a:r>
              <a:rPr lang="es-419" sz="1400" noProof="0" dirty="0"/>
              <a:t>, en la cual se deben seguir los siguientes pasos:</a:t>
            </a:r>
          </a:p>
          <a:p>
            <a:pPr marL="342900" indent="-342900">
              <a:buFont typeface="+mj-lt"/>
              <a:buAutoNum type="arabicPeriod"/>
            </a:pPr>
            <a:r>
              <a:rPr lang="es-419" sz="1400" noProof="0" dirty="0"/>
              <a:t>Ingrese o seleccione el período </a:t>
            </a:r>
            <a:r>
              <a:rPr lang="es-ES_tradnl" sz="1400" dirty="0"/>
              <a:t>académico en el cual se aplicaría la lista cruzada</a:t>
            </a:r>
            <a:endParaRPr lang="es-419" sz="1400" dirty="0"/>
          </a:p>
          <a:p>
            <a:pPr marL="342900" indent="-342900">
              <a:buFont typeface="+mj-lt"/>
              <a:buAutoNum type="arabicPeriod"/>
            </a:pPr>
            <a:r>
              <a:rPr lang="es-419" sz="1400" noProof="0" dirty="0"/>
              <a:t>Ingrese </a:t>
            </a:r>
            <a:r>
              <a:rPr lang="es-419" sz="1400" dirty="0"/>
              <a:t>e</a:t>
            </a:r>
            <a:r>
              <a:rPr lang="es-419" sz="1400" noProof="0" dirty="0"/>
              <a:t>l código  de la lista cruzada que está creando</a:t>
            </a:r>
            <a:r>
              <a:rPr lang="es-419" sz="1400" dirty="0"/>
              <a:t> (</a:t>
            </a:r>
            <a:r>
              <a:rPr lang="es-ES_tradnl" sz="1400" dirty="0"/>
              <a:t>identificador único para la lista en el periodo académico en cuestión). Si se está consultando una lista cruzada ya existente, puede buscar y seleccionar el código ya creado.</a:t>
            </a:r>
            <a:endParaRPr lang="es-419" sz="1400" noProof="0" dirty="0"/>
          </a:p>
          <a:p>
            <a:pPr marL="342900" indent="-342900">
              <a:buFont typeface="+mj-lt"/>
              <a:buAutoNum type="arabicPeriod"/>
            </a:pPr>
            <a:r>
              <a:rPr lang="es-419" sz="1400" dirty="0"/>
              <a:t>Presione el botón “</a:t>
            </a:r>
            <a:r>
              <a:rPr lang="es-419" sz="1400" noProof="0" dirty="0"/>
              <a:t>Ir”.</a:t>
            </a:r>
          </a:p>
        </p:txBody>
      </p:sp>
      <p:sp>
        <p:nvSpPr>
          <p:cNvPr id="15" name="Rectángulo redondeado 15">
            <a:extLst>
              <a:ext uri="{FF2B5EF4-FFF2-40B4-BE49-F238E27FC236}">
                <a16:creationId xmlns:a16="http://schemas.microsoft.com/office/drawing/2014/main" id="{03B75D12-DA29-DB00-F04F-A4716821EF64}"/>
              </a:ext>
            </a:extLst>
          </p:cNvPr>
          <p:cNvSpPr/>
          <p:nvPr/>
        </p:nvSpPr>
        <p:spPr>
          <a:xfrm>
            <a:off x="11294819" y="1953116"/>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16" name="Rectángulo redondeado 23">
            <a:extLst>
              <a:ext uri="{FF2B5EF4-FFF2-40B4-BE49-F238E27FC236}">
                <a16:creationId xmlns:a16="http://schemas.microsoft.com/office/drawing/2014/main" id="{DCD5F3F1-5949-3B73-DDB5-5A234256D27E}"/>
              </a:ext>
            </a:extLst>
          </p:cNvPr>
          <p:cNvSpPr/>
          <p:nvPr/>
        </p:nvSpPr>
        <p:spPr>
          <a:xfrm>
            <a:off x="2967825" y="1675861"/>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9" name="Rectángulo 18">
            <a:extLst>
              <a:ext uri="{FF2B5EF4-FFF2-40B4-BE49-F238E27FC236}">
                <a16:creationId xmlns:a16="http://schemas.microsoft.com/office/drawing/2014/main" id="{129989C0-2C25-E97B-CFE0-6E41107F2691}"/>
              </a:ext>
            </a:extLst>
          </p:cNvPr>
          <p:cNvSpPr/>
          <p:nvPr/>
        </p:nvSpPr>
        <p:spPr>
          <a:xfrm>
            <a:off x="1212317" y="1728820"/>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0" name="Rectángulo 19">
            <a:extLst>
              <a:ext uri="{FF2B5EF4-FFF2-40B4-BE49-F238E27FC236}">
                <a16:creationId xmlns:a16="http://schemas.microsoft.com/office/drawing/2014/main" id="{45D0A13C-9121-A867-C6B4-3CF5CC49243B}"/>
              </a:ext>
            </a:extLst>
          </p:cNvPr>
          <p:cNvSpPr/>
          <p:nvPr/>
        </p:nvSpPr>
        <p:spPr>
          <a:xfrm>
            <a:off x="11373772" y="1739740"/>
            <a:ext cx="364026" cy="1776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1" name="Rectángulo redondeado 15">
            <a:extLst>
              <a:ext uri="{FF2B5EF4-FFF2-40B4-BE49-F238E27FC236}">
                <a16:creationId xmlns:a16="http://schemas.microsoft.com/office/drawing/2014/main" id="{B9E5DA6A-6102-E676-03F4-250AFF1DCC08}"/>
              </a:ext>
            </a:extLst>
          </p:cNvPr>
          <p:cNvSpPr/>
          <p:nvPr/>
        </p:nvSpPr>
        <p:spPr>
          <a:xfrm>
            <a:off x="7909296" y="1978547"/>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22" name="Rectángulo 21">
            <a:extLst>
              <a:ext uri="{FF2B5EF4-FFF2-40B4-BE49-F238E27FC236}">
                <a16:creationId xmlns:a16="http://schemas.microsoft.com/office/drawing/2014/main" id="{8A9EA290-4609-EE56-2DE8-F070D6B88A05}"/>
              </a:ext>
            </a:extLst>
          </p:cNvPr>
          <p:cNvSpPr/>
          <p:nvPr/>
        </p:nvSpPr>
        <p:spPr>
          <a:xfrm>
            <a:off x="5810926" y="1727477"/>
            <a:ext cx="2054693" cy="37752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3540540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F50D9-1323-F420-04F4-4F9701E02309}"/>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ED4C617-1A4F-D101-E442-EA8236339F00}"/>
              </a:ext>
            </a:extLst>
          </p:cNvPr>
          <p:cNvPicPr>
            <a:picLocks noChangeAspect="1"/>
          </p:cNvPicPr>
          <p:nvPr/>
        </p:nvPicPr>
        <p:blipFill>
          <a:blip r:embed="rId2"/>
          <a:stretch>
            <a:fillRect/>
          </a:stretch>
        </p:blipFill>
        <p:spPr>
          <a:xfrm>
            <a:off x="675961" y="1039240"/>
            <a:ext cx="11126309" cy="4875770"/>
          </a:xfrm>
          <a:prstGeom prst="rect">
            <a:avLst/>
          </a:prstGeom>
        </p:spPr>
      </p:pic>
      <p:sp>
        <p:nvSpPr>
          <p:cNvPr id="3" name="Marcador de texto vertical 2">
            <a:extLst>
              <a:ext uri="{FF2B5EF4-FFF2-40B4-BE49-F238E27FC236}">
                <a16:creationId xmlns:a16="http://schemas.microsoft.com/office/drawing/2014/main" id="{80F42CAF-61FE-0004-3771-53E34DB1BCDB}"/>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C88EBB57-D9D1-0D53-A561-24732DF79132}"/>
              </a:ext>
            </a:extLst>
          </p:cNvPr>
          <p:cNvSpPr>
            <a:spLocks noGrp="1"/>
          </p:cNvSpPr>
          <p:nvPr>
            <p:ph type="title"/>
          </p:nvPr>
        </p:nvSpPr>
        <p:spPr>
          <a:xfrm>
            <a:off x="810247" y="327992"/>
            <a:ext cx="10271883" cy="626165"/>
          </a:xfrm>
        </p:spPr>
        <p:txBody>
          <a:bodyPr/>
          <a:lstStyle/>
          <a:p>
            <a:r>
              <a:rPr lang="es-ES_tradnl" dirty="0">
                <a:solidFill>
                  <a:schemeClr val="tx2"/>
                </a:solidFill>
              </a:rPr>
              <a:t>Definición de lista cruzada de horario (SSAXLST)</a:t>
            </a:r>
            <a:endParaRPr lang="es-CL" dirty="0"/>
          </a:p>
        </p:txBody>
      </p:sp>
      <p:sp>
        <p:nvSpPr>
          <p:cNvPr id="12" name="Rectángulo redondeado 5">
            <a:extLst>
              <a:ext uri="{FF2B5EF4-FFF2-40B4-BE49-F238E27FC236}">
                <a16:creationId xmlns:a16="http://schemas.microsoft.com/office/drawing/2014/main" id="{85D44DD1-CB93-6CB1-80EC-D8AD3B2480E2}"/>
              </a:ext>
            </a:extLst>
          </p:cNvPr>
          <p:cNvSpPr/>
          <p:nvPr/>
        </p:nvSpPr>
        <p:spPr>
          <a:xfrm>
            <a:off x="1675701" y="3060347"/>
            <a:ext cx="7689971" cy="15485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4"/>
            </a:pPr>
            <a:r>
              <a:rPr lang="es-ES_tradnl" sz="1400" dirty="0"/>
              <a:t>Ingrese el cupo máximo* de estudiante que se inscribirían en los NRC de esta lista cruzada.</a:t>
            </a:r>
          </a:p>
          <a:p>
            <a:pPr marL="342900" indent="-342900">
              <a:buFont typeface="+mj-lt"/>
              <a:buAutoNum type="arabicPeriod" startAt="4"/>
            </a:pPr>
            <a:r>
              <a:rPr lang="es-ES_tradnl" sz="1400" dirty="0"/>
              <a:t>En el bloque ‘Sección de lista cruzada’ se mostrarán los NRC de los cuales se compondría la lista cruzada, mismos que han de tener el mismo horario, sala y docente.</a:t>
            </a:r>
          </a:p>
          <a:p>
            <a:pPr marL="342900" indent="-342900">
              <a:buFont typeface="+mj-lt"/>
              <a:buAutoNum type="arabicPeriod" startAt="4"/>
            </a:pPr>
            <a:r>
              <a:rPr lang="es-ES_tradnl" sz="1400" dirty="0"/>
              <a:t>Guarde la información ingresada.</a:t>
            </a:r>
          </a:p>
          <a:p>
            <a:r>
              <a:rPr lang="es-ES_tradnl" sz="1200" dirty="0"/>
              <a:t>*El cupo máximo será definido según el criterio de la institución, tomando en cuenta que el cupo máximo de la lista cruzada tiene precedencia ante el cupo de los NRC, por lo que aun cuando en un NRC haya cupos disponibles, si se ha llegado al máximo de la lista cruzada no podrán inscribir el NRC que aun tiene cupo</a:t>
            </a:r>
          </a:p>
        </p:txBody>
      </p:sp>
      <p:sp>
        <p:nvSpPr>
          <p:cNvPr id="15" name="Rectángulo redondeado 23">
            <a:extLst>
              <a:ext uri="{FF2B5EF4-FFF2-40B4-BE49-F238E27FC236}">
                <a16:creationId xmlns:a16="http://schemas.microsoft.com/office/drawing/2014/main" id="{5E6C7AD5-5912-2B90-E904-4D863F43C936}"/>
              </a:ext>
            </a:extLst>
          </p:cNvPr>
          <p:cNvSpPr/>
          <p:nvPr/>
        </p:nvSpPr>
        <p:spPr>
          <a:xfrm>
            <a:off x="2706701" y="1719263"/>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7" name="Rectángulo 16">
            <a:extLst>
              <a:ext uri="{FF2B5EF4-FFF2-40B4-BE49-F238E27FC236}">
                <a16:creationId xmlns:a16="http://schemas.microsoft.com/office/drawing/2014/main" id="{DA465D8D-70DA-75CF-A79C-88C7607D3A12}"/>
              </a:ext>
            </a:extLst>
          </p:cNvPr>
          <p:cNvSpPr/>
          <p:nvPr/>
        </p:nvSpPr>
        <p:spPr>
          <a:xfrm>
            <a:off x="951193" y="1772222"/>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9" name="Rectángulo redondeado 15">
            <a:extLst>
              <a:ext uri="{FF2B5EF4-FFF2-40B4-BE49-F238E27FC236}">
                <a16:creationId xmlns:a16="http://schemas.microsoft.com/office/drawing/2014/main" id="{D7811415-7BB1-1710-36EA-E96C51C5871D}"/>
              </a:ext>
            </a:extLst>
          </p:cNvPr>
          <p:cNvSpPr/>
          <p:nvPr/>
        </p:nvSpPr>
        <p:spPr>
          <a:xfrm>
            <a:off x="755638" y="2894663"/>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20" name="Rectángulo 19">
            <a:extLst>
              <a:ext uri="{FF2B5EF4-FFF2-40B4-BE49-F238E27FC236}">
                <a16:creationId xmlns:a16="http://schemas.microsoft.com/office/drawing/2014/main" id="{78F071C8-DEFD-E59C-BE19-C2AE70298844}"/>
              </a:ext>
            </a:extLst>
          </p:cNvPr>
          <p:cNvSpPr/>
          <p:nvPr/>
        </p:nvSpPr>
        <p:spPr>
          <a:xfrm>
            <a:off x="755638" y="1994106"/>
            <a:ext cx="10800303" cy="79439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1" name="Rectángulo redondeado 23">
            <a:extLst>
              <a:ext uri="{FF2B5EF4-FFF2-40B4-BE49-F238E27FC236}">
                <a16:creationId xmlns:a16="http://schemas.microsoft.com/office/drawing/2014/main" id="{05BFEC9F-D437-F526-33A2-7AEE878D4E97}"/>
              </a:ext>
            </a:extLst>
          </p:cNvPr>
          <p:cNvSpPr/>
          <p:nvPr/>
        </p:nvSpPr>
        <p:spPr>
          <a:xfrm>
            <a:off x="11067796" y="5583640"/>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22" name="Rectángulo 21">
            <a:extLst>
              <a:ext uri="{FF2B5EF4-FFF2-40B4-BE49-F238E27FC236}">
                <a16:creationId xmlns:a16="http://schemas.microsoft.com/office/drawing/2014/main" id="{16B8E99A-586F-3D83-71A4-A2C50FD705ED}"/>
              </a:ext>
            </a:extLst>
          </p:cNvPr>
          <p:cNvSpPr/>
          <p:nvPr/>
        </p:nvSpPr>
        <p:spPr>
          <a:xfrm>
            <a:off x="11328918" y="5749325"/>
            <a:ext cx="506294"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4239833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3B30B-5069-0048-B359-D1E9ECB6AF83}"/>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0F8C222C-B4D6-84D5-3960-5674397FCC88}"/>
              </a:ext>
            </a:extLst>
          </p:cNvPr>
          <p:cNvPicPr>
            <a:picLocks noChangeAspect="1"/>
          </p:cNvPicPr>
          <p:nvPr/>
        </p:nvPicPr>
        <p:blipFill>
          <a:blip r:embed="rId2"/>
          <a:stretch>
            <a:fillRect/>
          </a:stretch>
        </p:blipFill>
        <p:spPr>
          <a:xfrm>
            <a:off x="1315707" y="4013588"/>
            <a:ext cx="9560585" cy="1821064"/>
          </a:xfrm>
          <a:prstGeom prst="rect">
            <a:avLst/>
          </a:prstGeom>
        </p:spPr>
      </p:pic>
      <p:pic>
        <p:nvPicPr>
          <p:cNvPr id="5" name="Imagen 4">
            <a:extLst>
              <a:ext uri="{FF2B5EF4-FFF2-40B4-BE49-F238E27FC236}">
                <a16:creationId xmlns:a16="http://schemas.microsoft.com/office/drawing/2014/main" id="{2B89308A-B845-8EAB-7C7F-89BE78433F32}"/>
              </a:ext>
            </a:extLst>
          </p:cNvPr>
          <p:cNvPicPr>
            <a:picLocks noChangeAspect="1"/>
          </p:cNvPicPr>
          <p:nvPr/>
        </p:nvPicPr>
        <p:blipFill>
          <a:blip r:embed="rId3"/>
          <a:stretch>
            <a:fillRect/>
          </a:stretch>
        </p:blipFill>
        <p:spPr>
          <a:xfrm>
            <a:off x="609601" y="1061299"/>
            <a:ext cx="11375305" cy="2229987"/>
          </a:xfrm>
          <a:prstGeom prst="rect">
            <a:avLst/>
          </a:prstGeom>
        </p:spPr>
      </p:pic>
      <p:sp>
        <p:nvSpPr>
          <p:cNvPr id="3" name="Marcador de texto vertical 2">
            <a:extLst>
              <a:ext uri="{FF2B5EF4-FFF2-40B4-BE49-F238E27FC236}">
                <a16:creationId xmlns:a16="http://schemas.microsoft.com/office/drawing/2014/main" id="{F1A024AD-DE22-21B7-2344-1A2F8E4E9C1F}"/>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B8935691-8D70-14B4-9EA1-47C37183FD22}"/>
              </a:ext>
            </a:extLst>
          </p:cNvPr>
          <p:cNvSpPr>
            <a:spLocks noGrp="1"/>
          </p:cNvSpPr>
          <p:nvPr>
            <p:ph type="title"/>
          </p:nvPr>
        </p:nvSpPr>
        <p:spPr>
          <a:xfrm>
            <a:off x="810247" y="327992"/>
            <a:ext cx="10271883" cy="626165"/>
          </a:xfrm>
        </p:spPr>
        <p:txBody>
          <a:bodyPr/>
          <a:lstStyle/>
          <a:p>
            <a:r>
              <a:rPr lang="es-ES_tradnl" dirty="0">
                <a:solidFill>
                  <a:schemeClr val="tx2"/>
                </a:solidFill>
              </a:rPr>
              <a:t>Definición de lista cruzada de horario (SSAXLST)</a:t>
            </a:r>
            <a:endParaRPr lang="es-CL" dirty="0"/>
          </a:p>
        </p:txBody>
      </p:sp>
      <p:sp>
        <p:nvSpPr>
          <p:cNvPr id="12" name="Rectángulo redondeado 5">
            <a:extLst>
              <a:ext uri="{FF2B5EF4-FFF2-40B4-BE49-F238E27FC236}">
                <a16:creationId xmlns:a16="http://schemas.microsoft.com/office/drawing/2014/main" id="{DEC184EA-717E-D54E-DDED-9306454901BF}"/>
              </a:ext>
            </a:extLst>
          </p:cNvPr>
          <p:cNvSpPr/>
          <p:nvPr/>
        </p:nvSpPr>
        <p:spPr>
          <a:xfrm>
            <a:off x="2269743" y="2605769"/>
            <a:ext cx="9128081" cy="175270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La inclusión de los NRC se puede hacer de dos maneras.</a:t>
            </a:r>
          </a:p>
          <a:p>
            <a:pPr algn="ctr"/>
            <a:r>
              <a:rPr lang="es-ES_tradnl" sz="1400" dirty="0"/>
              <a:t>La primera de ellas es insertar cada uno de los NRC en el Bloque Sección de lista cruzada en la página SSAXLST.</a:t>
            </a:r>
          </a:p>
          <a:p>
            <a:pPr algn="ctr"/>
            <a:r>
              <a:rPr lang="es-ES_tradnl" sz="1400" dirty="0"/>
              <a:t>Recuerde guardar la información ingresada.</a:t>
            </a:r>
          </a:p>
          <a:p>
            <a:pPr algn="ctr"/>
            <a:r>
              <a:rPr lang="es-ES_tradnl" sz="1400" dirty="0"/>
              <a:t>Al guardar los registros en la página SSAXLST, se actualizan los NRC en la página SSASECT y se visualiza la lista cruzada a la que pertenecen los mismos.</a:t>
            </a:r>
          </a:p>
          <a:p>
            <a:pPr algn="ctr"/>
            <a:endParaRPr lang="es-ES_tradnl" sz="1200" dirty="0"/>
          </a:p>
          <a:p>
            <a:pPr algn="ctr"/>
            <a:r>
              <a:rPr lang="es-ES_tradnl" sz="1200" dirty="0"/>
              <a:t>Los horarios, salones y docentes se deben ingresar manualmente en cada NRC (en SSASECT) al ser agregados a la lista cruzada desde la página SSAXLST.</a:t>
            </a:r>
          </a:p>
        </p:txBody>
      </p:sp>
      <p:sp>
        <p:nvSpPr>
          <p:cNvPr id="16" name="Rectángulo 15">
            <a:extLst>
              <a:ext uri="{FF2B5EF4-FFF2-40B4-BE49-F238E27FC236}">
                <a16:creationId xmlns:a16="http://schemas.microsoft.com/office/drawing/2014/main" id="{E2712B68-395F-5B72-8237-E4201CE94787}"/>
              </a:ext>
            </a:extLst>
          </p:cNvPr>
          <p:cNvSpPr/>
          <p:nvPr/>
        </p:nvSpPr>
        <p:spPr>
          <a:xfrm>
            <a:off x="11119074" y="5643419"/>
            <a:ext cx="557500" cy="19123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700" noProof="0" dirty="0">
                <a:solidFill>
                  <a:schemeClr val="tx1"/>
                </a:solidFill>
              </a:rPr>
              <a:t>Guardar</a:t>
            </a:r>
          </a:p>
        </p:txBody>
      </p:sp>
      <p:sp>
        <p:nvSpPr>
          <p:cNvPr id="19" name="Rectángulo 18">
            <a:extLst>
              <a:ext uri="{FF2B5EF4-FFF2-40B4-BE49-F238E27FC236}">
                <a16:creationId xmlns:a16="http://schemas.microsoft.com/office/drawing/2014/main" id="{69D81C72-4B9F-A61A-EFDF-D5880D4317C0}"/>
              </a:ext>
            </a:extLst>
          </p:cNvPr>
          <p:cNvSpPr/>
          <p:nvPr/>
        </p:nvSpPr>
        <p:spPr>
          <a:xfrm>
            <a:off x="609601" y="2500854"/>
            <a:ext cx="519789" cy="34490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0" name="Rectángulo 19">
            <a:extLst>
              <a:ext uri="{FF2B5EF4-FFF2-40B4-BE49-F238E27FC236}">
                <a16:creationId xmlns:a16="http://schemas.microsoft.com/office/drawing/2014/main" id="{A8ADDC6E-3D04-AC3F-03B7-6DE6A3E5C397}"/>
              </a:ext>
            </a:extLst>
          </p:cNvPr>
          <p:cNvSpPr/>
          <p:nvPr/>
        </p:nvSpPr>
        <p:spPr>
          <a:xfrm>
            <a:off x="11176885" y="2027663"/>
            <a:ext cx="216893"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cxnSp>
        <p:nvCxnSpPr>
          <p:cNvPr id="24" name="Conector recto de flecha 23">
            <a:extLst>
              <a:ext uri="{FF2B5EF4-FFF2-40B4-BE49-F238E27FC236}">
                <a16:creationId xmlns:a16="http://schemas.microsoft.com/office/drawing/2014/main" id="{4EC3C4E6-A214-F70C-1EA8-1F959BC29B43}"/>
              </a:ext>
            </a:extLst>
          </p:cNvPr>
          <p:cNvCxnSpPr>
            <a:cxnSpLocks/>
            <a:stCxn id="16" idx="1"/>
          </p:cNvCxnSpPr>
          <p:nvPr/>
        </p:nvCxnSpPr>
        <p:spPr>
          <a:xfrm flipH="1" flipV="1">
            <a:off x="3001992" y="5643419"/>
            <a:ext cx="8117082" cy="956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9256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BAB14-E15A-0A18-00D1-E660095D81A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B793EAF-FC06-0453-E419-02D570E87599}"/>
              </a:ext>
            </a:extLst>
          </p:cNvPr>
          <p:cNvPicPr>
            <a:picLocks noChangeAspect="1"/>
          </p:cNvPicPr>
          <p:nvPr/>
        </p:nvPicPr>
        <p:blipFill>
          <a:blip r:embed="rId2"/>
          <a:stretch>
            <a:fillRect/>
          </a:stretch>
        </p:blipFill>
        <p:spPr>
          <a:xfrm>
            <a:off x="810247" y="763079"/>
            <a:ext cx="11169316" cy="4943413"/>
          </a:xfrm>
          <a:prstGeom prst="rect">
            <a:avLst/>
          </a:prstGeom>
        </p:spPr>
      </p:pic>
      <p:sp>
        <p:nvSpPr>
          <p:cNvPr id="3" name="Marcador de texto vertical 2">
            <a:extLst>
              <a:ext uri="{FF2B5EF4-FFF2-40B4-BE49-F238E27FC236}">
                <a16:creationId xmlns:a16="http://schemas.microsoft.com/office/drawing/2014/main" id="{077132AC-323D-355D-D507-73263B482762}"/>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7A5DF070-FE4F-C1F8-B851-090FCBAE4830}"/>
              </a:ext>
            </a:extLst>
          </p:cNvPr>
          <p:cNvSpPr>
            <a:spLocks noGrp="1"/>
          </p:cNvSpPr>
          <p:nvPr>
            <p:ph type="title"/>
          </p:nvPr>
        </p:nvSpPr>
        <p:spPr>
          <a:xfrm>
            <a:off x="810247" y="327992"/>
            <a:ext cx="10271883" cy="626165"/>
          </a:xfrm>
        </p:spPr>
        <p:txBody>
          <a:bodyPr/>
          <a:lstStyle/>
          <a:p>
            <a:r>
              <a:rPr lang="es-ES_tradnl" dirty="0">
                <a:solidFill>
                  <a:schemeClr val="tx2"/>
                </a:solidFill>
              </a:rPr>
              <a:t>Definición de lista cruzada de horario (SSAXLST)</a:t>
            </a:r>
            <a:endParaRPr lang="es-CL" dirty="0"/>
          </a:p>
        </p:txBody>
      </p:sp>
      <p:sp>
        <p:nvSpPr>
          <p:cNvPr id="13" name="Rectángulo redondeado 5">
            <a:extLst>
              <a:ext uri="{FF2B5EF4-FFF2-40B4-BE49-F238E27FC236}">
                <a16:creationId xmlns:a16="http://schemas.microsoft.com/office/drawing/2014/main" id="{78D495CE-BBF3-0CFB-059A-94197B722395}"/>
              </a:ext>
            </a:extLst>
          </p:cNvPr>
          <p:cNvSpPr/>
          <p:nvPr/>
        </p:nvSpPr>
        <p:spPr>
          <a:xfrm>
            <a:off x="2218302" y="3234786"/>
            <a:ext cx="8447144" cy="136965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La segunda manera de incluir los NRC en la Lista Cruzada es:</a:t>
            </a:r>
          </a:p>
          <a:p>
            <a:pPr algn="ctr"/>
            <a:endParaRPr lang="es-ES_tradnl" sz="1200" dirty="0"/>
          </a:p>
          <a:p>
            <a:pPr marL="228600" indent="-228600">
              <a:buAutoNum type="arabicPeriod"/>
            </a:pPr>
            <a:r>
              <a:rPr lang="es-ES_tradnl" sz="1200" dirty="0"/>
              <a:t>Ingrese a la página SSASECT con el NRC que a agregar e ingrese el código de la lista cruzada en el campo correspondiente. Guarde la información ingresada.</a:t>
            </a:r>
          </a:p>
          <a:p>
            <a:r>
              <a:rPr lang="es-ES_tradnl" sz="1200" dirty="0"/>
              <a:t>Para esto, se debe tener al menos un NRC ya definido en la lista Cruzada desde la página SSAXLST y este NRC debería tener el horario, salones y docente definidos, utilizándolo como referencia para el resto de los NRC que formarán parte de la lista cruzada ((se muestra en la diapositiva 18 las características del NRC que se usará como ejemplo en este instructivo).</a:t>
            </a:r>
          </a:p>
        </p:txBody>
      </p:sp>
      <p:sp>
        <p:nvSpPr>
          <p:cNvPr id="17" name="Rectángulo 16">
            <a:extLst>
              <a:ext uri="{FF2B5EF4-FFF2-40B4-BE49-F238E27FC236}">
                <a16:creationId xmlns:a16="http://schemas.microsoft.com/office/drawing/2014/main" id="{FB4BF5AD-D552-DB77-4D45-00D23817D754}"/>
              </a:ext>
            </a:extLst>
          </p:cNvPr>
          <p:cNvSpPr/>
          <p:nvPr/>
        </p:nvSpPr>
        <p:spPr>
          <a:xfrm>
            <a:off x="1022684" y="2493818"/>
            <a:ext cx="2229474"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2" name="Rectángulo redondeado 23">
            <a:extLst>
              <a:ext uri="{FF2B5EF4-FFF2-40B4-BE49-F238E27FC236}">
                <a16:creationId xmlns:a16="http://schemas.microsoft.com/office/drawing/2014/main" id="{9B2F784F-F155-FA9E-B1FF-E298D6B105B3}"/>
              </a:ext>
            </a:extLst>
          </p:cNvPr>
          <p:cNvSpPr/>
          <p:nvPr/>
        </p:nvSpPr>
        <p:spPr>
          <a:xfrm>
            <a:off x="3369703" y="2493818"/>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Tree>
    <p:extLst>
      <p:ext uri="{BB962C8B-B14F-4D97-AF65-F5344CB8AC3E}">
        <p14:creationId xmlns:p14="http://schemas.microsoft.com/office/powerpoint/2010/main" val="3157292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46059-CE2B-F90C-7D9C-76BBCD219B1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F9A5A99-8BB3-E9F3-B9EA-EF44E7599382}"/>
              </a:ext>
            </a:extLst>
          </p:cNvPr>
          <p:cNvPicPr>
            <a:picLocks noChangeAspect="1"/>
          </p:cNvPicPr>
          <p:nvPr/>
        </p:nvPicPr>
        <p:blipFill>
          <a:blip r:embed="rId2"/>
          <a:stretch>
            <a:fillRect/>
          </a:stretch>
        </p:blipFill>
        <p:spPr>
          <a:xfrm>
            <a:off x="315731" y="954157"/>
            <a:ext cx="11695113" cy="5169313"/>
          </a:xfrm>
          <a:prstGeom prst="rect">
            <a:avLst/>
          </a:prstGeom>
        </p:spPr>
      </p:pic>
      <p:sp>
        <p:nvSpPr>
          <p:cNvPr id="3" name="Marcador de texto vertical 2">
            <a:extLst>
              <a:ext uri="{FF2B5EF4-FFF2-40B4-BE49-F238E27FC236}">
                <a16:creationId xmlns:a16="http://schemas.microsoft.com/office/drawing/2014/main" id="{CC7A45F2-F9C2-5650-76C5-5B152F4AAC45}"/>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D73F6338-8E56-F1F9-5C32-644B85F1A2BB}"/>
              </a:ext>
            </a:extLst>
          </p:cNvPr>
          <p:cNvSpPr>
            <a:spLocks noGrp="1"/>
          </p:cNvSpPr>
          <p:nvPr>
            <p:ph type="title"/>
          </p:nvPr>
        </p:nvSpPr>
        <p:spPr>
          <a:xfrm>
            <a:off x="810247" y="327992"/>
            <a:ext cx="10271883" cy="626165"/>
          </a:xfrm>
        </p:spPr>
        <p:txBody>
          <a:bodyPr/>
          <a:lstStyle/>
          <a:p>
            <a:r>
              <a:rPr lang="es-ES_tradnl" dirty="0">
                <a:solidFill>
                  <a:schemeClr val="tx2"/>
                </a:solidFill>
              </a:rPr>
              <a:t>Definición de lista cruzada de horario (SSAXLST)</a:t>
            </a:r>
            <a:endParaRPr lang="es-CL" dirty="0"/>
          </a:p>
        </p:txBody>
      </p:sp>
      <p:sp>
        <p:nvSpPr>
          <p:cNvPr id="13" name="Rectángulo redondeado 5">
            <a:extLst>
              <a:ext uri="{FF2B5EF4-FFF2-40B4-BE49-F238E27FC236}">
                <a16:creationId xmlns:a16="http://schemas.microsoft.com/office/drawing/2014/main" id="{D5F8D485-0F69-0A27-E9CA-92F74790C102}"/>
              </a:ext>
            </a:extLst>
          </p:cNvPr>
          <p:cNvSpPr/>
          <p:nvPr/>
        </p:nvSpPr>
        <p:spPr>
          <a:xfrm>
            <a:off x="2633151" y="4021671"/>
            <a:ext cx="6925698" cy="112829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NRC de referencia:  es aquel que tiene la información del horario y el docente.</a:t>
            </a:r>
          </a:p>
          <a:p>
            <a:endParaRPr lang="es-ES_tradnl" sz="1200" dirty="0"/>
          </a:p>
          <a:p>
            <a:r>
              <a:rPr lang="es-ES_tradnl" sz="1200" dirty="0"/>
              <a:t>Los demás NRC que están vinculados a la Lista cruzada no deben tener horario, ni salón, ni docentes.</a:t>
            </a:r>
          </a:p>
          <a:p>
            <a:endParaRPr lang="es-ES_tradnl" sz="1200" dirty="0"/>
          </a:p>
          <a:p>
            <a:endParaRPr lang="es-ES_tradnl" sz="1200" dirty="0"/>
          </a:p>
        </p:txBody>
      </p:sp>
    </p:spTree>
    <p:extLst>
      <p:ext uri="{BB962C8B-B14F-4D97-AF65-F5344CB8AC3E}">
        <p14:creationId xmlns:p14="http://schemas.microsoft.com/office/powerpoint/2010/main" val="2355613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0131A-CEBC-EE7A-5701-1843EA78542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763D170-C767-108C-2531-CEE271A79BFE}"/>
              </a:ext>
            </a:extLst>
          </p:cNvPr>
          <p:cNvPicPr>
            <a:picLocks noChangeAspect="1"/>
          </p:cNvPicPr>
          <p:nvPr/>
        </p:nvPicPr>
        <p:blipFill>
          <a:blip r:embed="rId2"/>
          <a:stretch>
            <a:fillRect/>
          </a:stretch>
        </p:blipFill>
        <p:spPr>
          <a:xfrm>
            <a:off x="810247" y="810493"/>
            <a:ext cx="11136760" cy="4925090"/>
          </a:xfrm>
          <a:prstGeom prst="rect">
            <a:avLst/>
          </a:prstGeom>
        </p:spPr>
      </p:pic>
      <p:sp>
        <p:nvSpPr>
          <p:cNvPr id="3" name="Marcador de texto vertical 2">
            <a:extLst>
              <a:ext uri="{FF2B5EF4-FFF2-40B4-BE49-F238E27FC236}">
                <a16:creationId xmlns:a16="http://schemas.microsoft.com/office/drawing/2014/main" id="{8E297D8C-0E19-6D91-0889-4A0E9F76A605}"/>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3D2C01E8-5C1C-7C3B-A434-957A469CED49}"/>
              </a:ext>
            </a:extLst>
          </p:cNvPr>
          <p:cNvSpPr>
            <a:spLocks noGrp="1"/>
          </p:cNvSpPr>
          <p:nvPr>
            <p:ph type="title"/>
          </p:nvPr>
        </p:nvSpPr>
        <p:spPr>
          <a:xfrm>
            <a:off x="810247" y="327992"/>
            <a:ext cx="10271883" cy="626165"/>
          </a:xfrm>
        </p:spPr>
        <p:txBody>
          <a:bodyPr/>
          <a:lstStyle/>
          <a:p>
            <a:r>
              <a:rPr lang="es-ES_tradnl" dirty="0">
                <a:solidFill>
                  <a:schemeClr val="tx2"/>
                </a:solidFill>
              </a:rPr>
              <a:t>Definición de lista cruzada de horario (SSAXLST)</a:t>
            </a:r>
            <a:endParaRPr lang="es-CL" dirty="0"/>
          </a:p>
        </p:txBody>
      </p:sp>
      <p:sp>
        <p:nvSpPr>
          <p:cNvPr id="13" name="Rectángulo redondeado 5">
            <a:extLst>
              <a:ext uri="{FF2B5EF4-FFF2-40B4-BE49-F238E27FC236}">
                <a16:creationId xmlns:a16="http://schemas.microsoft.com/office/drawing/2014/main" id="{B564C663-E1FB-567A-3B25-8AF7752B808E}"/>
              </a:ext>
            </a:extLst>
          </p:cNvPr>
          <p:cNvSpPr/>
          <p:nvPr/>
        </p:nvSpPr>
        <p:spPr>
          <a:xfrm>
            <a:off x="810247" y="3428999"/>
            <a:ext cx="8323265" cy="134983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Desde la pestaña Instructor y horas de reunión de los NRC que no tienen horario, salón y docentes:</a:t>
            </a:r>
          </a:p>
          <a:p>
            <a:pPr marL="228600" indent="-228600">
              <a:buAutoNum type="arabicPeriod" startAt="2"/>
            </a:pPr>
            <a:r>
              <a:rPr lang="es-ES_tradnl" sz="1200" dirty="0"/>
              <a:t>Ingrese al Menú Relacionado</a:t>
            </a:r>
          </a:p>
          <a:p>
            <a:pPr marL="228600" indent="-228600">
              <a:buAutoNum type="arabicPeriod" startAt="2"/>
            </a:pPr>
            <a:r>
              <a:rPr lang="es-ES_tradnl" sz="1200" dirty="0"/>
              <a:t>Seleccione la opción Consulta de definición de lista cruzada (SSAXMTI).</a:t>
            </a:r>
          </a:p>
        </p:txBody>
      </p:sp>
      <p:sp>
        <p:nvSpPr>
          <p:cNvPr id="14" name="Rectángulo redondeado 23">
            <a:extLst>
              <a:ext uri="{FF2B5EF4-FFF2-40B4-BE49-F238E27FC236}">
                <a16:creationId xmlns:a16="http://schemas.microsoft.com/office/drawing/2014/main" id="{1CADD35C-35B7-0107-711A-FCC0089020CB}"/>
              </a:ext>
            </a:extLst>
          </p:cNvPr>
          <p:cNvSpPr/>
          <p:nvPr/>
        </p:nvSpPr>
        <p:spPr>
          <a:xfrm>
            <a:off x="10747117" y="1114923"/>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1" name="Rectángulo redondeado 23">
            <a:extLst>
              <a:ext uri="{FF2B5EF4-FFF2-40B4-BE49-F238E27FC236}">
                <a16:creationId xmlns:a16="http://schemas.microsoft.com/office/drawing/2014/main" id="{89BC95CF-B2B9-8DC0-1E6C-D1664EE02EAD}"/>
              </a:ext>
            </a:extLst>
          </p:cNvPr>
          <p:cNvSpPr/>
          <p:nvPr/>
        </p:nvSpPr>
        <p:spPr>
          <a:xfrm>
            <a:off x="9723710" y="3218346"/>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6" name="Rectángulo 5">
            <a:extLst>
              <a:ext uri="{FF2B5EF4-FFF2-40B4-BE49-F238E27FC236}">
                <a16:creationId xmlns:a16="http://schemas.microsoft.com/office/drawing/2014/main" id="{23F5399D-3409-0557-1537-46FA25901CFD}"/>
              </a:ext>
            </a:extLst>
          </p:cNvPr>
          <p:cNvSpPr/>
          <p:nvPr/>
        </p:nvSpPr>
        <p:spPr>
          <a:xfrm>
            <a:off x="10085155" y="3164755"/>
            <a:ext cx="1585045" cy="27286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7" name="Rectángulo 6">
            <a:extLst>
              <a:ext uri="{FF2B5EF4-FFF2-40B4-BE49-F238E27FC236}">
                <a16:creationId xmlns:a16="http://schemas.microsoft.com/office/drawing/2014/main" id="{F3F51628-6689-3467-D09D-306ECFAF882E}"/>
              </a:ext>
            </a:extLst>
          </p:cNvPr>
          <p:cNvSpPr/>
          <p:nvPr/>
        </p:nvSpPr>
        <p:spPr>
          <a:xfrm>
            <a:off x="10747117" y="870167"/>
            <a:ext cx="335013" cy="19528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1218232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7D003-F738-6F42-6B5F-6AFDAFA18E82}"/>
            </a:ext>
          </a:extLst>
        </p:cNvPr>
        <p:cNvGrpSpPr/>
        <p:nvPr/>
      </p:nvGrpSpPr>
      <p:grpSpPr>
        <a:xfrm>
          <a:off x="0" y="0"/>
          <a:ext cx="0" cy="0"/>
          <a:chOff x="0" y="0"/>
          <a:chExt cx="0" cy="0"/>
        </a:xfrm>
      </p:grpSpPr>
      <p:pic>
        <p:nvPicPr>
          <p:cNvPr id="20" name="Imagen 19">
            <a:extLst>
              <a:ext uri="{FF2B5EF4-FFF2-40B4-BE49-F238E27FC236}">
                <a16:creationId xmlns:a16="http://schemas.microsoft.com/office/drawing/2014/main" id="{3209B58F-2D4D-55EC-A4AA-600B5D1118ED}"/>
              </a:ext>
            </a:extLst>
          </p:cNvPr>
          <p:cNvPicPr>
            <a:picLocks noChangeAspect="1"/>
          </p:cNvPicPr>
          <p:nvPr/>
        </p:nvPicPr>
        <p:blipFill>
          <a:blip r:embed="rId2"/>
          <a:stretch>
            <a:fillRect/>
          </a:stretch>
        </p:blipFill>
        <p:spPr>
          <a:xfrm>
            <a:off x="1340591" y="2101700"/>
            <a:ext cx="9735873" cy="4262624"/>
          </a:xfrm>
          <a:prstGeom prst="rect">
            <a:avLst/>
          </a:prstGeom>
        </p:spPr>
      </p:pic>
      <p:pic>
        <p:nvPicPr>
          <p:cNvPr id="15" name="Imagen 14">
            <a:extLst>
              <a:ext uri="{FF2B5EF4-FFF2-40B4-BE49-F238E27FC236}">
                <a16:creationId xmlns:a16="http://schemas.microsoft.com/office/drawing/2014/main" id="{0B1DBBC0-3282-6C25-754E-F52CA68170A4}"/>
              </a:ext>
            </a:extLst>
          </p:cNvPr>
          <p:cNvPicPr>
            <a:picLocks noChangeAspect="1"/>
          </p:cNvPicPr>
          <p:nvPr/>
        </p:nvPicPr>
        <p:blipFill>
          <a:blip r:embed="rId3"/>
          <a:stretch>
            <a:fillRect/>
          </a:stretch>
        </p:blipFill>
        <p:spPr>
          <a:xfrm>
            <a:off x="924499" y="821486"/>
            <a:ext cx="10785894" cy="1059987"/>
          </a:xfrm>
          <a:prstGeom prst="rect">
            <a:avLst/>
          </a:prstGeom>
        </p:spPr>
      </p:pic>
      <p:sp>
        <p:nvSpPr>
          <p:cNvPr id="3" name="Marcador de texto vertical 2">
            <a:extLst>
              <a:ext uri="{FF2B5EF4-FFF2-40B4-BE49-F238E27FC236}">
                <a16:creationId xmlns:a16="http://schemas.microsoft.com/office/drawing/2014/main" id="{F7F26DAA-2CB9-3842-8CC1-9D9D81FED7D1}"/>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D4FBF942-4F55-562B-5F4F-F8AC07597D10}"/>
              </a:ext>
            </a:extLst>
          </p:cNvPr>
          <p:cNvSpPr>
            <a:spLocks noGrp="1"/>
          </p:cNvSpPr>
          <p:nvPr>
            <p:ph type="title"/>
          </p:nvPr>
        </p:nvSpPr>
        <p:spPr>
          <a:xfrm>
            <a:off x="810247" y="327992"/>
            <a:ext cx="10271883" cy="626165"/>
          </a:xfrm>
        </p:spPr>
        <p:txBody>
          <a:bodyPr/>
          <a:lstStyle/>
          <a:p>
            <a:r>
              <a:rPr lang="es-ES_tradnl" dirty="0">
                <a:solidFill>
                  <a:schemeClr val="tx2"/>
                </a:solidFill>
              </a:rPr>
              <a:t>Definición de lista cruzada de horario (SSAXLST)</a:t>
            </a:r>
            <a:endParaRPr lang="es-CL" dirty="0"/>
          </a:p>
        </p:txBody>
      </p:sp>
      <p:sp>
        <p:nvSpPr>
          <p:cNvPr id="13" name="Rectángulo redondeado 5">
            <a:extLst>
              <a:ext uri="{FF2B5EF4-FFF2-40B4-BE49-F238E27FC236}">
                <a16:creationId xmlns:a16="http://schemas.microsoft.com/office/drawing/2014/main" id="{72956796-897B-5D49-618E-C8A705AA37F1}"/>
              </a:ext>
            </a:extLst>
          </p:cNvPr>
          <p:cNvSpPr/>
          <p:nvPr/>
        </p:nvSpPr>
        <p:spPr>
          <a:xfrm>
            <a:off x="1784555" y="4179630"/>
            <a:ext cx="8323265" cy="134983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El sistema muestra la página de Consulta de docente/hora de reunión de lista cruzada (SSAXMTI) con el período del NRC y la lista cruzada definida para el mismo.</a:t>
            </a:r>
          </a:p>
          <a:p>
            <a:pPr marL="228600" indent="-228600">
              <a:buFont typeface="+mj-lt"/>
              <a:buAutoNum type="arabicPeriod" startAt="4"/>
            </a:pPr>
            <a:r>
              <a:rPr lang="es-ES_tradnl" sz="1200" dirty="0"/>
              <a:t>Presione el botón Ir</a:t>
            </a:r>
          </a:p>
          <a:p>
            <a:pPr marL="228600" indent="-228600">
              <a:buAutoNum type="arabicPeriod" startAt="4"/>
            </a:pPr>
            <a:r>
              <a:rPr lang="es-ES_tradnl" sz="1200" dirty="0"/>
              <a:t>Seleccione o haga clic sobre el NRC de referencia,  que es el que tiene el horario cargado, en el caso del ejemplo, el NRC 10001.</a:t>
            </a:r>
          </a:p>
          <a:p>
            <a:pPr marL="228600" indent="-228600">
              <a:buAutoNum type="arabicPeriod" startAt="4"/>
            </a:pPr>
            <a:r>
              <a:rPr lang="es-ES_tradnl" sz="1200" dirty="0"/>
              <a:t>Presione el botón Seleccionar.</a:t>
            </a:r>
          </a:p>
        </p:txBody>
      </p:sp>
      <p:sp>
        <p:nvSpPr>
          <p:cNvPr id="14" name="Rectángulo redondeado 23">
            <a:extLst>
              <a:ext uri="{FF2B5EF4-FFF2-40B4-BE49-F238E27FC236}">
                <a16:creationId xmlns:a16="http://schemas.microsoft.com/office/drawing/2014/main" id="{167BD294-B48A-0AFD-A31A-3CFD5DD64A7E}"/>
              </a:ext>
            </a:extLst>
          </p:cNvPr>
          <p:cNvSpPr/>
          <p:nvPr/>
        </p:nvSpPr>
        <p:spPr>
          <a:xfrm>
            <a:off x="11006379" y="1249734"/>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1" name="Rectángulo redondeado 23">
            <a:extLst>
              <a:ext uri="{FF2B5EF4-FFF2-40B4-BE49-F238E27FC236}">
                <a16:creationId xmlns:a16="http://schemas.microsoft.com/office/drawing/2014/main" id="{05D54EA4-9325-EE2D-1AAD-D6B57EA363B5}"/>
              </a:ext>
            </a:extLst>
          </p:cNvPr>
          <p:cNvSpPr/>
          <p:nvPr/>
        </p:nvSpPr>
        <p:spPr>
          <a:xfrm>
            <a:off x="948908" y="2824268"/>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8" name="Rectángulo 7">
            <a:extLst>
              <a:ext uri="{FF2B5EF4-FFF2-40B4-BE49-F238E27FC236}">
                <a16:creationId xmlns:a16="http://schemas.microsoft.com/office/drawing/2014/main" id="{83C28CB9-B877-6F93-363B-B32F71007DF3}"/>
              </a:ext>
            </a:extLst>
          </p:cNvPr>
          <p:cNvSpPr/>
          <p:nvPr/>
        </p:nvSpPr>
        <p:spPr>
          <a:xfrm>
            <a:off x="11337586" y="1207397"/>
            <a:ext cx="370961"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2" name="Rectángulo 11">
            <a:extLst>
              <a:ext uri="{FF2B5EF4-FFF2-40B4-BE49-F238E27FC236}">
                <a16:creationId xmlns:a16="http://schemas.microsoft.com/office/drawing/2014/main" id="{0C6F0E98-7684-5F59-2B95-9E2675356F2D}"/>
              </a:ext>
            </a:extLst>
          </p:cNvPr>
          <p:cNvSpPr/>
          <p:nvPr/>
        </p:nvSpPr>
        <p:spPr>
          <a:xfrm>
            <a:off x="1282222" y="2824268"/>
            <a:ext cx="370961"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7" name="Rectángulo redondeado 23">
            <a:extLst>
              <a:ext uri="{FF2B5EF4-FFF2-40B4-BE49-F238E27FC236}">
                <a16:creationId xmlns:a16="http://schemas.microsoft.com/office/drawing/2014/main" id="{82CA9F3C-ADD5-07FB-A624-B1C9E0E8CEBC}"/>
              </a:ext>
            </a:extLst>
          </p:cNvPr>
          <p:cNvSpPr/>
          <p:nvPr/>
        </p:nvSpPr>
        <p:spPr>
          <a:xfrm>
            <a:off x="11076464" y="624127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18" name="Rectángulo 17">
            <a:extLst>
              <a:ext uri="{FF2B5EF4-FFF2-40B4-BE49-F238E27FC236}">
                <a16:creationId xmlns:a16="http://schemas.microsoft.com/office/drawing/2014/main" id="{1EAA2348-BFB1-4BBD-5A6C-34B8E797F70F}"/>
              </a:ext>
            </a:extLst>
          </p:cNvPr>
          <p:cNvSpPr/>
          <p:nvPr/>
        </p:nvSpPr>
        <p:spPr>
          <a:xfrm>
            <a:off x="10430068" y="6172200"/>
            <a:ext cx="588028" cy="19212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1134657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9D872-F007-F746-4654-BEF61513A7B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7ABDAE12-87A4-F441-9377-EADAEBD3FC97}"/>
              </a:ext>
            </a:extLst>
          </p:cNvPr>
          <p:cNvPicPr>
            <a:picLocks noChangeAspect="1"/>
          </p:cNvPicPr>
          <p:nvPr/>
        </p:nvPicPr>
        <p:blipFill>
          <a:blip r:embed="rId2"/>
          <a:stretch>
            <a:fillRect/>
          </a:stretch>
        </p:blipFill>
        <p:spPr>
          <a:xfrm>
            <a:off x="609601" y="1005374"/>
            <a:ext cx="11153722" cy="4878298"/>
          </a:xfrm>
          <a:prstGeom prst="rect">
            <a:avLst/>
          </a:prstGeom>
        </p:spPr>
      </p:pic>
      <p:sp>
        <p:nvSpPr>
          <p:cNvPr id="3" name="Marcador de texto vertical 2">
            <a:extLst>
              <a:ext uri="{FF2B5EF4-FFF2-40B4-BE49-F238E27FC236}">
                <a16:creationId xmlns:a16="http://schemas.microsoft.com/office/drawing/2014/main" id="{C72805F2-69F8-08B8-8EB2-D70C4F9EE3C4}"/>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4046B187-E444-35AF-3E37-88E9DCB376BD}"/>
              </a:ext>
            </a:extLst>
          </p:cNvPr>
          <p:cNvSpPr>
            <a:spLocks noGrp="1"/>
          </p:cNvSpPr>
          <p:nvPr>
            <p:ph type="title"/>
          </p:nvPr>
        </p:nvSpPr>
        <p:spPr>
          <a:xfrm>
            <a:off x="810247" y="327992"/>
            <a:ext cx="10271883" cy="626165"/>
          </a:xfrm>
        </p:spPr>
        <p:txBody>
          <a:bodyPr/>
          <a:lstStyle/>
          <a:p>
            <a:r>
              <a:rPr lang="es-ES_tradnl" dirty="0">
                <a:solidFill>
                  <a:schemeClr val="tx2"/>
                </a:solidFill>
              </a:rPr>
              <a:t>Definición de lista cruzada de horario (SSAXLST)</a:t>
            </a:r>
            <a:endParaRPr lang="es-CL" dirty="0"/>
          </a:p>
        </p:txBody>
      </p:sp>
      <p:sp>
        <p:nvSpPr>
          <p:cNvPr id="2" name="Rectángulo redondeado 23">
            <a:extLst>
              <a:ext uri="{FF2B5EF4-FFF2-40B4-BE49-F238E27FC236}">
                <a16:creationId xmlns:a16="http://schemas.microsoft.com/office/drawing/2014/main" id="{5DC579DC-EB3B-83C8-5544-A2DC46E10FF5}"/>
              </a:ext>
            </a:extLst>
          </p:cNvPr>
          <p:cNvSpPr/>
          <p:nvPr/>
        </p:nvSpPr>
        <p:spPr>
          <a:xfrm>
            <a:off x="11821691" y="5717987"/>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6" name="Rectángulo 5">
            <a:extLst>
              <a:ext uri="{FF2B5EF4-FFF2-40B4-BE49-F238E27FC236}">
                <a16:creationId xmlns:a16="http://schemas.microsoft.com/office/drawing/2014/main" id="{1A4427C7-35AC-5443-2CA6-906EF481E713}"/>
              </a:ext>
            </a:extLst>
          </p:cNvPr>
          <p:cNvSpPr/>
          <p:nvPr/>
        </p:nvSpPr>
        <p:spPr>
          <a:xfrm>
            <a:off x="11175295" y="5648915"/>
            <a:ext cx="588028" cy="19212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3" name="Rectángulo redondeado 5">
            <a:extLst>
              <a:ext uri="{FF2B5EF4-FFF2-40B4-BE49-F238E27FC236}">
                <a16:creationId xmlns:a16="http://schemas.microsoft.com/office/drawing/2014/main" id="{130CCB7E-0149-E293-F215-6C0A07C060FF}"/>
              </a:ext>
            </a:extLst>
          </p:cNvPr>
          <p:cNvSpPr/>
          <p:nvPr/>
        </p:nvSpPr>
        <p:spPr>
          <a:xfrm>
            <a:off x="1552008" y="5208753"/>
            <a:ext cx="8323265" cy="134983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Realizada la acción anterior, automáticamente, se cargan los horarios, salones y docentes del NRC de referencia en el NRC que se está ingresando a la lista cruzada. </a:t>
            </a:r>
          </a:p>
          <a:p>
            <a:r>
              <a:rPr lang="es-ES_tradnl" sz="1200" dirty="0"/>
              <a:t>En el ejemplo, se advierte que uno de los salones asignados tiene una capacidad menor al cupo del NRC, pero es un alerta, no impide la asignación del salón.</a:t>
            </a:r>
          </a:p>
        </p:txBody>
      </p:sp>
      <p:pic>
        <p:nvPicPr>
          <p:cNvPr id="9" name="Imagen 8">
            <a:extLst>
              <a:ext uri="{FF2B5EF4-FFF2-40B4-BE49-F238E27FC236}">
                <a16:creationId xmlns:a16="http://schemas.microsoft.com/office/drawing/2014/main" id="{4185B394-E50D-5A10-CD8B-E9F637A6BAAE}"/>
              </a:ext>
            </a:extLst>
          </p:cNvPr>
          <p:cNvPicPr>
            <a:picLocks noChangeAspect="1"/>
          </p:cNvPicPr>
          <p:nvPr/>
        </p:nvPicPr>
        <p:blipFill>
          <a:blip r:embed="rId3"/>
          <a:stretch>
            <a:fillRect/>
          </a:stretch>
        </p:blipFill>
        <p:spPr>
          <a:xfrm>
            <a:off x="942407" y="3444523"/>
            <a:ext cx="10639992" cy="1366655"/>
          </a:xfrm>
          <a:prstGeom prst="rect">
            <a:avLst/>
          </a:prstGeom>
        </p:spPr>
      </p:pic>
    </p:spTree>
    <p:extLst>
      <p:ext uri="{BB962C8B-B14F-4D97-AF65-F5344CB8AC3E}">
        <p14:creationId xmlns:p14="http://schemas.microsoft.com/office/powerpoint/2010/main" val="2907528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Crear listas cruzadas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1104900" y="1662262"/>
            <a:ext cx="7092820" cy="1628192"/>
          </a:xfrm>
        </p:spPr>
        <p:txBody>
          <a:bodyPr/>
          <a:lstStyle/>
          <a:p>
            <a:r>
              <a:rPr lang="en-US" sz="3600" dirty="0"/>
              <a:t>RESUMEN</a:t>
            </a:r>
          </a:p>
        </p:txBody>
      </p:sp>
      <p:sp>
        <p:nvSpPr>
          <p:cNvPr id="4" name="Marcador de texto 3">
            <a:extLst>
              <a:ext uri="{FF2B5EF4-FFF2-40B4-BE49-F238E27FC236}">
                <a16:creationId xmlns:a16="http://schemas.microsoft.com/office/drawing/2014/main" id="{D8923023-CC5F-00E6-430C-211ADECCDB0E}"/>
              </a:ext>
            </a:extLst>
          </p:cNvPr>
          <p:cNvSpPr>
            <a:spLocks noGrp="1"/>
          </p:cNvSpPr>
          <p:nvPr>
            <p:ph type="body" sz="quarter" idx="18"/>
          </p:nvPr>
        </p:nvSpPr>
        <p:spPr/>
        <p:txBody>
          <a:bodyPr/>
          <a:lstStyle/>
          <a:p>
            <a:endParaRPr lang="es-419" dirty="0"/>
          </a:p>
        </p:txBody>
      </p:sp>
    </p:spTree>
    <p:extLst>
      <p:ext uri="{BB962C8B-B14F-4D97-AF65-F5344CB8AC3E}">
        <p14:creationId xmlns:p14="http://schemas.microsoft.com/office/powerpoint/2010/main" val="3113485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19A60-877E-8F1C-0939-2FB64F8AC038}"/>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CF80FB71-112B-9DF4-E0A5-51B0484333E9}"/>
              </a:ext>
            </a:extLst>
          </p:cNvPr>
          <p:cNvSpPr>
            <a:spLocks noGrp="1"/>
          </p:cNvSpPr>
          <p:nvPr>
            <p:ph type="body" sz="quarter" idx="18"/>
          </p:nvPr>
        </p:nvSpPr>
        <p:spPr/>
        <p:txBody>
          <a:bodyPr/>
          <a:lstStyle/>
          <a:p>
            <a:pPr marL="342900" indent="-342900" algn="just">
              <a:buClr>
                <a:srgbClr val="0CB4B4"/>
              </a:buClr>
              <a:buFont typeface="Wingdings" panose="05000000000000000000" pitchFamily="2" charset="2"/>
              <a:buChar char="q"/>
            </a:pPr>
            <a:r>
              <a:rPr lang="es-419" sz="2000" dirty="0"/>
              <a:t>En Banner se puede crear listas cruzadas en caso la institución necesite juntar a dos o más cursos en un mismo horario, salón e instructor.</a:t>
            </a:r>
          </a:p>
          <a:p>
            <a:pPr marL="342900" indent="-342900" algn="just">
              <a:buClr>
                <a:srgbClr val="0CB4B4"/>
              </a:buClr>
              <a:buFont typeface="Wingdings" panose="05000000000000000000" pitchFamily="2" charset="2"/>
              <a:buChar char="q"/>
            </a:pPr>
            <a:r>
              <a:rPr lang="es-419" sz="2000" dirty="0"/>
              <a:t>Las listas cruzadas permitirán realizar optimizaciones de espacios físicos y de instructores.</a:t>
            </a:r>
          </a:p>
        </p:txBody>
      </p:sp>
      <p:sp>
        <p:nvSpPr>
          <p:cNvPr id="10" name="Vertical Text Placeholder 9">
            <a:extLst>
              <a:ext uri="{FF2B5EF4-FFF2-40B4-BE49-F238E27FC236}">
                <a16:creationId xmlns:a16="http://schemas.microsoft.com/office/drawing/2014/main" id="{75A984F1-A9C3-7C43-7437-234EE67B8FF7}"/>
              </a:ext>
            </a:extLst>
          </p:cNvPr>
          <p:cNvSpPr>
            <a:spLocks noGrp="1"/>
          </p:cNvSpPr>
          <p:nvPr>
            <p:ph type="body" orient="vert" sz="quarter" idx="17"/>
          </p:nvPr>
        </p:nvSpPr>
        <p:spPr/>
        <p:txBody>
          <a:bodyPr/>
          <a:lstStyle/>
          <a:p>
            <a:r>
              <a:rPr lang="es-419" sz="1200" dirty="0"/>
              <a:t>Crear listas cruzadas</a:t>
            </a:r>
            <a:endParaRPr lang="en-US" dirty="0"/>
          </a:p>
        </p:txBody>
      </p:sp>
      <p:sp>
        <p:nvSpPr>
          <p:cNvPr id="4" name="Título 3">
            <a:extLst>
              <a:ext uri="{FF2B5EF4-FFF2-40B4-BE49-F238E27FC236}">
                <a16:creationId xmlns:a16="http://schemas.microsoft.com/office/drawing/2014/main" id="{ED6D81FF-0865-69EA-D9EE-48C8C394805E}"/>
              </a:ext>
            </a:extLst>
          </p:cNvPr>
          <p:cNvSpPr>
            <a:spLocks noGrp="1"/>
          </p:cNvSpPr>
          <p:nvPr>
            <p:ph type="title"/>
          </p:nvPr>
        </p:nvSpPr>
        <p:spPr/>
        <p:txBody>
          <a:bodyPr/>
          <a:lstStyle/>
          <a:p>
            <a:r>
              <a:rPr lang="es-419" dirty="0"/>
              <a:t>Listas cruzadas</a:t>
            </a:r>
          </a:p>
        </p:txBody>
      </p:sp>
    </p:spTree>
    <p:extLst>
      <p:ext uri="{BB962C8B-B14F-4D97-AF65-F5344CB8AC3E}">
        <p14:creationId xmlns:p14="http://schemas.microsoft.com/office/powerpoint/2010/main" val="2276455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Nidia  Beltran	</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nidia.beltran@ellucian.com</a:t>
            </a:r>
          </a:p>
        </p:txBody>
      </p:sp>
    </p:spTree>
    <p:extLst>
      <p:ext uri="{BB962C8B-B14F-4D97-AF65-F5344CB8AC3E}">
        <p14:creationId xmlns:p14="http://schemas.microsoft.com/office/powerpoint/2010/main" val="1394951875"/>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7058</TotalTime>
  <Words>1274</Words>
  <Application>Microsoft Office PowerPoint</Application>
  <PresentationFormat>Panorámica</PresentationFormat>
  <Paragraphs>126</Paragraphs>
  <Slides>24</Slides>
  <Notes>0</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24</vt:i4>
      </vt:variant>
    </vt:vector>
  </HeadingPairs>
  <TitlesOfParts>
    <vt:vector size="33" baseType="lpstr">
      <vt:lpstr>Aptos</vt:lpstr>
      <vt:lpstr>Aptos Display</vt:lpstr>
      <vt:lpstr>Arial</vt:lpstr>
      <vt:lpstr>Calibri</vt:lpstr>
      <vt:lpstr>Courier New</vt:lpstr>
      <vt:lpstr>Helvetica Neue</vt:lpstr>
      <vt:lpstr>Wingdings</vt:lpstr>
      <vt:lpstr>Ellucian_April 2025</vt:lpstr>
      <vt:lpstr>Ellucian Blank Layouts</vt:lpstr>
      <vt:lpstr>Presentación de PowerPoint</vt:lpstr>
      <vt:lpstr>Presentación de PowerPoint</vt:lpstr>
      <vt:lpstr>Overview</vt:lpstr>
      <vt:lpstr>Overview: Mapa de capacidades</vt:lpstr>
      <vt:lpstr>Overview: Capacidad operativa Gestión de la Programación Académica </vt:lpstr>
      <vt:lpstr>Overview: Gestión de la programación Académica</vt:lpstr>
      <vt:lpstr>Presentación de PowerPoint</vt:lpstr>
      <vt:lpstr>Presentación de PowerPoint</vt:lpstr>
      <vt:lpstr>Overview: Crear listas cruzadas</vt:lpstr>
      <vt:lpstr>Overview: Crear listas cruzadas</vt:lpstr>
      <vt:lpstr>CONFIGURACIONES</vt:lpstr>
      <vt:lpstr>Premisa: SSASECT Horario </vt:lpstr>
      <vt:lpstr>Crear lista cruzada</vt:lpstr>
      <vt:lpstr>Definición de lista cruzada de horario (SSAXLST)</vt:lpstr>
      <vt:lpstr>Definición de lista cruzada de horario (SSAXLST)</vt:lpstr>
      <vt:lpstr>Definición de lista cruzada de horario (SSAXLST)</vt:lpstr>
      <vt:lpstr>Definición de lista cruzada de horario (SSAXLST)</vt:lpstr>
      <vt:lpstr>Definición de lista cruzada de horario (SSAXLST)</vt:lpstr>
      <vt:lpstr>Definición de lista cruzada de horario (SSAXLST)</vt:lpstr>
      <vt:lpstr>Definición de lista cruzada de horario (SSAXLST)</vt:lpstr>
      <vt:lpstr>Definición de lista cruzada de horario (SSAXLST)</vt:lpstr>
      <vt:lpstr>RESUMEN</vt:lpstr>
      <vt:lpstr>Listas cruzadas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257</cp:revision>
  <dcterms:created xsi:type="dcterms:W3CDTF">2023-07-17T20:07:38Z</dcterms:created>
  <dcterms:modified xsi:type="dcterms:W3CDTF">2026-07-06T17:42:52Z</dcterms:modified>
</cp:coreProperties>
</file>
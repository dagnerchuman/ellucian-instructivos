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  <p:sldMasterId id="2147483752" r:id="rId2"/>
  </p:sldMasterIdLst>
  <p:notesMasterIdLst>
    <p:notesMasterId r:id="rId59"/>
  </p:notesMasterIdLst>
  <p:sldIdLst>
    <p:sldId id="257" r:id="rId3"/>
    <p:sldId id="423" r:id="rId4"/>
    <p:sldId id="476" r:id="rId5"/>
    <p:sldId id="523" r:id="rId6"/>
    <p:sldId id="1885" r:id="rId7"/>
    <p:sldId id="349" r:id="rId8"/>
    <p:sldId id="1866" r:id="rId9"/>
    <p:sldId id="1886" r:id="rId10"/>
    <p:sldId id="1887" r:id="rId11"/>
    <p:sldId id="350" r:id="rId12"/>
    <p:sldId id="421" r:id="rId13"/>
    <p:sldId id="1791" r:id="rId14"/>
    <p:sldId id="1916" r:id="rId15"/>
    <p:sldId id="1915" r:id="rId16"/>
    <p:sldId id="1897" r:id="rId17"/>
    <p:sldId id="1917" r:id="rId18"/>
    <p:sldId id="1912" r:id="rId19"/>
    <p:sldId id="1889" r:id="rId20"/>
    <p:sldId id="534" r:id="rId21"/>
    <p:sldId id="549" r:id="rId22"/>
    <p:sldId id="1890" r:id="rId23"/>
    <p:sldId id="1891" r:id="rId24"/>
    <p:sldId id="1892" r:id="rId25"/>
    <p:sldId id="1865" r:id="rId26"/>
    <p:sldId id="1893" r:id="rId27"/>
    <p:sldId id="1894" r:id="rId28"/>
    <p:sldId id="495" r:id="rId29"/>
    <p:sldId id="1895" r:id="rId30"/>
    <p:sldId id="538" r:id="rId31"/>
    <p:sldId id="539" r:id="rId32"/>
    <p:sldId id="540" r:id="rId33"/>
    <p:sldId id="541" r:id="rId34"/>
    <p:sldId id="542" r:id="rId35"/>
    <p:sldId id="1896" r:id="rId36"/>
    <p:sldId id="544" r:id="rId37"/>
    <p:sldId id="545" r:id="rId38"/>
    <p:sldId id="546" r:id="rId39"/>
    <p:sldId id="547" r:id="rId40"/>
    <p:sldId id="548" r:id="rId41"/>
    <p:sldId id="1913" r:id="rId42"/>
    <p:sldId id="1898" r:id="rId43"/>
    <p:sldId id="319" r:id="rId44"/>
    <p:sldId id="1899" r:id="rId45"/>
    <p:sldId id="1900" r:id="rId46"/>
    <p:sldId id="1901" r:id="rId47"/>
    <p:sldId id="1902" r:id="rId48"/>
    <p:sldId id="511" r:id="rId49"/>
    <p:sldId id="1903" r:id="rId50"/>
    <p:sldId id="1904" r:id="rId51"/>
    <p:sldId id="1905" r:id="rId52"/>
    <p:sldId id="1906" r:id="rId53"/>
    <p:sldId id="1907" r:id="rId54"/>
    <p:sldId id="1908" r:id="rId55"/>
    <p:sldId id="623" r:id="rId56"/>
    <p:sldId id="1860" r:id="rId57"/>
    <p:sldId id="1861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E81FE1C-C4F8-747A-751A-A5F85F51423E}" name="Diana Carolina Cruz Neira" initials="DN" userId="HqrVrFNIz3aOz7BM+vLuPv0jN3NG5MUjzUKAHgNKpS8=" providerId="None"/>
  <p188:author id="{94B06FD8-FBF7-48A6-EC94-7EAC12BBF7D7}" name="Mardones, Francisco" initials="MF" userId="S::Francisco.Mardones@ellucian.com::216dec8c-35d0-45c5-a341-2c26a655750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00B0"/>
    <a:srgbClr val="0CA8B4"/>
    <a:srgbClr val="33CCCC"/>
    <a:srgbClr val="0CB4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48" d="100"/>
          <a:sy n="48" d="100"/>
        </p:scale>
        <p:origin x="2684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61" Type="http://schemas.openxmlformats.org/officeDocument/2006/relationships/viewProps" Target="view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microsoft.com/office/2018/10/relationships/authors" Target="author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422212-D69D-41E4-A547-75F507D8A64A}" type="datetimeFigureOut">
              <a:rPr lang="es-CL" smtClean="0"/>
              <a:t>21-07-2026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582945-6648-41CA-B880-4B10E0E0332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9085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47086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171586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888952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687653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617232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195706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879463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350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2168046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-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09DD77-3C7C-EEB6-765D-0ED3FE5F28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287" y="1056958"/>
            <a:ext cx="11122188" cy="510063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697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31262233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11020825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29540940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21745624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30128796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4414048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989078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791241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2469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5742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1484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0554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5302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0406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13933092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296074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296026027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5851280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01896333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0413873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7613089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4488597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PresenterEmail@Ellucian.com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43326696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54597925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330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D2615-324D-B5FF-2EBE-81DB544E7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285997"/>
            <a:ext cx="7317783" cy="1282485"/>
          </a:xfrm>
        </p:spPr>
        <p:txBody>
          <a:bodyPr l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8C979F-7ABF-A5C6-5C58-6DD9C3DA76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599" y="3792020"/>
            <a:ext cx="7317783" cy="774441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7118141F-3632-B706-5864-39BC20F0FD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" y="5186273"/>
            <a:ext cx="7092820" cy="1056694"/>
          </a:xfrm>
        </p:spPr>
        <p:txBody>
          <a:bodyPr l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176DD36-E885-ABAF-DBBD-C96AC12C778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09088" y="5603032"/>
            <a:ext cx="2373312" cy="569168"/>
          </a:xfrm>
        </p:spPr>
        <p:txBody>
          <a:bodyPr rIns="0" bIns="0" anchor="b" anchorCtr="0">
            <a:no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457200" indent="0" algn="r">
              <a:buNone/>
              <a:defRPr sz="1600">
                <a:solidFill>
                  <a:schemeClr val="bg1"/>
                </a:solidFill>
              </a:defRPr>
            </a:lvl2pPr>
            <a:lvl3pPr marL="914400" indent="0" algn="r">
              <a:buNone/>
              <a:defRPr sz="1400">
                <a:solidFill>
                  <a:schemeClr val="bg1"/>
                </a:solidFill>
              </a:defRPr>
            </a:lvl3pPr>
            <a:lvl4pPr marL="1371600" indent="0" algn="r">
              <a:buNone/>
              <a:defRPr sz="1200">
                <a:solidFill>
                  <a:schemeClr val="bg1"/>
                </a:solidFill>
              </a:defRPr>
            </a:lvl4pPr>
            <a:lvl5pPr marL="1828800" indent="0" algn="r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Month XX, 20XX</a:t>
            </a:r>
          </a:p>
        </p:txBody>
      </p:sp>
    </p:spTree>
    <p:extLst>
      <p:ext uri="{BB962C8B-B14F-4D97-AF65-F5344CB8AC3E}">
        <p14:creationId xmlns:p14="http://schemas.microsoft.com/office/powerpoint/2010/main" val="27257700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DF28871-6FFA-1823-43C5-0B283E5ABDA0}"/>
              </a:ext>
            </a:extLst>
          </p:cNvPr>
          <p:cNvSpPr/>
          <p:nvPr userDrawn="1"/>
        </p:nvSpPr>
        <p:spPr>
          <a:xfrm>
            <a:off x="9170633" y="6480699"/>
            <a:ext cx="2405849" cy="2407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BBA164A-5F23-D05C-8D21-44200DC71CB1}"/>
              </a:ext>
            </a:extLst>
          </p:cNvPr>
          <p:cNvSpPr txBox="1"/>
          <p:nvPr userDrawn="1"/>
        </p:nvSpPr>
        <p:spPr>
          <a:xfrm>
            <a:off x="9610079" y="6506030"/>
            <a:ext cx="21705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5700460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-Up 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D92EE01-92FE-27B7-8491-8AE3AAC0FE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905002"/>
            <a:ext cx="10477499" cy="4267198"/>
          </a:xfrm>
        </p:spPr>
        <p:txBody>
          <a:bodyPr>
            <a:noAutofit/>
          </a:bodyPr>
          <a:lstStyle>
            <a:lvl1pPr marL="174625" indent="-17462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342900" indent="-16827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 marL="5191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3pPr>
            <a:lvl4pPr marL="685800" indent="-166688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4pPr>
            <a:lvl5pPr marL="8620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Vertical Text Placeholder 13">
            <a:extLst>
              <a:ext uri="{FF2B5EF4-FFF2-40B4-BE49-F238E27FC236}">
                <a16:creationId xmlns:a16="http://schemas.microsoft.com/office/drawing/2014/main" id="{E932BD03-3866-775C-FCE1-9468113E4954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3877212-0337-0A89-2140-1837D97F8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0D7E829-0820-3DB9-FA55-7C961469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FE6B8E8-DB28-A5A3-1E18-A87232E1F905}"/>
              </a:ext>
            </a:extLst>
          </p:cNvPr>
          <p:cNvSpPr/>
          <p:nvPr userDrawn="1"/>
        </p:nvSpPr>
        <p:spPr>
          <a:xfrm>
            <a:off x="9241654" y="6498454"/>
            <a:ext cx="2340743" cy="3595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3638DB2-6A07-1CB5-BB3F-F6000EA04FD3}"/>
              </a:ext>
            </a:extLst>
          </p:cNvPr>
          <p:cNvSpPr txBox="1"/>
          <p:nvPr userDrawn="1"/>
        </p:nvSpPr>
        <p:spPr>
          <a:xfrm>
            <a:off x="9710428" y="6578538"/>
            <a:ext cx="1966885" cy="4001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tx1"/>
                </a:solidFill>
              </a:rPr>
              <a:t>©2026 Ellucian. Confidential and Proprietary</a:t>
            </a:r>
          </a:p>
          <a:p>
            <a:pPr algn="l"/>
            <a:endParaRPr lang="es-419" dirty="0" err="1"/>
          </a:p>
        </p:txBody>
      </p:sp>
    </p:spTree>
    <p:extLst>
      <p:ext uri="{BB962C8B-B14F-4D97-AF65-F5344CB8AC3E}">
        <p14:creationId xmlns:p14="http://schemas.microsoft.com/office/powerpoint/2010/main" val="2529096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 Slide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ertical Text Placeholder 13">
            <a:extLst>
              <a:ext uri="{FF2B5EF4-FFF2-40B4-BE49-F238E27FC236}">
                <a16:creationId xmlns:a16="http://schemas.microsoft.com/office/drawing/2014/main" id="{615AF287-335F-BB55-C118-E2B304809BF5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02A5F3B-3ABB-9E8C-64CA-3C1440FE24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6075AE4F-120B-4A06-3546-84A4BC13F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4609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819994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81C625F-C66F-1373-141C-E36C160D0D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E6E8FD-F743-B760-4565-52A5B0B667B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76087-D7C9-C1C3-5E17-263AB892AD6D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61952773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E1FD067-74D8-0E64-F510-C09BEC15D0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6E64D5-8E4A-3059-BC15-EB884BE08EC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FD1F0B-69D7-F3A9-055F-2A986648AD27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91712638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DB79317-11D6-0AF3-4B54-BDA534C904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7209B0-4D3E-B28A-692D-AB3B431BDB0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158A56-C172-10B2-D489-16D7DACEC5F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01884982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ABA3577-65BA-7CC4-5395-E38F2A7AC7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35DE03-26E8-0184-A39C-5A462BDC2DC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91899-8397-C452-E914-5DA32F2E64BE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1899332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695EB3C-8530-E0C8-4217-5508CF63DB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450D81-7260-A5B0-C045-065E98F3D872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E4D3A3-6199-EF4C-2D38-F8DA60A48FE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27243968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0CB40AC-8E27-B4CE-FE98-617281F618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A44510-D9B6-3D27-0025-27FFAAD9F8AE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BE2C0-3213-6D2D-4479-AD9B8089A641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0095877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839101-BBAA-D670-10CD-40BF5E0392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CF7E87-236E-67B1-F9B1-5ACC27A1C0B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6E2BFF-AA3C-F635-EDE7-1D4D95732292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88982980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88CB9F-7B69-6D25-41A0-F5D4BFE324C9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E0AAAEA-1F16-516A-417D-DC9DF964E8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FD55EF-B73C-D814-E528-7EF5EBB86F1C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7C5A4-055F-072E-16C5-84527D1FFDB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24419958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A5C8E9-F647-20C1-E64B-5FADBF7E8499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66E5DE2-889D-3DE4-3572-3DCEEA210F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932288-F84C-D66E-3E63-ED023CEAD97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AA4C6E-89CC-BA61-A575-3A36232457CA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55512841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D04E6AC-3638-47BF-6BFD-E68AF8093A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033454-6E80-8B9B-BBCB-6434F5D21BA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2D7DB-F5BA-604F-2A99-DBAB5A8DE7ED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13457183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45C3B88-0182-B843-BB3B-F145067D5C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84ADAE-B350-C159-D672-6F29FE4CC4F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B9DF3-A55E-DBF2-C049-8624E2CA323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93128087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668F462-6E9A-C654-C321-DFBF69C7A6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75F911-FCDF-6D37-1A4E-6CFB26AAEB35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A93C5-2125-4620-62DB-C8E3A6CA982A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5034630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E396D46-CDE6-66B6-0A7B-6DEC14B972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462404-BF65-8481-4332-5DF7AD5ED1C9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232A2-9E4F-3C88-D771-7120FAD75090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51308024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1DA2E6-F483-60DE-DF61-B60C10DBDE89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9823627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3DCF4-AC60-B9D8-A985-C1CFC1A5AD75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09262626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C058F-486D-43DF-4B5C-09387CA4F8E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30588673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arm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F5FB22-C2EA-99F6-EF38-AD4BBB0C34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3AEA50-DA2C-915C-545F-713FCDF35A3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EA6DE-76EE-C5B8-0477-8D50A19F075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64333844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1941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image" Target="../media/image1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5.xml"/><Relationship Id="rId2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54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48.xml"/><Relationship Id="rId19" Type="http://schemas.openxmlformats.org/officeDocument/2006/relationships/slideLayout" Target="../slideLayouts/slideLayout57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10954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  <p:sldLayoutId id="2147483728" r:id="rId17"/>
    <p:sldLayoutId id="2147483729" r:id="rId18"/>
    <p:sldLayoutId id="2147483730" r:id="rId19"/>
    <p:sldLayoutId id="2147483731" r:id="rId20"/>
    <p:sldLayoutId id="2147483732" r:id="rId21"/>
    <p:sldLayoutId id="2147483733" r:id="rId22"/>
    <p:sldLayoutId id="2147483734" r:id="rId23"/>
    <p:sldLayoutId id="2147483735" r:id="rId24"/>
    <p:sldLayoutId id="2147483736" r:id="rId25"/>
    <p:sldLayoutId id="2147483737" r:id="rId26"/>
    <p:sldLayoutId id="2147483738" r:id="rId27"/>
    <p:sldLayoutId id="2147483739" r:id="rId28"/>
    <p:sldLayoutId id="2147483740" r:id="rId29"/>
    <p:sldLayoutId id="2147483741" r:id="rId30"/>
    <p:sldLayoutId id="2147483742" r:id="rId31"/>
    <p:sldLayoutId id="2147483743" r:id="rId32"/>
    <p:sldLayoutId id="2147483744" r:id="rId33"/>
    <p:sldLayoutId id="2147483745" r:id="rId34"/>
    <p:sldLayoutId id="2147483746" r:id="rId35"/>
    <p:sldLayoutId id="2147483747" r:id="rId36"/>
    <p:sldLayoutId id="2147483748" r:id="rId37"/>
    <p:sldLayoutId id="2147483772" r:id="rId3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1817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  <p:sldLayoutId id="2147483765" r:id="rId13"/>
    <p:sldLayoutId id="2147483766" r:id="rId14"/>
    <p:sldLayoutId id="2147483767" r:id="rId15"/>
    <p:sldLayoutId id="2147483768" r:id="rId16"/>
    <p:sldLayoutId id="2147483769" r:id="rId17"/>
    <p:sldLayoutId id="2147483770" r:id="rId18"/>
    <p:sldLayoutId id="2147483771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sv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7.svg"/><Relationship Id="rId5" Type="http://schemas.openxmlformats.org/officeDocument/2006/relationships/image" Target="../media/image36.svg"/><Relationship Id="rId4" Type="http://schemas.openxmlformats.org/officeDocument/2006/relationships/image" Target="../media/image35.sv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sv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381F98-39A1-4ACC-B642-A72023AF9B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6902" y="2249757"/>
            <a:ext cx="5427132" cy="1832105"/>
          </a:xfrm>
        </p:spPr>
        <p:txBody>
          <a:bodyPr/>
          <a:lstStyle/>
          <a:p>
            <a:r>
              <a:rPr lang="es-ES" sz="4400" dirty="0"/>
              <a:t>Gestionar el otorgamiento y registro de grado</a:t>
            </a:r>
            <a:endParaRPr lang="es-CL" dirty="0">
              <a:latin typeface="+mj-lt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1EF17AF-28D3-D529-32AF-17D3B44889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902" y="4116116"/>
            <a:ext cx="5427132" cy="292452"/>
          </a:xfrm>
        </p:spPr>
        <p:txBody>
          <a:bodyPr/>
          <a:lstStyle/>
          <a:p>
            <a:r>
              <a:rPr lang="es-ES" sz="1800" dirty="0"/>
              <a:t>Instructivo</a:t>
            </a:r>
            <a:endParaRPr lang="es-CL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72FDF24-1214-F117-E543-7A082964D1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6902" y="4921610"/>
            <a:ext cx="3032274" cy="194925"/>
          </a:xfrm>
        </p:spPr>
        <p:txBody>
          <a:bodyPr/>
          <a:lstStyle/>
          <a:p>
            <a:r>
              <a:rPr lang="es-419" dirty="0"/>
              <a:t>Universidad de Señor de SIPAN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5D36049D-3455-C710-D1B2-A5EBF0DE7B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419" dirty="0"/>
              <a:t>Julio, 2026</a:t>
            </a:r>
          </a:p>
        </p:txBody>
      </p:sp>
      <p:pic>
        <p:nvPicPr>
          <p:cNvPr id="9" name="Marcador de posición de imagen 8" descr="Un par de personas de pie&#10;&#10;El contenido generado por IA puede ser incorrecto.">
            <a:extLst>
              <a:ext uri="{FF2B5EF4-FFF2-40B4-BE49-F238E27FC236}">
                <a16:creationId xmlns:a16="http://schemas.microsoft.com/office/drawing/2014/main" id="{7FE66D66-1189-FB46-15BD-C65CCDBC2E5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34" r="1753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353114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 dirty="0"/>
              <a:t>Gestionar el otorgamiento y registro de grado</a:t>
            </a:r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</a:t>
            </a:fld>
            <a:endParaRPr lang="en-US"/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86028BF8-A141-2E97-2FAA-0A37BCE60D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6947183"/>
              </p:ext>
            </p:extLst>
          </p:nvPr>
        </p:nvGraphicFramePr>
        <p:xfrm>
          <a:off x="786088" y="1651015"/>
          <a:ext cx="9058128" cy="32567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0128">
                  <a:extLst>
                    <a:ext uri="{9D8B030D-6E8A-4147-A177-3AD203B41FA5}">
                      <a16:colId xmlns:a16="http://schemas.microsoft.com/office/drawing/2014/main" val="1835725686"/>
                    </a:ext>
                  </a:extLst>
                </a:gridCol>
                <a:gridCol w="8128000">
                  <a:extLst>
                    <a:ext uri="{9D8B030D-6E8A-4147-A177-3AD203B41FA5}">
                      <a16:colId xmlns:a16="http://schemas.microsoft.com/office/drawing/2014/main" val="52046442"/>
                    </a:ext>
                  </a:extLst>
                </a:gridCol>
              </a:tblGrid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01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Overview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1948859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02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Configuraciones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980871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03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Gestionar el otorgamiento y registro de </a:t>
                      </a:r>
                      <a:r>
                        <a:rPr lang="en-US" sz="2800" b="1" dirty="0" err="1">
                          <a:solidFill>
                            <a:schemeClr val="bg1"/>
                          </a:solidFill>
                        </a:rPr>
                        <a:t>grado</a:t>
                      </a:r>
                      <a:endParaRPr 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936347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04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Resumen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3436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1571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 dirty="0"/>
              <a:t>Gestionar el otorgamiento y registro de grado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65" y="1809773"/>
            <a:ext cx="7092820" cy="1628192"/>
          </a:xfrm>
        </p:spPr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</a:rPr>
              <a:t>Overview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576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tical Text Placeholder 3">
            <a:extLst>
              <a:ext uri="{FF2B5EF4-FFF2-40B4-BE49-F238E27FC236}">
                <a16:creationId xmlns:a16="http://schemas.microsoft.com/office/drawing/2014/main" id="{E84A95C1-A1C4-874B-A0F8-44AB6CD99FF1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Gestionar el otorgamiento y registro de grado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1505E3-5A51-3A2E-57EA-74DF6A59B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337" y="508268"/>
            <a:ext cx="9418021" cy="898555"/>
          </a:xfrm>
        </p:spPr>
        <p:txBody>
          <a:bodyPr/>
          <a:lstStyle/>
          <a:p>
            <a:r>
              <a:rPr lang="es-419" sz="3200" noProof="0" dirty="0">
                <a:solidFill>
                  <a:schemeClr val="accent1"/>
                </a:solidFill>
              </a:rPr>
              <a:t>Overview: </a:t>
            </a:r>
            <a:r>
              <a:rPr lang="es-419" sz="3200" b="0" noProof="0" dirty="0">
                <a:solidFill>
                  <a:schemeClr val="accent1"/>
                </a:solidFill>
              </a:rPr>
              <a:t>Mapa de capacidades</a:t>
            </a:r>
            <a:endParaRPr lang="es-419" b="0" noProof="0" dirty="0">
              <a:solidFill>
                <a:schemeClr val="accent1"/>
              </a:solidFill>
            </a:endParaRPr>
          </a:p>
        </p:txBody>
      </p:sp>
      <p:pic>
        <p:nvPicPr>
          <p:cNvPr id="5" name="Imagen 2">
            <a:extLst>
              <a:ext uri="{FF2B5EF4-FFF2-40B4-BE49-F238E27FC236}">
                <a16:creationId xmlns:a16="http://schemas.microsoft.com/office/drawing/2014/main" id="{911D7325-C46C-1AEC-08B6-C55A90B2B5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49" y="1030689"/>
            <a:ext cx="10180101" cy="479661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C70E560-FD05-5A48-6D34-D3EBD8654FB8}"/>
              </a:ext>
            </a:extLst>
          </p:cNvPr>
          <p:cNvSpPr/>
          <p:nvPr/>
        </p:nvSpPr>
        <p:spPr>
          <a:xfrm>
            <a:off x="5496494" y="3293646"/>
            <a:ext cx="2456881" cy="706853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118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FAA7A-5F31-D7C0-D673-24052C7AA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3249019-65A4-D9F4-CB0C-60A5F633A3E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825099"/>
            <a:ext cx="9698935" cy="2746902"/>
          </a:xfrm>
        </p:spPr>
        <p:txBody>
          <a:bodyPr anchor="ctr"/>
          <a:lstStyle/>
          <a:p>
            <a:pPr marL="0" indent="0" algn="just">
              <a:buClr>
                <a:srgbClr val="0CB4B4"/>
              </a:buClr>
              <a:buNone/>
            </a:pPr>
            <a:r>
              <a:rPr lang="es-CO" sz="2400" dirty="0"/>
              <a:t>En la Capacidad de negocio de “Otorgamiento del Título y Ceremonia de Graduación del Estudiante” se incluyen todas las actividades destinadas al otorgamiento de títulos (y otros reconocimientos) a estudiantes que han cumplido con los requisitos correspondientes.</a:t>
            </a:r>
            <a:endParaRPr lang="es-ES" sz="240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8090E525-E594-D00C-F198-F1796BCF3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>
                <a:solidFill>
                  <a:schemeClr val="accent1"/>
                </a:solidFill>
              </a:rPr>
              <a:t>Overview: </a:t>
            </a:r>
            <a:r>
              <a:rPr lang="es-CL" b="0" dirty="0">
                <a:solidFill>
                  <a:schemeClr val="accent1"/>
                </a:solidFill>
              </a:rPr>
              <a:t>Capacidad Otorgamiento del Título y </a:t>
            </a:r>
            <a:r>
              <a:rPr lang="es-CL" b="0" dirty="0" err="1">
                <a:solidFill>
                  <a:schemeClr val="accent1"/>
                </a:solidFill>
              </a:rPr>
              <a:t>Ceremonía</a:t>
            </a:r>
            <a:r>
              <a:rPr lang="es-CL" b="0" dirty="0">
                <a:solidFill>
                  <a:schemeClr val="accent1"/>
                </a:solidFill>
              </a:rPr>
              <a:t> del estudiante</a:t>
            </a:r>
          </a:p>
        </p:txBody>
      </p:sp>
      <p:sp>
        <p:nvSpPr>
          <p:cNvPr id="6" name="Vertical Text Placeholder 3">
            <a:extLst>
              <a:ext uri="{FF2B5EF4-FFF2-40B4-BE49-F238E27FC236}">
                <a16:creationId xmlns:a16="http://schemas.microsoft.com/office/drawing/2014/main" id="{A49C5CEF-8FA1-0672-58E4-174948BA0B82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>
          <a:xfrm rot="10800000">
            <a:off x="0" y="685800"/>
            <a:ext cx="609600" cy="5486399"/>
          </a:xfrm>
        </p:spPr>
        <p:txBody>
          <a:bodyPr/>
          <a:lstStyle/>
          <a:p>
            <a:r>
              <a:rPr lang="es-CO" sz="1200" dirty="0"/>
              <a:t>Otorgamiento del Título y Ceremonia del estudiante</a:t>
            </a:r>
            <a:endParaRPr lang="es-419" sz="1200" dirty="0"/>
          </a:p>
        </p:txBody>
      </p:sp>
    </p:spTree>
    <p:extLst>
      <p:ext uri="{BB962C8B-B14F-4D97-AF65-F5344CB8AC3E}">
        <p14:creationId xmlns:p14="http://schemas.microsoft.com/office/powerpoint/2010/main" val="1300540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9D552BA8-E40D-BE5E-B33E-255C974B1B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450195"/>
            <a:ext cx="9698935" cy="2746902"/>
          </a:xfrm>
        </p:spPr>
        <p:txBody>
          <a:bodyPr anchor="ctr"/>
          <a:lstStyle/>
          <a:p>
            <a:pPr algn="just">
              <a:buClrTx/>
              <a:buFont typeface="Wingdings" panose="05000000000000000000" pitchFamily="2" charset="2"/>
              <a:buChar char="v"/>
            </a:pPr>
            <a:r>
              <a:rPr lang="es-ES" sz="2400" b="1" dirty="0"/>
              <a:t>Gestión de Elegibilidad para Titulación</a:t>
            </a:r>
          </a:p>
          <a:p>
            <a:pPr algn="just">
              <a:buClrTx/>
              <a:buFont typeface="Wingdings" panose="05000000000000000000" pitchFamily="2" charset="2"/>
              <a:buChar char="v"/>
            </a:pPr>
            <a:r>
              <a:rPr lang="es-ES" sz="2400" dirty="0"/>
              <a:t>Gestión de Eventos de Graduación</a:t>
            </a:r>
          </a:p>
          <a:p>
            <a:pPr algn="just">
              <a:buClrTx/>
              <a:buFont typeface="Wingdings" panose="05000000000000000000" pitchFamily="2" charset="2"/>
              <a:buChar char="v"/>
            </a:pPr>
            <a:r>
              <a:rPr lang="es-ES" sz="2400" dirty="0"/>
              <a:t>Actividades </a:t>
            </a:r>
            <a:r>
              <a:rPr lang="es-ES" sz="2400" dirty="0" err="1"/>
              <a:t>Cocurriculares</a:t>
            </a:r>
            <a:endParaRPr lang="es-ES" sz="2400" dirty="0"/>
          </a:p>
          <a:p>
            <a:pPr algn="just">
              <a:buClrTx/>
              <a:buFont typeface="Wingdings" panose="05000000000000000000" pitchFamily="2" charset="2"/>
              <a:buChar char="v"/>
            </a:pPr>
            <a:r>
              <a:rPr lang="es-ES" sz="2400" dirty="0"/>
              <a:t>Procesamiento de Otorgamiento de Título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>
                <a:solidFill>
                  <a:schemeClr val="accent1"/>
                </a:solidFill>
              </a:rPr>
              <a:t>Overview: </a:t>
            </a:r>
            <a:r>
              <a:rPr lang="es-CL" b="0" dirty="0">
                <a:solidFill>
                  <a:schemeClr val="accent1"/>
                </a:solidFill>
              </a:rPr>
              <a:t>Capacidad Otorgamiento del Título y Ceremonia del estudiante</a:t>
            </a:r>
          </a:p>
        </p:txBody>
      </p:sp>
      <p:sp>
        <p:nvSpPr>
          <p:cNvPr id="11" name="Vertical Text Placeholder 3">
            <a:extLst>
              <a:ext uri="{FF2B5EF4-FFF2-40B4-BE49-F238E27FC236}">
                <a16:creationId xmlns:a16="http://schemas.microsoft.com/office/drawing/2014/main" id="{DB157260-0FEB-2D58-8CF0-923F614781E0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>
          <a:xfrm rot="10800000">
            <a:off x="0" y="429768"/>
            <a:ext cx="609600" cy="5486399"/>
          </a:xfrm>
        </p:spPr>
        <p:txBody>
          <a:bodyPr/>
          <a:lstStyle/>
          <a:p>
            <a:r>
              <a:rPr lang="es-CO" sz="1200" dirty="0"/>
              <a:t>Otorgamiento del Título y Ceremonia del estudiante</a:t>
            </a:r>
            <a:endParaRPr lang="es-419" sz="1200" dirty="0"/>
          </a:p>
        </p:txBody>
      </p:sp>
    </p:spTree>
    <p:extLst>
      <p:ext uri="{BB962C8B-B14F-4D97-AF65-F5344CB8AC3E}">
        <p14:creationId xmlns:p14="http://schemas.microsoft.com/office/powerpoint/2010/main" val="1504878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11DA2-83AE-9A3F-788A-8CB00D83B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08631C02-5117-05BD-0103-5D2E416E27B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916539"/>
            <a:ext cx="9698935" cy="2746902"/>
          </a:xfrm>
        </p:spPr>
        <p:txBody>
          <a:bodyPr anchor="ctr"/>
          <a:lstStyle/>
          <a:p>
            <a:pPr marL="0" indent="0" algn="just">
              <a:buClr>
                <a:srgbClr val="0CB4B4"/>
              </a:buClr>
              <a:buNone/>
            </a:pPr>
            <a:r>
              <a:rPr lang="es-CO" sz="2400" dirty="0"/>
              <a:t>Conjunto de acciones orientadas a verificar el cumplimiento de los requisitos académicos, financieros y administrativos de los estudiantes, con el fin de determinar cuáles cumplen las condiciones necesarias para su cambio de estado a Egresado, Graduado, Titulado u otros definidos por la institución.</a:t>
            </a:r>
            <a:endParaRPr lang="es-ES" sz="240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4F5AD896-91FA-AF0D-76FA-36DEC47BD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>
                <a:solidFill>
                  <a:schemeClr val="accent1"/>
                </a:solidFill>
              </a:rPr>
              <a:t>Overview</a:t>
            </a:r>
            <a:r>
              <a:rPr lang="es-ES_tradnl" dirty="0">
                <a:solidFill>
                  <a:schemeClr val="accent1"/>
                </a:solidFill>
              </a:rPr>
              <a:t>: </a:t>
            </a:r>
            <a:r>
              <a:rPr lang="es-CL" b="0" dirty="0">
                <a:solidFill>
                  <a:schemeClr val="accent1"/>
                </a:solidFill>
              </a:rPr>
              <a:t>Capacidad Operativa </a:t>
            </a:r>
            <a:r>
              <a:rPr lang="es-CO" b="0" dirty="0">
                <a:solidFill>
                  <a:schemeClr val="accent1"/>
                </a:solidFill>
              </a:rPr>
              <a:t>Gestión de Elegibilidad para Titulación</a:t>
            </a:r>
            <a:br>
              <a:rPr lang="es-CO" b="0" dirty="0">
                <a:solidFill>
                  <a:schemeClr val="accent1"/>
                </a:solidFill>
              </a:rPr>
            </a:br>
            <a:endParaRPr lang="es-CL" b="0" dirty="0">
              <a:solidFill>
                <a:schemeClr val="accent1"/>
              </a:solidFill>
            </a:endParaRPr>
          </a:p>
        </p:txBody>
      </p:sp>
      <p:sp>
        <p:nvSpPr>
          <p:cNvPr id="6" name="Vertical Text Placeholder 3">
            <a:extLst>
              <a:ext uri="{FF2B5EF4-FFF2-40B4-BE49-F238E27FC236}">
                <a16:creationId xmlns:a16="http://schemas.microsoft.com/office/drawing/2014/main" id="{57D770C6-54DC-1C76-479B-4E83C4D48578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>
          <a:xfrm rot="10800000">
            <a:off x="0" y="457200"/>
            <a:ext cx="609600" cy="5486399"/>
          </a:xfrm>
        </p:spPr>
        <p:txBody>
          <a:bodyPr/>
          <a:lstStyle/>
          <a:p>
            <a:r>
              <a:rPr lang="es-CO" sz="1200" dirty="0"/>
              <a:t>Otorgamiento del Título y Ceremonia del estudiante</a:t>
            </a:r>
            <a:endParaRPr lang="es-419" sz="1200" dirty="0"/>
          </a:p>
        </p:txBody>
      </p:sp>
    </p:spTree>
    <p:extLst>
      <p:ext uri="{BB962C8B-B14F-4D97-AF65-F5344CB8AC3E}">
        <p14:creationId xmlns:p14="http://schemas.microsoft.com/office/powerpoint/2010/main" val="1678393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Gráfico de cajas y bigotes&#10;&#10;Descripción generada automáticamente con confianza media">
            <a:extLst>
              <a:ext uri="{FF2B5EF4-FFF2-40B4-BE49-F238E27FC236}">
                <a16:creationId xmlns:a16="http://schemas.microsoft.com/office/drawing/2014/main" id="{D7C94707-9901-26C5-BFF7-C231E82B592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1" r="4359"/>
          <a:stretch/>
        </p:blipFill>
        <p:spPr bwMode="auto">
          <a:xfrm>
            <a:off x="1375410" y="2664396"/>
            <a:ext cx="9974574" cy="166986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Título 3">
            <a:extLst>
              <a:ext uri="{FF2B5EF4-FFF2-40B4-BE49-F238E27FC236}">
                <a16:creationId xmlns:a16="http://schemas.microsoft.com/office/drawing/2014/main" id="{0A0E0E34-F93E-1FF7-3FE4-774D5008F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48" y="450612"/>
            <a:ext cx="10477497" cy="898555"/>
          </a:xfrm>
        </p:spPr>
        <p:txBody>
          <a:bodyPr/>
          <a:lstStyle/>
          <a:p>
            <a:r>
              <a:rPr lang="es-ES_tradnl" dirty="0" err="1">
                <a:solidFill>
                  <a:schemeClr val="accent1"/>
                </a:solidFill>
              </a:rPr>
              <a:t>Overview</a:t>
            </a:r>
            <a:r>
              <a:rPr lang="es-ES_tradnl" dirty="0">
                <a:solidFill>
                  <a:schemeClr val="accent1"/>
                </a:solidFill>
              </a:rPr>
              <a:t>: </a:t>
            </a:r>
            <a:r>
              <a:rPr lang="es-CL" b="0" dirty="0">
                <a:solidFill>
                  <a:schemeClr val="accent1"/>
                </a:solidFill>
              </a:rPr>
              <a:t>Capacidad Operativa </a:t>
            </a:r>
            <a:r>
              <a:rPr lang="es-CO" b="0" dirty="0">
                <a:solidFill>
                  <a:schemeClr val="accent1"/>
                </a:solidFill>
              </a:rPr>
              <a:t>Gestión de Elegibilidad para Titulación</a:t>
            </a:r>
            <a:br>
              <a:rPr lang="es-CO" b="0" dirty="0">
                <a:solidFill>
                  <a:schemeClr val="accent1"/>
                </a:solidFill>
              </a:rPr>
            </a:br>
            <a:endParaRPr lang="es-CL" b="0" dirty="0">
              <a:solidFill>
                <a:schemeClr val="accent1"/>
              </a:solidFill>
            </a:endParaRPr>
          </a:p>
        </p:txBody>
      </p:sp>
      <p:sp>
        <p:nvSpPr>
          <p:cNvPr id="12" name="Vertical Text Placeholder 3">
            <a:extLst>
              <a:ext uri="{FF2B5EF4-FFF2-40B4-BE49-F238E27FC236}">
                <a16:creationId xmlns:a16="http://schemas.microsoft.com/office/drawing/2014/main" id="{257E195E-D6B5-B928-EAEA-D38084F14F17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>
          <a:xfrm rot="10800000">
            <a:off x="0" y="450612"/>
            <a:ext cx="609600" cy="5486399"/>
          </a:xfrm>
        </p:spPr>
        <p:txBody>
          <a:bodyPr/>
          <a:lstStyle/>
          <a:p>
            <a:r>
              <a:rPr lang="es-CO" sz="1200" dirty="0"/>
              <a:t>Otorgamiento del Título y Ceremonia del estudiante</a:t>
            </a:r>
            <a:endParaRPr lang="es-419" sz="1200" dirty="0"/>
          </a:p>
        </p:txBody>
      </p:sp>
    </p:spTree>
    <p:extLst>
      <p:ext uri="{BB962C8B-B14F-4D97-AF65-F5344CB8AC3E}">
        <p14:creationId xmlns:p14="http://schemas.microsoft.com/office/powerpoint/2010/main" val="3924155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CDA0D89D-33DC-4151-D805-A43C6E21B822}"/>
              </a:ext>
            </a:extLst>
          </p:cNvPr>
          <p:cNvSpPr txBox="1"/>
          <p:nvPr/>
        </p:nvSpPr>
        <p:spPr>
          <a:xfrm>
            <a:off x="8921175" y="2785533"/>
            <a:ext cx="21114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/>
              <a:t>Todo LAC</a:t>
            </a:r>
          </a:p>
        </p:txBody>
      </p:sp>
      <p:pic>
        <p:nvPicPr>
          <p:cNvPr id="2" name="Picture 9" descr="A purple map of south america&#10;&#10;AI-generated content may be incorrect.">
            <a:extLst>
              <a:ext uri="{FF2B5EF4-FFF2-40B4-BE49-F238E27FC236}">
                <a16:creationId xmlns:a16="http://schemas.microsoft.com/office/drawing/2014/main" id="{238B5655-81CE-5FC5-9E73-F6B8AF61D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959" y="1312731"/>
            <a:ext cx="5219641" cy="5219641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86FFA109-F238-8D01-1B09-6931DE8EE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180" y="236522"/>
            <a:ext cx="10477497" cy="898555"/>
          </a:xfrm>
        </p:spPr>
        <p:txBody>
          <a:bodyPr/>
          <a:lstStyle/>
          <a:p>
            <a:r>
              <a:rPr lang="es-ES_tradnl" dirty="0" err="1">
                <a:solidFill>
                  <a:schemeClr val="accent1"/>
                </a:solidFill>
              </a:rPr>
              <a:t>Overview</a:t>
            </a:r>
            <a:r>
              <a:rPr lang="es-ES_tradnl" dirty="0">
                <a:solidFill>
                  <a:schemeClr val="accent1"/>
                </a:solidFill>
              </a:rPr>
              <a:t>: </a:t>
            </a:r>
            <a:r>
              <a:rPr lang="es-CL" b="0" dirty="0">
                <a:solidFill>
                  <a:schemeClr val="accent1"/>
                </a:solidFill>
              </a:rPr>
              <a:t>Capacidad Operativa </a:t>
            </a:r>
            <a:r>
              <a:rPr lang="es-CO" b="0" dirty="0">
                <a:solidFill>
                  <a:schemeClr val="accent1"/>
                </a:solidFill>
              </a:rPr>
              <a:t>Gestión de Elegibilidad para Titulación</a:t>
            </a:r>
            <a:br>
              <a:rPr lang="es-CO" b="0" dirty="0">
                <a:solidFill>
                  <a:schemeClr val="accent1"/>
                </a:solidFill>
              </a:rPr>
            </a:br>
            <a:endParaRPr lang="es-CL" b="0" dirty="0">
              <a:solidFill>
                <a:schemeClr val="accent1"/>
              </a:solidFill>
            </a:endParaRPr>
          </a:p>
        </p:txBody>
      </p:sp>
      <p:sp>
        <p:nvSpPr>
          <p:cNvPr id="8" name="Vertical Text Placeholder 3">
            <a:extLst>
              <a:ext uri="{FF2B5EF4-FFF2-40B4-BE49-F238E27FC236}">
                <a16:creationId xmlns:a16="http://schemas.microsoft.com/office/drawing/2014/main" id="{11A38AE9-737A-335F-7DFD-ADB2E57CC426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>
          <a:xfrm rot="10800000">
            <a:off x="45723" y="429768"/>
            <a:ext cx="609600" cy="5486399"/>
          </a:xfrm>
        </p:spPr>
        <p:txBody>
          <a:bodyPr/>
          <a:lstStyle/>
          <a:p>
            <a:r>
              <a:rPr lang="es-CO" sz="1200" dirty="0"/>
              <a:t>Otorgamiento del Título y Ceremonia del estudiante</a:t>
            </a:r>
            <a:endParaRPr lang="es-419" sz="1200" dirty="0"/>
          </a:p>
        </p:txBody>
      </p:sp>
    </p:spTree>
    <p:extLst>
      <p:ext uri="{BB962C8B-B14F-4D97-AF65-F5344CB8AC3E}">
        <p14:creationId xmlns:p14="http://schemas.microsoft.com/office/powerpoint/2010/main" val="1537747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1D2E5BD-8D92-BBEB-6DE7-7F46E2C205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27871" y="1789044"/>
            <a:ext cx="10136257" cy="447260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ES_tradnl" sz="2400" dirty="0"/>
              <a:t>El objetivo de este procedimiento es que la</a:t>
            </a:r>
            <a:r>
              <a:rPr lang="es-ES" sz="2400" dirty="0"/>
              <a:t> institución registra en el sistema cuál es el estado del estudiante con respecto a su programa (egresado no graduado, listo para titulación, graduado) y la información adicional que estime conveniente, como honores institucionales y/o departamentales, previa verificación del cumplimiento de los requisitos para poder obtener el grado/título correspondiente.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BE24A3-7467-74A8-A973-F32D51EBA4D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Gestionar el otorgamiento y registro de grado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96A5721-C06B-CE2D-66A9-59404F187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3200" dirty="0" err="1">
                <a:solidFill>
                  <a:schemeClr val="accent1"/>
                </a:solidFill>
              </a:rPr>
              <a:t>Overview</a:t>
            </a:r>
            <a:r>
              <a:rPr lang="es-ES_tradnl" dirty="0">
                <a:solidFill>
                  <a:schemeClr val="accent1"/>
                </a:solidFill>
              </a:rPr>
              <a:t>: </a:t>
            </a:r>
            <a:r>
              <a:rPr lang="es-ES_tradnl" b="0" dirty="0">
                <a:solidFill>
                  <a:schemeClr val="accent1"/>
                </a:solidFill>
              </a:rPr>
              <a:t>Proceso </a:t>
            </a:r>
            <a:r>
              <a:rPr lang="es-419" b="0" dirty="0">
                <a:solidFill>
                  <a:schemeClr val="accent1"/>
                </a:solidFill>
              </a:rPr>
              <a:t>Gestionar el otorgamiento de registro de grado</a:t>
            </a:r>
            <a:endParaRPr lang="es-CL" b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875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BE24A3-7467-74A8-A973-F32D51EBA4D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Gestionar el otorgamiento y registro de grado</a:t>
            </a:r>
            <a:endParaRPr lang="en-US" dirty="0"/>
          </a:p>
        </p:txBody>
      </p:sp>
      <p:sp>
        <p:nvSpPr>
          <p:cNvPr id="6" name="Título 3">
            <a:extLst>
              <a:ext uri="{FF2B5EF4-FFF2-40B4-BE49-F238E27FC236}">
                <a16:creationId xmlns:a16="http://schemas.microsoft.com/office/drawing/2014/main" id="{CCA54959-6279-D1AE-349E-8840E0B3CBEC}"/>
              </a:ext>
            </a:extLst>
          </p:cNvPr>
          <p:cNvSpPr txBox="1">
            <a:spLocks/>
          </p:cNvSpPr>
          <p:nvPr/>
        </p:nvSpPr>
        <p:spPr>
          <a:xfrm>
            <a:off x="1104900" y="685800"/>
            <a:ext cx="10477497" cy="898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dirty="0" err="1">
                <a:solidFill>
                  <a:schemeClr val="accent1"/>
                </a:solidFill>
              </a:rPr>
              <a:t>Overview</a:t>
            </a:r>
            <a:r>
              <a:rPr lang="es-ES_tradnl" dirty="0">
                <a:solidFill>
                  <a:schemeClr val="accent1"/>
                </a:solidFill>
              </a:rPr>
              <a:t>: </a:t>
            </a:r>
            <a:r>
              <a:rPr lang="es-ES_tradnl" b="0" dirty="0">
                <a:solidFill>
                  <a:schemeClr val="accent1"/>
                </a:solidFill>
              </a:rPr>
              <a:t>Proceso </a:t>
            </a:r>
            <a:r>
              <a:rPr lang="es-419" b="0" dirty="0">
                <a:solidFill>
                  <a:schemeClr val="accent1"/>
                </a:solidFill>
              </a:rPr>
              <a:t>gestionar el otorgamiento y registro de grado</a:t>
            </a:r>
            <a:endParaRPr lang="es-CL" b="0" dirty="0">
              <a:solidFill>
                <a:schemeClr val="accent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407AA9A-0F39-2CEA-A10D-C554B83889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150" y="1676400"/>
            <a:ext cx="10041699" cy="458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5546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DBCF8-DE75-3051-C850-4FDCED520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8B07417-6F0B-1861-1903-8E300DFA42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2238843"/>
            <a:ext cx="10363202" cy="669094"/>
          </a:xfrm>
        </p:spPr>
        <p:txBody>
          <a:bodyPr/>
          <a:lstStyle/>
          <a:p>
            <a:r>
              <a:rPr lang="es-419" dirty="0"/>
              <a:t>CONFIGURACIONES</a:t>
            </a:r>
          </a:p>
        </p:txBody>
      </p:sp>
    </p:spTree>
    <p:extLst>
      <p:ext uri="{BB962C8B-B14F-4D97-AF65-F5344CB8AC3E}">
        <p14:creationId xmlns:p14="http://schemas.microsoft.com/office/powerpoint/2010/main" val="1416670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BD0B2-C88A-C20E-CD0A-48DA95634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8EC8D104-4890-05A9-8187-63A74D8A7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906" y="1460961"/>
            <a:ext cx="10924070" cy="1808318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47C21AF-97D1-17F0-2F56-51319840F37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Gestionar el otorgamiento y registro de grado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F8CD51D6-4BD6-A312-DAD2-2DF5224AB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dirty="0">
                <a:solidFill>
                  <a:schemeClr val="accent1"/>
                </a:solidFill>
              </a:rPr>
              <a:t>Configuraciones: </a:t>
            </a:r>
            <a:r>
              <a:rPr lang="es-ES_tradnl" b="0" dirty="0">
                <a:solidFill>
                  <a:schemeClr val="accent1"/>
                </a:solidFill>
              </a:rPr>
              <a:t>Validación del código de estatus del grado (STVDEGS)</a:t>
            </a: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A151DD29-B301-97F6-635E-D207F167AF0C}"/>
              </a:ext>
            </a:extLst>
          </p:cNvPr>
          <p:cNvSpPr/>
          <p:nvPr/>
        </p:nvSpPr>
        <p:spPr>
          <a:xfrm>
            <a:off x="9870651" y="1252516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39E7AB6-EA1A-5B58-9988-6A998E6EB061}"/>
              </a:ext>
            </a:extLst>
          </p:cNvPr>
          <p:cNvSpPr/>
          <p:nvPr/>
        </p:nvSpPr>
        <p:spPr>
          <a:xfrm>
            <a:off x="10231072" y="1470105"/>
            <a:ext cx="360421" cy="218697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E822F3B-E2EB-A87B-D159-9D880786C087}"/>
              </a:ext>
            </a:extLst>
          </p:cNvPr>
          <p:cNvSpPr/>
          <p:nvPr/>
        </p:nvSpPr>
        <p:spPr>
          <a:xfrm>
            <a:off x="749785" y="2587752"/>
            <a:ext cx="3035832" cy="218697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7" name="Rectángulo redondeado 5">
            <a:extLst>
              <a:ext uri="{FF2B5EF4-FFF2-40B4-BE49-F238E27FC236}">
                <a16:creationId xmlns:a16="http://schemas.microsoft.com/office/drawing/2014/main" id="{199FC24F-44D3-6FA7-ECBD-4B48F223C248}"/>
              </a:ext>
            </a:extLst>
          </p:cNvPr>
          <p:cNvSpPr/>
          <p:nvPr/>
        </p:nvSpPr>
        <p:spPr>
          <a:xfrm>
            <a:off x="765906" y="3467471"/>
            <a:ext cx="10133742" cy="2888878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dirty="0"/>
              <a:t>En esta página de validación se crean los estatus de grado que se registra en la página de otorgamientos de grado en el sistema. Para crear un nuevo código:</a:t>
            </a:r>
          </a:p>
          <a:p>
            <a:pPr marL="342900" indent="-342900">
              <a:buFont typeface="+mj-lt"/>
              <a:buAutoNum type="arabicPeriod"/>
            </a:pPr>
            <a:r>
              <a:rPr lang="es-ES_tradnl" sz="1200" dirty="0"/>
              <a:t>Se inserta un registro. </a:t>
            </a:r>
          </a:p>
          <a:p>
            <a:pPr marL="342900" indent="-342900">
              <a:buFont typeface="+mj-lt"/>
              <a:buAutoNum type="arabicPeriod"/>
            </a:pPr>
            <a:r>
              <a:rPr lang="es-ES_tradnl" sz="1200" dirty="0"/>
              <a:t>Se ingresa código y descripción correspondiente.</a:t>
            </a:r>
          </a:p>
          <a:p>
            <a:pPr marL="342900" indent="-342900">
              <a:buFont typeface="+mj-lt"/>
              <a:buAutoNum type="arabicPeriod"/>
            </a:pPr>
            <a:r>
              <a:rPr lang="es-ES_tradnl" sz="1200" dirty="0"/>
              <a:t>Se ingresa el indicador de otorgado: 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_tradnl" sz="1200" dirty="0"/>
              <a:t>Pendiente: si el código creado representa que está pendiente (para graduarse), u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_tradnl" sz="1200" dirty="0"/>
              <a:t>Otorgado: graduado.</a:t>
            </a:r>
          </a:p>
          <a:p>
            <a:pPr marL="342900" indent="-342900">
              <a:buFont typeface="+mj-lt"/>
              <a:buAutoNum type="arabicPeriod"/>
            </a:pPr>
            <a:r>
              <a:rPr lang="es-ES_tradnl" sz="1200" dirty="0"/>
              <a:t>Status de currículum: Se define qué estatus se otorga al registro del programa del estudiante: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_tradnl" sz="1200" dirty="0"/>
              <a:t>PENDING: para los estatus “pendiente”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_tradnl" sz="1200" dirty="0"/>
              <a:t>COMPLETED: implica la finalización de los requisitos, sin implicar un indicador de graduación. Se puede usar con el indicador pendiente.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_tradnl" sz="1200" dirty="0"/>
              <a:t>AWARDED: para el estatus otorgado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1200" dirty="0"/>
              <a:t>Recuerde guardar la información ingresada.</a:t>
            </a:r>
          </a:p>
          <a:p>
            <a:r>
              <a:rPr lang="es-ES_tradnl" sz="1200" dirty="0"/>
              <a:t>El indicador “Busca” y el estatus “SOUGTH” son usados por el sistema automáticamente para el primer registro que se crea en la página de otorgamiento de grado e implica que el estudiante inició sus estudios en el programa y está buscando obtener el grado/título.</a:t>
            </a:r>
          </a:p>
        </p:txBody>
      </p:sp>
      <p:sp>
        <p:nvSpPr>
          <p:cNvPr id="18" name="Rectángulo redondeado 9">
            <a:extLst>
              <a:ext uri="{FF2B5EF4-FFF2-40B4-BE49-F238E27FC236}">
                <a16:creationId xmlns:a16="http://schemas.microsoft.com/office/drawing/2014/main" id="{E36CE4F7-F1DE-B219-E284-D34AFB7D5D30}"/>
              </a:ext>
            </a:extLst>
          </p:cNvPr>
          <p:cNvSpPr/>
          <p:nvPr/>
        </p:nvSpPr>
        <p:spPr>
          <a:xfrm>
            <a:off x="3143404" y="2895293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7873F75B-2E66-C4EA-009F-B8A3EFA98902}"/>
              </a:ext>
            </a:extLst>
          </p:cNvPr>
          <p:cNvSpPr/>
          <p:nvPr/>
        </p:nvSpPr>
        <p:spPr>
          <a:xfrm>
            <a:off x="3785616" y="2587752"/>
            <a:ext cx="3152795" cy="218697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0" name="Rectángulo redondeado 9">
            <a:extLst>
              <a:ext uri="{FF2B5EF4-FFF2-40B4-BE49-F238E27FC236}">
                <a16:creationId xmlns:a16="http://schemas.microsoft.com/office/drawing/2014/main" id="{735E1A4B-7797-40CA-528E-8CDD9DC42D2B}"/>
              </a:ext>
            </a:extLst>
          </p:cNvPr>
          <p:cNvSpPr/>
          <p:nvPr/>
        </p:nvSpPr>
        <p:spPr>
          <a:xfrm>
            <a:off x="6601515" y="2894335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E85C1E1-F4D2-7CCA-F36F-4F02A9949C3E}"/>
              </a:ext>
            </a:extLst>
          </p:cNvPr>
          <p:cNvSpPr/>
          <p:nvPr/>
        </p:nvSpPr>
        <p:spPr>
          <a:xfrm>
            <a:off x="8153400" y="2587752"/>
            <a:ext cx="3152795" cy="218697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467835FE-7611-E02A-EA2C-682B41AFB7B2}"/>
              </a:ext>
            </a:extLst>
          </p:cNvPr>
          <p:cNvSpPr/>
          <p:nvPr/>
        </p:nvSpPr>
        <p:spPr>
          <a:xfrm>
            <a:off x="10969299" y="2894335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682704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B1C4E-916D-31F5-5E5E-DE5819625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78564B0-2AC0-F5DE-37F8-045E6E27F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940" y="1372025"/>
            <a:ext cx="10899648" cy="4710287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C9E42048-B4A6-34A6-7432-252A49B8C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906" y="248928"/>
            <a:ext cx="10271883" cy="626165"/>
          </a:xfrm>
        </p:spPr>
        <p:txBody>
          <a:bodyPr/>
          <a:lstStyle/>
          <a:p>
            <a:r>
              <a:rPr lang="es-ES_tradnl" dirty="0">
                <a:solidFill>
                  <a:schemeClr val="accent1"/>
                </a:solidFill>
              </a:rPr>
              <a:t>Configuraciones: </a:t>
            </a:r>
            <a:r>
              <a:rPr lang="es-CO" b="0" dirty="0">
                <a:solidFill>
                  <a:schemeClr val="accent1"/>
                </a:solidFill>
              </a:rPr>
              <a:t>Validación de status de graduación (STVGRST)</a:t>
            </a: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71D1C754-06F8-D467-262D-4348F88A4E49}"/>
              </a:ext>
            </a:extLst>
          </p:cNvPr>
          <p:cNvSpPr/>
          <p:nvPr/>
        </p:nvSpPr>
        <p:spPr>
          <a:xfrm>
            <a:off x="10020940" y="1700882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85A6527-E152-9A05-C65F-080B525E09A9}"/>
              </a:ext>
            </a:extLst>
          </p:cNvPr>
          <p:cNvSpPr/>
          <p:nvPr/>
        </p:nvSpPr>
        <p:spPr>
          <a:xfrm>
            <a:off x="10655004" y="1700064"/>
            <a:ext cx="290770" cy="218697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95712FB-A9FD-A796-2727-D8C468AD7D43}"/>
              </a:ext>
            </a:extLst>
          </p:cNvPr>
          <p:cNvSpPr/>
          <p:nvPr/>
        </p:nvSpPr>
        <p:spPr>
          <a:xfrm>
            <a:off x="550640" y="2449992"/>
            <a:ext cx="1541334" cy="218697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7" name="Rectángulo redondeado 5">
            <a:extLst>
              <a:ext uri="{FF2B5EF4-FFF2-40B4-BE49-F238E27FC236}">
                <a16:creationId xmlns:a16="http://schemas.microsoft.com/office/drawing/2014/main" id="{C75929D6-65E0-2A92-9CD0-E8D8F36B8361}"/>
              </a:ext>
            </a:extLst>
          </p:cNvPr>
          <p:cNvSpPr/>
          <p:nvPr/>
        </p:nvSpPr>
        <p:spPr>
          <a:xfrm>
            <a:off x="736472" y="3025411"/>
            <a:ext cx="10133742" cy="1407470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200" dirty="0"/>
              <a:t>En esta página de validación se crean los Códigos de regla de despliegue de solicitud de graduación, estás permitirán generan cargos en la cuenta del estudiante. Para crear un nuevo código:</a:t>
            </a:r>
          </a:p>
          <a:p>
            <a:pPr marL="342900" indent="-342900">
              <a:buFont typeface="+mj-lt"/>
              <a:buAutoNum type="arabicPeriod"/>
            </a:pPr>
            <a:r>
              <a:rPr lang="es-ES_tradnl" sz="1200" dirty="0"/>
              <a:t>Se inserta un registro. </a:t>
            </a:r>
          </a:p>
          <a:p>
            <a:pPr marL="342900" indent="-342900">
              <a:buFont typeface="+mj-lt"/>
              <a:buAutoNum type="arabicPeriod"/>
            </a:pPr>
            <a:r>
              <a:rPr lang="es-ES_tradnl" sz="1200" dirty="0"/>
              <a:t>Se ingresa código: máximo de 3 caracteres</a:t>
            </a:r>
          </a:p>
          <a:p>
            <a:pPr marL="342900" indent="-342900">
              <a:buFont typeface="+mj-lt"/>
              <a:buAutoNum type="arabicPeriod"/>
            </a:pPr>
            <a:r>
              <a:rPr lang="es-ES_tradnl" sz="1200" dirty="0"/>
              <a:t>Se ingresa la descripción correspondiente, máximo de 30 caracteres.</a:t>
            </a:r>
          </a:p>
        </p:txBody>
      </p:sp>
      <p:sp>
        <p:nvSpPr>
          <p:cNvPr id="18" name="Rectángulo redondeado 9">
            <a:extLst>
              <a:ext uri="{FF2B5EF4-FFF2-40B4-BE49-F238E27FC236}">
                <a16:creationId xmlns:a16="http://schemas.microsoft.com/office/drawing/2014/main" id="{8D65840C-C0DD-2FFA-9675-D314E0FF9ED1}"/>
              </a:ext>
            </a:extLst>
          </p:cNvPr>
          <p:cNvSpPr/>
          <p:nvPr/>
        </p:nvSpPr>
        <p:spPr>
          <a:xfrm>
            <a:off x="1194386" y="2713592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20" name="Rectángulo redondeado 9">
            <a:extLst>
              <a:ext uri="{FF2B5EF4-FFF2-40B4-BE49-F238E27FC236}">
                <a16:creationId xmlns:a16="http://schemas.microsoft.com/office/drawing/2014/main" id="{58A13CA3-6050-6DA1-8DBC-268F3F64B653}"/>
              </a:ext>
            </a:extLst>
          </p:cNvPr>
          <p:cNvSpPr/>
          <p:nvPr/>
        </p:nvSpPr>
        <p:spPr>
          <a:xfrm>
            <a:off x="5803343" y="2687446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88F66FE-DC7B-038B-C592-B4A043034DC0}"/>
              </a:ext>
            </a:extLst>
          </p:cNvPr>
          <p:cNvSpPr/>
          <p:nvPr/>
        </p:nvSpPr>
        <p:spPr>
          <a:xfrm>
            <a:off x="2221875" y="2478675"/>
            <a:ext cx="3844691" cy="218697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904500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1003C-7080-D1C9-EDE3-574A1B79E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0B15A767-B0CF-D7A0-D7FF-C837916E9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63" y="4123484"/>
            <a:ext cx="10715625" cy="132963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1234EB1-A082-9855-0115-7C70F23FE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045" y="1327437"/>
            <a:ext cx="10205460" cy="1701799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1470E50-CC26-68F7-CB89-1681110D86E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Gestionar el otorgamiento y registro de grado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F0C0C615-8839-1CE0-A471-DF69AB44B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906" y="248928"/>
            <a:ext cx="10271883" cy="626165"/>
          </a:xfrm>
        </p:spPr>
        <p:txBody>
          <a:bodyPr/>
          <a:lstStyle/>
          <a:p>
            <a:r>
              <a:rPr lang="es-ES_tradnl" dirty="0">
                <a:solidFill>
                  <a:schemeClr val="accent1"/>
                </a:solidFill>
              </a:rPr>
              <a:t>Configuraciones: </a:t>
            </a:r>
            <a:r>
              <a:rPr lang="es-CO" b="0" dirty="0">
                <a:solidFill>
                  <a:schemeClr val="accent1"/>
                </a:solidFill>
              </a:rPr>
              <a:t>Validación de status de graduación (STVGRST)</a:t>
            </a: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A299C15-BE77-D6A9-7C8C-2E2A70BC8CE9}"/>
              </a:ext>
            </a:extLst>
          </p:cNvPr>
          <p:cNvSpPr/>
          <p:nvPr/>
        </p:nvSpPr>
        <p:spPr>
          <a:xfrm>
            <a:off x="9253458" y="1960176"/>
            <a:ext cx="472724" cy="727270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7" name="Rectángulo redondeado 5">
            <a:extLst>
              <a:ext uri="{FF2B5EF4-FFF2-40B4-BE49-F238E27FC236}">
                <a16:creationId xmlns:a16="http://schemas.microsoft.com/office/drawing/2014/main" id="{39B35FC3-DECE-6E9B-E22A-2121D097A31C}"/>
              </a:ext>
            </a:extLst>
          </p:cNvPr>
          <p:cNvSpPr/>
          <p:nvPr/>
        </p:nvSpPr>
        <p:spPr>
          <a:xfrm>
            <a:off x="2104611" y="3164017"/>
            <a:ext cx="7982778" cy="656667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200" dirty="0"/>
              <a:t>4. Actualizar status de grado siguiente: si se activa está casilla, el sistema verifica lo configurado en la página STVDEGS. </a:t>
            </a:r>
          </a:p>
        </p:txBody>
      </p:sp>
      <p:sp>
        <p:nvSpPr>
          <p:cNvPr id="20" name="Rectángulo redondeado 9">
            <a:extLst>
              <a:ext uri="{FF2B5EF4-FFF2-40B4-BE49-F238E27FC236}">
                <a16:creationId xmlns:a16="http://schemas.microsoft.com/office/drawing/2014/main" id="{74FD4A1D-363B-AB6C-4B9B-E40051F3D5BB}"/>
              </a:ext>
            </a:extLst>
          </p:cNvPr>
          <p:cNvSpPr/>
          <p:nvPr/>
        </p:nvSpPr>
        <p:spPr>
          <a:xfrm>
            <a:off x="9253458" y="2707291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  <p:sp>
        <p:nvSpPr>
          <p:cNvPr id="8" name="Rectángulo redondeado 9">
            <a:extLst>
              <a:ext uri="{FF2B5EF4-FFF2-40B4-BE49-F238E27FC236}">
                <a16:creationId xmlns:a16="http://schemas.microsoft.com/office/drawing/2014/main" id="{878D4AEE-5C91-1DEB-71E7-B93268B89063}"/>
              </a:ext>
            </a:extLst>
          </p:cNvPr>
          <p:cNvSpPr/>
          <p:nvPr/>
        </p:nvSpPr>
        <p:spPr>
          <a:xfrm>
            <a:off x="5735579" y="4898700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5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F49D63B-AC6C-B6C7-C76B-AC6ECC3DB0AC}"/>
              </a:ext>
            </a:extLst>
          </p:cNvPr>
          <p:cNvSpPr/>
          <p:nvPr/>
        </p:nvSpPr>
        <p:spPr>
          <a:xfrm>
            <a:off x="5124117" y="4805583"/>
            <a:ext cx="611462" cy="311814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6" name="Rectángulo redondeado 5">
            <a:extLst>
              <a:ext uri="{FF2B5EF4-FFF2-40B4-BE49-F238E27FC236}">
                <a16:creationId xmlns:a16="http://schemas.microsoft.com/office/drawing/2014/main" id="{61AF215B-9CC9-4704-8DDD-3BF3DE7575E4}"/>
              </a:ext>
            </a:extLst>
          </p:cNvPr>
          <p:cNvSpPr/>
          <p:nvPr/>
        </p:nvSpPr>
        <p:spPr>
          <a:xfrm>
            <a:off x="2218372" y="5644629"/>
            <a:ext cx="7982778" cy="656667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200" dirty="0"/>
              <a:t>5. Al actualizar en la página SHADEGR  el  status de graduación, el sistema actualizara el estatus  de resultado con el valor registrado en  ‘Siguiente estatus de grado’, para esté caso ‘GR’ </a:t>
            </a:r>
          </a:p>
        </p:txBody>
      </p:sp>
    </p:spTree>
    <p:extLst>
      <p:ext uri="{BB962C8B-B14F-4D97-AF65-F5344CB8AC3E}">
        <p14:creationId xmlns:p14="http://schemas.microsoft.com/office/powerpoint/2010/main" val="10448207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B6D7E-FADE-EA6F-CAF3-35C5A6843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n 20">
            <a:extLst>
              <a:ext uri="{FF2B5EF4-FFF2-40B4-BE49-F238E27FC236}">
                <a16:creationId xmlns:a16="http://schemas.microsoft.com/office/drawing/2014/main" id="{66453D2F-A90D-CCD4-9394-4686CD6C8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906" y="1301299"/>
            <a:ext cx="11051415" cy="385581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B53C1977-C0A8-18BE-72E1-85E0BAF62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309" y="5293908"/>
            <a:ext cx="7982778" cy="1291220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6438B2-0980-8E9F-626C-396CE6DB1884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Gestionar el otorgamiento y registro de grado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BDCE6B80-EE6B-E4FB-A787-1C1F42BA8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906" y="248928"/>
            <a:ext cx="10271883" cy="626165"/>
          </a:xfrm>
        </p:spPr>
        <p:txBody>
          <a:bodyPr/>
          <a:lstStyle/>
          <a:p>
            <a:r>
              <a:rPr lang="es-ES_tradnl" dirty="0">
                <a:solidFill>
                  <a:schemeClr val="accent1"/>
                </a:solidFill>
              </a:rPr>
              <a:t>Configuraciones: </a:t>
            </a:r>
            <a:r>
              <a:rPr lang="es-CO" b="0" dirty="0">
                <a:solidFill>
                  <a:schemeClr val="accent1"/>
                </a:solidFill>
              </a:rPr>
              <a:t>Validación de status de graduación (STVGRST)</a:t>
            </a: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13057042-8442-E81A-E045-01DBEC29EBA8}"/>
              </a:ext>
            </a:extLst>
          </p:cNvPr>
          <p:cNvSpPr/>
          <p:nvPr/>
        </p:nvSpPr>
        <p:spPr>
          <a:xfrm>
            <a:off x="10020940" y="1700882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6C6EB85-B63F-CF48-5097-ADF48F087D29}"/>
              </a:ext>
            </a:extLst>
          </p:cNvPr>
          <p:cNvSpPr/>
          <p:nvPr/>
        </p:nvSpPr>
        <p:spPr>
          <a:xfrm>
            <a:off x="10655004" y="1700064"/>
            <a:ext cx="290770" cy="218697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FD7DFDD0-E40B-BCD7-C838-8ABCA7B93D89}"/>
              </a:ext>
            </a:extLst>
          </p:cNvPr>
          <p:cNvSpPr/>
          <p:nvPr/>
        </p:nvSpPr>
        <p:spPr>
          <a:xfrm>
            <a:off x="1177624" y="2119530"/>
            <a:ext cx="2175176" cy="395070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0" name="Rectángulo redondeado 9">
            <a:extLst>
              <a:ext uri="{FF2B5EF4-FFF2-40B4-BE49-F238E27FC236}">
                <a16:creationId xmlns:a16="http://schemas.microsoft.com/office/drawing/2014/main" id="{8B26D889-CA11-A1EA-2BF0-C565E5C7D440}"/>
              </a:ext>
            </a:extLst>
          </p:cNvPr>
          <p:cNvSpPr/>
          <p:nvPr/>
        </p:nvSpPr>
        <p:spPr>
          <a:xfrm>
            <a:off x="3352800" y="2159443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7</a:t>
            </a:r>
          </a:p>
        </p:txBody>
      </p:sp>
      <p:sp>
        <p:nvSpPr>
          <p:cNvPr id="8" name="Rectángulo redondeado 9">
            <a:extLst>
              <a:ext uri="{FF2B5EF4-FFF2-40B4-BE49-F238E27FC236}">
                <a16:creationId xmlns:a16="http://schemas.microsoft.com/office/drawing/2014/main" id="{859527FD-1564-D9D7-53F6-7E5195AEFA8A}"/>
              </a:ext>
            </a:extLst>
          </p:cNvPr>
          <p:cNvSpPr/>
          <p:nvPr/>
        </p:nvSpPr>
        <p:spPr>
          <a:xfrm>
            <a:off x="2352612" y="4056324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6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9C9E3D4-F220-4673-0142-0569B626FC97}"/>
              </a:ext>
            </a:extLst>
          </p:cNvPr>
          <p:cNvSpPr/>
          <p:nvPr/>
        </p:nvSpPr>
        <p:spPr>
          <a:xfrm>
            <a:off x="6899016" y="6267758"/>
            <a:ext cx="611462" cy="218697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6" name="Rectángulo redondeado 5">
            <a:extLst>
              <a:ext uri="{FF2B5EF4-FFF2-40B4-BE49-F238E27FC236}">
                <a16:creationId xmlns:a16="http://schemas.microsoft.com/office/drawing/2014/main" id="{F77801BD-31B0-EE3B-D8A7-5E0F6798AEFF}"/>
              </a:ext>
            </a:extLst>
          </p:cNvPr>
          <p:cNvSpPr/>
          <p:nvPr/>
        </p:nvSpPr>
        <p:spPr>
          <a:xfrm>
            <a:off x="2765574" y="3942941"/>
            <a:ext cx="7982778" cy="656667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200" dirty="0"/>
              <a:t>5. Al cambiar el estatus de graduación a AP, el sistema automáticamente deja en Estatus de resultado el valor de ‘GR’, configurado en STVDEGS</a:t>
            </a:r>
          </a:p>
        </p:txBody>
      </p:sp>
      <p:sp>
        <p:nvSpPr>
          <p:cNvPr id="23" name="Rectángulo redondeado 9">
            <a:extLst>
              <a:ext uri="{FF2B5EF4-FFF2-40B4-BE49-F238E27FC236}">
                <a16:creationId xmlns:a16="http://schemas.microsoft.com/office/drawing/2014/main" id="{36E3688F-AC00-2F0B-E98E-5133645F7C89}"/>
              </a:ext>
            </a:extLst>
          </p:cNvPr>
          <p:cNvSpPr/>
          <p:nvPr/>
        </p:nvSpPr>
        <p:spPr>
          <a:xfrm>
            <a:off x="7510478" y="6315383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7406707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54AB7-11A4-C15F-EC1D-8C8E524F3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30A1AB2-423A-A270-32A5-8CB45441C1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2238843"/>
            <a:ext cx="10363202" cy="1333891"/>
          </a:xfrm>
        </p:spPr>
        <p:txBody>
          <a:bodyPr/>
          <a:lstStyle/>
          <a:p>
            <a:r>
              <a:rPr lang="en-US" dirty="0" err="1"/>
              <a:t>Gestionar</a:t>
            </a:r>
            <a:r>
              <a:rPr lang="en-US" dirty="0"/>
              <a:t> el </a:t>
            </a:r>
            <a:r>
              <a:rPr lang="en-US" dirty="0" err="1"/>
              <a:t>Otorgamiento</a:t>
            </a:r>
            <a:r>
              <a:rPr lang="en-US" dirty="0"/>
              <a:t> y </a:t>
            </a:r>
            <a:r>
              <a:rPr lang="en-US" dirty="0" err="1"/>
              <a:t>registro</a:t>
            </a:r>
            <a:r>
              <a:rPr lang="en-US" dirty="0"/>
              <a:t> de Grado - SHADEGR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12353357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Gestionar el otorgamiento y registro de grado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1800808"/>
            <a:ext cx="9337548" cy="1628192"/>
          </a:xfrm>
        </p:spPr>
        <p:txBody>
          <a:bodyPr/>
          <a:lstStyle/>
          <a:p>
            <a:r>
              <a:rPr lang="es-419" dirty="0"/>
              <a:t>Creación del registro de grado: Individual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7273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Gestionar el otorgamiento y registro de grado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br>
              <a:rPr lang="es-CL" dirty="0">
                <a:solidFill>
                  <a:schemeClr val="tx2"/>
                </a:solidFill>
              </a:rPr>
            </a:br>
            <a:endParaRPr lang="es-CL" dirty="0">
              <a:solidFill>
                <a:schemeClr val="tx2"/>
              </a:solidFill>
            </a:endParaRPr>
          </a:p>
        </p:txBody>
      </p:sp>
      <p:sp>
        <p:nvSpPr>
          <p:cNvPr id="6" name="Título 3">
            <a:extLst>
              <a:ext uri="{FF2B5EF4-FFF2-40B4-BE49-F238E27FC236}">
                <a16:creationId xmlns:a16="http://schemas.microsoft.com/office/drawing/2014/main" id="{90BE0BF5-1AB9-29FC-E385-F7406CC2D4B0}"/>
              </a:ext>
            </a:extLst>
          </p:cNvPr>
          <p:cNvSpPr txBox="1">
            <a:spLocks/>
          </p:cNvSpPr>
          <p:nvPr/>
        </p:nvSpPr>
        <p:spPr>
          <a:xfrm>
            <a:off x="962647" y="480392"/>
            <a:ext cx="10271883" cy="62616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dirty="0">
                <a:solidFill>
                  <a:schemeClr val="accent1"/>
                </a:solidFill>
              </a:rPr>
              <a:t>Creación del registro de grado: </a:t>
            </a:r>
            <a:r>
              <a:rPr lang="es-ES_tradnl" b="0" dirty="0">
                <a:solidFill>
                  <a:schemeClr val="accent1"/>
                </a:solidFill>
              </a:rPr>
              <a:t>Individual</a:t>
            </a:r>
            <a:br>
              <a:rPr lang="es-CL" dirty="0">
                <a:solidFill>
                  <a:schemeClr val="accent1"/>
                </a:solidFill>
              </a:rPr>
            </a:br>
            <a:endParaRPr lang="es-CL" dirty="0">
              <a:solidFill>
                <a:schemeClr val="accent1"/>
              </a:solidFill>
            </a:endParaRPr>
          </a:p>
        </p:txBody>
      </p:sp>
      <p:pic>
        <p:nvPicPr>
          <p:cNvPr id="8" name="Imagen 7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DE0A1C15-BA2C-249E-3BD2-DF2B35784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224" y="1172545"/>
            <a:ext cx="10761212" cy="4870037"/>
          </a:xfrm>
          <a:prstGeom prst="rect">
            <a:avLst/>
          </a:prstGeom>
        </p:spPr>
      </p:pic>
      <p:sp>
        <p:nvSpPr>
          <p:cNvPr id="9" name="Rectángulo redondeado 5">
            <a:extLst>
              <a:ext uri="{FF2B5EF4-FFF2-40B4-BE49-F238E27FC236}">
                <a16:creationId xmlns:a16="http://schemas.microsoft.com/office/drawing/2014/main" id="{A3F01052-B319-D534-FA6C-C0CC23C4C488}"/>
              </a:ext>
            </a:extLst>
          </p:cNvPr>
          <p:cNvSpPr/>
          <p:nvPr/>
        </p:nvSpPr>
        <p:spPr>
          <a:xfrm>
            <a:off x="931224" y="2864155"/>
            <a:ext cx="10133742" cy="1754979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200" dirty="0"/>
              <a:t>El concepto de crear el registro de grado equivale a generar en la página de SHADEGR – Grados y otorgamientos formales el registro del estudiante para el o los programas académicos que tenga y registrar los diferentes estatus de graduación.</a:t>
            </a:r>
          </a:p>
          <a:p>
            <a:endParaRPr lang="es-ES_tradnl" sz="1200" dirty="0"/>
          </a:p>
          <a:p>
            <a:r>
              <a:rPr lang="es-419" sz="1200" dirty="0"/>
              <a:t>Se puede crear un registro en esta página siguiendo los pasos que a continuación se indican:</a:t>
            </a:r>
          </a:p>
        </p:txBody>
      </p:sp>
    </p:spTree>
    <p:extLst>
      <p:ext uri="{BB962C8B-B14F-4D97-AF65-F5344CB8AC3E}">
        <p14:creationId xmlns:p14="http://schemas.microsoft.com/office/powerpoint/2010/main" val="3281778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9319C-BAA3-48B3-0DC6-2C0DE8200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4805F7C8-BAC3-A3EF-FF1B-BAF1F4A30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632" y="1104967"/>
            <a:ext cx="10857804" cy="4932789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3059AD4-7B6E-3FBA-8197-93CD96F09204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Gestionar el otorgamiento y registro de grado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87A8A5E-3F76-939D-5F2D-C7059A3FB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br>
              <a:rPr lang="es-CL" b="1" dirty="0">
                <a:effectLst/>
              </a:rPr>
            </a:br>
            <a:endParaRPr lang="es-CL" dirty="0"/>
          </a:p>
        </p:txBody>
      </p:sp>
      <p:sp>
        <p:nvSpPr>
          <p:cNvPr id="6" name="Título 3">
            <a:extLst>
              <a:ext uri="{FF2B5EF4-FFF2-40B4-BE49-F238E27FC236}">
                <a16:creationId xmlns:a16="http://schemas.microsoft.com/office/drawing/2014/main" id="{3D920F8E-5145-2756-63C1-3863F5C5CED9}"/>
              </a:ext>
            </a:extLst>
          </p:cNvPr>
          <p:cNvSpPr txBox="1">
            <a:spLocks/>
          </p:cNvSpPr>
          <p:nvPr/>
        </p:nvSpPr>
        <p:spPr>
          <a:xfrm>
            <a:off x="962647" y="480392"/>
            <a:ext cx="10271883" cy="62616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dirty="0">
                <a:solidFill>
                  <a:schemeClr val="accent1"/>
                </a:solidFill>
              </a:rPr>
              <a:t>Creación del registro de grado: </a:t>
            </a:r>
            <a:r>
              <a:rPr lang="es-ES_tradnl" b="0" dirty="0">
                <a:solidFill>
                  <a:schemeClr val="accent1"/>
                </a:solidFill>
              </a:rPr>
              <a:t>Individual</a:t>
            </a:r>
            <a:br>
              <a:rPr lang="es-CL" dirty="0">
                <a:solidFill>
                  <a:schemeClr val="accent1"/>
                </a:solidFill>
              </a:rPr>
            </a:b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9" name="Rectángulo redondeado 5">
            <a:extLst>
              <a:ext uri="{FF2B5EF4-FFF2-40B4-BE49-F238E27FC236}">
                <a16:creationId xmlns:a16="http://schemas.microsoft.com/office/drawing/2014/main" id="{F3A62A5D-75C2-916E-9F9D-00683988A2EB}"/>
              </a:ext>
            </a:extLst>
          </p:cNvPr>
          <p:cNvSpPr/>
          <p:nvPr/>
        </p:nvSpPr>
        <p:spPr>
          <a:xfrm>
            <a:off x="931224" y="2864155"/>
            <a:ext cx="10133742" cy="1076909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419" sz="1200" dirty="0"/>
              <a:t>Desde la página SGASTDN,</a:t>
            </a:r>
          </a:p>
          <a:p>
            <a:endParaRPr lang="es-ES_tradnl" sz="1200" dirty="0"/>
          </a:p>
          <a:p>
            <a:pPr marL="342900" indent="-342900">
              <a:buFont typeface="+mj-lt"/>
              <a:buAutoNum type="arabicPeriod"/>
            </a:pPr>
            <a:r>
              <a:rPr lang="es-ES_tradnl" sz="1200" dirty="0"/>
              <a:t>Ingrese el ID del estudiante. </a:t>
            </a:r>
          </a:p>
          <a:p>
            <a:pPr marL="342900" indent="-342900">
              <a:buFont typeface="+mj-lt"/>
              <a:buAutoNum type="arabicPeriod"/>
            </a:pPr>
            <a:r>
              <a:rPr lang="es-ES_tradnl" sz="1200" dirty="0"/>
              <a:t>Presione el botón ir.</a:t>
            </a:r>
          </a:p>
        </p:txBody>
      </p:sp>
      <p:sp>
        <p:nvSpPr>
          <p:cNvPr id="7" name="Rectángulo redondeado 9">
            <a:extLst>
              <a:ext uri="{FF2B5EF4-FFF2-40B4-BE49-F238E27FC236}">
                <a16:creationId xmlns:a16="http://schemas.microsoft.com/office/drawing/2014/main" id="{15B8E508-858D-4DD7-67DF-AC9FEC7FC9BB}"/>
              </a:ext>
            </a:extLst>
          </p:cNvPr>
          <p:cNvSpPr/>
          <p:nvPr/>
        </p:nvSpPr>
        <p:spPr>
          <a:xfrm>
            <a:off x="931224" y="1352656"/>
            <a:ext cx="360421" cy="2565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557A56D-EF59-E7D3-6290-073788833F9D}"/>
              </a:ext>
            </a:extLst>
          </p:cNvPr>
          <p:cNvSpPr/>
          <p:nvPr/>
        </p:nvSpPr>
        <p:spPr>
          <a:xfrm>
            <a:off x="1321297" y="1352656"/>
            <a:ext cx="1481161" cy="230710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2E5A707-0D19-32ED-B79F-F766F9A3391C}"/>
              </a:ext>
            </a:extLst>
          </p:cNvPr>
          <p:cNvSpPr/>
          <p:nvPr/>
        </p:nvSpPr>
        <p:spPr>
          <a:xfrm>
            <a:off x="11286359" y="1396737"/>
            <a:ext cx="435730" cy="230710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356E9A84-4FCF-55AC-90F9-C51FB6DF7424}"/>
              </a:ext>
            </a:extLst>
          </p:cNvPr>
          <p:cNvSpPr/>
          <p:nvPr/>
        </p:nvSpPr>
        <p:spPr>
          <a:xfrm>
            <a:off x="10896285" y="1396737"/>
            <a:ext cx="360421" cy="2565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191248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7E867-2F38-0E09-5C99-54F1B5621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7E482003-705E-5FEB-9ECE-85050D8D3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632" y="1104967"/>
            <a:ext cx="10887457" cy="4941623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9EE3056-BCA5-4338-28B0-097AFE253AC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Gestionar el otorgamiento y registro de grado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CC86BDFC-A257-C7B4-AC42-1CAB9A698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br>
              <a:rPr lang="es-CL" b="1" dirty="0">
                <a:effectLst/>
              </a:rPr>
            </a:br>
            <a:endParaRPr lang="es-CL" dirty="0"/>
          </a:p>
        </p:txBody>
      </p:sp>
      <p:sp>
        <p:nvSpPr>
          <p:cNvPr id="6" name="Título 3">
            <a:extLst>
              <a:ext uri="{FF2B5EF4-FFF2-40B4-BE49-F238E27FC236}">
                <a16:creationId xmlns:a16="http://schemas.microsoft.com/office/drawing/2014/main" id="{17EFAB6F-1BF2-4E98-04A9-66FC911B3C3D}"/>
              </a:ext>
            </a:extLst>
          </p:cNvPr>
          <p:cNvSpPr txBox="1">
            <a:spLocks/>
          </p:cNvSpPr>
          <p:nvPr/>
        </p:nvSpPr>
        <p:spPr>
          <a:xfrm>
            <a:off x="962647" y="480392"/>
            <a:ext cx="10271883" cy="62616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dirty="0">
                <a:solidFill>
                  <a:schemeClr val="accent1"/>
                </a:solidFill>
              </a:rPr>
              <a:t>Creación del registro de grado: </a:t>
            </a:r>
            <a:r>
              <a:rPr lang="es-ES_tradnl" b="0" dirty="0">
                <a:solidFill>
                  <a:schemeClr val="accent1"/>
                </a:solidFill>
              </a:rPr>
              <a:t>Individual</a:t>
            </a:r>
            <a:br>
              <a:rPr lang="es-CL" b="0" dirty="0">
                <a:solidFill>
                  <a:schemeClr val="accent1"/>
                </a:solidFill>
              </a:rPr>
            </a:br>
            <a:endParaRPr lang="es-CL" b="0" dirty="0">
              <a:solidFill>
                <a:schemeClr val="accent1"/>
              </a:solidFill>
            </a:endParaRPr>
          </a:p>
        </p:txBody>
      </p:sp>
      <p:sp>
        <p:nvSpPr>
          <p:cNvPr id="9" name="Rectángulo redondeado 5">
            <a:extLst>
              <a:ext uri="{FF2B5EF4-FFF2-40B4-BE49-F238E27FC236}">
                <a16:creationId xmlns:a16="http://schemas.microsoft.com/office/drawing/2014/main" id="{2220038B-BB75-3009-F899-380C804695B4}"/>
              </a:ext>
            </a:extLst>
          </p:cNvPr>
          <p:cNvSpPr/>
          <p:nvPr/>
        </p:nvSpPr>
        <p:spPr>
          <a:xfrm>
            <a:off x="810247" y="4384354"/>
            <a:ext cx="10133742" cy="1220918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 startAt="3"/>
            </a:pPr>
            <a:r>
              <a:rPr lang="es-ES_tradnl" sz="1200" dirty="0"/>
              <a:t>Se ubica sobre la pestaña Currículos . </a:t>
            </a:r>
          </a:p>
          <a:p>
            <a:pPr marL="342900" indent="-342900">
              <a:buFont typeface="+mj-lt"/>
              <a:buAutoNum type="arabicPeriod" startAt="3"/>
            </a:pPr>
            <a:r>
              <a:rPr lang="es-ES_tradnl" sz="1200" dirty="0"/>
              <a:t>Seleccione el registro del programa para el cual desea generar el registro de otorgamiento de grado (debe estar actual-activo y con estatus de plan de estudios activo).</a:t>
            </a:r>
          </a:p>
          <a:p>
            <a:pPr marL="342900" indent="-342900">
              <a:buFont typeface="+mj-lt"/>
              <a:buAutoNum type="arabicPeriod" startAt="3"/>
            </a:pPr>
            <a:r>
              <a:rPr lang="es-ES_tradnl" sz="1200" dirty="0"/>
              <a:t>Presione el botón “Pasar a resultados” (si el botón está inactivo, ya existe un registro en la página SHADEGR para el programa y plan de estudios en cuestión).</a:t>
            </a:r>
          </a:p>
        </p:txBody>
      </p:sp>
      <p:sp>
        <p:nvSpPr>
          <p:cNvPr id="7" name="Rectángulo redondeado 9">
            <a:extLst>
              <a:ext uri="{FF2B5EF4-FFF2-40B4-BE49-F238E27FC236}">
                <a16:creationId xmlns:a16="http://schemas.microsoft.com/office/drawing/2014/main" id="{8E0EC419-F324-23F3-6269-14A79D995ECD}"/>
              </a:ext>
            </a:extLst>
          </p:cNvPr>
          <p:cNvSpPr/>
          <p:nvPr/>
        </p:nvSpPr>
        <p:spPr>
          <a:xfrm>
            <a:off x="931224" y="1352656"/>
            <a:ext cx="360421" cy="2565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3B21717-87EA-DBDD-FFD4-87EBCF825150}"/>
              </a:ext>
            </a:extLst>
          </p:cNvPr>
          <p:cNvSpPr/>
          <p:nvPr/>
        </p:nvSpPr>
        <p:spPr>
          <a:xfrm>
            <a:off x="1321299" y="1578732"/>
            <a:ext cx="580654" cy="152400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B5AFEFA-5DE5-640A-C45E-B10E6DCCBA05}"/>
              </a:ext>
            </a:extLst>
          </p:cNvPr>
          <p:cNvSpPr/>
          <p:nvPr/>
        </p:nvSpPr>
        <p:spPr>
          <a:xfrm>
            <a:off x="859984" y="2355707"/>
            <a:ext cx="3291392" cy="947658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3724B6A7-70A7-BF64-7032-903822595368}"/>
              </a:ext>
            </a:extLst>
          </p:cNvPr>
          <p:cNvSpPr/>
          <p:nvPr/>
        </p:nvSpPr>
        <p:spPr>
          <a:xfrm>
            <a:off x="469911" y="2226457"/>
            <a:ext cx="360421" cy="2565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  <p:sp>
        <p:nvSpPr>
          <p:cNvPr id="13" name="Rectángulo redondeado 9">
            <a:extLst>
              <a:ext uri="{FF2B5EF4-FFF2-40B4-BE49-F238E27FC236}">
                <a16:creationId xmlns:a16="http://schemas.microsoft.com/office/drawing/2014/main" id="{1794E628-F1E9-7C24-3886-A0DA8F8C44B1}"/>
              </a:ext>
            </a:extLst>
          </p:cNvPr>
          <p:cNvSpPr/>
          <p:nvPr/>
        </p:nvSpPr>
        <p:spPr>
          <a:xfrm>
            <a:off x="3236975" y="1875176"/>
            <a:ext cx="360421" cy="2565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5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AD0C4E5-BFB0-E7D3-13BF-0A6836CADC8E}"/>
              </a:ext>
            </a:extLst>
          </p:cNvPr>
          <p:cNvSpPr/>
          <p:nvPr/>
        </p:nvSpPr>
        <p:spPr>
          <a:xfrm>
            <a:off x="2406386" y="2060051"/>
            <a:ext cx="830589" cy="143256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6461494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2B97F-515E-B65E-9765-7C9FA37CA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91B0AC6F-253E-EEA7-B6B7-1CF9F91C8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7" y="1104967"/>
            <a:ext cx="10857970" cy="4941623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BE860EC-394F-3040-A064-50B571B503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Gestionar el otorgamiento y registro de grado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E07F8535-199A-5396-E270-0F77A39CA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br>
              <a:rPr lang="es-CL" b="1" dirty="0">
                <a:effectLst/>
              </a:rPr>
            </a:br>
            <a:endParaRPr lang="es-CL" dirty="0"/>
          </a:p>
        </p:txBody>
      </p:sp>
      <p:sp>
        <p:nvSpPr>
          <p:cNvPr id="6" name="Título 3">
            <a:extLst>
              <a:ext uri="{FF2B5EF4-FFF2-40B4-BE49-F238E27FC236}">
                <a16:creationId xmlns:a16="http://schemas.microsoft.com/office/drawing/2014/main" id="{7A3DF8EC-0978-7037-D37F-C412A935104E}"/>
              </a:ext>
            </a:extLst>
          </p:cNvPr>
          <p:cNvSpPr txBox="1">
            <a:spLocks/>
          </p:cNvSpPr>
          <p:nvPr/>
        </p:nvSpPr>
        <p:spPr>
          <a:xfrm>
            <a:off x="962647" y="480392"/>
            <a:ext cx="10271883" cy="62616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dirty="0">
                <a:solidFill>
                  <a:schemeClr val="accent1"/>
                </a:solidFill>
              </a:rPr>
              <a:t>Creación del registro de grado: </a:t>
            </a:r>
            <a:r>
              <a:rPr lang="es-ES_tradnl" b="0" dirty="0">
                <a:solidFill>
                  <a:schemeClr val="accent1"/>
                </a:solidFill>
              </a:rPr>
              <a:t>Individual</a:t>
            </a:r>
            <a:br>
              <a:rPr lang="es-CL" dirty="0">
                <a:solidFill>
                  <a:schemeClr val="accent1"/>
                </a:solidFill>
              </a:rPr>
            </a:b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9" name="Rectángulo redondeado 5">
            <a:extLst>
              <a:ext uri="{FF2B5EF4-FFF2-40B4-BE49-F238E27FC236}">
                <a16:creationId xmlns:a16="http://schemas.microsoft.com/office/drawing/2014/main" id="{D0AF76A9-FFB4-6CF2-B4BC-3FE90D374D11}"/>
              </a:ext>
            </a:extLst>
          </p:cNvPr>
          <p:cNvSpPr/>
          <p:nvPr/>
        </p:nvSpPr>
        <p:spPr>
          <a:xfrm>
            <a:off x="810247" y="4384354"/>
            <a:ext cx="10133742" cy="1076909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S_tradnl" sz="1200" dirty="0"/>
          </a:p>
          <a:p>
            <a:pPr marL="342900" indent="-342900">
              <a:buFont typeface="+mj-lt"/>
              <a:buAutoNum type="arabicPeriod" startAt="6"/>
            </a:pPr>
            <a:r>
              <a:rPr lang="es-ES_tradnl" sz="1200" dirty="0"/>
              <a:t>Presione el botón Si para confirmar la operación. </a:t>
            </a:r>
          </a:p>
          <a:p>
            <a:pPr marL="342900" indent="-342900">
              <a:buFont typeface="+mj-lt"/>
              <a:buAutoNum type="arabicPeriod" startAt="6"/>
            </a:pPr>
            <a:r>
              <a:rPr lang="es-ES_tradnl" sz="1200" dirty="0"/>
              <a:t>El sistema mostrará un mensaje indicando la creación del registro.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47CCB15-7365-F793-BB66-6421CBFE2B5A}"/>
              </a:ext>
            </a:extLst>
          </p:cNvPr>
          <p:cNvSpPr/>
          <p:nvPr/>
        </p:nvSpPr>
        <p:spPr>
          <a:xfrm>
            <a:off x="6556248" y="3707619"/>
            <a:ext cx="457200" cy="315741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3" name="Rectángulo redondeado 9">
            <a:extLst>
              <a:ext uri="{FF2B5EF4-FFF2-40B4-BE49-F238E27FC236}">
                <a16:creationId xmlns:a16="http://schemas.microsoft.com/office/drawing/2014/main" id="{01E176C6-BEDF-995F-0805-581870C6D30E}"/>
              </a:ext>
            </a:extLst>
          </p:cNvPr>
          <p:cNvSpPr/>
          <p:nvPr/>
        </p:nvSpPr>
        <p:spPr>
          <a:xfrm>
            <a:off x="6095504" y="3542524"/>
            <a:ext cx="360421" cy="2565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6</a:t>
            </a:r>
          </a:p>
        </p:txBody>
      </p:sp>
      <p:pic>
        <p:nvPicPr>
          <p:cNvPr id="16" name="Imagen 15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426364C0-A1F9-523E-BBA4-7B193B376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1808" y="1779514"/>
            <a:ext cx="2277329" cy="646783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A73E54B9-0C92-370E-8BC7-47A7D433CA5B}"/>
              </a:ext>
            </a:extLst>
          </p:cNvPr>
          <p:cNvSpPr/>
          <p:nvPr/>
        </p:nvSpPr>
        <p:spPr>
          <a:xfrm>
            <a:off x="9331808" y="1779514"/>
            <a:ext cx="2277329" cy="677679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AFE20C14-171E-BAB3-CCFE-EE07AEFC437C}"/>
              </a:ext>
            </a:extLst>
          </p:cNvPr>
          <p:cNvSpPr/>
          <p:nvPr/>
        </p:nvSpPr>
        <p:spPr>
          <a:xfrm>
            <a:off x="9051275" y="1939786"/>
            <a:ext cx="360421" cy="256503"/>
          </a:xfrm>
          <a:prstGeom prst="round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5959050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1D38F-353E-3EBE-5672-E5C6F537F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0E87A1B4-79A9-5BC7-4B78-0774A72F0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7" y="1104968"/>
            <a:ext cx="10857970" cy="4935956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6D5433D-6567-78FC-61A8-249976B6CBC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Gestionar el otorgamiento y registro de grado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65FDF178-0A8A-D74B-2360-8301BA824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br>
              <a:rPr lang="es-CL" b="1" dirty="0">
                <a:effectLst/>
              </a:rPr>
            </a:br>
            <a:endParaRPr lang="es-CL" dirty="0"/>
          </a:p>
        </p:txBody>
      </p:sp>
      <p:sp>
        <p:nvSpPr>
          <p:cNvPr id="6" name="Título 3">
            <a:extLst>
              <a:ext uri="{FF2B5EF4-FFF2-40B4-BE49-F238E27FC236}">
                <a16:creationId xmlns:a16="http://schemas.microsoft.com/office/drawing/2014/main" id="{8D8244CF-DCB8-E514-EBF0-D5C721C99368}"/>
              </a:ext>
            </a:extLst>
          </p:cNvPr>
          <p:cNvSpPr txBox="1">
            <a:spLocks/>
          </p:cNvSpPr>
          <p:nvPr/>
        </p:nvSpPr>
        <p:spPr>
          <a:xfrm>
            <a:off x="962647" y="480392"/>
            <a:ext cx="10271883" cy="62616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dirty="0">
                <a:solidFill>
                  <a:schemeClr val="accent1"/>
                </a:solidFill>
              </a:rPr>
              <a:t>Creación del registro de grado: </a:t>
            </a:r>
            <a:r>
              <a:rPr lang="es-ES_tradnl" b="0" dirty="0">
                <a:solidFill>
                  <a:schemeClr val="accent1"/>
                </a:solidFill>
              </a:rPr>
              <a:t>Individual</a:t>
            </a:r>
            <a:br>
              <a:rPr lang="es-CL" dirty="0">
                <a:solidFill>
                  <a:schemeClr val="accent1"/>
                </a:solidFill>
              </a:rPr>
            </a:b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9" name="Rectángulo redondeado 5">
            <a:extLst>
              <a:ext uri="{FF2B5EF4-FFF2-40B4-BE49-F238E27FC236}">
                <a16:creationId xmlns:a16="http://schemas.microsoft.com/office/drawing/2014/main" id="{445D54C5-8847-624A-F25B-3C5A54E4CC17}"/>
              </a:ext>
            </a:extLst>
          </p:cNvPr>
          <p:cNvSpPr/>
          <p:nvPr/>
        </p:nvSpPr>
        <p:spPr>
          <a:xfrm>
            <a:off x="1100788" y="3428999"/>
            <a:ext cx="10133742" cy="1076909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200" dirty="0"/>
              <a:t>Para consultar el registro creado, ingrese a la página SHADEGR:</a:t>
            </a:r>
          </a:p>
          <a:p>
            <a:pPr marL="342900" indent="-342900">
              <a:buFont typeface="+mj-lt"/>
              <a:buAutoNum type="arabicPeriod" startAt="8"/>
            </a:pPr>
            <a:r>
              <a:rPr lang="es-ES_tradnl" sz="1200" dirty="0"/>
              <a:t>Ingrese el ID del estudiante.</a:t>
            </a:r>
          </a:p>
          <a:p>
            <a:pPr marL="342900" indent="-342900">
              <a:buFont typeface="+mj-lt"/>
              <a:buAutoNum type="arabicPeriod" startAt="8"/>
            </a:pPr>
            <a:r>
              <a:rPr lang="es-ES_tradnl" sz="1200" dirty="0"/>
              <a:t>Ingrese la Secuencia de grado indicada en los resultados de SGASTDN (o puede buscar la secuencia por medio del botón de búsqueda …) </a:t>
            </a:r>
          </a:p>
          <a:p>
            <a:pPr marL="342900" indent="-342900">
              <a:buFont typeface="+mj-lt"/>
              <a:buAutoNum type="arabicPeriod" startAt="8"/>
            </a:pPr>
            <a:r>
              <a:rPr lang="es-ES_tradnl" sz="1200" dirty="0"/>
              <a:t>Presione el botón Ir.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2405883-6C66-4B76-4271-7E5F9005902E}"/>
              </a:ext>
            </a:extLst>
          </p:cNvPr>
          <p:cNvSpPr/>
          <p:nvPr/>
        </p:nvSpPr>
        <p:spPr>
          <a:xfrm>
            <a:off x="11298651" y="1376142"/>
            <a:ext cx="360422" cy="256503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3" name="Rectángulo redondeado 9">
            <a:extLst>
              <a:ext uri="{FF2B5EF4-FFF2-40B4-BE49-F238E27FC236}">
                <a16:creationId xmlns:a16="http://schemas.microsoft.com/office/drawing/2014/main" id="{F4BA09BC-6E52-8E75-8619-F3F3387D2EB0}"/>
              </a:ext>
            </a:extLst>
          </p:cNvPr>
          <p:cNvSpPr/>
          <p:nvPr/>
        </p:nvSpPr>
        <p:spPr>
          <a:xfrm>
            <a:off x="10901919" y="1602881"/>
            <a:ext cx="360421" cy="2565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10</a:t>
            </a:r>
          </a:p>
        </p:txBody>
      </p:sp>
      <p:pic>
        <p:nvPicPr>
          <p:cNvPr id="16" name="Imagen 15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90822590-F8A8-E4B8-8E6D-F2F5F0CB6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3856" y="1412454"/>
            <a:ext cx="1967746" cy="558859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27E6F7FF-990E-E919-C15B-E1E81512E6FA}"/>
              </a:ext>
            </a:extLst>
          </p:cNvPr>
          <p:cNvSpPr/>
          <p:nvPr/>
        </p:nvSpPr>
        <p:spPr>
          <a:xfrm>
            <a:off x="5810055" y="1390248"/>
            <a:ext cx="1967746" cy="188486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5C6A5288-0C8D-4309-A960-D7984118CF4A}"/>
              </a:ext>
            </a:extLst>
          </p:cNvPr>
          <p:cNvSpPr/>
          <p:nvPr/>
        </p:nvSpPr>
        <p:spPr>
          <a:xfrm>
            <a:off x="7202902" y="1691883"/>
            <a:ext cx="360421" cy="256503"/>
          </a:xfrm>
          <a:prstGeom prst="round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9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97A30ED2-8DFA-2C83-FE6C-C5760CB597EC}"/>
              </a:ext>
            </a:extLst>
          </p:cNvPr>
          <p:cNvSpPr/>
          <p:nvPr/>
        </p:nvSpPr>
        <p:spPr>
          <a:xfrm>
            <a:off x="9244584" y="1484491"/>
            <a:ext cx="182880" cy="207393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noFill/>
            </a:endParaRP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74F9B685-9858-9481-3B21-DBD334DFEBF0}"/>
              </a:ext>
            </a:extLst>
          </p:cNvPr>
          <p:cNvCxnSpPr>
            <a:endCxn id="10" idx="3"/>
          </p:cNvCxnSpPr>
          <p:nvPr/>
        </p:nvCxnSpPr>
        <p:spPr>
          <a:xfrm flipH="1" flipV="1">
            <a:off x="7777801" y="1484491"/>
            <a:ext cx="1466783" cy="942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4A9553F-8036-E39B-DE02-EBC3884EFAEA}"/>
              </a:ext>
            </a:extLst>
          </p:cNvPr>
          <p:cNvSpPr/>
          <p:nvPr/>
        </p:nvSpPr>
        <p:spPr>
          <a:xfrm>
            <a:off x="1380744" y="1387593"/>
            <a:ext cx="1366910" cy="206144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8" name="Rectángulo redondeado 9">
            <a:extLst>
              <a:ext uri="{FF2B5EF4-FFF2-40B4-BE49-F238E27FC236}">
                <a16:creationId xmlns:a16="http://schemas.microsoft.com/office/drawing/2014/main" id="{CC34B43C-F4E9-314D-6D51-7ED26BD41183}"/>
              </a:ext>
            </a:extLst>
          </p:cNvPr>
          <p:cNvSpPr/>
          <p:nvPr/>
        </p:nvSpPr>
        <p:spPr>
          <a:xfrm>
            <a:off x="2172755" y="1698372"/>
            <a:ext cx="360421" cy="256503"/>
          </a:xfrm>
          <a:prstGeom prst="round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2284943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C6F77-2FC0-B661-3D94-63FED8AA5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DF24D9D2-AE3A-AA63-E5B6-9B437AF61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7" y="1104969"/>
            <a:ext cx="10848826" cy="4918436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3ED44A0-D077-D2C8-ED8B-B78AE68D6709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Gestionar el otorgamiento y registro de grado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6110E6EC-5EA5-D8AF-949C-D5D919BA1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br>
              <a:rPr lang="es-CL" b="1" dirty="0">
                <a:effectLst/>
              </a:rPr>
            </a:br>
            <a:endParaRPr lang="es-CL" dirty="0"/>
          </a:p>
        </p:txBody>
      </p:sp>
      <p:sp>
        <p:nvSpPr>
          <p:cNvPr id="6" name="Título 3">
            <a:extLst>
              <a:ext uri="{FF2B5EF4-FFF2-40B4-BE49-F238E27FC236}">
                <a16:creationId xmlns:a16="http://schemas.microsoft.com/office/drawing/2014/main" id="{FF64B291-8042-E1B9-4459-37706601A38C}"/>
              </a:ext>
            </a:extLst>
          </p:cNvPr>
          <p:cNvSpPr txBox="1">
            <a:spLocks/>
          </p:cNvSpPr>
          <p:nvPr/>
        </p:nvSpPr>
        <p:spPr>
          <a:xfrm>
            <a:off x="962647" y="480392"/>
            <a:ext cx="10271883" cy="62616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dirty="0">
                <a:solidFill>
                  <a:schemeClr val="accent1"/>
                </a:solidFill>
              </a:rPr>
              <a:t>Creación del registro de grado: </a:t>
            </a:r>
            <a:r>
              <a:rPr lang="es-ES_tradnl" b="0" dirty="0">
                <a:solidFill>
                  <a:schemeClr val="accent1"/>
                </a:solidFill>
              </a:rPr>
              <a:t>Individual</a:t>
            </a:r>
            <a:br>
              <a:rPr lang="es-CL" dirty="0">
                <a:solidFill>
                  <a:schemeClr val="accent1"/>
                </a:solidFill>
              </a:rPr>
            </a:b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9" name="Rectángulo redondeado 5">
            <a:extLst>
              <a:ext uri="{FF2B5EF4-FFF2-40B4-BE49-F238E27FC236}">
                <a16:creationId xmlns:a16="http://schemas.microsoft.com/office/drawing/2014/main" id="{11841683-79F6-17F0-18EC-2819C8E11911}"/>
              </a:ext>
            </a:extLst>
          </p:cNvPr>
          <p:cNvSpPr/>
          <p:nvPr/>
        </p:nvSpPr>
        <p:spPr>
          <a:xfrm>
            <a:off x="2395728" y="5225602"/>
            <a:ext cx="5577839" cy="1065469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dirty="0"/>
              <a:t>El sistema generó el registro de grado asociado al programa y plan de estudios correspondiente.</a:t>
            </a:r>
          </a:p>
          <a:p>
            <a:pPr algn="ctr"/>
            <a:r>
              <a:rPr lang="es-ES_tradnl" sz="1100" b="1" dirty="0"/>
              <a:t>Nota</a:t>
            </a:r>
            <a:r>
              <a:rPr lang="es-ES_tradnl" sz="1100" dirty="0"/>
              <a:t>: se pueden crear registros directamente en esta página sin que estén asociados a planes de estudios existentes en SGASTDN, pero con base a reglas curriculares existentes en SOACURR.</a:t>
            </a:r>
          </a:p>
        </p:txBody>
      </p:sp>
    </p:spTree>
    <p:extLst>
      <p:ext uri="{BB962C8B-B14F-4D97-AF65-F5344CB8AC3E}">
        <p14:creationId xmlns:p14="http://schemas.microsoft.com/office/powerpoint/2010/main" val="30299632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Gestionar el otorgamiento y registro de grado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1800808"/>
            <a:ext cx="9337548" cy="1628192"/>
          </a:xfrm>
        </p:spPr>
        <p:txBody>
          <a:bodyPr/>
          <a:lstStyle/>
          <a:p>
            <a:r>
              <a:rPr lang="es-419" dirty="0"/>
              <a:t>Creación del registro de grado: Masivo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9299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Gestionar el otorgamiento y registro de grado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1800808"/>
            <a:ext cx="9337548" cy="1628192"/>
          </a:xfrm>
        </p:spPr>
        <p:txBody>
          <a:bodyPr/>
          <a:lstStyle/>
          <a:p>
            <a:r>
              <a:rPr lang="es-419" b="0" dirty="0"/>
              <a:t>Masivo: Creación desde paso de calificaciones</a:t>
            </a:r>
            <a:endParaRPr lang="en-US" dirty="0"/>
          </a:p>
        </p:txBody>
      </p:sp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448A80DF-6233-73A3-7B9C-0F6F42F5399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3652538"/>
            <a:ext cx="7092820" cy="774441"/>
          </a:xfrm>
        </p:spPr>
        <p:txBody>
          <a:bodyPr/>
          <a:lstStyle/>
          <a:p>
            <a:r>
              <a:rPr lang="es-419" dirty="0"/>
              <a:t>Este es el proceso que se usará para la creación masiva del registro en SHADEGR</a:t>
            </a:r>
          </a:p>
        </p:txBody>
      </p:sp>
    </p:spTree>
    <p:extLst>
      <p:ext uri="{BB962C8B-B14F-4D97-AF65-F5344CB8AC3E}">
        <p14:creationId xmlns:p14="http://schemas.microsoft.com/office/powerpoint/2010/main" val="23129319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Interfaz de usuario gráfica, Aplicación, Teams&#10;&#10;El contenido generado por IA puede ser incorrecto.">
            <a:extLst>
              <a:ext uri="{FF2B5EF4-FFF2-40B4-BE49-F238E27FC236}">
                <a16:creationId xmlns:a16="http://schemas.microsoft.com/office/drawing/2014/main" id="{1081B331-0BDD-853D-4487-C276028AE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7" y="1028640"/>
            <a:ext cx="10948938" cy="4972120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Gestionar el otorgamiento y registro de grado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231036"/>
            <a:ext cx="10271883" cy="626165"/>
          </a:xfrm>
        </p:spPr>
        <p:txBody>
          <a:bodyPr/>
          <a:lstStyle/>
          <a:p>
            <a:r>
              <a:rPr lang="es-ES_tradnl" sz="2800" dirty="0">
                <a:solidFill>
                  <a:schemeClr val="accent1"/>
                </a:solidFill>
              </a:rPr>
              <a:t>Creación del registro de grado: </a:t>
            </a:r>
            <a:r>
              <a:rPr lang="es-ES_tradnl" sz="2800" b="0" dirty="0">
                <a:solidFill>
                  <a:schemeClr val="accent1"/>
                </a:solidFill>
              </a:rPr>
              <a:t>Masivo desde el paso de calificaciones - SHRROLL</a:t>
            </a:r>
            <a:endParaRPr lang="es-CL" b="0" dirty="0">
              <a:solidFill>
                <a:schemeClr val="accent1"/>
              </a:solidFill>
            </a:endParaRPr>
          </a:p>
        </p:txBody>
      </p:sp>
      <p:sp>
        <p:nvSpPr>
          <p:cNvPr id="7" name="Rectángulo redondeado 5">
            <a:extLst>
              <a:ext uri="{FF2B5EF4-FFF2-40B4-BE49-F238E27FC236}">
                <a16:creationId xmlns:a16="http://schemas.microsoft.com/office/drawing/2014/main" id="{B6248C6C-598E-9C2E-15F5-7BB264F7D9E1}"/>
              </a:ext>
            </a:extLst>
          </p:cNvPr>
          <p:cNvSpPr/>
          <p:nvPr/>
        </p:nvSpPr>
        <p:spPr>
          <a:xfrm>
            <a:off x="1424726" y="5391264"/>
            <a:ext cx="8765650" cy="780935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_tradnl" sz="1200" dirty="0"/>
              <a:t>Este proceso se ejecuta como parte del Proceso de cierre de período (Ver instructivo EBP 07 </a:t>
            </a:r>
            <a:r>
              <a:rPr lang="es-419" sz="1200" dirty="0"/>
              <a:t>4.3.6.1  Ejecutar procesos de cierre de periodo académico)</a:t>
            </a:r>
            <a:r>
              <a:rPr lang="es-ES_tradnl" sz="1200" dirty="0"/>
              <a:t>.  Cuando las calificaciones se pasan a la Historia Académica por medio de este proceso, se crea el registro en SHADEGR para los estudiantes que aún no lo tengan creado.</a:t>
            </a:r>
          </a:p>
        </p:txBody>
      </p:sp>
    </p:spTree>
    <p:extLst>
      <p:ext uri="{BB962C8B-B14F-4D97-AF65-F5344CB8AC3E}">
        <p14:creationId xmlns:p14="http://schemas.microsoft.com/office/powerpoint/2010/main" val="42614684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Gestionar el otorgamiento y registro de grado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1800808"/>
            <a:ext cx="9337548" cy="1628192"/>
          </a:xfrm>
        </p:spPr>
        <p:txBody>
          <a:bodyPr/>
          <a:lstStyle/>
          <a:p>
            <a:r>
              <a:rPr lang="es-419" b="0" dirty="0"/>
              <a:t>Masivo: Creación por proceso SHRROUT</a:t>
            </a:r>
            <a:endParaRPr lang="en-US" dirty="0"/>
          </a:p>
        </p:txBody>
      </p:sp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448A80DF-6233-73A3-7B9C-0F6F42F5399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3652538"/>
            <a:ext cx="7092820" cy="774441"/>
          </a:xfrm>
        </p:spPr>
        <p:txBody>
          <a:bodyPr/>
          <a:lstStyle/>
          <a:p>
            <a:r>
              <a:rPr lang="es-419" dirty="0"/>
              <a:t>No se usará, pero se muestra para que se conozca, en caso de ser necesario, cómo generar masivamente el registro en SHADEGR</a:t>
            </a:r>
          </a:p>
        </p:txBody>
      </p:sp>
    </p:spTree>
    <p:extLst>
      <p:ext uri="{BB962C8B-B14F-4D97-AF65-F5344CB8AC3E}">
        <p14:creationId xmlns:p14="http://schemas.microsoft.com/office/powerpoint/2010/main" val="13007032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F5163F7E-C1C4-345D-C771-31F2C0194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02" y="1135077"/>
            <a:ext cx="10872027" cy="4948530"/>
          </a:xfrm>
          <a:prstGeom prst="rect">
            <a:avLst/>
          </a:prstGeom>
        </p:spPr>
      </p:pic>
      <p:sp>
        <p:nvSpPr>
          <p:cNvPr id="6" name="Marcador de texto vertical 5">
            <a:extLst>
              <a:ext uri="{FF2B5EF4-FFF2-40B4-BE49-F238E27FC236}">
                <a16:creationId xmlns:a16="http://schemas.microsoft.com/office/drawing/2014/main" id="{208DCAEE-FA24-09D2-B573-300FACCDA9B6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Gestionar el otorgamiento y registro de grado</a:t>
            </a:r>
            <a:endParaRPr lang="en-US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AC231281-31B5-DB29-F042-43BEA51CC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286" y="489038"/>
            <a:ext cx="10477497" cy="898555"/>
          </a:xfrm>
        </p:spPr>
        <p:txBody>
          <a:bodyPr/>
          <a:lstStyle/>
          <a:p>
            <a:r>
              <a:rPr lang="es-ES_tradnl" dirty="0">
                <a:solidFill>
                  <a:schemeClr val="accent1"/>
                </a:solidFill>
              </a:rPr>
              <a:t>Creación del registro de grado: </a:t>
            </a:r>
            <a:r>
              <a:rPr lang="es-ES_tradnl" b="0" dirty="0">
                <a:solidFill>
                  <a:schemeClr val="accent1"/>
                </a:solidFill>
              </a:rPr>
              <a:t>Masivo desde SHRROUT</a:t>
            </a:r>
            <a:endParaRPr lang="es-419" b="0" dirty="0">
              <a:solidFill>
                <a:schemeClr val="accent1"/>
              </a:solidFill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FC49371F-FFF3-FFC1-FBC5-AB3C41EEBB17}"/>
              </a:ext>
            </a:extLst>
          </p:cNvPr>
          <p:cNvSpPr/>
          <p:nvPr/>
        </p:nvSpPr>
        <p:spPr>
          <a:xfrm>
            <a:off x="2474167" y="5021539"/>
            <a:ext cx="6717737" cy="632295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es-ES_tradnl" sz="1200" dirty="0"/>
              <a:t>Ingrese al proceso </a:t>
            </a:r>
            <a:r>
              <a:rPr lang="es-ES_tradnl" sz="1200" b="1" dirty="0"/>
              <a:t>SHRROUT</a:t>
            </a:r>
            <a:r>
              <a:rPr lang="es-ES_tradnl" sz="1200" dirty="0"/>
              <a:t> desde la página GJAPCTL.</a:t>
            </a:r>
          </a:p>
          <a:p>
            <a:pPr marL="228600" indent="-228600">
              <a:buFont typeface="+mj-lt"/>
              <a:buAutoNum type="arabicPeriod"/>
            </a:pPr>
            <a:r>
              <a:rPr lang="es-ES_tradnl" sz="1200" dirty="0"/>
              <a:t>Presione el botón </a:t>
            </a:r>
            <a:r>
              <a:rPr lang="es-ES_tradnl" sz="1200" b="1" dirty="0"/>
              <a:t>Ir</a:t>
            </a:r>
            <a:r>
              <a:rPr lang="es-CO" sz="1200" dirty="0"/>
              <a:t>.</a:t>
            </a:r>
            <a:endParaRPr lang="es-ES_tradnl" sz="1200" dirty="0"/>
          </a:p>
        </p:txBody>
      </p:sp>
      <p:sp>
        <p:nvSpPr>
          <p:cNvPr id="8" name="Rectángulo redondeado 9">
            <a:extLst>
              <a:ext uri="{FF2B5EF4-FFF2-40B4-BE49-F238E27FC236}">
                <a16:creationId xmlns:a16="http://schemas.microsoft.com/office/drawing/2014/main" id="{78C93792-EC6B-83A8-752E-845F11D2F6B2}"/>
              </a:ext>
            </a:extLst>
          </p:cNvPr>
          <p:cNvSpPr/>
          <p:nvPr/>
        </p:nvSpPr>
        <p:spPr>
          <a:xfrm>
            <a:off x="1026093" y="1672692"/>
            <a:ext cx="360421" cy="2565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FB36CC3-D8E8-EAD7-AABD-25334E338869}"/>
              </a:ext>
            </a:extLst>
          </p:cNvPr>
          <p:cNvSpPr/>
          <p:nvPr/>
        </p:nvSpPr>
        <p:spPr>
          <a:xfrm>
            <a:off x="1026093" y="1388088"/>
            <a:ext cx="1448074" cy="196267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42B57E9-A84D-BA92-935E-6FF07C827D2E}"/>
              </a:ext>
            </a:extLst>
          </p:cNvPr>
          <p:cNvSpPr/>
          <p:nvPr/>
        </p:nvSpPr>
        <p:spPr>
          <a:xfrm>
            <a:off x="11249783" y="1378449"/>
            <a:ext cx="411421" cy="230710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8" name="Rectángulo redondeado 9">
            <a:extLst>
              <a:ext uri="{FF2B5EF4-FFF2-40B4-BE49-F238E27FC236}">
                <a16:creationId xmlns:a16="http://schemas.microsoft.com/office/drawing/2014/main" id="{46AC2744-F443-34A1-3CD2-C6988C6E6D21}"/>
              </a:ext>
            </a:extLst>
          </p:cNvPr>
          <p:cNvSpPr/>
          <p:nvPr/>
        </p:nvSpPr>
        <p:spPr>
          <a:xfrm>
            <a:off x="10797737" y="1512092"/>
            <a:ext cx="360421" cy="2565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146527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4EB21-5145-9CA0-0991-ABC9BE1EA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5C426DF8-9072-15AF-8B81-272C90B29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854" y="1104064"/>
            <a:ext cx="11004703" cy="5028753"/>
          </a:xfrm>
          <a:prstGeom prst="rect">
            <a:avLst/>
          </a:prstGeom>
        </p:spPr>
      </p:pic>
      <p:sp>
        <p:nvSpPr>
          <p:cNvPr id="6" name="Marcador de texto vertical 5">
            <a:extLst>
              <a:ext uri="{FF2B5EF4-FFF2-40B4-BE49-F238E27FC236}">
                <a16:creationId xmlns:a16="http://schemas.microsoft.com/office/drawing/2014/main" id="{AD2C416C-C502-BBF7-395A-94585D0136D5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Gestionar el otorgamiento y registro de grado</a:t>
            </a:r>
            <a:endParaRPr lang="en-US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1B89B716-CC5E-A5A6-2FB6-1907235CC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437733"/>
            <a:ext cx="10477497" cy="898555"/>
          </a:xfrm>
        </p:spPr>
        <p:txBody>
          <a:bodyPr/>
          <a:lstStyle/>
          <a:p>
            <a:r>
              <a:rPr lang="es-ES_tradnl" dirty="0">
                <a:solidFill>
                  <a:schemeClr val="accent1"/>
                </a:solidFill>
              </a:rPr>
              <a:t>Creación del registro de grado: </a:t>
            </a:r>
            <a:r>
              <a:rPr lang="es-ES_tradnl" b="0" dirty="0">
                <a:solidFill>
                  <a:schemeClr val="accent1"/>
                </a:solidFill>
              </a:rPr>
              <a:t>Masivo desde SHRROUT</a:t>
            </a:r>
            <a:endParaRPr lang="es-419" b="0" dirty="0">
              <a:solidFill>
                <a:schemeClr val="accent1"/>
              </a:solidFill>
            </a:endParaRP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301860CA-2C52-4ABA-6AC7-DBD59DD49AF9}"/>
              </a:ext>
            </a:extLst>
          </p:cNvPr>
          <p:cNvSpPr/>
          <p:nvPr/>
        </p:nvSpPr>
        <p:spPr>
          <a:xfrm>
            <a:off x="3007061" y="5334058"/>
            <a:ext cx="6673174" cy="858043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 startAt="3"/>
            </a:pPr>
            <a:r>
              <a:rPr lang="es-ES_tradnl" sz="1100" dirty="0"/>
              <a:t>Defina la impresora como </a:t>
            </a:r>
            <a:r>
              <a:rPr lang="es-ES_tradnl" sz="1100" b="1" dirty="0"/>
              <a:t>DATABASE</a:t>
            </a:r>
          </a:p>
          <a:p>
            <a:pPr marL="228600" indent="-228600">
              <a:buFont typeface="+mj-lt"/>
              <a:buAutoNum type="arabicPeriod" startAt="3"/>
            </a:pPr>
            <a:r>
              <a:rPr lang="es-ES_tradnl" sz="1100" dirty="0"/>
              <a:t>Pase al siguiente bloque.</a:t>
            </a:r>
          </a:p>
          <a:p>
            <a:pPr marL="228600" indent="-228600">
              <a:buFont typeface="+mj-lt"/>
              <a:buAutoNum type="arabicPeriod" startAt="3"/>
            </a:pPr>
            <a:r>
              <a:rPr lang="es-CO" sz="1100" dirty="0"/>
              <a:t>Ingrese los parámetros del proceso, según la tabla que se presenta en la siguiente diapositiva. </a:t>
            </a:r>
          </a:p>
          <a:p>
            <a:r>
              <a:rPr lang="es-CO" sz="1100" dirty="0"/>
              <a:t>Inicialmente se muestras solo 10 parámetros, amplíe los registros por página para ver todos los que se solicitan.</a:t>
            </a:r>
            <a:endParaRPr lang="es-ES_tradnl" sz="1100" dirty="0"/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F8E7E110-9127-9B99-BB62-260B490EE03C}"/>
              </a:ext>
            </a:extLst>
          </p:cNvPr>
          <p:cNvSpPr/>
          <p:nvPr/>
        </p:nvSpPr>
        <p:spPr>
          <a:xfrm>
            <a:off x="2805588" y="1609944"/>
            <a:ext cx="360421" cy="2565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8BB6E30-C224-43D9-0EA4-11A3C5FB8D65}"/>
              </a:ext>
            </a:extLst>
          </p:cNvPr>
          <p:cNvSpPr/>
          <p:nvPr/>
        </p:nvSpPr>
        <p:spPr>
          <a:xfrm>
            <a:off x="1026092" y="1695540"/>
            <a:ext cx="1662243" cy="180051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179F8A4-1011-ACE5-948A-3208F23D0699}"/>
              </a:ext>
            </a:extLst>
          </p:cNvPr>
          <p:cNvSpPr/>
          <p:nvPr/>
        </p:nvSpPr>
        <p:spPr>
          <a:xfrm>
            <a:off x="726854" y="2467067"/>
            <a:ext cx="11096338" cy="2695393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3" name="Rectángulo redondeado 9">
            <a:extLst>
              <a:ext uri="{FF2B5EF4-FFF2-40B4-BE49-F238E27FC236}">
                <a16:creationId xmlns:a16="http://schemas.microsoft.com/office/drawing/2014/main" id="{197C646E-23BF-AC07-60DD-93878BF62D63}"/>
              </a:ext>
            </a:extLst>
          </p:cNvPr>
          <p:cNvSpPr/>
          <p:nvPr/>
        </p:nvSpPr>
        <p:spPr>
          <a:xfrm>
            <a:off x="546643" y="2152461"/>
            <a:ext cx="360421" cy="2565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5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9215CC7-EFDC-A3C6-304B-CB7E11F8EB58}"/>
              </a:ext>
            </a:extLst>
          </p:cNvPr>
          <p:cNvSpPr/>
          <p:nvPr/>
        </p:nvSpPr>
        <p:spPr>
          <a:xfrm>
            <a:off x="965177" y="5862065"/>
            <a:ext cx="278408" cy="198950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5" name="Rectángulo redondeado 9">
            <a:extLst>
              <a:ext uri="{FF2B5EF4-FFF2-40B4-BE49-F238E27FC236}">
                <a16:creationId xmlns:a16="http://schemas.microsoft.com/office/drawing/2014/main" id="{331E79C8-7B0D-F8C0-38F4-8251AFDDB487}"/>
              </a:ext>
            </a:extLst>
          </p:cNvPr>
          <p:cNvSpPr/>
          <p:nvPr/>
        </p:nvSpPr>
        <p:spPr>
          <a:xfrm>
            <a:off x="545031" y="5777114"/>
            <a:ext cx="360421" cy="2565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310778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C37D9-6C5D-0BC9-D830-C2FA70A57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vertical 5">
            <a:extLst>
              <a:ext uri="{FF2B5EF4-FFF2-40B4-BE49-F238E27FC236}">
                <a16:creationId xmlns:a16="http://schemas.microsoft.com/office/drawing/2014/main" id="{4CF96EA2-D555-7F8B-4AE7-8952B89066E7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Gestionar el otorgamiento y registro de grado</a:t>
            </a:r>
            <a:endParaRPr lang="en-US" dirty="0"/>
          </a:p>
        </p:txBody>
      </p:sp>
      <p:graphicFrame>
        <p:nvGraphicFramePr>
          <p:cNvPr id="7" name="Marcador de contenido 3">
            <a:extLst>
              <a:ext uri="{FF2B5EF4-FFF2-40B4-BE49-F238E27FC236}">
                <a16:creationId xmlns:a16="http://schemas.microsoft.com/office/drawing/2014/main" id="{8C6A6086-D954-7273-4B5B-309C527F8771}"/>
              </a:ext>
            </a:extLst>
          </p:cNvPr>
          <p:cNvGraphicFramePr>
            <a:graphicFrameLocks/>
          </p:cNvGraphicFramePr>
          <p:nvPr/>
        </p:nvGraphicFramePr>
        <p:xfrm>
          <a:off x="834131" y="1309162"/>
          <a:ext cx="10748268" cy="48630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237">
                  <a:extLst>
                    <a:ext uri="{9D8B030D-6E8A-4147-A177-3AD203B41FA5}">
                      <a16:colId xmlns:a16="http://schemas.microsoft.com/office/drawing/2014/main" val="249767121"/>
                    </a:ext>
                  </a:extLst>
                </a:gridCol>
                <a:gridCol w="1344325">
                  <a:extLst>
                    <a:ext uri="{9D8B030D-6E8A-4147-A177-3AD203B41FA5}">
                      <a16:colId xmlns:a16="http://schemas.microsoft.com/office/drawing/2014/main" val="915586211"/>
                    </a:ext>
                  </a:extLst>
                </a:gridCol>
                <a:gridCol w="6877455">
                  <a:extLst>
                    <a:ext uri="{9D8B030D-6E8A-4147-A177-3AD203B41FA5}">
                      <a16:colId xmlns:a16="http://schemas.microsoft.com/office/drawing/2014/main" val="523512153"/>
                    </a:ext>
                  </a:extLst>
                </a:gridCol>
                <a:gridCol w="1741251">
                  <a:extLst>
                    <a:ext uri="{9D8B030D-6E8A-4147-A177-3AD203B41FA5}">
                      <a16:colId xmlns:a16="http://schemas.microsoft.com/office/drawing/2014/main" val="1126850053"/>
                    </a:ext>
                  </a:extLst>
                </a:gridCol>
              </a:tblGrid>
              <a:tr h="4939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900" dirty="0">
                          <a:solidFill>
                            <a:schemeClr val="bg1"/>
                          </a:solidFill>
                          <a:effectLst/>
                        </a:rPr>
                        <a:t>Número</a:t>
                      </a:r>
                      <a:endParaRPr lang="es-CO" sz="9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36195" marB="36195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900" dirty="0">
                          <a:solidFill>
                            <a:schemeClr val="bg1"/>
                          </a:solidFill>
                          <a:effectLst/>
                        </a:rPr>
                        <a:t>Parámetro</a:t>
                      </a:r>
                      <a:endParaRPr lang="es-CO" sz="9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36195" marB="3619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s-419" sz="900" dirty="0">
                          <a:solidFill>
                            <a:schemeClr val="bg1"/>
                          </a:solidFill>
                          <a:effectLst/>
                        </a:rPr>
                        <a:t>Valores</a:t>
                      </a:r>
                      <a:endParaRPr lang="es-CO" sz="9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6195" marB="3619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s-419" sz="900" dirty="0">
                          <a:solidFill>
                            <a:schemeClr val="bg1"/>
                          </a:solidFill>
                          <a:effectLst/>
                        </a:rPr>
                        <a:t>Requerido / Opcional</a:t>
                      </a:r>
                      <a:endParaRPr lang="es-CO" sz="9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6195" marB="36195"/>
                </a:tc>
                <a:extLst>
                  <a:ext uri="{0D108BD9-81ED-4DB2-BD59-A6C34878D82A}">
                    <a16:rowId xmlns:a16="http://schemas.microsoft.com/office/drawing/2014/main" val="1714901453"/>
                  </a:ext>
                </a:extLst>
              </a:tr>
              <a:tr h="26473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01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T="48260" marB="4826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Aplicación Selección de Población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T="48260" marB="4826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Ingrese el código de selección de población para la cual se ejecutará el proceso.</a:t>
                      </a:r>
                    </a:p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El instructivo para crear la selección de población puede consultarse en los Procesos Complementarios.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T="48260" marB="4826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O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T="48260" marB="48260"/>
                </a:tc>
                <a:extLst>
                  <a:ext uri="{0D108BD9-81ED-4DB2-BD59-A6C34878D82A}">
                    <a16:rowId xmlns:a16="http://schemas.microsoft.com/office/drawing/2014/main" val="57562266"/>
                  </a:ext>
                </a:extLst>
              </a:tr>
              <a:tr h="44972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02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T="48260" marB="4826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ID de selección de población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T="48260" marB="48260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Ingrese el código de la selección de población para la cual se ejecutará el proceso.</a:t>
                      </a:r>
                      <a:endParaRPr lang="es-419" sz="10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T="48260" marB="4826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O</a:t>
                      </a: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Requerido si se declara parámetro 01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T="48260" marB="48260"/>
                </a:tc>
                <a:extLst>
                  <a:ext uri="{0D108BD9-81ED-4DB2-BD59-A6C34878D82A}">
                    <a16:rowId xmlns:a16="http://schemas.microsoft.com/office/drawing/2014/main" val="1509454192"/>
                  </a:ext>
                </a:extLst>
              </a:tr>
              <a:tr h="5780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1000">
                          <a:solidFill>
                            <a:schemeClr val="tx1"/>
                          </a:solidFill>
                          <a:effectLst/>
                        </a:rPr>
                        <a:t>03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T="48260" marB="4826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ID creador selección población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T="48260" marB="48260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Ingrese el usuario con el cual se creó la selección de población para la cual se ejecutará el proceso.</a:t>
                      </a:r>
                      <a:endParaRPr lang="es-419" sz="10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T="48260" marB="4826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O</a:t>
                      </a: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Requerido si se declara parámetro 01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T="48260" marB="48260"/>
                </a:tc>
                <a:extLst>
                  <a:ext uri="{0D108BD9-81ED-4DB2-BD59-A6C34878D82A}">
                    <a16:rowId xmlns:a16="http://schemas.microsoft.com/office/drawing/2014/main" val="1956190754"/>
                  </a:ext>
                </a:extLst>
              </a:tr>
              <a:tr h="44972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04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T="48260" marB="4826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ID usuario selección población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T="48260" marB="48260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Ingrese el usuario con el cual se pobló la selección de población para la cual se ejecutará el proceso.</a:t>
                      </a:r>
                      <a:endParaRPr lang="es-419" sz="10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T="48260" marB="4826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O</a:t>
                      </a: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Requerido si se declara parámetro 01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T="48260" marB="48260"/>
                </a:tc>
                <a:extLst>
                  <a:ext uri="{0D108BD9-81ED-4DB2-BD59-A6C34878D82A}">
                    <a16:rowId xmlns:a16="http://schemas.microsoft.com/office/drawing/2014/main" val="1700244662"/>
                  </a:ext>
                </a:extLst>
              </a:tr>
              <a:tr h="44972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05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T="48260" marB="4826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ID de banner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T="48260" marB="4826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Ingrese el ID para el cual desea ejecutar el proceso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T="48260" marB="4826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O</a:t>
                      </a: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No se puede declarar si se define selección de población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T="48260" marB="48260"/>
                </a:tc>
                <a:extLst>
                  <a:ext uri="{0D108BD9-81ED-4DB2-BD59-A6C34878D82A}">
                    <a16:rowId xmlns:a16="http://schemas.microsoft.com/office/drawing/2014/main" val="990127115"/>
                  </a:ext>
                </a:extLst>
              </a:tr>
              <a:tr h="26473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06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T="48260" marB="4826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Estatus de </a:t>
                      </a:r>
                      <a:r>
                        <a:rPr lang="es-419" sz="1000" dirty="0" err="1">
                          <a:solidFill>
                            <a:schemeClr val="tx1"/>
                          </a:solidFill>
                          <a:effectLst/>
                        </a:rPr>
                        <a:t>solicit</a:t>
                      </a: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. de </a:t>
                      </a:r>
                      <a:r>
                        <a:rPr lang="es-419" sz="1000" dirty="0" err="1">
                          <a:solidFill>
                            <a:schemeClr val="tx1"/>
                          </a:solidFill>
                          <a:effectLst/>
                        </a:rPr>
                        <a:t>gradcn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T="48260" marB="4826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No se declara.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T="48260" marB="4826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s-CO" sz="1000" dirty="0">
                          <a:solidFill>
                            <a:schemeClr val="tx1"/>
                          </a:solidFill>
                          <a:effectLst/>
                        </a:rPr>
                        <a:t>O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T="48260" marB="48260"/>
                </a:tc>
                <a:extLst>
                  <a:ext uri="{0D108BD9-81ED-4DB2-BD59-A6C34878D82A}">
                    <a16:rowId xmlns:a16="http://schemas.microsoft.com/office/drawing/2014/main" val="1453907063"/>
                  </a:ext>
                </a:extLst>
              </a:tr>
              <a:tr h="44972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07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T="48260" marB="4826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Estatus </a:t>
                      </a:r>
                      <a:r>
                        <a:rPr lang="es-419" sz="1000" dirty="0" err="1">
                          <a:solidFill>
                            <a:schemeClr val="tx1"/>
                          </a:solidFill>
                          <a:effectLst/>
                        </a:rPr>
                        <a:t>solic</a:t>
                      </a: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. </a:t>
                      </a:r>
                      <a:r>
                        <a:rPr lang="es-419" sz="1000" dirty="0" err="1">
                          <a:solidFill>
                            <a:schemeClr val="tx1"/>
                          </a:solidFill>
                          <a:effectLst/>
                        </a:rPr>
                        <a:t>grad</a:t>
                      </a: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 «De fecha»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T="48260" marB="4826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No se declara.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T="48260" marB="4826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O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T="48260" marB="48260"/>
                </a:tc>
                <a:extLst>
                  <a:ext uri="{0D108BD9-81ED-4DB2-BD59-A6C34878D82A}">
                    <a16:rowId xmlns:a16="http://schemas.microsoft.com/office/drawing/2014/main" val="2658827102"/>
                  </a:ext>
                </a:extLst>
              </a:tr>
              <a:tr h="44972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08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T="48260" marB="4826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1000" dirty="0" err="1">
                          <a:solidFill>
                            <a:schemeClr val="tx1"/>
                          </a:solidFill>
                          <a:effectLst/>
                        </a:rPr>
                        <a:t>Fch</a:t>
                      </a: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 fin estatus solicitud </a:t>
                      </a:r>
                      <a:r>
                        <a:rPr lang="es-419" sz="1000" dirty="0" err="1">
                          <a:solidFill>
                            <a:schemeClr val="tx1"/>
                          </a:solidFill>
                          <a:effectLst/>
                        </a:rPr>
                        <a:t>grad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T="48260" marB="4826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No se declara.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T="48260" marB="4826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O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T="48260" marB="48260"/>
                </a:tc>
                <a:extLst>
                  <a:ext uri="{0D108BD9-81ED-4DB2-BD59-A6C34878D82A}">
                    <a16:rowId xmlns:a16="http://schemas.microsoft.com/office/drawing/2014/main" val="1633076062"/>
                  </a:ext>
                </a:extLst>
              </a:tr>
            </a:tbl>
          </a:graphicData>
        </a:graphic>
      </p:graphicFrame>
      <p:sp>
        <p:nvSpPr>
          <p:cNvPr id="4" name="Título 4">
            <a:extLst>
              <a:ext uri="{FF2B5EF4-FFF2-40B4-BE49-F238E27FC236}">
                <a16:creationId xmlns:a16="http://schemas.microsoft.com/office/drawing/2014/main" id="{7D455ED7-AF18-977E-9701-44B4A6075E3F}"/>
              </a:ext>
            </a:extLst>
          </p:cNvPr>
          <p:cNvSpPr txBox="1">
            <a:spLocks/>
          </p:cNvSpPr>
          <p:nvPr/>
        </p:nvSpPr>
        <p:spPr>
          <a:xfrm>
            <a:off x="609601" y="437733"/>
            <a:ext cx="10477497" cy="8985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dirty="0">
                <a:solidFill>
                  <a:schemeClr val="accent1"/>
                </a:solidFill>
              </a:rPr>
              <a:t>Creación del registro de grado: </a:t>
            </a:r>
            <a:r>
              <a:rPr lang="es-ES_tradnl" b="0" dirty="0">
                <a:solidFill>
                  <a:schemeClr val="accent1"/>
                </a:solidFill>
              </a:rPr>
              <a:t>Masivo desde SHRROUT</a:t>
            </a:r>
            <a:endParaRPr lang="es-419" b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99018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39251-0B01-8EE6-5690-D84CA35E7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vertical 5">
            <a:extLst>
              <a:ext uri="{FF2B5EF4-FFF2-40B4-BE49-F238E27FC236}">
                <a16:creationId xmlns:a16="http://schemas.microsoft.com/office/drawing/2014/main" id="{DFD482D1-E0EF-B41E-F172-744943855F4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Gestionar el otorgamiento y registro de grado</a:t>
            </a:r>
            <a:endParaRPr lang="en-US" dirty="0"/>
          </a:p>
        </p:txBody>
      </p:sp>
      <p:graphicFrame>
        <p:nvGraphicFramePr>
          <p:cNvPr id="7" name="Marcador de contenido 3">
            <a:extLst>
              <a:ext uri="{FF2B5EF4-FFF2-40B4-BE49-F238E27FC236}">
                <a16:creationId xmlns:a16="http://schemas.microsoft.com/office/drawing/2014/main" id="{1D5288E8-F014-EE90-1C18-D4C72CDF63A8}"/>
              </a:ext>
            </a:extLst>
          </p:cNvPr>
          <p:cNvGraphicFramePr>
            <a:graphicFrameLocks/>
          </p:cNvGraphicFramePr>
          <p:nvPr/>
        </p:nvGraphicFramePr>
        <p:xfrm>
          <a:off x="834131" y="1263872"/>
          <a:ext cx="10748268" cy="43302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237">
                  <a:extLst>
                    <a:ext uri="{9D8B030D-6E8A-4147-A177-3AD203B41FA5}">
                      <a16:colId xmlns:a16="http://schemas.microsoft.com/office/drawing/2014/main" val="249767121"/>
                    </a:ext>
                  </a:extLst>
                </a:gridCol>
                <a:gridCol w="1344325">
                  <a:extLst>
                    <a:ext uri="{9D8B030D-6E8A-4147-A177-3AD203B41FA5}">
                      <a16:colId xmlns:a16="http://schemas.microsoft.com/office/drawing/2014/main" val="915586211"/>
                    </a:ext>
                  </a:extLst>
                </a:gridCol>
                <a:gridCol w="6877455">
                  <a:extLst>
                    <a:ext uri="{9D8B030D-6E8A-4147-A177-3AD203B41FA5}">
                      <a16:colId xmlns:a16="http://schemas.microsoft.com/office/drawing/2014/main" val="523512153"/>
                    </a:ext>
                  </a:extLst>
                </a:gridCol>
                <a:gridCol w="1741251">
                  <a:extLst>
                    <a:ext uri="{9D8B030D-6E8A-4147-A177-3AD203B41FA5}">
                      <a16:colId xmlns:a16="http://schemas.microsoft.com/office/drawing/2014/main" val="1126850053"/>
                    </a:ext>
                  </a:extLst>
                </a:gridCol>
              </a:tblGrid>
              <a:tr h="4939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900" dirty="0">
                          <a:solidFill>
                            <a:schemeClr val="bg1"/>
                          </a:solidFill>
                          <a:effectLst/>
                        </a:rPr>
                        <a:t>Número</a:t>
                      </a:r>
                      <a:endParaRPr lang="es-CO" sz="9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36195" marB="36195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900" dirty="0">
                          <a:solidFill>
                            <a:schemeClr val="bg1"/>
                          </a:solidFill>
                          <a:effectLst/>
                        </a:rPr>
                        <a:t>Parámetro</a:t>
                      </a:r>
                      <a:endParaRPr lang="es-CO" sz="9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36195" marB="3619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s-419" sz="900" dirty="0">
                          <a:solidFill>
                            <a:schemeClr val="bg1"/>
                          </a:solidFill>
                          <a:effectLst/>
                        </a:rPr>
                        <a:t>Valores</a:t>
                      </a:r>
                      <a:endParaRPr lang="es-CO" sz="9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6195" marB="3619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s-419" sz="900" dirty="0">
                          <a:solidFill>
                            <a:schemeClr val="bg1"/>
                          </a:solidFill>
                          <a:effectLst/>
                        </a:rPr>
                        <a:t>Requerido / Opcional</a:t>
                      </a:r>
                      <a:endParaRPr lang="es-CO" sz="9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6195" marB="36195"/>
                </a:tc>
                <a:extLst>
                  <a:ext uri="{0D108BD9-81ED-4DB2-BD59-A6C34878D82A}">
                    <a16:rowId xmlns:a16="http://schemas.microsoft.com/office/drawing/2014/main" val="1714901453"/>
                  </a:ext>
                </a:extLst>
              </a:tr>
              <a:tr h="42239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09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T="48260" marB="4826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1000" dirty="0" err="1">
                          <a:solidFill>
                            <a:schemeClr val="tx1"/>
                          </a:solidFill>
                          <a:effectLst/>
                        </a:rPr>
                        <a:t>Solicit</a:t>
                      </a: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 graduación «De fecha»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T="48260" marB="48260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No se declara.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T="48260" marB="4826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O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T="48260" marB="48260"/>
                </a:tc>
                <a:extLst>
                  <a:ext uri="{0D108BD9-81ED-4DB2-BD59-A6C34878D82A}">
                    <a16:rowId xmlns:a16="http://schemas.microsoft.com/office/drawing/2014/main" val="2413883266"/>
                  </a:ext>
                </a:extLst>
              </a:tr>
              <a:tr h="30448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T="48260" marB="4826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1000" dirty="0" err="1">
                          <a:solidFill>
                            <a:schemeClr val="tx1"/>
                          </a:solidFill>
                          <a:effectLst/>
                        </a:rPr>
                        <a:t>Fch</a:t>
                      </a: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 fin solicitud graduación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T="48260" marB="48260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No se declara.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T="48260" marB="4826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O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T="48260" marB="48260"/>
                </a:tc>
                <a:extLst>
                  <a:ext uri="{0D108BD9-81ED-4DB2-BD59-A6C34878D82A}">
                    <a16:rowId xmlns:a16="http://schemas.microsoft.com/office/drawing/2014/main" val="2626171868"/>
                  </a:ext>
                </a:extLst>
              </a:tr>
              <a:tr h="38345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11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T="48260" marB="4826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Periodo solicitud graduación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T="48260" marB="4826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No se declara.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T="48260" marB="4826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O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T="48260" marB="48260"/>
                </a:tc>
                <a:extLst>
                  <a:ext uri="{0D108BD9-81ED-4DB2-BD59-A6C34878D82A}">
                    <a16:rowId xmlns:a16="http://schemas.microsoft.com/office/drawing/2014/main" val="57562266"/>
                  </a:ext>
                </a:extLst>
              </a:tr>
              <a:tr h="3609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12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T="48260" marB="4826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Año de graduación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T="48260" marB="48260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No se declara.</a:t>
                      </a:r>
                      <a:endParaRPr lang="es-419" sz="10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T="48260" marB="4826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O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T="48260" marB="48260"/>
                </a:tc>
                <a:extLst>
                  <a:ext uri="{0D108BD9-81ED-4DB2-BD59-A6C34878D82A}">
                    <a16:rowId xmlns:a16="http://schemas.microsoft.com/office/drawing/2014/main" val="1509454192"/>
                  </a:ext>
                </a:extLst>
              </a:tr>
              <a:tr h="4916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13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T="48260" marB="4826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Código de periodo de vigencia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T="48260" marB="48260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Período para el cual se generará el registro en SHADEGR. Debe ser un período en el cual los estudiantes tengan registro en SGASTDN.</a:t>
                      </a:r>
                      <a:endParaRPr lang="es-419" sz="10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T="48260" marB="4826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T="48260" marB="48260"/>
                </a:tc>
                <a:extLst>
                  <a:ext uri="{0D108BD9-81ED-4DB2-BD59-A6C34878D82A}">
                    <a16:rowId xmlns:a16="http://schemas.microsoft.com/office/drawing/2014/main" val="1956190754"/>
                  </a:ext>
                </a:extLst>
              </a:tr>
              <a:tr h="44972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14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T="48260" marB="4826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Aplicar cursos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T="48260" marB="48260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Se indica si los cursos que tenga el estudiante en la historia se aplicarán al registro de SHADEGR. Opciones: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Y: aplicar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N : No aplicar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Si no se declara, se toma el valor definido en SHACTRL.</a:t>
                      </a:r>
                      <a:endParaRPr lang="es-419" sz="10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T="48260" marB="4826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O</a:t>
                      </a:r>
                      <a:endParaRPr lang="es-419" sz="10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T="48260" marB="48260"/>
                </a:tc>
                <a:extLst>
                  <a:ext uri="{0D108BD9-81ED-4DB2-BD59-A6C34878D82A}">
                    <a16:rowId xmlns:a16="http://schemas.microsoft.com/office/drawing/2014/main" val="1700244662"/>
                  </a:ext>
                </a:extLst>
              </a:tr>
              <a:tr h="44972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15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T="48260" marB="4826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Modo de ejecución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T="48260" marB="4826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Ingrese el modo en que se ejecutará el proceso: </a:t>
                      </a:r>
                    </a:p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A (auditoría, no se procesa ningún registro) o </a:t>
                      </a:r>
                    </a:p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U (actualizar, con lo que se procesan los registros)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T="48260" marB="4826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T="48260" marB="48260"/>
                </a:tc>
                <a:extLst>
                  <a:ext uri="{0D108BD9-81ED-4DB2-BD59-A6C34878D82A}">
                    <a16:rowId xmlns:a16="http://schemas.microsoft.com/office/drawing/2014/main" val="990127115"/>
                  </a:ext>
                </a:extLst>
              </a:tr>
              <a:tr h="35612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16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T="48260" marB="4826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Modo impresión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T="48260" marB="4826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s-419" sz="1000" dirty="0">
                          <a:solidFill>
                            <a:schemeClr val="tx1"/>
                          </a:solidFill>
                          <a:effectLst/>
                        </a:rPr>
                        <a:t>D para imprimir detalle; S para imprimir totales.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T="48260" marB="4826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s-CO" sz="1000" dirty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es-CO" sz="1000" dirty="0"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T="48260" marB="48260"/>
                </a:tc>
                <a:extLst>
                  <a:ext uri="{0D108BD9-81ED-4DB2-BD59-A6C34878D82A}">
                    <a16:rowId xmlns:a16="http://schemas.microsoft.com/office/drawing/2014/main" val="1453907063"/>
                  </a:ext>
                </a:extLst>
              </a:tr>
            </a:tbl>
          </a:graphicData>
        </a:graphic>
      </p:graphicFrame>
      <p:sp>
        <p:nvSpPr>
          <p:cNvPr id="4" name="Título 4">
            <a:extLst>
              <a:ext uri="{FF2B5EF4-FFF2-40B4-BE49-F238E27FC236}">
                <a16:creationId xmlns:a16="http://schemas.microsoft.com/office/drawing/2014/main" id="{EA56F363-16C9-7FAD-6D13-A0DBB4952956}"/>
              </a:ext>
            </a:extLst>
          </p:cNvPr>
          <p:cNvSpPr txBox="1">
            <a:spLocks/>
          </p:cNvSpPr>
          <p:nvPr/>
        </p:nvSpPr>
        <p:spPr>
          <a:xfrm>
            <a:off x="609601" y="437733"/>
            <a:ext cx="10477497" cy="8985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dirty="0">
                <a:solidFill>
                  <a:schemeClr val="accent1"/>
                </a:solidFill>
              </a:rPr>
              <a:t>Creación del registro de grado: </a:t>
            </a:r>
            <a:r>
              <a:rPr lang="es-ES_tradnl" b="0" dirty="0">
                <a:solidFill>
                  <a:schemeClr val="accent1"/>
                </a:solidFill>
              </a:rPr>
              <a:t>Masivo desde SHRROUT</a:t>
            </a:r>
            <a:endParaRPr lang="es-419" b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80526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FC01A-C871-E581-74F7-F80D91AE2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9A350607-A2F4-AE20-79AD-0C245D2BD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241" y="1103088"/>
            <a:ext cx="11004703" cy="5028753"/>
          </a:xfrm>
          <a:prstGeom prst="rect">
            <a:avLst/>
          </a:prstGeom>
        </p:spPr>
      </p:pic>
      <p:sp>
        <p:nvSpPr>
          <p:cNvPr id="6" name="Marcador de texto vertical 5">
            <a:extLst>
              <a:ext uri="{FF2B5EF4-FFF2-40B4-BE49-F238E27FC236}">
                <a16:creationId xmlns:a16="http://schemas.microsoft.com/office/drawing/2014/main" id="{08EF7A93-9694-731D-0A4F-1C5B1AC7074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Gestionar el otorgamiento y registro de grado</a:t>
            </a:r>
            <a:endParaRPr lang="en-US" dirty="0"/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659B99A7-F04C-CABB-7BF6-0322A4A50D15}"/>
              </a:ext>
            </a:extLst>
          </p:cNvPr>
          <p:cNvSpPr/>
          <p:nvPr/>
        </p:nvSpPr>
        <p:spPr>
          <a:xfrm>
            <a:off x="3870302" y="4160736"/>
            <a:ext cx="5145930" cy="567879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 startAt="6"/>
            </a:pPr>
            <a:r>
              <a:rPr lang="es-419" sz="1100" dirty="0"/>
              <a:t>Toda vez que se ingresaron los parámetros, pase al siguiente bloque</a:t>
            </a:r>
            <a:r>
              <a:rPr lang="es-ES_tradnl" sz="1100" dirty="0"/>
              <a:t>.</a:t>
            </a:r>
            <a:endParaRPr lang="es-419" sz="1100" dirty="0"/>
          </a:p>
        </p:txBody>
      </p:sp>
      <p:sp>
        <p:nvSpPr>
          <p:cNvPr id="11" name="Título 4">
            <a:extLst>
              <a:ext uri="{FF2B5EF4-FFF2-40B4-BE49-F238E27FC236}">
                <a16:creationId xmlns:a16="http://schemas.microsoft.com/office/drawing/2014/main" id="{6CE9C5BA-78C4-E698-6ED0-D756BABBCE2A}"/>
              </a:ext>
            </a:extLst>
          </p:cNvPr>
          <p:cNvSpPr txBox="1">
            <a:spLocks/>
          </p:cNvSpPr>
          <p:nvPr/>
        </p:nvSpPr>
        <p:spPr>
          <a:xfrm>
            <a:off x="609601" y="437733"/>
            <a:ext cx="10477497" cy="8985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dirty="0">
                <a:solidFill>
                  <a:schemeClr val="accent1"/>
                </a:solidFill>
              </a:rPr>
              <a:t>Creación del registro de grado: </a:t>
            </a:r>
            <a:r>
              <a:rPr lang="es-ES_tradnl" b="0" dirty="0">
                <a:solidFill>
                  <a:schemeClr val="accent1"/>
                </a:solidFill>
              </a:rPr>
              <a:t>Masivo desde SHRROUT</a:t>
            </a:r>
            <a:endParaRPr lang="es-419" b="0" dirty="0">
              <a:solidFill>
                <a:schemeClr val="accent1"/>
              </a:solidFill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288A8BE-AADF-848E-8E7C-E00F0404B173}"/>
              </a:ext>
            </a:extLst>
          </p:cNvPr>
          <p:cNvSpPr/>
          <p:nvPr/>
        </p:nvSpPr>
        <p:spPr>
          <a:xfrm>
            <a:off x="965177" y="5862065"/>
            <a:ext cx="278408" cy="198950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3" name="Rectángulo redondeado 9">
            <a:extLst>
              <a:ext uri="{FF2B5EF4-FFF2-40B4-BE49-F238E27FC236}">
                <a16:creationId xmlns:a16="http://schemas.microsoft.com/office/drawing/2014/main" id="{9957A552-4E7F-B2D2-4CA8-4E8335427606}"/>
              </a:ext>
            </a:extLst>
          </p:cNvPr>
          <p:cNvSpPr/>
          <p:nvPr/>
        </p:nvSpPr>
        <p:spPr>
          <a:xfrm>
            <a:off x="545031" y="5777114"/>
            <a:ext cx="360421" cy="2565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201420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D88B9-8113-A42A-1CD4-609E0A827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CDE5F01B-4C8F-B14E-D834-2972FBC87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241" y="1103088"/>
            <a:ext cx="11004703" cy="5028753"/>
          </a:xfrm>
          <a:prstGeom prst="rect">
            <a:avLst/>
          </a:prstGeom>
        </p:spPr>
      </p:pic>
      <p:sp>
        <p:nvSpPr>
          <p:cNvPr id="6" name="Marcador de texto vertical 5">
            <a:extLst>
              <a:ext uri="{FF2B5EF4-FFF2-40B4-BE49-F238E27FC236}">
                <a16:creationId xmlns:a16="http://schemas.microsoft.com/office/drawing/2014/main" id="{61885429-A498-2770-9DC3-9C67AB3F436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Gestionar el otorgamiento y registro de grado</a:t>
            </a:r>
            <a:endParaRPr lang="en-US" dirty="0"/>
          </a:p>
        </p:txBody>
      </p:sp>
      <p:sp>
        <p:nvSpPr>
          <p:cNvPr id="11" name="Título 4">
            <a:extLst>
              <a:ext uri="{FF2B5EF4-FFF2-40B4-BE49-F238E27FC236}">
                <a16:creationId xmlns:a16="http://schemas.microsoft.com/office/drawing/2014/main" id="{A52C9293-C0F1-A798-5508-B27F62640488}"/>
              </a:ext>
            </a:extLst>
          </p:cNvPr>
          <p:cNvSpPr txBox="1">
            <a:spLocks/>
          </p:cNvSpPr>
          <p:nvPr/>
        </p:nvSpPr>
        <p:spPr>
          <a:xfrm>
            <a:off x="609601" y="437733"/>
            <a:ext cx="10477497" cy="8985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dirty="0">
                <a:solidFill>
                  <a:schemeClr val="accent1"/>
                </a:solidFill>
              </a:rPr>
              <a:t>Creación del registro de grado: </a:t>
            </a:r>
            <a:r>
              <a:rPr lang="es-ES_tradnl" b="0" dirty="0">
                <a:solidFill>
                  <a:schemeClr val="accent1"/>
                </a:solidFill>
              </a:rPr>
              <a:t>Masivo desde SHRROUT</a:t>
            </a:r>
            <a:endParaRPr lang="es-419" b="0" dirty="0">
              <a:solidFill>
                <a:schemeClr val="accent1"/>
              </a:solidFill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950BAA9-3666-599D-16B1-BA61D95C6016}"/>
              </a:ext>
            </a:extLst>
          </p:cNvPr>
          <p:cNvSpPr/>
          <p:nvPr/>
        </p:nvSpPr>
        <p:spPr>
          <a:xfrm>
            <a:off x="7311112" y="5305088"/>
            <a:ext cx="433855" cy="171552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3" name="Rectángulo redondeado 9">
            <a:extLst>
              <a:ext uri="{FF2B5EF4-FFF2-40B4-BE49-F238E27FC236}">
                <a16:creationId xmlns:a16="http://schemas.microsoft.com/office/drawing/2014/main" id="{B5DE8852-F325-AC90-8311-81CA682234BE}"/>
              </a:ext>
            </a:extLst>
          </p:cNvPr>
          <p:cNvSpPr/>
          <p:nvPr/>
        </p:nvSpPr>
        <p:spPr>
          <a:xfrm>
            <a:off x="7824031" y="5134361"/>
            <a:ext cx="360421" cy="2565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7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9472D8E4-0CEB-1692-EA5F-8DE678249909}"/>
              </a:ext>
            </a:extLst>
          </p:cNvPr>
          <p:cNvSpPr/>
          <p:nvPr/>
        </p:nvSpPr>
        <p:spPr>
          <a:xfrm>
            <a:off x="2948728" y="4393307"/>
            <a:ext cx="5145930" cy="567879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 startAt="7"/>
            </a:pPr>
            <a:r>
              <a:rPr lang="es-ES_tradnl" sz="1100" dirty="0"/>
              <a:t>Seleccione la opción enviar.</a:t>
            </a:r>
          </a:p>
          <a:p>
            <a:pPr marL="228600" indent="-228600">
              <a:buFont typeface="+mj-lt"/>
              <a:buAutoNum type="arabicPeriod" startAt="7"/>
            </a:pPr>
            <a:r>
              <a:rPr lang="es-ES_tradnl" sz="1100" dirty="0"/>
              <a:t>Guarde la información.</a:t>
            </a:r>
            <a:endParaRPr lang="es-419" sz="110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98501B8-6CF3-3DA5-9D83-297CD7AA1997}"/>
              </a:ext>
            </a:extLst>
          </p:cNvPr>
          <p:cNvSpPr/>
          <p:nvPr/>
        </p:nvSpPr>
        <p:spPr>
          <a:xfrm>
            <a:off x="11288934" y="5839863"/>
            <a:ext cx="459298" cy="255402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5" name="Rectángulo redondeado 9">
            <a:extLst>
              <a:ext uri="{FF2B5EF4-FFF2-40B4-BE49-F238E27FC236}">
                <a16:creationId xmlns:a16="http://schemas.microsoft.com/office/drawing/2014/main" id="{BADD590A-AF88-56AB-34AE-ED5E40F23DE8}"/>
              </a:ext>
            </a:extLst>
          </p:cNvPr>
          <p:cNvSpPr/>
          <p:nvPr/>
        </p:nvSpPr>
        <p:spPr>
          <a:xfrm>
            <a:off x="10850501" y="5791488"/>
            <a:ext cx="360421" cy="2565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248226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8C401-9835-D5C0-C22D-7D3B102D4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C5E303F0-4436-C55F-4971-5D6F0EE51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914622"/>
            <a:ext cx="11041393" cy="5028753"/>
          </a:xfrm>
          <a:prstGeom prst="rect">
            <a:avLst/>
          </a:prstGeom>
        </p:spPr>
      </p:pic>
      <p:sp>
        <p:nvSpPr>
          <p:cNvPr id="6" name="Marcador de texto vertical 5">
            <a:extLst>
              <a:ext uri="{FF2B5EF4-FFF2-40B4-BE49-F238E27FC236}">
                <a16:creationId xmlns:a16="http://schemas.microsoft.com/office/drawing/2014/main" id="{F0683EC2-479A-FFCE-B75E-FB1CA52765F9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Gestionar el otorgamiento y registro de grado</a:t>
            </a:r>
            <a:endParaRPr lang="en-US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8C311784-A17B-1F6E-E9AB-DBE0CF6DB0AE}"/>
              </a:ext>
            </a:extLst>
          </p:cNvPr>
          <p:cNvSpPr/>
          <p:nvPr/>
        </p:nvSpPr>
        <p:spPr>
          <a:xfrm>
            <a:off x="5532119" y="1655257"/>
            <a:ext cx="4378309" cy="530159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dirty="0"/>
              <a:t>El sistema asignará un número al proceso ejecutado.</a:t>
            </a:r>
          </a:p>
        </p:txBody>
      </p:sp>
      <p:sp>
        <p:nvSpPr>
          <p:cNvPr id="12" name="Título 4">
            <a:extLst>
              <a:ext uri="{FF2B5EF4-FFF2-40B4-BE49-F238E27FC236}">
                <a16:creationId xmlns:a16="http://schemas.microsoft.com/office/drawing/2014/main" id="{BC1F2422-BB1B-7D28-CC30-D621C9DEC73F}"/>
              </a:ext>
            </a:extLst>
          </p:cNvPr>
          <p:cNvSpPr txBox="1">
            <a:spLocks/>
          </p:cNvSpPr>
          <p:nvPr/>
        </p:nvSpPr>
        <p:spPr>
          <a:xfrm>
            <a:off x="609601" y="437733"/>
            <a:ext cx="10477497" cy="8985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dirty="0">
                <a:solidFill>
                  <a:schemeClr val="accent1"/>
                </a:solidFill>
              </a:rPr>
              <a:t>Creación del registro de grado: </a:t>
            </a:r>
            <a:r>
              <a:rPr lang="es-ES_tradnl" b="0" dirty="0">
                <a:solidFill>
                  <a:schemeClr val="accent1"/>
                </a:solidFill>
              </a:rPr>
              <a:t>Masivo desde SHRROUT</a:t>
            </a:r>
            <a:endParaRPr lang="es-419" b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77623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8A405-98FB-1330-AF34-725C52559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9F186043-0B50-DD68-59E2-597750698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31387"/>
            <a:ext cx="10990391" cy="5013865"/>
          </a:xfrm>
          <a:prstGeom prst="rect">
            <a:avLst/>
          </a:prstGeom>
        </p:spPr>
      </p:pic>
      <p:sp>
        <p:nvSpPr>
          <p:cNvPr id="6" name="Marcador de texto vertical 5">
            <a:extLst>
              <a:ext uri="{FF2B5EF4-FFF2-40B4-BE49-F238E27FC236}">
                <a16:creationId xmlns:a16="http://schemas.microsoft.com/office/drawing/2014/main" id="{A8BE4053-A69D-403A-7083-120F29A0E797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Gestionar el otorgamiento y registro de grado</a:t>
            </a:r>
            <a:endParaRPr lang="en-US" dirty="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267ED7D3-C32B-0153-A0EA-65533AF974AF}"/>
              </a:ext>
            </a:extLst>
          </p:cNvPr>
          <p:cNvSpPr/>
          <p:nvPr/>
        </p:nvSpPr>
        <p:spPr>
          <a:xfrm>
            <a:off x="2742369" y="3640246"/>
            <a:ext cx="5145930" cy="567879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 startAt="9"/>
            </a:pPr>
            <a:r>
              <a:rPr lang="es-ES_tradnl" sz="1100" dirty="0"/>
              <a:t>Presione la opción </a:t>
            </a:r>
            <a:r>
              <a:rPr lang="es-ES_tradnl" sz="1100" b="1" dirty="0"/>
              <a:t>Relacionado</a:t>
            </a:r>
            <a:r>
              <a:rPr lang="es-ES_tradnl" sz="1100" dirty="0"/>
              <a:t> en la barra superior.</a:t>
            </a:r>
          </a:p>
          <a:p>
            <a:pPr marL="228600" indent="-228600">
              <a:buFont typeface="+mj-lt"/>
              <a:buAutoNum type="arabicPeriod" startAt="9"/>
            </a:pPr>
            <a:r>
              <a:rPr lang="es-ES_tradnl" sz="1100" dirty="0"/>
              <a:t>Seleccione </a:t>
            </a:r>
            <a:r>
              <a:rPr lang="es-ES_tradnl" sz="1100" b="1" dirty="0"/>
              <a:t>Revisar Salida </a:t>
            </a:r>
            <a:r>
              <a:rPr lang="es-ES_tradnl" sz="1100" dirty="0"/>
              <a:t>(GJIREVO).</a:t>
            </a:r>
          </a:p>
        </p:txBody>
      </p:sp>
      <p:sp>
        <p:nvSpPr>
          <p:cNvPr id="2" name="Título 4">
            <a:extLst>
              <a:ext uri="{FF2B5EF4-FFF2-40B4-BE49-F238E27FC236}">
                <a16:creationId xmlns:a16="http://schemas.microsoft.com/office/drawing/2014/main" id="{DDE16F36-417F-DD1E-E555-62A0283CA616}"/>
              </a:ext>
            </a:extLst>
          </p:cNvPr>
          <p:cNvSpPr txBox="1">
            <a:spLocks/>
          </p:cNvSpPr>
          <p:nvPr/>
        </p:nvSpPr>
        <p:spPr>
          <a:xfrm>
            <a:off x="609601" y="437733"/>
            <a:ext cx="10477497" cy="8985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dirty="0">
                <a:solidFill>
                  <a:schemeClr val="accent1"/>
                </a:solidFill>
              </a:rPr>
              <a:t>Creación del registro de grado: </a:t>
            </a:r>
            <a:r>
              <a:rPr lang="es-ES_tradnl" b="0" dirty="0">
                <a:solidFill>
                  <a:schemeClr val="accent1"/>
                </a:solidFill>
              </a:rPr>
              <a:t>Masivo desde SHRROUT</a:t>
            </a:r>
            <a:endParaRPr lang="es-419" b="0" dirty="0">
              <a:solidFill>
                <a:schemeClr val="accent1"/>
              </a:solidFill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604BBDE1-EEE6-915F-A991-9931D63AFB64}"/>
              </a:ext>
            </a:extLst>
          </p:cNvPr>
          <p:cNvSpPr/>
          <p:nvPr/>
        </p:nvSpPr>
        <p:spPr>
          <a:xfrm>
            <a:off x="10442448" y="1031387"/>
            <a:ext cx="281656" cy="208128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8" name="Rectángulo redondeado 9">
            <a:extLst>
              <a:ext uri="{FF2B5EF4-FFF2-40B4-BE49-F238E27FC236}">
                <a16:creationId xmlns:a16="http://schemas.microsoft.com/office/drawing/2014/main" id="{CB469370-7104-96AC-64D8-D3FB9C388E20}"/>
              </a:ext>
            </a:extLst>
          </p:cNvPr>
          <p:cNvSpPr/>
          <p:nvPr/>
        </p:nvSpPr>
        <p:spPr>
          <a:xfrm>
            <a:off x="10021067" y="903135"/>
            <a:ext cx="360421" cy="2565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9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6DBFFF9D-AB16-697D-0EA3-9CA867B2056A}"/>
              </a:ext>
            </a:extLst>
          </p:cNvPr>
          <p:cNvSpPr/>
          <p:nvPr/>
        </p:nvSpPr>
        <p:spPr>
          <a:xfrm>
            <a:off x="10151838" y="1464540"/>
            <a:ext cx="1205009" cy="288752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0" name="Rectángulo redondeado 9">
            <a:extLst>
              <a:ext uri="{FF2B5EF4-FFF2-40B4-BE49-F238E27FC236}">
                <a16:creationId xmlns:a16="http://schemas.microsoft.com/office/drawing/2014/main" id="{77D3AB39-3242-770C-3550-B2E0852D5573}"/>
              </a:ext>
            </a:extLst>
          </p:cNvPr>
          <p:cNvSpPr/>
          <p:nvPr/>
        </p:nvSpPr>
        <p:spPr>
          <a:xfrm>
            <a:off x="9730457" y="1753292"/>
            <a:ext cx="360421" cy="2565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6616936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BD0FF-1581-F613-2387-086E67A60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1B667277-1045-6AE2-B3F4-718CE3E38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646" y="1028689"/>
            <a:ext cx="11033760" cy="5039403"/>
          </a:xfrm>
          <a:prstGeom prst="rect">
            <a:avLst/>
          </a:prstGeom>
        </p:spPr>
      </p:pic>
      <p:sp>
        <p:nvSpPr>
          <p:cNvPr id="6" name="Marcador de texto vertical 5">
            <a:extLst>
              <a:ext uri="{FF2B5EF4-FFF2-40B4-BE49-F238E27FC236}">
                <a16:creationId xmlns:a16="http://schemas.microsoft.com/office/drawing/2014/main" id="{422206DA-F05D-569A-5D36-8944EB5D7724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Gestionar el otorgamiento y registro de grado</a:t>
            </a:r>
            <a:endParaRPr lang="en-US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9CE89DA0-263A-E0E0-8BD2-9868FC7E2899}"/>
              </a:ext>
            </a:extLst>
          </p:cNvPr>
          <p:cNvSpPr/>
          <p:nvPr/>
        </p:nvSpPr>
        <p:spPr>
          <a:xfrm>
            <a:off x="3192418" y="4872079"/>
            <a:ext cx="5807163" cy="1083661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 startAt="11"/>
            </a:pPr>
            <a:r>
              <a:rPr lang="es-ES_tradnl" sz="1100" dirty="0"/>
              <a:t>Automáticamente, la página muestra el código  del proceso y el número asignado.</a:t>
            </a:r>
          </a:p>
          <a:p>
            <a:pPr marL="228600" indent="-228600">
              <a:buFont typeface="+mj-lt"/>
              <a:buAutoNum type="arabicPeriod" startAt="11"/>
            </a:pPr>
            <a:r>
              <a:rPr lang="es-ES_tradnl" sz="1100" dirty="0"/>
              <a:t>Presione los tres puntos del campo </a:t>
            </a:r>
            <a:r>
              <a:rPr lang="es-ES_tradnl" sz="1100" b="1" dirty="0"/>
              <a:t>Nombre de archivo</a:t>
            </a:r>
            <a:r>
              <a:rPr lang="es-ES_tradnl" sz="1100" dirty="0"/>
              <a:t>.</a:t>
            </a:r>
          </a:p>
          <a:p>
            <a:pPr marL="228600" indent="-228600">
              <a:buFont typeface="+mj-lt"/>
              <a:buAutoNum type="arabicPeriod" startAt="11"/>
            </a:pPr>
            <a:r>
              <a:rPr lang="es-ES_tradnl" sz="1100" dirty="0"/>
              <a:t>Seleccione, de la ventana que emergió, el archivo .lis que se muestra (se despliega solamente si el proceso terminó su ejecución), presionando el botón </a:t>
            </a:r>
            <a:r>
              <a:rPr lang="es-ES_tradnl" sz="1100" b="1" dirty="0"/>
              <a:t>OK</a:t>
            </a:r>
          </a:p>
        </p:txBody>
      </p:sp>
      <p:sp>
        <p:nvSpPr>
          <p:cNvPr id="9" name="Título 4">
            <a:extLst>
              <a:ext uri="{FF2B5EF4-FFF2-40B4-BE49-F238E27FC236}">
                <a16:creationId xmlns:a16="http://schemas.microsoft.com/office/drawing/2014/main" id="{78C48BBF-5E05-6E04-C362-178ECC1C680B}"/>
              </a:ext>
            </a:extLst>
          </p:cNvPr>
          <p:cNvSpPr txBox="1">
            <a:spLocks/>
          </p:cNvSpPr>
          <p:nvPr/>
        </p:nvSpPr>
        <p:spPr>
          <a:xfrm>
            <a:off x="609601" y="437733"/>
            <a:ext cx="10477497" cy="8985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dirty="0">
                <a:solidFill>
                  <a:schemeClr val="accent1"/>
                </a:solidFill>
              </a:rPr>
              <a:t>Creación del registro de grado: </a:t>
            </a:r>
            <a:r>
              <a:rPr lang="es-ES_tradnl" b="0" dirty="0">
                <a:solidFill>
                  <a:schemeClr val="accent1"/>
                </a:solidFill>
              </a:rPr>
              <a:t>Masivo desde SHRROUT</a:t>
            </a:r>
            <a:endParaRPr lang="es-419" b="0" dirty="0">
              <a:solidFill>
                <a:schemeClr val="accent1"/>
              </a:solidFill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049BD56-6ABF-B039-7399-FD0132450AB7}"/>
              </a:ext>
            </a:extLst>
          </p:cNvPr>
          <p:cNvSpPr/>
          <p:nvPr/>
        </p:nvSpPr>
        <p:spPr>
          <a:xfrm>
            <a:off x="6210774" y="1271016"/>
            <a:ext cx="1470186" cy="201168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3" name="Rectángulo redondeado 9">
            <a:extLst>
              <a:ext uri="{FF2B5EF4-FFF2-40B4-BE49-F238E27FC236}">
                <a16:creationId xmlns:a16="http://schemas.microsoft.com/office/drawing/2014/main" id="{4E8D6E82-9EDC-6264-CFA7-39DDD001D456}"/>
              </a:ext>
            </a:extLst>
          </p:cNvPr>
          <p:cNvSpPr/>
          <p:nvPr/>
        </p:nvSpPr>
        <p:spPr>
          <a:xfrm>
            <a:off x="7791929" y="1215681"/>
            <a:ext cx="360421" cy="2565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11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B9DB5CD-B832-A3C1-52A1-1326C98C6F3A}"/>
              </a:ext>
            </a:extLst>
          </p:cNvPr>
          <p:cNvSpPr/>
          <p:nvPr/>
        </p:nvSpPr>
        <p:spPr>
          <a:xfrm>
            <a:off x="813078" y="1435608"/>
            <a:ext cx="1758072" cy="201168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5" name="Rectángulo redondeado 9">
            <a:extLst>
              <a:ext uri="{FF2B5EF4-FFF2-40B4-BE49-F238E27FC236}">
                <a16:creationId xmlns:a16="http://schemas.microsoft.com/office/drawing/2014/main" id="{C4947F97-3EDA-219D-E53A-E7463EDA3A0B}"/>
              </a:ext>
            </a:extLst>
          </p:cNvPr>
          <p:cNvSpPr/>
          <p:nvPr/>
        </p:nvSpPr>
        <p:spPr>
          <a:xfrm>
            <a:off x="1895411" y="1670741"/>
            <a:ext cx="360421" cy="2565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12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B65A3148-6272-5F4F-1480-64F17B36A290}"/>
              </a:ext>
            </a:extLst>
          </p:cNvPr>
          <p:cNvSpPr/>
          <p:nvPr/>
        </p:nvSpPr>
        <p:spPr>
          <a:xfrm>
            <a:off x="4808693" y="3227832"/>
            <a:ext cx="3053339" cy="118872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5" name="Rectángulo redondeado 9">
            <a:extLst>
              <a:ext uri="{FF2B5EF4-FFF2-40B4-BE49-F238E27FC236}">
                <a16:creationId xmlns:a16="http://schemas.microsoft.com/office/drawing/2014/main" id="{37F2A453-ABEC-A0AE-90B1-1FE4A9119719}"/>
              </a:ext>
            </a:extLst>
          </p:cNvPr>
          <p:cNvSpPr/>
          <p:nvPr/>
        </p:nvSpPr>
        <p:spPr>
          <a:xfrm>
            <a:off x="7862032" y="4538484"/>
            <a:ext cx="360421" cy="2565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13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F4825933-0A48-080D-C005-AEE5B8EA1DB6}"/>
              </a:ext>
            </a:extLst>
          </p:cNvPr>
          <p:cNvSpPr/>
          <p:nvPr/>
        </p:nvSpPr>
        <p:spPr>
          <a:xfrm>
            <a:off x="7324344" y="4468147"/>
            <a:ext cx="528544" cy="249748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0372DDE3-2B6E-FC32-0800-4578CB3F3020}"/>
              </a:ext>
            </a:extLst>
          </p:cNvPr>
          <p:cNvCxnSpPr>
            <a:stCxn id="24" idx="2"/>
          </p:cNvCxnSpPr>
          <p:nvPr/>
        </p:nvCxnSpPr>
        <p:spPr>
          <a:xfrm>
            <a:off x="6335363" y="3346704"/>
            <a:ext cx="1253253" cy="11214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0803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22976-A8D4-A48A-AE71-4AB6FAB29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, Teams&#10;&#10;El contenido generado por IA puede ser incorrecto.">
            <a:extLst>
              <a:ext uri="{FF2B5EF4-FFF2-40B4-BE49-F238E27FC236}">
                <a16:creationId xmlns:a16="http://schemas.microsoft.com/office/drawing/2014/main" id="{6E330975-1F97-B7F8-CDC5-4EC139B82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527" y="1074281"/>
            <a:ext cx="11150241" cy="5097918"/>
          </a:xfrm>
          <a:prstGeom prst="rect">
            <a:avLst/>
          </a:prstGeom>
        </p:spPr>
      </p:pic>
      <p:sp>
        <p:nvSpPr>
          <p:cNvPr id="6" name="Marcador de texto vertical 5">
            <a:extLst>
              <a:ext uri="{FF2B5EF4-FFF2-40B4-BE49-F238E27FC236}">
                <a16:creationId xmlns:a16="http://schemas.microsoft.com/office/drawing/2014/main" id="{69A1060C-16FB-C824-B2F2-00AB71348444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Gestionar el otorgamiento y registro de grado</a:t>
            </a:r>
            <a:endParaRPr lang="en-US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48A6A72-3652-A15E-E7EF-53D7D1C2ED55}"/>
              </a:ext>
            </a:extLst>
          </p:cNvPr>
          <p:cNvSpPr/>
          <p:nvPr/>
        </p:nvSpPr>
        <p:spPr>
          <a:xfrm>
            <a:off x="3991253" y="4656507"/>
            <a:ext cx="3918501" cy="604594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Puede visualizar los resultados del proceso en la página…</a:t>
            </a:r>
          </a:p>
        </p:txBody>
      </p:sp>
      <p:sp>
        <p:nvSpPr>
          <p:cNvPr id="4" name="Título 4">
            <a:extLst>
              <a:ext uri="{FF2B5EF4-FFF2-40B4-BE49-F238E27FC236}">
                <a16:creationId xmlns:a16="http://schemas.microsoft.com/office/drawing/2014/main" id="{5A2465AA-5DDE-CD93-5B8D-24F6276B629B}"/>
              </a:ext>
            </a:extLst>
          </p:cNvPr>
          <p:cNvSpPr txBox="1">
            <a:spLocks/>
          </p:cNvSpPr>
          <p:nvPr/>
        </p:nvSpPr>
        <p:spPr>
          <a:xfrm>
            <a:off x="609601" y="437733"/>
            <a:ext cx="10477497" cy="8985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dirty="0">
                <a:solidFill>
                  <a:schemeClr val="accent1"/>
                </a:solidFill>
              </a:rPr>
              <a:t>Creación del registro de grado: </a:t>
            </a:r>
            <a:r>
              <a:rPr lang="es-ES_tradnl" b="0" dirty="0">
                <a:solidFill>
                  <a:schemeClr val="accent1"/>
                </a:solidFill>
              </a:rPr>
              <a:t>Masivo desde SHRROUT</a:t>
            </a:r>
            <a:endParaRPr lang="es-419" b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23103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A3FF3-8AEA-2B4C-0F0C-1A410E627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 descr="Interfaz de usuario gráfica, Aplicación, Teams&#10;&#10;El contenido generado por IA puede ser incorrecto.">
            <a:extLst>
              <a:ext uri="{FF2B5EF4-FFF2-40B4-BE49-F238E27FC236}">
                <a16:creationId xmlns:a16="http://schemas.microsoft.com/office/drawing/2014/main" id="{EB6D040D-D153-A6AE-F3DF-0BF08C1CE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1" y="1074442"/>
            <a:ext cx="11124491" cy="5097757"/>
          </a:xfrm>
          <a:prstGeom prst="rect">
            <a:avLst/>
          </a:prstGeom>
        </p:spPr>
      </p:pic>
      <p:sp>
        <p:nvSpPr>
          <p:cNvPr id="6" name="Marcador de texto vertical 5">
            <a:extLst>
              <a:ext uri="{FF2B5EF4-FFF2-40B4-BE49-F238E27FC236}">
                <a16:creationId xmlns:a16="http://schemas.microsoft.com/office/drawing/2014/main" id="{D6FB49DD-B146-DA8B-00F8-2F7F5C652634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Gestionar el otorgamiento y registro de grado</a:t>
            </a:r>
            <a:endParaRPr lang="en-US" dirty="0"/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2C8C9C90-52C6-4422-37BD-D82AD637BC43}"/>
              </a:ext>
            </a:extLst>
          </p:cNvPr>
          <p:cNvSpPr/>
          <p:nvPr/>
        </p:nvSpPr>
        <p:spPr>
          <a:xfrm>
            <a:off x="5627645" y="4139780"/>
            <a:ext cx="4155207" cy="643505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O bien guardar el archivo mediante el menú de Herramientas</a:t>
            </a:r>
            <a:endParaRPr lang="es-ES_tradnl" sz="1100" b="1" dirty="0"/>
          </a:p>
        </p:txBody>
      </p:sp>
      <p:sp>
        <p:nvSpPr>
          <p:cNvPr id="3" name="Título 4">
            <a:extLst>
              <a:ext uri="{FF2B5EF4-FFF2-40B4-BE49-F238E27FC236}">
                <a16:creationId xmlns:a16="http://schemas.microsoft.com/office/drawing/2014/main" id="{7D4A5284-1FF5-608B-921D-9F9A3C40FADB}"/>
              </a:ext>
            </a:extLst>
          </p:cNvPr>
          <p:cNvSpPr txBox="1">
            <a:spLocks/>
          </p:cNvSpPr>
          <p:nvPr/>
        </p:nvSpPr>
        <p:spPr>
          <a:xfrm>
            <a:off x="609601" y="437733"/>
            <a:ext cx="10477497" cy="8985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dirty="0">
                <a:solidFill>
                  <a:schemeClr val="accent1"/>
                </a:solidFill>
              </a:rPr>
              <a:t>Creación del registro de grado: </a:t>
            </a:r>
            <a:r>
              <a:rPr lang="es-ES_tradnl" b="0" dirty="0">
                <a:solidFill>
                  <a:schemeClr val="accent1"/>
                </a:solidFill>
              </a:rPr>
              <a:t>Masivo desde SHRROUT</a:t>
            </a:r>
            <a:endParaRPr lang="es-419" b="0" dirty="0">
              <a:solidFill>
                <a:schemeClr val="accent1"/>
              </a:solidFill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4020888-C8BE-D935-767A-4837E3E1F11F}"/>
              </a:ext>
            </a:extLst>
          </p:cNvPr>
          <p:cNvSpPr/>
          <p:nvPr/>
        </p:nvSpPr>
        <p:spPr>
          <a:xfrm>
            <a:off x="10128182" y="4336658"/>
            <a:ext cx="1530418" cy="253630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450528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E3E79-888E-5908-3315-4C1879F1B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3F2CC4A-3E35-5EC6-1C83-5FFA5260E3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2238843"/>
            <a:ext cx="10363202" cy="1333891"/>
          </a:xfrm>
        </p:spPr>
        <p:txBody>
          <a:bodyPr/>
          <a:lstStyle/>
          <a:p>
            <a:r>
              <a:rPr lang="es-419" dirty="0"/>
              <a:t>Actualización del registro de grado</a:t>
            </a:r>
            <a:r>
              <a:rPr lang="en-US" dirty="0"/>
              <a:t>- SHADEGR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41027717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Gestionar el otorgamiento y registro de grado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1800808"/>
            <a:ext cx="9337548" cy="1628192"/>
          </a:xfrm>
        </p:spPr>
        <p:txBody>
          <a:bodyPr/>
          <a:lstStyle/>
          <a:p>
            <a:r>
              <a:rPr lang="es-419" b="0" dirty="0"/>
              <a:t>Actualización individual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7124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6D18983-C299-CF25-DEDF-C29B1DC4D04F}"/>
              </a:ext>
            </a:extLst>
          </p:cNvPr>
          <p:cNvCxnSpPr>
            <a:cxnSpLocks/>
          </p:cNvCxnSpPr>
          <p:nvPr/>
        </p:nvCxnSpPr>
        <p:spPr>
          <a:xfrm flipV="1">
            <a:off x="164236" y="3134068"/>
            <a:ext cx="11951564" cy="10683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886CCB3-D630-F8C4-BEFC-30D6C9784C44}"/>
              </a:ext>
            </a:extLst>
          </p:cNvPr>
          <p:cNvCxnSpPr>
            <a:cxnSpLocks/>
          </p:cNvCxnSpPr>
          <p:nvPr/>
        </p:nvCxnSpPr>
        <p:spPr>
          <a:xfrm>
            <a:off x="164236" y="3646801"/>
            <a:ext cx="0" cy="30376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6CDFC5F-F9A3-81EA-B30C-7AE811F87352}"/>
              </a:ext>
            </a:extLst>
          </p:cNvPr>
          <p:cNvCxnSpPr>
            <a:cxnSpLocks/>
          </p:cNvCxnSpPr>
          <p:nvPr/>
        </p:nvCxnSpPr>
        <p:spPr>
          <a:xfrm>
            <a:off x="10372700" y="3646801"/>
            <a:ext cx="0" cy="30376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Graphic 8">
            <a:extLst>
              <a:ext uri="{FF2B5EF4-FFF2-40B4-BE49-F238E27FC236}">
                <a16:creationId xmlns:a16="http://schemas.microsoft.com/office/drawing/2014/main" id="{C63BD573-6FC1-B029-DBAD-8D3CD71EE8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61984" y="2225560"/>
            <a:ext cx="493776" cy="49377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D92BFA2-B266-44E4-202B-36219FF3A339}"/>
              </a:ext>
            </a:extLst>
          </p:cNvPr>
          <p:cNvSpPr txBox="1"/>
          <p:nvPr/>
        </p:nvSpPr>
        <p:spPr>
          <a:xfrm>
            <a:off x="294006" y="3485307"/>
            <a:ext cx="148997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b="1" dirty="0"/>
              <a:t>Al pasar la </a:t>
            </a:r>
            <a:r>
              <a:rPr lang="en-US" sz="1200" b="1" dirty="0" err="1"/>
              <a:t>primera</a:t>
            </a:r>
            <a:r>
              <a:rPr lang="en-US" sz="1200" b="1" dirty="0"/>
              <a:t> nota a </a:t>
            </a:r>
            <a:r>
              <a:rPr lang="en-US" sz="1200" b="1" dirty="0" err="1"/>
              <a:t>historia</a:t>
            </a:r>
            <a:r>
              <a:rPr lang="en-US" sz="1200" b="1" dirty="0"/>
              <a:t> </a:t>
            </a:r>
            <a:r>
              <a:rPr lang="en-US" sz="1200" b="1" dirty="0" err="1"/>
              <a:t>académica</a:t>
            </a:r>
            <a:r>
              <a:rPr lang="en-US" sz="1200" b="1" dirty="0"/>
              <a:t>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1AE9C0-63FC-8BCE-61BB-C1E6E5C83848}"/>
              </a:ext>
            </a:extLst>
          </p:cNvPr>
          <p:cNvSpPr txBox="1"/>
          <p:nvPr/>
        </p:nvSpPr>
        <p:spPr>
          <a:xfrm>
            <a:off x="321252" y="4321724"/>
            <a:ext cx="14899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dirty="0"/>
              <a:t>Estado </a:t>
            </a:r>
            <a:r>
              <a:rPr lang="en-US" sz="1200" dirty="0" err="1"/>
              <a:t>incial</a:t>
            </a:r>
            <a:endParaRPr lang="en-US" sz="1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8EBF457-5D2D-7A7F-6445-5F355A88A39D}"/>
              </a:ext>
            </a:extLst>
          </p:cNvPr>
          <p:cNvCxnSpPr>
            <a:cxnSpLocks/>
          </p:cNvCxnSpPr>
          <p:nvPr/>
        </p:nvCxnSpPr>
        <p:spPr>
          <a:xfrm>
            <a:off x="142756" y="2907978"/>
            <a:ext cx="0" cy="2190565"/>
          </a:xfrm>
          <a:prstGeom prst="line">
            <a:avLst/>
          </a:prstGeom>
          <a:ln>
            <a:solidFill>
              <a:schemeClr val="accent1"/>
            </a:solidFill>
            <a:head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383B339-E743-D884-DF2D-DBFB958692B2}"/>
              </a:ext>
            </a:extLst>
          </p:cNvPr>
          <p:cNvSpPr txBox="1"/>
          <p:nvPr/>
        </p:nvSpPr>
        <p:spPr>
          <a:xfrm>
            <a:off x="285425" y="2781018"/>
            <a:ext cx="1489979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SO (</a:t>
            </a: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</a:rPr>
              <a:t>Buscando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)</a:t>
            </a:r>
            <a:endParaRPr lang="en-US" sz="1600" b="1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E760F8AB-603E-4ADE-6A83-8414FCD81B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813328" y="4305811"/>
            <a:ext cx="408079" cy="408079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4F6089C-4CEA-B89E-17F8-E5B062273625}"/>
              </a:ext>
            </a:extLst>
          </p:cNvPr>
          <p:cNvCxnSpPr>
            <a:cxnSpLocks/>
          </p:cNvCxnSpPr>
          <p:nvPr/>
        </p:nvCxnSpPr>
        <p:spPr>
          <a:xfrm flipV="1">
            <a:off x="1811231" y="1934949"/>
            <a:ext cx="0" cy="2190565"/>
          </a:xfrm>
          <a:prstGeom prst="line">
            <a:avLst/>
          </a:prstGeom>
          <a:ln>
            <a:solidFill>
              <a:schemeClr val="accent1"/>
            </a:solidFill>
            <a:head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4A3AACA-1C96-1FAB-94E9-E2B50590E465}"/>
              </a:ext>
            </a:extLst>
          </p:cNvPr>
          <p:cNvSpPr txBox="1"/>
          <p:nvPr/>
        </p:nvSpPr>
        <p:spPr>
          <a:xfrm>
            <a:off x="1864478" y="886408"/>
            <a:ext cx="1489979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b="1" dirty="0"/>
              <a:t>Cambio de </a:t>
            </a:r>
            <a:r>
              <a:rPr lang="en-US" sz="1200" b="1" dirty="0" err="1"/>
              <a:t>estado</a:t>
            </a:r>
            <a:r>
              <a:rPr lang="en-US" sz="1200" b="1" dirty="0"/>
              <a:t> </a:t>
            </a:r>
            <a:r>
              <a:rPr lang="en-US" sz="1200" b="1" dirty="0" err="1"/>
              <a:t>masivo</a:t>
            </a:r>
            <a:r>
              <a:rPr lang="en-US" sz="1200" b="1" dirty="0"/>
              <a:t> o individual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652DCE-B1C8-DC9A-610B-4E3256907134}"/>
              </a:ext>
            </a:extLst>
          </p:cNvPr>
          <p:cNvSpPr txBox="1"/>
          <p:nvPr/>
        </p:nvSpPr>
        <p:spPr>
          <a:xfrm>
            <a:off x="1864478" y="1422813"/>
            <a:ext cx="1995411" cy="163121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dirty="0"/>
              <a:t>Al </a:t>
            </a:r>
            <a:r>
              <a:rPr lang="en-US" sz="1200" dirty="0" err="1"/>
              <a:t>cumplir</a:t>
            </a:r>
            <a:r>
              <a:rPr lang="en-US" sz="1200" dirty="0"/>
              <a:t> con un </a:t>
            </a:r>
            <a:r>
              <a:rPr lang="en-US" sz="1200" dirty="0" err="1"/>
              <a:t>determinado</a:t>
            </a:r>
            <a:r>
              <a:rPr lang="en-US" sz="1200" dirty="0"/>
              <a:t> </a:t>
            </a:r>
            <a:r>
              <a:rPr lang="en-US" sz="1200" dirty="0" err="1"/>
              <a:t>avance</a:t>
            </a:r>
            <a:r>
              <a:rPr lang="en-US" sz="1200" dirty="0"/>
              <a:t> </a:t>
            </a:r>
            <a:r>
              <a:rPr lang="en-US" sz="1200" dirty="0" err="1"/>
              <a:t>en</a:t>
            </a:r>
            <a:r>
              <a:rPr lang="en-US" sz="1200" dirty="0"/>
              <a:t> </a:t>
            </a:r>
            <a:r>
              <a:rPr lang="en-US" sz="1200" dirty="0" err="1"/>
              <a:t>su</a:t>
            </a:r>
            <a:r>
              <a:rPr lang="en-US" sz="1200" dirty="0"/>
              <a:t> </a:t>
            </a:r>
            <a:r>
              <a:rPr lang="en-US" sz="1200" dirty="0" err="1"/>
              <a:t>malla</a:t>
            </a:r>
            <a:r>
              <a:rPr lang="en-US" sz="1200" dirty="0"/>
              <a:t> curricular </a:t>
            </a:r>
          </a:p>
          <a:p>
            <a:pPr>
              <a:spcAft>
                <a:spcPts val="600"/>
              </a:spcAft>
            </a:pPr>
            <a:r>
              <a:rPr lang="en-US" sz="1200" dirty="0"/>
              <a:t>Se </a:t>
            </a:r>
            <a:r>
              <a:rPr lang="en-US" sz="1200" dirty="0" err="1"/>
              <a:t>debe</a:t>
            </a:r>
            <a:r>
              <a:rPr lang="en-US" sz="1200" dirty="0"/>
              <a:t> Validar la </a:t>
            </a:r>
            <a:r>
              <a:rPr lang="en-US" sz="1200" dirty="0" err="1"/>
              <a:t>retención</a:t>
            </a:r>
            <a:r>
              <a:rPr lang="en-US" sz="1200" dirty="0"/>
              <a:t> RA – </a:t>
            </a:r>
            <a:r>
              <a:rPr lang="en-US" sz="1200" dirty="0" err="1"/>
              <a:t>Requisitos</a:t>
            </a:r>
            <a:r>
              <a:rPr lang="en-US" sz="1200" dirty="0"/>
              <a:t> </a:t>
            </a:r>
            <a:r>
              <a:rPr lang="en-US" sz="1200" dirty="0" err="1"/>
              <a:t>pendientes</a:t>
            </a:r>
            <a:r>
              <a:rPr lang="en-US" sz="1200" dirty="0"/>
              <a:t> de </a:t>
            </a:r>
            <a:r>
              <a:rPr lang="en-US" sz="1200" dirty="0" err="1"/>
              <a:t>admisión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/>
              <a:t>El </a:t>
            </a:r>
            <a:r>
              <a:rPr lang="en-US" sz="1200" dirty="0" err="1"/>
              <a:t>estudiante</a:t>
            </a:r>
            <a:r>
              <a:rPr lang="en-US" sz="1200" dirty="0"/>
              <a:t> </a:t>
            </a:r>
            <a:r>
              <a:rPr lang="en-US" sz="1200" dirty="0" err="1"/>
              <a:t>puede</a:t>
            </a:r>
            <a:r>
              <a:rPr lang="en-US" sz="1200" dirty="0"/>
              <a:t> </a:t>
            </a:r>
            <a:r>
              <a:rPr lang="en-US" sz="1200" dirty="0" err="1"/>
              <a:t>realizar</a:t>
            </a:r>
            <a:r>
              <a:rPr lang="en-US" sz="1200" dirty="0"/>
              <a:t> </a:t>
            </a:r>
            <a:r>
              <a:rPr lang="en-US" sz="1200" dirty="0" err="1"/>
              <a:t>una</a:t>
            </a:r>
            <a:r>
              <a:rPr lang="en-US" sz="1200" dirty="0"/>
              <a:t> </a:t>
            </a:r>
            <a:r>
              <a:rPr lang="en-US" sz="1200" dirty="0" err="1"/>
              <a:t>solicitud</a:t>
            </a:r>
            <a:r>
              <a:rPr lang="en-US" sz="1200" dirty="0"/>
              <a:t> de </a:t>
            </a:r>
            <a:r>
              <a:rPr lang="en-US" sz="1200" dirty="0" err="1"/>
              <a:t>servicios</a:t>
            </a:r>
            <a:endParaRPr 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D9CC3B-8754-BA6A-9184-E6FD8AD2ED98}"/>
              </a:ext>
            </a:extLst>
          </p:cNvPr>
          <p:cNvSpPr txBox="1"/>
          <p:nvPr/>
        </p:nvSpPr>
        <p:spPr>
          <a:xfrm>
            <a:off x="2123076" y="3397981"/>
            <a:ext cx="1913691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AC (</a:t>
            </a: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</a:rPr>
              <a:t>Apto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</a:rPr>
              <a:t>servicio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 de </a:t>
            </a: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</a:rPr>
              <a:t>carpeta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)</a:t>
            </a:r>
            <a:endParaRPr lang="en-US" sz="16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53BA35-FDD8-33D0-0C1D-C6BDDD40D433}"/>
              </a:ext>
            </a:extLst>
          </p:cNvPr>
          <p:cNvSpPr txBox="1"/>
          <p:nvPr/>
        </p:nvSpPr>
        <p:spPr>
          <a:xfrm>
            <a:off x="4317056" y="3317076"/>
            <a:ext cx="14899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b="1" dirty="0"/>
              <a:t>Cambio </a:t>
            </a:r>
            <a:r>
              <a:rPr lang="en-US" sz="1200" b="1" dirty="0" err="1"/>
              <a:t>masivo</a:t>
            </a:r>
            <a:endParaRPr lang="en-US" sz="12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E228CB1-342E-1F9B-565D-83BBD2C3666C}"/>
              </a:ext>
            </a:extLst>
          </p:cNvPr>
          <p:cNvSpPr txBox="1"/>
          <p:nvPr/>
        </p:nvSpPr>
        <p:spPr>
          <a:xfrm>
            <a:off x="4336597" y="3750688"/>
            <a:ext cx="1489979" cy="11849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dirty="0" err="1"/>
              <a:t>Estudiante</a:t>
            </a:r>
            <a:r>
              <a:rPr lang="en-US" sz="1200" dirty="0"/>
              <a:t> </a:t>
            </a:r>
            <a:r>
              <a:rPr lang="en-US" sz="1200" dirty="0" err="1"/>
              <a:t>cumplio</a:t>
            </a:r>
            <a:r>
              <a:rPr lang="en-US" sz="1200" dirty="0"/>
              <a:t> con </a:t>
            </a:r>
            <a:r>
              <a:rPr lang="en-US" sz="1200" dirty="0" err="1"/>
              <a:t>su</a:t>
            </a:r>
            <a:r>
              <a:rPr lang="en-US" sz="1200" dirty="0"/>
              <a:t> </a:t>
            </a:r>
            <a:r>
              <a:rPr lang="en-US" sz="1200" dirty="0" err="1"/>
              <a:t>malla</a:t>
            </a:r>
            <a:r>
              <a:rPr lang="en-US" sz="1200" dirty="0"/>
              <a:t> curricular, </a:t>
            </a:r>
            <a:r>
              <a:rPr lang="en-US" sz="1200" dirty="0" err="1"/>
              <a:t>idiomas</a:t>
            </a:r>
            <a:r>
              <a:rPr lang="en-US" sz="1200" dirty="0"/>
              <a:t>, </a:t>
            </a:r>
            <a:r>
              <a:rPr lang="en-US" sz="1200" dirty="0" err="1"/>
              <a:t>emprendimiento</a:t>
            </a:r>
            <a:r>
              <a:rPr lang="en-US" sz="1200" dirty="0"/>
              <a:t> y </a:t>
            </a:r>
            <a:r>
              <a:rPr lang="en-US" sz="1200" dirty="0" err="1"/>
              <a:t>computación</a:t>
            </a:r>
            <a:r>
              <a:rPr lang="en-US" sz="1200" dirty="0"/>
              <a:t>. </a:t>
            </a:r>
          </a:p>
          <a:p>
            <a:pPr>
              <a:spcAft>
                <a:spcPts val="600"/>
              </a:spcAft>
            </a:pPr>
            <a:endParaRPr lang="en-US" sz="120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4940DB9-E817-953B-9313-4CF4F363EBD8}"/>
              </a:ext>
            </a:extLst>
          </p:cNvPr>
          <p:cNvCxnSpPr>
            <a:cxnSpLocks/>
          </p:cNvCxnSpPr>
          <p:nvPr/>
        </p:nvCxnSpPr>
        <p:spPr>
          <a:xfrm>
            <a:off x="4229957" y="2795142"/>
            <a:ext cx="0" cy="2190565"/>
          </a:xfrm>
          <a:prstGeom prst="line">
            <a:avLst/>
          </a:prstGeom>
          <a:ln>
            <a:solidFill>
              <a:schemeClr val="accent1"/>
            </a:solidFill>
            <a:head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Graphic 24">
            <a:extLst>
              <a:ext uri="{FF2B5EF4-FFF2-40B4-BE49-F238E27FC236}">
                <a16:creationId xmlns:a16="http://schemas.microsoft.com/office/drawing/2014/main" id="{287C8B81-7FAD-5B1D-32E4-EC02D8396F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046171" y="2197227"/>
            <a:ext cx="408079" cy="408079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5F59B80-158E-FD36-2506-7FBDB6013C2B}"/>
              </a:ext>
            </a:extLst>
          </p:cNvPr>
          <p:cNvCxnSpPr>
            <a:cxnSpLocks/>
          </p:cNvCxnSpPr>
          <p:nvPr/>
        </p:nvCxnSpPr>
        <p:spPr>
          <a:xfrm flipV="1">
            <a:off x="6031327" y="1934949"/>
            <a:ext cx="0" cy="2190565"/>
          </a:xfrm>
          <a:prstGeom prst="line">
            <a:avLst/>
          </a:prstGeom>
          <a:ln>
            <a:solidFill>
              <a:schemeClr val="accent1"/>
            </a:solidFill>
            <a:head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27B4080-B209-8DAA-3818-A6666AD72506}"/>
              </a:ext>
            </a:extLst>
          </p:cNvPr>
          <p:cNvSpPr txBox="1"/>
          <p:nvPr/>
        </p:nvSpPr>
        <p:spPr>
          <a:xfrm>
            <a:off x="6173379" y="1492390"/>
            <a:ext cx="14899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b="1" dirty="0"/>
              <a:t>Cambio </a:t>
            </a:r>
            <a:r>
              <a:rPr lang="en-US" sz="1200" b="1" dirty="0" err="1"/>
              <a:t>masivo</a:t>
            </a:r>
            <a:endParaRPr lang="en-US" sz="12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2C50940-E3C3-5842-5E8A-74D7950557A1}"/>
              </a:ext>
            </a:extLst>
          </p:cNvPr>
          <p:cNvSpPr txBox="1"/>
          <p:nvPr/>
        </p:nvSpPr>
        <p:spPr>
          <a:xfrm>
            <a:off x="6173379" y="1923404"/>
            <a:ext cx="1489979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dirty="0" err="1"/>
              <a:t>Estudiante</a:t>
            </a:r>
            <a:r>
              <a:rPr lang="en-US" sz="1200" dirty="0"/>
              <a:t> </a:t>
            </a:r>
            <a:r>
              <a:rPr lang="en-US" sz="1200" dirty="0" err="1"/>
              <a:t>Egresado</a:t>
            </a:r>
            <a:r>
              <a:rPr lang="en-US" sz="1200" dirty="0"/>
              <a:t>, sin </a:t>
            </a:r>
            <a:r>
              <a:rPr lang="en-US" sz="1200" dirty="0" err="1"/>
              <a:t>dedua</a:t>
            </a:r>
            <a:r>
              <a:rPr lang="en-US" sz="1200" dirty="0"/>
              <a:t> </a:t>
            </a:r>
            <a:r>
              <a:rPr lang="en-US" sz="1200" dirty="0" err="1"/>
              <a:t>financiera</a:t>
            </a:r>
            <a:r>
              <a:rPr lang="en-US" sz="1200" dirty="0"/>
              <a:t>, sin </a:t>
            </a:r>
            <a:r>
              <a:rPr lang="en-US" sz="1200" dirty="0" err="1"/>
              <a:t>retenciones</a:t>
            </a:r>
            <a:r>
              <a:rPr lang="en-US" sz="1200" dirty="0"/>
              <a:t> , con </a:t>
            </a:r>
            <a:r>
              <a:rPr lang="en-US" sz="1200" dirty="0" err="1"/>
              <a:t>pago</a:t>
            </a:r>
            <a:r>
              <a:rPr lang="en-US" sz="1200" dirty="0"/>
              <a:t> de derechos de </a:t>
            </a:r>
            <a:r>
              <a:rPr lang="en-US" sz="1200" dirty="0" err="1"/>
              <a:t>Carpeta</a:t>
            </a:r>
            <a:endParaRPr lang="en-US" sz="1200" dirty="0"/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8662F1E7-5D2B-1C92-E626-0B92FB5655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836165" y="4316387"/>
            <a:ext cx="408079" cy="408079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7B69348-E54F-214D-0761-CB99E171F59B}"/>
              </a:ext>
            </a:extLst>
          </p:cNvPr>
          <p:cNvCxnSpPr>
            <a:cxnSpLocks/>
          </p:cNvCxnSpPr>
          <p:nvPr/>
        </p:nvCxnSpPr>
        <p:spPr>
          <a:xfrm>
            <a:off x="7999360" y="2703399"/>
            <a:ext cx="0" cy="2190565"/>
          </a:xfrm>
          <a:prstGeom prst="line">
            <a:avLst/>
          </a:prstGeom>
          <a:ln>
            <a:solidFill>
              <a:schemeClr val="accent1"/>
            </a:solidFill>
            <a:head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Graphic 36">
            <a:extLst>
              <a:ext uri="{FF2B5EF4-FFF2-40B4-BE49-F238E27FC236}">
                <a16:creationId xmlns:a16="http://schemas.microsoft.com/office/drawing/2014/main" id="{C481D242-61B1-EDD2-9AF6-33D31977A9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790222" y="2172577"/>
            <a:ext cx="404979" cy="404979"/>
          </a:xfrm>
          <a:prstGeom prst="rect">
            <a:avLst/>
          </a:prstGeom>
        </p:spPr>
      </p:pic>
      <p:sp>
        <p:nvSpPr>
          <p:cNvPr id="2" name="TextBox 15">
            <a:extLst>
              <a:ext uri="{FF2B5EF4-FFF2-40B4-BE49-F238E27FC236}">
                <a16:creationId xmlns:a16="http://schemas.microsoft.com/office/drawing/2014/main" id="{581560D9-CBCD-2A9C-DAA3-CF8DC9DAFB80}"/>
              </a:ext>
            </a:extLst>
          </p:cNvPr>
          <p:cNvSpPr txBox="1"/>
          <p:nvPr/>
        </p:nvSpPr>
        <p:spPr>
          <a:xfrm>
            <a:off x="796328" y="354789"/>
            <a:ext cx="9397746" cy="553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419" dirty="0"/>
              <a:t>Cambios de estado Pregrado y Postgrado</a:t>
            </a:r>
            <a:endParaRPr lang="es-CO" dirty="0"/>
          </a:p>
        </p:txBody>
      </p:sp>
      <p:sp>
        <p:nvSpPr>
          <p:cNvPr id="8" name="TextBox 18">
            <a:extLst>
              <a:ext uri="{FF2B5EF4-FFF2-40B4-BE49-F238E27FC236}">
                <a16:creationId xmlns:a16="http://schemas.microsoft.com/office/drawing/2014/main" id="{3251F873-60FC-9BEF-1C9F-3291FBA67EAC}"/>
              </a:ext>
            </a:extLst>
          </p:cNvPr>
          <p:cNvSpPr txBox="1"/>
          <p:nvPr/>
        </p:nvSpPr>
        <p:spPr>
          <a:xfrm>
            <a:off x="4388699" y="2887847"/>
            <a:ext cx="191369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EG (</a:t>
            </a: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</a:rPr>
              <a:t>Egresado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)</a:t>
            </a:r>
            <a:endParaRPr lang="en-US" sz="1600" b="1" dirty="0"/>
          </a:p>
        </p:txBody>
      </p:sp>
      <p:sp>
        <p:nvSpPr>
          <p:cNvPr id="14" name="TextBox 18">
            <a:extLst>
              <a:ext uri="{FF2B5EF4-FFF2-40B4-BE49-F238E27FC236}">
                <a16:creationId xmlns:a16="http://schemas.microsoft.com/office/drawing/2014/main" id="{32EFDEB9-1230-963D-DBEC-567966583B74}"/>
              </a:ext>
            </a:extLst>
          </p:cNvPr>
          <p:cNvSpPr txBox="1"/>
          <p:nvPr/>
        </p:nvSpPr>
        <p:spPr>
          <a:xfrm>
            <a:off x="6178785" y="3289398"/>
            <a:ext cx="1489980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CE (</a:t>
            </a: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</a:rPr>
              <a:t>Apto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 derecho </a:t>
            </a: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</a:rPr>
              <a:t>ceremonia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)</a:t>
            </a:r>
            <a:endParaRPr lang="en-US" sz="1600" b="1" dirty="0"/>
          </a:p>
        </p:txBody>
      </p:sp>
      <p:sp>
        <p:nvSpPr>
          <p:cNvPr id="20" name="TextBox 18">
            <a:extLst>
              <a:ext uri="{FF2B5EF4-FFF2-40B4-BE49-F238E27FC236}">
                <a16:creationId xmlns:a16="http://schemas.microsoft.com/office/drawing/2014/main" id="{7A6BBB83-DB68-2077-BF44-634B35A0C881}"/>
              </a:ext>
            </a:extLst>
          </p:cNvPr>
          <p:cNvSpPr txBox="1"/>
          <p:nvPr/>
        </p:nvSpPr>
        <p:spPr>
          <a:xfrm>
            <a:off x="8057506" y="2719336"/>
            <a:ext cx="191369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AG(</a:t>
            </a: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</a:rPr>
              <a:t>Apto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 para </a:t>
            </a: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</a:rPr>
              <a:t>grado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)</a:t>
            </a:r>
            <a:endParaRPr lang="en-US" sz="1600" b="1" dirty="0"/>
          </a:p>
        </p:txBody>
      </p:sp>
      <p:sp>
        <p:nvSpPr>
          <p:cNvPr id="26" name="TextBox 27">
            <a:extLst>
              <a:ext uri="{FF2B5EF4-FFF2-40B4-BE49-F238E27FC236}">
                <a16:creationId xmlns:a16="http://schemas.microsoft.com/office/drawing/2014/main" id="{D3F2DEBF-3F05-922B-7F4D-CDB588EB99DD}"/>
              </a:ext>
            </a:extLst>
          </p:cNvPr>
          <p:cNvSpPr txBox="1"/>
          <p:nvPr/>
        </p:nvSpPr>
        <p:spPr>
          <a:xfrm>
            <a:off x="8299191" y="3234002"/>
            <a:ext cx="148997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b="1" dirty="0"/>
              <a:t>Cambio </a:t>
            </a:r>
            <a:r>
              <a:rPr lang="en-US" sz="1200" b="1" dirty="0" err="1"/>
              <a:t>masivo</a:t>
            </a:r>
            <a:endParaRPr lang="en-US" sz="1200" b="1" dirty="0"/>
          </a:p>
        </p:txBody>
      </p:sp>
      <p:sp>
        <p:nvSpPr>
          <p:cNvPr id="39" name="TextBox 28">
            <a:extLst>
              <a:ext uri="{FF2B5EF4-FFF2-40B4-BE49-F238E27FC236}">
                <a16:creationId xmlns:a16="http://schemas.microsoft.com/office/drawing/2014/main" id="{30B58501-F807-1D7B-A663-B9DC0579AF6E}"/>
              </a:ext>
            </a:extLst>
          </p:cNvPr>
          <p:cNvSpPr txBox="1"/>
          <p:nvPr/>
        </p:nvSpPr>
        <p:spPr>
          <a:xfrm>
            <a:off x="8094587" y="3494319"/>
            <a:ext cx="1945205" cy="26007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CO" sz="1200" dirty="0"/>
              <a:t>•Debe estar como Egresados</a:t>
            </a:r>
          </a:p>
          <a:p>
            <a:pPr>
              <a:spcAft>
                <a:spcPts val="600"/>
              </a:spcAft>
            </a:pPr>
            <a:r>
              <a:rPr lang="es-CO" sz="1200" dirty="0"/>
              <a:t>•Debe tener los requisitos de no cursos como aprobados</a:t>
            </a:r>
          </a:p>
          <a:p>
            <a:pPr>
              <a:spcAft>
                <a:spcPts val="600"/>
              </a:spcAft>
            </a:pPr>
            <a:r>
              <a:rPr lang="es-CO" sz="1200" dirty="0"/>
              <a:t>•No tener deudas financieras</a:t>
            </a:r>
          </a:p>
          <a:p>
            <a:pPr>
              <a:spcAft>
                <a:spcPts val="600"/>
              </a:spcAft>
            </a:pPr>
            <a:r>
              <a:rPr lang="es-CO" sz="1200" dirty="0"/>
              <a:t>•No tener retenciones ( Deudas en Biblioteca, en laboratorio, en finanzas, o sanciones disciplinarias)</a:t>
            </a:r>
          </a:p>
          <a:p>
            <a:pPr>
              <a:spcAft>
                <a:spcPts val="600"/>
              </a:spcAft>
            </a:pPr>
            <a:r>
              <a:rPr lang="es-CO" sz="1200" dirty="0"/>
              <a:t>•Han pagado los derechos de la carpeta</a:t>
            </a:r>
          </a:p>
          <a:p>
            <a:pPr>
              <a:spcAft>
                <a:spcPts val="600"/>
              </a:spcAft>
            </a:pPr>
            <a:r>
              <a:rPr lang="es-CO" sz="1200" dirty="0"/>
              <a:t>•Han pagado los derechos de ceremonia</a:t>
            </a:r>
          </a:p>
        </p:txBody>
      </p:sp>
      <p:cxnSp>
        <p:nvCxnSpPr>
          <p:cNvPr id="40" name="Straight Connector 26">
            <a:extLst>
              <a:ext uri="{FF2B5EF4-FFF2-40B4-BE49-F238E27FC236}">
                <a16:creationId xmlns:a16="http://schemas.microsoft.com/office/drawing/2014/main" id="{F86CDBBB-0181-8EFA-155F-F1F9E36EEB8A}"/>
              </a:ext>
            </a:extLst>
          </p:cNvPr>
          <p:cNvCxnSpPr>
            <a:cxnSpLocks/>
          </p:cNvCxnSpPr>
          <p:nvPr/>
        </p:nvCxnSpPr>
        <p:spPr>
          <a:xfrm flipV="1">
            <a:off x="10376894" y="2483453"/>
            <a:ext cx="0" cy="2190565"/>
          </a:xfrm>
          <a:prstGeom prst="line">
            <a:avLst/>
          </a:prstGeom>
          <a:ln>
            <a:solidFill>
              <a:schemeClr val="accent1"/>
            </a:solidFill>
            <a:head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27">
            <a:extLst>
              <a:ext uri="{FF2B5EF4-FFF2-40B4-BE49-F238E27FC236}">
                <a16:creationId xmlns:a16="http://schemas.microsoft.com/office/drawing/2014/main" id="{893EC2C3-5A51-57D1-A7C4-A70573BA42FF}"/>
              </a:ext>
            </a:extLst>
          </p:cNvPr>
          <p:cNvSpPr txBox="1"/>
          <p:nvPr/>
        </p:nvSpPr>
        <p:spPr>
          <a:xfrm>
            <a:off x="10448929" y="1578664"/>
            <a:ext cx="12135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b="1" dirty="0"/>
              <a:t>Cambio </a:t>
            </a:r>
            <a:r>
              <a:rPr lang="en-US" sz="1200" b="1" dirty="0" err="1"/>
              <a:t>masivo</a:t>
            </a:r>
            <a:endParaRPr lang="en-US" sz="1200" b="1" dirty="0"/>
          </a:p>
        </p:txBody>
      </p:sp>
      <p:sp>
        <p:nvSpPr>
          <p:cNvPr id="42" name="TextBox 28">
            <a:extLst>
              <a:ext uri="{FF2B5EF4-FFF2-40B4-BE49-F238E27FC236}">
                <a16:creationId xmlns:a16="http://schemas.microsoft.com/office/drawing/2014/main" id="{6A866998-37C1-5D0A-B595-DA79C39E63BB}"/>
              </a:ext>
            </a:extLst>
          </p:cNvPr>
          <p:cNvSpPr txBox="1"/>
          <p:nvPr/>
        </p:nvSpPr>
        <p:spPr>
          <a:xfrm>
            <a:off x="10514097" y="2032968"/>
            <a:ext cx="1213530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dirty="0" err="1"/>
              <a:t>Estudiante</a:t>
            </a:r>
            <a:r>
              <a:rPr lang="en-US" sz="1200" dirty="0"/>
              <a:t> AG (</a:t>
            </a:r>
            <a:r>
              <a:rPr lang="en-US" sz="1200" dirty="0" err="1"/>
              <a:t>Apto</a:t>
            </a:r>
            <a:r>
              <a:rPr lang="en-US" sz="1200" dirty="0"/>
              <a:t> para </a:t>
            </a:r>
            <a:r>
              <a:rPr lang="en-US" sz="1200" dirty="0" err="1"/>
              <a:t>grado</a:t>
            </a:r>
            <a:r>
              <a:rPr lang="en-US" sz="1200" dirty="0"/>
              <a:t>) Con </a:t>
            </a:r>
            <a:r>
              <a:rPr lang="en-US" sz="1200" dirty="0" err="1"/>
              <a:t>pago</a:t>
            </a:r>
            <a:r>
              <a:rPr lang="en-US" sz="1200" dirty="0"/>
              <a:t> derechos de </a:t>
            </a:r>
            <a:r>
              <a:rPr lang="en-US" sz="1200" dirty="0" err="1"/>
              <a:t>ceremonia</a:t>
            </a:r>
            <a:endParaRPr lang="en-US" sz="1200" dirty="0"/>
          </a:p>
        </p:txBody>
      </p:sp>
      <p:pic>
        <p:nvPicPr>
          <p:cNvPr id="43" name="Graphic 30">
            <a:extLst>
              <a:ext uri="{FF2B5EF4-FFF2-40B4-BE49-F238E27FC236}">
                <a16:creationId xmlns:a16="http://schemas.microsoft.com/office/drawing/2014/main" id="{2AFD3E3E-1BB6-2851-25A2-1D6DDF56A9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181733" y="4864891"/>
            <a:ext cx="332364" cy="408079"/>
          </a:xfrm>
          <a:prstGeom prst="rect">
            <a:avLst/>
          </a:prstGeom>
        </p:spPr>
      </p:pic>
      <p:sp>
        <p:nvSpPr>
          <p:cNvPr id="45" name="TextBox 18">
            <a:extLst>
              <a:ext uri="{FF2B5EF4-FFF2-40B4-BE49-F238E27FC236}">
                <a16:creationId xmlns:a16="http://schemas.microsoft.com/office/drawing/2014/main" id="{F7383E1E-6258-18A1-10BC-48ADF6764F54}"/>
              </a:ext>
            </a:extLst>
          </p:cNvPr>
          <p:cNvSpPr txBox="1"/>
          <p:nvPr/>
        </p:nvSpPr>
        <p:spPr>
          <a:xfrm>
            <a:off x="10464376" y="3326008"/>
            <a:ext cx="1702328" cy="15388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B: Grado </a:t>
            </a: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</a:rPr>
              <a:t>bachiller</a:t>
            </a:r>
            <a:endParaRPr lang="en-US" sz="1600" b="1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spcAft>
                <a:spcPts val="600"/>
              </a:spcAft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T: </a:t>
            </a: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</a:rPr>
              <a:t>Título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</a:rPr>
              <a:t>profes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M: Maestro</a:t>
            </a:r>
          </a:p>
          <a:p>
            <a:pPr>
              <a:spcAft>
                <a:spcPts val="600"/>
              </a:spcAft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D: Doctor</a:t>
            </a:r>
          </a:p>
          <a:p>
            <a:pPr>
              <a:spcAft>
                <a:spcPts val="600"/>
              </a:spcAft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S: </a:t>
            </a: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</a:rPr>
              <a:t>Segun.Especi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.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0264301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2D07E-AB30-FD75-E7C7-C17DB67F5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5E37F8FB-B431-D1C8-80BA-56845A874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7" y="1104968"/>
            <a:ext cx="10857970" cy="4935956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B66F925-F3F8-6C06-DDD4-993700F0A3A0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Gestionar el otorgamiento y registro de grado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214F1B1-3EA8-6EA8-667C-5934C8C28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br>
              <a:rPr lang="es-CL" b="1" dirty="0">
                <a:effectLst/>
              </a:rPr>
            </a:br>
            <a:endParaRPr lang="es-CL" dirty="0"/>
          </a:p>
        </p:txBody>
      </p:sp>
      <p:sp>
        <p:nvSpPr>
          <p:cNvPr id="6" name="Título 3">
            <a:extLst>
              <a:ext uri="{FF2B5EF4-FFF2-40B4-BE49-F238E27FC236}">
                <a16:creationId xmlns:a16="http://schemas.microsoft.com/office/drawing/2014/main" id="{350A2A97-70F7-B2D2-AE13-22367B795F84}"/>
              </a:ext>
            </a:extLst>
          </p:cNvPr>
          <p:cNvSpPr txBox="1">
            <a:spLocks/>
          </p:cNvSpPr>
          <p:nvPr/>
        </p:nvSpPr>
        <p:spPr>
          <a:xfrm>
            <a:off x="962647" y="480392"/>
            <a:ext cx="10271883" cy="62616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dirty="0">
                <a:solidFill>
                  <a:schemeClr val="accent1"/>
                </a:solidFill>
              </a:rPr>
              <a:t>Actualización del registro de grado: </a:t>
            </a:r>
            <a:r>
              <a:rPr lang="es-ES_tradnl" b="0" dirty="0">
                <a:solidFill>
                  <a:schemeClr val="accent1"/>
                </a:solidFill>
              </a:rPr>
              <a:t>Individual</a:t>
            </a:r>
            <a:br>
              <a:rPr lang="es-CL" dirty="0">
                <a:solidFill>
                  <a:schemeClr val="accent1"/>
                </a:solidFill>
              </a:rPr>
            </a:b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9" name="Rectángulo redondeado 5">
            <a:extLst>
              <a:ext uri="{FF2B5EF4-FFF2-40B4-BE49-F238E27FC236}">
                <a16:creationId xmlns:a16="http://schemas.microsoft.com/office/drawing/2014/main" id="{1693D5F5-E39B-B3A4-C46D-F3B96A1015D0}"/>
              </a:ext>
            </a:extLst>
          </p:cNvPr>
          <p:cNvSpPr/>
          <p:nvPr/>
        </p:nvSpPr>
        <p:spPr>
          <a:xfrm>
            <a:off x="1100788" y="3428999"/>
            <a:ext cx="10133742" cy="1076909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200" dirty="0"/>
              <a:t>Ingrese a la página SHADEGR:</a:t>
            </a:r>
          </a:p>
          <a:p>
            <a:pPr marL="342900" indent="-342900">
              <a:buFont typeface="+mj-lt"/>
              <a:buAutoNum type="arabicPeriod"/>
            </a:pPr>
            <a:r>
              <a:rPr lang="es-ES_tradnl" sz="1200" dirty="0"/>
              <a:t>Ingrese el ID del estudiante.</a:t>
            </a:r>
          </a:p>
          <a:p>
            <a:pPr marL="342900" indent="-342900">
              <a:buFont typeface="+mj-lt"/>
              <a:buAutoNum type="arabicPeriod"/>
            </a:pPr>
            <a:r>
              <a:rPr lang="es-ES_tradnl" sz="1200" dirty="0"/>
              <a:t>Ingrese la Secuencia de grado del registro que desea trabajar  (o puede buscar la secuencia por medio del botón de búsqueda …) </a:t>
            </a:r>
          </a:p>
          <a:p>
            <a:pPr marL="342900" indent="-342900">
              <a:buFont typeface="+mj-lt"/>
              <a:buAutoNum type="arabicPeriod"/>
            </a:pPr>
            <a:r>
              <a:rPr lang="es-ES_tradnl" sz="1200" dirty="0"/>
              <a:t>Presione el botón Ir.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B7161A7-7E23-5ED7-B318-AE5A584C40A9}"/>
              </a:ext>
            </a:extLst>
          </p:cNvPr>
          <p:cNvSpPr/>
          <p:nvPr/>
        </p:nvSpPr>
        <p:spPr>
          <a:xfrm>
            <a:off x="11298651" y="1376142"/>
            <a:ext cx="360422" cy="256503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3" name="Rectángulo redondeado 9">
            <a:extLst>
              <a:ext uri="{FF2B5EF4-FFF2-40B4-BE49-F238E27FC236}">
                <a16:creationId xmlns:a16="http://schemas.microsoft.com/office/drawing/2014/main" id="{A2FA0526-D0F6-0414-E041-DC6C701A02B4}"/>
              </a:ext>
            </a:extLst>
          </p:cNvPr>
          <p:cNvSpPr/>
          <p:nvPr/>
        </p:nvSpPr>
        <p:spPr>
          <a:xfrm>
            <a:off x="10901919" y="1602881"/>
            <a:ext cx="360421" cy="2565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B316E64-4FC4-7459-4636-CFF32958BE6C}"/>
              </a:ext>
            </a:extLst>
          </p:cNvPr>
          <p:cNvSpPr/>
          <p:nvPr/>
        </p:nvSpPr>
        <p:spPr>
          <a:xfrm>
            <a:off x="5810055" y="1390248"/>
            <a:ext cx="1967746" cy="188486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65D0B21C-4170-9DDA-867D-D53F1157D9C9}"/>
              </a:ext>
            </a:extLst>
          </p:cNvPr>
          <p:cNvSpPr/>
          <p:nvPr/>
        </p:nvSpPr>
        <p:spPr>
          <a:xfrm>
            <a:off x="7202902" y="1691883"/>
            <a:ext cx="360421" cy="256503"/>
          </a:xfrm>
          <a:prstGeom prst="round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EA3B409-4D2D-A4B6-0A64-36C9126D3B0C}"/>
              </a:ext>
            </a:extLst>
          </p:cNvPr>
          <p:cNvSpPr/>
          <p:nvPr/>
        </p:nvSpPr>
        <p:spPr>
          <a:xfrm>
            <a:off x="1380744" y="1387593"/>
            <a:ext cx="1366910" cy="206144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8" name="Rectángulo redondeado 9">
            <a:extLst>
              <a:ext uri="{FF2B5EF4-FFF2-40B4-BE49-F238E27FC236}">
                <a16:creationId xmlns:a16="http://schemas.microsoft.com/office/drawing/2014/main" id="{2AB081D2-BA7D-7993-F5FC-18E4EB8B07FC}"/>
              </a:ext>
            </a:extLst>
          </p:cNvPr>
          <p:cNvSpPr/>
          <p:nvPr/>
        </p:nvSpPr>
        <p:spPr>
          <a:xfrm>
            <a:off x="2172755" y="1698372"/>
            <a:ext cx="360421" cy="256503"/>
          </a:xfrm>
          <a:prstGeom prst="round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7586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26A59-8FE5-04C6-232E-1F319ACAC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ECBC176C-2813-2508-DAAF-F6680B27D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7" y="1104969"/>
            <a:ext cx="10848826" cy="4918436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803E053-FB29-31EB-EACB-0A7C10D15FA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Gestionar el otorgamiento y registro de grado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FEC3B80F-FAEB-6E9A-5196-E2192725B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br>
              <a:rPr lang="es-CL" b="1" dirty="0">
                <a:effectLst/>
              </a:rPr>
            </a:br>
            <a:endParaRPr lang="es-CL" dirty="0"/>
          </a:p>
        </p:txBody>
      </p:sp>
      <p:sp>
        <p:nvSpPr>
          <p:cNvPr id="6" name="Título 3">
            <a:extLst>
              <a:ext uri="{FF2B5EF4-FFF2-40B4-BE49-F238E27FC236}">
                <a16:creationId xmlns:a16="http://schemas.microsoft.com/office/drawing/2014/main" id="{B49A72B0-42A0-09AF-2AB1-976EE2E00E68}"/>
              </a:ext>
            </a:extLst>
          </p:cNvPr>
          <p:cNvSpPr txBox="1">
            <a:spLocks/>
          </p:cNvSpPr>
          <p:nvPr/>
        </p:nvSpPr>
        <p:spPr>
          <a:xfrm>
            <a:off x="962647" y="480392"/>
            <a:ext cx="10271883" cy="62616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dirty="0">
                <a:solidFill>
                  <a:schemeClr val="accent1"/>
                </a:solidFill>
              </a:rPr>
              <a:t>Actualización del registro de grado: </a:t>
            </a:r>
            <a:r>
              <a:rPr lang="es-ES_tradnl" b="0" dirty="0">
                <a:solidFill>
                  <a:schemeClr val="accent1"/>
                </a:solidFill>
              </a:rPr>
              <a:t>Individual</a:t>
            </a:r>
            <a:br>
              <a:rPr lang="es-CL" b="0" dirty="0">
                <a:solidFill>
                  <a:schemeClr val="accent1"/>
                </a:solidFill>
              </a:rPr>
            </a:br>
            <a:endParaRPr lang="es-CL" b="0" dirty="0">
              <a:solidFill>
                <a:schemeClr val="accent1"/>
              </a:solidFill>
            </a:endParaRPr>
          </a:p>
        </p:txBody>
      </p:sp>
      <p:sp>
        <p:nvSpPr>
          <p:cNvPr id="9" name="Rectángulo redondeado 5">
            <a:extLst>
              <a:ext uri="{FF2B5EF4-FFF2-40B4-BE49-F238E27FC236}">
                <a16:creationId xmlns:a16="http://schemas.microsoft.com/office/drawing/2014/main" id="{203803C1-3918-067A-C8C9-7F64559CCBBD}"/>
              </a:ext>
            </a:extLst>
          </p:cNvPr>
          <p:cNvSpPr/>
          <p:nvPr/>
        </p:nvSpPr>
        <p:spPr>
          <a:xfrm>
            <a:off x="2542032" y="3906106"/>
            <a:ext cx="7808976" cy="2741876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dirty="0"/>
              <a:t>A continuación se indican los datos que pueden ser definidos/modificados en la página:</a:t>
            </a:r>
          </a:p>
          <a:p>
            <a:r>
              <a:rPr lang="es-ES_tradnl" sz="1200" dirty="0"/>
              <a:t>Pestaña Resultados de Estudiante:</a:t>
            </a:r>
          </a:p>
          <a:p>
            <a:pPr marL="228600" indent="-228600">
              <a:buFont typeface="+mj-lt"/>
              <a:buAutoNum type="arabicPeriod"/>
            </a:pPr>
            <a:r>
              <a:rPr lang="es-ES_tradnl" sz="1100" dirty="0"/>
              <a:t>En el campo Estatus de resultados, se registran los que han sido definidos para la Institución, indicará en que paso va el estudiante, Ejemplo: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s-ES_tradnl" sz="1100" dirty="0"/>
              <a:t>SO: Buscando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s-ES_tradnl" sz="1100" dirty="0"/>
              <a:t>AC: Apto servicio de carpeta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s-ES_tradnl" sz="1100" dirty="0"/>
              <a:t>EG: Egresado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s-ES_tradnl" sz="1100" dirty="0"/>
              <a:t> CE: Apto derechos ceremonia</a:t>
            </a:r>
          </a:p>
          <a:p>
            <a:pPr marL="228600" indent="-228600">
              <a:buFont typeface="+mj-lt"/>
              <a:buAutoNum type="arabicPeriod"/>
            </a:pPr>
            <a:r>
              <a:rPr lang="es-ES_tradnl" sz="1100" dirty="0"/>
              <a:t>Período de finalización de grado, que puede equipararse al período en el cual el estudiante cumplió con la malla curricular (Egreso).</a:t>
            </a:r>
          </a:p>
          <a:p>
            <a:pPr marL="228600" indent="-228600">
              <a:buFont typeface="+mj-lt"/>
              <a:buAutoNum type="arabicPeriod"/>
            </a:pPr>
            <a:r>
              <a:rPr lang="es-ES_tradnl" sz="1100" dirty="0"/>
              <a:t>Período de graduación, que actualiza automáticamente el año de graduación, según lo definido en la página de validación STVTERM.</a:t>
            </a:r>
          </a:p>
          <a:p>
            <a:pPr marL="228600" indent="-228600">
              <a:buFont typeface="+mj-lt"/>
              <a:buAutoNum type="arabicPeriod"/>
            </a:pPr>
            <a:r>
              <a:rPr lang="es-ES_tradnl" sz="1100" dirty="0"/>
              <a:t>Fecha de graduación</a:t>
            </a:r>
          </a:p>
          <a:p>
            <a:pPr marL="228600" indent="-228600">
              <a:buFont typeface="+mj-lt"/>
              <a:buAutoNum type="arabicPeriod"/>
            </a:pPr>
            <a:endParaRPr lang="es-ES_tradnl" sz="1100" dirty="0"/>
          </a:p>
          <a:p>
            <a:r>
              <a:rPr lang="es-ES_tradnl" sz="1100" dirty="0"/>
              <a:t>Los campos 3 y 4 son actualizados con la solicitud de graduación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452468C-4764-5B8B-D2C4-84B889CDADCA}"/>
              </a:ext>
            </a:extLst>
          </p:cNvPr>
          <p:cNvSpPr/>
          <p:nvPr/>
        </p:nvSpPr>
        <p:spPr>
          <a:xfrm>
            <a:off x="782436" y="1578735"/>
            <a:ext cx="1101228" cy="152400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901D06D-AB73-9078-8910-30AF46136915}"/>
              </a:ext>
            </a:extLst>
          </p:cNvPr>
          <p:cNvSpPr/>
          <p:nvPr/>
        </p:nvSpPr>
        <p:spPr>
          <a:xfrm>
            <a:off x="1034144" y="1881947"/>
            <a:ext cx="1187848" cy="321366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0C06CC78-1C9F-9B68-4588-EB5C51469BFF}"/>
              </a:ext>
            </a:extLst>
          </p:cNvPr>
          <p:cNvSpPr/>
          <p:nvPr/>
        </p:nvSpPr>
        <p:spPr>
          <a:xfrm>
            <a:off x="2265678" y="2118316"/>
            <a:ext cx="360421" cy="2565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3B5ABD3-DD40-B4FF-3068-F615ACE6EE1D}"/>
              </a:ext>
            </a:extLst>
          </p:cNvPr>
          <p:cNvSpPr/>
          <p:nvPr/>
        </p:nvSpPr>
        <p:spPr>
          <a:xfrm>
            <a:off x="4387088" y="1854516"/>
            <a:ext cx="1593087" cy="321365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395F96AC-FA4E-66B7-0D11-85CA9DF1061E}"/>
              </a:ext>
            </a:extLst>
          </p:cNvPr>
          <p:cNvSpPr/>
          <p:nvPr/>
        </p:nvSpPr>
        <p:spPr>
          <a:xfrm>
            <a:off x="3990357" y="2173549"/>
            <a:ext cx="360421" cy="2565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1B2D159-C0EC-4EF5-4E28-E517FCE9A87C}"/>
              </a:ext>
            </a:extLst>
          </p:cNvPr>
          <p:cNvSpPr/>
          <p:nvPr/>
        </p:nvSpPr>
        <p:spPr>
          <a:xfrm>
            <a:off x="853932" y="2870207"/>
            <a:ext cx="1523507" cy="483242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4" name="Rectángulo redondeado 9">
            <a:extLst>
              <a:ext uri="{FF2B5EF4-FFF2-40B4-BE49-F238E27FC236}">
                <a16:creationId xmlns:a16="http://schemas.microsoft.com/office/drawing/2014/main" id="{35A97EA1-2EEB-2402-F5BA-63329745A2FF}"/>
              </a:ext>
            </a:extLst>
          </p:cNvPr>
          <p:cNvSpPr/>
          <p:nvPr/>
        </p:nvSpPr>
        <p:spPr>
          <a:xfrm>
            <a:off x="2421124" y="3111828"/>
            <a:ext cx="360421" cy="2565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4288F85-BA90-3B3E-F4A2-1CEA1518F460}"/>
              </a:ext>
            </a:extLst>
          </p:cNvPr>
          <p:cNvSpPr/>
          <p:nvPr/>
        </p:nvSpPr>
        <p:spPr>
          <a:xfrm>
            <a:off x="872220" y="3549763"/>
            <a:ext cx="1688099" cy="256503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6" name="Rectángulo redondeado 9">
            <a:extLst>
              <a:ext uri="{FF2B5EF4-FFF2-40B4-BE49-F238E27FC236}">
                <a16:creationId xmlns:a16="http://schemas.microsoft.com/office/drawing/2014/main" id="{2D31AEEB-5EEB-A452-531F-8B01BCFF1896}"/>
              </a:ext>
            </a:extLst>
          </p:cNvPr>
          <p:cNvSpPr/>
          <p:nvPr/>
        </p:nvSpPr>
        <p:spPr>
          <a:xfrm>
            <a:off x="2622292" y="3468171"/>
            <a:ext cx="360421" cy="2565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4115029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482FA-3CB6-671F-8020-F3EFB0326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20D79FCA-FDF4-2FD6-1C55-1060689C8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436" y="1104969"/>
            <a:ext cx="11004180" cy="5039512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00CC300-CAA4-B23C-42B8-1819E3C5FAA0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Gestionar el otorgamiento y registro de grado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E7ADB25C-824B-47C6-CC7F-43F0CFFFB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br>
              <a:rPr lang="es-CL" b="1" dirty="0">
                <a:effectLst/>
              </a:rPr>
            </a:br>
            <a:endParaRPr lang="es-CL" dirty="0"/>
          </a:p>
        </p:txBody>
      </p:sp>
      <p:sp>
        <p:nvSpPr>
          <p:cNvPr id="6" name="Título 3">
            <a:extLst>
              <a:ext uri="{FF2B5EF4-FFF2-40B4-BE49-F238E27FC236}">
                <a16:creationId xmlns:a16="http://schemas.microsoft.com/office/drawing/2014/main" id="{678FAFFF-3007-95A1-786B-0C2B864FD301}"/>
              </a:ext>
            </a:extLst>
          </p:cNvPr>
          <p:cNvSpPr txBox="1">
            <a:spLocks/>
          </p:cNvSpPr>
          <p:nvPr/>
        </p:nvSpPr>
        <p:spPr>
          <a:xfrm>
            <a:off x="962647" y="480392"/>
            <a:ext cx="10271883" cy="62616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dirty="0">
                <a:solidFill>
                  <a:schemeClr val="accent1"/>
                </a:solidFill>
              </a:rPr>
              <a:t>Actualización del registro de grado: </a:t>
            </a:r>
            <a:r>
              <a:rPr lang="es-ES_tradnl" b="0" dirty="0">
                <a:solidFill>
                  <a:schemeClr val="accent1"/>
                </a:solidFill>
              </a:rPr>
              <a:t>Individual</a:t>
            </a:r>
            <a:br>
              <a:rPr lang="es-CL" dirty="0">
                <a:solidFill>
                  <a:schemeClr val="accent1"/>
                </a:solidFill>
              </a:rPr>
            </a:b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9" name="Rectángulo redondeado 5">
            <a:extLst>
              <a:ext uri="{FF2B5EF4-FFF2-40B4-BE49-F238E27FC236}">
                <a16:creationId xmlns:a16="http://schemas.microsoft.com/office/drawing/2014/main" id="{FA2AA3F2-01A7-9A08-A1A3-1253A105DE89}"/>
              </a:ext>
            </a:extLst>
          </p:cNvPr>
          <p:cNvSpPr/>
          <p:nvPr/>
        </p:nvSpPr>
        <p:spPr>
          <a:xfrm>
            <a:off x="2542032" y="4181152"/>
            <a:ext cx="7808976" cy="1744160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dirty="0"/>
              <a:t>A continuación se indican los datos que pueden ser definidos/modificados en la página:</a:t>
            </a:r>
          </a:p>
          <a:p>
            <a:r>
              <a:rPr lang="es-ES_tradnl" sz="1200" dirty="0"/>
              <a:t>Pestaña Honores:</a:t>
            </a:r>
          </a:p>
          <a:p>
            <a:pPr marL="228600" indent="-228600">
              <a:buFont typeface="+mj-lt"/>
              <a:buAutoNum type="arabicPeriod" startAt="5"/>
            </a:pPr>
            <a:r>
              <a:rPr lang="es-ES_tradnl" sz="1100" dirty="0"/>
              <a:t>En el campo Estatus de resultados, se registran los que han sido definidos para la Institución (solo uno por registro):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s-ES_tradnl" sz="1100" dirty="0"/>
              <a:t>Distinciones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s-ES_tradnl" sz="1100" dirty="0"/>
              <a:t>Grado de Bachiller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s-ES_tradnl" sz="1100" dirty="0"/>
              <a:t>Mejor estudiante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s-ES_tradnl" sz="1100" dirty="0"/>
              <a:t>Mención de honor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s-ES_tradnl" sz="1100" dirty="0"/>
              <a:t>Distinción máxima</a:t>
            </a:r>
          </a:p>
          <a:p>
            <a:pPr marL="228600" indent="-228600">
              <a:buFont typeface="+mj-lt"/>
              <a:buAutoNum type="arabicPeriod" startAt="5"/>
            </a:pPr>
            <a:r>
              <a:rPr lang="es-ES_tradnl" sz="1100" dirty="0"/>
              <a:t>Se pueden incorporar comentarios del registro del estudiante. Cada línea pudiese representar un dato, precedido de un código para que pueda distinguirse. Por ejemplo: ND: Número de resolución.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7157B73-17B6-1D7A-5712-3C1D1F859B00}"/>
              </a:ext>
            </a:extLst>
          </p:cNvPr>
          <p:cNvSpPr/>
          <p:nvPr/>
        </p:nvSpPr>
        <p:spPr>
          <a:xfrm>
            <a:off x="2532888" y="1516205"/>
            <a:ext cx="468113" cy="184105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6605094-31FB-A80C-0A3D-B31D8CFCF641}"/>
              </a:ext>
            </a:extLst>
          </p:cNvPr>
          <p:cNvSpPr/>
          <p:nvPr/>
        </p:nvSpPr>
        <p:spPr>
          <a:xfrm>
            <a:off x="782437" y="2359152"/>
            <a:ext cx="781187" cy="284702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6" name="Rectángulo redondeado 9">
            <a:extLst>
              <a:ext uri="{FF2B5EF4-FFF2-40B4-BE49-F238E27FC236}">
                <a16:creationId xmlns:a16="http://schemas.microsoft.com/office/drawing/2014/main" id="{23A7FBDD-3077-289B-B541-0047E90BEF9A}"/>
              </a:ext>
            </a:extLst>
          </p:cNvPr>
          <p:cNvSpPr/>
          <p:nvPr/>
        </p:nvSpPr>
        <p:spPr>
          <a:xfrm>
            <a:off x="1563624" y="2728619"/>
            <a:ext cx="360421" cy="2565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5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CA86E66B-278D-AC66-11BF-3195B2F458E5}"/>
              </a:ext>
            </a:extLst>
          </p:cNvPr>
          <p:cNvSpPr/>
          <p:nvPr/>
        </p:nvSpPr>
        <p:spPr>
          <a:xfrm>
            <a:off x="782435" y="3069886"/>
            <a:ext cx="11004180" cy="348759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9" name="Rectángulo redondeado 9">
            <a:extLst>
              <a:ext uri="{FF2B5EF4-FFF2-40B4-BE49-F238E27FC236}">
                <a16:creationId xmlns:a16="http://schemas.microsoft.com/office/drawing/2014/main" id="{7D2B9492-B03E-27F9-7B86-3459AEC8AD1D}"/>
              </a:ext>
            </a:extLst>
          </p:cNvPr>
          <p:cNvSpPr/>
          <p:nvPr/>
        </p:nvSpPr>
        <p:spPr>
          <a:xfrm>
            <a:off x="1203203" y="3481447"/>
            <a:ext cx="360421" cy="2565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6814847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Gestionar el otorgamiento y registro de grado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1800808"/>
            <a:ext cx="9337548" cy="1628192"/>
          </a:xfrm>
        </p:spPr>
        <p:txBody>
          <a:bodyPr/>
          <a:lstStyle/>
          <a:p>
            <a:r>
              <a:rPr lang="es-419" b="0" dirty="0"/>
              <a:t>Actualización masiva por medio del proceso SHAMDEG</a:t>
            </a:r>
            <a:endParaRPr lang="en-U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07D1C1A-E94F-CA83-DE0B-F0CC7B09DB0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3553238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Aplicación, Correo electrónico, Teams&#10;&#10;El contenido generado por IA puede ser incorrecto.">
            <a:extLst>
              <a:ext uri="{FF2B5EF4-FFF2-40B4-BE49-F238E27FC236}">
                <a16:creationId xmlns:a16="http://schemas.microsoft.com/office/drawing/2014/main" id="{3C6FB89B-20D1-612F-0114-C136EBF9B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682" y="1106557"/>
            <a:ext cx="10934790" cy="5004638"/>
          </a:xfrm>
          <a:prstGeom prst="rect">
            <a:avLst/>
          </a:prstGeom>
        </p:spPr>
      </p:pic>
      <p:sp>
        <p:nvSpPr>
          <p:cNvPr id="7" name="Rectángulo redondeado 5">
            <a:extLst>
              <a:ext uri="{FF2B5EF4-FFF2-40B4-BE49-F238E27FC236}">
                <a16:creationId xmlns:a16="http://schemas.microsoft.com/office/drawing/2014/main" id="{D3C715A8-E9A8-499A-1AD1-B7E7438DE1F0}"/>
              </a:ext>
            </a:extLst>
          </p:cNvPr>
          <p:cNvSpPr/>
          <p:nvPr/>
        </p:nvSpPr>
        <p:spPr>
          <a:xfrm>
            <a:off x="2865920" y="4226477"/>
            <a:ext cx="5456553" cy="1411942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dirty="0"/>
              <a:t>El proceso de actualización masiva permite cambiar a varios estudiantes, según criterios o selección de población, los registros de grado</a:t>
            </a:r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D01A61E8-7422-BFDF-6BF2-9E7CA71961D1}"/>
              </a:ext>
            </a:extLst>
          </p:cNvPr>
          <p:cNvSpPr txBox="1">
            <a:spLocks/>
          </p:cNvSpPr>
          <p:nvPr/>
        </p:nvSpPr>
        <p:spPr>
          <a:xfrm>
            <a:off x="962647" y="480392"/>
            <a:ext cx="10271883" cy="62616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dirty="0">
                <a:solidFill>
                  <a:schemeClr val="accent1"/>
                </a:solidFill>
              </a:rPr>
              <a:t>Actualización del registro de grado: </a:t>
            </a:r>
            <a:r>
              <a:rPr lang="es-ES_tradnl" b="0" dirty="0">
                <a:solidFill>
                  <a:schemeClr val="accent1"/>
                </a:solidFill>
              </a:rPr>
              <a:t>Masiva (SHAMDEG)</a:t>
            </a:r>
            <a:br>
              <a:rPr lang="es-CL" b="0" dirty="0">
                <a:solidFill>
                  <a:schemeClr val="accent1"/>
                </a:solidFill>
              </a:rPr>
            </a:br>
            <a:endParaRPr lang="es-CL" b="0" dirty="0">
              <a:solidFill>
                <a:schemeClr val="accent1"/>
              </a:solidFill>
            </a:endParaRPr>
          </a:p>
        </p:txBody>
      </p:sp>
      <p:sp>
        <p:nvSpPr>
          <p:cNvPr id="5" name="Marcador de texto vertical 2">
            <a:extLst>
              <a:ext uri="{FF2B5EF4-FFF2-40B4-BE49-F238E27FC236}">
                <a16:creationId xmlns:a16="http://schemas.microsoft.com/office/drawing/2014/main" id="{78B2FA54-8A76-D83D-AC1B-70F8D781469A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>
          <a:xfrm rot="10800000">
            <a:off x="0" y="685800"/>
            <a:ext cx="609600" cy="5486399"/>
          </a:xfrm>
        </p:spPr>
        <p:txBody>
          <a:bodyPr/>
          <a:lstStyle/>
          <a:p>
            <a:r>
              <a:rPr lang="es-419" sz="1200" dirty="0"/>
              <a:t>Gestionar el otorgamiento y registro de grado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51649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DD3E9-2DCD-F0A1-C708-CCD1E10DF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Aplicación, Correo electrónico, Teams&#10;&#10;El contenido generado por IA puede ser incorrecto.">
            <a:extLst>
              <a:ext uri="{FF2B5EF4-FFF2-40B4-BE49-F238E27FC236}">
                <a16:creationId xmlns:a16="http://schemas.microsoft.com/office/drawing/2014/main" id="{E56D0D54-28CD-938C-B386-00F37F7D7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682" y="1106557"/>
            <a:ext cx="10934790" cy="5004638"/>
          </a:xfrm>
          <a:prstGeom prst="rect">
            <a:avLst/>
          </a:prstGeom>
        </p:spPr>
      </p:pic>
      <p:sp>
        <p:nvSpPr>
          <p:cNvPr id="7" name="Rectángulo redondeado 5">
            <a:extLst>
              <a:ext uri="{FF2B5EF4-FFF2-40B4-BE49-F238E27FC236}">
                <a16:creationId xmlns:a16="http://schemas.microsoft.com/office/drawing/2014/main" id="{2170CD1E-89D0-41E0-AEEA-8D3C6238F811}"/>
              </a:ext>
            </a:extLst>
          </p:cNvPr>
          <p:cNvSpPr/>
          <p:nvPr/>
        </p:nvSpPr>
        <p:spPr>
          <a:xfrm>
            <a:off x="4010534" y="1506071"/>
            <a:ext cx="7338784" cy="2526434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dirty="0"/>
              <a:t>Ingrese en la página SHAMDEG y a continuación:</a:t>
            </a:r>
          </a:p>
          <a:p>
            <a:r>
              <a:rPr lang="es-ES_tradnl" sz="1200" dirty="0"/>
              <a:t>En la pestaña Buscar se definen los parámetros de búsqueda para ejecutar el proceso, mientras más específicos sean los parámetros más definida será la búsqueda.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_tradnl" sz="1200" dirty="0"/>
              <a:t>Según los datos que tengan los estudiantes en la página SHADEGR, respecto al grado, puede ingresar los siguientes parámetros:</a:t>
            </a:r>
          </a:p>
          <a:p>
            <a:pPr marL="342900" indent="-342900">
              <a:buFont typeface="+mj-lt"/>
              <a:buAutoNum type="arabicPeriod"/>
            </a:pPr>
            <a:r>
              <a:rPr lang="es-ES_tradnl" sz="1200" dirty="0"/>
              <a:t>Período de Inscripción: corresponde al período de registro del alumno de la página SHADEGR.</a:t>
            </a:r>
          </a:p>
          <a:p>
            <a:pPr marL="342900" indent="-342900">
              <a:buFont typeface="+mj-lt"/>
              <a:buAutoNum type="arabicPeriod"/>
            </a:pPr>
            <a:r>
              <a:rPr lang="es-ES_tradnl" sz="1200" dirty="0"/>
              <a:t>Período de graduación</a:t>
            </a:r>
          </a:p>
          <a:p>
            <a:pPr marL="342900" indent="-342900">
              <a:buFont typeface="+mj-lt"/>
              <a:buAutoNum type="arabicPeriod"/>
            </a:pPr>
            <a:r>
              <a:rPr lang="es-ES_tradnl" sz="1200" dirty="0"/>
              <a:t>Fecha de graduación</a:t>
            </a:r>
          </a:p>
          <a:p>
            <a:pPr marL="342900" indent="-342900">
              <a:buFont typeface="+mj-lt"/>
              <a:buAutoNum type="arabicPeriod"/>
            </a:pPr>
            <a:r>
              <a:rPr lang="es-ES_tradnl" sz="1200" dirty="0"/>
              <a:t>Estatus de resultados</a:t>
            </a:r>
          </a:p>
          <a:p>
            <a:pPr marL="342900" indent="-342900">
              <a:buFont typeface="+mj-lt"/>
              <a:buAutoNum type="arabicPeriod"/>
            </a:pPr>
            <a:r>
              <a:rPr lang="es-ES_tradnl" sz="1200" dirty="0"/>
              <a:t>Período de finalización de Grado</a:t>
            </a:r>
          </a:p>
          <a:p>
            <a:endParaRPr lang="es-ES_tradnl" sz="1200" dirty="0"/>
          </a:p>
          <a:p>
            <a:r>
              <a:rPr lang="es-ES_tradnl" sz="1200" b="1" dirty="0"/>
              <a:t>Nota</a:t>
            </a:r>
            <a:r>
              <a:rPr lang="es-ES_tradnl" sz="1200" dirty="0"/>
              <a:t>: estos parámetros </a:t>
            </a:r>
            <a:r>
              <a:rPr lang="es-ES_tradnl" sz="1200" b="1" dirty="0"/>
              <a:t>no</a:t>
            </a:r>
            <a:r>
              <a:rPr lang="es-ES_tradnl" sz="1200" dirty="0"/>
              <a:t> son excluyentes con los indicados en la diapositiva siguiente, ni entre ellos</a:t>
            </a:r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7BD888AA-7D5E-407D-B725-B6DF3E98B79A}"/>
              </a:ext>
            </a:extLst>
          </p:cNvPr>
          <p:cNvSpPr txBox="1">
            <a:spLocks/>
          </p:cNvSpPr>
          <p:nvPr/>
        </p:nvSpPr>
        <p:spPr>
          <a:xfrm>
            <a:off x="962647" y="480392"/>
            <a:ext cx="10271883" cy="62616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dirty="0">
                <a:solidFill>
                  <a:schemeClr val="accent1"/>
                </a:solidFill>
              </a:rPr>
              <a:t>Actualización del registro de grado: </a:t>
            </a:r>
            <a:r>
              <a:rPr lang="es-ES_tradnl" b="0" dirty="0">
                <a:solidFill>
                  <a:schemeClr val="accent1"/>
                </a:solidFill>
              </a:rPr>
              <a:t>Masiva (SHAMDEG)</a:t>
            </a:r>
            <a:br>
              <a:rPr lang="es-CL" b="0" dirty="0">
                <a:solidFill>
                  <a:schemeClr val="accent1"/>
                </a:solidFill>
              </a:rPr>
            </a:br>
            <a:endParaRPr lang="es-CL" b="0" dirty="0">
              <a:solidFill>
                <a:schemeClr val="accent1"/>
              </a:solidFill>
            </a:endParaRPr>
          </a:p>
        </p:txBody>
      </p:sp>
      <p:sp>
        <p:nvSpPr>
          <p:cNvPr id="5" name="Marcador de texto vertical 2">
            <a:extLst>
              <a:ext uri="{FF2B5EF4-FFF2-40B4-BE49-F238E27FC236}">
                <a16:creationId xmlns:a16="http://schemas.microsoft.com/office/drawing/2014/main" id="{69AED0D7-1EB8-5585-8AE5-201E07AF191B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>
          <a:xfrm rot="10800000">
            <a:off x="0" y="685800"/>
            <a:ext cx="609600" cy="5486399"/>
          </a:xfrm>
        </p:spPr>
        <p:txBody>
          <a:bodyPr/>
          <a:lstStyle/>
          <a:p>
            <a:r>
              <a:rPr lang="es-419" sz="1200" dirty="0"/>
              <a:t>Gestionar el otorgamiento y registro de grado</a:t>
            </a:r>
            <a:endParaRPr lang="en-US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BEAB801-AE02-6883-F0DD-6DB20977CAE5}"/>
              </a:ext>
            </a:extLst>
          </p:cNvPr>
          <p:cNvSpPr/>
          <p:nvPr/>
        </p:nvSpPr>
        <p:spPr>
          <a:xfrm>
            <a:off x="810247" y="1371599"/>
            <a:ext cx="396761" cy="134471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684EF61-886B-BEC9-AB65-B0B7ABCCC4CD}"/>
              </a:ext>
            </a:extLst>
          </p:cNvPr>
          <p:cNvSpPr/>
          <p:nvPr/>
        </p:nvSpPr>
        <p:spPr>
          <a:xfrm>
            <a:off x="1095511" y="1641430"/>
            <a:ext cx="989321" cy="256503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50F2FF91-02BB-CDED-B533-9BA1AF0B4B52}"/>
              </a:ext>
            </a:extLst>
          </p:cNvPr>
          <p:cNvSpPr/>
          <p:nvPr/>
        </p:nvSpPr>
        <p:spPr>
          <a:xfrm>
            <a:off x="2117267" y="1618269"/>
            <a:ext cx="360421" cy="2565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0F190EB-4157-1E1F-2776-5891491294DE}"/>
              </a:ext>
            </a:extLst>
          </p:cNvPr>
          <p:cNvSpPr/>
          <p:nvPr/>
        </p:nvSpPr>
        <p:spPr>
          <a:xfrm>
            <a:off x="1095510" y="1930980"/>
            <a:ext cx="989321" cy="219544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F519ED1-DA68-81F0-C1C7-2B8DBE1A70F4}"/>
              </a:ext>
            </a:extLst>
          </p:cNvPr>
          <p:cNvSpPr/>
          <p:nvPr/>
        </p:nvSpPr>
        <p:spPr>
          <a:xfrm>
            <a:off x="842682" y="2150524"/>
            <a:ext cx="1598766" cy="172319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92BB3B3-B96A-0577-2A56-660518E54DCA}"/>
              </a:ext>
            </a:extLst>
          </p:cNvPr>
          <p:cNvSpPr/>
          <p:nvPr/>
        </p:nvSpPr>
        <p:spPr>
          <a:xfrm>
            <a:off x="1147405" y="2949008"/>
            <a:ext cx="864276" cy="256502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EAF2ED7-4074-711F-0D20-468527ABC720}"/>
              </a:ext>
            </a:extLst>
          </p:cNvPr>
          <p:cNvSpPr/>
          <p:nvPr/>
        </p:nvSpPr>
        <p:spPr>
          <a:xfrm>
            <a:off x="860970" y="3222524"/>
            <a:ext cx="1153080" cy="256502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5" name="Rectángulo redondeado 9">
            <a:extLst>
              <a:ext uri="{FF2B5EF4-FFF2-40B4-BE49-F238E27FC236}">
                <a16:creationId xmlns:a16="http://schemas.microsoft.com/office/drawing/2014/main" id="{6AA1F386-C86D-B69D-42E3-D48C9AFD2697}"/>
              </a:ext>
            </a:extLst>
          </p:cNvPr>
          <p:cNvSpPr/>
          <p:nvPr/>
        </p:nvSpPr>
        <p:spPr>
          <a:xfrm>
            <a:off x="2123487" y="1858560"/>
            <a:ext cx="360421" cy="2565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16" name="Rectángulo redondeado 9">
            <a:extLst>
              <a:ext uri="{FF2B5EF4-FFF2-40B4-BE49-F238E27FC236}">
                <a16:creationId xmlns:a16="http://schemas.microsoft.com/office/drawing/2014/main" id="{B2545BBE-5B1D-6569-23E5-7541A263F109}"/>
              </a:ext>
            </a:extLst>
          </p:cNvPr>
          <p:cNvSpPr/>
          <p:nvPr/>
        </p:nvSpPr>
        <p:spPr>
          <a:xfrm>
            <a:off x="2470476" y="2116818"/>
            <a:ext cx="360421" cy="2565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17" name="Rectángulo redondeado 9">
            <a:extLst>
              <a:ext uri="{FF2B5EF4-FFF2-40B4-BE49-F238E27FC236}">
                <a16:creationId xmlns:a16="http://schemas.microsoft.com/office/drawing/2014/main" id="{0456F1C7-1165-192F-347E-E7528464C10F}"/>
              </a:ext>
            </a:extLst>
          </p:cNvPr>
          <p:cNvSpPr/>
          <p:nvPr/>
        </p:nvSpPr>
        <p:spPr>
          <a:xfrm>
            <a:off x="2044116" y="2863047"/>
            <a:ext cx="360421" cy="2565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  <p:sp>
        <p:nvSpPr>
          <p:cNvPr id="18" name="Rectángulo redondeado 9">
            <a:extLst>
              <a:ext uri="{FF2B5EF4-FFF2-40B4-BE49-F238E27FC236}">
                <a16:creationId xmlns:a16="http://schemas.microsoft.com/office/drawing/2014/main" id="{67A364A0-EC56-6228-1623-8765BB185BBA}"/>
              </a:ext>
            </a:extLst>
          </p:cNvPr>
          <p:cNvSpPr/>
          <p:nvPr/>
        </p:nvSpPr>
        <p:spPr>
          <a:xfrm>
            <a:off x="2044115" y="3270629"/>
            <a:ext cx="360421" cy="2565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21394247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044D5-5C49-DC34-31C2-624AB38C3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Aplicación, Correo electrónico, Teams&#10;&#10;El contenido generado por IA puede ser incorrecto.">
            <a:extLst>
              <a:ext uri="{FF2B5EF4-FFF2-40B4-BE49-F238E27FC236}">
                <a16:creationId xmlns:a16="http://schemas.microsoft.com/office/drawing/2014/main" id="{C0726C77-0954-2809-DEEC-27E2FA5F4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682" y="1106557"/>
            <a:ext cx="10934790" cy="5004638"/>
          </a:xfrm>
          <a:prstGeom prst="rect">
            <a:avLst/>
          </a:prstGeom>
        </p:spPr>
      </p:pic>
      <p:sp>
        <p:nvSpPr>
          <p:cNvPr id="7" name="Rectángulo redondeado 5">
            <a:extLst>
              <a:ext uri="{FF2B5EF4-FFF2-40B4-BE49-F238E27FC236}">
                <a16:creationId xmlns:a16="http://schemas.microsoft.com/office/drawing/2014/main" id="{65B18D23-D474-D2A7-0B37-111818C7C469}"/>
              </a:ext>
            </a:extLst>
          </p:cNvPr>
          <p:cNvSpPr/>
          <p:nvPr/>
        </p:nvSpPr>
        <p:spPr>
          <a:xfrm>
            <a:off x="1667240" y="3742000"/>
            <a:ext cx="7338784" cy="2526434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_tradnl" sz="1200" dirty="0"/>
              <a:t>Según los datos que tengan los estudiantes en la página SHADEGR, respecto al programa, puede ingresar los siguientes parámetros:</a:t>
            </a:r>
          </a:p>
          <a:p>
            <a:pPr marL="342900" indent="-342900">
              <a:buFont typeface="+mj-lt"/>
              <a:buAutoNum type="arabicPeriod" startAt="6"/>
            </a:pPr>
            <a:r>
              <a:rPr lang="es-ES_tradnl" sz="1200" dirty="0"/>
              <a:t>Nivel del programa</a:t>
            </a:r>
          </a:p>
          <a:p>
            <a:pPr marL="342900" indent="-342900">
              <a:buFont typeface="+mj-lt"/>
              <a:buAutoNum type="arabicPeriod" startAt="6"/>
            </a:pPr>
            <a:r>
              <a:rPr lang="es-ES_tradnl" sz="1200" dirty="0"/>
              <a:t>Campus</a:t>
            </a:r>
          </a:p>
          <a:p>
            <a:pPr marL="342900" indent="-342900">
              <a:buFont typeface="+mj-lt"/>
              <a:buAutoNum type="arabicPeriod" startAt="6"/>
            </a:pPr>
            <a:r>
              <a:rPr lang="es-ES_tradnl" sz="1200" dirty="0"/>
              <a:t>Fecha de graduación</a:t>
            </a:r>
          </a:p>
          <a:p>
            <a:pPr marL="342900" indent="-342900">
              <a:buFont typeface="+mj-lt"/>
              <a:buAutoNum type="arabicPeriod" startAt="6"/>
            </a:pPr>
            <a:r>
              <a:rPr lang="es-ES_tradnl" sz="1200" dirty="0"/>
              <a:t>Tipo de campo de estudio (carrera, concentración o </a:t>
            </a:r>
            <a:r>
              <a:rPr lang="es-ES_tradnl" sz="1200" dirty="0" err="1"/>
              <a:t>minor</a:t>
            </a:r>
            <a:r>
              <a:rPr lang="es-ES_tradnl" sz="1200" dirty="0"/>
              <a:t>) y Código de campo de estudio</a:t>
            </a:r>
          </a:p>
          <a:p>
            <a:pPr marL="342900" indent="-342900">
              <a:buFont typeface="+mj-lt"/>
              <a:buAutoNum type="arabicPeriod" startAt="6"/>
            </a:pPr>
            <a:r>
              <a:rPr lang="es-ES_tradnl" sz="1200" dirty="0"/>
              <a:t>Currículos: </a:t>
            </a:r>
            <a:r>
              <a:rPr lang="es-419" sz="1200" dirty="0"/>
              <a:t>campo requerido cuando cualquier información de currículo se ingresa y predefine a Cualquiera. Los valores válidos son Principal, Secundario, Cualquiera</a:t>
            </a:r>
            <a:endParaRPr lang="es-ES_tradnl" sz="1200" dirty="0"/>
          </a:p>
          <a:p>
            <a:r>
              <a:rPr lang="es-ES_tradnl" sz="1200" b="1" dirty="0"/>
              <a:t>Nota</a:t>
            </a:r>
            <a:r>
              <a:rPr lang="es-ES_tradnl" sz="1200" dirty="0"/>
              <a:t>: estos parámetros </a:t>
            </a:r>
            <a:r>
              <a:rPr lang="es-ES_tradnl" sz="1200" b="1" dirty="0"/>
              <a:t>no</a:t>
            </a:r>
            <a:r>
              <a:rPr lang="es-ES_tradnl" sz="1200" dirty="0"/>
              <a:t> son excluyentes con los indicados en la diapositiva anterior, ni entre ellos.</a:t>
            </a:r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D3058E7E-981F-DB6B-E7FD-BB64A128EF39}"/>
              </a:ext>
            </a:extLst>
          </p:cNvPr>
          <p:cNvSpPr txBox="1">
            <a:spLocks/>
          </p:cNvSpPr>
          <p:nvPr/>
        </p:nvSpPr>
        <p:spPr>
          <a:xfrm>
            <a:off x="962647" y="480392"/>
            <a:ext cx="10271883" cy="62616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dirty="0">
                <a:solidFill>
                  <a:schemeClr val="accent1"/>
                </a:solidFill>
              </a:rPr>
              <a:t>Actualización del registro de grado: </a:t>
            </a:r>
            <a:r>
              <a:rPr lang="es-ES_tradnl" b="0" dirty="0">
                <a:solidFill>
                  <a:schemeClr val="accent1"/>
                </a:solidFill>
              </a:rPr>
              <a:t>Masiva (SHAMDEG)</a:t>
            </a:r>
            <a:br>
              <a:rPr lang="es-CL" b="0" dirty="0">
                <a:solidFill>
                  <a:schemeClr val="accent1"/>
                </a:solidFill>
              </a:rPr>
            </a:br>
            <a:endParaRPr lang="es-CL" b="0" dirty="0">
              <a:solidFill>
                <a:schemeClr val="accent1"/>
              </a:solidFill>
            </a:endParaRPr>
          </a:p>
        </p:txBody>
      </p:sp>
      <p:sp>
        <p:nvSpPr>
          <p:cNvPr id="5" name="Marcador de texto vertical 2">
            <a:extLst>
              <a:ext uri="{FF2B5EF4-FFF2-40B4-BE49-F238E27FC236}">
                <a16:creationId xmlns:a16="http://schemas.microsoft.com/office/drawing/2014/main" id="{943AA970-5FAB-78D1-0AD0-5CB99AAFB23D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>
          <a:xfrm rot="10800000">
            <a:off x="0" y="685800"/>
            <a:ext cx="609600" cy="5486399"/>
          </a:xfrm>
        </p:spPr>
        <p:txBody>
          <a:bodyPr/>
          <a:lstStyle/>
          <a:p>
            <a:r>
              <a:rPr lang="es-419" sz="1200" dirty="0"/>
              <a:t>Gestionar el otorgamiento y registro de grado</a:t>
            </a:r>
            <a:endParaRPr lang="en-US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411325D-7E1D-A2B8-EFC2-9DC3C7E9889A}"/>
              </a:ext>
            </a:extLst>
          </p:cNvPr>
          <p:cNvSpPr/>
          <p:nvPr/>
        </p:nvSpPr>
        <p:spPr>
          <a:xfrm>
            <a:off x="810247" y="1371599"/>
            <a:ext cx="396761" cy="134471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1EF2808-6918-7056-5AF6-DE94931710E5}"/>
              </a:ext>
            </a:extLst>
          </p:cNvPr>
          <p:cNvSpPr/>
          <p:nvPr/>
        </p:nvSpPr>
        <p:spPr>
          <a:xfrm>
            <a:off x="6690815" y="1618269"/>
            <a:ext cx="752401" cy="219626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FBEBA82C-E2B4-C2ED-5241-1881D6F46B6A}"/>
              </a:ext>
            </a:extLst>
          </p:cNvPr>
          <p:cNvSpPr/>
          <p:nvPr/>
        </p:nvSpPr>
        <p:spPr>
          <a:xfrm>
            <a:off x="7479456" y="1500289"/>
            <a:ext cx="360421" cy="2565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6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A94C4C8-6CA5-2ECC-1AE0-62793920FCBF}"/>
              </a:ext>
            </a:extLst>
          </p:cNvPr>
          <p:cNvSpPr/>
          <p:nvPr/>
        </p:nvSpPr>
        <p:spPr>
          <a:xfrm>
            <a:off x="6641033" y="1858560"/>
            <a:ext cx="802184" cy="219544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8045167-4D0B-1A9E-70D1-7E3D8A3DA128}"/>
              </a:ext>
            </a:extLst>
          </p:cNvPr>
          <p:cNvSpPr/>
          <p:nvPr/>
        </p:nvSpPr>
        <p:spPr>
          <a:xfrm>
            <a:off x="6566826" y="2440982"/>
            <a:ext cx="1361022" cy="163442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9754C37-1726-A0E4-D6BB-A68454113F3A}"/>
              </a:ext>
            </a:extLst>
          </p:cNvPr>
          <p:cNvSpPr/>
          <p:nvPr/>
        </p:nvSpPr>
        <p:spPr>
          <a:xfrm>
            <a:off x="6310077" y="2681191"/>
            <a:ext cx="1546430" cy="549397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AD28183-9E20-38F3-210F-9412E62B9EBE}"/>
              </a:ext>
            </a:extLst>
          </p:cNvPr>
          <p:cNvSpPr/>
          <p:nvPr/>
        </p:nvSpPr>
        <p:spPr>
          <a:xfrm>
            <a:off x="6566826" y="3415285"/>
            <a:ext cx="1153080" cy="256502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5" name="Rectángulo redondeado 9">
            <a:extLst>
              <a:ext uri="{FF2B5EF4-FFF2-40B4-BE49-F238E27FC236}">
                <a16:creationId xmlns:a16="http://schemas.microsoft.com/office/drawing/2014/main" id="{339D0021-3165-0E19-59A7-35406E5DD503}"/>
              </a:ext>
            </a:extLst>
          </p:cNvPr>
          <p:cNvSpPr/>
          <p:nvPr/>
        </p:nvSpPr>
        <p:spPr>
          <a:xfrm>
            <a:off x="7496086" y="1821601"/>
            <a:ext cx="360421" cy="2565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7</a:t>
            </a:r>
          </a:p>
        </p:txBody>
      </p:sp>
      <p:sp>
        <p:nvSpPr>
          <p:cNvPr id="16" name="Rectángulo redondeado 9">
            <a:extLst>
              <a:ext uri="{FF2B5EF4-FFF2-40B4-BE49-F238E27FC236}">
                <a16:creationId xmlns:a16="http://schemas.microsoft.com/office/drawing/2014/main" id="{F43E8DA0-CD6C-E966-321C-CE4F80E3D01E}"/>
              </a:ext>
            </a:extLst>
          </p:cNvPr>
          <p:cNvSpPr/>
          <p:nvPr/>
        </p:nvSpPr>
        <p:spPr>
          <a:xfrm>
            <a:off x="7980718" y="2347921"/>
            <a:ext cx="360421" cy="2565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8</a:t>
            </a:r>
          </a:p>
        </p:txBody>
      </p:sp>
      <p:sp>
        <p:nvSpPr>
          <p:cNvPr id="17" name="Rectángulo redondeado 9">
            <a:extLst>
              <a:ext uri="{FF2B5EF4-FFF2-40B4-BE49-F238E27FC236}">
                <a16:creationId xmlns:a16="http://schemas.microsoft.com/office/drawing/2014/main" id="{DD4CF84E-8D7E-58A3-8830-84FF666960A0}"/>
              </a:ext>
            </a:extLst>
          </p:cNvPr>
          <p:cNvSpPr/>
          <p:nvPr/>
        </p:nvSpPr>
        <p:spPr>
          <a:xfrm>
            <a:off x="7927848" y="2799929"/>
            <a:ext cx="360421" cy="2565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9</a:t>
            </a:r>
          </a:p>
        </p:txBody>
      </p:sp>
      <p:sp>
        <p:nvSpPr>
          <p:cNvPr id="18" name="Rectángulo redondeado 9">
            <a:extLst>
              <a:ext uri="{FF2B5EF4-FFF2-40B4-BE49-F238E27FC236}">
                <a16:creationId xmlns:a16="http://schemas.microsoft.com/office/drawing/2014/main" id="{D856A992-5C93-9059-D35A-9800B724AD6D}"/>
              </a:ext>
            </a:extLst>
          </p:cNvPr>
          <p:cNvSpPr/>
          <p:nvPr/>
        </p:nvSpPr>
        <p:spPr>
          <a:xfrm>
            <a:off x="7772776" y="3370910"/>
            <a:ext cx="360421" cy="2565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423830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A8952-4695-10A8-C73F-5E566926D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Aplicación, Correo electrónico, Teams&#10;&#10;El contenido generado por IA puede ser incorrecto.">
            <a:extLst>
              <a:ext uri="{FF2B5EF4-FFF2-40B4-BE49-F238E27FC236}">
                <a16:creationId xmlns:a16="http://schemas.microsoft.com/office/drawing/2014/main" id="{97E3C201-71AC-8C0F-22C2-05BEA9967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682" y="1106557"/>
            <a:ext cx="10934790" cy="5004638"/>
          </a:xfrm>
          <a:prstGeom prst="rect">
            <a:avLst/>
          </a:prstGeom>
        </p:spPr>
      </p:pic>
      <p:sp>
        <p:nvSpPr>
          <p:cNvPr id="7" name="Rectángulo redondeado 5">
            <a:extLst>
              <a:ext uri="{FF2B5EF4-FFF2-40B4-BE49-F238E27FC236}">
                <a16:creationId xmlns:a16="http://schemas.microsoft.com/office/drawing/2014/main" id="{280A1D15-6391-DE99-AAA9-AA965F2F44F9}"/>
              </a:ext>
            </a:extLst>
          </p:cNvPr>
          <p:cNvSpPr/>
          <p:nvPr/>
        </p:nvSpPr>
        <p:spPr>
          <a:xfrm>
            <a:off x="2370128" y="1430169"/>
            <a:ext cx="7338784" cy="1954250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_tradnl" sz="1200" dirty="0"/>
              <a:t>Otra manera de realizar la búsqueda es a través de una selección de población, si no se usan criterios de búsqueda de SHADEGR (son excluyentes):</a:t>
            </a:r>
          </a:p>
          <a:p>
            <a:pPr marL="342900" indent="-342900">
              <a:buFont typeface="+mj-lt"/>
              <a:buAutoNum type="arabicPeriod" startAt="11"/>
            </a:pPr>
            <a:r>
              <a:rPr lang="es-ES_tradnl" sz="1200" dirty="0"/>
              <a:t>Ingrese la aplicación para la cual es válida la selección de población</a:t>
            </a:r>
          </a:p>
          <a:p>
            <a:pPr marL="342900" indent="-342900">
              <a:buFont typeface="+mj-lt"/>
              <a:buAutoNum type="arabicPeriod" startAt="11"/>
            </a:pPr>
            <a:r>
              <a:rPr lang="es-ES_tradnl" sz="1200" dirty="0"/>
              <a:t>Ingrese el código que identifica la selección de población</a:t>
            </a:r>
          </a:p>
          <a:p>
            <a:pPr marL="342900" indent="-342900">
              <a:buFont typeface="+mj-lt"/>
              <a:buAutoNum type="arabicPeriod" startAt="11"/>
            </a:pPr>
            <a:r>
              <a:rPr lang="es-ES_tradnl" sz="1200" dirty="0"/>
              <a:t>Ingrese el id del usuario creador de la selección de población</a:t>
            </a:r>
          </a:p>
          <a:p>
            <a:pPr marL="342900" indent="-342900">
              <a:buFont typeface="+mj-lt"/>
              <a:buAutoNum type="arabicPeriod" startAt="11"/>
            </a:pPr>
            <a:r>
              <a:rPr lang="es-ES_tradnl" sz="1200" dirty="0"/>
              <a:t>Ingrese el id de usuario que pobló la selección de población.</a:t>
            </a:r>
          </a:p>
          <a:p>
            <a:pPr marL="342900" indent="-342900">
              <a:buFont typeface="+mj-lt"/>
              <a:buAutoNum type="arabicPeriod" startAt="11"/>
            </a:pPr>
            <a:endParaRPr lang="es-ES_tradnl" sz="1200" dirty="0"/>
          </a:p>
          <a:p>
            <a:r>
              <a:rPr lang="es-ES_tradnl" sz="1100" b="1" dirty="0"/>
              <a:t>Nota</a:t>
            </a:r>
            <a:r>
              <a:rPr lang="es-ES_tradnl" sz="1100" dirty="0"/>
              <a:t>: si se usa selección de población, se debe revisar detalladamente los resultados de la búsqueda pues se pueden mostrar dos o más registros de grado de un mismo estudiante, ya que solo responde a ID de estudiante y no a un programa específico.</a:t>
            </a:r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59098E73-5891-1A6A-2EC6-C532A40AC1AB}"/>
              </a:ext>
            </a:extLst>
          </p:cNvPr>
          <p:cNvSpPr txBox="1">
            <a:spLocks/>
          </p:cNvSpPr>
          <p:nvPr/>
        </p:nvSpPr>
        <p:spPr>
          <a:xfrm>
            <a:off x="962647" y="480392"/>
            <a:ext cx="10271883" cy="62616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dirty="0">
                <a:solidFill>
                  <a:schemeClr val="accent1"/>
                </a:solidFill>
              </a:rPr>
              <a:t>Actualización del registro de grado: </a:t>
            </a:r>
            <a:r>
              <a:rPr lang="es-ES_tradnl" b="0" dirty="0">
                <a:solidFill>
                  <a:schemeClr val="accent1"/>
                </a:solidFill>
              </a:rPr>
              <a:t>Masiva (SHAMDEG)</a:t>
            </a:r>
            <a:br>
              <a:rPr lang="es-CL" b="0" dirty="0">
                <a:solidFill>
                  <a:schemeClr val="accent1"/>
                </a:solidFill>
              </a:rPr>
            </a:br>
            <a:endParaRPr lang="es-CL" b="0" dirty="0">
              <a:solidFill>
                <a:schemeClr val="accent1"/>
              </a:solidFill>
            </a:endParaRPr>
          </a:p>
        </p:txBody>
      </p:sp>
      <p:sp>
        <p:nvSpPr>
          <p:cNvPr id="5" name="Marcador de texto vertical 2">
            <a:extLst>
              <a:ext uri="{FF2B5EF4-FFF2-40B4-BE49-F238E27FC236}">
                <a16:creationId xmlns:a16="http://schemas.microsoft.com/office/drawing/2014/main" id="{DC337548-D01F-CDED-369D-1A43C2E0B050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>
          <a:xfrm rot="10800000">
            <a:off x="0" y="685800"/>
            <a:ext cx="609600" cy="5486399"/>
          </a:xfrm>
        </p:spPr>
        <p:txBody>
          <a:bodyPr/>
          <a:lstStyle/>
          <a:p>
            <a:r>
              <a:rPr lang="es-419" sz="1200" dirty="0"/>
              <a:t>Gestionar el otorgamiento y registro de grado</a:t>
            </a:r>
            <a:endParaRPr lang="en-US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96FBD85-08AC-98D9-AE41-D8D07C6050F6}"/>
              </a:ext>
            </a:extLst>
          </p:cNvPr>
          <p:cNvSpPr/>
          <p:nvPr/>
        </p:nvSpPr>
        <p:spPr>
          <a:xfrm>
            <a:off x="810247" y="1371599"/>
            <a:ext cx="396761" cy="134471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C144208-4006-1A85-D4CA-4AAECBDBA485}"/>
              </a:ext>
            </a:extLst>
          </p:cNvPr>
          <p:cNvSpPr/>
          <p:nvPr/>
        </p:nvSpPr>
        <p:spPr>
          <a:xfrm>
            <a:off x="842682" y="3783932"/>
            <a:ext cx="2229702" cy="134471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C8F554C-A4B3-F220-FDE7-5303B326A9F8}"/>
              </a:ext>
            </a:extLst>
          </p:cNvPr>
          <p:cNvSpPr/>
          <p:nvPr/>
        </p:nvSpPr>
        <p:spPr>
          <a:xfrm>
            <a:off x="842682" y="3927547"/>
            <a:ext cx="2229702" cy="134471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FF20EE3-A0C8-0CBB-64F5-D10B6626FE54}"/>
              </a:ext>
            </a:extLst>
          </p:cNvPr>
          <p:cNvSpPr/>
          <p:nvPr/>
        </p:nvSpPr>
        <p:spPr>
          <a:xfrm>
            <a:off x="6456902" y="3780888"/>
            <a:ext cx="1909857" cy="146660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E718608-8D37-D594-3A41-00AE11EADC9C}"/>
              </a:ext>
            </a:extLst>
          </p:cNvPr>
          <p:cNvSpPr/>
          <p:nvPr/>
        </p:nvSpPr>
        <p:spPr>
          <a:xfrm>
            <a:off x="6456901" y="3936220"/>
            <a:ext cx="1909857" cy="146660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5" name="Rectángulo redondeado 9">
            <a:extLst>
              <a:ext uri="{FF2B5EF4-FFF2-40B4-BE49-F238E27FC236}">
                <a16:creationId xmlns:a16="http://schemas.microsoft.com/office/drawing/2014/main" id="{9E7DCDD1-994E-ADED-229F-93AD24632FC2}"/>
              </a:ext>
            </a:extLst>
          </p:cNvPr>
          <p:cNvSpPr/>
          <p:nvPr/>
        </p:nvSpPr>
        <p:spPr>
          <a:xfrm>
            <a:off x="3125254" y="3594664"/>
            <a:ext cx="360421" cy="2565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11</a:t>
            </a:r>
          </a:p>
        </p:txBody>
      </p:sp>
      <p:sp>
        <p:nvSpPr>
          <p:cNvPr id="16" name="Rectángulo redondeado 9">
            <a:extLst>
              <a:ext uri="{FF2B5EF4-FFF2-40B4-BE49-F238E27FC236}">
                <a16:creationId xmlns:a16="http://schemas.microsoft.com/office/drawing/2014/main" id="{3A3D45DB-86F9-2A44-2D14-3F4B89B1B2BB}"/>
              </a:ext>
            </a:extLst>
          </p:cNvPr>
          <p:cNvSpPr/>
          <p:nvPr/>
        </p:nvSpPr>
        <p:spPr>
          <a:xfrm>
            <a:off x="3104819" y="4009550"/>
            <a:ext cx="360421" cy="2565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12</a:t>
            </a:r>
          </a:p>
        </p:txBody>
      </p:sp>
      <p:sp>
        <p:nvSpPr>
          <p:cNvPr id="17" name="Rectángulo redondeado 9">
            <a:extLst>
              <a:ext uri="{FF2B5EF4-FFF2-40B4-BE49-F238E27FC236}">
                <a16:creationId xmlns:a16="http://schemas.microsoft.com/office/drawing/2014/main" id="{6E38CFDA-D6DB-F069-0FF9-7407A137EE79}"/>
              </a:ext>
            </a:extLst>
          </p:cNvPr>
          <p:cNvSpPr/>
          <p:nvPr/>
        </p:nvSpPr>
        <p:spPr>
          <a:xfrm>
            <a:off x="8419629" y="3594663"/>
            <a:ext cx="360421" cy="2565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13</a:t>
            </a:r>
          </a:p>
        </p:txBody>
      </p:sp>
      <p:sp>
        <p:nvSpPr>
          <p:cNvPr id="18" name="Rectángulo redondeado 9">
            <a:extLst>
              <a:ext uri="{FF2B5EF4-FFF2-40B4-BE49-F238E27FC236}">
                <a16:creationId xmlns:a16="http://schemas.microsoft.com/office/drawing/2014/main" id="{CB94793D-18BE-EB6B-0986-DD9113CEE306}"/>
              </a:ext>
            </a:extLst>
          </p:cNvPr>
          <p:cNvSpPr/>
          <p:nvPr/>
        </p:nvSpPr>
        <p:spPr>
          <a:xfrm>
            <a:off x="8419628" y="3963300"/>
            <a:ext cx="360421" cy="2565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56591260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D7A34-FE85-2168-E6D4-77C55FD2C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D4E4F5AD-6365-2AD7-65DF-2BFC3E081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501" y="1008507"/>
            <a:ext cx="10963029" cy="4775237"/>
          </a:xfrm>
          <a:prstGeom prst="rect">
            <a:avLst/>
          </a:prstGeom>
        </p:spPr>
      </p:pic>
      <p:sp>
        <p:nvSpPr>
          <p:cNvPr id="7" name="Rectángulo redondeado 5">
            <a:extLst>
              <a:ext uri="{FF2B5EF4-FFF2-40B4-BE49-F238E27FC236}">
                <a16:creationId xmlns:a16="http://schemas.microsoft.com/office/drawing/2014/main" id="{2D0F7D7D-AF04-F966-D845-5C5ECC4CD0ED}"/>
              </a:ext>
            </a:extLst>
          </p:cNvPr>
          <p:cNvSpPr/>
          <p:nvPr/>
        </p:nvSpPr>
        <p:spPr>
          <a:xfrm>
            <a:off x="2157985" y="3831554"/>
            <a:ext cx="7196327" cy="2067706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200" dirty="0"/>
              <a:t>En la pestaña Actualizar se definen los valores que se actualizarán en los registros que resulten de la búsqueda que realiza el sistema, con base en los criterios ingresados anteriormente: </a:t>
            </a:r>
          </a:p>
          <a:p>
            <a:pPr marL="342900" indent="-342900">
              <a:buFont typeface="+mj-lt"/>
              <a:buAutoNum type="arabicPeriod" startAt="15"/>
            </a:pPr>
            <a:r>
              <a:rPr lang="es-ES_tradnl" sz="1200" dirty="0"/>
              <a:t>Período de graduación</a:t>
            </a:r>
          </a:p>
          <a:p>
            <a:pPr marL="342900" indent="-342900">
              <a:buFont typeface="+mj-lt"/>
              <a:buAutoNum type="arabicPeriod" startAt="15"/>
            </a:pPr>
            <a:r>
              <a:rPr lang="es-ES_tradnl" sz="1200" dirty="0"/>
              <a:t>Estatus de graduación: depende de la tabla STVGRST (GRA: graduado, NGR: No graduado, AGR: apto para grado)</a:t>
            </a:r>
          </a:p>
          <a:p>
            <a:pPr marL="342900" indent="-342900">
              <a:buFont typeface="+mj-lt"/>
              <a:buAutoNum type="arabicPeriod" startAt="15"/>
            </a:pPr>
            <a:r>
              <a:rPr lang="es-ES_tradnl" sz="1200" dirty="0"/>
              <a:t>Año de graduación</a:t>
            </a:r>
          </a:p>
          <a:p>
            <a:pPr marL="342900" indent="-342900">
              <a:buFont typeface="+mj-lt"/>
              <a:buAutoNum type="arabicPeriod" startAt="15"/>
            </a:pPr>
            <a:r>
              <a:rPr lang="es-ES_tradnl" sz="1200" dirty="0"/>
              <a:t>Fecha de graduación</a:t>
            </a:r>
          </a:p>
          <a:p>
            <a:pPr marL="342900" indent="-342900">
              <a:buFont typeface="+mj-lt"/>
              <a:buAutoNum type="arabicPeriod" startAt="15"/>
            </a:pPr>
            <a:r>
              <a:rPr lang="es-ES_tradnl" sz="1200" dirty="0"/>
              <a:t>Estatus de resultados: depende de la tabla STVDEGS (</a:t>
            </a:r>
            <a:r>
              <a:rPr lang="es-ES_tradnl" sz="1200" dirty="0" err="1"/>
              <a:t>SO:Buscando</a:t>
            </a:r>
            <a:r>
              <a:rPr lang="es-ES_tradnl" sz="1200" dirty="0"/>
              <a:t>, AC: Apto servicio de carpeta, EG: Egresado)</a:t>
            </a:r>
          </a:p>
          <a:p>
            <a:pPr marL="342900" indent="-342900">
              <a:buFont typeface="+mj-lt"/>
              <a:buAutoNum type="arabicPeriod" startAt="15"/>
            </a:pPr>
            <a:r>
              <a:rPr lang="es-ES_tradnl" sz="1200" dirty="0"/>
              <a:t>Pase al siguiente bloque</a:t>
            </a:r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B8A55E66-51C1-A2C6-1F89-29F2C1D8A0C8}"/>
              </a:ext>
            </a:extLst>
          </p:cNvPr>
          <p:cNvSpPr txBox="1">
            <a:spLocks/>
          </p:cNvSpPr>
          <p:nvPr/>
        </p:nvSpPr>
        <p:spPr>
          <a:xfrm>
            <a:off x="962647" y="480392"/>
            <a:ext cx="10271883" cy="62616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dirty="0">
                <a:solidFill>
                  <a:schemeClr val="accent1"/>
                </a:solidFill>
              </a:rPr>
              <a:t>Actualización del registro de grado: </a:t>
            </a:r>
            <a:r>
              <a:rPr lang="es-ES_tradnl" b="0" dirty="0">
                <a:solidFill>
                  <a:schemeClr val="accent1"/>
                </a:solidFill>
              </a:rPr>
              <a:t>Masiva (SHAMDEG)</a:t>
            </a:r>
            <a:br>
              <a:rPr lang="es-CL" b="0" dirty="0">
                <a:solidFill>
                  <a:schemeClr val="accent1"/>
                </a:solidFill>
              </a:rPr>
            </a:br>
            <a:endParaRPr lang="es-CL" b="0" dirty="0">
              <a:solidFill>
                <a:schemeClr val="accent1"/>
              </a:solidFill>
            </a:endParaRPr>
          </a:p>
        </p:txBody>
      </p:sp>
      <p:sp>
        <p:nvSpPr>
          <p:cNvPr id="5" name="Marcador de texto vertical 2">
            <a:extLst>
              <a:ext uri="{FF2B5EF4-FFF2-40B4-BE49-F238E27FC236}">
                <a16:creationId xmlns:a16="http://schemas.microsoft.com/office/drawing/2014/main" id="{CB64C0C5-23A2-CE7F-D39B-0158347C0204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>
          <a:xfrm rot="10800000">
            <a:off x="0" y="685800"/>
            <a:ext cx="609600" cy="5486399"/>
          </a:xfrm>
        </p:spPr>
        <p:txBody>
          <a:bodyPr/>
          <a:lstStyle/>
          <a:p>
            <a:r>
              <a:rPr lang="es-419" sz="1200" dirty="0"/>
              <a:t>Gestionar el otorgamiento y registro de grado</a:t>
            </a:r>
            <a:endParaRPr lang="en-US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6E6ACA3-BBDE-2D39-7C60-9BD27AD7C28A}"/>
              </a:ext>
            </a:extLst>
          </p:cNvPr>
          <p:cNvSpPr/>
          <p:nvPr/>
        </p:nvSpPr>
        <p:spPr>
          <a:xfrm>
            <a:off x="1307258" y="1359149"/>
            <a:ext cx="484966" cy="155986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C134480A-0B1D-32E6-FC97-9DF8C65AD843}"/>
              </a:ext>
            </a:extLst>
          </p:cNvPr>
          <p:cNvSpPr/>
          <p:nvPr/>
        </p:nvSpPr>
        <p:spPr>
          <a:xfrm>
            <a:off x="2685084" y="1709747"/>
            <a:ext cx="360421" cy="2565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15</a:t>
            </a:r>
          </a:p>
        </p:txBody>
      </p:sp>
      <p:sp>
        <p:nvSpPr>
          <p:cNvPr id="15" name="Rectángulo redondeado 9">
            <a:extLst>
              <a:ext uri="{FF2B5EF4-FFF2-40B4-BE49-F238E27FC236}">
                <a16:creationId xmlns:a16="http://schemas.microsoft.com/office/drawing/2014/main" id="{0AACB765-B61A-27E6-A96C-77E49B1A4B3F}"/>
              </a:ext>
            </a:extLst>
          </p:cNvPr>
          <p:cNvSpPr/>
          <p:nvPr/>
        </p:nvSpPr>
        <p:spPr>
          <a:xfrm>
            <a:off x="2685085" y="2048940"/>
            <a:ext cx="360421" cy="2565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16</a:t>
            </a:r>
          </a:p>
        </p:txBody>
      </p:sp>
      <p:sp>
        <p:nvSpPr>
          <p:cNvPr id="16" name="Rectángulo redondeado 9">
            <a:extLst>
              <a:ext uri="{FF2B5EF4-FFF2-40B4-BE49-F238E27FC236}">
                <a16:creationId xmlns:a16="http://schemas.microsoft.com/office/drawing/2014/main" id="{75E6C104-1819-F2DB-A7B1-77BA1EB914DD}"/>
              </a:ext>
            </a:extLst>
          </p:cNvPr>
          <p:cNvSpPr/>
          <p:nvPr/>
        </p:nvSpPr>
        <p:spPr>
          <a:xfrm>
            <a:off x="2660964" y="2372512"/>
            <a:ext cx="360421" cy="2565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17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5CCA5E0-8CA2-4BE7-CED0-2D046460414B}"/>
              </a:ext>
            </a:extLst>
          </p:cNvPr>
          <p:cNvSpPr/>
          <p:nvPr/>
        </p:nvSpPr>
        <p:spPr>
          <a:xfrm>
            <a:off x="1125234" y="5521505"/>
            <a:ext cx="502397" cy="256503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0" name="Rectángulo redondeado 9">
            <a:extLst>
              <a:ext uri="{FF2B5EF4-FFF2-40B4-BE49-F238E27FC236}">
                <a16:creationId xmlns:a16="http://schemas.microsoft.com/office/drawing/2014/main" id="{D8E768B7-12A7-7957-493F-5F6DC46DADBF}"/>
              </a:ext>
            </a:extLst>
          </p:cNvPr>
          <p:cNvSpPr/>
          <p:nvPr/>
        </p:nvSpPr>
        <p:spPr>
          <a:xfrm>
            <a:off x="1751237" y="5537609"/>
            <a:ext cx="360421" cy="2565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20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52A77CB-A949-BAE5-57EB-4656C4F66D27}"/>
              </a:ext>
            </a:extLst>
          </p:cNvPr>
          <p:cNvSpPr/>
          <p:nvPr/>
        </p:nvSpPr>
        <p:spPr>
          <a:xfrm>
            <a:off x="962647" y="1702295"/>
            <a:ext cx="1555759" cy="340955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58DFE4C1-7BD1-FDE3-C514-FDF1891E44E8}"/>
              </a:ext>
            </a:extLst>
          </p:cNvPr>
          <p:cNvSpPr/>
          <p:nvPr/>
        </p:nvSpPr>
        <p:spPr>
          <a:xfrm>
            <a:off x="957893" y="2091424"/>
            <a:ext cx="1555759" cy="340955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BDEC029D-6B1E-12B8-EDA3-9F15B90339A7}"/>
              </a:ext>
            </a:extLst>
          </p:cNvPr>
          <p:cNvSpPr/>
          <p:nvPr/>
        </p:nvSpPr>
        <p:spPr>
          <a:xfrm>
            <a:off x="852425" y="2422435"/>
            <a:ext cx="1555759" cy="216554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24" name="Rectángulo redondeado 9">
            <a:extLst>
              <a:ext uri="{FF2B5EF4-FFF2-40B4-BE49-F238E27FC236}">
                <a16:creationId xmlns:a16="http://schemas.microsoft.com/office/drawing/2014/main" id="{305590BA-791E-ADEC-95BC-32BC854B90FD}"/>
              </a:ext>
            </a:extLst>
          </p:cNvPr>
          <p:cNvSpPr/>
          <p:nvPr/>
        </p:nvSpPr>
        <p:spPr>
          <a:xfrm>
            <a:off x="3168697" y="2574700"/>
            <a:ext cx="360421" cy="2565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18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4A5232AF-8F9A-5A3A-4ECE-1412A71D4628}"/>
              </a:ext>
            </a:extLst>
          </p:cNvPr>
          <p:cNvSpPr/>
          <p:nvPr/>
        </p:nvSpPr>
        <p:spPr>
          <a:xfrm>
            <a:off x="841511" y="2673951"/>
            <a:ext cx="2179874" cy="15706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28" name="Rectángulo redondeado 9">
            <a:extLst>
              <a:ext uri="{FF2B5EF4-FFF2-40B4-BE49-F238E27FC236}">
                <a16:creationId xmlns:a16="http://schemas.microsoft.com/office/drawing/2014/main" id="{BE548EC2-98EA-962C-957A-A12D53D01DDB}"/>
              </a:ext>
            </a:extLst>
          </p:cNvPr>
          <p:cNvSpPr/>
          <p:nvPr/>
        </p:nvSpPr>
        <p:spPr>
          <a:xfrm>
            <a:off x="2787491" y="2946529"/>
            <a:ext cx="360421" cy="2565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19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7831B7A2-2939-E50F-92A4-65FF22EF2C06}"/>
              </a:ext>
            </a:extLst>
          </p:cNvPr>
          <p:cNvSpPr/>
          <p:nvPr/>
        </p:nvSpPr>
        <p:spPr>
          <a:xfrm>
            <a:off x="1077222" y="2851749"/>
            <a:ext cx="1555759" cy="32883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ln>
                <a:solidFill>
                  <a:schemeClr val="accent1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4941473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11B8B-EF5F-2278-354C-DF89FE287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ED889FB7-D2FA-F5F7-3A19-50C2D81DF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7" y="1100713"/>
            <a:ext cx="10939445" cy="5010346"/>
          </a:xfrm>
          <a:prstGeom prst="rect">
            <a:avLst/>
          </a:prstGeom>
        </p:spPr>
      </p:pic>
      <p:sp>
        <p:nvSpPr>
          <p:cNvPr id="7" name="Rectángulo redondeado 5">
            <a:extLst>
              <a:ext uri="{FF2B5EF4-FFF2-40B4-BE49-F238E27FC236}">
                <a16:creationId xmlns:a16="http://schemas.microsoft.com/office/drawing/2014/main" id="{DEDD24B9-C9E4-DBEC-D783-92B148D9C6AF}"/>
              </a:ext>
            </a:extLst>
          </p:cNvPr>
          <p:cNvSpPr/>
          <p:nvPr/>
        </p:nvSpPr>
        <p:spPr>
          <a:xfrm>
            <a:off x="2372102" y="3278326"/>
            <a:ext cx="6967727" cy="1828582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200" dirty="0"/>
              <a:t>En la pestaña Resultados se muestra la lista de registros de los estudiantes que tienen registros en SHADEGR que coincidan con los criterios de búsqueda definidos. Usted puede: </a:t>
            </a:r>
          </a:p>
          <a:p>
            <a:r>
              <a:rPr lang="es-ES_tradnl" sz="1200" dirty="0"/>
              <a:t>21.   Seleccionar todos los registros (se marcan todos los estudiantes de la lista), Deseleccionar todo o marcar individualmente cada estudiante al que desee realizar las actualizaciones (Ninguno) </a:t>
            </a:r>
          </a:p>
          <a:p>
            <a:r>
              <a:rPr lang="es-ES_tradnl" sz="1200" dirty="0"/>
              <a:t>22.   Toda vez que se ha realizado la selección deseada, active la casilla Enviar</a:t>
            </a:r>
          </a:p>
          <a:p>
            <a:r>
              <a:rPr lang="es-ES_tradnl" sz="1200" dirty="0"/>
              <a:t>23.   Guarde la información para que el sistema procese los cambios.</a:t>
            </a:r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CBC8B3F5-F63A-38AF-98B9-372BDE59693B}"/>
              </a:ext>
            </a:extLst>
          </p:cNvPr>
          <p:cNvSpPr txBox="1">
            <a:spLocks/>
          </p:cNvSpPr>
          <p:nvPr/>
        </p:nvSpPr>
        <p:spPr>
          <a:xfrm>
            <a:off x="962647" y="480392"/>
            <a:ext cx="10271883" cy="62616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dirty="0">
                <a:solidFill>
                  <a:schemeClr val="accent1"/>
                </a:solidFill>
              </a:rPr>
              <a:t>Actualización del registro de grado: </a:t>
            </a:r>
            <a:r>
              <a:rPr lang="es-ES_tradnl" b="0" dirty="0">
                <a:solidFill>
                  <a:schemeClr val="accent1"/>
                </a:solidFill>
              </a:rPr>
              <a:t>Masiva (SHAMDEG)</a:t>
            </a:r>
            <a:br>
              <a:rPr lang="es-CL" b="0" dirty="0">
                <a:solidFill>
                  <a:schemeClr val="accent1"/>
                </a:solidFill>
              </a:rPr>
            </a:br>
            <a:endParaRPr lang="es-CL" b="0" dirty="0">
              <a:solidFill>
                <a:schemeClr val="accent1"/>
              </a:solidFill>
            </a:endParaRPr>
          </a:p>
        </p:txBody>
      </p:sp>
      <p:sp>
        <p:nvSpPr>
          <p:cNvPr id="5" name="Marcador de texto vertical 2">
            <a:extLst>
              <a:ext uri="{FF2B5EF4-FFF2-40B4-BE49-F238E27FC236}">
                <a16:creationId xmlns:a16="http://schemas.microsoft.com/office/drawing/2014/main" id="{F74A6503-B7DC-9183-9EEA-7286D805415C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>
          <a:xfrm rot="10800000">
            <a:off x="0" y="685800"/>
            <a:ext cx="609600" cy="5486399"/>
          </a:xfrm>
        </p:spPr>
        <p:txBody>
          <a:bodyPr/>
          <a:lstStyle/>
          <a:p>
            <a:r>
              <a:rPr lang="es-419" sz="1200" dirty="0"/>
              <a:t>Gestionar el otorgamiento y registro de grado</a:t>
            </a:r>
            <a:endParaRPr lang="en-US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3435480-BFBB-5413-FFA6-822DE1E2415A}"/>
              </a:ext>
            </a:extLst>
          </p:cNvPr>
          <p:cNvSpPr/>
          <p:nvPr/>
        </p:nvSpPr>
        <p:spPr>
          <a:xfrm>
            <a:off x="1599866" y="1351880"/>
            <a:ext cx="484966" cy="155986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16F19BF-FFE6-C2BD-9B0F-D90C191BA4B9}"/>
              </a:ext>
            </a:extLst>
          </p:cNvPr>
          <p:cNvSpPr/>
          <p:nvPr/>
        </p:nvSpPr>
        <p:spPr>
          <a:xfrm>
            <a:off x="1095511" y="1641430"/>
            <a:ext cx="2265340" cy="256503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9112A8FD-1A6B-1FCF-5BA1-2287E0ED3288}"/>
              </a:ext>
            </a:extLst>
          </p:cNvPr>
          <p:cNvSpPr/>
          <p:nvPr/>
        </p:nvSpPr>
        <p:spPr>
          <a:xfrm>
            <a:off x="3360851" y="1726878"/>
            <a:ext cx="360421" cy="2565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21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6777939-EB64-A13F-9C46-6973EC783BAF}"/>
              </a:ext>
            </a:extLst>
          </p:cNvPr>
          <p:cNvSpPr/>
          <p:nvPr/>
        </p:nvSpPr>
        <p:spPr>
          <a:xfrm>
            <a:off x="810247" y="2042739"/>
            <a:ext cx="1000265" cy="155768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ED212B0-6C58-F09A-FDFC-DEF785FF15F1}"/>
              </a:ext>
            </a:extLst>
          </p:cNvPr>
          <p:cNvSpPr/>
          <p:nvPr/>
        </p:nvSpPr>
        <p:spPr>
          <a:xfrm>
            <a:off x="1095510" y="2418194"/>
            <a:ext cx="833874" cy="304162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5" name="Rectángulo redondeado 9">
            <a:extLst>
              <a:ext uri="{FF2B5EF4-FFF2-40B4-BE49-F238E27FC236}">
                <a16:creationId xmlns:a16="http://schemas.microsoft.com/office/drawing/2014/main" id="{976CB93F-D0D3-75AC-EDCC-30EFD5DAE707}"/>
              </a:ext>
            </a:extLst>
          </p:cNvPr>
          <p:cNvSpPr/>
          <p:nvPr/>
        </p:nvSpPr>
        <p:spPr>
          <a:xfrm>
            <a:off x="3221139" y="2040360"/>
            <a:ext cx="1000265" cy="304162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Marca de selección</a:t>
            </a:r>
          </a:p>
        </p:txBody>
      </p:sp>
      <p:sp>
        <p:nvSpPr>
          <p:cNvPr id="16" name="Rectángulo redondeado 9">
            <a:extLst>
              <a:ext uri="{FF2B5EF4-FFF2-40B4-BE49-F238E27FC236}">
                <a16:creationId xmlns:a16="http://schemas.microsoft.com/office/drawing/2014/main" id="{C1EBC7C8-FAB3-5CB7-20FE-B893715FDAED}"/>
              </a:ext>
            </a:extLst>
          </p:cNvPr>
          <p:cNvSpPr/>
          <p:nvPr/>
        </p:nvSpPr>
        <p:spPr>
          <a:xfrm>
            <a:off x="2011681" y="2518405"/>
            <a:ext cx="360421" cy="2565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22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610CECE-5ADE-DDD1-3E60-FE1018CE0D95}"/>
              </a:ext>
            </a:extLst>
          </p:cNvPr>
          <p:cNvSpPr/>
          <p:nvPr/>
        </p:nvSpPr>
        <p:spPr>
          <a:xfrm>
            <a:off x="11320272" y="5814300"/>
            <a:ext cx="447708" cy="256503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0" name="Rectángulo redondeado 9">
            <a:extLst>
              <a:ext uri="{FF2B5EF4-FFF2-40B4-BE49-F238E27FC236}">
                <a16:creationId xmlns:a16="http://schemas.microsoft.com/office/drawing/2014/main" id="{EF9C173A-07EE-2B0B-488D-B4712B055161}"/>
              </a:ext>
            </a:extLst>
          </p:cNvPr>
          <p:cNvSpPr/>
          <p:nvPr/>
        </p:nvSpPr>
        <p:spPr>
          <a:xfrm>
            <a:off x="10939415" y="5557797"/>
            <a:ext cx="360421" cy="2565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1198897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FC440-2E43-3831-8237-D3A4B826B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D8335046-B649-FE84-9DFB-56B659128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00714"/>
            <a:ext cx="10951920" cy="5010346"/>
          </a:xfrm>
          <a:prstGeom prst="rect">
            <a:avLst/>
          </a:prstGeom>
        </p:spPr>
      </p:pic>
      <p:sp>
        <p:nvSpPr>
          <p:cNvPr id="7" name="Rectángulo redondeado 5">
            <a:extLst>
              <a:ext uri="{FF2B5EF4-FFF2-40B4-BE49-F238E27FC236}">
                <a16:creationId xmlns:a16="http://schemas.microsoft.com/office/drawing/2014/main" id="{6F221157-4865-5F7A-73F8-D69BF020C87A}"/>
              </a:ext>
            </a:extLst>
          </p:cNvPr>
          <p:cNvSpPr/>
          <p:nvPr/>
        </p:nvSpPr>
        <p:spPr>
          <a:xfrm>
            <a:off x="2372102" y="3278326"/>
            <a:ext cx="6967727" cy="1828582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 startAt="24"/>
            </a:pPr>
            <a:r>
              <a:rPr lang="es-ES_tradnl" sz="1200" dirty="0"/>
              <a:t>Al finalizar de procesar los cambios en los estudiantes seleccionados, el sistema muestra un mensaje indicando que se ha completado el procesamiento.</a:t>
            </a:r>
          </a:p>
          <a:p>
            <a:pPr marL="228600" indent="-228600">
              <a:buAutoNum type="arabicPeriod" startAt="24"/>
            </a:pPr>
            <a:r>
              <a:rPr lang="es-ES_tradnl" sz="1200" dirty="0"/>
              <a:t>Para cada alumno, se muestran los resultados: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_tradnl" sz="1200" dirty="0"/>
              <a:t>Grado actualizado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_tradnl" sz="1200" dirty="0"/>
              <a:t>Error.</a:t>
            </a:r>
          </a:p>
          <a:p>
            <a:r>
              <a:rPr lang="es-ES_tradnl" sz="1200" dirty="0"/>
              <a:t>Nota: Al salir de la página o presionar cualquier otra pestaña (Buscar o Actualizar) el sistema no muestra nuevamente los resultados, por lo que se recomienda revisar los resultados exhaustivamente antes de salir de esta pestaña de resultados.</a:t>
            </a:r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A3DD65F8-5366-37D6-0880-97A6319E1B65}"/>
              </a:ext>
            </a:extLst>
          </p:cNvPr>
          <p:cNvSpPr txBox="1">
            <a:spLocks/>
          </p:cNvSpPr>
          <p:nvPr/>
        </p:nvSpPr>
        <p:spPr>
          <a:xfrm>
            <a:off x="962647" y="480392"/>
            <a:ext cx="10271883" cy="62616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dirty="0">
                <a:solidFill>
                  <a:schemeClr val="accent1"/>
                </a:solidFill>
              </a:rPr>
              <a:t>Actualización del registro de grado: </a:t>
            </a:r>
            <a:r>
              <a:rPr lang="es-ES_tradnl" b="0" dirty="0">
                <a:solidFill>
                  <a:schemeClr val="accent1"/>
                </a:solidFill>
              </a:rPr>
              <a:t>Masiva (SHAMDEG)</a:t>
            </a:r>
            <a:br>
              <a:rPr lang="es-CL" b="0" dirty="0">
                <a:solidFill>
                  <a:schemeClr val="accent1"/>
                </a:solidFill>
              </a:rPr>
            </a:br>
            <a:endParaRPr lang="es-CL" b="0" dirty="0">
              <a:solidFill>
                <a:schemeClr val="accent1"/>
              </a:solidFill>
            </a:endParaRPr>
          </a:p>
        </p:txBody>
      </p:sp>
      <p:sp>
        <p:nvSpPr>
          <p:cNvPr id="5" name="Marcador de texto vertical 2">
            <a:extLst>
              <a:ext uri="{FF2B5EF4-FFF2-40B4-BE49-F238E27FC236}">
                <a16:creationId xmlns:a16="http://schemas.microsoft.com/office/drawing/2014/main" id="{68A8D770-F343-0598-FC4E-8C92B06237D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>
          <a:xfrm rot="10800000">
            <a:off x="0" y="685800"/>
            <a:ext cx="609600" cy="5486399"/>
          </a:xfrm>
        </p:spPr>
        <p:txBody>
          <a:bodyPr/>
          <a:lstStyle/>
          <a:p>
            <a:r>
              <a:rPr lang="es-419" sz="1200" dirty="0"/>
              <a:t>Gestionar el otorgamiento y registro de grado</a:t>
            </a:r>
            <a:endParaRPr lang="en-US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36D82E7-937A-F0C0-05CE-D46688195CB8}"/>
              </a:ext>
            </a:extLst>
          </p:cNvPr>
          <p:cNvSpPr/>
          <p:nvPr/>
        </p:nvSpPr>
        <p:spPr>
          <a:xfrm>
            <a:off x="1535859" y="1350787"/>
            <a:ext cx="484966" cy="155986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8844F83-B649-EA61-A63F-89AECBE26D4D}"/>
              </a:ext>
            </a:extLst>
          </p:cNvPr>
          <p:cNvSpPr/>
          <p:nvPr/>
        </p:nvSpPr>
        <p:spPr>
          <a:xfrm>
            <a:off x="9582912" y="1906678"/>
            <a:ext cx="2100528" cy="291829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EF983739-8BE6-D283-1423-12DFBCE8164E}"/>
              </a:ext>
            </a:extLst>
          </p:cNvPr>
          <p:cNvSpPr/>
          <p:nvPr/>
        </p:nvSpPr>
        <p:spPr>
          <a:xfrm>
            <a:off x="9159618" y="2183854"/>
            <a:ext cx="360421" cy="2565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25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F9DB5B8-AD2F-8157-F753-86693A80553D}"/>
              </a:ext>
            </a:extLst>
          </p:cNvPr>
          <p:cNvSpPr/>
          <p:nvPr/>
        </p:nvSpPr>
        <p:spPr>
          <a:xfrm>
            <a:off x="9253728" y="1318145"/>
            <a:ext cx="2448000" cy="291830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0" name="Rectángulo redondeado 9">
            <a:extLst>
              <a:ext uri="{FF2B5EF4-FFF2-40B4-BE49-F238E27FC236}">
                <a16:creationId xmlns:a16="http://schemas.microsoft.com/office/drawing/2014/main" id="{78FF587F-338C-CA40-29F7-C29391B3FF67}"/>
              </a:ext>
            </a:extLst>
          </p:cNvPr>
          <p:cNvSpPr/>
          <p:nvPr/>
        </p:nvSpPr>
        <p:spPr>
          <a:xfrm>
            <a:off x="8854583" y="1061642"/>
            <a:ext cx="360421" cy="25650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356952485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49BE6-9C13-FCAC-2861-0D55F6640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7B284559-06C9-77B6-4DB2-DA31AB712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RESUMEN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20C8EB0-D0F0-4FA5-7CAA-D0483BBF61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40119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B8239-6096-8B04-FE02-27F762A4A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2FFCFA04-98AE-5642-C7A0-944FF6D715B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81456" y="1584355"/>
            <a:ext cx="10477499" cy="4267198"/>
          </a:xfrm>
        </p:spPr>
        <p:txBody>
          <a:bodyPr/>
          <a:lstStyle/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endParaRPr lang="es-419" sz="2000" dirty="0"/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2000" dirty="0"/>
              <a:t>Previamente, se debe definir el estado de registro de grado STVDEGS</a:t>
            </a:r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2000" dirty="0"/>
              <a:t>Se crea el registro de grado individual o masivo, desde SGASTDN o SHRROLL/SHRROUT.</a:t>
            </a:r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2000" dirty="0"/>
              <a:t>Se puede actualizar algunos aspectos del registro de manera masiva desde la página SHAMDEG.</a:t>
            </a:r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2000" dirty="0"/>
              <a:t>Se pueden actualizar los datos del registro de manera individual en la página SHADEGR.</a:t>
            </a:r>
          </a:p>
          <a:p>
            <a:pPr marL="0" indent="0" algn="just">
              <a:buClr>
                <a:srgbClr val="0CB4B4"/>
              </a:buClr>
              <a:buNone/>
            </a:pPr>
            <a:endParaRPr lang="es-419" sz="2000" dirty="0"/>
          </a:p>
        </p:txBody>
      </p:sp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5459240E-56A8-2BDE-4B7E-6E7303339CC2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dirty="0"/>
              <a:t>Gestionar el otorgamiento y registro de grado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FA544842-7D5D-F2DC-C50A-666026DED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RESUMEN</a:t>
            </a:r>
          </a:p>
        </p:txBody>
      </p:sp>
    </p:spTree>
    <p:extLst>
      <p:ext uri="{BB962C8B-B14F-4D97-AF65-F5344CB8AC3E}">
        <p14:creationId xmlns:p14="http://schemas.microsoft.com/office/powerpoint/2010/main" val="336142488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A4B0D3FF-2F8B-8FC5-7AC2-84CC61ED89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2238843"/>
            <a:ext cx="10363202" cy="669094"/>
          </a:xfrm>
        </p:spPr>
        <p:txBody>
          <a:bodyPr/>
          <a:lstStyle/>
          <a:p>
            <a:r>
              <a:rPr lang="es-419" dirty="0"/>
              <a:t>MUCHAS GRACIAS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26401A9-DE11-DDDF-9F42-FAAE12FE6B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29043" y="4584074"/>
            <a:ext cx="10363202" cy="324961"/>
          </a:xfrm>
        </p:spPr>
        <p:txBody>
          <a:bodyPr/>
          <a:lstStyle/>
          <a:p>
            <a:pPr algn="l"/>
            <a:r>
              <a:rPr lang="es-419" sz="2000" dirty="0"/>
              <a:t>Nidia Beltran</a:t>
            </a:r>
          </a:p>
        </p:txBody>
      </p:sp>
      <p:pic>
        <p:nvPicPr>
          <p:cNvPr id="8" name="Graphic 7" descr="User with solid fill">
            <a:extLst>
              <a:ext uri="{FF2B5EF4-FFF2-40B4-BE49-F238E27FC236}">
                <a16:creationId xmlns:a16="http://schemas.microsoft.com/office/drawing/2014/main" id="{C726B198-B5C8-1C5D-4D10-BFFD13AADE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4490" y="4609395"/>
            <a:ext cx="274320" cy="274320"/>
          </a:xfrm>
          <a:prstGeom prst="rect">
            <a:avLst/>
          </a:prstGeom>
        </p:spPr>
      </p:pic>
      <p:pic>
        <p:nvPicPr>
          <p:cNvPr id="9" name="Graphic 8" descr="Email with solid fill">
            <a:extLst>
              <a:ext uri="{FF2B5EF4-FFF2-40B4-BE49-F238E27FC236}">
                <a16:creationId xmlns:a16="http://schemas.microsoft.com/office/drawing/2014/main" id="{DD7F5D3F-15A6-F216-AF41-EA0DCDE6B3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3543" y="4985033"/>
            <a:ext cx="274320" cy="274320"/>
          </a:xfrm>
          <a:prstGeom prst="rect">
            <a:avLst/>
          </a:prstGeom>
        </p:spPr>
      </p:pic>
      <p:sp>
        <p:nvSpPr>
          <p:cNvPr id="11" name="Marcador de texto 4">
            <a:extLst>
              <a:ext uri="{FF2B5EF4-FFF2-40B4-BE49-F238E27FC236}">
                <a16:creationId xmlns:a16="http://schemas.microsoft.com/office/drawing/2014/main" id="{88780A86-7F59-00BD-9B1E-C1DFAC865719}"/>
              </a:ext>
            </a:extLst>
          </p:cNvPr>
          <p:cNvSpPr txBox="1">
            <a:spLocks/>
          </p:cNvSpPr>
          <p:nvPr/>
        </p:nvSpPr>
        <p:spPr>
          <a:xfrm>
            <a:off x="1229043" y="4959712"/>
            <a:ext cx="5334046" cy="324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7850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3925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8888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4963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/>
              <a:t>Nidia.beltran@</a:t>
            </a:r>
            <a:r>
              <a:rPr lang="es-419" dirty="0"/>
              <a:t>ellucian.com</a:t>
            </a:r>
          </a:p>
        </p:txBody>
      </p:sp>
    </p:spTree>
    <p:extLst>
      <p:ext uri="{BB962C8B-B14F-4D97-AF65-F5344CB8AC3E}">
        <p14:creationId xmlns:p14="http://schemas.microsoft.com/office/powerpoint/2010/main" val="3192274581"/>
      </p:ext>
    </p:extLst>
  </p:cSld>
  <p:clrMapOvr>
    <a:masterClrMapping/>
  </p:clrMapOvr>
</p:sld>
</file>

<file path=ppt/theme/theme1.xml><?xml version="1.0" encoding="utf-8"?>
<a:theme xmlns:a="http://schemas.openxmlformats.org/drawingml/2006/main" name="Ellucian Main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llucian-PPT-Template-2025-V5  -  Read-Only" id="{F4D757E7-3114-4C8F-9950-97785E4EE6CC}" vid="{D25AB14E-5FB9-4D56-95F9-7C8720217562}"/>
    </a:ext>
  </a:extLst>
</a:theme>
</file>

<file path=ppt/theme/theme2.xml><?xml version="1.0" encoding="utf-8"?>
<a:theme xmlns:a="http://schemas.openxmlformats.org/drawingml/2006/main" name="Ellucian Blank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llucian-PPT-Template-2025-V5  -  Read-Only" id="{F4D757E7-3114-4C8F-9950-97785E4EE6CC}" vid="{7FF827A8-C46A-4566-99A6-5F934CCE2EB3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Ellucian-PPT-Template-2025-V5</Template>
  <TotalTime>11239</TotalTime>
  <Words>3432</Words>
  <Application>Microsoft Office PowerPoint</Application>
  <PresentationFormat>Panorámica</PresentationFormat>
  <Paragraphs>447</Paragraphs>
  <Slides>56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56</vt:i4>
      </vt:variant>
    </vt:vector>
  </HeadingPairs>
  <TitlesOfParts>
    <vt:vector size="65" baseType="lpstr">
      <vt:lpstr>Aptos</vt:lpstr>
      <vt:lpstr>Aptos Display</vt:lpstr>
      <vt:lpstr>Arial</vt:lpstr>
      <vt:lpstr>Calibri</vt:lpstr>
      <vt:lpstr>Courier New</vt:lpstr>
      <vt:lpstr>Helvetica Neue</vt:lpstr>
      <vt:lpstr>Wingdings</vt:lpstr>
      <vt:lpstr>Ellucian Main Layouts</vt:lpstr>
      <vt:lpstr>Ellucian Blank Layouts</vt:lpstr>
      <vt:lpstr>Presentación de PowerPoint</vt:lpstr>
      <vt:lpstr>Presentación de PowerPoint</vt:lpstr>
      <vt:lpstr>Overview</vt:lpstr>
      <vt:lpstr>Overview: Mapa de capacidades</vt:lpstr>
      <vt:lpstr>Overview: Capacidad Otorgamiento del Título y Ceremonía del estudiante</vt:lpstr>
      <vt:lpstr>Overview: Capacidad Otorgamiento del Título y Ceremonia del estudiante</vt:lpstr>
      <vt:lpstr>Overview: Capacidad Operativa Gestión de Elegibilidad para Titulación </vt:lpstr>
      <vt:lpstr>Overview: Capacidad Operativa Gestión de Elegibilidad para Titulación </vt:lpstr>
      <vt:lpstr>Overview: Capacidad Operativa Gestión de Elegibilidad para Titulación </vt:lpstr>
      <vt:lpstr>Overview: Proceso Gestionar el otorgamiento de registro de grado</vt:lpstr>
      <vt:lpstr>Presentación de PowerPoint</vt:lpstr>
      <vt:lpstr>Presentación de PowerPoint</vt:lpstr>
      <vt:lpstr>Configuraciones: Validación del código de estatus del grado (STVDEGS)</vt:lpstr>
      <vt:lpstr>Configuraciones: Validación de status de graduación (STVGRST)</vt:lpstr>
      <vt:lpstr>Configuraciones: Validación de status de graduación (STVGRST)</vt:lpstr>
      <vt:lpstr>Configuraciones: Validación de status de graduación (STVGRST)</vt:lpstr>
      <vt:lpstr>Presentación de PowerPoint</vt:lpstr>
      <vt:lpstr>Creación del registro de grado: Individual</vt:lpstr>
      <vt:lpstr> </vt:lpstr>
      <vt:lpstr> </vt:lpstr>
      <vt:lpstr> </vt:lpstr>
      <vt:lpstr> </vt:lpstr>
      <vt:lpstr> </vt:lpstr>
      <vt:lpstr> </vt:lpstr>
      <vt:lpstr>Creación del registro de grado: Masivo</vt:lpstr>
      <vt:lpstr>Masivo: Creación desde paso de calificaciones</vt:lpstr>
      <vt:lpstr>Creación del registro de grado: Masivo desde el paso de calificaciones - SHRROLL</vt:lpstr>
      <vt:lpstr>Masivo: Creación por proceso SHRROUT</vt:lpstr>
      <vt:lpstr>Creación del registro de grado: Masivo desde SHRROUT</vt:lpstr>
      <vt:lpstr>Creación del registro de grado: Masivo desde SHRROUT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Actualización individual</vt:lpstr>
      <vt:lpstr>Presentación de PowerPoint</vt:lpstr>
      <vt:lpstr> </vt:lpstr>
      <vt:lpstr> </vt:lpstr>
      <vt:lpstr> </vt:lpstr>
      <vt:lpstr>Actualización masiva por medio del proceso SHAMDEG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RESUMEN</vt:lpstr>
      <vt:lpstr>RESUMEN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Gestionar conceptos de cobro y pago</dc:title>
  <dc:creator>Mardones, Francisco</dc:creator>
  <cp:lastModifiedBy>Beltran, Nidia</cp:lastModifiedBy>
  <cp:revision>389</cp:revision>
  <dcterms:created xsi:type="dcterms:W3CDTF">2023-07-17T20:07:38Z</dcterms:created>
  <dcterms:modified xsi:type="dcterms:W3CDTF">2026-07-21T16:24:19Z</dcterms:modified>
</cp:coreProperties>
</file>